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56.png" ContentType="image/png"/>
  <Override PartName="/ppt/media/image55.png" ContentType="image/png"/>
  <Override PartName="/ppt/media/image6.jpeg" ContentType="image/jpeg"/>
  <Override PartName="/ppt/media/image18.png" ContentType="image/png"/>
  <Override PartName="/ppt/media/image60.png" ContentType="image/png"/>
  <Override PartName="/ppt/media/image50.png" ContentType="image/png"/>
  <Override PartName="/ppt/media/image40.png" ContentType="image/png"/>
  <Override PartName="/ppt/media/image4.jpeg" ContentType="image/jpeg"/>
  <Override PartName="/ppt/media/image25.png" ContentType="image/png"/>
  <Override PartName="/ppt/media/image48.png" ContentType="image/png"/>
  <Override PartName="/ppt/media/image51.wmf" ContentType="image/x-wmf"/>
  <Override PartName="/ppt/media/image29.png" ContentType="image/png"/>
  <Override PartName="/ppt/media/image13.png" ContentType="image/png"/>
  <Override PartName="/ppt/media/image10.jpeg" ContentType="image/jpeg"/>
  <Override PartName="/ppt/media/image42.png" ContentType="image/png"/>
  <Override PartName="/ppt/media/image20.png" ContentType="image/png"/>
  <Override PartName="/ppt/media/image57.png" ContentType="image/png"/>
  <Override PartName="/ppt/media/image47.png" ContentType="image/png"/>
  <Override PartName="/ppt/media/image27.png" ContentType="image/png"/>
  <Override PartName="/ppt/media/image15.png" ContentType="image/png"/>
  <Override PartName="/ppt/media/image5.jpeg" ContentType="image/jpeg"/>
  <Override PartName="/ppt/media/image61.png" ContentType="image/png"/>
  <Override PartName="/ppt/media/image24.png" ContentType="image/png"/>
  <Override PartName="/ppt/media/image59.png" ContentType="image/png"/>
  <Override PartName="/ppt/media/image22.png" ContentType="image/png"/>
  <Override PartName="/ppt/media/image23.png" ContentType="image/png"/>
  <Override PartName="/ppt/media/image58.png" ContentType="image/png"/>
  <Override PartName="/ppt/media/image19.wmf" ContentType="image/x-wmf"/>
  <Override PartName="/ppt/media/image1.jpeg" ContentType="image/jpeg"/>
  <Override PartName="/ppt/media/image21.png" ContentType="image/png"/>
  <Override PartName="/ppt/media/image17.png" ContentType="image/png"/>
  <Override PartName="/ppt/media/image14.png" ContentType="image/png"/>
  <Override PartName="/ppt/media/image16.png" ContentType="image/png"/>
  <Override PartName="/ppt/media/image7.jpeg" ContentType="image/jpeg"/>
  <Override PartName="/ppt/media/image28.png" ContentType="image/png"/>
  <Override PartName="/ppt/media/image11.jpeg" ContentType="image/jpeg"/>
  <Override PartName="/ppt/media/image52.png" ContentType="image/png"/>
  <Override PartName="/ppt/media/image26.png" ContentType="image/png"/>
  <Override PartName="/ppt/media/image8.jpeg" ContentType="image/jpeg"/>
  <Override PartName="/ppt/media/image38.png" ContentType="image/png"/>
  <Override PartName="/ppt/media/image35.png" ContentType="image/png"/>
  <Override PartName="/ppt/media/image3.png" ContentType="image/png"/>
  <Override PartName="/ppt/media/image12.png" ContentType="image/png"/>
  <Override PartName="/ppt/media/image49.png" ContentType="image/png"/>
  <Override PartName="/ppt/media/image30.png" ContentType="image/png"/>
  <Override PartName="/ppt/media/image2.jpeg" ContentType="image/jpeg"/>
  <Override PartName="/ppt/media/image31.png" ContentType="image/png"/>
  <Override PartName="/ppt/media/image32.png" ContentType="image/png"/>
  <Override PartName="/ppt/media/image33.png" ContentType="image/png"/>
  <Override PartName="/ppt/media/image34.png" ContentType="image/png"/>
  <Override PartName="/ppt/media/image9.jpeg" ContentType="image/jpeg"/>
  <Override PartName="/ppt/media/image36.png" ContentType="image/png"/>
  <Override PartName="/ppt/media/image37.png" ContentType="image/png"/>
  <Override PartName="/ppt/media/image39.png" ContentType="image/png"/>
  <Override PartName="/ppt/media/image41.png" ContentType="image/png"/>
  <Override PartName="/ppt/media/image43.png" ContentType="image/png"/>
  <Override PartName="/ppt/media/image44.png" ContentType="image/png"/>
  <Override PartName="/ppt/media/image45.png" ContentType="image/png"/>
  <Override PartName="/ppt/media/image46.wmf" ContentType="image/x-wmf"/>
  <Override PartName="/ppt/media/image53.png" ContentType="image/png"/>
  <Override PartName="/ppt/media/image54.png" ContentType="image/png"/>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1.docx" ContentType="application/vnd.openxmlformats-officedocument.wordprocessingml.document"/>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_rels/slide13.xml.rels" ContentType="application/vnd.openxmlformats-package.relationships+xml"/>
  <Override PartName="/ppt/slides/_rels/slide5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84.xml.rels" ContentType="application/vnd.openxmlformats-package.relationships+xml"/>
  <Override PartName="/ppt/slides/_rels/slide19.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5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83.xml.rels" ContentType="application/vnd.openxmlformats-package.relationships+xml"/>
  <Override PartName="/ppt/slides/_rels/slide18.xml.rels" ContentType="application/vnd.openxmlformats-package.relationships+xml"/>
  <Override PartName="/ppt/slides/_rels/slide48.xml.rels" ContentType="application/vnd.openxmlformats-package.relationships+xml"/>
  <Override PartName="/ppt/slides/_rels/slide11.xml.rels" ContentType="application/vnd.openxmlformats-package.relationships+xml"/>
  <Override PartName="/ppt/slides/_rels/slide57.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82.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16.xml.rels" ContentType="application/vnd.openxmlformats-package.relationships+xml"/>
  <Override PartName="/ppt/slides/_rels/slide81.xml.rels" ContentType="application/vnd.openxmlformats-package.relationships+xml"/>
  <Override PartName="/ppt/slides/_rels/slide60.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6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30.xml.rels" ContentType="application/vnd.openxmlformats-package.relationships+xml"/>
  <Override PartName="/ppt/slides/_rels/slide67.xml.rels" ContentType="application/vnd.openxmlformats-package.relationships+xml"/>
  <Override PartName="/ppt/slides/_rels/slide31.xml.rels" ContentType="application/vnd.openxmlformats-package.relationships+xml"/>
  <Override PartName="/ppt/slides/_rels/slide68.xml.rels" ContentType="application/vnd.openxmlformats-package.relationships+xml"/>
  <Override PartName="/ppt/slides/_rels/slide32.xml.rels" ContentType="application/vnd.openxmlformats-package.relationships+xml"/>
  <Override PartName="/ppt/slides/_rels/slide69.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56.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43.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79.xml.rels" ContentType="application/vnd.openxmlformats-package.relationships+xml"/>
  <Override PartName="/ppt/slides/_rels/slide53.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78.xml.rels" ContentType="application/vnd.openxmlformats-package.relationships+xml"/>
  <Override PartName="/ppt/slides/_rels/slide52.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77.xml.rels" ContentType="application/vnd.openxmlformats-package.relationships+xml"/>
  <Override PartName="/ppt/slides/_rels/slide14.xml.rels" ContentType="application/vnd.openxmlformats-package.relationships+xml"/>
  <Override PartName="/ppt/slides/_rels/slide51.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6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63.xml.rels" ContentType="application/vnd.openxmlformats-package.relationships+xml"/>
  <Override PartName="/ppt/slides/_rels/slide27.xml.rels" ContentType="application/vnd.openxmlformats-package.relationships+xml"/>
  <Override PartName="/ppt/slides/_rels/slide64.xml.rels" ContentType="application/vnd.openxmlformats-package.relationships+xml"/>
  <Override PartName="/ppt/slides/_rels/slide28.xml.rels" ContentType="application/vnd.openxmlformats-package.relationships+xml"/>
  <Override PartName="/ppt/slides/_rels/slide70.xml.rels" ContentType="application/vnd.openxmlformats-package.relationships+xml"/>
  <Override PartName="/ppt/slides/_rels/slide65.xml.rels" ContentType="application/vnd.openxmlformats-package.relationships+xml"/>
  <Override PartName="/ppt/slides/_rels/slide71.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66.xml.rels" ContentType="application/vnd.openxmlformats-package.relationships+xml"/>
  <Override PartName="/ppt/slides/_rels/slide85.xml.rels" ContentType="application/vnd.openxmlformats-package.relationships+xml"/>
  <Override PartName="/ppt/slides/_rels/slide73.xml.rels" ContentType="application/vnd.openxmlformats-package.relationships+xml"/>
  <Override PartName="/ppt/slides/_rels/slide80.xml.rels" ContentType="application/vnd.openxmlformats-package.relationships+xml"/>
  <Override PartName="/ppt/slides/_rels/slide15.xml.rels" ContentType="application/vnd.openxmlformats-package.relationships+xml"/>
  <Override PartName="/ppt/slides/_rels/slide76.xml.rels" ContentType="application/vnd.openxmlformats-package.relationships+xml"/>
  <Override PartName="/ppt/slides/_rels/slide75.xml.rels" ContentType="application/vnd.openxmlformats-package.relationships+xml"/>
  <Override PartName="/ppt/slides/_rels/slide74.xml.rels" ContentType="application/vnd.openxmlformats-package.relationships+xml"/>
  <Override PartName="/ppt/slides/_rels/slide72.xml.rels" ContentType="application/vnd.openxmlformats-package.relationships+xml"/>
  <Override PartName="/ppt/slides/_rels/slide46.xml.rels" ContentType="application/vnd.openxmlformats-package.relationships+xml"/>
  <Override PartName="/ppt/slides/slide71.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73.xml" ContentType="application/vnd.openxmlformats-officedocument.presentationml.slide+xml"/>
  <Override PartName="/ppt/slides/slide79.xml" ContentType="application/vnd.openxmlformats-officedocument.presentationml.slide+xml"/>
  <Override PartName="/ppt/slides/slide15.xml" ContentType="application/vnd.openxmlformats-officedocument.presentationml.slide+xml"/>
  <Override PartName="/ppt/slides/slide80.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72.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8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8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9.xml" ContentType="application/vnd.openxmlformats-officedocument.presentationml.slide+xml"/>
  <Override PartName="/ppt/slides/slide8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notesSlides/_rels/notesSlide75.xml.rels" ContentType="application/vnd.openxmlformats-package.relationships+xml"/>
  <Override PartName="/ppt/notesSlides/_rels/notesSlide63.xml.rels" ContentType="application/vnd.openxmlformats-package.relationships+xml"/>
  <Override PartName="/ppt/notesSlides/_rels/notesSlide58.xml.rels" ContentType="application/vnd.openxmlformats-package.relationships+xml"/>
  <Override PartName="/ppt/notesSlides/_rels/notesSlide48.xml.rels" ContentType="application/vnd.openxmlformats-package.relationships+xml"/>
  <Override PartName="/ppt/notesSlides/_rels/notesSlide5.xml.rels" ContentType="application/vnd.openxmlformats-package.relationships+xml"/>
  <Override PartName="/ppt/notesSlides/_rels/notesSlide69.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67.xml.rels" ContentType="application/vnd.openxmlformats-package.relationships+xml"/>
  <Override PartName="/ppt/notesSlides/_rels/notesSlide43.xml.rels" ContentType="application/vnd.openxmlformats-package.relationships+xml"/>
  <Override PartName="/ppt/notesSlides/notesSlide5.xml" ContentType="application/vnd.openxmlformats-officedocument.presentationml.notesSlide+xml"/>
  <Override PartName="/ppt/notesSlides/notesSlide43.xml" ContentType="application/vnd.openxmlformats-officedocument.presentationml.notesSlide+xml"/>
  <Override PartName="/ppt/notesSlides/notesSlide6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69.xml" ContentType="application/vnd.openxmlformats-officedocument.presentationml.notesSlide+xml"/>
  <Override PartName="/ppt/notesSlides/notesSlide48.xml" ContentType="application/vnd.openxmlformats-officedocument.presentationml.notesSlide+xml"/>
  <Override PartName="/ppt/notesSlides/notesSlide58.xml" ContentType="application/vnd.openxmlformats-officedocument.presentationml.notesSlide+xml"/>
  <Override PartName="/ppt/notesSlides/notesSlide63.xml" ContentType="application/vnd.openxmlformats-officedocument.presentationml.notesSlide+xml"/>
  <Override PartName="/ppt/notesSlides/notesSlide75.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US" sz="2400" strike="noStrike" u="none">
              <a:solidFill>
                <a:srgbClr val="ffff00"/>
              </a:solidFill>
              <a:effectLst/>
              <a:uFillTx/>
              <a:latin typeface="Times New Roman"/>
            </a:endParaRPr>
          </a:p>
        </p:txBody>
      </p:sp>
      <p:sp>
        <p:nvSpPr>
          <p:cNvPr id="6"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 name="PlaceHolder 2"/>
          <p:cNvSpPr>
            <a:spLocks noGrp="1"/>
          </p:cNvSpPr>
          <p:nvPr>
            <p:ph type="dt" idx="4"/>
          </p:nvPr>
        </p:nvSpPr>
        <p:spPr>
          <a:xfrm>
            <a:off x="3885840" y="0"/>
            <a:ext cx="297180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8"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Click to move the slide</a:t>
            </a:r>
            <a:endParaRPr b="0" lang="en-US" sz="4400" strike="noStrike" u="none">
              <a:solidFill>
                <a:srgbClr val="ffffff"/>
              </a:solidFill>
              <a:effectLst/>
              <a:uFillTx/>
              <a:latin typeface="Times New Roman"/>
            </a:endParaRPr>
          </a:p>
        </p:txBody>
      </p:sp>
      <p:sp>
        <p:nvSpPr>
          <p:cNvPr id="9" name="PlaceHolder 4"/>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Click to edit the notes format</a:t>
            </a:r>
            <a:endParaRPr b="0" lang="en-US" sz="1200" strike="noStrike" u="none">
              <a:solidFill>
                <a:srgbClr val="000000"/>
              </a:solidFill>
              <a:effectLst/>
              <a:uFillTx/>
              <a:latin typeface="Times New Roman"/>
            </a:endParaRPr>
          </a:p>
        </p:txBody>
      </p:sp>
      <p:sp>
        <p:nvSpPr>
          <p:cNvPr id="10" name="PlaceHolder 5"/>
          <p:cNvSpPr>
            <a:spLocks noGrp="1"/>
          </p:cNvSpPr>
          <p:nvPr>
            <p:ph type="ftr" idx="5"/>
          </p:nvPr>
        </p:nvSpPr>
        <p:spPr>
          <a:xfrm>
            <a:off x="-360" y="8686800"/>
            <a:ext cx="2971800" cy="4572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1" name="PlaceHolder 6"/>
          <p:cNvSpPr>
            <a:spLocks noGrp="1"/>
          </p:cNvSpPr>
          <p:nvPr>
            <p:ph type="sldNum" idx="6"/>
          </p:nvPr>
        </p:nvSpPr>
        <p:spPr>
          <a:xfrm>
            <a:off x="3885840" y="8686800"/>
            <a:ext cx="2971800" cy="45720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fr-FR" sz="12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FA621D0-5DEF-48DE-9390-FB5C420B0223}" type="slidenum">
              <a:rPr b="0" lang="fr-FR"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A5DB2C0-B497-467F-9598-2E3F963E89F1}"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715" name="PlaceHolder 1"/>
          <p:cNvSpPr>
            <a:spLocks noGrp="1"/>
          </p:cNvSpPr>
          <p:nvPr>
            <p:ph type="sldImg"/>
          </p:nvPr>
        </p:nvSpPr>
        <p:spPr>
          <a:xfrm>
            <a:off x="1143000" y="685800"/>
            <a:ext cx="4572000" cy="3429000"/>
          </a:xfrm>
          <a:prstGeom prst="rect">
            <a:avLst/>
          </a:prstGeom>
          <a:ln w="0">
            <a:noFill/>
          </a:ln>
        </p:spPr>
      </p:sp>
      <p:sp>
        <p:nvSpPr>
          <p:cNvPr id="716"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21E0FDF-2017-48FD-A4E4-AC206BFF83A9}"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718" name="PlaceHolder 1"/>
          <p:cNvSpPr>
            <a:spLocks noGrp="1"/>
          </p:cNvSpPr>
          <p:nvPr>
            <p:ph type="sldImg"/>
          </p:nvPr>
        </p:nvSpPr>
        <p:spPr>
          <a:xfrm>
            <a:off x="1143000" y="685800"/>
            <a:ext cx="4572000" cy="3429000"/>
          </a:xfrm>
          <a:prstGeom prst="rect">
            <a:avLst/>
          </a:prstGeom>
          <a:ln w="0">
            <a:noFill/>
          </a:ln>
        </p:spPr>
      </p:sp>
      <p:sp>
        <p:nvSpPr>
          <p:cNvPr id="719"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70E67EF-D7FC-47A6-A3B5-248D5E90D5A6}"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721" name="PlaceHolder 1"/>
          <p:cNvSpPr>
            <a:spLocks noGrp="1"/>
          </p:cNvSpPr>
          <p:nvPr>
            <p:ph type="sldImg"/>
          </p:nvPr>
        </p:nvSpPr>
        <p:spPr>
          <a:xfrm>
            <a:off x="1143000" y="685800"/>
            <a:ext cx="4572000" cy="3429000"/>
          </a:xfrm>
          <a:prstGeom prst="rect">
            <a:avLst/>
          </a:prstGeom>
          <a:ln w="0">
            <a:noFill/>
          </a:ln>
        </p:spPr>
      </p:sp>
      <p:sp>
        <p:nvSpPr>
          <p:cNvPr id="722"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2C199C0-2209-4389-84FC-4550A7122244}"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724" name="PlaceHolder 1"/>
          <p:cNvSpPr>
            <a:spLocks noGrp="1"/>
          </p:cNvSpPr>
          <p:nvPr>
            <p:ph type="body"/>
          </p:nvPr>
        </p:nvSpPr>
        <p:spPr>
          <a:xfrm>
            <a:off x="914400" y="4356000"/>
            <a:ext cx="5029200" cy="41356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725" name="PlaceHolder 2"/>
          <p:cNvSpPr>
            <a:spLocks noGrp="1"/>
          </p:cNvSpPr>
          <p:nvPr>
            <p:ph type="sldImg"/>
          </p:nvPr>
        </p:nvSpPr>
        <p:spPr>
          <a:xfrm>
            <a:off x="1298520" y="798480"/>
            <a:ext cx="4260960" cy="3195720"/>
          </a:xfrm>
          <a:prstGeom prst="rect">
            <a:avLst/>
          </a:prstGeom>
          <a:ln w="0">
            <a:noFill/>
          </a:ln>
        </p:spPr>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B67424-A4ED-4346-B2C1-A4B97306EC51}"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727" name="PlaceHolder 1"/>
          <p:cNvSpPr>
            <a:spLocks noGrp="1"/>
          </p:cNvSpPr>
          <p:nvPr>
            <p:ph type="sldImg"/>
          </p:nvPr>
        </p:nvSpPr>
        <p:spPr>
          <a:xfrm>
            <a:off x="1143000" y="685800"/>
            <a:ext cx="4572000" cy="3429000"/>
          </a:xfrm>
          <a:prstGeom prst="rect">
            <a:avLst/>
          </a:prstGeom>
          <a:ln w="0">
            <a:noFill/>
          </a:ln>
        </p:spPr>
      </p:sp>
      <p:sp>
        <p:nvSpPr>
          <p:cNvPr id="728"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070983E-F2C9-4382-9AEF-8C641F95B8D5}"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730" name="PlaceHolder 1"/>
          <p:cNvSpPr>
            <a:spLocks noGrp="1"/>
          </p:cNvSpPr>
          <p:nvPr>
            <p:ph type="sldImg"/>
          </p:nvPr>
        </p:nvSpPr>
        <p:spPr>
          <a:xfrm>
            <a:off x="1144440" y="687240"/>
            <a:ext cx="4569120" cy="3426120"/>
          </a:xfrm>
          <a:prstGeom prst="rect">
            <a:avLst/>
          </a:prstGeom>
          <a:ln w="0">
            <a:noFill/>
          </a:ln>
        </p:spPr>
      </p:sp>
      <p:sp>
        <p:nvSpPr>
          <p:cNvPr id="731"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67D6257-6919-4BC7-A6C2-5D7760DC6AB3}"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733" name="PlaceHolder 1"/>
          <p:cNvSpPr>
            <a:spLocks noGrp="1"/>
          </p:cNvSpPr>
          <p:nvPr>
            <p:ph type="sldImg"/>
          </p:nvPr>
        </p:nvSpPr>
        <p:spPr>
          <a:xfrm>
            <a:off x="1143000" y="685800"/>
            <a:ext cx="4572000" cy="3429000"/>
          </a:xfrm>
          <a:prstGeom prst="rect">
            <a:avLst/>
          </a:prstGeom>
          <a:ln w="0">
            <a:noFill/>
          </a:ln>
        </p:spPr>
      </p:sp>
      <p:sp>
        <p:nvSpPr>
          <p:cNvPr id="73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3CEBF54-2157-4176-9D20-B3B03B6457EF}"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736" name="PlaceHolder 1"/>
          <p:cNvSpPr>
            <a:spLocks noGrp="1"/>
          </p:cNvSpPr>
          <p:nvPr>
            <p:ph type="sldImg"/>
          </p:nvPr>
        </p:nvSpPr>
        <p:spPr>
          <a:xfrm>
            <a:off x="1144440" y="687240"/>
            <a:ext cx="4569120" cy="3426120"/>
          </a:xfrm>
          <a:prstGeom prst="rect">
            <a:avLst/>
          </a:prstGeom>
          <a:ln w="0">
            <a:noFill/>
          </a:ln>
        </p:spPr>
      </p:sp>
      <p:sp>
        <p:nvSpPr>
          <p:cNvPr id="737"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8CD22B9-B3F1-4F5D-B1C5-F3BEDDF4DE45}"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739" name="PlaceHolder 1"/>
          <p:cNvSpPr>
            <a:spLocks noGrp="1"/>
          </p:cNvSpPr>
          <p:nvPr>
            <p:ph type="sldImg"/>
          </p:nvPr>
        </p:nvSpPr>
        <p:spPr>
          <a:xfrm>
            <a:off x="1143000" y="685800"/>
            <a:ext cx="4572000" cy="3429000"/>
          </a:xfrm>
          <a:prstGeom prst="rect">
            <a:avLst/>
          </a:prstGeom>
          <a:ln w="0">
            <a:noFill/>
          </a:ln>
        </p:spPr>
      </p:sp>
      <p:sp>
        <p:nvSpPr>
          <p:cNvPr id="740"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1143000" y="685800"/>
            <a:ext cx="4572000" cy="3429000"/>
          </a:xfrm>
          <a:prstGeom prst="rect">
            <a:avLst/>
          </a:prstGeom>
          <a:ln w="0">
            <a:noFill/>
          </a:ln>
        </p:spPr>
      </p:sp>
      <p:sp>
        <p:nvSpPr>
          <p:cNvPr id="742"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743" name="Espace réservé du numéro de diapositive 3"/>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A668680-8054-4D16-982B-4D537E20F126}"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1E7F1C2C-B89D-463C-875B-42AD5A763091}"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66"/>
            </a:gs>
            <a:gs pos="100000">
              <a:srgbClr val="000000"/>
            </a:gs>
          </a:gsLst>
          <a:path path="rect">
            <a:fillToRect l="50000" t="50000" r="50000" b="50000"/>
          </a:path>
        </a:gra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Click to edit the title text format</a:t>
            </a:r>
            <a:endParaRPr b="0" lang="en-US" sz="4400" strike="noStrike" u="none">
              <a:solidFill>
                <a:srgbClr val="ffffff"/>
              </a:solidFill>
              <a:effectLst/>
              <a:uFillTx/>
              <a:latin typeface="Times New Roman"/>
            </a:endParaRPr>
          </a:p>
        </p:txBody>
      </p:sp>
      <p:sp>
        <p:nvSpPr>
          <p:cNvPr id="1" name="PlaceHolder 2"/>
          <p:cNvSpPr>
            <a:spLocks noGrp="1"/>
          </p:cNvSpPr>
          <p:nvPr>
            <p:ph type="body"/>
          </p:nvPr>
        </p:nvSpPr>
        <p:spPr>
          <a:xfrm>
            <a:off x="685800" y="1981080"/>
            <a:ext cx="7772400" cy="4114800"/>
          </a:xfrm>
          <a:prstGeom prst="rect">
            <a:avLst/>
          </a:prstGeom>
          <a:noFill/>
          <a:ln w="0">
            <a:noFill/>
          </a:ln>
        </p:spPr>
        <p:txBody>
          <a:bodyPr lIns="90000" rIns="90000" tIns="46800" bIns="46800" anchor="t">
            <a:normAutofit lnSpcReduction="9999"/>
          </a:bodyPr>
          <a:p>
            <a:pPr marL="343080" indent="-34308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Click to edit the outline text format</a:t>
            </a:r>
            <a:endParaRPr b="0" lang="en-US" sz="3200" strike="noStrike" u="none">
              <a:solidFill>
                <a:srgbClr val="ffff00"/>
              </a:solidFill>
              <a:effectLst/>
              <a:uFillTx/>
              <a:latin typeface="Times New Roman"/>
            </a:endParaRPr>
          </a:p>
          <a:p>
            <a:pPr lvl="1" marL="743040" indent="-28584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Second Outline Level</a:t>
            </a:r>
            <a:endParaRPr b="0" lang="en-US" sz="3200" strike="noStrike" u="none">
              <a:solidFill>
                <a:srgbClr val="ffff00"/>
              </a:solidFill>
              <a:effectLst/>
              <a:uFillTx/>
              <a:latin typeface="Times New Roman"/>
            </a:endParaRPr>
          </a:p>
          <a:p>
            <a:pPr lvl="2" marL="11430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Third Outline Level</a:t>
            </a:r>
            <a:endParaRPr b="0" lang="en-US" sz="3200" strike="noStrike" u="none">
              <a:solidFill>
                <a:srgbClr val="ffff00"/>
              </a:solidFill>
              <a:effectLst/>
              <a:uFillTx/>
              <a:latin typeface="Times New Roman"/>
            </a:endParaRPr>
          </a:p>
          <a:p>
            <a:pPr lvl="3" marL="16002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Fourth Outline Level</a:t>
            </a:r>
            <a:endParaRPr b="0" lang="en-US" sz="3200" strike="noStrike" u="none">
              <a:solidFill>
                <a:srgbClr val="ffff00"/>
              </a:solidFill>
              <a:effectLst/>
              <a:uFillTx/>
              <a:latin typeface="Times New Roman"/>
            </a:endParaRPr>
          </a:p>
          <a:p>
            <a:pPr lvl="4" marL="20574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Fifth Outline Level</a:t>
            </a:r>
            <a:endParaRPr b="0" lang="en-US" sz="3200" strike="noStrike" u="none">
              <a:solidFill>
                <a:srgbClr val="ffff00"/>
              </a:solidFill>
              <a:effectLst/>
              <a:uFillTx/>
              <a:latin typeface="Times New Roman"/>
            </a:endParaRPr>
          </a:p>
          <a:p>
            <a:pPr lvl="5" marL="20574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Sixth Outline Level</a:t>
            </a:r>
            <a:endParaRPr b="0" lang="en-US" sz="3200" strike="noStrike" u="none">
              <a:solidFill>
                <a:srgbClr val="ffff00"/>
              </a:solidFill>
              <a:effectLst/>
              <a:uFillTx/>
              <a:latin typeface="Times New Roman"/>
            </a:endParaRPr>
          </a:p>
          <a:p>
            <a:pPr lvl="6" marL="20574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Seventh Outline Level</a:t>
            </a:r>
            <a:endParaRPr b="0" lang="en-US" sz="3200" strike="noStrike" u="none">
              <a:solidFill>
                <a:srgbClr val="ffff00"/>
              </a:solidFill>
              <a:effectLst/>
              <a:uFillTx/>
              <a:latin typeface="Times New Roman"/>
            </a:endParaRPr>
          </a:p>
        </p:txBody>
      </p:sp>
      <p:sp>
        <p:nvSpPr>
          <p:cNvPr id="2" name="PlaceHolder 3"/>
          <p:cNvSpPr>
            <a:spLocks noGrp="1"/>
          </p:cNvSpPr>
          <p:nvPr>
            <p:ph type="dt" idx="1"/>
          </p:nvPr>
        </p:nvSpPr>
        <p:spPr>
          <a:xfrm>
            <a:off x="685800" y="6248520"/>
            <a:ext cx="190512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 name="PlaceHolder 4"/>
          <p:cNvSpPr>
            <a:spLocks noGrp="1"/>
          </p:cNvSpPr>
          <p:nvPr>
            <p:ph type="ftr" idx="2"/>
          </p:nvPr>
        </p:nvSpPr>
        <p:spPr>
          <a:xfrm>
            <a:off x="3124080" y="6248520"/>
            <a:ext cx="289584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 name="PlaceHolder 5"/>
          <p:cNvSpPr>
            <a:spLocks noGrp="1"/>
          </p:cNvSpPr>
          <p:nvPr>
            <p:ph type="sldNum" idx="3"/>
          </p:nvPr>
        </p:nvSpPr>
        <p:spPr>
          <a:xfrm>
            <a:off x="6553080" y="6248520"/>
            <a:ext cx="190512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fr-FR" sz="1400" strike="noStrike" u="none">
                <a:solidFill>
                  <a:srgbClr val="ffff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CA8A5FC-A92C-41B1-92D4-F4BFCFC43AC0}" type="slidenum">
              <a:rPr b="0" lang="fr-FR" sz="1400" strike="noStrike" u="none">
                <a:solidFill>
                  <a:srgbClr val="ffff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hyperlink" Target="mailto:areaps33@gmail.com" TargetMode="External"/><Relationship Id="rId5" Type="http://schemas.openxmlformats.org/officeDocument/2006/relationships/hyperlink" Target="http://www.areaps.org/" TargetMode="External"/><Relationship Id="rId6"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image" Target="../media/image7.jpeg"/><Relationship Id="rId5"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jpeg"/><Relationship Id="rId3"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8.png"/><Relationship Id="rId3" Type="http://schemas.openxmlformats.org/officeDocument/2006/relationships/oleObject" Target="../embeddings/oleObject2.bin"/><Relationship Id="rId4" Type="http://schemas.openxmlformats.org/officeDocument/2006/relationships/image" Target="../media/image19.wmf"/><Relationship Id="rId5" Type="http://schemas.openxmlformats.org/officeDocument/2006/relationships/oleObject" Target="../embeddings/oleObject3.bin"/><Relationship Id="rId6" Type="http://schemas.openxmlformats.org/officeDocument/2006/relationships/image" Target="../media/image20.png"/><Relationship Id="rId7"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2.png"/><Relationship Id="rId3"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slideLayout" Target="../slideLayouts/slideLayout1.xml"/><Relationship Id="rId4"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0.png"/><Relationship Id="rId7"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5.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4.png"/><Relationship Id="rId13" Type="http://schemas.openxmlformats.org/officeDocument/2006/relationships/image" Target="../media/image44.png"/><Relationship Id="rId14" Type="http://schemas.openxmlformats.org/officeDocument/2006/relationships/image" Target="../media/image45.png"/><Relationship Id="rId15" Type="http://schemas.openxmlformats.org/officeDocument/2006/relationships/slideLayout" Target="../slideLayouts/slideLayout1.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package" Target="../embeddings/oleObject1.docx"/><Relationship Id="rId2" Type="http://schemas.openxmlformats.org/officeDocument/2006/relationships/image" Target="../media/image46.wmf"/><Relationship Id="rId3" Type="http://schemas.openxmlformats.org/officeDocument/2006/relationships/slideLayout" Target="../slideLayouts/slideLayout1.xml"/><Relationship Id="rId4"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1.xml"/><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1.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3.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slideLayout" Target="../slideLayouts/slideLayout1.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package" Target="../embeddings/oleObject1.docx"/><Relationship Id="rId2" Type="http://schemas.openxmlformats.org/officeDocument/2006/relationships/image" Target="../media/image51.wmf"/><Relationship Id="rId3" Type="http://schemas.openxmlformats.org/officeDocument/2006/relationships/slideLayout" Target="../slideLayouts/slideLayout1.xml"/>
</Relationships>
</file>

<file path=ppt/slides/_rels/slide77.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slideLayout" Target="../slideLayouts/slideLayout1.xml"/>
</Relationships>
</file>

<file path=ppt/slides/_rels/slide78.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slideLayout" Target="../slideLayouts/slideLayout1.xml"/>
</Relationships>
</file>

<file path=ppt/slides/_rels/slide79.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image" Target="../media/image55.png"/><Relationship Id="rId3" Type="http://schemas.openxmlformats.org/officeDocument/2006/relationships/slideLayout" Target="../slideLayouts/slideLayout1.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1.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slideLayout" Target="../slideLayouts/slideLayout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4.xml.rels><?xml version="1.0" encoding="UTF-8"?>
<Relationships xmlns="http://schemas.openxmlformats.org/package/2006/relationships"><Relationship Id="rId1" Type="http://schemas.openxmlformats.org/officeDocument/2006/relationships/package" Target="../embeddings/oleObject1.docx"/><Relationship Id="rId2" Type="http://schemas.openxmlformats.org/officeDocument/2006/relationships/image" Target="../media/image60.png"/><Relationship Id="rId3" Type="http://schemas.openxmlformats.org/officeDocument/2006/relationships/slideLayout" Target="../slideLayouts/slideLayout1.xml"/>
</Relationships>
</file>

<file path=ppt/slides/_rels/slide85.xml.rels><?xml version="1.0" encoding="UTF-8"?>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Text Box 6"/>
          <p:cNvSpPr/>
          <p:nvPr/>
        </p:nvSpPr>
        <p:spPr>
          <a:xfrm>
            <a:off x="1473120" y="3021120"/>
            <a:ext cx="6129360" cy="13136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Georges CAZORLA</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Bookman Old Style"/>
              </a:rPr>
              <a:t>cazorlageorges@gmail.com</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
        <p:nvSpPr>
          <p:cNvPr id="13" name="ZoneTexte 6"/>
          <p:cNvSpPr/>
          <p:nvPr/>
        </p:nvSpPr>
        <p:spPr>
          <a:xfrm>
            <a:off x="298080" y="1125360"/>
            <a:ext cx="8754840" cy="1557000"/>
          </a:xfrm>
          <a:prstGeom prst="rect">
            <a:avLst/>
          </a:prstGeom>
          <a:noFill/>
          <a:ln w="0">
            <a:noFill/>
          </a:ln>
        </p:spPr>
        <p:style>
          <a:lnRef idx="0"/>
          <a:fillRef idx="0"/>
          <a:effectRef idx="0"/>
          <a:fontRef idx="minor"/>
        </p:style>
        <p:txBody>
          <a:bodyPr wrap="none" lIns="90000" rIns="90000" tIns="46800" bIns="46800" anchor="t">
            <a:sp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alibri"/>
                <a:ea typeface="Calibri"/>
              </a:rPr>
              <a:t>QUELLE ACTIVITÉ ? POUR QUEL PUBLIC?</a:t>
            </a:r>
            <a:endParaRPr b="0" lang="en-US" sz="32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alibri"/>
                <a:ea typeface="Calibri"/>
              </a:rPr>
              <a:t>À QUEL ÂGE ? POURQUOI ET COMMENT ?</a:t>
            </a:r>
            <a:endParaRPr b="0" lang="en-US" sz="3200" strike="noStrike" u="none">
              <a:solidFill>
                <a:srgbClr val="ffff00"/>
              </a:solidFill>
              <a:effectLst/>
              <a:uFillTx/>
              <a:latin typeface="Times New Roman"/>
            </a:endParaRPr>
          </a:p>
        </p:txBody>
      </p:sp>
      <p:pic>
        <p:nvPicPr>
          <p:cNvPr id="14" name="Picture 4" descr="photo8"/>
          <p:cNvPicPr/>
          <p:nvPr/>
        </p:nvPicPr>
        <p:blipFill>
          <a:blip r:embed="rId1"/>
          <a:srcRect l="0" t="5533" r="0" b="0"/>
          <a:stretch/>
        </p:blipFill>
        <p:spPr>
          <a:xfrm>
            <a:off x="135000" y="2997360"/>
            <a:ext cx="1844640" cy="2665080"/>
          </a:xfrm>
          <a:prstGeom prst="rect">
            <a:avLst/>
          </a:prstGeom>
          <a:noFill/>
          <a:ln w="9360">
            <a:solidFill>
              <a:srgbClr val="3333cc"/>
            </a:solidFill>
            <a:miter/>
          </a:ln>
        </p:spPr>
      </p:pic>
      <p:pic>
        <p:nvPicPr>
          <p:cNvPr id="15" name="Picture 5" descr="photo6"/>
          <p:cNvPicPr/>
          <p:nvPr/>
        </p:nvPicPr>
        <p:blipFill>
          <a:blip r:embed="rId2"/>
          <a:srcRect l="12843" t="19006" r="21588" b="13100"/>
          <a:stretch/>
        </p:blipFill>
        <p:spPr>
          <a:xfrm>
            <a:off x="6948360" y="2959200"/>
            <a:ext cx="2022480" cy="3097080"/>
          </a:xfrm>
          <a:prstGeom prst="rect">
            <a:avLst/>
          </a:prstGeom>
          <a:noFill/>
          <a:ln w="9360">
            <a:solidFill>
              <a:srgbClr val="3333cc"/>
            </a:solidFill>
            <a:miter/>
          </a:ln>
        </p:spPr>
      </p:pic>
      <p:pic>
        <p:nvPicPr>
          <p:cNvPr id="16" name="Image 30720" descr=""/>
          <p:cNvPicPr/>
          <p:nvPr/>
        </p:nvPicPr>
        <p:blipFill>
          <a:blip r:embed="rId3"/>
          <a:srcRect l="0" t="19565" r="74963" b="63428"/>
          <a:stretch/>
        </p:blipFill>
        <p:spPr>
          <a:xfrm>
            <a:off x="3348000" y="5157720"/>
            <a:ext cx="2157480" cy="824040"/>
          </a:xfrm>
          <a:prstGeom prst="rect">
            <a:avLst/>
          </a:prstGeom>
          <a:noFill/>
          <a:ln w="0">
            <a:noFill/>
          </a:ln>
        </p:spPr>
      </p:pic>
      <p:sp>
        <p:nvSpPr>
          <p:cNvPr id="17" name="Rectangle 3"/>
          <p:cNvSpPr/>
          <p:nvPr/>
        </p:nvSpPr>
        <p:spPr>
          <a:xfrm>
            <a:off x="318240" y="6148440"/>
            <a:ext cx="8661240" cy="734400"/>
          </a:xfrm>
          <a:prstGeom prst="rect">
            <a:avLst/>
          </a:prstGeom>
          <a:noFill/>
          <a:ln w="0">
            <a:noFill/>
          </a:ln>
        </p:spPr>
        <p:style>
          <a:lnRef idx="0"/>
          <a:fillRef idx="0"/>
          <a:effectRef idx="0"/>
          <a:fontRef idx="minor"/>
        </p:style>
        <p:txBody>
          <a:bodyPr wrap="none" lIns="90000" rIns="90000" tIns="46800" bIns="46800" anchor="ctr">
            <a:spAutoFit/>
          </a:bodyPr>
          <a:p>
            <a:pPr algn="ctr">
              <a:lnSpc>
                <a:spcPct val="100000"/>
              </a:lnSpc>
              <a:tabLst>
                <a:tab algn="l" pos="0"/>
                <a:tab algn="l" pos="5311800"/>
                <a:tab algn="l" pos="5486400"/>
                <a:tab algn="l" pos="6400800"/>
                <a:tab algn="l" pos="7315200"/>
                <a:tab algn="l" pos="8229600"/>
                <a:tab algn="l" pos="9144000"/>
                <a:tab algn="l" pos="10058400"/>
              </a:tabLst>
            </a:pPr>
            <a:r>
              <a:rPr b="1" i="1" lang="fr-FR" sz="1400" strike="noStrike" u="none">
                <a:solidFill>
                  <a:srgbClr val="ffff00"/>
                </a:solidFill>
                <a:effectLst/>
                <a:uFillTx/>
                <a:latin typeface="Calibri"/>
                <a:ea typeface="Times New Roman"/>
              </a:rPr>
              <a:t>Association pour la Recherche et l’Évaluation en Activité Physique et en Sport </a:t>
            </a:r>
            <a:endParaRPr b="0" lang="en-US" sz="1400" strike="noStrike" u="none">
              <a:solidFill>
                <a:srgbClr val="ffff00"/>
              </a:solidFill>
              <a:effectLst/>
              <a:uFillTx/>
              <a:latin typeface="Times New Roman"/>
            </a:endParaRPr>
          </a:p>
          <a:p>
            <a:pPr algn="ctr">
              <a:lnSpc>
                <a:spcPct val="100000"/>
              </a:lnSpc>
              <a:tabLst>
                <a:tab algn="l" pos="0"/>
                <a:tab algn="l" pos="5311800"/>
                <a:tab algn="l" pos="5486400"/>
                <a:tab algn="l" pos="6400800"/>
                <a:tab algn="l" pos="7315200"/>
                <a:tab algn="l" pos="8229600"/>
                <a:tab algn="l" pos="9144000"/>
                <a:tab algn="l" pos="10058400"/>
              </a:tabLst>
            </a:pPr>
            <a:r>
              <a:rPr b="0" lang="fr-FR" sz="1400" strike="noStrike" u="sng">
                <a:solidFill>
                  <a:srgbClr val="ccccff"/>
                </a:solidFill>
                <a:effectLst/>
                <a:uFillTx/>
                <a:latin typeface="Calibri"/>
                <a:ea typeface="Times New Roman"/>
                <a:hlinkClick r:id="rId4"/>
              </a:rPr>
              <a:t>areaps33@gmail.com</a:t>
            </a:r>
            <a:r>
              <a:rPr b="1" i="1" lang="fr-FR" sz="1400" strike="noStrike" u="none">
                <a:solidFill>
                  <a:srgbClr val="ffff00"/>
                </a:solidFill>
                <a:effectLst/>
                <a:uFillTx/>
                <a:latin typeface="Calibri"/>
                <a:ea typeface="Times New Roman"/>
              </a:rPr>
              <a:t>    Web : </a:t>
            </a:r>
            <a:r>
              <a:rPr b="0" lang="fr-FR" sz="1400" strike="noStrike" u="sng">
                <a:solidFill>
                  <a:srgbClr val="ccccff"/>
                </a:solidFill>
                <a:effectLst/>
                <a:uFillTx/>
                <a:latin typeface="Calibri"/>
                <a:ea typeface="Times New Roman"/>
                <a:hlinkClick r:id="rId5"/>
              </a:rPr>
              <a:t>www.areaps.org</a:t>
            </a:r>
            <a:endParaRPr b="0" lang="en-US" sz="1400" strike="noStrike" u="none">
              <a:solidFill>
                <a:srgbClr val="ffff00"/>
              </a:solidFill>
              <a:effectLst/>
              <a:uFillTx/>
              <a:latin typeface="Times New Roman"/>
            </a:endParaRPr>
          </a:p>
          <a:p>
            <a:pPr algn="ctr">
              <a:lnSpc>
                <a:spcPct val="100000"/>
              </a:lnSpc>
              <a:tabLst>
                <a:tab algn="l" pos="0"/>
                <a:tab algn="l" pos="5311800"/>
                <a:tab algn="l" pos="5486400"/>
                <a:tab algn="l" pos="6400800"/>
                <a:tab algn="l" pos="7315200"/>
                <a:tab algn="l" pos="8229600"/>
                <a:tab algn="l" pos="9144000"/>
                <a:tab algn="l" pos="10058400"/>
              </a:tabLst>
            </a:pPr>
            <a:r>
              <a:rPr b="1" i="1" lang="fr-FR" sz="1400" strike="noStrike" u="none">
                <a:solidFill>
                  <a:srgbClr val="ffff00"/>
                </a:solidFill>
                <a:effectLst/>
                <a:uFillTx/>
                <a:latin typeface="Calibri"/>
                <a:ea typeface="Times New Roman"/>
              </a:rPr>
              <a:t> </a:t>
            </a:r>
            <a:endParaRPr b="0" lang="en-US" sz="1400" strike="noStrike" u="none">
              <a:solidFill>
                <a:srgbClr val="ffff00"/>
              </a:solidFill>
              <a:effectLst/>
              <a:uFillTx/>
              <a:latin typeface="Times New Roman"/>
            </a:endParaRPr>
          </a:p>
        </p:txBody>
      </p:sp>
      <p:sp>
        <p:nvSpPr>
          <p:cNvPr id="18" name="ZoneTexte 1"/>
          <p:cNvSpPr/>
          <p:nvPr/>
        </p:nvSpPr>
        <p:spPr>
          <a:xfrm>
            <a:off x="1542600" y="157320"/>
            <a:ext cx="56970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ffffff"/>
                </a:solidFill>
                <a:effectLst/>
                <a:uFillTx/>
                <a:latin typeface="Calibri"/>
                <a:ea typeface="Calibri"/>
              </a:rPr>
              <a:t>Conférence Bruxelles (Belgique) 2010</a:t>
            </a:r>
            <a:endParaRPr b="0" lang="en-US" sz="2000" strike="noStrike" u="none">
              <a:solidFill>
                <a:srgbClr val="ffff00"/>
              </a:solidFill>
              <a:effectLst/>
              <a:uFillTx/>
              <a:latin typeface="Times New Roman"/>
            </a:endParaRPr>
          </a:p>
        </p:txBody>
      </p:sp>
    </p:spTree>
  </p:cSld>
  <p:transition spd="med">
    <p:zoom dir="out"/>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ZoneTexte 1"/>
          <p:cNvSpPr/>
          <p:nvPr/>
        </p:nvSpPr>
        <p:spPr>
          <a:xfrm>
            <a:off x="279360" y="1052640"/>
            <a:ext cx="8064720" cy="7352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1- Une définition préalable indispensable…</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2- A quoi sert et à qui sert l’évaluation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3- Comment choisir ses tests et son type d’évaluation</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4- Développement et évaluation des capacités physiques et physiologiques au cours de la croissance.</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5- Quelles activités physiques et pour quels publics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p:txBody>
      </p:sp>
      <p:sp>
        <p:nvSpPr>
          <p:cNvPr id="20" name="ZoneTexte 1"/>
          <p:cNvSpPr/>
          <p:nvPr/>
        </p:nvSpPr>
        <p:spPr>
          <a:xfrm>
            <a:off x="2866680" y="189000"/>
            <a:ext cx="189108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SOMMAIRE</a:t>
            </a:r>
            <a:endParaRPr b="0" lang="en-US" sz="2800" strike="noStrike" u="none">
              <a:solidFill>
                <a:srgbClr val="ffff00"/>
              </a:solidFill>
              <a:effectLst/>
              <a:uFillTx/>
              <a:latin typeface="Times New Roman"/>
            </a:endParaRPr>
          </a:p>
        </p:txBody>
      </p:sp>
    </p:spTree>
  </p:cSld>
  <p:transition spd="med">
    <p:zoom dir="out"/>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Text Box 2"/>
          <p:cNvSpPr/>
          <p:nvPr/>
        </p:nvSpPr>
        <p:spPr>
          <a:xfrm>
            <a:off x="2771640" y="876240"/>
            <a:ext cx="2887920" cy="398880"/>
          </a:xfrm>
          <a:prstGeom prst="rect">
            <a:avLst/>
          </a:prstGeom>
          <a:noFill/>
          <a:ln w="12600">
            <a:solidFill>
              <a:srgbClr val="ccccff"/>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Condition Physique</a:t>
            </a:r>
            <a:endParaRPr b="0" lang="en-US" sz="2000" strike="noStrike" u="none">
              <a:solidFill>
                <a:srgbClr val="ffff00"/>
              </a:solidFill>
              <a:effectLst/>
              <a:uFillTx/>
              <a:latin typeface="Times New Roman"/>
            </a:endParaRPr>
          </a:p>
        </p:txBody>
      </p:sp>
      <p:sp>
        <p:nvSpPr>
          <p:cNvPr id="22" name="Line 3"/>
          <p:cNvSpPr/>
          <p:nvPr/>
        </p:nvSpPr>
        <p:spPr>
          <a:xfrm flipH="1">
            <a:off x="2514240" y="1333440"/>
            <a:ext cx="762120" cy="457200"/>
          </a:xfrm>
          <a:prstGeom prst="line">
            <a:avLst/>
          </a:prstGeom>
          <a:ln w="12600">
            <a:solidFill>
              <a:srgbClr val="ffff00"/>
            </a:solidFill>
            <a:miter/>
            <a:tailEnd len="sm" type="triangle" w="sm"/>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 name="Line 4"/>
          <p:cNvSpPr/>
          <p:nvPr/>
        </p:nvSpPr>
        <p:spPr>
          <a:xfrm>
            <a:off x="5029200" y="1333440"/>
            <a:ext cx="838080" cy="381240"/>
          </a:xfrm>
          <a:prstGeom prst="line">
            <a:avLst/>
          </a:prstGeom>
          <a:ln w="12600">
            <a:solidFill>
              <a:srgbClr val="ffff00"/>
            </a:solidFill>
            <a:miter/>
            <a:tailEnd len="sm" type="triangle" w="sm"/>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4" name="Text Box 5"/>
          <p:cNvSpPr/>
          <p:nvPr/>
        </p:nvSpPr>
        <p:spPr>
          <a:xfrm>
            <a:off x="1739880" y="1790640"/>
            <a:ext cx="1917720" cy="642600"/>
          </a:xfrm>
          <a:prstGeom prst="rect">
            <a:avLst/>
          </a:prstGeom>
          <a:noFill/>
          <a:ln w="12600">
            <a:solidFill>
              <a:srgbClr val="ffff00"/>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Dimensions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objectives</a:t>
            </a:r>
            <a:endParaRPr b="0" lang="en-US" sz="1800" strike="noStrike" u="none">
              <a:solidFill>
                <a:srgbClr val="ffff00"/>
              </a:solidFill>
              <a:effectLst/>
              <a:uFillTx/>
              <a:latin typeface="Times New Roman"/>
            </a:endParaRPr>
          </a:p>
        </p:txBody>
      </p:sp>
      <p:sp>
        <p:nvSpPr>
          <p:cNvPr id="25" name="Text Box 6"/>
          <p:cNvSpPr/>
          <p:nvPr/>
        </p:nvSpPr>
        <p:spPr>
          <a:xfrm>
            <a:off x="5867280" y="1714680"/>
            <a:ext cx="1524240" cy="642600"/>
          </a:xfrm>
          <a:prstGeom prst="rect">
            <a:avLst/>
          </a:prstGeom>
          <a:noFill/>
          <a:ln w="12600">
            <a:solidFill>
              <a:srgbClr val="ffff00"/>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Dimensions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subjectives</a:t>
            </a:r>
            <a:endParaRPr b="0" lang="en-US" sz="1800" strike="noStrike" u="none">
              <a:solidFill>
                <a:srgbClr val="ffff00"/>
              </a:solidFill>
              <a:effectLst/>
              <a:uFillTx/>
              <a:latin typeface="Times New Roman"/>
            </a:endParaRPr>
          </a:p>
        </p:txBody>
      </p:sp>
      <p:sp>
        <p:nvSpPr>
          <p:cNvPr id="26" name="Line 7"/>
          <p:cNvSpPr/>
          <p:nvPr/>
        </p:nvSpPr>
        <p:spPr>
          <a:xfrm flipH="1">
            <a:off x="1599840" y="2476440"/>
            <a:ext cx="762120" cy="228600"/>
          </a:xfrm>
          <a:prstGeom prst="line">
            <a:avLst/>
          </a:prstGeom>
          <a:ln w="12600">
            <a:solidFill>
              <a:srgbClr val="ffff00"/>
            </a:solidFill>
            <a:miter/>
            <a:tailEnd len="sm" type="triangle" w="sm"/>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 name="Line 8"/>
          <p:cNvSpPr/>
          <p:nvPr/>
        </p:nvSpPr>
        <p:spPr>
          <a:xfrm>
            <a:off x="2895480" y="2476440"/>
            <a:ext cx="838440" cy="228600"/>
          </a:xfrm>
          <a:prstGeom prst="line">
            <a:avLst/>
          </a:prstGeom>
          <a:ln w="12600">
            <a:solidFill>
              <a:srgbClr val="ffff00"/>
            </a:solidFill>
            <a:miter/>
            <a:tailEnd len="sm" type="triangle" w="sm"/>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8" name="Text Box 9"/>
          <p:cNvSpPr/>
          <p:nvPr/>
        </p:nvSpPr>
        <p:spPr>
          <a:xfrm>
            <a:off x="380880" y="2705040"/>
            <a:ext cx="2590920" cy="368280"/>
          </a:xfrm>
          <a:prstGeom prst="rect">
            <a:avLst/>
          </a:prstGeom>
          <a:noFill/>
          <a:ln w="12600">
            <a:solidFill>
              <a:srgbClr val="ffff00"/>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Liées à la performance</a:t>
            </a:r>
            <a:endParaRPr b="0" lang="en-US" sz="1800" strike="noStrike" u="none">
              <a:solidFill>
                <a:srgbClr val="ffff00"/>
              </a:solidFill>
              <a:effectLst/>
              <a:uFillTx/>
              <a:latin typeface="Times New Roman"/>
            </a:endParaRPr>
          </a:p>
        </p:txBody>
      </p:sp>
      <p:sp>
        <p:nvSpPr>
          <p:cNvPr id="29" name="Text Box 10"/>
          <p:cNvSpPr/>
          <p:nvPr/>
        </p:nvSpPr>
        <p:spPr>
          <a:xfrm>
            <a:off x="3795840" y="2665440"/>
            <a:ext cx="1995480" cy="368280"/>
          </a:xfrm>
          <a:prstGeom prst="rect">
            <a:avLst/>
          </a:prstGeom>
          <a:noFill/>
          <a:ln w="12600">
            <a:solidFill>
              <a:srgbClr val="ffffff"/>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Liées à la santé</a:t>
            </a:r>
            <a:endParaRPr b="0" lang="en-US" sz="1800" strike="noStrike" u="none">
              <a:solidFill>
                <a:srgbClr val="ffff00"/>
              </a:solidFill>
              <a:effectLst/>
              <a:uFillTx/>
              <a:latin typeface="Times New Roman"/>
            </a:endParaRPr>
          </a:p>
        </p:txBody>
      </p:sp>
      <p:sp>
        <p:nvSpPr>
          <p:cNvPr id="30" name="Text Box 11"/>
          <p:cNvSpPr/>
          <p:nvPr/>
        </p:nvSpPr>
        <p:spPr>
          <a:xfrm>
            <a:off x="152280" y="3543480"/>
            <a:ext cx="3556080" cy="3111480"/>
          </a:xfrm>
          <a:prstGeom prst="rect">
            <a:avLst/>
          </a:prstGeom>
          <a:noFill/>
          <a:ln w="12600">
            <a:solidFill>
              <a:srgbClr val="ffff00"/>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Composition corporelle,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équilibre,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coordination,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vitesse,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force,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puissance,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endurance musculaire</a:t>
            </a:r>
            <a:r>
              <a:rPr b="0" lang="fr-FR" sz="1800" strike="noStrike" u="none">
                <a:solidFill>
                  <a:srgbClr val="ffff00"/>
                </a:solidFill>
                <a:effectLst/>
                <a:uFillTx/>
                <a:latin typeface="Arial"/>
              </a:rPr>
              <a: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endurance cardiorespiratoire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puissance aérobie maximale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capacité anaérobie,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souplesse (flexibilité)</a:t>
            </a:r>
            <a:endParaRPr b="0" lang="en-US" sz="1800" strike="noStrike" u="none">
              <a:solidFill>
                <a:srgbClr val="ffff00"/>
              </a:solidFill>
              <a:effectLst/>
              <a:uFillTx/>
              <a:latin typeface="Times New Roman"/>
            </a:endParaRPr>
          </a:p>
        </p:txBody>
      </p:sp>
      <p:sp>
        <p:nvSpPr>
          <p:cNvPr id="31" name="Text Box 12"/>
          <p:cNvSpPr/>
          <p:nvPr/>
        </p:nvSpPr>
        <p:spPr>
          <a:xfrm>
            <a:off x="3857760" y="3543480"/>
            <a:ext cx="3809880" cy="2912040"/>
          </a:xfrm>
          <a:prstGeom prst="rect">
            <a:avLst/>
          </a:prstGeom>
          <a:noFill/>
          <a:ln w="12600">
            <a:solidFill>
              <a:srgbClr val="ffffff"/>
            </a:solidFill>
            <a:miter/>
          </a:ln>
        </p:spPr>
        <p:style>
          <a:lnRef idx="0"/>
          <a:fillRef idx="0"/>
          <a:effectRef idx="0"/>
          <a:fontRef idx="minor"/>
        </p:style>
        <p:txBody>
          <a:bodyPr lIns="90000" rIns="90000" tIns="46800" bIns="46800" anchor="t">
            <a:spAutoFit/>
          </a:bodyPr>
          <a:p>
            <a:pP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 Capacité aérobie (capacité  cardiorespiratoire : transport O</a:t>
            </a:r>
            <a:r>
              <a:rPr b="1" lang="fr-FR" sz="1800" strike="noStrike" u="none" baseline="-25000">
                <a:solidFill>
                  <a:srgbClr val="ffffff"/>
                </a:solidFill>
                <a:effectLst/>
                <a:uFillTx/>
                <a:latin typeface="Arial"/>
              </a:rPr>
              <a:t>2</a:t>
            </a:r>
            <a:r>
              <a:rPr b="1" lang="fr-FR" sz="1800" strike="noStrike" u="none">
                <a:solidFill>
                  <a:srgbClr val="ffffff"/>
                </a:solidFill>
                <a:effectLst/>
                <a:uFillTx/>
                <a:latin typeface="Arial"/>
              </a:rPr>
              <a:t> et musculaire: utilisation de l’O</a:t>
            </a:r>
            <a:r>
              <a:rPr b="1" lang="fr-FR" sz="1800" strike="noStrike" u="none" baseline="-25000">
                <a:solidFill>
                  <a:srgbClr val="ffffff"/>
                </a:solidFill>
                <a:effectLst/>
                <a:uFillTx/>
                <a:latin typeface="Arial"/>
              </a:rPr>
              <a:t>2 </a:t>
            </a:r>
            <a:r>
              <a:rPr b="1" lang="fr-FR" sz="1800" strike="noStrike" u="none">
                <a:solidFill>
                  <a:srgbClr val="ffffff"/>
                </a:solidFill>
                <a:effectLst/>
                <a:uFillTx/>
                <a:latin typeface="Arial"/>
              </a:rPr>
              <a: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 Composition corporelle,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 force et endurance musculaires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 flexibilité</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p:txBody>
      </p:sp>
      <p:sp>
        <p:nvSpPr>
          <p:cNvPr id="32" name="Line 13"/>
          <p:cNvSpPr/>
          <p:nvPr/>
        </p:nvSpPr>
        <p:spPr>
          <a:xfrm>
            <a:off x="1523880" y="3086280"/>
            <a:ext cx="0" cy="457200"/>
          </a:xfrm>
          <a:prstGeom prst="line">
            <a:avLst/>
          </a:prstGeom>
          <a:ln w="12600">
            <a:solidFill>
              <a:srgbClr val="ffff00"/>
            </a:solidFill>
            <a:miter/>
            <a:tailEnd len="sm" type="triangle" w="sm"/>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3" name="Line 14"/>
          <p:cNvSpPr/>
          <p:nvPr/>
        </p:nvSpPr>
        <p:spPr>
          <a:xfrm>
            <a:off x="4648320" y="3086280"/>
            <a:ext cx="0" cy="457200"/>
          </a:xfrm>
          <a:prstGeom prst="line">
            <a:avLst/>
          </a:prstGeom>
          <a:ln w="12600">
            <a:solidFill>
              <a:srgbClr val="ffff00"/>
            </a:solidFill>
            <a:miter/>
            <a:tailEnd len="sm" type="triangle" w="sm"/>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4" name="Text Box 15"/>
          <p:cNvSpPr/>
          <p:nvPr/>
        </p:nvSpPr>
        <p:spPr>
          <a:xfrm>
            <a:off x="5867280" y="2629080"/>
            <a:ext cx="3168720" cy="642600"/>
          </a:xfrm>
          <a:prstGeom prst="rect">
            <a:avLst/>
          </a:prstGeom>
          <a:noFill/>
          <a:ln w="12600">
            <a:solidFill>
              <a:srgbClr val="ffff00"/>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Perception des déterminants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de la condition physique</a:t>
            </a:r>
            <a:endParaRPr b="0" lang="en-US" sz="1800" strike="noStrike" u="none">
              <a:solidFill>
                <a:srgbClr val="ffff00"/>
              </a:solidFill>
              <a:effectLst/>
              <a:uFillTx/>
              <a:latin typeface="Times New Roman"/>
            </a:endParaRPr>
          </a:p>
        </p:txBody>
      </p:sp>
      <p:sp>
        <p:nvSpPr>
          <p:cNvPr id="35" name="Line 16"/>
          <p:cNvSpPr/>
          <p:nvPr/>
        </p:nvSpPr>
        <p:spPr>
          <a:xfrm>
            <a:off x="6477120" y="2400480"/>
            <a:ext cx="0" cy="228600"/>
          </a:xfrm>
          <a:prstGeom prst="line">
            <a:avLst/>
          </a:prstGeom>
          <a:ln w="12600">
            <a:solidFill>
              <a:srgbClr val="ffff00"/>
            </a:solidFill>
            <a:miter/>
            <a:tailEnd len="sm" type="triangle" w="sm"/>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6" name="ZoneTexte 1"/>
          <p:cNvSpPr/>
          <p:nvPr/>
        </p:nvSpPr>
        <p:spPr>
          <a:xfrm>
            <a:off x="2034360" y="87480"/>
            <a:ext cx="467028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LA CONDITION PHYSIQUE</a:t>
            </a:r>
            <a:endParaRPr b="0" lang="en-US" sz="2800" strike="noStrike" u="none">
              <a:solidFill>
                <a:srgbClr val="ffff00"/>
              </a:solidFill>
              <a:effectLst/>
              <a:uFillTx/>
              <a:latin typeface="Times New Roman"/>
            </a:endParaRPr>
          </a:p>
        </p:txBody>
      </p:sp>
    </p:spTree>
  </p:cSld>
  <p:transition spd="slow">
    <p:dissolve/>
  </p:transition>
  <p:timing>
    <p:tnLst>
      <p:par>
        <p:cTn id="1" dur="indefinite" restart="never" nodeType="tmRoot">
          <p:childTnLst>
            <p:seq>
              <p:cTn id="2" dur="indefinite" nodeType="mainSeq">
                <p:childTnLst>
                  <p:par>
                    <p:cTn id="3" nodeType="clickEffect" fill="hold">
                      <p:stCondLst>
                        <p:cond delay="0"/>
                      </p:stCondLst>
                      <p:childTnLst>
                        <p:par>
                          <p:cTn id="4" nodeType="withEffect" fill="hold">
                            <p:stCondLst>
                              <p:cond delay="0"/>
                            </p:stCondLst>
                            <p:childTnLst>
                              <p:par>
                                <p:cTn id="5" nodeType="afterEffect" fill="hold" presetClass="entr" presetID="53" presetSubtype="16">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repl">
                                        <p:cTn id="7" dur="500" fill="hold"/>
                                        <p:tgtEl>
                                          <p:spTgt spid="21"/>
                                        </p:tgtEl>
                                        <p:attrNameLst>
                                          <p:attrName>ppt_w</p:attrName>
                                        </p:attrNameLst>
                                      </p:cBhvr>
                                      <p:tavLst>
                                        <p:tav tm="0">
                                          <p:val>
                                            <p:fltVal val="0"/>
                                          </p:val>
                                        </p:tav>
                                        <p:tav tm="100000">
                                          <p:val>
                                            <p:strVal val="#ppt_w"/>
                                          </p:val>
                                        </p:tav>
                                      </p:tavLst>
                                    </p:anim>
                                    <p:anim calcmode="lin" valueType="num">
                                      <p:cBhvr additive="repl">
                                        <p:cTn id="8" dur="500" fill="hold"/>
                                        <p:tgtEl>
                                          <p:spTgt spid="21"/>
                                        </p:tgtEl>
                                        <p:attrNameLst>
                                          <p:attrName>ppt_h</p:attrName>
                                        </p:attrNameLst>
                                      </p:cBhvr>
                                      <p:tavLst>
                                        <p:tav tm="0">
                                          <p:val>
                                            <p:fltVal val="0"/>
                                          </p:val>
                                        </p:tav>
                                        <p:tav tm="100000">
                                          <p:val>
                                            <p:strVal val="#ppt_h"/>
                                          </p:val>
                                        </p:tav>
                                      </p:tavLst>
                                    </p:anim>
                                    <p:animEffect filter="fade" transition="in">
                                      <p:cBhvr additive="repl">
                                        <p:cTn id="9" dur="500"/>
                                        <p:tgtEl>
                                          <p:spTgt spid="21"/>
                                        </p:tgtEl>
                                      </p:cBhvr>
                                    </p:animEffect>
                                  </p:childTnLst>
                                </p:cTn>
                              </p:par>
                            </p:childTnLst>
                          </p:cTn>
                        </p:par>
                        <p:par>
                          <p:cTn id="10" nodeType="afterEffect" fill="hold">
                            <p:stCondLst>
                              <p:cond delay="500"/>
                            </p:stCondLst>
                            <p:childTnLst>
                              <p:par>
                                <p:cTn id="11" nodeType="afterEffect" fill="hold" presetClass="entr" presetID="53" presetSubtype="16">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repl">
                                        <p:cTn id="13" dur="500" fill="hold"/>
                                        <p:tgtEl>
                                          <p:spTgt spid="22"/>
                                        </p:tgtEl>
                                        <p:attrNameLst>
                                          <p:attrName>ppt_w</p:attrName>
                                        </p:attrNameLst>
                                      </p:cBhvr>
                                      <p:tavLst>
                                        <p:tav tm="0">
                                          <p:val>
                                            <p:fltVal val="0"/>
                                          </p:val>
                                        </p:tav>
                                        <p:tav tm="100000">
                                          <p:val>
                                            <p:strVal val="#ppt_w"/>
                                          </p:val>
                                        </p:tav>
                                      </p:tavLst>
                                    </p:anim>
                                    <p:anim calcmode="lin" valueType="num">
                                      <p:cBhvr additive="repl">
                                        <p:cTn id="14" dur="500" fill="hold"/>
                                        <p:tgtEl>
                                          <p:spTgt spid="22"/>
                                        </p:tgtEl>
                                        <p:attrNameLst>
                                          <p:attrName>ppt_h</p:attrName>
                                        </p:attrNameLst>
                                      </p:cBhvr>
                                      <p:tavLst>
                                        <p:tav tm="0">
                                          <p:val>
                                            <p:fltVal val="0"/>
                                          </p:val>
                                        </p:tav>
                                        <p:tav tm="100000">
                                          <p:val>
                                            <p:strVal val="#ppt_h"/>
                                          </p:val>
                                        </p:tav>
                                      </p:tavLst>
                                    </p:anim>
                                    <p:animEffect filter="fade" transition="in">
                                      <p:cBhvr additive="repl">
                                        <p:cTn id="15" dur="500"/>
                                        <p:tgtEl>
                                          <p:spTgt spid="22"/>
                                        </p:tgtEl>
                                      </p:cBhvr>
                                    </p:animEffect>
                                  </p:childTnLst>
                                </p:cTn>
                              </p:par>
                            </p:childTnLst>
                          </p:cTn>
                        </p:par>
                        <p:par>
                          <p:cTn id="16" nodeType="afterEffect" fill="hold">
                            <p:stCondLst>
                              <p:cond delay="1000"/>
                            </p:stCondLst>
                            <p:childTnLst>
                              <p:par>
                                <p:cTn id="17" nodeType="afterEffect" fill="hold" presetClass="entr" presetID="53" presetSubtype="16">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repl">
                                        <p:cTn id="19" dur="500" fill="hold"/>
                                        <p:tgtEl>
                                          <p:spTgt spid="23"/>
                                        </p:tgtEl>
                                        <p:attrNameLst>
                                          <p:attrName>ppt_w</p:attrName>
                                        </p:attrNameLst>
                                      </p:cBhvr>
                                      <p:tavLst>
                                        <p:tav tm="0">
                                          <p:val>
                                            <p:fltVal val="0"/>
                                          </p:val>
                                        </p:tav>
                                        <p:tav tm="100000">
                                          <p:val>
                                            <p:strVal val="#ppt_w"/>
                                          </p:val>
                                        </p:tav>
                                      </p:tavLst>
                                    </p:anim>
                                    <p:anim calcmode="lin" valueType="num">
                                      <p:cBhvr additive="repl">
                                        <p:cTn id="20" dur="500" fill="hold"/>
                                        <p:tgtEl>
                                          <p:spTgt spid="23"/>
                                        </p:tgtEl>
                                        <p:attrNameLst>
                                          <p:attrName>ppt_h</p:attrName>
                                        </p:attrNameLst>
                                      </p:cBhvr>
                                      <p:tavLst>
                                        <p:tav tm="0">
                                          <p:val>
                                            <p:fltVal val="0"/>
                                          </p:val>
                                        </p:tav>
                                        <p:tav tm="100000">
                                          <p:val>
                                            <p:strVal val="#ppt_h"/>
                                          </p:val>
                                        </p:tav>
                                      </p:tavLst>
                                    </p:anim>
                                    <p:animEffect filter="fade" transition="in">
                                      <p:cBhvr additive="repl">
                                        <p:cTn id="21" dur="500"/>
                                        <p:tgtEl>
                                          <p:spTgt spid="23"/>
                                        </p:tgtEl>
                                      </p:cBhvr>
                                    </p:animEffect>
                                  </p:childTnLst>
                                </p:cTn>
                              </p:par>
                            </p:childTnLst>
                          </p:cTn>
                        </p:par>
                        <p:par>
                          <p:cTn id="22" nodeType="afterEffect" fill="hold">
                            <p:stCondLst>
                              <p:cond delay="1500"/>
                            </p:stCondLst>
                            <p:childTnLst>
                              <p:par>
                                <p:cTn id="23" nodeType="afterEffect" fill="hold" presetClass="entr" presetID="53" presetSubtype="16">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additive="repl">
                                        <p:cTn id="25" dur="500" fill="hold"/>
                                        <p:tgtEl>
                                          <p:spTgt spid="24"/>
                                        </p:tgtEl>
                                        <p:attrNameLst>
                                          <p:attrName>ppt_w</p:attrName>
                                        </p:attrNameLst>
                                      </p:cBhvr>
                                      <p:tavLst>
                                        <p:tav tm="0">
                                          <p:val>
                                            <p:fltVal val="0"/>
                                          </p:val>
                                        </p:tav>
                                        <p:tav tm="100000">
                                          <p:val>
                                            <p:strVal val="#ppt_w"/>
                                          </p:val>
                                        </p:tav>
                                      </p:tavLst>
                                    </p:anim>
                                    <p:anim calcmode="lin" valueType="num">
                                      <p:cBhvr additive="repl">
                                        <p:cTn id="26" dur="500" fill="hold"/>
                                        <p:tgtEl>
                                          <p:spTgt spid="24"/>
                                        </p:tgtEl>
                                        <p:attrNameLst>
                                          <p:attrName>ppt_h</p:attrName>
                                        </p:attrNameLst>
                                      </p:cBhvr>
                                      <p:tavLst>
                                        <p:tav tm="0">
                                          <p:val>
                                            <p:fltVal val="0"/>
                                          </p:val>
                                        </p:tav>
                                        <p:tav tm="100000">
                                          <p:val>
                                            <p:strVal val="#ppt_h"/>
                                          </p:val>
                                        </p:tav>
                                      </p:tavLst>
                                    </p:anim>
                                    <p:animEffect filter="fade" transition="in">
                                      <p:cBhvr additive="repl">
                                        <p:cTn id="27" dur="500"/>
                                        <p:tgtEl>
                                          <p:spTgt spid="24"/>
                                        </p:tgtEl>
                                      </p:cBhvr>
                                    </p:animEffect>
                                  </p:childTnLst>
                                </p:cTn>
                              </p:par>
                            </p:childTnLst>
                          </p:cTn>
                        </p:par>
                        <p:par>
                          <p:cTn id="28" nodeType="afterEffect" fill="hold">
                            <p:stCondLst>
                              <p:cond delay="2000"/>
                            </p:stCondLst>
                            <p:childTnLst>
                              <p:par>
                                <p:cTn id="29" nodeType="afterEffect" fill="hold" presetClass="entr" presetID="53" presetSubtype="16">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repl">
                                        <p:cTn id="31" dur="500" fill="hold"/>
                                        <p:tgtEl>
                                          <p:spTgt spid="25"/>
                                        </p:tgtEl>
                                        <p:attrNameLst>
                                          <p:attrName>ppt_w</p:attrName>
                                        </p:attrNameLst>
                                      </p:cBhvr>
                                      <p:tavLst>
                                        <p:tav tm="0">
                                          <p:val>
                                            <p:fltVal val="0"/>
                                          </p:val>
                                        </p:tav>
                                        <p:tav tm="100000">
                                          <p:val>
                                            <p:strVal val="#ppt_w"/>
                                          </p:val>
                                        </p:tav>
                                      </p:tavLst>
                                    </p:anim>
                                    <p:anim calcmode="lin" valueType="num">
                                      <p:cBhvr additive="repl">
                                        <p:cTn id="32" dur="500" fill="hold"/>
                                        <p:tgtEl>
                                          <p:spTgt spid="25"/>
                                        </p:tgtEl>
                                        <p:attrNameLst>
                                          <p:attrName>ppt_h</p:attrName>
                                        </p:attrNameLst>
                                      </p:cBhvr>
                                      <p:tavLst>
                                        <p:tav tm="0">
                                          <p:val>
                                            <p:fltVal val="0"/>
                                          </p:val>
                                        </p:tav>
                                        <p:tav tm="100000">
                                          <p:val>
                                            <p:strVal val="#ppt_h"/>
                                          </p:val>
                                        </p:tav>
                                      </p:tavLst>
                                    </p:anim>
                                    <p:animEffect filter="fade" transition="in">
                                      <p:cBhvr additive="repl">
                                        <p:cTn id="33" dur="500"/>
                                        <p:tgtEl>
                                          <p:spTgt spid="25"/>
                                        </p:tgtEl>
                                      </p:cBhvr>
                                    </p:animEffect>
                                  </p:childTnLst>
                                </p:cTn>
                              </p:par>
                            </p:childTnLst>
                          </p:cTn>
                        </p:par>
                        <p:par>
                          <p:cTn id="34" nodeType="afterEffect" fill="hold">
                            <p:stCondLst>
                              <p:cond delay="2500"/>
                            </p:stCondLst>
                            <p:childTnLst>
                              <p:par>
                                <p:cTn id="35" nodeType="afterEffect" fill="hold" presetClass="entr" presetID="53" presetSubtype="16">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repl">
                                        <p:cTn id="37" dur="500" fill="hold"/>
                                        <p:tgtEl>
                                          <p:spTgt spid="26"/>
                                        </p:tgtEl>
                                        <p:attrNameLst>
                                          <p:attrName>ppt_w</p:attrName>
                                        </p:attrNameLst>
                                      </p:cBhvr>
                                      <p:tavLst>
                                        <p:tav tm="0">
                                          <p:val>
                                            <p:fltVal val="0"/>
                                          </p:val>
                                        </p:tav>
                                        <p:tav tm="100000">
                                          <p:val>
                                            <p:strVal val="#ppt_w"/>
                                          </p:val>
                                        </p:tav>
                                      </p:tavLst>
                                    </p:anim>
                                    <p:anim calcmode="lin" valueType="num">
                                      <p:cBhvr additive="repl">
                                        <p:cTn id="38" dur="500" fill="hold"/>
                                        <p:tgtEl>
                                          <p:spTgt spid="26"/>
                                        </p:tgtEl>
                                        <p:attrNameLst>
                                          <p:attrName>ppt_h</p:attrName>
                                        </p:attrNameLst>
                                      </p:cBhvr>
                                      <p:tavLst>
                                        <p:tav tm="0">
                                          <p:val>
                                            <p:fltVal val="0"/>
                                          </p:val>
                                        </p:tav>
                                        <p:tav tm="100000">
                                          <p:val>
                                            <p:strVal val="#ppt_h"/>
                                          </p:val>
                                        </p:tav>
                                      </p:tavLst>
                                    </p:anim>
                                    <p:animEffect filter="fade" transition="in">
                                      <p:cBhvr additive="repl">
                                        <p:cTn id="39" dur="500"/>
                                        <p:tgtEl>
                                          <p:spTgt spid="26"/>
                                        </p:tgtEl>
                                      </p:cBhvr>
                                    </p:animEffect>
                                  </p:childTnLst>
                                </p:cTn>
                              </p:par>
                            </p:childTnLst>
                          </p:cTn>
                        </p:par>
                        <p:par>
                          <p:cTn id="40" nodeType="afterEffect" fill="hold">
                            <p:stCondLst>
                              <p:cond delay="3000"/>
                            </p:stCondLst>
                            <p:childTnLst>
                              <p:par>
                                <p:cTn id="41" nodeType="afterEffect" fill="hold" presetClass="entr" presetID="53" presetSubtype="16">
                                  <p:stCondLst>
                                    <p:cond delay="0"/>
                                  </p:stCondLst>
                                  <p:childTnLst>
                                    <p:set>
                                      <p:cBhvr>
                                        <p:cTn id="42" dur="1" fill="hold">
                                          <p:stCondLst>
                                            <p:cond delay="0"/>
                                          </p:stCondLst>
                                        </p:cTn>
                                        <p:tgtEl>
                                          <p:spTgt spid="27"/>
                                        </p:tgtEl>
                                        <p:attrNameLst>
                                          <p:attrName>style.visibility</p:attrName>
                                        </p:attrNameLst>
                                      </p:cBhvr>
                                      <p:to>
                                        <p:strVal val="visible"/>
                                      </p:to>
                                    </p:set>
                                    <p:anim calcmode="lin" valueType="num">
                                      <p:cBhvr additive="repl">
                                        <p:cTn id="43" dur="500" fill="hold"/>
                                        <p:tgtEl>
                                          <p:spTgt spid="27"/>
                                        </p:tgtEl>
                                        <p:attrNameLst>
                                          <p:attrName>ppt_w</p:attrName>
                                        </p:attrNameLst>
                                      </p:cBhvr>
                                      <p:tavLst>
                                        <p:tav tm="0">
                                          <p:val>
                                            <p:fltVal val="0"/>
                                          </p:val>
                                        </p:tav>
                                        <p:tav tm="100000">
                                          <p:val>
                                            <p:strVal val="#ppt_w"/>
                                          </p:val>
                                        </p:tav>
                                      </p:tavLst>
                                    </p:anim>
                                    <p:anim calcmode="lin" valueType="num">
                                      <p:cBhvr additive="repl">
                                        <p:cTn id="44" dur="500" fill="hold"/>
                                        <p:tgtEl>
                                          <p:spTgt spid="27"/>
                                        </p:tgtEl>
                                        <p:attrNameLst>
                                          <p:attrName>ppt_h</p:attrName>
                                        </p:attrNameLst>
                                      </p:cBhvr>
                                      <p:tavLst>
                                        <p:tav tm="0">
                                          <p:val>
                                            <p:fltVal val="0"/>
                                          </p:val>
                                        </p:tav>
                                        <p:tav tm="100000">
                                          <p:val>
                                            <p:strVal val="#ppt_h"/>
                                          </p:val>
                                        </p:tav>
                                      </p:tavLst>
                                    </p:anim>
                                    <p:animEffect filter="fade" transition="in">
                                      <p:cBhvr additive="repl">
                                        <p:cTn id="45" dur="500"/>
                                        <p:tgtEl>
                                          <p:spTgt spid="27"/>
                                        </p:tgtEl>
                                      </p:cBhvr>
                                    </p:animEffect>
                                  </p:childTnLst>
                                </p:cTn>
                              </p:par>
                            </p:childTnLst>
                          </p:cTn>
                        </p:par>
                        <p:par>
                          <p:cTn id="46" nodeType="afterEffect" fill="hold">
                            <p:stCondLst>
                              <p:cond delay="3500"/>
                            </p:stCondLst>
                            <p:childTnLst>
                              <p:par>
                                <p:cTn id="47" nodeType="afterEffect" fill="hold" presetClass="entr" presetID="53" presetSubtype="16">
                                  <p:stCondLst>
                                    <p:cond delay="0"/>
                                  </p:stCondLst>
                                  <p:childTnLst>
                                    <p:set>
                                      <p:cBhvr>
                                        <p:cTn id="48" dur="1" fill="hold">
                                          <p:stCondLst>
                                            <p:cond delay="0"/>
                                          </p:stCondLst>
                                        </p:cTn>
                                        <p:tgtEl>
                                          <p:spTgt spid="28"/>
                                        </p:tgtEl>
                                        <p:attrNameLst>
                                          <p:attrName>style.visibility</p:attrName>
                                        </p:attrNameLst>
                                      </p:cBhvr>
                                      <p:to>
                                        <p:strVal val="visible"/>
                                      </p:to>
                                    </p:set>
                                    <p:anim calcmode="lin" valueType="num">
                                      <p:cBhvr additive="repl">
                                        <p:cTn id="49" dur="500" fill="hold"/>
                                        <p:tgtEl>
                                          <p:spTgt spid="28"/>
                                        </p:tgtEl>
                                        <p:attrNameLst>
                                          <p:attrName>ppt_w</p:attrName>
                                        </p:attrNameLst>
                                      </p:cBhvr>
                                      <p:tavLst>
                                        <p:tav tm="0">
                                          <p:val>
                                            <p:fltVal val="0"/>
                                          </p:val>
                                        </p:tav>
                                        <p:tav tm="100000">
                                          <p:val>
                                            <p:strVal val="#ppt_w"/>
                                          </p:val>
                                        </p:tav>
                                      </p:tavLst>
                                    </p:anim>
                                    <p:anim calcmode="lin" valueType="num">
                                      <p:cBhvr additive="repl">
                                        <p:cTn id="50" dur="500" fill="hold"/>
                                        <p:tgtEl>
                                          <p:spTgt spid="28"/>
                                        </p:tgtEl>
                                        <p:attrNameLst>
                                          <p:attrName>ppt_h</p:attrName>
                                        </p:attrNameLst>
                                      </p:cBhvr>
                                      <p:tavLst>
                                        <p:tav tm="0">
                                          <p:val>
                                            <p:fltVal val="0"/>
                                          </p:val>
                                        </p:tav>
                                        <p:tav tm="100000">
                                          <p:val>
                                            <p:strVal val="#ppt_h"/>
                                          </p:val>
                                        </p:tav>
                                      </p:tavLst>
                                    </p:anim>
                                    <p:animEffect filter="fade" transition="in">
                                      <p:cBhvr additive="repl">
                                        <p:cTn id="51" dur="500"/>
                                        <p:tgtEl>
                                          <p:spTgt spid="28"/>
                                        </p:tgtEl>
                                      </p:cBhvr>
                                    </p:animEffect>
                                  </p:childTnLst>
                                </p:cTn>
                              </p:par>
                            </p:childTnLst>
                          </p:cTn>
                        </p:par>
                        <p:par>
                          <p:cTn id="52" nodeType="afterEffect" fill="hold">
                            <p:stCondLst>
                              <p:cond delay="4000"/>
                            </p:stCondLst>
                            <p:childTnLst>
                              <p:par>
                                <p:cTn id="53" nodeType="afterEffect" fill="hold" presetClass="entr" presetID="53" presetSubtype="16">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additive="repl">
                                        <p:cTn id="55" dur="500" fill="hold"/>
                                        <p:tgtEl>
                                          <p:spTgt spid="29"/>
                                        </p:tgtEl>
                                        <p:attrNameLst>
                                          <p:attrName>ppt_w</p:attrName>
                                        </p:attrNameLst>
                                      </p:cBhvr>
                                      <p:tavLst>
                                        <p:tav tm="0">
                                          <p:val>
                                            <p:fltVal val="0"/>
                                          </p:val>
                                        </p:tav>
                                        <p:tav tm="100000">
                                          <p:val>
                                            <p:strVal val="#ppt_w"/>
                                          </p:val>
                                        </p:tav>
                                      </p:tavLst>
                                    </p:anim>
                                    <p:anim calcmode="lin" valueType="num">
                                      <p:cBhvr additive="repl">
                                        <p:cTn id="56" dur="500" fill="hold"/>
                                        <p:tgtEl>
                                          <p:spTgt spid="29"/>
                                        </p:tgtEl>
                                        <p:attrNameLst>
                                          <p:attrName>ppt_h</p:attrName>
                                        </p:attrNameLst>
                                      </p:cBhvr>
                                      <p:tavLst>
                                        <p:tav tm="0">
                                          <p:val>
                                            <p:fltVal val="0"/>
                                          </p:val>
                                        </p:tav>
                                        <p:tav tm="100000">
                                          <p:val>
                                            <p:strVal val="#ppt_h"/>
                                          </p:val>
                                        </p:tav>
                                      </p:tavLst>
                                    </p:anim>
                                    <p:animEffect filter="fade" transition="in">
                                      <p:cBhvr additive="repl">
                                        <p:cTn id="57" dur="500"/>
                                        <p:tgtEl>
                                          <p:spTgt spid="29"/>
                                        </p:tgtEl>
                                      </p:cBhvr>
                                    </p:animEffect>
                                  </p:childTnLst>
                                </p:cTn>
                              </p:par>
                            </p:childTnLst>
                          </p:cTn>
                        </p:par>
                        <p:par>
                          <p:cTn id="58" nodeType="afterEffect" fill="hold">
                            <p:stCondLst>
                              <p:cond delay="4500"/>
                            </p:stCondLst>
                            <p:childTnLst>
                              <p:par>
                                <p:cTn id="59" nodeType="afterEffect" fill="hold" presetClass="entr" presetID="53" presetSubtype="16">
                                  <p:stCondLst>
                                    <p:cond delay="0"/>
                                  </p:stCondLst>
                                  <p:childTnLst>
                                    <p:set>
                                      <p:cBhvr>
                                        <p:cTn id="60" dur="1" fill="hold">
                                          <p:stCondLst>
                                            <p:cond delay="0"/>
                                          </p:stCondLst>
                                        </p:cTn>
                                        <p:tgtEl>
                                          <p:spTgt spid="32"/>
                                        </p:tgtEl>
                                        <p:attrNameLst>
                                          <p:attrName>style.visibility</p:attrName>
                                        </p:attrNameLst>
                                      </p:cBhvr>
                                      <p:to>
                                        <p:strVal val="visible"/>
                                      </p:to>
                                    </p:set>
                                    <p:anim calcmode="lin" valueType="num">
                                      <p:cBhvr additive="repl">
                                        <p:cTn id="61" dur="500" fill="hold"/>
                                        <p:tgtEl>
                                          <p:spTgt spid="32"/>
                                        </p:tgtEl>
                                        <p:attrNameLst>
                                          <p:attrName>ppt_w</p:attrName>
                                        </p:attrNameLst>
                                      </p:cBhvr>
                                      <p:tavLst>
                                        <p:tav tm="0">
                                          <p:val>
                                            <p:fltVal val="0"/>
                                          </p:val>
                                        </p:tav>
                                        <p:tav tm="100000">
                                          <p:val>
                                            <p:strVal val="#ppt_w"/>
                                          </p:val>
                                        </p:tav>
                                      </p:tavLst>
                                    </p:anim>
                                    <p:anim calcmode="lin" valueType="num">
                                      <p:cBhvr additive="repl">
                                        <p:cTn id="62" dur="500" fill="hold"/>
                                        <p:tgtEl>
                                          <p:spTgt spid="32"/>
                                        </p:tgtEl>
                                        <p:attrNameLst>
                                          <p:attrName>ppt_h</p:attrName>
                                        </p:attrNameLst>
                                      </p:cBhvr>
                                      <p:tavLst>
                                        <p:tav tm="0">
                                          <p:val>
                                            <p:fltVal val="0"/>
                                          </p:val>
                                        </p:tav>
                                        <p:tav tm="100000">
                                          <p:val>
                                            <p:strVal val="#ppt_h"/>
                                          </p:val>
                                        </p:tav>
                                      </p:tavLst>
                                    </p:anim>
                                    <p:animEffect filter="fade" transition="in">
                                      <p:cBhvr additive="repl">
                                        <p:cTn id="63" dur="500"/>
                                        <p:tgtEl>
                                          <p:spTgt spid="32"/>
                                        </p:tgtEl>
                                      </p:cBhvr>
                                    </p:animEffect>
                                  </p:childTnLst>
                                </p:cTn>
                              </p:par>
                            </p:childTnLst>
                          </p:cTn>
                        </p:par>
                        <p:par>
                          <p:cTn id="64" nodeType="afterEffect" fill="hold">
                            <p:stCondLst>
                              <p:cond delay="5000"/>
                            </p:stCondLst>
                            <p:childTnLst>
                              <p:par>
                                <p:cTn id="65" nodeType="afterEffect" fill="hold" presetClass="entr" presetID="53" presetSubtype="16">
                                  <p:stCondLst>
                                    <p:cond delay="0"/>
                                  </p:stCondLst>
                                  <p:childTnLst>
                                    <p:set>
                                      <p:cBhvr>
                                        <p:cTn id="66" dur="1" fill="hold">
                                          <p:stCondLst>
                                            <p:cond delay="0"/>
                                          </p:stCondLst>
                                        </p:cTn>
                                        <p:tgtEl>
                                          <p:spTgt spid="33"/>
                                        </p:tgtEl>
                                        <p:attrNameLst>
                                          <p:attrName>style.visibility</p:attrName>
                                        </p:attrNameLst>
                                      </p:cBhvr>
                                      <p:to>
                                        <p:strVal val="visible"/>
                                      </p:to>
                                    </p:set>
                                    <p:anim calcmode="lin" valueType="num">
                                      <p:cBhvr additive="repl">
                                        <p:cTn id="67" dur="500" fill="hold"/>
                                        <p:tgtEl>
                                          <p:spTgt spid="33"/>
                                        </p:tgtEl>
                                        <p:attrNameLst>
                                          <p:attrName>ppt_w</p:attrName>
                                        </p:attrNameLst>
                                      </p:cBhvr>
                                      <p:tavLst>
                                        <p:tav tm="0">
                                          <p:val>
                                            <p:fltVal val="0"/>
                                          </p:val>
                                        </p:tav>
                                        <p:tav tm="100000">
                                          <p:val>
                                            <p:strVal val="#ppt_w"/>
                                          </p:val>
                                        </p:tav>
                                      </p:tavLst>
                                    </p:anim>
                                    <p:anim calcmode="lin" valueType="num">
                                      <p:cBhvr additive="repl">
                                        <p:cTn id="68" dur="500" fill="hold"/>
                                        <p:tgtEl>
                                          <p:spTgt spid="33"/>
                                        </p:tgtEl>
                                        <p:attrNameLst>
                                          <p:attrName>ppt_h</p:attrName>
                                        </p:attrNameLst>
                                      </p:cBhvr>
                                      <p:tavLst>
                                        <p:tav tm="0">
                                          <p:val>
                                            <p:fltVal val="0"/>
                                          </p:val>
                                        </p:tav>
                                        <p:tav tm="100000">
                                          <p:val>
                                            <p:strVal val="#ppt_h"/>
                                          </p:val>
                                        </p:tav>
                                      </p:tavLst>
                                    </p:anim>
                                    <p:animEffect filter="fade" transition="in">
                                      <p:cBhvr additive="repl">
                                        <p:cTn id="69" dur="500"/>
                                        <p:tgtEl>
                                          <p:spTgt spid="33"/>
                                        </p:tgtEl>
                                      </p:cBhvr>
                                    </p:animEffect>
                                  </p:childTnLst>
                                </p:cTn>
                              </p:par>
                            </p:childTnLst>
                          </p:cTn>
                        </p:par>
                        <p:par>
                          <p:cTn id="70" nodeType="afterEffect" fill="hold">
                            <p:stCondLst>
                              <p:cond delay="5500"/>
                            </p:stCondLst>
                            <p:childTnLst>
                              <p:par>
                                <p:cTn id="71" nodeType="afterEffect" fill="hold" presetClass="entr" presetID="53" presetSubtype="16">
                                  <p:stCondLst>
                                    <p:cond delay="0"/>
                                  </p:stCondLst>
                                  <p:childTnLst>
                                    <p:set>
                                      <p:cBhvr>
                                        <p:cTn id="72" dur="1" fill="hold">
                                          <p:stCondLst>
                                            <p:cond delay="0"/>
                                          </p:stCondLst>
                                        </p:cTn>
                                        <p:tgtEl>
                                          <p:spTgt spid="34"/>
                                        </p:tgtEl>
                                        <p:attrNameLst>
                                          <p:attrName>style.visibility</p:attrName>
                                        </p:attrNameLst>
                                      </p:cBhvr>
                                      <p:to>
                                        <p:strVal val="visible"/>
                                      </p:to>
                                    </p:set>
                                    <p:anim calcmode="lin" valueType="num">
                                      <p:cBhvr additive="repl">
                                        <p:cTn id="73" dur="500" fill="hold"/>
                                        <p:tgtEl>
                                          <p:spTgt spid="34"/>
                                        </p:tgtEl>
                                        <p:attrNameLst>
                                          <p:attrName>ppt_w</p:attrName>
                                        </p:attrNameLst>
                                      </p:cBhvr>
                                      <p:tavLst>
                                        <p:tav tm="0">
                                          <p:val>
                                            <p:fltVal val="0"/>
                                          </p:val>
                                        </p:tav>
                                        <p:tav tm="100000">
                                          <p:val>
                                            <p:strVal val="#ppt_w"/>
                                          </p:val>
                                        </p:tav>
                                      </p:tavLst>
                                    </p:anim>
                                    <p:anim calcmode="lin" valueType="num">
                                      <p:cBhvr additive="repl">
                                        <p:cTn id="74" dur="500" fill="hold"/>
                                        <p:tgtEl>
                                          <p:spTgt spid="34"/>
                                        </p:tgtEl>
                                        <p:attrNameLst>
                                          <p:attrName>ppt_h</p:attrName>
                                        </p:attrNameLst>
                                      </p:cBhvr>
                                      <p:tavLst>
                                        <p:tav tm="0">
                                          <p:val>
                                            <p:fltVal val="0"/>
                                          </p:val>
                                        </p:tav>
                                        <p:tav tm="100000">
                                          <p:val>
                                            <p:strVal val="#ppt_h"/>
                                          </p:val>
                                        </p:tav>
                                      </p:tavLst>
                                    </p:anim>
                                    <p:animEffect filter="fade" transition="in">
                                      <p:cBhvr additive="repl">
                                        <p:cTn id="75" dur="500"/>
                                        <p:tgtEl>
                                          <p:spTgt spid="34"/>
                                        </p:tgtEl>
                                      </p:cBhvr>
                                    </p:animEffect>
                                  </p:childTnLst>
                                </p:cTn>
                              </p:par>
                            </p:childTnLst>
                          </p:cTn>
                        </p:par>
                        <p:par>
                          <p:cTn id="76" nodeType="afterEffect" fill="hold">
                            <p:stCondLst>
                              <p:cond delay="6000"/>
                            </p:stCondLst>
                            <p:childTnLst>
                              <p:par>
                                <p:cTn id="77" nodeType="afterEffect" fill="hold" presetClass="entr" presetID="53" presetSubtype="16">
                                  <p:stCondLst>
                                    <p:cond delay="0"/>
                                  </p:stCondLst>
                                  <p:childTnLst>
                                    <p:set>
                                      <p:cBhvr>
                                        <p:cTn id="78" dur="1" fill="hold">
                                          <p:stCondLst>
                                            <p:cond delay="0"/>
                                          </p:stCondLst>
                                        </p:cTn>
                                        <p:tgtEl>
                                          <p:spTgt spid="35"/>
                                        </p:tgtEl>
                                        <p:attrNameLst>
                                          <p:attrName>style.visibility</p:attrName>
                                        </p:attrNameLst>
                                      </p:cBhvr>
                                      <p:to>
                                        <p:strVal val="visible"/>
                                      </p:to>
                                    </p:set>
                                    <p:anim calcmode="lin" valueType="num">
                                      <p:cBhvr additive="repl">
                                        <p:cTn id="79" dur="500" fill="hold"/>
                                        <p:tgtEl>
                                          <p:spTgt spid="35"/>
                                        </p:tgtEl>
                                        <p:attrNameLst>
                                          <p:attrName>ppt_w</p:attrName>
                                        </p:attrNameLst>
                                      </p:cBhvr>
                                      <p:tavLst>
                                        <p:tav tm="0">
                                          <p:val>
                                            <p:fltVal val="0"/>
                                          </p:val>
                                        </p:tav>
                                        <p:tav tm="100000">
                                          <p:val>
                                            <p:strVal val="#ppt_w"/>
                                          </p:val>
                                        </p:tav>
                                      </p:tavLst>
                                    </p:anim>
                                    <p:anim calcmode="lin" valueType="num">
                                      <p:cBhvr additive="repl">
                                        <p:cTn id="80" dur="500" fill="hold"/>
                                        <p:tgtEl>
                                          <p:spTgt spid="35"/>
                                        </p:tgtEl>
                                        <p:attrNameLst>
                                          <p:attrName>ppt_h</p:attrName>
                                        </p:attrNameLst>
                                      </p:cBhvr>
                                      <p:tavLst>
                                        <p:tav tm="0">
                                          <p:val>
                                            <p:fltVal val="0"/>
                                          </p:val>
                                        </p:tav>
                                        <p:tav tm="100000">
                                          <p:val>
                                            <p:strVal val="#ppt_h"/>
                                          </p:val>
                                        </p:tav>
                                      </p:tavLst>
                                    </p:anim>
                                    <p:animEffect filter="fade" transition="in">
                                      <p:cBhvr additive="repl">
                                        <p:cTn id="81" dur="500"/>
                                        <p:tgtEl>
                                          <p:spTgt spid="35"/>
                                        </p:tgtEl>
                                      </p:cBhvr>
                                    </p:animEffect>
                                  </p:childTnLst>
                                </p:cTn>
                              </p:par>
                            </p:childTnLst>
                          </p:cTn>
                        </p:par>
                      </p:childTnLst>
                    </p:cTn>
                  </p:par>
                  <p:par>
                    <p:cTn id="82" nodeType="clickEffect" fill="hold">
                      <p:stCondLst>
                        <p:cond delay="indefinite"/>
                      </p:stCondLst>
                      <p:childTnLst>
                        <p:par>
                          <p:cTn id="83" nodeType="withEffect" fill="hold">
                            <p:stCondLst>
                              <p:cond delay="0"/>
                            </p:stCondLst>
                            <p:childTnLst>
                              <p:par>
                                <p:cTn id="84" nodeType="clickEffect" fill="hold" presetClass="entr" presetID="22" presetSubtype="1" repeatCount="1000">
                                  <p:stCondLst>
                                    <p:cond delay="0"/>
                                  </p:stCondLst>
                                  <p:childTnLst>
                                    <p:set>
                                      <p:cBhvr>
                                        <p:cTn id="85" dur="1" fill="hold">
                                          <p:stCondLst>
                                            <p:cond delay="0"/>
                                          </p:stCondLst>
                                        </p:cTn>
                                        <p:tgtEl>
                                          <p:spTgt spid="30"/>
                                        </p:tgtEl>
                                        <p:attrNameLst>
                                          <p:attrName>style.visibility</p:attrName>
                                        </p:attrNameLst>
                                      </p:cBhvr>
                                      <p:to>
                                        <p:strVal val="visible"/>
                                      </p:to>
                                    </p:set>
                                    <p:animEffect filter="wipe(up)" transition="in">
                                      <p:cBhvr additive="repl">
                                        <p:cTn id="86" dur="1500"/>
                                        <p:tgtEl>
                                          <p:spTgt spid="30"/>
                                        </p:tgtEl>
                                      </p:cBhvr>
                                    </p:animEffect>
                                  </p:childTnLst>
                                </p:cTn>
                              </p:par>
                            </p:childTnLst>
                          </p:cTn>
                        </p:par>
                      </p:childTnLst>
                    </p:cTn>
                  </p:par>
                  <p:par>
                    <p:cTn id="87" nodeType="clickEffect" fill="hold">
                      <p:stCondLst>
                        <p:cond delay="indefinite"/>
                      </p:stCondLst>
                      <p:childTnLst>
                        <p:par>
                          <p:cTn id="88" nodeType="withEffect" fill="hold">
                            <p:stCondLst>
                              <p:cond delay="0"/>
                            </p:stCondLst>
                            <p:childTnLst>
                              <p:par>
                                <p:cTn id="89" nodeType="clickEffect" fill="hold" presetClass="entr" presetID="22" presetSubtype="1" repeatCount="1000">
                                  <p:stCondLst>
                                    <p:cond delay="0"/>
                                  </p:stCondLst>
                                  <p:childTnLst>
                                    <p:set>
                                      <p:cBhvr>
                                        <p:cTn id="90" dur="1" fill="hold">
                                          <p:stCondLst>
                                            <p:cond delay="0"/>
                                          </p:stCondLst>
                                        </p:cTn>
                                        <p:tgtEl>
                                          <p:spTgt spid="31"/>
                                        </p:tgtEl>
                                        <p:attrNameLst>
                                          <p:attrName>style.visibility</p:attrName>
                                        </p:attrNameLst>
                                      </p:cBhvr>
                                      <p:to>
                                        <p:strVal val="visible"/>
                                      </p:to>
                                    </p:set>
                                    <p:animEffect filter="wipe(up)" transition="in">
                                      <p:cBhvr additive="repl">
                                        <p:cTn id="91" dur="1500"/>
                                        <p:tgtEl>
                                          <p:spTgt spid="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ZoneTexte 1"/>
          <p:cNvSpPr/>
          <p:nvPr/>
        </p:nvSpPr>
        <p:spPr>
          <a:xfrm>
            <a:off x="279360" y="1052640"/>
            <a:ext cx="8064720" cy="69253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22228b"/>
                </a:solidFill>
                <a:effectLst/>
                <a:uFillTx/>
                <a:latin typeface="Calibri"/>
                <a:ea typeface="Calibri"/>
              </a:rPr>
              <a:t>1- Quelques définitions préalables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2- A quoi sert et à qui sert l’évaluation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3- Comment choisir ses tests et son type d’évaluation</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4- Développement t évaluation des capacités physiques et physiologiques au cours de la croissance.</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5- Quelles activités physiques et pour quels publics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p:txBody>
      </p:sp>
      <p:sp>
        <p:nvSpPr>
          <p:cNvPr id="38" name="ZoneTexte 1"/>
          <p:cNvSpPr/>
          <p:nvPr/>
        </p:nvSpPr>
        <p:spPr>
          <a:xfrm>
            <a:off x="2866680" y="189000"/>
            <a:ext cx="189108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SOMMAIRE</a:t>
            </a:r>
            <a:endParaRPr b="0" lang="en-US" sz="2800" strike="noStrike" u="none">
              <a:solidFill>
                <a:srgbClr val="ffff00"/>
              </a:solidFill>
              <a:effectLst/>
              <a:uFillTx/>
              <a:latin typeface="Times New Roman"/>
            </a:endParaRPr>
          </a:p>
        </p:txBody>
      </p:sp>
    </p:spTree>
  </p:cSld>
  <p:transition spd="med">
    <p:zoom dir="out"/>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Rectangle 4"/>
          <p:cNvSpPr/>
          <p:nvPr/>
        </p:nvSpPr>
        <p:spPr>
          <a:xfrm>
            <a:off x="290520" y="1125360"/>
            <a:ext cx="9144000" cy="7869240"/>
          </a:xfrm>
          <a:prstGeom prst="rect">
            <a:avLst/>
          </a:prstGeom>
          <a:noFill/>
          <a:ln w="0">
            <a:noFill/>
          </a:ln>
        </p:spPr>
        <p:style>
          <a:lnRef idx="0"/>
          <a:fillRef idx="0"/>
          <a:effectRef idx="0"/>
          <a:fontRef idx="minor"/>
        </p:style>
        <p:txBody>
          <a:bodyPr lIns="90000" rIns="90000" tIns="46800" bIns="46800" anchor="t">
            <a:spAutoFit/>
          </a:bodyPr>
          <a:p>
            <a:pP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Au cours de leur pratique, les responsables de la santé, les enseignants d'éducation </a:t>
            </a:r>
            <a:endParaRPr b="0" lang="en-US" sz="2000" strike="noStrike" u="none">
              <a:solidFill>
                <a:srgbClr val="ffff00"/>
              </a:solidFill>
              <a:effectLst/>
              <a:uFillTx/>
              <a:latin typeface="Times New Roman"/>
            </a:endParaRPr>
          </a:p>
          <a:p>
            <a:pP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physique, les éducateurs sportifs et les entraîneurs doivent être capables </a:t>
            </a:r>
            <a:endParaRPr b="0" lang="en-US" sz="2000" strike="noStrike" u="none">
              <a:solidFill>
                <a:srgbClr val="ffff00"/>
              </a:solidFill>
              <a:effectLst/>
              <a:uFillTx/>
              <a:latin typeface="Times New Roman"/>
            </a:endParaRPr>
          </a:p>
          <a:p>
            <a:pP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d'identifier et d'apprécier les qualités liées à la santé et/ou à la performance, relativiser leur importance et mesurer leur développement au cours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200000"/>
              </a:lnSpc>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00"/>
                </a:solidFill>
                <a:effectLst/>
                <a:uFillTx/>
                <a:latin typeface="Calibri"/>
                <a:ea typeface="Calibri"/>
              </a:rPr>
              <a:t> </a:t>
            </a:r>
            <a:r>
              <a:rPr b="1" i="1" lang="fr-FR" sz="2000" strike="noStrike" u="none">
                <a:solidFill>
                  <a:srgbClr val="ffffff"/>
                </a:solidFill>
                <a:effectLst/>
                <a:uFillTx/>
                <a:latin typeface="Calibri"/>
                <a:ea typeface="Calibri"/>
              </a:rPr>
              <a:t>des différentes étapes de la croissance,</a:t>
            </a:r>
            <a:endParaRPr b="0" lang="en-US" sz="2000" strike="noStrike" u="none">
              <a:solidFill>
                <a:srgbClr val="ffff00"/>
              </a:solidFill>
              <a:effectLst/>
              <a:uFillTx/>
              <a:latin typeface="Times New Roman"/>
            </a:endParaRPr>
          </a:p>
          <a:p>
            <a:pPr>
              <a:lnSpc>
                <a:spcPct val="2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ff"/>
                </a:solidFill>
                <a:effectLst/>
                <a:uFillTx/>
                <a:latin typeface="Calibri"/>
                <a:ea typeface="Calibri"/>
              </a:rPr>
              <a:t> d'une année scolaire ou d'une saison sportive,</a:t>
            </a:r>
            <a:endParaRPr b="0" lang="en-US" sz="2000" strike="noStrike" u="none">
              <a:solidFill>
                <a:srgbClr val="ffff00"/>
              </a:solidFill>
              <a:effectLst/>
              <a:uFillTx/>
              <a:latin typeface="Times New Roman"/>
            </a:endParaRPr>
          </a:p>
          <a:p>
            <a:pPr>
              <a:lnSpc>
                <a:spcPct val="2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ff"/>
                </a:solidFill>
                <a:effectLst/>
                <a:uFillTx/>
                <a:latin typeface="Calibri"/>
                <a:ea typeface="Calibri"/>
              </a:rPr>
              <a:t> d'un cycle éducatif ou d'entraînement,</a:t>
            </a:r>
            <a:endParaRPr b="0" lang="en-US" sz="2000" strike="noStrike" u="none">
              <a:solidFill>
                <a:srgbClr val="ffff00"/>
              </a:solidFill>
              <a:effectLst/>
              <a:uFillTx/>
              <a:latin typeface="Times New Roman"/>
            </a:endParaRPr>
          </a:p>
          <a:p>
            <a:pPr>
              <a:lnSpc>
                <a:spcPct val="2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ff"/>
                </a:solidFill>
                <a:effectLst/>
                <a:uFillTx/>
                <a:latin typeface="Calibri"/>
                <a:ea typeface="Calibri"/>
              </a:rPr>
              <a:t> voire, d'une séance d'éducation physique ou d'entraînement </a:t>
            </a:r>
            <a:endParaRPr b="0" lang="en-US" sz="2000" strike="noStrike" u="none">
              <a:solidFill>
                <a:srgbClr val="ffff00"/>
              </a:solidFill>
              <a:effectLst/>
              <a:uFillTx/>
              <a:latin typeface="Times New Roman"/>
            </a:endParaRPr>
          </a:p>
        </p:txBody>
      </p:sp>
      <p:sp>
        <p:nvSpPr>
          <p:cNvPr id="40" name="ZoneTexte 1"/>
          <p:cNvSpPr/>
          <p:nvPr/>
        </p:nvSpPr>
        <p:spPr>
          <a:xfrm>
            <a:off x="1896840" y="246240"/>
            <a:ext cx="49518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A QUOI SERT L’EVALUATION ?</a:t>
            </a:r>
            <a:endParaRPr b="0" lang="en-US" sz="2400" strike="noStrike" u="none">
              <a:solidFill>
                <a:srgbClr val="ffff00"/>
              </a:solidFill>
              <a:effectLst/>
              <a:uFillTx/>
              <a:latin typeface="Times New Roman"/>
            </a:endParaRPr>
          </a:p>
        </p:txBody>
      </p:sp>
    </p:spTree>
  </p:cSld>
  <p:transition spd="med">
    <p:zoom dir="out"/>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Text Box 4"/>
          <p:cNvSpPr/>
          <p:nvPr/>
        </p:nvSpPr>
        <p:spPr>
          <a:xfrm>
            <a:off x="168120" y="1341360"/>
            <a:ext cx="8867880" cy="4971240"/>
          </a:xfrm>
          <a:prstGeom prst="rect">
            <a:avLst/>
          </a:prstGeom>
          <a:noFill/>
          <a:ln w="0">
            <a:noFill/>
          </a:ln>
        </p:spPr>
        <p:style>
          <a:lnRef idx="0"/>
          <a:fillRef idx="0"/>
          <a:effectRef idx="0"/>
          <a:fontRef idx="minor"/>
        </p:style>
        <p:txBody>
          <a:bodyPr lIns="90000" rIns="90000" tIns="46800" bIns="46800" anchor="t">
            <a:spAutoFit/>
          </a:bodyPr>
          <a:p>
            <a:pP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Pour cela il leur faut bien connaître les capacités à développer aux âges les plus opportuns et à les évaluer à partir d’outils de mesure et de tests les plus appropriés… objets de nos échanges d’aujourd’hui.</a:t>
            </a:r>
            <a:endParaRPr b="0" lang="en-US" sz="2400" strike="noStrike" u="none">
              <a:solidFill>
                <a:srgbClr val="ffff00"/>
              </a:solidFill>
              <a:effectLst/>
              <a:uFillTx/>
              <a:latin typeface="Times New Roman"/>
            </a:endParaRPr>
          </a:p>
          <a:p>
            <a:pP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3333cc"/>
                </a:solidFill>
                <a:effectLst/>
                <a:uFillTx/>
                <a:latin typeface="Calibri"/>
                <a:ea typeface="Calibri"/>
              </a:rPr>
              <a:t>                </a:t>
            </a:r>
            <a:endParaRPr b="0" lang="en-US" sz="2000" strike="noStrike" u="none">
              <a:solidFill>
                <a:srgbClr val="ffff00"/>
              </a:solidFill>
              <a:effectLst/>
              <a:uFillTx/>
              <a:latin typeface="Times New Roman"/>
            </a:endParaRPr>
          </a:p>
        </p:txBody>
      </p:sp>
    </p:spTree>
  </p:cSld>
  <p:transition spd="med">
    <p:zoom dir="out"/>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Rectangle 4"/>
          <p:cNvSpPr/>
          <p:nvPr/>
        </p:nvSpPr>
        <p:spPr>
          <a:xfrm>
            <a:off x="2193480" y="114480"/>
            <a:ext cx="4768200" cy="459720"/>
          </a:xfrm>
          <a:prstGeom prst="rect">
            <a:avLst/>
          </a:prstGeom>
          <a:noFill/>
          <a:ln w="0">
            <a:noFill/>
          </a:ln>
        </p:spPr>
        <p:style>
          <a:lnRef idx="0"/>
          <a:fillRef idx="0"/>
          <a:effectRef idx="0"/>
          <a:fontRef idx="minor"/>
        </p:style>
        <p:txBody>
          <a:bodyPr wrap="none" lIns="90000" rIns="90000" tIns="46800" bIns="4680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A QUI SERT L'EVALUATION ?</a:t>
            </a:r>
            <a:endParaRPr b="0" lang="en-US" sz="2400" strike="noStrike" u="none">
              <a:solidFill>
                <a:srgbClr val="ffff00"/>
              </a:solidFill>
              <a:effectLst/>
              <a:uFillTx/>
              <a:latin typeface="Times New Roman"/>
            </a:endParaRPr>
          </a:p>
        </p:txBody>
      </p:sp>
      <p:sp>
        <p:nvSpPr>
          <p:cNvPr id="43" name="Rectangle 5"/>
          <p:cNvSpPr/>
          <p:nvPr/>
        </p:nvSpPr>
        <p:spPr>
          <a:xfrm>
            <a:off x="250920" y="377280"/>
            <a:ext cx="8785080" cy="6802200"/>
          </a:xfrm>
          <a:prstGeom prst="rect">
            <a:avLst/>
          </a:prstGeom>
          <a:noFill/>
          <a:ln w="0">
            <a:noFill/>
          </a:ln>
        </p:spPr>
        <p:style>
          <a:lnRef idx="0"/>
          <a:fillRef idx="0"/>
          <a:effectRef idx="0"/>
          <a:fontRef idx="minor"/>
        </p:style>
        <p:txBody>
          <a:bodyPr lIns="90000" rIns="90000" tIns="46800" bIns="46800" anchor="ctr">
            <a:spAutoFit/>
          </a:bodyPr>
          <a:p>
            <a:pPr>
              <a:lnSpc>
                <a:spcPct val="100000"/>
              </a:lnSpc>
              <a:tabLst>
                <a:tab algn="l" pos="0"/>
                <a:tab algn="l" pos="53964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L'évaluation devrait permettre d'aider :</a:t>
            </a:r>
            <a:endParaRPr b="0" lang="en-US" sz="2000" strike="noStrike" u="none">
              <a:solidFill>
                <a:srgbClr val="ffff00"/>
              </a:solidFill>
              <a:effectLst/>
              <a:uFillTx/>
              <a:latin typeface="Times New Roman"/>
            </a:endParaRPr>
          </a:p>
          <a:p>
            <a:pPr>
              <a:lnSpc>
                <a:spcPct val="100000"/>
              </a:lnSpc>
              <a:tabLst>
                <a:tab algn="l" pos="0"/>
                <a:tab algn="l" pos="53964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53964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ff"/>
                </a:solidFill>
                <a:effectLst/>
                <a:uFillTx/>
                <a:latin typeface="Calibri"/>
                <a:ea typeface="Calibri"/>
              </a:rPr>
              <a:t>L'ENSEIGNANT</a:t>
            </a:r>
            <a:r>
              <a:rPr b="1" lang="fr-FR" sz="2000" strike="noStrike" u="none">
                <a:solidFill>
                  <a:srgbClr val="ffffff"/>
                </a:solidFill>
                <a:effectLst/>
                <a:uFillTx/>
                <a:latin typeface="Calibri"/>
                <a:ea typeface="Calibri"/>
              </a:rPr>
              <a:t> </a:t>
            </a:r>
            <a:r>
              <a:rPr b="1" lang="fr-FR" sz="2000" strike="noStrike" u="none">
                <a:solidFill>
                  <a:srgbClr val="ffff00"/>
                </a:solidFill>
                <a:effectLst/>
                <a:uFillTx/>
                <a:latin typeface="Calibri"/>
                <a:ea typeface="Calibri"/>
              </a:rPr>
              <a:t>à programmer efficacement une éducation physique plus conforme aux possibilités de leurs élèves et à en contrôler les effets fondamentaux.</a:t>
            </a:r>
            <a:endParaRPr b="0" lang="en-US" sz="2000" strike="noStrike" u="none">
              <a:solidFill>
                <a:srgbClr val="ffff00"/>
              </a:solidFill>
              <a:effectLst/>
              <a:uFillTx/>
              <a:latin typeface="Times New Roman"/>
            </a:endParaRPr>
          </a:p>
          <a:p>
            <a:pPr>
              <a:lnSpc>
                <a:spcPct val="100000"/>
              </a:lnSpc>
              <a:tabLst>
                <a:tab algn="l" pos="0"/>
                <a:tab algn="l" pos="53964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53964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ff"/>
                </a:solidFill>
                <a:effectLst/>
                <a:uFillTx/>
                <a:latin typeface="Calibri"/>
                <a:ea typeface="Calibri"/>
              </a:rPr>
              <a:t>LE JEUNE</a:t>
            </a:r>
            <a:r>
              <a:rPr b="1" lang="fr-FR" sz="2000" strike="noStrike" u="none">
                <a:solidFill>
                  <a:srgbClr val="ffffff"/>
                </a:solidFill>
                <a:effectLst/>
                <a:uFillTx/>
                <a:latin typeface="Calibri"/>
                <a:ea typeface="Calibri"/>
              </a:rPr>
              <a:t> </a:t>
            </a:r>
            <a:r>
              <a:rPr b="1" lang="fr-FR" sz="2000" strike="noStrike" u="none">
                <a:solidFill>
                  <a:srgbClr val="ffff00"/>
                </a:solidFill>
                <a:effectLst/>
                <a:uFillTx/>
                <a:latin typeface="Calibri"/>
                <a:ea typeface="Calibri"/>
              </a:rPr>
              <a:t>lui-même, à mieux se connaître et éventuellement mieux s'orienter vers l'activité sportive correspondant non seulement à ses goûts mais aussi à ses capacités.</a:t>
            </a:r>
            <a:endParaRPr b="0" lang="en-US" sz="2000" strike="noStrike" u="none">
              <a:solidFill>
                <a:srgbClr val="ffff00"/>
              </a:solidFill>
              <a:effectLst/>
              <a:uFillTx/>
              <a:latin typeface="Times New Roman"/>
            </a:endParaRPr>
          </a:p>
          <a:p>
            <a:pPr>
              <a:lnSpc>
                <a:spcPct val="100000"/>
              </a:lnSpc>
              <a:tabLst>
                <a:tab algn="l" pos="0"/>
                <a:tab algn="l" pos="53964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53964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ff"/>
                </a:solidFill>
                <a:effectLst/>
                <a:uFillTx/>
                <a:latin typeface="Calibri"/>
                <a:ea typeface="Calibri"/>
              </a:rPr>
              <a:t>L'ENTRAINEUR</a:t>
            </a:r>
            <a:r>
              <a:rPr b="1" lang="fr-FR" sz="2000" strike="noStrike" u="none">
                <a:solidFill>
                  <a:srgbClr val="ffff00"/>
                </a:solidFill>
                <a:effectLst/>
                <a:uFillTx/>
                <a:latin typeface="Calibri"/>
                <a:ea typeface="Calibri"/>
              </a:rPr>
              <a:t>, à individualiser, planifier, contrôler les effets de l'entraînement et donc vérifier la pertinence de ses choix.</a:t>
            </a:r>
            <a:endParaRPr b="0" lang="en-US" sz="2000" strike="noStrike" u="none">
              <a:solidFill>
                <a:srgbClr val="ffff00"/>
              </a:solidFill>
              <a:effectLst/>
              <a:uFillTx/>
              <a:latin typeface="Times New Roman"/>
            </a:endParaRPr>
          </a:p>
          <a:p>
            <a:pPr>
              <a:lnSpc>
                <a:spcPct val="100000"/>
              </a:lnSpc>
              <a:tabLst>
                <a:tab algn="l" pos="0"/>
                <a:tab algn="l" pos="53964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53964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ff"/>
                </a:solidFill>
                <a:effectLst/>
                <a:uFillTx/>
                <a:latin typeface="Calibri"/>
                <a:ea typeface="Calibri"/>
              </a:rPr>
              <a:t>LES FEDERATIONS SPORTIVES ET LES CLUBS</a:t>
            </a:r>
            <a:r>
              <a:rPr b="1" lang="fr-FR" sz="2000" strike="noStrike" u="none">
                <a:solidFill>
                  <a:srgbClr val="ffff00"/>
                </a:solidFill>
                <a:effectLst/>
                <a:uFillTx/>
                <a:latin typeface="Calibri"/>
                <a:ea typeface="Calibri"/>
              </a:rPr>
              <a:t>, à mieux dégager leur élite et repérer les jeunes talents sportifs,</a:t>
            </a:r>
            <a:endParaRPr b="0" lang="en-US" sz="2000" strike="noStrike" u="none">
              <a:solidFill>
                <a:srgbClr val="ffff00"/>
              </a:solidFill>
              <a:effectLst/>
              <a:uFillTx/>
              <a:latin typeface="Times New Roman"/>
            </a:endParaRPr>
          </a:p>
          <a:p>
            <a:pPr>
              <a:lnSpc>
                <a:spcPct val="100000"/>
              </a:lnSpc>
              <a:tabLst>
                <a:tab algn="l" pos="0"/>
                <a:tab algn="l" pos="53964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53964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ff"/>
                </a:solidFill>
                <a:effectLst/>
                <a:uFillTx/>
                <a:latin typeface="Calibri"/>
                <a:ea typeface="Calibri"/>
              </a:rPr>
              <a:t>L'ADMINISTRATEUR ET LE LEGISLATEUR</a:t>
            </a:r>
            <a:r>
              <a:rPr b="1" lang="fr-FR" sz="2000" strike="noStrike" u="none">
                <a:solidFill>
                  <a:srgbClr val="ffff00"/>
                </a:solidFill>
                <a:effectLst/>
                <a:uFillTx/>
                <a:latin typeface="Calibri"/>
                <a:ea typeface="Calibri"/>
              </a:rPr>
              <a:t>, à fonder leurs décisions sur une connaissance objective du niveau de capacité physique et de condition physique des enfants et adolescents de leur pays. </a:t>
            </a:r>
            <a:endParaRPr b="0" lang="en-US" sz="2000" strike="noStrike" u="none">
              <a:solidFill>
                <a:srgbClr val="ffff00"/>
              </a:solidFill>
              <a:effectLst/>
              <a:uFillTx/>
              <a:latin typeface="Times New Roman"/>
            </a:endParaRPr>
          </a:p>
        </p:txBody>
      </p:sp>
    </p:spTree>
  </p:cSld>
  <p:transition spd="med">
    <p:zoom dir="out"/>
  </p:transition>
  <p:timing>
    <p:tnLst>
      <p:par>
        <p:cTn id="92" dur="indefinite" restart="never" nodeType="tmRoot">
          <p:childTnLst>
            <p:seq>
              <p:cTn id="93" dur="indefinite" nodeType="mainSeq">
                <p:childTnLst>
                  <p:par>
                    <p:cTn id="94" nodeType="clickEffect" fill="hold">
                      <p:stCondLst>
                        <p:cond delay="indefinite"/>
                      </p:stCondLst>
                      <p:childTnLst>
                        <p:par>
                          <p:cTn id="95" nodeType="withEffect" fill="hold">
                            <p:stCondLst>
                              <p:cond delay="0"/>
                            </p:stCondLst>
                            <p:childTnLst>
                              <p:par>
                                <p:cTn id="96" nodeType="clickEffect" fill="hold" presetClass="entr" presetID="22" presetSubtype="8" repeatCount="1000">
                                  <p:stCondLst>
                                    <p:cond delay="0"/>
                                  </p:stCondLst>
                                  <p:childTnLst>
                                    <p:set>
                                      <p:cBhvr>
                                        <p:cTn id="97" dur="1" fill="hold">
                                          <p:stCondLst>
                                            <p:cond delay="0"/>
                                          </p:stCondLst>
                                        </p:cTn>
                                        <p:tgtEl>
                                          <p:spTgt spid="43">
                                            <p:txEl>
                                              <p:pRg st="4" end="4"/>
                                            </p:txEl>
                                          </p:spTgt>
                                        </p:tgtEl>
                                        <p:attrNameLst>
                                          <p:attrName>style.visibility</p:attrName>
                                        </p:attrNameLst>
                                      </p:cBhvr>
                                      <p:to>
                                        <p:strVal val="visible"/>
                                      </p:to>
                                    </p:set>
                                    <p:animEffect filter="wipe(left)" transition="in">
                                      <p:cBhvr additive="repl">
                                        <p:cTn id="98" dur="1000"/>
                                        <p:tgtEl>
                                          <p:spTgt spid="43">
                                            <p:txEl>
                                              <p:pRg st="4" end="4"/>
                                            </p:txEl>
                                          </p:spTgt>
                                        </p:tgtEl>
                                      </p:cBhvr>
                                    </p:animEffect>
                                  </p:childTnLst>
                                </p:cTn>
                              </p:par>
                            </p:childTnLst>
                          </p:cTn>
                        </p:par>
                      </p:childTnLst>
                    </p:cTn>
                  </p:par>
                  <p:par>
                    <p:cTn id="99" nodeType="clickEffect" fill="hold">
                      <p:stCondLst>
                        <p:cond delay="indefinite"/>
                      </p:stCondLst>
                      <p:childTnLst>
                        <p:par>
                          <p:cTn id="100" nodeType="withEffect" fill="hold">
                            <p:stCondLst>
                              <p:cond delay="0"/>
                            </p:stCondLst>
                            <p:childTnLst>
                              <p:par>
                                <p:cTn id="101" nodeType="clickEffect" fill="hold" presetClass="entr" presetID="22" presetSubtype="8" repeatCount="1000">
                                  <p:stCondLst>
                                    <p:cond delay="0"/>
                                  </p:stCondLst>
                                  <p:childTnLst>
                                    <p:set>
                                      <p:cBhvr>
                                        <p:cTn id="102" dur="1" fill="hold">
                                          <p:stCondLst>
                                            <p:cond delay="0"/>
                                          </p:stCondLst>
                                        </p:cTn>
                                        <p:tgtEl>
                                          <p:spTgt spid="43">
                                            <p:txEl>
                                              <p:pRg st="6" end="6"/>
                                            </p:txEl>
                                          </p:spTgt>
                                        </p:tgtEl>
                                        <p:attrNameLst>
                                          <p:attrName>style.visibility</p:attrName>
                                        </p:attrNameLst>
                                      </p:cBhvr>
                                      <p:to>
                                        <p:strVal val="visible"/>
                                      </p:to>
                                    </p:set>
                                    <p:animEffect filter="wipe(left)" transition="in">
                                      <p:cBhvr additive="repl">
                                        <p:cTn id="103" dur="1000"/>
                                        <p:tgtEl>
                                          <p:spTgt spid="43">
                                            <p:txEl>
                                              <p:pRg st="6" end="6"/>
                                            </p:txEl>
                                          </p:spTgt>
                                        </p:tgtEl>
                                      </p:cBhvr>
                                    </p:animEffect>
                                  </p:childTnLst>
                                </p:cTn>
                              </p:par>
                            </p:childTnLst>
                          </p:cTn>
                        </p:par>
                      </p:childTnLst>
                    </p:cTn>
                  </p:par>
                  <p:par>
                    <p:cTn id="104" nodeType="clickEffect" fill="hold">
                      <p:stCondLst>
                        <p:cond delay="indefinite"/>
                      </p:stCondLst>
                      <p:childTnLst>
                        <p:par>
                          <p:cTn id="105" nodeType="withEffect" fill="hold">
                            <p:stCondLst>
                              <p:cond delay="0"/>
                            </p:stCondLst>
                            <p:childTnLst>
                              <p:par>
                                <p:cTn id="106" nodeType="clickEffect" fill="hold" presetClass="entr" presetID="22" presetSubtype="8" repeatCount="1000">
                                  <p:stCondLst>
                                    <p:cond delay="0"/>
                                  </p:stCondLst>
                                  <p:childTnLst>
                                    <p:set>
                                      <p:cBhvr>
                                        <p:cTn id="107" dur="1" fill="hold">
                                          <p:stCondLst>
                                            <p:cond delay="0"/>
                                          </p:stCondLst>
                                        </p:cTn>
                                        <p:tgtEl>
                                          <p:spTgt spid="43">
                                            <p:txEl>
                                              <p:pRg st="8" end="8"/>
                                            </p:txEl>
                                          </p:spTgt>
                                        </p:tgtEl>
                                        <p:attrNameLst>
                                          <p:attrName>style.visibility</p:attrName>
                                        </p:attrNameLst>
                                      </p:cBhvr>
                                      <p:to>
                                        <p:strVal val="visible"/>
                                      </p:to>
                                    </p:set>
                                    <p:animEffect filter="wipe(left)" transition="in">
                                      <p:cBhvr additive="repl">
                                        <p:cTn id="108" dur="1000"/>
                                        <p:tgtEl>
                                          <p:spTgt spid="43">
                                            <p:txEl>
                                              <p:pRg st="8" end="8"/>
                                            </p:txEl>
                                          </p:spTgt>
                                        </p:tgtEl>
                                      </p:cBhvr>
                                    </p:animEffect>
                                  </p:childTnLst>
                                </p:cTn>
                              </p:par>
                            </p:childTnLst>
                          </p:cTn>
                        </p:par>
                      </p:childTnLst>
                    </p:cTn>
                  </p:par>
                  <p:par>
                    <p:cTn id="109" nodeType="clickEffect" fill="hold">
                      <p:stCondLst>
                        <p:cond delay="indefinite"/>
                      </p:stCondLst>
                      <p:childTnLst>
                        <p:par>
                          <p:cTn id="110" nodeType="withEffect" fill="hold">
                            <p:stCondLst>
                              <p:cond delay="0"/>
                            </p:stCondLst>
                            <p:childTnLst>
                              <p:par>
                                <p:cTn id="111" nodeType="clickEffect" fill="hold" presetClass="entr" presetID="22" presetSubtype="8" repeatCount="1000">
                                  <p:stCondLst>
                                    <p:cond delay="0"/>
                                  </p:stCondLst>
                                  <p:childTnLst>
                                    <p:set>
                                      <p:cBhvr>
                                        <p:cTn id="112" dur="1" fill="hold">
                                          <p:stCondLst>
                                            <p:cond delay="0"/>
                                          </p:stCondLst>
                                        </p:cTn>
                                        <p:tgtEl>
                                          <p:spTgt spid="43">
                                            <p:txEl>
                                              <p:pRg st="10" end="10"/>
                                            </p:txEl>
                                          </p:spTgt>
                                        </p:tgtEl>
                                        <p:attrNameLst>
                                          <p:attrName>style.visibility</p:attrName>
                                        </p:attrNameLst>
                                      </p:cBhvr>
                                      <p:to>
                                        <p:strVal val="visible"/>
                                      </p:to>
                                    </p:set>
                                    <p:animEffect filter="wipe(left)" transition="in">
                                      <p:cBhvr additive="repl">
                                        <p:cTn id="113" dur="1000"/>
                                        <p:tgtEl>
                                          <p:spTgt spid="43">
                                            <p:txEl>
                                              <p:pRg st="10" end="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ZoneTexte 1"/>
          <p:cNvSpPr/>
          <p:nvPr/>
        </p:nvSpPr>
        <p:spPr>
          <a:xfrm>
            <a:off x="279360" y="1052640"/>
            <a:ext cx="8064720" cy="69253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22228b"/>
                </a:solidFill>
                <a:effectLst/>
                <a:uFillTx/>
                <a:latin typeface="Calibri"/>
                <a:ea typeface="Calibri"/>
              </a:rPr>
              <a:t>1- Quelques définitions préalables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22228b"/>
                </a:solidFill>
                <a:effectLst/>
                <a:uFillTx/>
                <a:latin typeface="Calibri"/>
                <a:ea typeface="Calibri"/>
              </a:rPr>
              <a:t>2- A quoi sert et à qui sert l’évaluation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3- Comment choisir ses tests et son type d’évaluation</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4- Développement et évaluation des capacités physiques et physiologiques au cours de la croissance.</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5- Quelles activités physiques et pour quels publics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p:txBody>
      </p:sp>
      <p:sp>
        <p:nvSpPr>
          <p:cNvPr id="45" name="ZoneTexte 1"/>
          <p:cNvSpPr/>
          <p:nvPr/>
        </p:nvSpPr>
        <p:spPr>
          <a:xfrm>
            <a:off x="2866680" y="189000"/>
            <a:ext cx="189108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SOMMAIRE</a:t>
            </a:r>
            <a:endParaRPr b="0" lang="en-US" sz="2800" strike="noStrike" u="none">
              <a:solidFill>
                <a:srgbClr val="ffff00"/>
              </a:solidFill>
              <a:effectLst/>
              <a:uFillTx/>
              <a:latin typeface="Times New Roman"/>
            </a:endParaRPr>
          </a:p>
        </p:txBody>
      </p:sp>
    </p:spTree>
  </p:cSld>
  <p:transition spd="med">
    <p:zoom dir="out"/>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Oval 2"/>
          <p:cNvSpPr/>
          <p:nvPr/>
        </p:nvSpPr>
        <p:spPr>
          <a:xfrm>
            <a:off x="2419200" y="1846440"/>
            <a:ext cx="3808440" cy="3311280"/>
          </a:xfrm>
          <a:prstGeom prst="ellipse">
            <a:avLst/>
          </a:prstGeom>
          <a:gradFill rotWithShape="0">
            <a:gsLst>
              <a:gs pos="0">
                <a:srgbClr val="ffff00"/>
              </a:gs>
              <a:gs pos="100000">
                <a:srgbClr val="e9e900"/>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ctr">
            <a:noAutofit/>
          </a:bodyPr>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Bookman Old Style"/>
              </a:rPr>
              <a:t>COMMENT CHOISIR </a:t>
            </a:r>
            <a:endParaRPr b="0" lang="en-US" sz="1800" strike="noStrike" u="none">
              <a:solidFill>
                <a:srgbClr val="ffff00"/>
              </a:solidFill>
              <a:effectLst/>
              <a:uFillTx/>
              <a:latin typeface="Times New Roman"/>
            </a:endParaRPr>
          </a:p>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Bookman Old Style"/>
              </a:rPr>
              <a:t>ET/OU CONSTRUIRE SON </a:t>
            </a:r>
            <a:endParaRPr b="0" lang="en-US" sz="1800" strike="noStrike" u="none">
              <a:solidFill>
                <a:srgbClr val="ffff00"/>
              </a:solidFill>
              <a:effectLst/>
              <a:uFillTx/>
              <a:latin typeface="Times New Roman"/>
            </a:endParaRPr>
          </a:p>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Bookman Old Style"/>
              </a:rPr>
              <a:t>TEST OU SA </a:t>
            </a:r>
            <a:endParaRPr b="0" lang="en-US" sz="1800" strike="noStrike" u="none">
              <a:solidFill>
                <a:srgbClr val="ffff00"/>
              </a:solidFill>
              <a:effectLst/>
              <a:uFillTx/>
              <a:latin typeface="Times New Roman"/>
            </a:endParaRPr>
          </a:p>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Bookman Old Style"/>
              </a:rPr>
              <a:t> BATTERIE DE TESTS ?</a:t>
            </a:r>
            <a:endParaRPr b="0" lang="en-US" sz="1800" strike="noStrike" u="none">
              <a:solidFill>
                <a:srgbClr val="ffff00"/>
              </a:solidFill>
              <a:effectLst/>
              <a:uFillTx/>
              <a:latin typeface="Times New Roman"/>
            </a:endParaRPr>
          </a:p>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Bookman Old Style"/>
              </a:rPr>
              <a:t>(aspects métrologiques)</a:t>
            </a:r>
            <a:endParaRPr b="0" lang="en-US" sz="1800" strike="noStrike" u="none">
              <a:solidFill>
                <a:srgbClr val="ffff00"/>
              </a:solidFill>
              <a:effectLst/>
              <a:uFillTx/>
              <a:latin typeface="Times New Roman"/>
            </a:endParaRPr>
          </a:p>
        </p:txBody>
      </p:sp>
      <p:sp>
        <p:nvSpPr>
          <p:cNvPr id="47" name="Text Box 3"/>
          <p:cNvSpPr/>
          <p:nvPr/>
        </p:nvSpPr>
        <p:spPr>
          <a:xfrm rot="19163400">
            <a:off x="5760" y="670680"/>
            <a:ext cx="2743200" cy="1312560"/>
          </a:xfrm>
          <a:prstGeom prst="rect">
            <a:avLst/>
          </a:prstGeom>
          <a:noFill/>
          <a:ln w="1908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PERTINENCE</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Dépend de l’analyse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des exigences de la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performance de la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discipline considérée</a:t>
            </a:r>
            <a:endParaRPr b="0" lang="en-US" sz="1600" strike="noStrike" u="none">
              <a:solidFill>
                <a:srgbClr val="ffff00"/>
              </a:solidFill>
              <a:effectLst/>
              <a:uFillTx/>
              <a:latin typeface="Times New Roman"/>
            </a:endParaRPr>
          </a:p>
        </p:txBody>
      </p:sp>
      <p:sp>
        <p:nvSpPr>
          <p:cNvPr id="48" name="Text Box 4"/>
          <p:cNvSpPr/>
          <p:nvPr/>
        </p:nvSpPr>
        <p:spPr>
          <a:xfrm>
            <a:off x="3235680" y="115920"/>
            <a:ext cx="2377440" cy="8251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NON REDONDANCE</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des tests au sein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d’une batterie</a:t>
            </a:r>
            <a:endParaRPr b="0" lang="en-US" sz="1600" strike="noStrike" u="none">
              <a:solidFill>
                <a:srgbClr val="ffff00"/>
              </a:solidFill>
              <a:effectLst/>
              <a:uFillTx/>
              <a:latin typeface="Times New Roman"/>
            </a:endParaRPr>
          </a:p>
        </p:txBody>
      </p:sp>
      <p:sp>
        <p:nvSpPr>
          <p:cNvPr id="49" name="AutoShape 5"/>
          <p:cNvSpPr/>
          <p:nvPr/>
        </p:nvSpPr>
        <p:spPr>
          <a:xfrm>
            <a:off x="4284720" y="981000"/>
            <a:ext cx="216000" cy="865440"/>
          </a:xfrm>
          <a:prstGeom prst="upArrow">
            <a:avLst>
              <a:gd name="adj1" fmla="val 50000"/>
              <a:gd name="adj2" fmla="val 174364"/>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50" name="AutoShape 6"/>
          <p:cNvSpPr/>
          <p:nvPr/>
        </p:nvSpPr>
        <p:spPr>
          <a:xfrm rot="18773400">
            <a:off x="2169000" y="1732320"/>
            <a:ext cx="168120" cy="1179720"/>
          </a:xfrm>
          <a:prstGeom prst="upArrow">
            <a:avLst>
              <a:gd name="adj1" fmla="val 50000"/>
              <a:gd name="adj2" fmla="val 210059"/>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51" name="Text Box 7"/>
          <p:cNvSpPr/>
          <p:nvPr/>
        </p:nvSpPr>
        <p:spPr>
          <a:xfrm rot="2473800">
            <a:off x="6409440" y="821880"/>
            <a:ext cx="2499480" cy="1312560"/>
          </a:xfrm>
          <a:prstGeom prst="rect">
            <a:avLst/>
          </a:prstGeom>
          <a:noFill/>
          <a:ln w="1908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VALIDITE</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avoir la preuve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que le test mesure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bien ce qu’il est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censé mesuré</a:t>
            </a:r>
            <a:endParaRPr b="0" lang="en-US" sz="1600" strike="noStrike" u="none">
              <a:solidFill>
                <a:srgbClr val="ffff00"/>
              </a:solidFill>
              <a:effectLst/>
              <a:uFillTx/>
              <a:latin typeface="Times New Roman"/>
            </a:endParaRPr>
          </a:p>
        </p:txBody>
      </p:sp>
      <p:sp>
        <p:nvSpPr>
          <p:cNvPr id="52" name="AutoShape 8"/>
          <p:cNvSpPr/>
          <p:nvPr/>
        </p:nvSpPr>
        <p:spPr>
          <a:xfrm rot="2664000">
            <a:off x="6406920" y="1682640"/>
            <a:ext cx="222120" cy="1330560"/>
          </a:xfrm>
          <a:prstGeom prst="upArrow">
            <a:avLst>
              <a:gd name="adj1" fmla="val 50000"/>
              <a:gd name="adj2" fmla="val 196708"/>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53" name="AutoShape 9"/>
          <p:cNvSpPr/>
          <p:nvPr/>
        </p:nvSpPr>
        <p:spPr>
          <a:xfrm rot="7723200">
            <a:off x="6423120" y="4150440"/>
            <a:ext cx="189000" cy="1387440"/>
          </a:xfrm>
          <a:prstGeom prst="upArrow">
            <a:avLst>
              <a:gd name="adj1" fmla="val 50000"/>
              <a:gd name="adj2" fmla="val 194909"/>
            </a:avLst>
          </a:prstGeom>
          <a:solidFill>
            <a:srgbClr val="ffff00"/>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54" name="Text Box 10"/>
          <p:cNvSpPr/>
          <p:nvPr/>
        </p:nvSpPr>
        <p:spPr>
          <a:xfrm rot="19575000">
            <a:off x="5646960" y="5068080"/>
            <a:ext cx="4085640" cy="131256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FIDELITE (reproductibilité)</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les résultats du même test</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passé plusieurs fois consé-</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cutivement avec les mêmes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sportifs  doivent rester stables</a:t>
            </a:r>
            <a:endParaRPr b="0" lang="en-US" sz="1600" strike="noStrike" u="none">
              <a:solidFill>
                <a:srgbClr val="ffff00"/>
              </a:solidFill>
              <a:effectLst/>
              <a:uFillTx/>
              <a:latin typeface="Times New Roman"/>
            </a:endParaRPr>
          </a:p>
        </p:txBody>
      </p:sp>
      <p:sp>
        <p:nvSpPr>
          <p:cNvPr id="55" name="AutoShape 11"/>
          <p:cNvSpPr/>
          <p:nvPr/>
        </p:nvSpPr>
        <p:spPr>
          <a:xfrm rot="3586200">
            <a:off x="2246040" y="4204800"/>
            <a:ext cx="195120" cy="1462320"/>
          </a:xfrm>
          <a:prstGeom prst="downArrow">
            <a:avLst>
              <a:gd name="adj1" fmla="val 50000"/>
              <a:gd name="adj2" fmla="val 188055"/>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56" name="Text Box 12"/>
          <p:cNvSpPr/>
          <p:nvPr/>
        </p:nvSpPr>
        <p:spPr>
          <a:xfrm rot="2993400">
            <a:off x="-464040" y="4903200"/>
            <a:ext cx="3353400" cy="1068840"/>
          </a:xfrm>
          <a:prstGeom prst="rect">
            <a:avLst/>
          </a:prstGeom>
          <a:noFill/>
          <a:ln w="1908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ACCESSIBILITE</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Facile à mettre en œuvre</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et utilisation des outils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disponibles</a:t>
            </a:r>
            <a:endParaRPr b="0" lang="en-US" sz="1600" strike="noStrike" u="none">
              <a:solidFill>
                <a:srgbClr val="ffff00"/>
              </a:solidFill>
              <a:effectLst/>
              <a:uFillTx/>
              <a:latin typeface="Times New Roman"/>
            </a:endParaRPr>
          </a:p>
        </p:txBody>
      </p:sp>
    </p:spTree>
  </p:cSld>
  <p:transition spd="med">
    <p:zoom dir="out"/>
  </p:transition>
  <p:timing>
    <p:tnLst>
      <p:par>
        <p:cTn id="114" dur="indefinite" restart="never" nodeType="tmRoot">
          <p:childTnLst>
            <p:seq>
              <p:cTn id="115" dur="indefinite" nodeType="mainSeq">
                <p:childTnLst>
                  <p:par>
                    <p:cTn id="116" nodeType="clickEffect" fill="hold">
                      <p:stCondLst>
                        <p:cond delay="indefinite"/>
                      </p:stCondLst>
                      <p:childTnLst>
                        <p:par>
                          <p:cTn id="117" nodeType="withEffect" fill="hold">
                            <p:stCondLst>
                              <p:cond delay="0"/>
                            </p:stCondLst>
                            <p:childTnLst>
                              <p:par>
                                <p:cTn id="118" nodeType="clickEffect" fill="hold" presetClass="entr" presetID="22" presetSubtype="4">
                                  <p:stCondLst>
                                    <p:cond delay="0"/>
                                  </p:stCondLst>
                                  <p:childTnLst>
                                    <p:set>
                                      <p:cBhvr>
                                        <p:cTn id="119" dur="1" fill="hold">
                                          <p:stCondLst>
                                            <p:cond delay="0"/>
                                          </p:stCondLst>
                                        </p:cTn>
                                        <p:tgtEl>
                                          <p:spTgt spid="50"/>
                                        </p:tgtEl>
                                        <p:attrNameLst>
                                          <p:attrName>style.visibility</p:attrName>
                                        </p:attrNameLst>
                                      </p:cBhvr>
                                      <p:to>
                                        <p:strVal val="visible"/>
                                      </p:to>
                                    </p:set>
                                    <p:animEffect filter="wipe(down)" transition="in">
                                      <p:cBhvr additive="repl">
                                        <p:cTn id="120" dur="1000"/>
                                        <p:tgtEl>
                                          <p:spTgt spid="50"/>
                                        </p:tgtEl>
                                      </p:cBhvr>
                                    </p:animEffect>
                                  </p:childTnLst>
                                </p:cTn>
                              </p:par>
                            </p:childTnLst>
                          </p:cTn>
                        </p:par>
                        <p:par>
                          <p:cTn id="121" nodeType="afterEffect" fill="hold">
                            <p:stCondLst>
                              <p:cond delay="1000"/>
                            </p:stCondLst>
                            <p:childTnLst>
                              <p:par>
                                <p:cTn id="122" nodeType="afterEffect" fill="hold" presetClass="entr" presetID="22" presetSubtype="1">
                                  <p:stCondLst>
                                    <p:cond delay="0"/>
                                  </p:stCondLst>
                                  <p:childTnLst>
                                    <p:set>
                                      <p:cBhvr>
                                        <p:cTn id="123" dur="1" fill="hold">
                                          <p:stCondLst>
                                            <p:cond delay="0"/>
                                          </p:stCondLst>
                                        </p:cTn>
                                        <p:tgtEl>
                                          <p:spTgt spid="47"/>
                                        </p:tgtEl>
                                        <p:attrNameLst>
                                          <p:attrName>style.visibility</p:attrName>
                                        </p:attrNameLst>
                                      </p:cBhvr>
                                      <p:to>
                                        <p:strVal val="visible"/>
                                      </p:to>
                                    </p:set>
                                    <p:animEffect filter="wipe(up)" transition="in">
                                      <p:cBhvr additive="repl">
                                        <p:cTn id="124" dur="1000"/>
                                        <p:tgtEl>
                                          <p:spTgt spid="47"/>
                                        </p:tgtEl>
                                      </p:cBhvr>
                                    </p:animEffect>
                                  </p:childTnLst>
                                </p:cTn>
                              </p:par>
                            </p:childTnLst>
                          </p:cTn>
                        </p:par>
                      </p:childTnLst>
                    </p:cTn>
                  </p:par>
                  <p:par>
                    <p:cTn id="125" nodeType="clickEffect" fill="hold">
                      <p:stCondLst>
                        <p:cond delay="indefinite"/>
                      </p:stCondLst>
                      <p:childTnLst>
                        <p:par>
                          <p:cTn id="126" nodeType="withEffect" fill="hold">
                            <p:stCondLst>
                              <p:cond delay="0"/>
                            </p:stCondLst>
                            <p:childTnLst>
                              <p:par>
                                <p:cTn id="127" nodeType="clickEffect" fill="hold" presetClass="entr" presetID="22" presetSubtype="4">
                                  <p:stCondLst>
                                    <p:cond delay="0"/>
                                  </p:stCondLst>
                                  <p:childTnLst>
                                    <p:set>
                                      <p:cBhvr>
                                        <p:cTn id="128" dur="1" fill="hold">
                                          <p:stCondLst>
                                            <p:cond delay="0"/>
                                          </p:stCondLst>
                                        </p:cTn>
                                        <p:tgtEl>
                                          <p:spTgt spid="49"/>
                                        </p:tgtEl>
                                        <p:attrNameLst>
                                          <p:attrName>style.visibility</p:attrName>
                                        </p:attrNameLst>
                                      </p:cBhvr>
                                      <p:to>
                                        <p:strVal val="visible"/>
                                      </p:to>
                                    </p:set>
                                    <p:animEffect filter="wipe(down)" transition="in">
                                      <p:cBhvr additive="repl">
                                        <p:cTn id="129" dur="500"/>
                                        <p:tgtEl>
                                          <p:spTgt spid="49"/>
                                        </p:tgtEl>
                                      </p:cBhvr>
                                    </p:animEffect>
                                  </p:childTnLst>
                                </p:cTn>
                              </p:par>
                            </p:childTnLst>
                          </p:cTn>
                        </p:par>
                        <p:par>
                          <p:cTn id="130" nodeType="afterEffect" fill="hold">
                            <p:stCondLst>
                              <p:cond delay="500"/>
                            </p:stCondLst>
                            <p:childTnLst>
                              <p:par>
                                <p:cTn id="131" nodeType="afterEffect" fill="hold" presetClass="entr" presetID="22" presetSubtype="1">
                                  <p:stCondLst>
                                    <p:cond delay="0"/>
                                  </p:stCondLst>
                                  <p:childTnLst>
                                    <p:set>
                                      <p:cBhvr>
                                        <p:cTn id="132" dur="1" fill="hold">
                                          <p:stCondLst>
                                            <p:cond delay="0"/>
                                          </p:stCondLst>
                                        </p:cTn>
                                        <p:tgtEl>
                                          <p:spTgt spid="48"/>
                                        </p:tgtEl>
                                        <p:attrNameLst>
                                          <p:attrName>style.visibility</p:attrName>
                                        </p:attrNameLst>
                                      </p:cBhvr>
                                      <p:to>
                                        <p:strVal val="visible"/>
                                      </p:to>
                                    </p:set>
                                    <p:animEffect filter="wipe(up)" transition="in">
                                      <p:cBhvr additive="repl">
                                        <p:cTn id="133" dur="1000"/>
                                        <p:tgtEl>
                                          <p:spTgt spid="48"/>
                                        </p:tgtEl>
                                      </p:cBhvr>
                                    </p:animEffect>
                                  </p:childTnLst>
                                </p:cTn>
                              </p:par>
                            </p:childTnLst>
                          </p:cTn>
                        </p:par>
                      </p:childTnLst>
                    </p:cTn>
                  </p:par>
                  <p:par>
                    <p:cTn id="134" nodeType="clickEffect" fill="hold">
                      <p:stCondLst>
                        <p:cond delay="indefinite"/>
                      </p:stCondLst>
                      <p:childTnLst>
                        <p:par>
                          <p:cTn id="135" nodeType="withEffect" fill="hold">
                            <p:stCondLst>
                              <p:cond delay="0"/>
                            </p:stCondLst>
                            <p:childTnLst>
                              <p:par>
                                <p:cTn id="136" nodeType="clickEffect" fill="hold" presetClass="entr" presetID="22" presetSubtype="4">
                                  <p:stCondLst>
                                    <p:cond delay="0"/>
                                  </p:stCondLst>
                                  <p:childTnLst>
                                    <p:set>
                                      <p:cBhvr>
                                        <p:cTn id="137" dur="1" fill="hold">
                                          <p:stCondLst>
                                            <p:cond delay="0"/>
                                          </p:stCondLst>
                                        </p:cTn>
                                        <p:tgtEl>
                                          <p:spTgt spid="52"/>
                                        </p:tgtEl>
                                        <p:attrNameLst>
                                          <p:attrName>style.visibility</p:attrName>
                                        </p:attrNameLst>
                                      </p:cBhvr>
                                      <p:to>
                                        <p:strVal val="visible"/>
                                      </p:to>
                                    </p:set>
                                    <p:animEffect filter="wipe(down)" transition="in">
                                      <p:cBhvr additive="repl">
                                        <p:cTn id="138" dur="500"/>
                                        <p:tgtEl>
                                          <p:spTgt spid="52"/>
                                        </p:tgtEl>
                                      </p:cBhvr>
                                    </p:animEffect>
                                  </p:childTnLst>
                                </p:cTn>
                              </p:par>
                            </p:childTnLst>
                          </p:cTn>
                        </p:par>
                        <p:par>
                          <p:cTn id="139" nodeType="afterEffect" fill="hold">
                            <p:stCondLst>
                              <p:cond delay="500"/>
                            </p:stCondLst>
                            <p:childTnLst>
                              <p:par>
                                <p:cTn id="140" nodeType="afterEffect" fill="hold" presetClass="entr" presetID="22" presetSubtype="1">
                                  <p:stCondLst>
                                    <p:cond delay="0"/>
                                  </p:stCondLst>
                                  <p:childTnLst>
                                    <p:set>
                                      <p:cBhvr>
                                        <p:cTn id="141" dur="1" fill="hold">
                                          <p:stCondLst>
                                            <p:cond delay="0"/>
                                          </p:stCondLst>
                                        </p:cTn>
                                        <p:tgtEl>
                                          <p:spTgt spid="51"/>
                                        </p:tgtEl>
                                        <p:attrNameLst>
                                          <p:attrName>style.visibility</p:attrName>
                                        </p:attrNameLst>
                                      </p:cBhvr>
                                      <p:to>
                                        <p:strVal val="visible"/>
                                      </p:to>
                                    </p:set>
                                    <p:animEffect filter="wipe(up)" transition="in">
                                      <p:cBhvr additive="repl">
                                        <p:cTn id="142" dur="1000"/>
                                        <p:tgtEl>
                                          <p:spTgt spid="51"/>
                                        </p:tgtEl>
                                      </p:cBhvr>
                                    </p:animEffect>
                                  </p:childTnLst>
                                </p:cTn>
                              </p:par>
                            </p:childTnLst>
                          </p:cTn>
                        </p:par>
                      </p:childTnLst>
                    </p:cTn>
                  </p:par>
                  <p:par>
                    <p:cTn id="143" nodeType="clickEffect" fill="hold">
                      <p:stCondLst>
                        <p:cond delay="indefinite"/>
                      </p:stCondLst>
                      <p:childTnLst>
                        <p:par>
                          <p:cTn id="144" nodeType="withEffect" fill="hold">
                            <p:stCondLst>
                              <p:cond delay="0"/>
                            </p:stCondLst>
                            <p:childTnLst>
                              <p:par>
                                <p:cTn id="145" nodeType="clickEffect" fill="hold" presetClass="entr" presetID="22" presetSubtype="1">
                                  <p:stCondLst>
                                    <p:cond delay="0"/>
                                  </p:stCondLst>
                                  <p:childTnLst>
                                    <p:set>
                                      <p:cBhvr>
                                        <p:cTn id="146" dur="1" fill="hold">
                                          <p:stCondLst>
                                            <p:cond delay="0"/>
                                          </p:stCondLst>
                                        </p:cTn>
                                        <p:tgtEl>
                                          <p:spTgt spid="53"/>
                                        </p:tgtEl>
                                        <p:attrNameLst>
                                          <p:attrName>style.visibility</p:attrName>
                                        </p:attrNameLst>
                                      </p:cBhvr>
                                      <p:to>
                                        <p:strVal val="visible"/>
                                      </p:to>
                                    </p:set>
                                    <p:animEffect filter="wipe(up)" transition="in">
                                      <p:cBhvr additive="repl">
                                        <p:cTn id="147" dur="500"/>
                                        <p:tgtEl>
                                          <p:spTgt spid="53"/>
                                        </p:tgtEl>
                                      </p:cBhvr>
                                    </p:animEffect>
                                  </p:childTnLst>
                                </p:cTn>
                              </p:par>
                            </p:childTnLst>
                          </p:cTn>
                        </p:par>
                        <p:par>
                          <p:cTn id="148" nodeType="afterEffect" fill="hold">
                            <p:stCondLst>
                              <p:cond delay="500"/>
                            </p:stCondLst>
                            <p:childTnLst>
                              <p:par>
                                <p:cTn id="149" nodeType="afterEffect" fill="hold" presetClass="entr" presetID="22" presetSubtype="1">
                                  <p:stCondLst>
                                    <p:cond delay="0"/>
                                  </p:stCondLst>
                                  <p:childTnLst>
                                    <p:set>
                                      <p:cBhvr>
                                        <p:cTn id="150" dur="1" fill="hold">
                                          <p:stCondLst>
                                            <p:cond delay="0"/>
                                          </p:stCondLst>
                                        </p:cTn>
                                        <p:tgtEl>
                                          <p:spTgt spid="54"/>
                                        </p:tgtEl>
                                        <p:attrNameLst>
                                          <p:attrName>style.visibility</p:attrName>
                                        </p:attrNameLst>
                                      </p:cBhvr>
                                      <p:to>
                                        <p:strVal val="visible"/>
                                      </p:to>
                                    </p:set>
                                    <p:animEffect filter="wipe(up)" transition="in">
                                      <p:cBhvr additive="repl">
                                        <p:cTn id="151" dur="1000"/>
                                        <p:tgtEl>
                                          <p:spTgt spid="54"/>
                                        </p:tgtEl>
                                      </p:cBhvr>
                                    </p:animEffect>
                                  </p:childTnLst>
                                </p:cTn>
                              </p:par>
                            </p:childTnLst>
                          </p:cTn>
                        </p:par>
                      </p:childTnLst>
                    </p:cTn>
                  </p:par>
                  <p:par>
                    <p:cTn id="152" nodeType="clickEffect" fill="hold">
                      <p:stCondLst>
                        <p:cond delay="indefinite"/>
                      </p:stCondLst>
                      <p:childTnLst>
                        <p:par>
                          <p:cTn id="153" nodeType="withEffect" fill="hold">
                            <p:stCondLst>
                              <p:cond delay="0"/>
                            </p:stCondLst>
                            <p:childTnLst>
                              <p:par>
                                <p:cTn id="154" nodeType="clickEffect" fill="hold" presetClass="entr" presetID="22" presetSubtype="1">
                                  <p:stCondLst>
                                    <p:cond delay="0"/>
                                  </p:stCondLst>
                                  <p:childTnLst>
                                    <p:set>
                                      <p:cBhvr>
                                        <p:cTn id="155" dur="1" fill="hold">
                                          <p:stCondLst>
                                            <p:cond delay="0"/>
                                          </p:stCondLst>
                                        </p:cTn>
                                        <p:tgtEl>
                                          <p:spTgt spid="55"/>
                                        </p:tgtEl>
                                        <p:attrNameLst>
                                          <p:attrName>style.visibility</p:attrName>
                                        </p:attrNameLst>
                                      </p:cBhvr>
                                      <p:to>
                                        <p:strVal val="visible"/>
                                      </p:to>
                                    </p:set>
                                    <p:animEffect filter="wipe(up)" transition="in">
                                      <p:cBhvr additive="repl">
                                        <p:cTn id="156" dur="500"/>
                                        <p:tgtEl>
                                          <p:spTgt spid="55"/>
                                        </p:tgtEl>
                                      </p:cBhvr>
                                    </p:animEffect>
                                  </p:childTnLst>
                                </p:cTn>
                              </p:par>
                            </p:childTnLst>
                          </p:cTn>
                        </p:par>
                        <p:par>
                          <p:cTn id="157" nodeType="afterEffect" fill="hold">
                            <p:stCondLst>
                              <p:cond delay="500"/>
                            </p:stCondLst>
                            <p:childTnLst>
                              <p:par>
                                <p:cTn id="158" nodeType="afterEffect" fill="hold" presetClass="entr" presetID="22" presetSubtype="1">
                                  <p:stCondLst>
                                    <p:cond delay="0"/>
                                  </p:stCondLst>
                                  <p:childTnLst>
                                    <p:set>
                                      <p:cBhvr>
                                        <p:cTn id="159" dur="1" fill="hold">
                                          <p:stCondLst>
                                            <p:cond delay="0"/>
                                          </p:stCondLst>
                                        </p:cTn>
                                        <p:tgtEl>
                                          <p:spTgt spid="56"/>
                                        </p:tgtEl>
                                        <p:attrNameLst>
                                          <p:attrName>style.visibility</p:attrName>
                                        </p:attrNameLst>
                                      </p:cBhvr>
                                      <p:to>
                                        <p:strVal val="visible"/>
                                      </p:to>
                                    </p:set>
                                    <p:animEffect filter="wipe(up)" transition="in">
                                      <p:cBhvr additive="repl">
                                        <p:cTn id="160" dur="1000"/>
                                        <p:tgtEl>
                                          <p:spTgt spid="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ZoneTexte 2"/>
          <p:cNvSpPr/>
          <p:nvPr/>
        </p:nvSpPr>
        <p:spPr>
          <a:xfrm>
            <a:off x="-297360" y="282600"/>
            <a:ext cx="97228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COMMENT CHOISIR SON TYPE D’EVALUATION ET SES TESTS ?</a:t>
            </a:r>
            <a:endParaRPr b="0" lang="en-US" sz="2400" strike="noStrike" u="none">
              <a:solidFill>
                <a:srgbClr val="ffff00"/>
              </a:solidFill>
              <a:effectLst/>
              <a:uFillTx/>
              <a:latin typeface="Times New Roman"/>
            </a:endParaRPr>
          </a:p>
        </p:txBody>
      </p:sp>
      <p:sp>
        <p:nvSpPr>
          <p:cNvPr id="58" name="ZoneTexte 3"/>
          <p:cNvSpPr/>
          <p:nvPr/>
        </p:nvSpPr>
        <p:spPr>
          <a:xfrm>
            <a:off x="-1610640" y="1052640"/>
            <a:ext cx="12745080" cy="77169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00"/>
                </a:solidFill>
                <a:effectLst/>
                <a:uFillTx/>
                <a:latin typeface="Calibri"/>
                <a:ea typeface="Calibri"/>
              </a:rPr>
              <a:t>DEFINIR INITIALEMENT LES OBJECTIFS : s’agit-il en effet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de vérifier le bon développement de la motricité au cours de la croissance ?</a:t>
            </a: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d’évaluer le niveau de condition physique lié à la santé ?</a:t>
            </a: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d’aider le jeune débutant à choisir le sport correspondant le mieux à ses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      capacités…et à ses goûts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de détecter d’éventuels talents ?</a:t>
            </a: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de faire « l’état des lieux » en début d’année scolaire ou de saison sportive et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      de mieux orienter les contenus pédagogiques ou d’entraînement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de contrôler l’ajustement des charges d’entraînement ?</a:t>
            </a: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de suivre les progrès d’un sportif en devenir ou confirmé ?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Tree>
  </p:cSld>
  <p:transition spd="med">
    <p:zoom dir="out"/>
  </p:transition>
  <p:timing>
    <p:tnLst>
      <p:par>
        <p:cTn id="161" dur="indefinite" restart="never" nodeType="tmRoot">
          <p:childTnLst>
            <p:seq>
              <p:cTn id="162" dur="indefinite" nodeType="mainSeq">
                <p:childTnLst>
                  <p:par>
                    <p:cTn id="163" nodeType="clickEffect" fill="hold">
                      <p:stCondLst>
                        <p:cond delay="indefinite"/>
                      </p:stCondLst>
                      <p:childTnLst>
                        <p:par>
                          <p:cTn id="164" nodeType="withEffect" fill="hold">
                            <p:stCondLst>
                              <p:cond delay="0"/>
                            </p:stCondLst>
                            <p:childTnLst>
                              <p:par>
                                <p:cTn id="165" nodeType="clickEffect" fill="hold" presetClass="entr" presetID="22" presetSubtype="8" repeatCount="1000">
                                  <p:stCondLst>
                                    <p:cond delay="0"/>
                                  </p:stCondLst>
                                  <p:childTnLst>
                                    <p:set>
                                      <p:cBhvr>
                                        <p:cTn id="166" dur="1" fill="hold">
                                          <p:stCondLst>
                                            <p:cond delay="0"/>
                                          </p:stCondLst>
                                        </p:cTn>
                                        <p:tgtEl>
                                          <p:spTgt spid="58">
                                            <p:txEl>
                                              <p:pRg st="4" end="4"/>
                                            </p:txEl>
                                          </p:spTgt>
                                        </p:tgtEl>
                                        <p:attrNameLst>
                                          <p:attrName>style.visibility</p:attrName>
                                        </p:attrNameLst>
                                      </p:cBhvr>
                                      <p:to>
                                        <p:strVal val="visible"/>
                                      </p:to>
                                    </p:set>
                                    <p:animEffect filter="wipe(left)" transition="in">
                                      <p:cBhvr additive="repl">
                                        <p:cTn id="167" dur="1000"/>
                                        <p:tgtEl>
                                          <p:spTgt spid="58">
                                            <p:txEl>
                                              <p:pRg st="4" end="4"/>
                                            </p:txEl>
                                          </p:spTgt>
                                        </p:tgtEl>
                                      </p:cBhvr>
                                    </p:animEffect>
                                  </p:childTnLst>
                                </p:cTn>
                              </p:par>
                            </p:childTnLst>
                          </p:cTn>
                        </p:par>
                        <p:par>
                          <p:cTn id="168" nodeType="afterEffect" fill="hold">
                            <p:stCondLst>
                              <p:cond delay="1000"/>
                            </p:stCondLst>
                            <p:childTnLst>
                              <p:par>
                                <p:cTn id="169" nodeType="afterEffect" fill="hold" presetClass="entr" presetID="22" presetSubtype="8" repeatCount="1000">
                                  <p:stCondLst>
                                    <p:cond delay="2000"/>
                                  </p:stCondLst>
                                  <p:childTnLst>
                                    <p:set>
                                      <p:cBhvr>
                                        <p:cTn id="170" dur="1" fill="hold">
                                          <p:stCondLst>
                                            <p:cond delay="0"/>
                                          </p:stCondLst>
                                        </p:cTn>
                                        <p:tgtEl>
                                          <p:spTgt spid="58">
                                            <p:txEl>
                                              <p:pRg st="6" end="6"/>
                                            </p:txEl>
                                          </p:spTgt>
                                        </p:tgtEl>
                                        <p:attrNameLst>
                                          <p:attrName>style.visibility</p:attrName>
                                        </p:attrNameLst>
                                      </p:cBhvr>
                                      <p:to>
                                        <p:strVal val="visible"/>
                                      </p:to>
                                    </p:set>
                                    <p:animEffect filter="wipe(left)" transition="in">
                                      <p:cBhvr additive="repl">
                                        <p:cTn id="171" dur="1000"/>
                                        <p:tgtEl>
                                          <p:spTgt spid="58">
                                            <p:txEl>
                                              <p:pRg st="6" end="6"/>
                                            </p:txEl>
                                          </p:spTgt>
                                        </p:tgtEl>
                                      </p:cBhvr>
                                    </p:animEffect>
                                  </p:childTnLst>
                                </p:cTn>
                              </p:par>
                            </p:childTnLst>
                          </p:cTn>
                        </p:par>
                        <p:par>
                          <p:cTn id="172" nodeType="afterEffect" fill="hold">
                            <p:stCondLst>
                              <p:cond delay="4000"/>
                            </p:stCondLst>
                            <p:childTnLst>
                              <p:par>
                                <p:cTn id="173" nodeType="afterEffect" fill="hold" presetClass="entr" presetID="22" presetSubtype="8" repeatCount="1000">
                                  <p:stCondLst>
                                    <p:cond delay="2000"/>
                                  </p:stCondLst>
                                  <p:childTnLst>
                                    <p:set>
                                      <p:cBhvr>
                                        <p:cTn id="174" dur="1" fill="hold">
                                          <p:stCondLst>
                                            <p:cond delay="0"/>
                                          </p:stCondLst>
                                        </p:cTn>
                                        <p:tgtEl>
                                          <p:spTgt spid="58">
                                            <p:txEl>
                                              <p:pRg st="7" end="7"/>
                                            </p:txEl>
                                          </p:spTgt>
                                        </p:tgtEl>
                                        <p:attrNameLst>
                                          <p:attrName>style.visibility</p:attrName>
                                        </p:attrNameLst>
                                      </p:cBhvr>
                                      <p:to>
                                        <p:strVal val="visible"/>
                                      </p:to>
                                    </p:set>
                                    <p:animEffect filter="wipe(left)" transition="in">
                                      <p:cBhvr additive="repl">
                                        <p:cTn id="175" dur="1000"/>
                                        <p:tgtEl>
                                          <p:spTgt spid="58">
                                            <p:txEl>
                                              <p:pRg st="7" end="7"/>
                                            </p:txEl>
                                          </p:spTgt>
                                        </p:tgtEl>
                                      </p:cBhvr>
                                    </p:animEffect>
                                  </p:childTnLst>
                                </p:cTn>
                              </p:par>
                            </p:childTnLst>
                          </p:cTn>
                        </p:par>
                        <p:par>
                          <p:cTn id="176" nodeType="afterEffect" fill="hold">
                            <p:stCondLst>
                              <p:cond delay="7000"/>
                            </p:stCondLst>
                            <p:childTnLst>
                              <p:par>
                                <p:cTn id="177" nodeType="afterEffect" fill="hold" presetClass="entr" presetID="22" presetSubtype="8" repeatCount="1000">
                                  <p:stCondLst>
                                    <p:cond delay="2000"/>
                                  </p:stCondLst>
                                  <p:childTnLst>
                                    <p:set>
                                      <p:cBhvr>
                                        <p:cTn id="178" dur="1" fill="hold">
                                          <p:stCondLst>
                                            <p:cond delay="0"/>
                                          </p:stCondLst>
                                        </p:cTn>
                                        <p:tgtEl>
                                          <p:spTgt spid="58">
                                            <p:txEl>
                                              <p:pRg st="9" end="9"/>
                                            </p:txEl>
                                          </p:spTgt>
                                        </p:tgtEl>
                                        <p:attrNameLst>
                                          <p:attrName>style.visibility</p:attrName>
                                        </p:attrNameLst>
                                      </p:cBhvr>
                                      <p:to>
                                        <p:strVal val="visible"/>
                                      </p:to>
                                    </p:set>
                                    <p:animEffect filter="wipe(left)" transition="in">
                                      <p:cBhvr additive="repl">
                                        <p:cTn id="179" dur="1000"/>
                                        <p:tgtEl>
                                          <p:spTgt spid="58">
                                            <p:txEl>
                                              <p:pRg st="9" end="9"/>
                                            </p:txEl>
                                          </p:spTgt>
                                        </p:tgtEl>
                                      </p:cBhvr>
                                    </p:animEffect>
                                  </p:childTnLst>
                                </p:cTn>
                              </p:par>
                            </p:childTnLst>
                          </p:cTn>
                        </p:par>
                        <p:par>
                          <p:cTn id="180" nodeType="afterEffect" fill="hold">
                            <p:stCondLst>
                              <p:cond delay="10000"/>
                            </p:stCondLst>
                            <p:childTnLst>
                              <p:par>
                                <p:cTn id="181" nodeType="afterEffect" fill="hold" presetClass="entr" presetID="22" presetSubtype="8" repeatCount="1000">
                                  <p:stCondLst>
                                    <p:cond delay="2000"/>
                                  </p:stCondLst>
                                  <p:childTnLst>
                                    <p:set>
                                      <p:cBhvr>
                                        <p:cTn id="182" dur="1" fill="hold">
                                          <p:stCondLst>
                                            <p:cond delay="0"/>
                                          </p:stCondLst>
                                        </p:cTn>
                                        <p:tgtEl>
                                          <p:spTgt spid="58">
                                            <p:txEl>
                                              <p:pRg st="11" end="11"/>
                                            </p:txEl>
                                          </p:spTgt>
                                        </p:tgtEl>
                                        <p:attrNameLst>
                                          <p:attrName>style.visibility</p:attrName>
                                        </p:attrNameLst>
                                      </p:cBhvr>
                                      <p:to>
                                        <p:strVal val="visible"/>
                                      </p:to>
                                    </p:set>
                                    <p:animEffect filter="wipe(left)" transition="in">
                                      <p:cBhvr additive="repl">
                                        <p:cTn id="183" dur="1000"/>
                                        <p:tgtEl>
                                          <p:spTgt spid="58">
                                            <p:txEl>
                                              <p:pRg st="11" end="11"/>
                                            </p:txEl>
                                          </p:spTgt>
                                        </p:tgtEl>
                                      </p:cBhvr>
                                    </p:animEffect>
                                  </p:childTnLst>
                                </p:cTn>
                              </p:par>
                            </p:childTnLst>
                          </p:cTn>
                        </p:par>
                        <p:par>
                          <p:cTn id="184" nodeType="afterEffect" fill="hold">
                            <p:stCondLst>
                              <p:cond delay="13000"/>
                            </p:stCondLst>
                            <p:childTnLst>
                              <p:par>
                                <p:cTn id="185" nodeType="afterEffect" fill="hold" presetClass="entr" presetID="22" presetSubtype="8" repeatCount="1000">
                                  <p:stCondLst>
                                    <p:cond delay="2000"/>
                                  </p:stCondLst>
                                  <p:childTnLst>
                                    <p:set>
                                      <p:cBhvr>
                                        <p:cTn id="186" dur="1" fill="hold">
                                          <p:stCondLst>
                                            <p:cond delay="0"/>
                                          </p:stCondLst>
                                        </p:cTn>
                                        <p:tgtEl>
                                          <p:spTgt spid="58">
                                            <p:txEl>
                                              <p:pRg st="12" end="12"/>
                                            </p:txEl>
                                          </p:spTgt>
                                        </p:tgtEl>
                                        <p:attrNameLst>
                                          <p:attrName>style.visibility</p:attrName>
                                        </p:attrNameLst>
                                      </p:cBhvr>
                                      <p:to>
                                        <p:strVal val="visible"/>
                                      </p:to>
                                    </p:set>
                                    <p:animEffect filter="wipe(left)" transition="in">
                                      <p:cBhvr additive="repl">
                                        <p:cTn id="187" dur="1000"/>
                                        <p:tgtEl>
                                          <p:spTgt spid="58">
                                            <p:txEl>
                                              <p:pRg st="12" end="12"/>
                                            </p:txEl>
                                          </p:spTgt>
                                        </p:tgtEl>
                                      </p:cBhvr>
                                    </p:animEffect>
                                  </p:childTnLst>
                                </p:cTn>
                              </p:par>
                            </p:childTnLst>
                          </p:cTn>
                        </p:par>
                        <p:par>
                          <p:cTn id="188" nodeType="afterEffect" fill="hold">
                            <p:stCondLst>
                              <p:cond delay="16000"/>
                            </p:stCondLst>
                            <p:childTnLst>
                              <p:par>
                                <p:cTn id="189" nodeType="afterEffect" fill="hold" presetClass="entr" presetID="22" presetSubtype="8" repeatCount="1000">
                                  <p:stCondLst>
                                    <p:cond delay="2000"/>
                                  </p:stCondLst>
                                  <p:childTnLst>
                                    <p:set>
                                      <p:cBhvr>
                                        <p:cTn id="190" dur="1" fill="hold">
                                          <p:stCondLst>
                                            <p:cond delay="0"/>
                                          </p:stCondLst>
                                        </p:cTn>
                                        <p:tgtEl>
                                          <p:spTgt spid="58">
                                            <p:txEl>
                                              <p:pRg st="14" end="14"/>
                                            </p:txEl>
                                          </p:spTgt>
                                        </p:tgtEl>
                                        <p:attrNameLst>
                                          <p:attrName>style.visibility</p:attrName>
                                        </p:attrNameLst>
                                      </p:cBhvr>
                                      <p:to>
                                        <p:strVal val="visible"/>
                                      </p:to>
                                    </p:set>
                                    <p:animEffect filter="wipe(left)" transition="in">
                                      <p:cBhvr additive="repl">
                                        <p:cTn id="191" dur="1000"/>
                                        <p:tgtEl>
                                          <p:spTgt spid="58">
                                            <p:txEl>
                                              <p:pRg st="14" end="14"/>
                                            </p:txEl>
                                          </p:spTgt>
                                        </p:tgtEl>
                                      </p:cBhvr>
                                    </p:animEffect>
                                  </p:childTnLst>
                                </p:cTn>
                              </p:par>
                            </p:childTnLst>
                          </p:cTn>
                        </p:par>
                        <p:par>
                          <p:cTn id="192" nodeType="afterEffect" fill="hold">
                            <p:stCondLst>
                              <p:cond delay="19000"/>
                            </p:stCondLst>
                            <p:childTnLst>
                              <p:par>
                                <p:cTn id="193" nodeType="afterEffect" fill="hold" presetClass="entr" presetID="22" presetSubtype="8" repeatCount="1000">
                                  <p:stCondLst>
                                    <p:cond delay="2000"/>
                                  </p:stCondLst>
                                  <p:childTnLst>
                                    <p:set>
                                      <p:cBhvr>
                                        <p:cTn id="194" dur="1" fill="hold">
                                          <p:stCondLst>
                                            <p:cond delay="0"/>
                                          </p:stCondLst>
                                        </p:cTn>
                                        <p:tgtEl>
                                          <p:spTgt spid="58">
                                            <p:txEl>
                                              <p:pRg st="16" end="16"/>
                                            </p:txEl>
                                          </p:spTgt>
                                        </p:tgtEl>
                                        <p:attrNameLst>
                                          <p:attrName>style.visibility</p:attrName>
                                        </p:attrNameLst>
                                      </p:cBhvr>
                                      <p:to>
                                        <p:strVal val="visible"/>
                                      </p:to>
                                    </p:set>
                                    <p:animEffect filter="wipe(left)" transition="in">
                                      <p:cBhvr additive="repl">
                                        <p:cTn id="195" dur="1000"/>
                                        <p:tgtEl>
                                          <p:spTgt spid="58">
                                            <p:txEl>
                                              <p:pRg st="16" end="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Image 3" descr=""/>
          <p:cNvPicPr/>
          <p:nvPr/>
        </p:nvPicPr>
        <p:blipFill>
          <a:blip r:embed="rId1"/>
          <a:srcRect l="16719" t="0" r="9142" b="20171"/>
          <a:stretch/>
        </p:blipFill>
        <p:spPr>
          <a:xfrm>
            <a:off x="179280" y="189000"/>
            <a:ext cx="1943280" cy="2955960"/>
          </a:xfrm>
          <a:prstGeom prst="rect">
            <a:avLst/>
          </a:prstGeom>
          <a:noFill/>
          <a:ln w="19080">
            <a:solidFill>
              <a:srgbClr val="ffff00"/>
            </a:solidFill>
            <a:miter/>
          </a:ln>
        </p:spPr>
      </p:pic>
      <p:pic>
        <p:nvPicPr>
          <p:cNvPr id="60" name="Image 4" descr=""/>
          <p:cNvPicPr/>
          <p:nvPr/>
        </p:nvPicPr>
        <p:blipFill>
          <a:blip r:embed="rId2"/>
          <a:srcRect l="4730" t="0" r="0" b="3030"/>
          <a:stretch/>
        </p:blipFill>
        <p:spPr>
          <a:xfrm>
            <a:off x="2268360" y="1062000"/>
            <a:ext cx="2146320" cy="3087720"/>
          </a:xfrm>
          <a:prstGeom prst="rect">
            <a:avLst/>
          </a:prstGeom>
          <a:noFill/>
          <a:ln w="19080">
            <a:solidFill>
              <a:srgbClr val="ffff00"/>
            </a:solidFill>
            <a:miter/>
          </a:ln>
        </p:spPr>
      </p:pic>
      <p:pic>
        <p:nvPicPr>
          <p:cNvPr id="61" name="Image 5" descr=""/>
          <p:cNvPicPr/>
          <p:nvPr/>
        </p:nvPicPr>
        <p:blipFill>
          <a:blip r:embed="rId3"/>
          <a:srcRect l="5487" t="0" r="0" b="0"/>
          <a:stretch/>
        </p:blipFill>
        <p:spPr>
          <a:xfrm>
            <a:off x="4500720" y="2189160"/>
            <a:ext cx="2087280" cy="3122640"/>
          </a:xfrm>
          <a:prstGeom prst="rect">
            <a:avLst/>
          </a:prstGeom>
          <a:noFill/>
          <a:ln w="19080">
            <a:solidFill>
              <a:srgbClr val="ffff00"/>
            </a:solidFill>
            <a:miter/>
          </a:ln>
        </p:spPr>
      </p:pic>
      <p:pic>
        <p:nvPicPr>
          <p:cNvPr id="62" name="Image 7" descr=""/>
          <p:cNvPicPr/>
          <p:nvPr/>
        </p:nvPicPr>
        <p:blipFill>
          <a:blip r:embed="rId4"/>
          <a:stretch/>
        </p:blipFill>
        <p:spPr>
          <a:xfrm>
            <a:off x="6732720" y="3130560"/>
            <a:ext cx="2259000" cy="3192480"/>
          </a:xfrm>
          <a:prstGeom prst="rect">
            <a:avLst/>
          </a:prstGeom>
          <a:noFill/>
          <a:ln w="19080">
            <a:solidFill>
              <a:srgbClr val="ffff00"/>
            </a:solidFill>
            <a:miter/>
          </a:ln>
        </p:spPr>
      </p:pic>
      <p:sp>
        <p:nvSpPr>
          <p:cNvPr id="63" name="ZoneTexte 8"/>
          <p:cNvSpPr/>
          <p:nvPr/>
        </p:nvSpPr>
        <p:spPr>
          <a:xfrm>
            <a:off x="615600" y="3252960"/>
            <a:ext cx="79020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1981</a:t>
            </a:r>
            <a:endParaRPr b="0" lang="en-US" sz="2400" strike="noStrike" u="none">
              <a:solidFill>
                <a:srgbClr val="ffff00"/>
              </a:solidFill>
              <a:effectLst/>
              <a:uFillTx/>
              <a:latin typeface="Times New Roman"/>
            </a:endParaRPr>
          </a:p>
        </p:txBody>
      </p:sp>
      <p:sp>
        <p:nvSpPr>
          <p:cNvPr id="64" name="ZoneTexte 9"/>
          <p:cNvSpPr/>
          <p:nvPr/>
        </p:nvSpPr>
        <p:spPr>
          <a:xfrm>
            <a:off x="2847600" y="4340160"/>
            <a:ext cx="79020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1984</a:t>
            </a:r>
            <a:endParaRPr b="0" lang="en-US" sz="2400" strike="noStrike" u="none">
              <a:solidFill>
                <a:srgbClr val="ffff00"/>
              </a:solidFill>
              <a:effectLst/>
              <a:uFillTx/>
              <a:latin typeface="Times New Roman"/>
            </a:endParaRPr>
          </a:p>
        </p:txBody>
      </p:sp>
      <p:sp>
        <p:nvSpPr>
          <p:cNvPr id="65" name="ZoneTexte 10"/>
          <p:cNvSpPr/>
          <p:nvPr/>
        </p:nvSpPr>
        <p:spPr>
          <a:xfrm>
            <a:off x="5127120" y="5403960"/>
            <a:ext cx="79020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1987</a:t>
            </a:r>
            <a:endParaRPr b="0" lang="en-US" sz="2400" strike="noStrike" u="none">
              <a:solidFill>
                <a:srgbClr val="ffff00"/>
              </a:solidFill>
              <a:effectLst/>
              <a:uFillTx/>
              <a:latin typeface="Times New Roman"/>
            </a:endParaRPr>
          </a:p>
        </p:txBody>
      </p:sp>
      <p:sp>
        <p:nvSpPr>
          <p:cNvPr id="66" name="ZoneTexte 11"/>
          <p:cNvSpPr/>
          <p:nvPr/>
        </p:nvSpPr>
        <p:spPr>
          <a:xfrm>
            <a:off x="7527600" y="6443640"/>
            <a:ext cx="79020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1990</a:t>
            </a:r>
            <a:endParaRPr b="0" lang="en-US" sz="2400" strike="noStrike" u="none">
              <a:solidFill>
                <a:srgbClr val="ffff00"/>
              </a:solidFill>
              <a:effectLst/>
              <a:uFillTx/>
              <a:latin typeface="Times New Roman"/>
            </a:endParaRPr>
          </a:p>
        </p:txBody>
      </p:sp>
      <p:sp>
        <p:nvSpPr>
          <p:cNvPr id="67" name="Rectangle 1"/>
          <p:cNvSpPr/>
          <p:nvPr/>
        </p:nvSpPr>
        <p:spPr>
          <a:xfrm>
            <a:off x="4414680" y="104760"/>
            <a:ext cx="5292720" cy="2471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3600" strike="noStrike" u="none">
                <a:solidFill>
                  <a:srgbClr val="ffff00"/>
                </a:solidFill>
                <a:effectLst/>
                <a:uFillTx/>
                <a:latin typeface="Calibri"/>
                <a:ea typeface="Calibri"/>
              </a:rPr>
              <a:t>Les objectifs…. </a:t>
            </a:r>
            <a:endParaRPr b="0" lang="en-US" sz="3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Vérifier le bon développement de la motricité au cours de la croissance </a:t>
            </a:r>
            <a:endParaRPr b="0" lang="en-US" sz="2400" strike="noStrike" u="none">
              <a:solidFill>
                <a:srgbClr val="ffff00"/>
              </a:solidFill>
              <a:effectLst/>
              <a:uFillTx/>
              <a:latin typeface="Times New Roman"/>
            </a:endParaRPr>
          </a:p>
        </p:txBody>
      </p:sp>
    </p:spTree>
  </p:cSld>
  <p:transition spd="med">
    <p:zoom dir="out"/>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 name="Image 1" descr=""/>
          <p:cNvPicPr/>
          <p:nvPr/>
        </p:nvPicPr>
        <p:blipFill>
          <a:blip r:embed="rId1"/>
          <a:srcRect l="6342" t="0" r="0" b="2904"/>
          <a:stretch/>
        </p:blipFill>
        <p:spPr>
          <a:xfrm>
            <a:off x="230040" y="333360"/>
            <a:ext cx="3773520" cy="5527800"/>
          </a:xfrm>
          <a:prstGeom prst="rect">
            <a:avLst/>
          </a:prstGeom>
          <a:noFill/>
          <a:ln w="19080">
            <a:solidFill>
              <a:srgbClr val="ffff00"/>
            </a:solidFill>
            <a:miter/>
          </a:ln>
        </p:spPr>
      </p:pic>
      <p:pic>
        <p:nvPicPr>
          <p:cNvPr id="69" name="Image 3" descr=""/>
          <p:cNvPicPr/>
          <p:nvPr/>
        </p:nvPicPr>
        <p:blipFill>
          <a:blip r:embed="rId2"/>
          <a:srcRect l="14034" t="0" r="2289" b="29871"/>
          <a:stretch/>
        </p:blipFill>
        <p:spPr>
          <a:xfrm>
            <a:off x="4427640" y="1698480"/>
            <a:ext cx="4275000" cy="5061240"/>
          </a:xfrm>
          <a:prstGeom prst="rect">
            <a:avLst/>
          </a:prstGeom>
          <a:noFill/>
          <a:ln w="19080">
            <a:solidFill>
              <a:srgbClr val="ffff00"/>
            </a:solidFill>
            <a:miter/>
          </a:ln>
        </p:spPr>
      </p:pic>
      <p:sp>
        <p:nvSpPr>
          <p:cNvPr id="70" name="ZoneTexte 4"/>
          <p:cNvSpPr/>
          <p:nvPr/>
        </p:nvSpPr>
        <p:spPr>
          <a:xfrm>
            <a:off x="1779120" y="6053040"/>
            <a:ext cx="79020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1994</a:t>
            </a:r>
            <a:endParaRPr b="0" lang="en-US" sz="2400" strike="noStrike" u="none">
              <a:solidFill>
                <a:srgbClr val="ffff00"/>
              </a:solidFill>
              <a:effectLst/>
              <a:uFillTx/>
              <a:latin typeface="Times New Roman"/>
            </a:endParaRPr>
          </a:p>
        </p:txBody>
      </p:sp>
      <p:sp>
        <p:nvSpPr>
          <p:cNvPr id="71" name="Rectangle 4"/>
          <p:cNvSpPr/>
          <p:nvPr/>
        </p:nvSpPr>
        <p:spPr>
          <a:xfrm>
            <a:off x="4211640" y="115920"/>
            <a:ext cx="5292720" cy="2136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00"/>
                </a:solidFill>
                <a:effectLst/>
                <a:uFillTx/>
                <a:latin typeface="Calibri"/>
                <a:ea typeface="Calibri"/>
              </a:rPr>
              <a:t>Les objectifs….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Vérifier le bon développement de la motricité au cours de la croissance </a:t>
            </a:r>
            <a:endParaRPr b="0" lang="en-US" sz="2400" strike="noStrike" u="none">
              <a:solidFill>
                <a:srgbClr val="ffff00"/>
              </a:solidFill>
              <a:effectLst/>
              <a:uFillTx/>
              <a:latin typeface="Times New Roman"/>
            </a:endParaRPr>
          </a:p>
        </p:txBody>
      </p:sp>
    </p:spTree>
  </p:cSld>
  <p:transition spd="med">
    <p:zoom dir="out"/>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Image 1" descr=""/>
          <p:cNvPicPr/>
          <p:nvPr/>
        </p:nvPicPr>
        <p:blipFill>
          <a:blip r:embed="rId1"/>
          <a:stretch/>
        </p:blipFill>
        <p:spPr>
          <a:xfrm>
            <a:off x="108000" y="915840"/>
            <a:ext cx="4186080" cy="5916600"/>
          </a:xfrm>
          <a:prstGeom prst="rect">
            <a:avLst/>
          </a:prstGeom>
          <a:noFill/>
          <a:ln w="19080">
            <a:solidFill>
              <a:srgbClr val="ffff00"/>
            </a:solidFill>
            <a:miter/>
          </a:ln>
        </p:spPr>
      </p:pic>
      <p:sp>
        <p:nvSpPr>
          <p:cNvPr id="73" name="ZoneTexte 2"/>
          <p:cNvSpPr/>
          <p:nvPr/>
        </p:nvSpPr>
        <p:spPr>
          <a:xfrm>
            <a:off x="1393560" y="4941720"/>
            <a:ext cx="1832400" cy="459720"/>
          </a:xfrm>
          <a:prstGeom prst="rect">
            <a:avLst/>
          </a:prstGeom>
          <a:solidFill>
            <a:srgbClr val="3333cc"/>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2010-2011</a:t>
            </a:r>
            <a:endParaRPr b="0" lang="en-US" sz="2400" strike="noStrike" u="none">
              <a:solidFill>
                <a:srgbClr val="ffff00"/>
              </a:solidFill>
              <a:effectLst/>
              <a:uFillTx/>
              <a:latin typeface="Times New Roman"/>
            </a:endParaRPr>
          </a:p>
        </p:txBody>
      </p:sp>
      <p:pic>
        <p:nvPicPr>
          <p:cNvPr id="74" name="Image 1" descr=""/>
          <p:cNvPicPr/>
          <p:nvPr/>
        </p:nvPicPr>
        <p:blipFill>
          <a:blip r:embed="rId2"/>
          <a:stretch/>
        </p:blipFill>
        <p:spPr>
          <a:xfrm>
            <a:off x="4788000" y="941400"/>
            <a:ext cx="4206600" cy="5942160"/>
          </a:xfrm>
          <a:prstGeom prst="rect">
            <a:avLst/>
          </a:prstGeom>
          <a:noFill/>
          <a:ln w="0">
            <a:noFill/>
          </a:ln>
        </p:spPr>
      </p:pic>
      <p:sp>
        <p:nvSpPr>
          <p:cNvPr id="75" name="ZoneTexte 4"/>
          <p:cNvSpPr/>
          <p:nvPr/>
        </p:nvSpPr>
        <p:spPr>
          <a:xfrm>
            <a:off x="6300720" y="2924280"/>
            <a:ext cx="1871640" cy="1739160"/>
          </a:xfrm>
          <a:prstGeom prst="rect">
            <a:avLst/>
          </a:prstGeom>
          <a:solidFill>
            <a:srgbClr val="ffffff"/>
          </a:solid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900" strike="noStrike" u="none">
                <a:solidFill>
                  <a:srgbClr val="16165d"/>
                </a:solidFill>
                <a:effectLst/>
                <a:uFillTx/>
                <a:latin typeface="Calibri"/>
                <a:ea typeface="Calibri"/>
              </a:rPr>
              <a:t>MESURES ET </a:t>
            </a:r>
            <a:endParaRPr b="0" lang="en-US" sz="19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900" strike="noStrike" u="none">
                <a:solidFill>
                  <a:srgbClr val="16165d"/>
                </a:solidFill>
                <a:effectLst/>
                <a:uFillTx/>
                <a:latin typeface="Calibri"/>
                <a:ea typeface="Calibri"/>
              </a:rPr>
              <a:t>TESTS </a:t>
            </a:r>
            <a:endParaRPr b="0" lang="en-US" sz="19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900" strike="noStrike" u="none">
                <a:solidFill>
                  <a:srgbClr val="16165d"/>
                </a:solidFill>
                <a:effectLst/>
                <a:uFillTx/>
                <a:latin typeface="Calibri"/>
                <a:ea typeface="Calibri"/>
              </a:rPr>
              <a:t>D’EVALUATION</a:t>
            </a:r>
            <a:endParaRPr b="0" lang="en-US" sz="19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none">
                <a:solidFill>
                  <a:srgbClr val="16165d"/>
                </a:solidFill>
                <a:effectLst/>
                <a:uFillTx/>
                <a:latin typeface="Calibri"/>
                <a:ea typeface="Calibri"/>
              </a:rPr>
              <a:t>Georges CAZORLA </a:t>
            </a:r>
            <a:endParaRPr b="0" lang="en-US" sz="1600" strike="noStrike" u="none">
              <a:solidFill>
                <a:srgbClr val="ffff00"/>
              </a:solidFill>
              <a:effectLst/>
              <a:uFillTx/>
              <a:latin typeface="Times New Roman"/>
            </a:endParaRPr>
          </a:p>
        </p:txBody>
      </p:sp>
      <p:sp>
        <p:nvSpPr>
          <p:cNvPr id="76" name="ZoneTexte 2"/>
          <p:cNvSpPr/>
          <p:nvPr/>
        </p:nvSpPr>
        <p:spPr>
          <a:xfrm>
            <a:off x="6218280" y="4941720"/>
            <a:ext cx="1832400" cy="459720"/>
          </a:xfrm>
          <a:prstGeom prst="rect">
            <a:avLst/>
          </a:prstGeom>
          <a:solidFill>
            <a:srgbClr val="3333cc"/>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2010-2011</a:t>
            </a:r>
            <a:endParaRPr b="0" lang="en-US" sz="2400" strike="noStrike" u="none">
              <a:solidFill>
                <a:srgbClr val="ffff00"/>
              </a:solidFill>
              <a:effectLst/>
              <a:uFillTx/>
              <a:latin typeface="Times New Roman"/>
            </a:endParaRPr>
          </a:p>
        </p:txBody>
      </p:sp>
      <p:sp>
        <p:nvSpPr>
          <p:cNvPr id="77" name="Rectangle 1"/>
          <p:cNvSpPr/>
          <p:nvPr/>
        </p:nvSpPr>
        <p:spPr>
          <a:xfrm>
            <a:off x="0" y="115920"/>
            <a:ext cx="9109080" cy="8866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00"/>
                </a:solidFill>
                <a:effectLst/>
                <a:uFillTx/>
                <a:latin typeface="Calibri"/>
                <a:ea typeface="Calibri"/>
              </a:rPr>
              <a:t>Les objectifs…. </a:t>
            </a:r>
            <a:r>
              <a:rPr b="1" lang="fr-FR" sz="2400" strike="noStrike" u="none">
                <a:solidFill>
                  <a:srgbClr val="ffffff"/>
                </a:solidFill>
                <a:effectLst/>
                <a:uFillTx/>
                <a:latin typeface="Calibri"/>
                <a:ea typeface="Calibri"/>
              </a:rPr>
              <a:t>Evaluer le niveau de condition physique lié à la santé </a:t>
            </a:r>
            <a:endParaRPr b="0" lang="en-US" sz="2400" strike="noStrike" u="none">
              <a:solidFill>
                <a:srgbClr val="ffff00"/>
              </a:solidFill>
              <a:effectLst/>
              <a:uFillTx/>
              <a:latin typeface="Times New Roman"/>
            </a:endParaRPr>
          </a:p>
        </p:txBody>
      </p:sp>
    </p:spTree>
  </p:cSld>
  <p:transition spd="med">
    <p:zoom dir="out"/>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8" name="Group 1"/>
          <p:cNvGrpSpPr/>
          <p:nvPr/>
        </p:nvGrpSpPr>
        <p:grpSpPr>
          <a:xfrm>
            <a:off x="539640" y="88920"/>
            <a:ext cx="8210520" cy="6114600"/>
            <a:chOff x="539640" y="88920"/>
            <a:chExt cx="8210520" cy="6114600"/>
          </a:xfrm>
        </p:grpSpPr>
        <p:sp>
          <p:nvSpPr>
            <p:cNvPr id="79" name="AutoShape 19"/>
            <p:cNvSpPr/>
            <p:nvPr/>
          </p:nvSpPr>
          <p:spPr>
            <a:xfrm>
              <a:off x="1009440" y="88920"/>
              <a:ext cx="6875640" cy="5919840"/>
            </a:xfrm>
            <a:prstGeom prst="rect">
              <a:avLst/>
            </a:prstGeom>
            <a:noFill/>
            <a:ln w="9360">
              <a:solidFill>
                <a:srgbClr val="0000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0" name="Text Box 18"/>
            <p:cNvSpPr/>
            <p:nvPr/>
          </p:nvSpPr>
          <p:spPr>
            <a:xfrm>
              <a:off x="3146040" y="1029960"/>
              <a:ext cx="2219040" cy="546120"/>
            </a:xfrm>
            <a:prstGeom prst="rect">
              <a:avLst/>
            </a:prstGeom>
            <a:solidFill>
              <a:srgbClr val="00cc99"/>
            </a:solidFill>
            <a:ln w="28440">
              <a:solidFill>
                <a:srgbClr val="ffff00"/>
              </a:solidFill>
              <a:miter/>
            </a:ln>
          </p:spPr>
          <p:style>
            <a:lnRef idx="0"/>
            <a:fillRef idx="0"/>
            <a:effectRef idx="0"/>
            <a:fontRef idx="minor"/>
          </p:style>
          <p:txBody>
            <a:bodyPr lIns="58680" rIns="58680" tIns="29160" bIns="2916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Times New Roman"/>
                </a:rPr>
                <a:t>Condition Physique</a:t>
              </a:r>
              <a:endParaRPr b="0" lang="en-US" sz="1600" strike="noStrike" u="none">
                <a:solidFill>
                  <a:srgbClr val="ffff00"/>
                </a:solidFill>
                <a:effectLst/>
                <a:uFillTx/>
                <a:latin typeface="Times New Roman"/>
              </a:endParaRPr>
            </a:p>
          </p:txBody>
        </p:sp>
        <p:sp>
          <p:nvSpPr>
            <p:cNvPr id="81" name="Line 17"/>
            <p:cNvSpPr/>
            <p:nvPr/>
          </p:nvSpPr>
          <p:spPr>
            <a:xfrm flipH="1">
              <a:off x="2947320" y="1375200"/>
              <a:ext cx="585720" cy="3445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82" name="Line 16"/>
            <p:cNvSpPr/>
            <p:nvPr/>
          </p:nvSpPr>
          <p:spPr>
            <a:xfrm>
              <a:off x="4880520" y="1375200"/>
              <a:ext cx="644400" cy="2869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83" name="Text Box 15"/>
            <p:cNvSpPr/>
            <p:nvPr/>
          </p:nvSpPr>
          <p:spPr>
            <a:xfrm>
              <a:off x="2352600" y="1719720"/>
              <a:ext cx="1474200" cy="485640"/>
            </a:xfrm>
            <a:prstGeom prst="rect">
              <a:avLst/>
            </a:prstGeom>
            <a:solidFill>
              <a:srgbClr val="00cc99"/>
            </a:solidFill>
            <a:ln w="28440">
              <a:solidFill>
                <a:srgbClr val="ffff00"/>
              </a:solidFill>
              <a:miter/>
            </a:ln>
          </p:spPr>
          <p:style>
            <a:lnRef idx="0"/>
            <a:fillRef idx="0"/>
            <a:effectRef idx="0"/>
            <a:fontRef idx="minor"/>
          </p:style>
          <p:txBody>
            <a:bodyPr lIns="58680" rIns="58680" tIns="29160" bIns="2916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Dimensions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objectives</a:t>
              </a:r>
              <a:endParaRPr b="0" lang="en-US" sz="1400" strike="noStrike" u="none">
                <a:solidFill>
                  <a:srgbClr val="ffff00"/>
                </a:solidFill>
                <a:effectLst/>
                <a:uFillTx/>
                <a:latin typeface="Times New Roman"/>
              </a:endParaRPr>
            </a:p>
          </p:txBody>
        </p:sp>
        <p:sp>
          <p:nvSpPr>
            <p:cNvPr id="84" name="Text Box 14"/>
            <p:cNvSpPr/>
            <p:nvPr/>
          </p:nvSpPr>
          <p:spPr>
            <a:xfrm>
              <a:off x="5524920" y="1662120"/>
              <a:ext cx="1171440" cy="485640"/>
            </a:xfrm>
            <a:prstGeom prst="rect">
              <a:avLst/>
            </a:prstGeom>
            <a:solidFill>
              <a:srgbClr val="00cc99"/>
            </a:solidFill>
            <a:ln w="28440">
              <a:solidFill>
                <a:srgbClr val="ffff00"/>
              </a:solidFill>
              <a:miter/>
            </a:ln>
          </p:spPr>
          <p:style>
            <a:lnRef idx="0"/>
            <a:fillRef idx="0"/>
            <a:effectRef idx="0"/>
            <a:fontRef idx="minor"/>
          </p:style>
          <p:txBody>
            <a:bodyPr lIns="58680" rIns="58680" tIns="29160" bIns="2916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Dimensions</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subjectives</a:t>
              </a:r>
              <a:endParaRPr b="0" lang="en-US" sz="1400" strike="noStrike" u="none">
                <a:solidFill>
                  <a:srgbClr val="ffff00"/>
                </a:solidFill>
                <a:effectLst/>
                <a:uFillTx/>
                <a:latin typeface="Times New Roman"/>
              </a:endParaRPr>
            </a:p>
          </p:txBody>
        </p:sp>
        <p:sp>
          <p:nvSpPr>
            <p:cNvPr id="85" name="Line 13"/>
            <p:cNvSpPr/>
            <p:nvPr/>
          </p:nvSpPr>
          <p:spPr>
            <a:xfrm flipH="1">
              <a:off x="2186640" y="2237040"/>
              <a:ext cx="644400" cy="14256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86" name="Line 12"/>
            <p:cNvSpPr/>
            <p:nvPr/>
          </p:nvSpPr>
          <p:spPr>
            <a:xfrm>
              <a:off x="3241080" y="2237040"/>
              <a:ext cx="755640" cy="114840"/>
            </a:xfrm>
            <a:prstGeom prst="line">
              <a:avLst/>
            </a:prstGeom>
            <a:ln w="28440">
              <a:solidFill>
                <a:srgbClr val="ffff00"/>
              </a:solidFill>
              <a:miter/>
              <a:tailEnd len="sm" type="triangle" w="sm"/>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87" name="Text Box 11"/>
            <p:cNvSpPr/>
            <p:nvPr/>
          </p:nvSpPr>
          <p:spPr>
            <a:xfrm>
              <a:off x="1115640" y="2409480"/>
              <a:ext cx="2184120" cy="485640"/>
            </a:xfrm>
            <a:prstGeom prst="rect">
              <a:avLst/>
            </a:prstGeom>
            <a:solidFill>
              <a:srgbClr val="00ffff"/>
            </a:solidFill>
            <a:ln w="28440">
              <a:solidFill>
                <a:srgbClr val="ffff00"/>
              </a:solidFill>
              <a:miter/>
            </a:ln>
          </p:spPr>
          <p:style>
            <a:lnRef idx="0"/>
            <a:fillRef idx="0"/>
            <a:effectRef idx="0"/>
            <a:fontRef idx="minor"/>
          </p:style>
          <p:txBody>
            <a:bodyPr lIns="58680" rIns="58680" tIns="29160" bIns="2916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Liées à la performance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Pour l’UNSS</a:t>
              </a:r>
              <a:endParaRPr b="0" lang="en-US" sz="1400" strike="noStrike" u="none">
                <a:solidFill>
                  <a:srgbClr val="ffff00"/>
                </a:solidFill>
                <a:effectLst/>
                <a:uFillTx/>
                <a:latin typeface="Times New Roman"/>
              </a:endParaRPr>
            </a:p>
          </p:txBody>
        </p:sp>
        <p:sp>
          <p:nvSpPr>
            <p:cNvPr id="88" name="Text Box 10"/>
            <p:cNvSpPr/>
            <p:nvPr/>
          </p:nvSpPr>
          <p:spPr>
            <a:xfrm>
              <a:off x="3562560" y="2379960"/>
              <a:ext cx="1903680" cy="485640"/>
            </a:xfrm>
            <a:prstGeom prst="rect">
              <a:avLst/>
            </a:prstGeom>
            <a:solidFill>
              <a:srgbClr val="0000ff"/>
            </a:solidFill>
            <a:ln w="28440">
              <a:solidFill>
                <a:srgbClr val="ffff00"/>
              </a:solidFill>
              <a:miter/>
            </a:ln>
          </p:spPr>
          <p:style>
            <a:lnRef idx="0"/>
            <a:fillRef idx="0"/>
            <a:effectRef idx="0"/>
            <a:fontRef idx="minor"/>
          </p:style>
          <p:txBody>
            <a:bodyPr lIns="58680" rIns="58680" tIns="29160" bIns="2916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Times New Roman"/>
                </a:rPr>
                <a:t>Liées à la santé</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Times New Roman"/>
                </a:rPr>
                <a:t>pour la Mutualité</a:t>
              </a:r>
              <a:endParaRPr b="0" lang="en-US" sz="1400" strike="noStrike" u="none">
                <a:solidFill>
                  <a:srgbClr val="ffff00"/>
                </a:solidFill>
                <a:effectLst/>
                <a:uFillTx/>
                <a:latin typeface="Times New Roman"/>
              </a:endParaRPr>
            </a:p>
          </p:txBody>
        </p:sp>
        <p:sp>
          <p:nvSpPr>
            <p:cNvPr id="89" name="Text Box 9"/>
            <p:cNvSpPr/>
            <p:nvPr/>
          </p:nvSpPr>
          <p:spPr>
            <a:xfrm>
              <a:off x="539640" y="3041280"/>
              <a:ext cx="3609360" cy="3162240"/>
            </a:xfrm>
            <a:prstGeom prst="rect">
              <a:avLst/>
            </a:prstGeom>
            <a:solidFill>
              <a:srgbClr val="00ffff"/>
            </a:solidFill>
            <a:ln w="28440">
              <a:solidFill>
                <a:srgbClr val="000080"/>
              </a:solidFill>
              <a:miter/>
            </a:ln>
          </p:spPr>
          <p:style>
            <a:lnRef idx="0"/>
            <a:fillRef idx="0"/>
            <a:effectRef idx="0"/>
            <a:fontRef idx="minor"/>
          </p:style>
          <p:txBody>
            <a:bodyPr lIns="58680" rIns="5868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000000"/>
                  </a:solidFill>
                  <a:effectLst/>
                  <a:uFillTx/>
                  <a:latin typeface="Arial"/>
                  <a:ea typeface="Times New Roman"/>
                </a:rPr>
                <a:t>Agilité,</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000000"/>
                  </a:solidFill>
                  <a:effectLst/>
                  <a:uFillTx/>
                  <a:latin typeface="Arial"/>
                  <a:ea typeface="Times New Roman"/>
                </a:rPr>
                <a:t>Equilibre,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000000"/>
                  </a:solidFill>
                  <a:effectLst/>
                  <a:uFillTx/>
                  <a:latin typeface="Arial"/>
                  <a:ea typeface="Times New Roman"/>
                </a:rPr>
                <a:t>Coordination : </a:t>
              </a:r>
              <a:r>
                <a:rPr b="1" i="1" lang="fr-FR" sz="1600" strike="noStrike" u="sng">
                  <a:solidFill>
                    <a:srgbClr val="262699"/>
                  </a:solidFill>
                  <a:effectLst/>
                  <a:uFillTx/>
                  <a:latin typeface="Arial"/>
                  <a:ea typeface="Times New Roman"/>
                </a:rPr>
                <a:t>test 10 x 5m</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000000"/>
                  </a:solidFill>
                  <a:effectLst/>
                  <a:uFillTx/>
                  <a:latin typeface="Arial"/>
                  <a:ea typeface="Times New Roman"/>
                </a:rPr>
                <a:t>Vitesse : </a:t>
              </a:r>
              <a:r>
                <a:rPr b="1" i="1" lang="fr-FR" sz="1600" strike="noStrike" u="sng">
                  <a:solidFill>
                    <a:srgbClr val="262699"/>
                  </a:solidFill>
                  <a:effectLst/>
                  <a:uFillTx/>
                  <a:latin typeface="Arial"/>
                  <a:ea typeface="Times New Roman"/>
                </a:rPr>
                <a:t>test de 50m sprint</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000000"/>
                  </a:solidFill>
                  <a:effectLst/>
                  <a:uFillTx/>
                  <a:latin typeface="Arial"/>
                  <a:ea typeface="Times New Roman"/>
                </a:rPr>
                <a:t>Force,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000000"/>
                  </a:solidFill>
                  <a:effectLst/>
                  <a:uFillTx/>
                  <a:latin typeface="Arial"/>
                  <a:ea typeface="Times New Roman"/>
                </a:rPr>
                <a:t>Puissance,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sng">
                  <a:solidFill>
                    <a:srgbClr val="000000"/>
                  </a:solidFill>
                  <a:effectLst/>
                  <a:uFillTx/>
                  <a:latin typeface="Arial"/>
                  <a:ea typeface="Times New Roman"/>
                </a:rPr>
                <a:t>Endurance musculaire,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sng">
                  <a:solidFill>
                    <a:srgbClr val="000000"/>
                  </a:solidFill>
                  <a:effectLst/>
                  <a:uFillTx/>
                  <a:latin typeface="Arial"/>
                  <a:ea typeface="Times New Roman"/>
                </a:rPr>
                <a:t>Endurance cardiorespiratoire,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sng">
                  <a:solidFill>
                    <a:srgbClr val="000000"/>
                  </a:solidFill>
                  <a:effectLst/>
                  <a:uFillTx/>
                  <a:latin typeface="Arial"/>
                  <a:ea typeface="Times New Roman"/>
                </a:rPr>
                <a:t>Consommation maximale d’oxygène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000000"/>
                  </a:solidFill>
                  <a:effectLst/>
                  <a:uFillTx/>
                  <a:latin typeface="Arial"/>
                  <a:ea typeface="Times New Roman"/>
                </a:rPr>
                <a:t>Capacité anaérobie (sans oxygène),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sng">
                  <a:solidFill>
                    <a:srgbClr val="000000"/>
                  </a:solidFill>
                  <a:effectLst/>
                  <a:uFillTx/>
                  <a:latin typeface="Arial"/>
                  <a:ea typeface="Times New Roman"/>
                </a:rPr>
                <a:t>Souplesse </a:t>
              </a:r>
              <a:endParaRPr b="0" lang="en-US" sz="1600" strike="noStrike" u="none">
                <a:solidFill>
                  <a:srgbClr val="ffff00"/>
                </a:solidFill>
                <a:effectLst/>
                <a:uFillTx/>
                <a:latin typeface="Times New Roman"/>
              </a:endParaRPr>
            </a:p>
          </p:txBody>
        </p:sp>
        <p:sp>
          <p:nvSpPr>
            <p:cNvPr id="90" name="Text Box 8"/>
            <p:cNvSpPr/>
            <p:nvPr/>
          </p:nvSpPr>
          <p:spPr>
            <a:xfrm>
              <a:off x="4254480" y="3041280"/>
              <a:ext cx="4495680" cy="3162240"/>
            </a:xfrm>
            <a:prstGeom prst="rect">
              <a:avLst/>
            </a:prstGeom>
            <a:solidFill>
              <a:srgbClr val="0000ff"/>
            </a:solidFill>
            <a:ln w="28440">
              <a:solidFill>
                <a:srgbClr val="ff0000"/>
              </a:solidFill>
              <a:miter/>
            </a:ln>
          </p:spPr>
          <p:style>
            <a:lnRef idx="0"/>
            <a:fillRef idx="0"/>
            <a:effectRef idx="0"/>
            <a:fontRef idx="minor"/>
          </p:style>
          <p:txBody>
            <a:bodyPr lIns="58680" rIns="5868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500" strike="noStrike" u="none">
                  <a:solidFill>
                    <a:srgbClr val="ffffff"/>
                  </a:solidFill>
                  <a:effectLst/>
                  <a:uFillTx/>
                  <a:latin typeface="Arial"/>
                  <a:ea typeface="Times New Roman"/>
                </a:rPr>
                <a:t>Capacité cardio-respiratoire : transport O</a:t>
              </a:r>
              <a:r>
                <a:rPr b="1" lang="fr-FR" sz="1500" strike="noStrike" u="none" baseline="-30000">
                  <a:solidFill>
                    <a:srgbClr val="ffffff"/>
                  </a:solidFill>
                  <a:effectLst/>
                  <a:uFillTx/>
                  <a:latin typeface="Arial"/>
                  <a:ea typeface="Times New Roman"/>
                </a:rPr>
                <a:t>2</a:t>
              </a:r>
              <a:r>
                <a:rPr b="1" lang="fr-FR" sz="1500" strike="noStrike" u="none">
                  <a:solidFill>
                    <a:srgbClr val="ffffff"/>
                  </a:solidFill>
                  <a:effectLst/>
                  <a:uFillTx/>
                  <a:latin typeface="Arial"/>
                  <a:ea typeface="Times New Roman"/>
                </a:rPr>
                <a:t>, CO</a:t>
              </a:r>
              <a:r>
                <a:rPr b="1" lang="fr-FR" sz="1500" strike="noStrike" u="none" baseline="-30000">
                  <a:solidFill>
                    <a:srgbClr val="ffffff"/>
                  </a:solidFill>
                  <a:effectLst/>
                  <a:uFillTx/>
                  <a:latin typeface="Arial"/>
                  <a:ea typeface="Times New Roman"/>
                </a:rPr>
                <a:t>2</a:t>
              </a:r>
              <a:r>
                <a:rPr b="1" lang="fr-FR" sz="1500" strike="noStrike" u="none">
                  <a:solidFill>
                    <a:srgbClr val="ffffff"/>
                  </a:solidFill>
                  <a:effectLst/>
                  <a:uFillTx/>
                  <a:latin typeface="Arial"/>
                  <a:ea typeface="Times New Roman"/>
                </a:rPr>
                <a:t>, et qualité d’utilisation de l’O</a:t>
              </a:r>
              <a:r>
                <a:rPr b="1" lang="fr-FR" sz="1500" strike="noStrike" u="none" baseline="-30000">
                  <a:solidFill>
                    <a:srgbClr val="ffffff"/>
                  </a:solidFill>
                  <a:effectLst/>
                  <a:uFillTx/>
                  <a:latin typeface="Arial"/>
                  <a:ea typeface="Times New Roman"/>
                </a:rPr>
                <a:t>2 </a:t>
              </a:r>
              <a:r>
                <a:rPr b="1" lang="fr-FR" sz="1500" strike="noStrike" u="none">
                  <a:solidFill>
                    <a:srgbClr val="ffffff"/>
                  </a:solidFill>
                  <a:effectLst/>
                  <a:uFillTx/>
                  <a:latin typeface="Arial"/>
                  <a:ea typeface="Times New Roman"/>
                </a:rPr>
                <a:t>par les muscles: </a:t>
              </a:r>
              <a:r>
                <a:rPr b="1" i="1" lang="fr-FR" sz="1500" strike="noStrike" u="sng">
                  <a:solidFill>
                    <a:srgbClr val="ffffff"/>
                  </a:solidFill>
                  <a:effectLst/>
                  <a:uFillTx/>
                  <a:latin typeface="Arial"/>
                  <a:ea typeface="Times New Roman"/>
                </a:rPr>
                <a:t>Test L.Léger</a:t>
              </a:r>
              <a:endParaRPr b="0" lang="en-US" sz="1500" strike="noStrike" u="none">
                <a:solidFill>
                  <a:srgbClr val="ffff00"/>
                </a:solidFill>
                <a:effectLst/>
                <a:uFillTx/>
                <a:latin typeface="Times New Roman"/>
              </a:endParaRPr>
            </a:p>
            <a:p>
              <a:pP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500" strike="noStrike" u="none">
                  <a:solidFill>
                    <a:srgbClr val="ffffff"/>
                  </a:solidFill>
                  <a:effectLst/>
                  <a:uFillTx/>
                  <a:latin typeface="Arial"/>
                  <a:ea typeface="Times New Roman"/>
                </a:rPr>
                <a:t> Composition corporelle : quantité de graisse normale, insuffisante ou en excès. </a:t>
              </a:r>
              <a:r>
                <a:rPr b="1" i="1" lang="fr-FR" sz="1500" strike="noStrike" u="sng">
                  <a:solidFill>
                    <a:srgbClr val="ffffff"/>
                  </a:solidFill>
                  <a:effectLst/>
                  <a:uFillTx/>
                  <a:latin typeface="Arial"/>
                  <a:ea typeface="Times New Roman"/>
                </a:rPr>
                <a:t>IMC</a:t>
              </a:r>
              <a:endParaRPr b="0" lang="en-US" sz="1500" strike="noStrike" u="none">
                <a:solidFill>
                  <a:srgbClr val="ffff00"/>
                </a:solidFill>
                <a:effectLst/>
                <a:uFillTx/>
                <a:latin typeface="Times New Roman"/>
              </a:endParaRPr>
            </a:p>
            <a:p>
              <a:pP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500" strike="noStrike" u="none">
                  <a:solidFill>
                    <a:srgbClr val="ffffff"/>
                  </a:solidFill>
                  <a:effectLst/>
                  <a:uFillTx/>
                  <a:latin typeface="Arial"/>
                  <a:ea typeface="Times New Roman"/>
                </a:rPr>
                <a:t> Force et endurance musculaires :</a:t>
              </a:r>
              <a:r>
                <a:rPr b="1" i="1" lang="fr-FR" sz="1500" strike="noStrike" u="sng">
                  <a:solidFill>
                    <a:srgbClr val="ffffff"/>
                  </a:solidFill>
                  <a:effectLst/>
                  <a:uFillTx/>
                  <a:latin typeface="Arial"/>
                  <a:ea typeface="Times New Roman"/>
                </a:rPr>
                <a:t>Test abdominaux.</a:t>
              </a:r>
              <a:endParaRPr b="0" lang="en-US" sz="1500" strike="noStrike" u="none">
                <a:solidFill>
                  <a:srgbClr val="ffff00"/>
                </a:solidFill>
                <a:effectLst/>
                <a:uFillTx/>
                <a:latin typeface="Times New Roman"/>
              </a:endParaRPr>
            </a:p>
            <a:p>
              <a:pP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ffff00"/>
                </a:solidFill>
                <a:effectLst/>
                <a:uFillTx/>
                <a:latin typeface="Times New Roman"/>
              </a:endParaRPr>
            </a:p>
            <a:p>
              <a:pP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500" strike="noStrike" u="none">
                  <a:solidFill>
                    <a:srgbClr val="ffffff"/>
                  </a:solidFill>
                  <a:effectLst/>
                  <a:uFillTx/>
                  <a:latin typeface="Arial"/>
                  <a:ea typeface="Times New Roman"/>
                </a:rPr>
                <a:t> Amplitude articulaire et étirement musculaire : </a:t>
              </a:r>
              <a:r>
                <a:rPr b="1" i="1" lang="fr-FR" sz="1500" strike="noStrike" u="sng">
                  <a:solidFill>
                    <a:srgbClr val="ffffff"/>
                  </a:solidFill>
                  <a:effectLst/>
                  <a:uFillTx/>
                  <a:latin typeface="Arial"/>
                  <a:ea typeface="Times New Roman"/>
                </a:rPr>
                <a:t>Test de souplesse</a:t>
              </a:r>
              <a:endParaRPr b="0" lang="en-US" sz="15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500" strike="noStrike" u="none">
                <a:solidFill>
                  <a:srgbClr val="ffff00"/>
                </a:solidFill>
                <a:effectLst/>
                <a:uFillTx/>
                <a:latin typeface="Times New Roman"/>
              </a:endParaRPr>
            </a:p>
          </p:txBody>
        </p:sp>
        <p:sp>
          <p:nvSpPr>
            <p:cNvPr id="91" name="Line 7"/>
            <p:cNvSpPr/>
            <p:nvPr/>
          </p:nvSpPr>
          <p:spPr>
            <a:xfrm>
              <a:off x="2186640" y="2850840"/>
              <a:ext cx="0" cy="190440"/>
            </a:xfrm>
            <a:prstGeom prst="line">
              <a:avLst/>
            </a:prstGeom>
            <a:ln w="28440">
              <a:solidFill>
                <a:srgbClr val="ffff00"/>
              </a:solidFill>
              <a:miter/>
              <a:tailEnd len="sm" type="triangle" w="sm"/>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92" name="Line 6"/>
            <p:cNvSpPr/>
            <p:nvPr/>
          </p:nvSpPr>
          <p:spPr>
            <a:xfrm>
              <a:off x="4834080" y="2824560"/>
              <a:ext cx="360" cy="216720"/>
            </a:xfrm>
            <a:prstGeom prst="line">
              <a:avLst/>
            </a:prstGeom>
            <a:ln w="28440">
              <a:solidFill>
                <a:srgbClr val="ffff00"/>
              </a:solidFill>
              <a:miter/>
              <a:tailEnd len="sm" type="triangle" w="sm"/>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93" name="Text Box 5"/>
            <p:cNvSpPr/>
            <p:nvPr/>
          </p:nvSpPr>
          <p:spPr>
            <a:xfrm>
              <a:off x="5524920" y="2352240"/>
              <a:ext cx="2360160" cy="485640"/>
            </a:xfrm>
            <a:prstGeom prst="rect">
              <a:avLst/>
            </a:prstGeom>
            <a:solidFill>
              <a:srgbClr val="00cc99"/>
            </a:solidFill>
            <a:ln w="28440">
              <a:solidFill>
                <a:srgbClr val="ffff00"/>
              </a:solidFill>
              <a:miter/>
            </a:ln>
          </p:spPr>
          <p:style>
            <a:lnRef idx="0"/>
            <a:fillRef idx="0"/>
            <a:effectRef idx="0"/>
            <a:fontRef idx="minor"/>
          </p:style>
          <p:txBody>
            <a:bodyPr lIns="58680" rIns="58680" tIns="29160" bIns="2916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Perception des facteurs</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de la condition physique</a:t>
              </a:r>
              <a:endParaRPr b="0" lang="en-US" sz="1400" strike="noStrike" u="none">
                <a:solidFill>
                  <a:srgbClr val="ffff00"/>
                </a:solidFill>
                <a:effectLst/>
                <a:uFillTx/>
                <a:latin typeface="Times New Roman"/>
              </a:endParaRPr>
            </a:p>
          </p:txBody>
        </p:sp>
        <p:sp>
          <p:nvSpPr>
            <p:cNvPr id="94" name="Line 4"/>
            <p:cNvSpPr/>
            <p:nvPr/>
          </p:nvSpPr>
          <p:spPr>
            <a:xfrm>
              <a:off x="5993640" y="2179440"/>
              <a:ext cx="0" cy="172440"/>
            </a:xfrm>
            <a:prstGeom prst="line">
              <a:avLst/>
            </a:prstGeom>
            <a:ln w="28440">
              <a:solidFill>
                <a:srgbClr val="ffff00"/>
              </a:solidFill>
              <a:miter/>
              <a:tailEnd len="sm" type="triangle" w="sm"/>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grpSp>
      <p:pic>
        <p:nvPicPr>
          <p:cNvPr id="95" name="Image 22" descr=""/>
          <p:cNvPicPr/>
          <p:nvPr/>
        </p:nvPicPr>
        <p:blipFill>
          <a:blip r:embed="rId1"/>
          <a:srcRect l="79713" t="40504" r="8222" b="49868"/>
          <a:stretch/>
        </p:blipFill>
        <p:spPr>
          <a:xfrm>
            <a:off x="7918560" y="6229440"/>
            <a:ext cx="1204920" cy="600120"/>
          </a:xfrm>
          <a:prstGeom prst="rect">
            <a:avLst/>
          </a:prstGeom>
          <a:noFill/>
          <a:ln w="0">
            <a:noFill/>
          </a:ln>
        </p:spPr>
      </p:pic>
      <p:pic>
        <p:nvPicPr>
          <p:cNvPr id="96" name="Image 24" descr=""/>
          <p:cNvPicPr/>
          <p:nvPr/>
        </p:nvPicPr>
        <p:blipFill>
          <a:blip r:embed="rId2"/>
          <a:srcRect l="14815" t="69417" r="71518" b="16901"/>
          <a:stretch/>
        </p:blipFill>
        <p:spPr>
          <a:xfrm>
            <a:off x="-17640" y="6165720"/>
            <a:ext cx="1060560" cy="654120"/>
          </a:xfrm>
          <a:prstGeom prst="rect">
            <a:avLst/>
          </a:prstGeom>
          <a:noFill/>
          <a:ln w="0">
            <a:noFill/>
          </a:ln>
        </p:spPr>
      </p:pic>
      <p:sp>
        <p:nvSpPr>
          <p:cNvPr id="97" name="Rectangle 1"/>
          <p:cNvSpPr/>
          <p:nvPr/>
        </p:nvSpPr>
        <p:spPr>
          <a:xfrm>
            <a:off x="-2144520" y="206280"/>
            <a:ext cx="1369368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00"/>
                </a:solidFill>
                <a:effectLst/>
                <a:uFillTx/>
                <a:latin typeface="Calibri"/>
                <a:ea typeface="Calibri"/>
              </a:rPr>
              <a:t>Les objectifs…. </a:t>
            </a:r>
            <a:r>
              <a:rPr b="1" lang="fr-FR" sz="2400" strike="noStrike" u="none">
                <a:solidFill>
                  <a:srgbClr val="ffffff"/>
                </a:solidFill>
                <a:effectLst/>
                <a:uFillTx/>
                <a:latin typeface="Calibri"/>
                <a:ea typeface="Calibri"/>
              </a:rPr>
              <a:t>Condition physique lié à la santé : Opération « Bouge »</a:t>
            </a:r>
            <a:endParaRPr b="0" lang="en-US" sz="2400" strike="noStrike" u="none">
              <a:solidFill>
                <a:srgbClr val="ffff00"/>
              </a:solidFill>
              <a:effectLst/>
              <a:uFillTx/>
              <a:latin typeface="Times New Roman"/>
            </a:endParaRPr>
          </a:p>
        </p:txBody>
      </p:sp>
    </p:spTree>
  </p:cSld>
  <p:transition spd="med">
    <p:zoom dir="out"/>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8" name="Picture 32" descr=""/>
          <p:cNvPicPr/>
          <p:nvPr/>
        </p:nvPicPr>
        <p:blipFill>
          <a:blip r:embed="rId1"/>
          <a:srcRect l="18354" t="17356" r="53823" b="9722"/>
          <a:stretch/>
        </p:blipFill>
        <p:spPr>
          <a:xfrm>
            <a:off x="3203640" y="27000"/>
            <a:ext cx="5905440" cy="6794640"/>
          </a:xfrm>
          <a:prstGeom prst="rect">
            <a:avLst/>
          </a:prstGeom>
          <a:noFill/>
          <a:ln w="0">
            <a:noFill/>
          </a:ln>
        </p:spPr>
      </p:pic>
      <p:sp>
        <p:nvSpPr>
          <p:cNvPr id="99" name="ZoneTexte 2"/>
          <p:cNvSpPr/>
          <p:nvPr/>
        </p:nvSpPr>
        <p:spPr>
          <a:xfrm>
            <a:off x="-406440" y="404640"/>
            <a:ext cx="4034160" cy="42400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00"/>
                </a:solidFill>
                <a:effectLst/>
                <a:uFillTx/>
                <a:latin typeface="Calibri"/>
                <a:ea typeface="Calibri"/>
              </a:rPr>
              <a:t>Les objectifs….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00"/>
                </a:solidFill>
                <a:effectLst/>
                <a:uFillTx/>
                <a:latin typeface="Calibri"/>
                <a:ea typeface="Calibri"/>
              </a:rPr>
              <a:t>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Participer à la mise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en œuvre de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politiques sportives</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fédérales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Aide aux choix</a:t>
            </a:r>
            <a:endParaRPr b="0" lang="en-US" sz="2000" strike="noStrike" u="none">
              <a:solidFill>
                <a:srgbClr val="ffff00"/>
              </a:solidFill>
              <a:effectLst/>
              <a:uFillTx/>
              <a:latin typeface="Times New Roman"/>
            </a:endParaRPr>
          </a:p>
          <a:p>
            <a:pPr>
              <a:lnSpc>
                <a:spcPct val="10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Détection des talents</a:t>
            </a:r>
            <a:endParaRPr b="0" lang="en-US" sz="2000" strike="noStrike" u="none">
              <a:solidFill>
                <a:srgbClr val="ffff00"/>
              </a:solidFill>
              <a:effectLst/>
              <a:uFillTx/>
              <a:latin typeface="Times New Roman"/>
            </a:endParaRPr>
          </a:p>
          <a:p>
            <a:pPr>
              <a:lnSpc>
                <a:spcPct val="10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Sélection</a:t>
            </a:r>
            <a:endParaRPr b="0" lang="en-US" sz="2000" strike="noStrike" u="none">
              <a:solidFill>
                <a:srgbClr val="ffff00"/>
              </a:solidFill>
              <a:effectLst/>
              <a:uFillTx/>
              <a:latin typeface="Times New Roman"/>
            </a:endParaRPr>
          </a:p>
          <a:p>
            <a:pPr>
              <a:lnSpc>
                <a:spcPct val="10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Contrôle et suivi de</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        l’entraînement</a:t>
            </a:r>
            <a:endParaRPr b="0" lang="en-US" sz="2000" strike="noStrike" u="none">
              <a:solidFill>
                <a:srgbClr val="ffff00"/>
              </a:solidFill>
              <a:effectLst/>
              <a:uFillTx/>
              <a:latin typeface="Times New Roman"/>
            </a:endParaRPr>
          </a:p>
        </p:txBody>
      </p:sp>
    </p:spTree>
  </p:cSld>
  <p:transition spd="med">
    <p:zoom dir="out"/>
  </p:transition>
  <p:timing>
    <p:tnLst>
      <p:par>
        <p:cTn id="196" dur="indefinite" restart="never" nodeType="tmRoot">
          <p:childTnLst>
            <p:seq>
              <p:cTn id="197" dur="indefinite" nodeType="mainSeq">
                <p:childTnLst>
                  <p:par>
                    <p:cTn id="198" nodeType="clickEffect" fill="hold">
                      <p:stCondLst>
                        <p:cond delay="indefinite"/>
                      </p:stCondLst>
                      <p:childTnLst>
                        <p:par>
                          <p:cTn id="199" nodeType="withEffect" fill="hold">
                            <p:stCondLst>
                              <p:cond delay="0"/>
                            </p:stCondLst>
                            <p:childTnLst>
                              <p:par>
                                <p:cTn id="200" nodeType="clickEffect" fill="hold" presetClass="entr" presetID="53" presetSubtype="16" repeatCount="1000">
                                  <p:stCondLst>
                                    <p:cond delay="0"/>
                                  </p:stCondLst>
                                  <p:childTnLst>
                                    <p:set>
                                      <p:cBhvr>
                                        <p:cTn id="201" dur="1" fill="hold">
                                          <p:stCondLst>
                                            <p:cond delay="0"/>
                                          </p:stCondLst>
                                        </p:cTn>
                                        <p:tgtEl>
                                          <p:spTgt spid="98"/>
                                        </p:tgtEl>
                                        <p:attrNameLst>
                                          <p:attrName>style.visibility</p:attrName>
                                        </p:attrNameLst>
                                      </p:cBhvr>
                                      <p:to>
                                        <p:strVal val="visible"/>
                                      </p:to>
                                    </p:set>
                                    <p:anim calcmode="lin" valueType="num">
                                      <p:cBhvr additive="repl">
                                        <p:cTn id="202" dur="1000" fill="hold"/>
                                        <p:tgtEl>
                                          <p:spTgt spid="98"/>
                                        </p:tgtEl>
                                        <p:attrNameLst>
                                          <p:attrName>ppt_w</p:attrName>
                                        </p:attrNameLst>
                                      </p:cBhvr>
                                      <p:tavLst>
                                        <p:tav tm="0">
                                          <p:val>
                                            <p:fltVal val="0"/>
                                          </p:val>
                                        </p:tav>
                                        <p:tav tm="100000">
                                          <p:val>
                                            <p:strVal val="#ppt_w"/>
                                          </p:val>
                                        </p:tav>
                                      </p:tavLst>
                                    </p:anim>
                                    <p:anim calcmode="lin" valueType="num">
                                      <p:cBhvr additive="repl">
                                        <p:cTn id="203" dur="1000" fill="hold"/>
                                        <p:tgtEl>
                                          <p:spTgt spid="98"/>
                                        </p:tgtEl>
                                        <p:attrNameLst>
                                          <p:attrName>ppt_h</p:attrName>
                                        </p:attrNameLst>
                                      </p:cBhvr>
                                      <p:tavLst>
                                        <p:tav tm="0">
                                          <p:val>
                                            <p:fltVal val="0"/>
                                          </p:val>
                                        </p:tav>
                                        <p:tav tm="100000">
                                          <p:val>
                                            <p:strVal val="#ppt_h"/>
                                          </p:val>
                                        </p:tav>
                                      </p:tavLst>
                                    </p:anim>
                                    <p:animEffect filter="fade" transition="in">
                                      <p:cBhvr additive="repl">
                                        <p:cTn id="204" dur="10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Picture 3" descr=""/>
          <p:cNvPicPr/>
          <p:nvPr/>
        </p:nvPicPr>
        <p:blipFill>
          <a:blip r:embed="rId1"/>
          <a:srcRect l="15959" t="19720" r="54263" b="8483"/>
          <a:stretch/>
        </p:blipFill>
        <p:spPr>
          <a:xfrm>
            <a:off x="2968560" y="33480"/>
            <a:ext cx="6153120" cy="6824520"/>
          </a:xfrm>
          <a:prstGeom prst="rect">
            <a:avLst/>
          </a:prstGeom>
          <a:noFill/>
          <a:ln w="0">
            <a:noFill/>
          </a:ln>
        </p:spPr>
      </p:pic>
      <p:sp>
        <p:nvSpPr>
          <p:cNvPr id="101" name="ZoneTexte 1"/>
          <p:cNvSpPr/>
          <p:nvPr/>
        </p:nvSpPr>
        <p:spPr>
          <a:xfrm>
            <a:off x="-462960" y="404640"/>
            <a:ext cx="4034160" cy="3142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00"/>
                </a:solidFill>
                <a:effectLst/>
                <a:uFillTx/>
                <a:latin typeface="Calibri"/>
                <a:ea typeface="Calibri"/>
              </a:rPr>
              <a:t>Les objectifs….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00"/>
                </a:solidFill>
                <a:effectLst/>
                <a:uFillTx/>
                <a:latin typeface="Calibri"/>
                <a:ea typeface="Calibri"/>
              </a:rPr>
              <a:t>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Aide aux choix de la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ou des pratique(s)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sportive(s)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correspondant le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mieux aux capacités</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et aux goûts du jeune</a:t>
            </a:r>
            <a:endParaRPr b="0" lang="en-US" sz="2400" strike="noStrike" u="none">
              <a:solidFill>
                <a:srgbClr val="ffff00"/>
              </a:solidFill>
              <a:effectLst/>
              <a:uFillTx/>
              <a:latin typeface="Times New Roman"/>
            </a:endParaRPr>
          </a:p>
        </p:txBody>
      </p:sp>
    </p:spTree>
  </p:cSld>
  <p:transition spd="med">
    <p:zoom dir="out"/>
  </p:transition>
  <p:timing>
    <p:tnLst>
      <p:par>
        <p:cTn id="205" dur="indefinite" restart="never" nodeType="tmRoot">
          <p:childTnLst>
            <p:seq>
              <p:cTn id="206" dur="indefinite" nodeType="mainSeq">
                <p:childTnLst>
                  <p:par>
                    <p:cTn id="207" nodeType="clickEffect" fill="hold">
                      <p:stCondLst>
                        <p:cond delay="indefinite"/>
                      </p:stCondLst>
                      <p:childTnLst>
                        <p:par>
                          <p:cTn id="208" nodeType="withEffect" fill="hold">
                            <p:stCondLst>
                              <p:cond delay="0"/>
                            </p:stCondLst>
                            <p:childTnLst>
                              <p:par>
                                <p:cTn id="209" nodeType="clickEffect" fill="hold" presetClass="entr" presetID="53" presetSubtype="16" repeatCount="1000">
                                  <p:stCondLst>
                                    <p:cond delay="0"/>
                                  </p:stCondLst>
                                  <p:childTnLst>
                                    <p:set>
                                      <p:cBhvr>
                                        <p:cTn id="210" dur="1" fill="hold">
                                          <p:stCondLst>
                                            <p:cond delay="0"/>
                                          </p:stCondLst>
                                        </p:cTn>
                                        <p:tgtEl>
                                          <p:spTgt spid="100"/>
                                        </p:tgtEl>
                                        <p:attrNameLst>
                                          <p:attrName>style.visibility</p:attrName>
                                        </p:attrNameLst>
                                      </p:cBhvr>
                                      <p:to>
                                        <p:strVal val="visible"/>
                                      </p:to>
                                    </p:set>
                                    <p:anim calcmode="lin" valueType="num">
                                      <p:cBhvr additive="repl">
                                        <p:cTn id="211" dur="1000" fill="hold"/>
                                        <p:tgtEl>
                                          <p:spTgt spid="100"/>
                                        </p:tgtEl>
                                        <p:attrNameLst>
                                          <p:attrName>ppt_w</p:attrName>
                                        </p:attrNameLst>
                                      </p:cBhvr>
                                      <p:tavLst>
                                        <p:tav tm="0">
                                          <p:val>
                                            <p:fltVal val="0"/>
                                          </p:val>
                                        </p:tav>
                                        <p:tav tm="100000">
                                          <p:val>
                                            <p:strVal val="#ppt_w"/>
                                          </p:val>
                                        </p:tav>
                                      </p:tavLst>
                                    </p:anim>
                                    <p:anim calcmode="lin" valueType="num">
                                      <p:cBhvr additive="repl">
                                        <p:cTn id="212" dur="1000" fill="hold"/>
                                        <p:tgtEl>
                                          <p:spTgt spid="100"/>
                                        </p:tgtEl>
                                        <p:attrNameLst>
                                          <p:attrName>ppt_h</p:attrName>
                                        </p:attrNameLst>
                                      </p:cBhvr>
                                      <p:tavLst>
                                        <p:tav tm="0">
                                          <p:val>
                                            <p:fltVal val="0"/>
                                          </p:val>
                                        </p:tav>
                                        <p:tav tm="100000">
                                          <p:val>
                                            <p:strVal val="#ppt_h"/>
                                          </p:val>
                                        </p:tav>
                                      </p:tavLst>
                                    </p:anim>
                                    <p:animEffect filter="fade" transition="in">
                                      <p:cBhvr additive="repl">
                                        <p:cTn id="213" dur="1000"/>
                                        <p:tgtEl>
                                          <p:spTgt spid="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 name="Picture 2" descr=""/>
          <p:cNvPicPr/>
          <p:nvPr/>
        </p:nvPicPr>
        <p:blipFill>
          <a:blip r:embed="rId1"/>
          <a:srcRect l="14594" t="19359" r="54222" b="7731"/>
          <a:stretch/>
        </p:blipFill>
        <p:spPr>
          <a:xfrm>
            <a:off x="3351240" y="0"/>
            <a:ext cx="5757840" cy="6897600"/>
          </a:xfrm>
          <a:prstGeom prst="rect">
            <a:avLst/>
          </a:prstGeom>
          <a:noFill/>
          <a:ln w="0">
            <a:noFill/>
          </a:ln>
        </p:spPr>
      </p:pic>
      <p:sp>
        <p:nvSpPr>
          <p:cNvPr id="103" name="ZoneTexte 1"/>
          <p:cNvSpPr/>
          <p:nvPr/>
        </p:nvSpPr>
        <p:spPr>
          <a:xfrm>
            <a:off x="-541080" y="404640"/>
            <a:ext cx="4401360" cy="36604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ffff00"/>
                </a:solidFill>
                <a:effectLst/>
                <a:uFillTx/>
                <a:latin typeface="Calibri"/>
                <a:ea typeface="Calibri"/>
              </a:rPr>
              <a:t>Les objectifs….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Détection des talents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5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Repérage,</a:t>
            </a:r>
            <a:endParaRPr b="0" lang="en-US" sz="2000" strike="noStrike" u="none">
              <a:solidFill>
                <a:srgbClr val="ffff00"/>
              </a:solidFill>
              <a:effectLst/>
              <a:uFillTx/>
              <a:latin typeface="Times New Roman"/>
            </a:endParaRPr>
          </a:p>
          <a:p>
            <a:pPr>
              <a:lnSpc>
                <a:spcPct val="15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Formation,</a:t>
            </a:r>
            <a:endParaRPr b="0" lang="en-US" sz="2000" strike="noStrike" u="none">
              <a:solidFill>
                <a:srgbClr val="ffff00"/>
              </a:solidFill>
              <a:effectLst/>
              <a:uFillTx/>
              <a:latin typeface="Times New Roman"/>
            </a:endParaRPr>
          </a:p>
          <a:p>
            <a:pPr>
              <a:lnSpc>
                <a:spcPct val="15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Confirmation</a:t>
            </a:r>
            <a:endParaRPr b="0" lang="en-US" sz="2000" strike="noStrike" u="none">
              <a:solidFill>
                <a:srgbClr val="ffff00"/>
              </a:solidFill>
              <a:effectLst/>
              <a:uFillTx/>
              <a:latin typeface="Times New Roman"/>
            </a:endParaRPr>
          </a:p>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Tree>
  </p:cSld>
  <p:transition spd="med">
    <p:zoom dir="out"/>
  </p:transition>
  <p:timing>
    <p:tnLst>
      <p:par>
        <p:cTn id="214" dur="indefinite" restart="never" nodeType="tmRoot">
          <p:childTnLst>
            <p:seq>
              <p:cTn id="215" dur="indefinite" nodeType="mainSeq">
                <p:childTnLst>
                  <p:par>
                    <p:cTn id="216" nodeType="clickEffect" fill="hold">
                      <p:stCondLst>
                        <p:cond delay="indefinite"/>
                      </p:stCondLst>
                      <p:childTnLst>
                        <p:par>
                          <p:cTn id="217" nodeType="withEffect" fill="hold">
                            <p:stCondLst>
                              <p:cond delay="0"/>
                            </p:stCondLst>
                            <p:childTnLst>
                              <p:par>
                                <p:cTn id="218" nodeType="clickEffect" fill="hold" presetClass="entr" presetID="53" presetSubtype="16" repeatCount="1000">
                                  <p:stCondLst>
                                    <p:cond delay="0"/>
                                  </p:stCondLst>
                                  <p:childTnLst>
                                    <p:set>
                                      <p:cBhvr>
                                        <p:cTn id="219" dur="1" fill="hold">
                                          <p:stCondLst>
                                            <p:cond delay="0"/>
                                          </p:stCondLst>
                                        </p:cTn>
                                        <p:tgtEl>
                                          <p:spTgt spid="102"/>
                                        </p:tgtEl>
                                        <p:attrNameLst>
                                          <p:attrName>style.visibility</p:attrName>
                                        </p:attrNameLst>
                                      </p:cBhvr>
                                      <p:to>
                                        <p:strVal val="visible"/>
                                      </p:to>
                                    </p:set>
                                    <p:anim calcmode="lin" valueType="num">
                                      <p:cBhvr additive="repl">
                                        <p:cTn id="220" dur="1000" fill="hold"/>
                                        <p:tgtEl>
                                          <p:spTgt spid="102"/>
                                        </p:tgtEl>
                                        <p:attrNameLst>
                                          <p:attrName>ppt_w</p:attrName>
                                        </p:attrNameLst>
                                      </p:cBhvr>
                                      <p:tavLst>
                                        <p:tav tm="0">
                                          <p:val>
                                            <p:fltVal val="0"/>
                                          </p:val>
                                        </p:tav>
                                        <p:tav tm="100000">
                                          <p:val>
                                            <p:strVal val="#ppt_w"/>
                                          </p:val>
                                        </p:tav>
                                      </p:tavLst>
                                    </p:anim>
                                    <p:anim calcmode="lin" valueType="num">
                                      <p:cBhvr additive="repl">
                                        <p:cTn id="221" dur="1000" fill="hold"/>
                                        <p:tgtEl>
                                          <p:spTgt spid="102"/>
                                        </p:tgtEl>
                                        <p:attrNameLst>
                                          <p:attrName>ppt_h</p:attrName>
                                        </p:attrNameLst>
                                      </p:cBhvr>
                                      <p:tavLst>
                                        <p:tav tm="0">
                                          <p:val>
                                            <p:fltVal val="0"/>
                                          </p:val>
                                        </p:tav>
                                        <p:tav tm="100000">
                                          <p:val>
                                            <p:strVal val="#ppt_h"/>
                                          </p:val>
                                        </p:tav>
                                      </p:tavLst>
                                    </p:anim>
                                    <p:animEffect filter="fade" transition="in">
                                      <p:cBhvr additive="repl">
                                        <p:cTn id="222" dur="1000"/>
                                        <p:tgtEl>
                                          <p:spTgt spid="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Oval 2"/>
          <p:cNvSpPr/>
          <p:nvPr/>
        </p:nvSpPr>
        <p:spPr>
          <a:xfrm>
            <a:off x="6781680" y="2971800"/>
            <a:ext cx="2183040" cy="1033560"/>
          </a:xfrm>
          <a:prstGeom prst="ellipse">
            <a:avLst/>
          </a:prstGeom>
          <a:gradFill rotWithShape="0">
            <a:gsLst>
              <a:gs pos="0">
                <a:srgbClr val="3333cc"/>
              </a:gs>
              <a:gs pos="100000">
                <a:srgbClr val="0f0f3e"/>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05" name="Oval 3"/>
          <p:cNvSpPr/>
          <p:nvPr/>
        </p:nvSpPr>
        <p:spPr>
          <a:xfrm>
            <a:off x="7696080" y="2438280"/>
            <a:ext cx="457200" cy="457200"/>
          </a:xfrm>
          <a:prstGeom prst="ellipse">
            <a:avLst/>
          </a:prstGeom>
          <a:gradFill rotWithShape="0">
            <a:gsLst>
              <a:gs pos="0">
                <a:srgbClr val="3333cc"/>
              </a:gs>
              <a:gs pos="100000">
                <a:srgbClr val="0f0f3e"/>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1</a:t>
            </a:r>
            <a:endParaRPr b="0" lang="en-US" sz="1800" strike="noStrike" u="none">
              <a:solidFill>
                <a:srgbClr val="ffff00"/>
              </a:solidFill>
              <a:effectLst/>
              <a:uFillTx/>
              <a:latin typeface="Times New Roman"/>
            </a:endParaRPr>
          </a:p>
        </p:txBody>
      </p:sp>
      <p:sp>
        <p:nvSpPr>
          <p:cNvPr id="106" name="Text Box 4"/>
          <p:cNvSpPr/>
          <p:nvPr/>
        </p:nvSpPr>
        <p:spPr>
          <a:xfrm>
            <a:off x="6935400" y="2971800"/>
            <a:ext cx="1959840" cy="9169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Analyse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des exigences du</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sport considéré</a:t>
            </a:r>
            <a:endParaRPr b="0" lang="en-US" sz="1800" strike="noStrike" u="none">
              <a:solidFill>
                <a:srgbClr val="ffff00"/>
              </a:solidFill>
              <a:effectLst/>
              <a:uFillTx/>
              <a:latin typeface="Times New Roman"/>
            </a:endParaRPr>
          </a:p>
        </p:txBody>
      </p:sp>
      <p:sp>
        <p:nvSpPr>
          <p:cNvPr id="107" name="Oval 5"/>
          <p:cNvSpPr/>
          <p:nvPr/>
        </p:nvSpPr>
        <p:spPr>
          <a:xfrm>
            <a:off x="380880" y="2971800"/>
            <a:ext cx="1828800" cy="990720"/>
          </a:xfrm>
          <a:prstGeom prst="ellipse">
            <a:avLst/>
          </a:prstGeom>
          <a:gradFill rotWithShape="0">
            <a:gsLst>
              <a:gs pos="0">
                <a:srgbClr val="3333cc"/>
              </a:gs>
              <a:gs pos="100000">
                <a:srgbClr val="0c0c32"/>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Les capacités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du sportif</a:t>
            </a:r>
            <a:endParaRPr b="0" lang="en-US" sz="1800" strike="noStrike" u="none">
              <a:solidFill>
                <a:srgbClr val="ffff00"/>
              </a:solidFill>
              <a:effectLst/>
              <a:uFillTx/>
              <a:latin typeface="Times New Roman"/>
            </a:endParaRPr>
          </a:p>
        </p:txBody>
      </p:sp>
      <p:sp>
        <p:nvSpPr>
          <p:cNvPr id="108" name="Oval 6"/>
          <p:cNvSpPr/>
          <p:nvPr/>
        </p:nvSpPr>
        <p:spPr>
          <a:xfrm>
            <a:off x="990720" y="2438280"/>
            <a:ext cx="457200" cy="457200"/>
          </a:xfrm>
          <a:prstGeom prst="ellipse">
            <a:avLst/>
          </a:prstGeom>
          <a:gradFill rotWithShape="0">
            <a:gsLst>
              <a:gs pos="0">
                <a:srgbClr val="3333cc"/>
              </a:gs>
              <a:gs pos="100000">
                <a:srgbClr val="191963"/>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2</a:t>
            </a:r>
            <a:endParaRPr b="0" lang="en-US" sz="1800" strike="noStrike" u="none">
              <a:solidFill>
                <a:srgbClr val="ffff00"/>
              </a:solidFill>
              <a:effectLst/>
              <a:uFillTx/>
              <a:latin typeface="Times New Roman"/>
            </a:endParaRPr>
          </a:p>
        </p:txBody>
      </p:sp>
      <p:sp>
        <p:nvSpPr>
          <p:cNvPr id="109" name="AutoShape 7"/>
          <p:cNvSpPr/>
          <p:nvPr/>
        </p:nvSpPr>
        <p:spPr>
          <a:xfrm>
            <a:off x="2438280" y="2997360"/>
            <a:ext cx="4191120" cy="1008000"/>
          </a:xfrm>
          <a:custGeom>
            <a:avLst/>
            <a:gdLst>
              <a:gd name="textAreaLeft" fmla="*/ 654840 w 4191120"/>
              <a:gd name="textAreaRight" fmla="*/ 3667320 w 4191120"/>
              <a:gd name="textAreaTop" fmla="*/ 252000 h 1008000"/>
              <a:gd name="textAreaBottom" fmla="*/ 756000 h 1008000"/>
              <a:gd name="GluePoint1X" fmla="*/ 3143250 w 21600"/>
              <a:gd name="GluePoint1Y" fmla="*/ 0 h 21600"/>
              <a:gd name="GluePoint2X" fmla="*/ 0 w 21600"/>
              <a:gd name="GluePoint2Y" fmla="*/ 504032 h 21600"/>
              <a:gd name="GluePoint3X" fmla="*/ 3143250 w 21600"/>
              <a:gd name="GluePoint3Y" fmla="*/ 1008063 h 21600"/>
              <a:gd name="GluePoint4X" fmla="*/ 4191000 w 21600"/>
              <a:gd name="GluePoint4Y" fmla="*/ 504032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blipFill rotWithShape="0">
            <a:blip r:embed="rId1"/>
            <a:srcRect/>
            <a:stretch/>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10" name="Text Box 8"/>
          <p:cNvSpPr/>
          <p:nvPr/>
        </p:nvSpPr>
        <p:spPr>
          <a:xfrm>
            <a:off x="2769480" y="3213000"/>
            <a:ext cx="321948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ENTRAINEMENT </a:t>
            </a:r>
            <a:r>
              <a:rPr b="1" lang="fr-FR" sz="1400" strike="noStrike" u="none">
                <a:solidFill>
                  <a:srgbClr val="ffffff"/>
                </a:solidFill>
                <a:effectLst/>
                <a:uFillTx/>
                <a:latin typeface="Arial"/>
              </a:rPr>
              <a:t>Planification,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rPr>
              <a:t>Programmation, Périodisation</a:t>
            </a:r>
            <a:endParaRPr b="0" lang="en-US" sz="1400" strike="noStrike" u="none">
              <a:solidFill>
                <a:srgbClr val="ffff00"/>
              </a:solidFill>
              <a:effectLst/>
              <a:uFillTx/>
              <a:latin typeface="Times New Roman"/>
            </a:endParaRPr>
          </a:p>
        </p:txBody>
      </p:sp>
      <p:sp>
        <p:nvSpPr>
          <p:cNvPr id="111" name="Oval 9"/>
          <p:cNvSpPr/>
          <p:nvPr/>
        </p:nvSpPr>
        <p:spPr>
          <a:xfrm>
            <a:off x="2590920" y="1523880"/>
            <a:ext cx="1447560" cy="914400"/>
          </a:xfrm>
          <a:prstGeom prst="ellipse">
            <a:avLst/>
          </a:prstGeom>
          <a:gradFill rotWithShape="0">
            <a:gsLst>
              <a:gs pos="0">
                <a:srgbClr val="3333cc"/>
              </a:gs>
              <a:gs pos="100000">
                <a:srgbClr val="111144"/>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Orientation</a:t>
            </a:r>
            <a:endParaRPr b="0" lang="en-US" sz="2000" strike="noStrike" u="none">
              <a:solidFill>
                <a:srgbClr val="ffff00"/>
              </a:solidFill>
              <a:effectLst/>
              <a:uFillTx/>
              <a:latin typeface="Times New Roman"/>
            </a:endParaRPr>
          </a:p>
        </p:txBody>
      </p:sp>
      <p:sp>
        <p:nvSpPr>
          <p:cNvPr id="112" name="Line 10"/>
          <p:cNvSpPr/>
          <p:nvPr/>
        </p:nvSpPr>
        <p:spPr>
          <a:xfrm flipH="1">
            <a:off x="2971440" y="2438280"/>
            <a:ext cx="152280" cy="762120"/>
          </a:xfrm>
          <a:prstGeom prst="line">
            <a:avLst/>
          </a:prstGeom>
          <a:ln w="38160">
            <a:solidFill>
              <a:srgbClr val="ffff00"/>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3" name="Line 11"/>
          <p:cNvSpPr/>
          <p:nvPr/>
        </p:nvSpPr>
        <p:spPr>
          <a:xfrm>
            <a:off x="4648320" y="2514600"/>
            <a:ext cx="0" cy="762120"/>
          </a:xfrm>
          <a:prstGeom prst="line">
            <a:avLst/>
          </a:prstGeom>
          <a:ln w="38160">
            <a:solidFill>
              <a:srgbClr val="ffff00"/>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4" name="Oval 12"/>
          <p:cNvSpPr/>
          <p:nvPr/>
        </p:nvSpPr>
        <p:spPr>
          <a:xfrm>
            <a:off x="5181480" y="1523880"/>
            <a:ext cx="1447920" cy="914400"/>
          </a:xfrm>
          <a:prstGeom prst="ellipse">
            <a:avLst/>
          </a:prstGeom>
          <a:gradFill rotWithShape="0">
            <a:gsLst>
              <a:gs pos="0">
                <a:srgbClr val="3333cc"/>
              </a:gs>
              <a:gs pos="100000">
                <a:srgbClr val="111144"/>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Suivi</a:t>
            </a:r>
            <a:endParaRPr b="0" lang="en-US" sz="2000" strike="noStrike" u="none">
              <a:solidFill>
                <a:srgbClr val="ffff00"/>
              </a:solidFill>
              <a:effectLst/>
              <a:uFillTx/>
              <a:latin typeface="Times New Roman"/>
            </a:endParaRPr>
          </a:p>
        </p:txBody>
      </p:sp>
      <p:sp>
        <p:nvSpPr>
          <p:cNvPr id="115" name="Oval 13"/>
          <p:cNvSpPr/>
          <p:nvPr/>
        </p:nvSpPr>
        <p:spPr>
          <a:xfrm>
            <a:off x="3962520" y="1523880"/>
            <a:ext cx="1447560" cy="914400"/>
          </a:xfrm>
          <a:prstGeom prst="ellipse">
            <a:avLst/>
          </a:prstGeom>
          <a:gradFill rotWithShape="0">
            <a:gsLst>
              <a:gs pos="0">
                <a:srgbClr val="3333cc"/>
              </a:gs>
              <a:gs pos="100000">
                <a:srgbClr val="111144"/>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Contrôle</a:t>
            </a:r>
            <a:endParaRPr b="0" lang="en-US" sz="2000" strike="noStrike" u="none">
              <a:solidFill>
                <a:srgbClr val="ffff00"/>
              </a:solidFill>
              <a:effectLst/>
              <a:uFillTx/>
              <a:latin typeface="Times New Roman"/>
            </a:endParaRPr>
          </a:p>
        </p:txBody>
      </p:sp>
      <p:sp>
        <p:nvSpPr>
          <p:cNvPr id="116" name="Line 14"/>
          <p:cNvSpPr/>
          <p:nvPr/>
        </p:nvSpPr>
        <p:spPr>
          <a:xfrm>
            <a:off x="5791320" y="2438280"/>
            <a:ext cx="152280" cy="762120"/>
          </a:xfrm>
          <a:prstGeom prst="line">
            <a:avLst/>
          </a:prstGeom>
          <a:ln w="38160">
            <a:solidFill>
              <a:srgbClr val="ffff00"/>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7" name="Text Box 15"/>
          <p:cNvSpPr/>
          <p:nvPr/>
        </p:nvSpPr>
        <p:spPr>
          <a:xfrm>
            <a:off x="5180760" y="4925880"/>
            <a:ext cx="3652920" cy="146556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Avis des entraîneurs experts</a:t>
            </a:r>
            <a:endParaRPr b="0" lang="en-US" sz="1800" strike="noStrike" u="none">
              <a:solidFill>
                <a:srgbClr val="ffff00"/>
              </a:solidFill>
              <a:effectLst/>
              <a:uFillTx/>
              <a:latin typeface="Times New Roman"/>
            </a:endParaRPr>
          </a:p>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a:t>
            </a:r>
            <a:r>
              <a:rPr b="0" lang="fr-FR" sz="1800" strike="noStrike" u="none">
                <a:solidFill>
                  <a:srgbClr val="ffffff"/>
                </a:solidFill>
                <a:effectLst/>
                <a:uFillTx/>
                <a:latin typeface="Arial"/>
                <a:ea typeface="Arial"/>
              </a:rPr>
              <a:t>É</a:t>
            </a:r>
            <a:r>
              <a:rPr b="0" lang="fr-FR" sz="1800" strike="noStrike" u="none">
                <a:solidFill>
                  <a:srgbClr val="ffffff"/>
                </a:solidFill>
                <a:effectLst/>
                <a:uFillTx/>
                <a:latin typeface="Arial"/>
              </a:rPr>
              <a:t>tude de la littérature</a:t>
            </a:r>
            <a:endParaRPr b="0" lang="en-US" sz="1800" strike="noStrike" u="none">
              <a:solidFill>
                <a:srgbClr val="ffff00"/>
              </a:solidFill>
              <a:effectLst/>
              <a:uFillTx/>
              <a:latin typeface="Times New Roman"/>
            </a:endParaRPr>
          </a:p>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Observation et prise de mesures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en situation réelle d’entraînement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et de compétition</a:t>
            </a:r>
            <a:endParaRPr b="0" lang="en-US" sz="1800" strike="noStrike" u="none">
              <a:solidFill>
                <a:srgbClr val="ffff00"/>
              </a:solidFill>
              <a:effectLst/>
              <a:uFillTx/>
              <a:latin typeface="Times New Roman"/>
            </a:endParaRPr>
          </a:p>
        </p:txBody>
      </p:sp>
      <p:sp>
        <p:nvSpPr>
          <p:cNvPr id="118" name="Text Box 16"/>
          <p:cNvSpPr/>
          <p:nvPr/>
        </p:nvSpPr>
        <p:spPr>
          <a:xfrm>
            <a:off x="159120" y="5029200"/>
            <a:ext cx="2620080" cy="119124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Choix, élaboration et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Validation des mesures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 les plus congruentes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(aspects métrologiques)</a:t>
            </a:r>
            <a:endParaRPr b="0" lang="en-US" sz="1800" strike="noStrike" u="none">
              <a:solidFill>
                <a:srgbClr val="ffff00"/>
              </a:solidFill>
              <a:effectLst/>
              <a:uFillTx/>
              <a:latin typeface="Times New Roman"/>
            </a:endParaRPr>
          </a:p>
        </p:txBody>
      </p:sp>
      <p:sp>
        <p:nvSpPr>
          <p:cNvPr id="119" name="Line 20"/>
          <p:cNvSpPr/>
          <p:nvPr/>
        </p:nvSpPr>
        <p:spPr>
          <a:xfrm flipV="1">
            <a:off x="1219320" y="3962160"/>
            <a:ext cx="0" cy="1066680"/>
          </a:xfrm>
          <a:prstGeom prst="line">
            <a:avLst/>
          </a:prstGeom>
          <a:ln w="38160">
            <a:solidFill>
              <a:srgbClr val="ffff00"/>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0" name="Line 25"/>
          <p:cNvSpPr/>
          <p:nvPr/>
        </p:nvSpPr>
        <p:spPr>
          <a:xfrm flipH="1">
            <a:off x="2819520" y="5715000"/>
            <a:ext cx="2286000" cy="0"/>
          </a:xfrm>
          <a:prstGeom prst="line">
            <a:avLst/>
          </a:prstGeom>
          <a:ln w="38160">
            <a:solidFill>
              <a:srgbClr val="ffff00"/>
            </a:solidFill>
            <a:prstDash val="sysDot"/>
            <a:miter/>
            <a:headEnd len="med" type="oval"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1" name="Text Box 26"/>
          <p:cNvSpPr/>
          <p:nvPr/>
        </p:nvSpPr>
        <p:spPr>
          <a:xfrm>
            <a:off x="-885960" y="189000"/>
            <a:ext cx="10869840" cy="947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EVALUER, ORIENTER, CONTRÔLER ET SUIVRE LES EFFETS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DE L’ENTRAÎNEMENT </a:t>
            </a:r>
            <a:r>
              <a:rPr b="1" lang="fr-FR" sz="1800" strike="noStrike" u="none">
                <a:solidFill>
                  <a:srgbClr val="ffffff"/>
                </a:solidFill>
                <a:effectLst/>
                <a:uFillTx/>
                <a:latin typeface="Calibri"/>
                <a:ea typeface="Calibri"/>
              </a:rPr>
              <a:t>: </a:t>
            </a:r>
            <a:r>
              <a:rPr b="1" i="1" lang="fr-FR" sz="2400" strike="noStrike" u="none">
                <a:solidFill>
                  <a:srgbClr val="ffff00"/>
                </a:solidFill>
                <a:effectLst/>
                <a:uFillTx/>
                <a:latin typeface="Calibri"/>
                <a:ea typeface="Calibri"/>
              </a:rPr>
              <a:t>PROPOSITION D’UNE DEMARCHE</a:t>
            </a:r>
            <a:endParaRPr b="0" lang="en-US" sz="2400" strike="noStrike" u="none">
              <a:solidFill>
                <a:srgbClr val="ffff00"/>
              </a:solidFill>
              <a:effectLst/>
              <a:uFillTx/>
              <a:latin typeface="Times New Roman"/>
            </a:endParaRPr>
          </a:p>
        </p:txBody>
      </p:sp>
      <p:sp>
        <p:nvSpPr>
          <p:cNvPr id="122" name="Line 28"/>
          <p:cNvSpPr/>
          <p:nvPr/>
        </p:nvSpPr>
        <p:spPr>
          <a:xfrm>
            <a:off x="7812000" y="4006800"/>
            <a:ext cx="0" cy="790560"/>
          </a:xfrm>
          <a:prstGeom prst="line">
            <a:avLst/>
          </a:prstGeom>
          <a:ln w="38160">
            <a:solidFill>
              <a:srgbClr val="ffff00"/>
            </a:solidFill>
            <a:prstDash val="sysDot"/>
            <a:miter/>
            <a:headEnd len="med" type="oval"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p:transition>
    <p:zoom dir="out"/>
  </p:transition>
  <p:timing>
    <p:tnLst>
      <p:par>
        <p:cTn id="223" dur="indefinite" restart="never" nodeType="tmRoot">
          <p:childTnLst>
            <p:seq>
              <p:cTn id="224" dur="indefinite" nodeType="mainSeq">
                <p:childTnLst>
                  <p:par>
                    <p:cTn id="225" nodeType="clickEffect" fill="hold">
                      <p:stCondLst>
                        <p:cond delay="0"/>
                      </p:stCondLst>
                      <p:childTnLst>
                        <p:par>
                          <p:cTn id="226" nodeType="withEffect" fill="hold">
                            <p:stCondLst>
                              <p:cond delay="0"/>
                            </p:stCondLst>
                            <p:childTnLst>
                              <p:par>
                                <p:cTn id="227" nodeType="afterEffect" fill="hold" presetClass="entr" presetID="53" presetSubtype="16" repeatCount="1000">
                                  <p:stCondLst>
                                    <p:cond delay="0"/>
                                  </p:stCondLst>
                                  <p:childTnLst>
                                    <p:set>
                                      <p:cBhvr>
                                        <p:cTn id="228" dur="1" fill="hold">
                                          <p:stCondLst>
                                            <p:cond delay="0"/>
                                          </p:stCondLst>
                                        </p:cTn>
                                        <p:tgtEl>
                                          <p:spTgt spid="121"/>
                                        </p:tgtEl>
                                        <p:attrNameLst>
                                          <p:attrName>style.visibility</p:attrName>
                                        </p:attrNameLst>
                                      </p:cBhvr>
                                      <p:to>
                                        <p:strVal val="visible"/>
                                      </p:to>
                                    </p:set>
                                    <p:anim calcmode="lin" valueType="num">
                                      <p:cBhvr additive="repl">
                                        <p:cTn id="229" dur="2000" fill="hold"/>
                                        <p:tgtEl>
                                          <p:spTgt spid="121"/>
                                        </p:tgtEl>
                                        <p:attrNameLst>
                                          <p:attrName>ppt_w</p:attrName>
                                        </p:attrNameLst>
                                      </p:cBhvr>
                                      <p:tavLst>
                                        <p:tav tm="0">
                                          <p:val>
                                            <p:fltVal val="0"/>
                                          </p:val>
                                        </p:tav>
                                        <p:tav tm="100000">
                                          <p:val>
                                            <p:strVal val="#ppt_w"/>
                                          </p:val>
                                        </p:tav>
                                      </p:tavLst>
                                    </p:anim>
                                    <p:anim calcmode="lin" valueType="num">
                                      <p:cBhvr additive="repl">
                                        <p:cTn id="230" dur="2000" fill="hold"/>
                                        <p:tgtEl>
                                          <p:spTgt spid="121"/>
                                        </p:tgtEl>
                                        <p:attrNameLst>
                                          <p:attrName>ppt_h</p:attrName>
                                        </p:attrNameLst>
                                      </p:cBhvr>
                                      <p:tavLst>
                                        <p:tav tm="0">
                                          <p:val>
                                            <p:fltVal val="0"/>
                                          </p:val>
                                        </p:tav>
                                        <p:tav tm="100000">
                                          <p:val>
                                            <p:strVal val="#ppt_h"/>
                                          </p:val>
                                        </p:tav>
                                      </p:tavLst>
                                    </p:anim>
                                    <p:animEffect filter="fade" transition="in">
                                      <p:cBhvr additive="repl">
                                        <p:cTn id="231" dur="2000"/>
                                        <p:tgtEl>
                                          <p:spTgt spid="121"/>
                                        </p:tgtEl>
                                      </p:cBhvr>
                                    </p:animEffect>
                                  </p:childTnLst>
                                </p:cTn>
                              </p:par>
                            </p:childTnLst>
                          </p:cTn>
                        </p:par>
                      </p:childTnLst>
                    </p:cTn>
                  </p:par>
                  <p:par>
                    <p:cTn id="232" nodeType="clickEffect" fill="hold">
                      <p:stCondLst>
                        <p:cond delay="indefinite"/>
                      </p:stCondLst>
                      <p:childTnLst>
                        <p:par>
                          <p:cTn id="233" nodeType="withEffect" fill="hold">
                            <p:stCondLst>
                              <p:cond delay="0"/>
                            </p:stCondLst>
                            <p:childTnLst>
                              <p:par>
                                <p:cTn id="234" nodeType="clickEffect" fill="hold" presetClass="entr" presetID="23" presetSubtype="288">
                                  <p:stCondLst>
                                    <p:cond delay="0"/>
                                  </p:stCondLst>
                                  <p:childTnLst>
                                    <p:set>
                                      <p:cBhvr>
                                        <p:cTn id="235" dur="1" fill="hold">
                                          <p:stCondLst>
                                            <p:cond delay="0"/>
                                          </p:stCondLst>
                                        </p:cTn>
                                        <p:tgtEl>
                                          <p:spTgt spid="105"/>
                                        </p:tgtEl>
                                        <p:attrNameLst>
                                          <p:attrName>style.visibility</p:attrName>
                                        </p:attrNameLst>
                                      </p:cBhvr>
                                      <p:to>
                                        <p:strVal val="visible"/>
                                      </p:to>
                                    </p:set>
                                    <p:anim calcmode="lin" valueType="num">
                                      <p:cBhvr additive="repl">
                                        <p:cTn id="236" dur="500" fill="hold"/>
                                        <p:tgtEl>
                                          <p:spTgt spid="105"/>
                                        </p:tgtEl>
                                        <p:attrNameLst>
                                          <p:attrName>ppt_w</p:attrName>
                                        </p:attrNameLst>
                                      </p:cBhvr>
                                      <p:tavLst>
                                        <p:tav tm="0">
                                          <p:val>
                                            <p:strVal val="4/3*#ppt_w"/>
                                          </p:val>
                                        </p:tav>
                                        <p:tav tm="100000">
                                          <p:val>
                                            <p:strVal val="#ppt_w"/>
                                          </p:val>
                                        </p:tav>
                                      </p:tavLst>
                                    </p:anim>
                                    <p:anim calcmode="lin" valueType="num">
                                      <p:cBhvr additive="repl">
                                        <p:cTn id="237" dur="500" fill="hold"/>
                                        <p:tgtEl>
                                          <p:spTgt spid="105"/>
                                        </p:tgtEl>
                                        <p:attrNameLst>
                                          <p:attrName>ppt_h</p:attrName>
                                        </p:attrNameLst>
                                      </p:cBhvr>
                                      <p:tavLst>
                                        <p:tav tm="0">
                                          <p:val>
                                            <p:strVal val="4/3*#ppt_h"/>
                                          </p:val>
                                        </p:tav>
                                        <p:tav tm="100000">
                                          <p:val>
                                            <p:strVal val="#ppt_h"/>
                                          </p:val>
                                        </p:tav>
                                      </p:tavLst>
                                    </p:anim>
                                  </p:childTnLst>
                                </p:cTn>
                              </p:par>
                            </p:childTnLst>
                          </p:cTn>
                        </p:par>
                        <p:par>
                          <p:cTn id="238" nodeType="afterEffect" fill="hold">
                            <p:stCondLst>
                              <p:cond delay="500"/>
                            </p:stCondLst>
                            <p:childTnLst>
                              <p:par>
                                <p:cTn id="239" nodeType="afterEffect" fill="hold" presetClass="entr" presetID="9">
                                  <p:stCondLst>
                                    <p:cond delay="0"/>
                                  </p:stCondLst>
                                  <p:childTnLst>
                                    <p:set>
                                      <p:cBhvr>
                                        <p:cTn id="240" dur="1" fill="hold">
                                          <p:stCondLst>
                                            <p:cond delay="0"/>
                                          </p:stCondLst>
                                        </p:cTn>
                                        <p:tgtEl>
                                          <p:spTgt spid="104"/>
                                        </p:tgtEl>
                                        <p:attrNameLst>
                                          <p:attrName>style.visibility</p:attrName>
                                        </p:attrNameLst>
                                      </p:cBhvr>
                                      <p:to>
                                        <p:strVal val="visible"/>
                                      </p:to>
                                    </p:set>
                                    <p:animEffect filter="dissolve" transition="in">
                                      <p:cBhvr additive="repl">
                                        <p:cTn id="241" dur="500"/>
                                        <p:tgtEl>
                                          <p:spTgt spid="104"/>
                                        </p:tgtEl>
                                      </p:cBhvr>
                                    </p:animEffect>
                                  </p:childTnLst>
                                </p:cTn>
                              </p:par>
                            </p:childTnLst>
                          </p:cTn>
                        </p:par>
                        <p:par>
                          <p:cTn id="242" nodeType="afterEffect" fill="hold">
                            <p:stCondLst>
                              <p:cond delay="1000"/>
                            </p:stCondLst>
                            <p:childTnLst>
                              <p:par>
                                <p:cTn id="243" nodeType="afterEffect" fill="hold" presetClass="entr" presetID="9">
                                  <p:stCondLst>
                                    <p:cond delay="0"/>
                                  </p:stCondLst>
                                  <p:iterate type="wd">
                                    <p:tmAbs val="300"/>
                                  </p:iterate>
                                  <p:childTnLst>
                                    <p:set>
                                      <p:cBhvr>
                                        <p:cTn id="244" dur="1" fill="hold">
                                          <p:stCondLst>
                                            <p:cond delay="0"/>
                                          </p:stCondLst>
                                        </p:cTn>
                                        <p:tgtEl>
                                          <p:spTgt spid="106"/>
                                        </p:tgtEl>
                                        <p:attrNameLst>
                                          <p:attrName>style.visibility</p:attrName>
                                        </p:attrNameLst>
                                      </p:cBhvr>
                                      <p:to>
                                        <p:strVal val="visible"/>
                                      </p:to>
                                    </p:set>
                                    <p:animEffect filter="dissolve" transition="in">
                                      <p:cBhvr additive="repl">
                                        <p:cTn id="245" dur="300"/>
                                        <p:tgtEl>
                                          <p:spTgt spid="106"/>
                                        </p:tgtEl>
                                      </p:cBhvr>
                                    </p:animEffect>
                                  </p:childTnLst>
                                </p:cTn>
                              </p:par>
                            </p:childTnLst>
                          </p:cTn>
                        </p:par>
                        <p:par>
                          <p:cTn id="246" nodeType="afterEffect" fill="hold">
                            <p:stCondLst>
                              <p:cond delay="3100"/>
                            </p:stCondLst>
                            <p:childTnLst>
                              <p:par>
                                <p:cTn id="247" nodeType="afterEffect" fill="hold" presetClass="entr" presetID="22" presetSubtype="1">
                                  <p:stCondLst>
                                    <p:cond delay="0"/>
                                  </p:stCondLst>
                                  <p:childTnLst>
                                    <p:set>
                                      <p:cBhvr>
                                        <p:cTn id="248" dur="1" fill="hold">
                                          <p:stCondLst>
                                            <p:cond delay="0"/>
                                          </p:stCondLst>
                                        </p:cTn>
                                        <p:tgtEl>
                                          <p:spTgt spid="122"/>
                                        </p:tgtEl>
                                        <p:attrNameLst>
                                          <p:attrName>style.visibility</p:attrName>
                                        </p:attrNameLst>
                                      </p:cBhvr>
                                      <p:to>
                                        <p:strVal val="visible"/>
                                      </p:to>
                                    </p:set>
                                    <p:animEffect filter="wipe(up)" transition="in">
                                      <p:cBhvr additive="repl">
                                        <p:cTn id="249" dur="1000"/>
                                        <p:tgtEl>
                                          <p:spTgt spid="122"/>
                                        </p:tgtEl>
                                      </p:cBhvr>
                                    </p:animEffect>
                                  </p:childTnLst>
                                </p:cTn>
                              </p:par>
                            </p:childTnLst>
                          </p:cTn>
                        </p:par>
                        <p:par>
                          <p:cTn id="250" nodeType="afterEffect" fill="hold">
                            <p:stCondLst>
                              <p:cond delay="4100"/>
                            </p:stCondLst>
                            <p:childTnLst>
                              <p:par>
                                <p:cTn id="251" nodeType="afterEffect" fill="hold" presetClass="entr" presetID="53" presetSubtype="16">
                                  <p:stCondLst>
                                    <p:cond delay="0"/>
                                  </p:stCondLst>
                                  <p:childTnLst>
                                    <p:set>
                                      <p:cBhvr>
                                        <p:cTn id="252" dur="1" fill="hold">
                                          <p:stCondLst>
                                            <p:cond delay="0"/>
                                          </p:stCondLst>
                                        </p:cTn>
                                        <p:tgtEl>
                                          <p:spTgt spid="117"/>
                                        </p:tgtEl>
                                        <p:attrNameLst>
                                          <p:attrName>style.visibility</p:attrName>
                                        </p:attrNameLst>
                                      </p:cBhvr>
                                      <p:to>
                                        <p:strVal val="visible"/>
                                      </p:to>
                                    </p:set>
                                    <p:anim calcmode="lin" valueType="num">
                                      <p:cBhvr additive="repl">
                                        <p:cTn id="253" dur="500" fill="hold"/>
                                        <p:tgtEl>
                                          <p:spTgt spid="117"/>
                                        </p:tgtEl>
                                        <p:attrNameLst>
                                          <p:attrName>ppt_w</p:attrName>
                                        </p:attrNameLst>
                                      </p:cBhvr>
                                      <p:tavLst>
                                        <p:tav tm="0">
                                          <p:val>
                                            <p:fltVal val="0"/>
                                          </p:val>
                                        </p:tav>
                                        <p:tav tm="100000">
                                          <p:val>
                                            <p:strVal val="#ppt_w"/>
                                          </p:val>
                                        </p:tav>
                                      </p:tavLst>
                                    </p:anim>
                                    <p:anim calcmode="lin" valueType="num">
                                      <p:cBhvr additive="repl">
                                        <p:cTn id="254" dur="500" fill="hold"/>
                                        <p:tgtEl>
                                          <p:spTgt spid="117"/>
                                        </p:tgtEl>
                                        <p:attrNameLst>
                                          <p:attrName>ppt_h</p:attrName>
                                        </p:attrNameLst>
                                      </p:cBhvr>
                                      <p:tavLst>
                                        <p:tav tm="0">
                                          <p:val>
                                            <p:fltVal val="0"/>
                                          </p:val>
                                        </p:tav>
                                        <p:tav tm="100000">
                                          <p:val>
                                            <p:strVal val="#ppt_h"/>
                                          </p:val>
                                        </p:tav>
                                      </p:tavLst>
                                    </p:anim>
                                    <p:animEffect filter="fade" transition="in">
                                      <p:cBhvr additive="repl">
                                        <p:cTn id="255" dur="500"/>
                                        <p:tgtEl>
                                          <p:spTgt spid="117"/>
                                        </p:tgtEl>
                                      </p:cBhvr>
                                    </p:animEffect>
                                  </p:childTnLst>
                                </p:cTn>
                              </p:par>
                            </p:childTnLst>
                          </p:cTn>
                        </p:par>
                      </p:childTnLst>
                    </p:cTn>
                  </p:par>
                  <p:par>
                    <p:cTn id="256" nodeType="clickEffect" fill="hold">
                      <p:stCondLst>
                        <p:cond delay="indefinite"/>
                      </p:stCondLst>
                      <p:childTnLst>
                        <p:par>
                          <p:cTn id="257" nodeType="withEffect" fill="hold">
                            <p:stCondLst>
                              <p:cond delay="0"/>
                            </p:stCondLst>
                            <p:childTnLst>
                              <p:par>
                                <p:cTn id="258" nodeType="clickEffect" fill="hold" presetClass="entr" presetID="22" presetSubtype="2">
                                  <p:stCondLst>
                                    <p:cond delay="0"/>
                                  </p:stCondLst>
                                  <p:childTnLst>
                                    <p:set>
                                      <p:cBhvr>
                                        <p:cTn id="259" dur="1" fill="hold">
                                          <p:stCondLst>
                                            <p:cond delay="0"/>
                                          </p:stCondLst>
                                        </p:cTn>
                                        <p:tgtEl>
                                          <p:spTgt spid="120"/>
                                        </p:tgtEl>
                                        <p:attrNameLst>
                                          <p:attrName>style.visibility</p:attrName>
                                        </p:attrNameLst>
                                      </p:cBhvr>
                                      <p:to>
                                        <p:strVal val="visible"/>
                                      </p:to>
                                    </p:set>
                                    <p:animEffect filter="wipe(right)" transition="in">
                                      <p:cBhvr additive="repl">
                                        <p:cTn id="260" dur="500"/>
                                        <p:tgtEl>
                                          <p:spTgt spid="120"/>
                                        </p:tgtEl>
                                      </p:cBhvr>
                                    </p:animEffect>
                                  </p:childTnLst>
                                </p:cTn>
                              </p:par>
                            </p:childTnLst>
                          </p:cTn>
                        </p:par>
                        <p:par>
                          <p:cTn id="261" nodeType="afterEffect" fill="hold">
                            <p:stCondLst>
                              <p:cond delay="500"/>
                            </p:stCondLst>
                            <p:childTnLst>
                              <p:par>
                                <p:cTn id="262" nodeType="afterEffect" fill="hold" presetClass="entr" presetID="9">
                                  <p:stCondLst>
                                    <p:cond delay="0"/>
                                  </p:stCondLst>
                                  <p:childTnLst>
                                    <p:set>
                                      <p:cBhvr>
                                        <p:cTn id="263" dur="1" fill="hold">
                                          <p:stCondLst>
                                            <p:cond delay="0"/>
                                          </p:stCondLst>
                                        </p:cTn>
                                        <p:tgtEl>
                                          <p:spTgt spid="118"/>
                                        </p:tgtEl>
                                        <p:attrNameLst>
                                          <p:attrName>style.visibility</p:attrName>
                                        </p:attrNameLst>
                                      </p:cBhvr>
                                      <p:to>
                                        <p:strVal val="visible"/>
                                      </p:to>
                                    </p:set>
                                    <p:animEffect filter="dissolve" transition="in">
                                      <p:cBhvr additive="repl">
                                        <p:cTn id="264" dur="500"/>
                                        <p:tgtEl>
                                          <p:spTgt spid="118"/>
                                        </p:tgtEl>
                                      </p:cBhvr>
                                    </p:animEffect>
                                  </p:childTnLst>
                                </p:cTn>
                              </p:par>
                            </p:childTnLst>
                          </p:cTn>
                        </p:par>
                        <p:par>
                          <p:cTn id="265" nodeType="afterEffect" fill="hold">
                            <p:stCondLst>
                              <p:cond delay="1000"/>
                            </p:stCondLst>
                            <p:childTnLst>
                              <p:par>
                                <p:cTn id="266" nodeType="afterEffect" fill="hold" presetClass="entr" presetID="23" presetSubtype="288">
                                  <p:stCondLst>
                                    <p:cond delay="0"/>
                                  </p:stCondLst>
                                  <p:childTnLst>
                                    <p:set>
                                      <p:cBhvr>
                                        <p:cTn id="267" dur="1" fill="hold">
                                          <p:stCondLst>
                                            <p:cond delay="0"/>
                                          </p:stCondLst>
                                        </p:cTn>
                                        <p:tgtEl>
                                          <p:spTgt spid="108"/>
                                        </p:tgtEl>
                                        <p:attrNameLst>
                                          <p:attrName>style.visibility</p:attrName>
                                        </p:attrNameLst>
                                      </p:cBhvr>
                                      <p:to>
                                        <p:strVal val="visible"/>
                                      </p:to>
                                    </p:set>
                                    <p:anim calcmode="lin" valueType="num">
                                      <p:cBhvr additive="repl">
                                        <p:cTn id="268" dur="500" fill="hold"/>
                                        <p:tgtEl>
                                          <p:spTgt spid="108"/>
                                        </p:tgtEl>
                                        <p:attrNameLst>
                                          <p:attrName>ppt_w</p:attrName>
                                        </p:attrNameLst>
                                      </p:cBhvr>
                                      <p:tavLst>
                                        <p:tav tm="0">
                                          <p:val>
                                            <p:strVal val="4/3*#ppt_w"/>
                                          </p:val>
                                        </p:tav>
                                        <p:tav tm="100000">
                                          <p:val>
                                            <p:strVal val="#ppt_w"/>
                                          </p:val>
                                        </p:tav>
                                      </p:tavLst>
                                    </p:anim>
                                    <p:anim calcmode="lin" valueType="num">
                                      <p:cBhvr additive="repl">
                                        <p:cTn id="269" dur="500" fill="hold"/>
                                        <p:tgtEl>
                                          <p:spTgt spid="108"/>
                                        </p:tgtEl>
                                        <p:attrNameLst>
                                          <p:attrName>ppt_h</p:attrName>
                                        </p:attrNameLst>
                                      </p:cBhvr>
                                      <p:tavLst>
                                        <p:tav tm="0">
                                          <p:val>
                                            <p:strVal val="4/3*#ppt_h"/>
                                          </p:val>
                                        </p:tav>
                                        <p:tav tm="100000">
                                          <p:val>
                                            <p:strVal val="#ppt_h"/>
                                          </p:val>
                                        </p:tav>
                                      </p:tavLst>
                                    </p:anim>
                                  </p:childTnLst>
                                </p:cTn>
                              </p:par>
                            </p:childTnLst>
                          </p:cTn>
                        </p:par>
                        <p:par>
                          <p:cTn id="270" nodeType="afterEffect" fill="hold">
                            <p:stCondLst>
                              <p:cond delay="1500"/>
                            </p:stCondLst>
                            <p:childTnLst>
                              <p:par>
                                <p:cTn id="271" nodeType="afterEffect" fill="hold" presetClass="entr" presetID="9">
                                  <p:stCondLst>
                                    <p:cond delay="0"/>
                                  </p:stCondLst>
                                  <p:childTnLst>
                                    <p:set>
                                      <p:cBhvr>
                                        <p:cTn id="272" dur="1" fill="hold">
                                          <p:stCondLst>
                                            <p:cond delay="0"/>
                                          </p:stCondLst>
                                        </p:cTn>
                                        <p:tgtEl>
                                          <p:spTgt spid="107"/>
                                        </p:tgtEl>
                                        <p:attrNameLst>
                                          <p:attrName>style.visibility</p:attrName>
                                        </p:attrNameLst>
                                      </p:cBhvr>
                                      <p:to>
                                        <p:strVal val="visible"/>
                                      </p:to>
                                    </p:set>
                                    <p:animEffect filter="dissolve" transition="in">
                                      <p:cBhvr additive="repl">
                                        <p:cTn id="273" dur="500"/>
                                        <p:tgtEl>
                                          <p:spTgt spid="107"/>
                                        </p:tgtEl>
                                      </p:cBhvr>
                                    </p:animEffect>
                                  </p:childTnLst>
                                </p:cTn>
                              </p:par>
                            </p:childTnLst>
                          </p:cTn>
                        </p:par>
                        <p:par>
                          <p:cTn id="274" nodeType="afterEffect" fill="hold">
                            <p:stCondLst>
                              <p:cond delay="2000"/>
                            </p:stCondLst>
                            <p:childTnLst>
                              <p:par>
                                <p:cTn id="275" nodeType="afterEffect" fill="hold" presetClass="entr" presetID="22" presetSubtype="4">
                                  <p:stCondLst>
                                    <p:cond delay="0"/>
                                  </p:stCondLst>
                                  <p:childTnLst>
                                    <p:set>
                                      <p:cBhvr>
                                        <p:cTn id="276" dur="1" fill="hold">
                                          <p:stCondLst>
                                            <p:cond delay="0"/>
                                          </p:stCondLst>
                                        </p:cTn>
                                        <p:tgtEl>
                                          <p:spTgt spid="119"/>
                                        </p:tgtEl>
                                        <p:attrNameLst>
                                          <p:attrName>style.visibility</p:attrName>
                                        </p:attrNameLst>
                                      </p:cBhvr>
                                      <p:to>
                                        <p:strVal val="visible"/>
                                      </p:to>
                                    </p:set>
                                    <p:animEffect filter="wipe(down)" transition="in">
                                      <p:cBhvr additive="repl">
                                        <p:cTn id="277" dur="500"/>
                                        <p:tgtEl>
                                          <p:spTgt spid="119"/>
                                        </p:tgtEl>
                                      </p:cBhvr>
                                    </p:animEffect>
                                  </p:childTnLst>
                                </p:cTn>
                              </p:par>
                            </p:childTnLst>
                          </p:cTn>
                        </p:par>
                      </p:childTnLst>
                    </p:cTn>
                  </p:par>
                  <p:par>
                    <p:cTn id="278" nodeType="clickEffect" fill="hold">
                      <p:stCondLst>
                        <p:cond delay="indefinite"/>
                      </p:stCondLst>
                      <p:childTnLst>
                        <p:par>
                          <p:cTn id="279" nodeType="withEffect" fill="hold">
                            <p:stCondLst>
                              <p:cond delay="0"/>
                            </p:stCondLst>
                            <p:childTnLst>
                              <p:par>
                                <p:cTn id="280" nodeType="clickEffect" fill="hold" presetClass="entr" presetID="17" presetSubtype="8">
                                  <p:stCondLst>
                                    <p:cond delay="0"/>
                                  </p:stCondLst>
                                  <p:childTnLst>
                                    <p:set>
                                      <p:cBhvr>
                                        <p:cTn id="281" dur="1" fill="hold">
                                          <p:stCondLst>
                                            <p:cond delay="0"/>
                                          </p:stCondLst>
                                        </p:cTn>
                                        <p:tgtEl>
                                          <p:spTgt spid="109"/>
                                        </p:tgtEl>
                                        <p:attrNameLst>
                                          <p:attrName>style.visibility</p:attrName>
                                        </p:attrNameLst>
                                      </p:cBhvr>
                                      <p:to>
                                        <p:strVal val="visible"/>
                                      </p:to>
                                    </p:set>
                                    <p:anim calcmode="lin" valueType="num">
                                      <p:cBhvr additive="repl">
                                        <p:cTn id="282" dur="500" fill="hold"/>
                                        <p:tgtEl>
                                          <p:spTgt spid="109"/>
                                        </p:tgtEl>
                                        <p:attrNameLst>
                                          <p:attrName>ppt_x</p:attrName>
                                        </p:attrNameLst>
                                      </p:cBhvr>
                                      <p:tavLst>
                                        <p:tav tm="0">
                                          <p:val>
                                            <p:strVal val="#ppt_x-#ppt_w/2"/>
                                          </p:val>
                                        </p:tav>
                                        <p:tav tm="100000">
                                          <p:val>
                                            <p:strVal val="#ppt_x"/>
                                          </p:val>
                                        </p:tav>
                                      </p:tavLst>
                                    </p:anim>
                                    <p:anim calcmode="lin" valueType="num">
                                      <p:cBhvr additive="repl">
                                        <p:cTn id="283" dur="500" fill="hold"/>
                                        <p:tgtEl>
                                          <p:spTgt spid="109"/>
                                        </p:tgtEl>
                                        <p:attrNameLst>
                                          <p:attrName>ppt_y</p:attrName>
                                        </p:attrNameLst>
                                      </p:cBhvr>
                                      <p:tavLst>
                                        <p:tav tm="0">
                                          <p:val>
                                            <p:strVal val="#ppt_y"/>
                                          </p:val>
                                        </p:tav>
                                        <p:tav tm="100000">
                                          <p:val>
                                            <p:strVal val="#ppt_y"/>
                                          </p:val>
                                        </p:tav>
                                      </p:tavLst>
                                    </p:anim>
                                    <p:anim calcmode="lin" valueType="num">
                                      <p:cBhvr additive="repl">
                                        <p:cTn id="284" dur="500" fill="hold"/>
                                        <p:tgtEl>
                                          <p:spTgt spid="109"/>
                                        </p:tgtEl>
                                        <p:attrNameLst>
                                          <p:attrName>ppt_w</p:attrName>
                                        </p:attrNameLst>
                                      </p:cBhvr>
                                      <p:tavLst>
                                        <p:tav tm="0">
                                          <p:val>
                                            <p:fltVal val="0"/>
                                          </p:val>
                                        </p:tav>
                                        <p:tav tm="100000">
                                          <p:val>
                                            <p:strVal val="#ppt_w"/>
                                          </p:val>
                                        </p:tav>
                                      </p:tavLst>
                                    </p:anim>
                                    <p:anim calcmode="lin" valueType="num">
                                      <p:cBhvr additive="repl">
                                        <p:cTn id="285" dur="500" fill="hold"/>
                                        <p:tgtEl>
                                          <p:spTgt spid="109"/>
                                        </p:tgtEl>
                                        <p:attrNameLst>
                                          <p:attrName>ppt_h</p:attrName>
                                        </p:attrNameLst>
                                      </p:cBhvr>
                                      <p:tavLst>
                                        <p:tav tm="0">
                                          <p:val>
                                            <p:strVal val="#ppt_h"/>
                                          </p:val>
                                        </p:tav>
                                        <p:tav tm="100000">
                                          <p:val>
                                            <p:strVal val="#ppt_h"/>
                                          </p:val>
                                        </p:tav>
                                      </p:tavLst>
                                    </p:anim>
                                  </p:childTnLst>
                                </p:cTn>
                              </p:par>
                            </p:childTnLst>
                          </p:cTn>
                        </p:par>
                        <p:par>
                          <p:cTn id="286" nodeType="afterEffect" fill="hold">
                            <p:stCondLst>
                              <p:cond delay="500"/>
                            </p:stCondLst>
                            <p:childTnLst>
                              <p:par>
                                <p:cTn id="287" nodeType="afterEffect" fill="hold" presetClass="entr" presetID="9">
                                  <p:stCondLst>
                                    <p:cond delay="1000"/>
                                  </p:stCondLst>
                                  <p:iterate type="lt">
                                    <p:tmAbs val="75"/>
                                  </p:iterate>
                                  <p:childTnLst>
                                    <p:set>
                                      <p:cBhvr>
                                        <p:cTn id="288" dur="1" fill="hold">
                                          <p:stCondLst>
                                            <p:cond delay="0"/>
                                          </p:stCondLst>
                                        </p:cTn>
                                        <p:tgtEl>
                                          <p:spTgt spid="110"/>
                                        </p:tgtEl>
                                        <p:attrNameLst>
                                          <p:attrName>style.visibility</p:attrName>
                                        </p:attrNameLst>
                                      </p:cBhvr>
                                      <p:to>
                                        <p:strVal val="visible"/>
                                      </p:to>
                                    </p:set>
                                    <p:animEffect filter="dissolve" transition="in">
                                      <p:cBhvr additive="repl">
                                        <p:cTn id="289" dur="75"/>
                                        <p:tgtEl>
                                          <p:spTgt spid="110"/>
                                        </p:tgtEl>
                                      </p:cBhvr>
                                    </p:animEffect>
                                  </p:childTnLst>
                                </p:cTn>
                              </p:par>
                            </p:childTnLst>
                          </p:cTn>
                        </p:par>
                        <p:par>
                          <p:cTn id="290" nodeType="afterEffect" fill="hold">
                            <p:stCondLst>
                              <p:cond delay="5475"/>
                            </p:stCondLst>
                            <p:childTnLst>
                              <p:par>
                                <p:cTn id="291" nodeType="afterEffect" fill="hold" presetClass="entr" presetID="23" presetSubtype="288">
                                  <p:stCondLst>
                                    <p:cond delay="2000"/>
                                  </p:stCondLst>
                                  <p:childTnLst>
                                    <p:set>
                                      <p:cBhvr>
                                        <p:cTn id="292" dur="1" fill="hold">
                                          <p:stCondLst>
                                            <p:cond delay="0"/>
                                          </p:stCondLst>
                                        </p:cTn>
                                        <p:tgtEl>
                                          <p:spTgt spid="111"/>
                                        </p:tgtEl>
                                        <p:attrNameLst>
                                          <p:attrName>style.visibility</p:attrName>
                                        </p:attrNameLst>
                                      </p:cBhvr>
                                      <p:to>
                                        <p:strVal val="visible"/>
                                      </p:to>
                                    </p:set>
                                    <p:anim calcmode="lin" valueType="num">
                                      <p:cBhvr additive="repl">
                                        <p:cTn id="293" dur="500" fill="hold"/>
                                        <p:tgtEl>
                                          <p:spTgt spid="111"/>
                                        </p:tgtEl>
                                        <p:attrNameLst>
                                          <p:attrName>ppt_w</p:attrName>
                                        </p:attrNameLst>
                                      </p:cBhvr>
                                      <p:tavLst>
                                        <p:tav tm="0">
                                          <p:val>
                                            <p:strVal val="4/3*#ppt_w"/>
                                          </p:val>
                                        </p:tav>
                                        <p:tav tm="100000">
                                          <p:val>
                                            <p:strVal val="#ppt_w"/>
                                          </p:val>
                                        </p:tav>
                                      </p:tavLst>
                                    </p:anim>
                                    <p:anim calcmode="lin" valueType="num">
                                      <p:cBhvr additive="repl">
                                        <p:cTn id="294" dur="500" fill="hold"/>
                                        <p:tgtEl>
                                          <p:spTgt spid="111"/>
                                        </p:tgtEl>
                                        <p:attrNameLst>
                                          <p:attrName>ppt_h</p:attrName>
                                        </p:attrNameLst>
                                      </p:cBhvr>
                                      <p:tavLst>
                                        <p:tav tm="0">
                                          <p:val>
                                            <p:strVal val="4/3*#ppt_h"/>
                                          </p:val>
                                        </p:tav>
                                        <p:tav tm="100000">
                                          <p:val>
                                            <p:strVal val="#ppt_h"/>
                                          </p:val>
                                        </p:tav>
                                      </p:tavLst>
                                    </p:anim>
                                  </p:childTnLst>
                                </p:cTn>
                              </p:par>
                            </p:childTnLst>
                          </p:cTn>
                        </p:par>
                        <p:par>
                          <p:cTn id="295" nodeType="afterEffect" fill="hold">
                            <p:stCondLst>
                              <p:cond delay="7975"/>
                            </p:stCondLst>
                            <p:childTnLst>
                              <p:par>
                                <p:cTn id="296" nodeType="afterEffect" fill="hold" presetClass="entr" presetID="23" presetSubtype="288">
                                  <p:stCondLst>
                                    <p:cond delay="0"/>
                                  </p:stCondLst>
                                  <p:childTnLst>
                                    <p:set>
                                      <p:cBhvr>
                                        <p:cTn id="297" dur="1" fill="hold">
                                          <p:stCondLst>
                                            <p:cond delay="0"/>
                                          </p:stCondLst>
                                        </p:cTn>
                                        <p:tgtEl>
                                          <p:spTgt spid="115"/>
                                        </p:tgtEl>
                                        <p:attrNameLst>
                                          <p:attrName>style.visibility</p:attrName>
                                        </p:attrNameLst>
                                      </p:cBhvr>
                                      <p:to>
                                        <p:strVal val="visible"/>
                                      </p:to>
                                    </p:set>
                                    <p:anim calcmode="lin" valueType="num">
                                      <p:cBhvr additive="repl">
                                        <p:cTn id="298" dur="500" fill="hold"/>
                                        <p:tgtEl>
                                          <p:spTgt spid="115"/>
                                        </p:tgtEl>
                                        <p:attrNameLst>
                                          <p:attrName>ppt_w</p:attrName>
                                        </p:attrNameLst>
                                      </p:cBhvr>
                                      <p:tavLst>
                                        <p:tav tm="0">
                                          <p:val>
                                            <p:strVal val="4/3*#ppt_w"/>
                                          </p:val>
                                        </p:tav>
                                        <p:tav tm="100000">
                                          <p:val>
                                            <p:strVal val="#ppt_w"/>
                                          </p:val>
                                        </p:tav>
                                      </p:tavLst>
                                    </p:anim>
                                    <p:anim calcmode="lin" valueType="num">
                                      <p:cBhvr additive="repl">
                                        <p:cTn id="299" dur="500" fill="hold"/>
                                        <p:tgtEl>
                                          <p:spTgt spid="115"/>
                                        </p:tgtEl>
                                        <p:attrNameLst>
                                          <p:attrName>ppt_h</p:attrName>
                                        </p:attrNameLst>
                                      </p:cBhvr>
                                      <p:tavLst>
                                        <p:tav tm="0">
                                          <p:val>
                                            <p:strVal val="4/3*#ppt_h"/>
                                          </p:val>
                                        </p:tav>
                                        <p:tav tm="100000">
                                          <p:val>
                                            <p:strVal val="#ppt_h"/>
                                          </p:val>
                                        </p:tav>
                                      </p:tavLst>
                                    </p:anim>
                                  </p:childTnLst>
                                </p:cTn>
                              </p:par>
                            </p:childTnLst>
                          </p:cTn>
                        </p:par>
                        <p:par>
                          <p:cTn id="300" nodeType="afterEffect" fill="hold">
                            <p:stCondLst>
                              <p:cond delay="8475"/>
                            </p:stCondLst>
                            <p:childTnLst>
                              <p:par>
                                <p:cTn id="301" nodeType="afterEffect" fill="hold" presetClass="entr" presetID="23" presetSubtype="288">
                                  <p:stCondLst>
                                    <p:cond delay="0"/>
                                  </p:stCondLst>
                                  <p:childTnLst>
                                    <p:set>
                                      <p:cBhvr>
                                        <p:cTn id="302" dur="1" fill="hold">
                                          <p:stCondLst>
                                            <p:cond delay="0"/>
                                          </p:stCondLst>
                                        </p:cTn>
                                        <p:tgtEl>
                                          <p:spTgt spid="114"/>
                                        </p:tgtEl>
                                        <p:attrNameLst>
                                          <p:attrName>style.visibility</p:attrName>
                                        </p:attrNameLst>
                                      </p:cBhvr>
                                      <p:to>
                                        <p:strVal val="visible"/>
                                      </p:to>
                                    </p:set>
                                    <p:anim calcmode="lin" valueType="num">
                                      <p:cBhvr additive="repl">
                                        <p:cTn id="303" dur="500" fill="hold"/>
                                        <p:tgtEl>
                                          <p:spTgt spid="114"/>
                                        </p:tgtEl>
                                        <p:attrNameLst>
                                          <p:attrName>ppt_w</p:attrName>
                                        </p:attrNameLst>
                                      </p:cBhvr>
                                      <p:tavLst>
                                        <p:tav tm="0">
                                          <p:val>
                                            <p:strVal val="4/3*#ppt_w"/>
                                          </p:val>
                                        </p:tav>
                                        <p:tav tm="100000">
                                          <p:val>
                                            <p:strVal val="#ppt_w"/>
                                          </p:val>
                                        </p:tav>
                                      </p:tavLst>
                                    </p:anim>
                                    <p:anim calcmode="lin" valueType="num">
                                      <p:cBhvr additive="repl">
                                        <p:cTn id="304" dur="500" fill="hold"/>
                                        <p:tgtEl>
                                          <p:spTgt spid="114"/>
                                        </p:tgtEl>
                                        <p:attrNameLst>
                                          <p:attrName>ppt_h</p:attrName>
                                        </p:attrNameLst>
                                      </p:cBhvr>
                                      <p:tavLst>
                                        <p:tav tm="0">
                                          <p:val>
                                            <p:strVal val="4/3*#ppt_h"/>
                                          </p:val>
                                        </p:tav>
                                        <p:tav tm="100000">
                                          <p:val>
                                            <p:strVal val="#ppt_h"/>
                                          </p:val>
                                        </p:tav>
                                      </p:tavLst>
                                    </p:anim>
                                  </p:childTnLst>
                                </p:cTn>
                              </p:par>
                            </p:childTnLst>
                          </p:cTn>
                        </p:par>
                        <p:par>
                          <p:cTn id="305" nodeType="afterEffect" fill="hold">
                            <p:stCondLst>
                              <p:cond delay="8975"/>
                            </p:stCondLst>
                            <p:childTnLst>
                              <p:par>
                                <p:cTn id="306" nodeType="afterEffect" fill="hold" presetClass="entr" presetID="1">
                                  <p:stCondLst>
                                    <p:cond delay="0"/>
                                  </p:stCondLst>
                                  <p:childTnLst>
                                    <p:set>
                                      <p:cBhvr>
                                        <p:cTn id="307" dur="1" fill="hold">
                                          <p:stCondLst>
                                            <p:cond delay="499"/>
                                          </p:stCondLst>
                                        </p:cTn>
                                        <p:tgtEl>
                                          <p:spTgt spid="112"/>
                                        </p:tgtEl>
                                        <p:attrNameLst>
                                          <p:attrName>style.visibility</p:attrName>
                                        </p:attrNameLst>
                                      </p:cBhvr>
                                      <p:to>
                                        <p:strVal val="visible"/>
                                      </p:to>
                                    </p:set>
                                  </p:childTnLst>
                                </p:cTn>
                              </p:par>
                            </p:childTnLst>
                          </p:cTn>
                        </p:par>
                        <p:par>
                          <p:cTn id="308" nodeType="afterEffect" fill="hold">
                            <p:stCondLst>
                              <p:cond delay="9475"/>
                            </p:stCondLst>
                            <p:childTnLst>
                              <p:par>
                                <p:cTn id="309" nodeType="afterEffect" fill="hold" presetClass="entr" presetID="1">
                                  <p:stCondLst>
                                    <p:cond delay="0"/>
                                  </p:stCondLst>
                                  <p:childTnLst>
                                    <p:set>
                                      <p:cBhvr>
                                        <p:cTn id="310" dur="1" fill="hold">
                                          <p:stCondLst>
                                            <p:cond delay="499"/>
                                          </p:stCondLst>
                                        </p:cTn>
                                        <p:tgtEl>
                                          <p:spTgt spid="113"/>
                                        </p:tgtEl>
                                        <p:attrNameLst>
                                          <p:attrName>style.visibility</p:attrName>
                                        </p:attrNameLst>
                                      </p:cBhvr>
                                      <p:to>
                                        <p:strVal val="visible"/>
                                      </p:to>
                                    </p:set>
                                  </p:childTnLst>
                                </p:cTn>
                              </p:par>
                            </p:childTnLst>
                          </p:cTn>
                        </p:par>
                        <p:par>
                          <p:cTn id="311" nodeType="afterEffect" fill="hold">
                            <p:stCondLst>
                              <p:cond delay="10475"/>
                            </p:stCondLst>
                            <p:childTnLst>
                              <p:par>
                                <p:cTn id="312" nodeType="afterEffect" fill="hold" presetClass="entr" presetID="1">
                                  <p:stCondLst>
                                    <p:cond delay="0"/>
                                  </p:stCondLst>
                                  <p:childTnLst>
                                    <p:set>
                                      <p:cBhvr>
                                        <p:cTn id="313" dur="1" fill="hold">
                                          <p:stCondLst>
                                            <p:cond delay="499"/>
                                          </p:stCondLst>
                                        </p:cTn>
                                        <p:tgtEl>
                                          <p:spTgt spid="1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23" name="Objet 1"/>
          <p:cNvGraphicFramePr/>
          <p:nvPr/>
        </p:nvGraphicFramePr>
        <p:xfrm>
          <a:off x="108000" y="0"/>
          <a:ext cx="2620800" cy="3933720"/>
        </p:xfrm>
        <a:graphic>
          <a:graphicData uri="http://schemas.openxmlformats.org/presentationml/2006/ole">
            <p:oleObj r:id="rId1" spid="">
              <p:embed/>
              <p:pic>
                <p:nvPicPr>
                  <p:cNvPr id="124" name="Objet 1" descr=""/>
                  <p:cNvPicPr/>
                  <p:nvPr/>
                </p:nvPicPr>
                <p:blipFill>
                  <a:blip r:embed="rId2"/>
                  <a:stretch/>
                </p:blipFill>
                <p:spPr>
                  <a:xfrm>
                    <a:off x="108000" y="0"/>
                    <a:ext cx="2620800" cy="3933720"/>
                  </a:xfrm>
                  <a:prstGeom prst="rect">
                    <a:avLst/>
                  </a:prstGeom>
                  <a:noFill/>
                  <a:ln w="9360">
                    <a:solidFill>
                      <a:srgbClr val="ffff00"/>
                    </a:solidFill>
                    <a:miter/>
                  </a:ln>
                </p:spPr>
              </p:pic>
            </p:oleObj>
          </a:graphicData>
        </a:graphic>
      </p:graphicFrame>
      <p:graphicFrame>
        <p:nvGraphicFramePr>
          <p:cNvPr id="125" name="Objet 2"/>
          <p:cNvGraphicFramePr/>
          <p:nvPr/>
        </p:nvGraphicFramePr>
        <p:xfrm>
          <a:off x="2916360" y="1484280"/>
          <a:ext cx="2639880" cy="3776760"/>
        </p:xfrm>
        <a:graphic>
          <a:graphicData uri="http://schemas.openxmlformats.org/presentationml/2006/ole">
            <p:oleObj r:id="rId3" spid="">
              <p:embed/>
              <p:pic>
                <p:nvPicPr>
                  <p:cNvPr id="126" name="Objet 2" descr=""/>
                  <p:cNvPicPr/>
                  <p:nvPr/>
                </p:nvPicPr>
                <p:blipFill>
                  <a:blip r:embed="rId4"/>
                  <a:stretch/>
                </p:blipFill>
                <p:spPr>
                  <a:xfrm>
                    <a:off x="2916360" y="1484280"/>
                    <a:ext cx="2639880" cy="3776760"/>
                  </a:xfrm>
                  <a:prstGeom prst="rect">
                    <a:avLst/>
                  </a:prstGeom>
                  <a:noFill/>
                  <a:ln w="12600">
                    <a:solidFill>
                      <a:srgbClr val="ffff00"/>
                    </a:solidFill>
                    <a:miter/>
                  </a:ln>
                </p:spPr>
              </p:pic>
            </p:oleObj>
          </a:graphicData>
        </a:graphic>
      </p:graphicFrame>
      <p:graphicFrame>
        <p:nvGraphicFramePr>
          <p:cNvPr id="127" name="Objet 3"/>
          <p:cNvGraphicFramePr/>
          <p:nvPr/>
        </p:nvGraphicFramePr>
        <p:xfrm>
          <a:off x="5796000" y="2492280"/>
          <a:ext cx="2944800" cy="4208400"/>
        </p:xfrm>
        <a:graphic>
          <a:graphicData uri="http://schemas.openxmlformats.org/presentationml/2006/ole">
            <p:oleObj r:id="rId5" spid="">
              <p:embed/>
              <p:pic>
                <p:nvPicPr>
                  <p:cNvPr id="128" name="Objet 3" descr=""/>
                  <p:cNvPicPr/>
                  <p:nvPr/>
                </p:nvPicPr>
                <p:blipFill>
                  <a:blip r:embed="rId6"/>
                  <a:stretch/>
                </p:blipFill>
                <p:spPr>
                  <a:xfrm>
                    <a:off x="5796000" y="2492280"/>
                    <a:ext cx="2944800" cy="4208400"/>
                  </a:xfrm>
                  <a:prstGeom prst="rect">
                    <a:avLst/>
                  </a:prstGeom>
                  <a:noFill/>
                  <a:ln w="0">
                    <a:noFill/>
                  </a:ln>
                </p:spPr>
              </p:pic>
            </p:oleObj>
          </a:graphicData>
        </a:graphic>
      </p:graphicFrame>
    </p:spTree>
  </p:cSld>
  <p:transition spd="med">
    <p:zoom dir="out"/>
  </p:transition>
  <p:timing>
    <p:tnLst>
      <p:par>
        <p:cTn id="314" dur="indefinite" restart="never" nodeType="tmRoot">
          <p:childTnLst>
            <p:seq>
              <p:cTn id="315" dur="indefinite" nodeType="mainSeq">
                <p:childTnLst>
                  <p:par>
                    <p:cTn id="316" nodeType="clickEffect" fill="hold">
                      <p:stCondLst>
                        <p:cond delay="0"/>
                      </p:stCondLst>
                      <p:childTnLst>
                        <p:par>
                          <p:cTn id="317" nodeType="withEffect" fill="hold">
                            <p:stCondLst>
                              <p:cond delay="0"/>
                            </p:stCondLst>
                            <p:childTnLst>
                              <p:par>
                                <p:cTn id="318" nodeType="afterEffect" fill="hold" presetClass="entr" presetID="5" presetSubtype="10">
                                  <p:stCondLst>
                                    <p:cond delay="0"/>
                                  </p:stCondLst>
                                  <p:childTnLst>
                                    <p:set>
                                      <p:cBhvr>
                                        <p:cTn id="319" dur="1" fill="hold">
                                          <p:stCondLst>
                                            <p:cond delay="0"/>
                                          </p:stCondLst>
                                        </p:cTn>
                                        <p:tgtEl>
                                          <p:spTgt spid="124"/>
                                        </p:tgtEl>
                                        <p:attrNameLst>
                                          <p:attrName>style.visibility</p:attrName>
                                        </p:attrNameLst>
                                      </p:cBhvr>
                                      <p:to>
                                        <p:strVal val="visible"/>
                                      </p:to>
                                    </p:set>
                                    <p:animEffect filter="checkerboard(across)" transition="in">
                                      <p:cBhvr additive="repl">
                                        <p:cTn id="320" dur="500"/>
                                        <p:tgtEl>
                                          <p:spTgt spid="124"/>
                                        </p:tgtEl>
                                      </p:cBhvr>
                                    </p:animEffect>
                                  </p:childTnLst>
                                </p:cTn>
                              </p:par>
                            </p:childTnLst>
                          </p:cTn>
                        </p:par>
                        <p:par>
                          <p:cTn id="321" nodeType="afterEffect" fill="hold">
                            <p:stCondLst>
                              <p:cond delay="500"/>
                            </p:stCondLst>
                            <p:childTnLst>
                              <p:par>
                                <p:cTn id="322" nodeType="afterEffect" fill="hold" presetClass="entr" presetID="53" presetSubtype="16" repeatCount="1000">
                                  <p:stCondLst>
                                    <p:cond delay="1500"/>
                                  </p:stCondLst>
                                  <p:childTnLst>
                                    <p:set>
                                      <p:cBhvr>
                                        <p:cTn id="323" dur="1" fill="hold">
                                          <p:stCondLst>
                                            <p:cond delay="0"/>
                                          </p:stCondLst>
                                        </p:cTn>
                                        <p:tgtEl>
                                          <p:spTgt spid="126"/>
                                        </p:tgtEl>
                                        <p:attrNameLst>
                                          <p:attrName>style.visibility</p:attrName>
                                        </p:attrNameLst>
                                      </p:cBhvr>
                                      <p:to>
                                        <p:strVal val="visible"/>
                                      </p:to>
                                    </p:set>
                                    <p:anim calcmode="lin" valueType="num">
                                      <p:cBhvr additive="repl">
                                        <p:cTn id="324" dur="1500" fill="hold"/>
                                        <p:tgtEl>
                                          <p:spTgt spid="126"/>
                                        </p:tgtEl>
                                        <p:attrNameLst>
                                          <p:attrName>ppt_w</p:attrName>
                                        </p:attrNameLst>
                                      </p:cBhvr>
                                      <p:tavLst>
                                        <p:tav tm="0">
                                          <p:val>
                                            <p:fltVal val="0"/>
                                          </p:val>
                                        </p:tav>
                                        <p:tav tm="100000">
                                          <p:val>
                                            <p:strVal val="#ppt_w"/>
                                          </p:val>
                                        </p:tav>
                                      </p:tavLst>
                                    </p:anim>
                                    <p:anim calcmode="lin" valueType="num">
                                      <p:cBhvr additive="repl">
                                        <p:cTn id="325" dur="1500" fill="hold"/>
                                        <p:tgtEl>
                                          <p:spTgt spid="126"/>
                                        </p:tgtEl>
                                        <p:attrNameLst>
                                          <p:attrName>ppt_h</p:attrName>
                                        </p:attrNameLst>
                                      </p:cBhvr>
                                      <p:tavLst>
                                        <p:tav tm="0">
                                          <p:val>
                                            <p:fltVal val="0"/>
                                          </p:val>
                                        </p:tav>
                                        <p:tav tm="100000">
                                          <p:val>
                                            <p:strVal val="#ppt_h"/>
                                          </p:val>
                                        </p:tav>
                                      </p:tavLst>
                                    </p:anim>
                                    <p:animEffect filter="fade" transition="in">
                                      <p:cBhvr additive="repl">
                                        <p:cTn id="326" dur="1500"/>
                                        <p:tgtEl>
                                          <p:spTgt spid="126"/>
                                        </p:tgtEl>
                                      </p:cBhvr>
                                    </p:animEffect>
                                  </p:childTnLst>
                                </p:cTn>
                              </p:par>
                            </p:childTnLst>
                          </p:cTn>
                        </p:par>
                        <p:par>
                          <p:cTn id="327" nodeType="afterEffect" fill="hold">
                            <p:stCondLst>
                              <p:cond delay="3500"/>
                            </p:stCondLst>
                            <p:childTnLst>
                              <p:par>
                                <p:cTn id="328" nodeType="afterEffect" fill="hold" presetClass="entr" presetID="53" presetSubtype="16" repeatCount="1000">
                                  <p:stCondLst>
                                    <p:cond delay="2000"/>
                                  </p:stCondLst>
                                  <p:childTnLst>
                                    <p:set>
                                      <p:cBhvr>
                                        <p:cTn id="329" dur="1" fill="hold">
                                          <p:stCondLst>
                                            <p:cond delay="0"/>
                                          </p:stCondLst>
                                        </p:cTn>
                                        <p:tgtEl>
                                          <p:spTgt spid="128"/>
                                        </p:tgtEl>
                                        <p:attrNameLst>
                                          <p:attrName>style.visibility</p:attrName>
                                        </p:attrNameLst>
                                      </p:cBhvr>
                                      <p:to>
                                        <p:strVal val="visible"/>
                                      </p:to>
                                    </p:set>
                                    <p:anim calcmode="lin" valueType="num">
                                      <p:cBhvr additive="repl">
                                        <p:cTn id="330" dur="1750" fill="hold"/>
                                        <p:tgtEl>
                                          <p:spTgt spid="128"/>
                                        </p:tgtEl>
                                        <p:attrNameLst>
                                          <p:attrName>ppt_w</p:attrName>
                                        </p:attrNameLst>
                                      </p:cBhvr>
                                      <p:tavLst>
                                        <p:tav tm="0">
                                          <p:val>
                                            <p:fltVal val="0"/>
                                          </p:val>
                                        </p:tav>
                                        <p:tav tm="100000">
                                          <p:val>
                                            <p:strVal val="#ppt_w"/>
                                          </p:val>
                                        </p:tav>
                                      </p:tavLst>
                                    </p:anim>
                                    <p:anim calcmode="lin" valueType="num">
                                      <p:cBhvr additive="repl">
                                        <p:cTn id="331" dur="1750" fill="hold"/>
                                        <p:tgtEl>
                                          <p:spTgt spid="128"/>
                                        </p:tgtEl>
                                        <p:attrNameLst>
                                          <p:attrName>ppt_h</p:attrName>
                                        </p:attrNameLst>
                                      </p:cBhvr>
                                      <p:tavLst>
                                        <p:tav tm="0">
                                          <p:val>
                                            <p:fltVal val="0"/>
                                          </p:val>
                                        </p:tav>
                                        <p:tav tm="100000">
                                          <p:val>
                                            <p:strVal val="#ppt_h"/>
                                          </p:val>
                                        </p:tav>
                                      </p:tavLst>
                                    </p:anim>
                                    <p:animEffect filter="fade" transition="in">
                                      <p:cBhvr additive="repl">
                                        <p:cTn id="332" dur="175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29" name=""/>
          <p:cNvGraphicFramePr/>
          <p:nvPr/>
        </p:nvGraphicFramePr>
        <p:xfrm>
          <a:off x="0" y="115920"/>
          <a:ext cx="9144000" cy="6649920"/>
        </p:xfrm>
        <a:graphic>
          <a:graphicData uri="http://schemas.openxmlformats.org/drawingml/2006/table">
            <a:tbl>
              <a:tblPr/>
              <a:tblGrid>
                <a:gridCol w="1258920"/>
                <a:gridCol w="1657440"/>
                <a:gridCol w="2879640"/>
                <a:gridCol w="3348000"/>
              </a:tblGrid>
              <a:tr h="1202040">
                <a:tc gridSpan="4">
                  <a:txBody>
                    <a:bodyPr lIns="90000" rIns="9000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Tableau 2 : Comment choisir les mesures et les tests en fonction des sports et des deux premières étapes du Programme Sport-Eval : 1- AIDE AU CHOIX (goût pour le sport + capacités requises). 2- DETECTION DES TALENTS (motivation + progrès rapides + capacités d’entraînement).</a:t>
                      </a:r>
                      <a:endParaRPr b="0" lang="en-US" sz="1600" strike="noStrike" u="none">
                        <a:solidFill>
                          <a:srgbClr val="ffff00"/>
                        </a:solidFill>
                        <a:effectLst/>
                        <a:uFillTx/>
                        <a:latin typeface="Times New Roman"/>
                      </a:endParaRPr>
                    </a:p>
                  </a:txBody>
                  <a:tcPr anchor="t" marL="90000" marR="90000">
                    <a:lnL>
                      <a:noFill/>
                    </a:lnL>
                    <a:lnR>
                      <a:noFill/>
                    </a:lnR>
                    <a:lnT>
                      <a:noFill/>
                    </a:lnT>
                    <a:lnB w="5760">
                      <a:solidFill>
                        <a:srgbClr val="000000"/>
                      </a:solidFill>
                      <a:prstDash val="solid"/>
                    </a:lnB>
                    <a:solidFill>
                      <a:srgbClr val="efeff9"/>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1757160">
                <a:tc gridSpan="4">
                  <a:txBody>
                    <a:bodyPr lIns="90000" rIns="9000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Rappel des contenus des batteries : 1 = taille,  2 = poids, 3 = IMC, 4 = équilibre, 5 = adresse, 6 = souplesse, 7 = vitesse (50m), 8 = vitesse navette (10 x 5m), 9 = détente verticale, 10 = saut en longueur sans élan, 11 = lancer « touche », 12 = lancer balles lestées, 13 = abdominaux, 14 = pompes, 15 = Burpees, 16 = L. Léger ou VAM-EVAL, 17 = 6 minutes course</a:t>
                      </a:r>
                      <a:endParaRPr b="0" lang="en-US" sz="1600" strike="noStrike" u="none">
                        <a:solidFill>
                          <a:srgbClr val="ffff00"/>
                        </a:solidFill>
                        <a:effectLst/>
                        <a:uFillTx/>
                        <a:latin typeface="Times New Roman"/>
                      </a:endParaRPr>
                    </a:p>
                  </a:txBody>
                  <a:tcPr anchor="t" marL="90000" marR="90000">
                    <a:lnL>
                      <a:noFill/>
                    </a:lnL>
                    <a:lnR>
                      <a:noFill/>
                    </a:lnR>
                    <a:lnT w="5760">
                      <a:solidFill>
                        <a:srgbClr val="000000"/>
                      </a:solidFill>
                      <a:prstDash val="solid"/>
                    </a:lnT>
                    <a:lnB w="5760">
                      <a:solidFill>
                        <a:srgbClr val="000000"/>
                      </a:solidFill>
                      <a:prstDash val="solid"/>
                    </a:lnB>
                    <a:solidFill>
                      <a:srgbClr val="ffffcc"/>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609840">
                <a:tc gridSpan="4">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0000"/>
                          </a:solidFill>
                          <a:effectLst/>
                          <a:uFillTx/>
                          <a:latin typeface="Calibri"/>
                          <a:ea typeface="Calibri"/>
                        </a:rPr>
                        <a:t>                                                   </a:t>
                      </a:r>
                      <a:r>
                        <a:rPr b="1" lang="fr-FR" sz="1600" strike="noStrike" u="none">
                          <a:solidFill>
                            <a:srgbClr val="000000"/>
                          </a:solidFill>
                          <a:effectLst/>
                          <a:uFillTx/>
                          <a:latin typeface="Calibri"/>
                          <a:ea typeface="Calibri"/>
                        </a:rPr>
                        <a:t>AIDE AU CHOIX…………………………………………...+ DETECTION DES TALENTS</a:t>
                      </a:r>
                      <a:endParaRPr b="0" lang="en-US" sz="1600" strike="noStrike" u="none">
                        <a:solidFill>
                          <a:srgbClr val="ffff00"/>
                        </a:solidFill>
                        <a:effectLst/>
                        <a:uFillTx/>
                        <a:latin typeface="Times New Roman"/>
                      </a:endParaRPr>
                    </a:p>
                  </a:txBody>
                  <a:tcPr anchor="t" marL="90000" marR="90000">
                    <a:lnL>
                      <a:noFill/>
                    </a:lnL>
                    <a:lnR>
                      <a:noFill/>
                    </a:lnR>
                    <a:lnT w="5760">
                      <a:solidFill>
                        <a:srgbClr val="000000"/>
                      </a:solidFill>
                      <a:prstDash val="solid"/>
                    </a:lnT>
                    <a:lnB w="5760">
                      <a:solidFill>
                        <a:srgbClr val="000000"/>
                      </a:solidFill>
                      <a:prstDash val="solid"/>
                    </a:lnB>
                    <a:solidFill>
                      <a:srgbClr val="d6d6f5"/>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555480">
                <a:tc>
                  <a:txBody>
                    <a:bodyPr lIns="90000" rIns="900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SPORTS</a:t>
                      </a:r>
                      <a:endParaRPr b="0" lang="en-US" sz="1600" strike="noStrike" u="none">
                        <a:solidFill>
                          <a:srgbClr val="ffff00"/>
                        </a:solidFill>
                        <a:effectLst/>
                        <a:uFillTx/>
                        <a:latin typeface="Times New Roman"/>
                      </a:endParaRPr>
                    </a:p>
                  </a:txBody>
                  <a:tcPr anchor="t" marL="90000" marR="90000">
                    <a:lnL>
                      <a:noFill/>
                    </a:lnL>
                    <a:lnR w="5760">
                      <a:solidFill>
                        <a:srgbClr val="000000"/>
                      </a:solidFill>
                      <a:prstDash val="solid"/>
                    </a:lnR>
                    <a:lnT w="5760">
                      <a:solidFill>
                        <a:srgbClr val="000000"/>
                      </a:solidFill>
                      <a:prstDash val="solid"/>
                    </a:lnT>
                    <a:lnB w="5760">
                      <a:solidFill>
                        <a:srgbClr val="000000"/>
                      </a:solidFill>
                      <a:prstDash val="solid"/>
                    </a:lnB>
                    <a:solidFill>
                      <a:srgbClr val="cbecde"/>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BIOMETRIE</a:t>
                      </a:r>
                      <a:endParaRPr b="0" lang="en-US" sz="1600" strike="noStrike" u="none">
                        <a:solidFill>
                          <a:srgbClr val="ffff00"/>
                        </a:solidFill>
                        <a:effectLst/>
                        <a:uFillTx/>
                        <a:latin typeface="Times New Roman"/>
                      </a:endParaRPr>
                    </a:p>
                  </a:txBody>
                  <a:tcPr anchor="t" marL="39960" marR="3996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cbecde"/>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CAPACITES MOTRICES DE BASE</a:t>
                      </a:r>
                      <a:endParaRPr b="0" lang="en-US" sz="1600" strike="noStrike" u="none">
                        <a:solidFill>
                          <a:srgbClr val="ffff00"/>
                        </a:solidFill>
                        <a:effectLst/>
                        <a:uFillTx/>
                        <a:latin typeface="Times New Roman"/>
                      </a:endParaRPr>
                    </a:p>
                  </a:txBody>
                  <a:tcPr anchor="t" marL="39960" marR="3996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cbecde"/>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CAPACITES SPECIFIQUES</a:t>
                      </a:r>
                      <a:endParaRPr b="0" lang="en-US" sz="1600" strike="noStrike" u="none">
                        <a:solidFill>
                          <a:srgbClr val="ffff00"/>
                        </a:solidFill>
                        <a:effectLst/>
                        <a:uFillTx/>
                        <a:latin typeface="Times New Roman"/>
                      </a:endParaRPr>
                    </a:p>
                  </a:txBody>
                  <a:tcPr anchor="t" marL="39960" marR="39960">
                    <a:lnL w="5760">
                      <a:solidFill>
                        <a:srgbClr val="000000"/>
                      </a:solidFill>
                      <a:prstDash val="solid"/>
                    </a:lnL>
                    <a:lnR>
                      <a:noFill/>
                    </a:lnR>
                    <a:lnT w="5760">
                      <a:solidFill>
                        <a:srgbClr val="000000"/>
                      </a:solidFill>
                      <a:prstDash val="solid"/>
                    </a:lnT>
                    <a:lnB w="5760">
                      <a:solidFill>
                        <a:srgbClr val="000000"/>
                      </a:solidFill>
                      <a:prstDash val="solid"/>
                    </a:lnB>
                    <a:solidFill>
                      <a:srgbClr val="cbecde"/>
                    </a:solidFill>
                  </a:tcPr>
                </a:tc>
              </a:tr>
              <a:tr h="4685040">
                <a:tc>
                  <a:txBody>
                    <a:bodyPr lIns="90000" rIns="9000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ATHLETISME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Courses</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Sauts</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Lancers</a:t>
                      </a:r>
                      <a:endParaRPr b="0" lang="en-US" sz="1600" strike="noStrike" u="none">
                        <a:solidFill>
                          <a:srgbClr val="ffff00"/>
                        </a:solidFill>
                        <a:effectLst/>
                        <a:uFillTx/>
                        <a:latin typeface="Times New Roman"/>
                      </a:endParaRPr>
                    </a:p>
                  </a:txBody>
                  <a:tcPr anchor="t" marL="90000" marR="90000">
                    <a:lnL>
                      <a:noFill/>
                    </a:lnL>
                    <a:lnR w="5760">
                      <a:solidFill>
                        <a:srgbClr val="000000"/>
                      </a:solidFill>
                      <a:prstDash val="solid"/>
                    </a:lnR>
                    <a:lnT w="5760">
                      <a:solidFill>
                        <a:srgbClr val="000000"/>
                      </a:solidFill>
                      <a:prstDash val="solid"/>
                    </a:lnT>
                    <a:lnB>
                      <a:noFill/>
                    </a:lnB>
                    <a:solidFill>
                      <a:srgbClr val="e7f6ef"/>
                    </a:solidFill>
                  </a:tcPr>
                </a:tc>
                <a:tc>
                  <a:txBody>
                    <a:bodyPr lIns="39960" rIns="39960" tIns="0" bIns="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 2, 3 + taille assis + % graisse + enfourchure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Idem</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Idem + envergure + circonférence biceps</a:t>
                      </a:r>
                      <a:endParaRPr b="0" lang="en-US" sz="1600" strike="noStrike" u="none">
                        <a:solidFill>
                          <a:srgbClr val="ffff00"/>
                        </a:solidFill>
                        <a:effectLst/>
                        <a:uFillTx/>
                        <a:latin typeface="Times New Roman"/>
                      </a:endParaRPr>
                    </a:p>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txBody>
                  <a:tcPr anchor="t" marL="39960" marR="39960">
                    <a:lnL w="5760">
                      <a:solidFill>
                        <a:srgbClr val="000000"/>
                      </a:solidFill>
                      <a:prstDash val="solid"/>
                    </a:lnL>
                    <a:lnR w="5760">
                      <a:solidFill>
                        <a:srgbClr val="000000"/>
                      </a:solidFill>
                      <a:prstDash val="solid"/>
                    </a:lnR>
                    <a:lnT w="5760">
                      <a:solidFill>
                        <a:srgbClr val="000000"/>
                      </a:solidFill>
                      <a:prstDash val="solid"/>
                    </a:lnT>
                    <a:lnB>
                      <a:noFill/>
                    </a:lnB>
                    <a:solidFill>
                      <a:srgbClr val="e7f6ef"/>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none">
                          <a:solidFill>
                            <a:srgbClr val="000000"/>
                          </a:solidFill>
                          <a:effectLst/>
                          <a:uFillTx/>
                          <a:latin typeface="Calibri"/>
                          <a:ea typeface="Calibri"/>
                        </a:rPr>
                        <a:t>Sprint : </a:t>
                      </a:r>
                      <a:r>
                        <a:rPr b="1" lang="fr-FR" sz="1600" strike="noStrike" u="none">
                          <a:solidFill>
                            <a:srgbClr val="000000"/>
                          </a:solidFill>
                          <a:effectLst/>
                          <a:uFillTx/>
                          <a:latin typeface="Calibri"/>
                          <a:ea typeface="Calibri"/>
                        </a:rPr>
                        <a:t>7, 8, 9. </a:t>
                      </a:r>
                      <a:r>
                        <a:rPr b="1" i="1" lang="fr-FR" sz="1600" strike="noStrike" u="none">
                          <a:solidFill>
                            <a:srgbClr val="000000"/>
                          </a:solidFill>
                          <a:effectLst/>
                          <a:uFillTx/>
                          <a:latin typeface="Calibri"/>
                          <a:ea typeface="Calibri"/>
                        </a:rPr>
                        <a:t>Demi-fond : </a:t>
                      </a:r>
                      <a:r>
                        <a:rPr b="1" lang="fr-FR" sz="1600" strike="noStrike" u="none">
                          <a:solidFill>
                            <a:srgbClr val="000000"/>
                          </a:solidFill>
                          <a:effectLst/>
                          <a:uFillTx/>
                          <a:latin typeface="Calibri"/>
                          <a:ea typeface="Calibri"/>
                        </a:rPr>
                        <a:t>7, 16, 17. </a:t>
                      </a:r>
                      <a:r>
                        <a:rPr b="1" i="1" lang="fr-FR" sz="1600" strike="noStrike" u="none">
                          <a:solidFill>
                            <a:srgbClr val="000000"/>
                          </a:solidFill>
                          <a:effectLst/>
                          <a:uFillTx/>
                          <a:latin typeface="Calibri"/>
                          <a:ea typeface="Calibri"/>
                        </a:rPr>
                        <a:t>Haies : </a:t>
                      </a:r>
                      <a:r>
                        <a:rPr b="1" lang="fr-FR" sz="1600" strike="noStrike" u="none">
                          <a:solidFill>
                            <a:srgbClr val="000000"/>
                          </a:solidFill>
                          <a:effectLst/>
                          <a:uFillTx/>
                          <a:latin typeface="Calibri"/>
                          <a:ea typeface="Calibri"/>
                        </a:rPr>
                        <a:t>6, 7, 8, 9, 10, 13, 15</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none">
                          <a:solidFill>
                            <a:srgbClr val="000000"/>
                          </a:solidFill>
                          <a:effectLst/>
                          <a:uFillTx/>
                          <a:latin typeface="Calibri"/>
                          <a:ea typeface="Calibri"/>
                        </a:rPr>
                        <a:t>Hauteur : </a:t>
                      </a:r>
                      <a:r>
                        <a:rPr b="1" lang="fr-FR" sz="1600" strike="noStrike" u="none">
                          <a:solidFill>
                            <a:srgbClr val="000000"/>
                          </a:solidFill>
                          <a:effectLst/>
                          <a:uFillTx/>
                          <a:latin typeface="Calibri"/>
                          <a:ea typeface="Calibri"/>
                        </a:rPr>
                        <a:t>6, 7, 9, 13, 15. </a:t>
                      </a:r>
                      <a:r>
                        <a:rPr b="1" i="1" lang="fr-FR" sz="1600" strike="noStrike" u="none">
                          <a:solidFill>
                            <a:srgbClr val="000000"/>
                          </a:solidFill>
                          <a:effectLst/>
                          <a:uFillTx/>
                          <a:latin typeface="Calibri"/>
                          <a:ea typeface="Calibri"/>
                        </a:rPr>
                        <a:t>Longueur, Triple saut </a:t>
                      </a:r>
                      <a:r>
                        <a:rPr b="1" lang="fr-FR" sz="1600" strike="noStrike" u="none">
                          <a:solidFill>
                            <a:srgbClr val="000000"/>
                          </a:solidFill>
                          <a:effectLst/>
                          <a:uFillTx/>
                          <a:latin typeface="Calibri"/>
                          <a:ea typeface="Calibri"/>
                        </a:rPr>
                        <a:t>: 6, 7, 9, 10,  13, 15. </a:t>
                      </a:r>
                      <a:r>
                        <a:rPr b="1" i="1" lang="fr-FR" sz="1600" strike="noStrike" u="none">
                          <a:solidFill>
                            <a:srgbClr val="000000"/>
                          </a:solidFill>
                          <a:effectLst/>
                          <a:uFillTx/>
                          <a:latin typeface="Calibri"/>
                          <a:ea typeface="Calibri"/>
                        </a:rPr>
                        <a:t>Perche </a:t>
                      </a:r>
                      <a:r>
                        <a:rPr b="1" lang="fr-FR" sz="1600" strike="noStrike" u="none">
                          <a:solidFill>
                            <a:srgbClr val="000000"/>
                          </a:solidFill>
                          <a:effectLst/>
                          <a:uFillTx/>
                          <a:latin typeface="Calibri"/>
                          <a:ea typeface="Calibri"/>
                        </a:rPr>
                        <a:t>: idem + 14 + Tractions à la barre fixe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none">
                          <a:solidFill>
                            <a:srgbClr val="000000"/>
                          </a:solidFill>
                          <a:effectLst/>
                          <a:uFillTx/>
                          <a:latin typeface="Calibri"/>
                          <a:ea typeface="Calibri"/>
                        </a:rPr>
                        <a:t>Poids, disque, javelot, marteau</a:t>
                      </a:r>
                      <a:r>
                        <a:rPr b="1" lang="fr-FR" sz="1600" strike="noStrike" u="none">
                          <a:solidFill>
                            <a:srgbClr val="000000"/>
                          </a:solidFill>
                          <a:effectLst/>
                          <a:uFillTx/>
                          <a:latin typeface="Calibri"/>
                          <a:ea typeface="Calibri"/>
                        </a:rPr>
                        <a:t> : 4, 6, 7, 9, 11, 12, 10, 13, 14, 15</a:t>
                      </a:r>
                      <a:endParaRPr b="0" lang="en-US" sz="1600" strike="noStrike" u="none">
                        <a:solidFill>
                          <a:srgbClr val="ffff00"/>
                        </a:solidFill>
                        <a:effectLst/>
                        <a:uFillTx/>
                        <a:latin typeface="Times New Roman"/>
                      </a:endParaRPr>
                    </a:p>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txBody>
                  <a:tcPr anchor="t" marL="39960" marR="39960">
                    <a:lnL w="5760">
                      <a:solidFill>
                        <a:srgbClr val="000000"/>
                      </a:solidFill>
                      <a:prstDash val="solid"/>
                    </a:lnL>
                    <a:lnR w="5760">
                      <a:solidFill>
                        <a:srgbClr val="000000"/>
                      </a:solidFill>
                      <a:prstDash val="solid"/>
                    </a:lnR>
                    <a:lnT w="5760">
                      <a:solidFill>
                        <a:srgbClr val="000000"/>
                      </a:solidFill>
                      <a:prstDash val="solid"/>
                    </a:lnT>
                    <a:lnB>
                      <a:noFill/>
                    </a:lnB>
                    <a:solidFill>
                      <a:srgbClr val="e7f6ef"/>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Sprint + haies : 20m lancé, 30m, 40m, multi bond, souplesse écart. Demi-fond, fond : 150, 250, 300, 500, 2000.</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Hauteur : souplesse dos, saut bâton. Longueur, T. saut : multi bond, 30m sprint. Perche : tractions retournées barre fixe.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Poids, disque, marteau : lancers arrière par « enlevé » et « touche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Javelot : lancers balles lestées à poids variables</a:t>
                      </a:r>
                      <a:endParaRPr b="0" lang="en-US" sz="1600" strike="noStrike" u="none">
                        <a:solidFill>
                          <a:srgbClr val="ffff00"/>
                        </a:solidFill>
                        <a:effectLst/>
                        <a:uFillTx/>
                        <a:latin typeface="Times New Roman"/>
                      </a:endParaRPr>
                    </a:p>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txBody>
                  <a:tcPr anchor="t" marL="39960" marR="39960">
                    <a:lnL w="5760">
                      <a:solidFill>
                        <a:srgbClr val="000000"/>
                      </a:solidFill>
                      <a:prstDash val="solid"/>
                    </a:lnL>
                    <a:lnR>
                      <a:noFill/>
                    </a:lnR>
                    <a:lnT w="5760">
                      <a:solidFill>
                        <a:srgbClr val="000000"/>
                      </a:solidFill>
                      <a:prstDash val="solid"/>
                    </a:lnT>
                    <a:lnB>
                      <a:noFill/>
                    </a:lnB>
                    <a:solidFill>
                      <a:srgbClr val="e7f6ef"/>
                    </a:solidFill>
                  </a:tcPr>
                </a:tc>
              </a:tr>
            </a:tbl>
          </a:graphicData>
        </a:graphic>
      </p:graphicFrame>
    </p:spTree>
  </p:cSld>
  <p:transition spd="med">
    <p:zoom dir="out"/>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0" name=""/>
          <p:cNvGraphicFramePr/>
          <p:nvPr/>
        </p:nvGraphicFramePr>
        <p:xfrm>
          <a:off x="34920" y="115920"/>
          <a:ext cx="9144000" cy="6834240"/>
        </p:xfrm>
        <a:graphic>
          <a:graphicData uri="http://schemas.openxmlformats.org/drawingml/2006/table">
            <a:tbl>
              <a:tblPr/>
              <a:tblGrid>
                <a:gridCol w="1152360"/>
                <a:gridCol w="1872000"/>
                <a:gridCol w="2771640"/>
                <a:gridCol w="3348000"/>
              </a:tblGrid>
              <a:tr h="1757160">
                <a:tc gridSpan="4">
                  <a:txBody>
                    <a:bodyPr lIns="90000" rIns="9000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Rappel des contenus des batteries : 1 = taille,  2 = poids, 3 = IMC, 4 = équilibre, 5 = adresse, 6 = souplesse, 7 = vitesse (50m), 8 = vitesse navette (10 x 5m), 9 = détente verticale, 10 = saut en longueur sans élan, 11 = lancer « touche », 12 = lancer balles lestées, 13 = abdominaux, 14 = pompes, 15 = Burpees, 16 = L. Léger ou VAM-EVAL, 17 = 6 minutes course</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ffffcc"/>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609840">
                <a:tc gridSpan="4">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0000"/>
                          </a:solidFill>
                          <a:effectLst/>
                          <a:uFillTx/>
                          <a:latin typeface="Calibri"/>
                          <a:ea typeface="Calibri"/>
                        </a:rPr>
                        <a:t>                                                   </a:t>
                      </a:r>
                      <a:r>
                        <a:rPr b="1" lang="fr-FR" sz="1600" strike="noStrike" u="none">
                          <a:solidFill>
                            <a:srgbClr val="000000"/>
                          </a:solidFill>
                          <a:effectLst/>
                          <a:uFillTx/>
                          <a:latin typeface="Calibri"/>
                          <a:ea typeface="Calibri"/>
                        </a:rPr>
                        <a:t>AIDE AU CHOIX…………………………………………...+ DETECTION DES TALENTS</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1c1c1c"/>
                      </a:solidFill>
                      <a:prstDash val="solid"/>
                    </a:lnB>
                    <a:solidFill>
                      <a:srgbClr val="d6d6f5"/>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555480">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SPORTS</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1c1c1c"/>
                      </a:solidFill>
                      <a:prstDash val="solid"/>
                    </a:lnR>
                    <a:lnT w="5760">
                      <a:solidFill>
                        <a:srgbClr val="1c1c1c"/>
                      </a:solidFill>
                      <a:prstDash val="solid"/>
                    </a:lnT>
                    <a:lnB w="5760">
                      <a:solidFill>
                        <a:srgbClr val="1c1c1c"/>
                      </a:solidFill>
                      <a:prstDash val="solid"/>
                    </a:lnB>
                    <a:solidFill>
                      <a:srgbClr val="e7f6ef"/>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BIOMETRIE</a:t>
                      </a: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1c1c1c"/>
                      </a:solidFill>
                      <a:prstDash val="solid"/>
                    </a:lnR>
                    <a:lnT w="5760">
                      <a:solidFill>
                        <a:srgbClr val="1c1c1c"/>
                      </a:solidFill>
                      <a:prstDash val="solid"/>
                    </a:lnT>
                    <a:lnB w="5760">
                      <a:solidFill>
                        <a:srgbClr val="1c1c1c"/>
                      </a:solidFill>
                      <a:prstDash val="solid"/>
                    </a:lnB>
                    <a:solidFill>
                      <a:srgbClr val="e7f6ef"/>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CAPACITES MOTRICES DE BASE</a:t>
                      </a: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1c1c1c"/>
                      </a:solidFill>
                      <a:prstDash val="solid"/>
                    </a:lnR>
                    <a:lnT w="5760">
                      <a:solidFill>
                        <a:srgbClr val="1c1c1c"/>
                      </a:solidFill>
                      <a:prstDash val="solid"/>
                    </a:lnT>
                    <a:lnB w="5760">
                      <a:solidFill>
                        <a:srgbClr val="1c1c1c"/>
                      </a:solidFill>
                      <a:prstDash val="solid"/>
                    </a:lnB>
                    <a:solidFill>
                      <a:srgbClr val="e7f6ef"/>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CAPACITES SPECIFIQUES</a:t>
                      </a: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ffff00"/>
                      </a:solidFill>
                      <a:prstDash val="solid"/>
                    </a:lnR>
                    <a:lnT w="5760">
                      <a:solidFill>
                        <a:srgbClr val="1c1c1c"/>
                      </a:solidFill>
                      <a:prstDash val="solid"/>
                    </a:lnT>
                    <a:lnB w="5760">
                      <a:solidFill>
                        <a:srgbClr val="1c1c1c"/>
                      </a:solidFill>
                      <a:prstDash val="solid"/>
                    </a:lnB>
                    <a:solidFill>
                      <a:srgbClr val="e7f6ef"/>
                    </a:solidFill>
                  </a:tcPr>
                </a:tc>
              </a:tr>
              <a:tr h="6384240">
                <a:tc>
                  <a:txBody>
                    <a:bodyPr lIns="90000" rIns="9000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BASKET BALL</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BOXE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CYCLISME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FOOTBALL</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1c1c1c"/>
                      </a:solidFill>
                      <a:prstDash val="solid"/>
                    </a:lnR>
                    <a:lnT w="5760">
                      <a:solidFill>
                        <a:srgbClr val="1c1c1c"/>
                      </a:solidFill>
                      <a:prstDash val="solid"/>
                    </a:lnT>
                    <a:lnB w="5760">
                      <a:solidFill>
                        <a:srgbClr val="ffff00"/>
                      </a:solidFill>
                      <a:prstDash val="solid"/>
                    </a:lnB>
                    <a:solidFill>
                      <a:srgbClr val="cbecde"/>
                    </a:solidFill>
                  </a:tcPr>
                </a:tc>
                <a:tc>
                  <a:txBody>
                    <a:bodyPr lIns="39960" rIns="39960" tIns="0" bIns="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 + âge osseux + envergure, longueur main + % graisse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 2, 3 + envergure + longueur membres supérieurs + % grais.</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 2, 3 + taille assis + % graisse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80808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 2, 3 + taille assis</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1c1c1c"/>
                      </a:solidFill>
                      <a:prstDash val="solid"/>
                    </a:lnR>
                    <a:lnT w="5760">
                      <a:solidFill>
                        <a:srgbClr val="1c1c1c"/>
                      </a:solidFill>
                      <a:prstDash val="solid"/>
                    </a:lnT>
                    <a:lnB w="5760">
                      <a:solidFill>
                        <a:srgbClr val="ffff00"/>
                      </a:solidFill>
                      <a:prstDash val="solid"/>
                    </a:lnB>
                    <a:solidFill>
                      <a:srgbClr val="cbecde"/>
                    </a:solidFill>
                  </a:tcPr>
                </a:tc>
                <a:tc>
                  <a:txBody>
                    <a:bodyPr lIns="39960" rIns="39960" tIns="0" bIns="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10, 13, 14, 15</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5, 7, 8, 9, 11, 16</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4, 6, 7, 8, 9, 10, 15, 16, 17.</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4, 7, 8, 9, 15, 16, 17.</a:t>
                      </a:r>
                      <a:endParaRPr b="0" lang="en-US" sz="1600" strike="noStrike" u="none">
                        <a:solidFill>
                          <a:srgbClr val="ffff00"/>
                        </a:solidFill>
                        <a:effectLst/>
                        <a:uFillTx/>
                        <a:latin typeface="Times New Roman"/>
                      </a:endParaRPr>
                    </a:p>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1c1c1c"/>
                      </a:solidFill>
                      <a:prstDash val="solid"/>
                    </a:lnR>
                    <a:lnT w="5760">
                      <a:solidFill>
                        <a:srgbClr val="1c1c1c"/>
                      </a:solidFill>
                      <a:prstDash val="solid"/>
                    </a:lnT>
                    <a:lnB w="5760">
                      <a:solidFill>
                        <a:srgbClr val="ffff00"/>
                      </a:solidFill>
                      <a:prstDash val="solid"/>
                    </a:lnB>
                    <a:solidFill>
                      <a:srgbClr val="cbecde"/>
                    </a:solidFill>
                  </a:tcPr>
                </a:tc>
                <a:tc>
                  <a:txBody>
                    <a:bodyPr lIns="39960" rIns="39960" tIns="0" bIns="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Passe longue ballon poitrine, slalom dribbles 2Om, adresse statique et dynamique, jeu de jambes défensif. Observation en jeu.</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Equilibre yeux fermés, pompes claquées, 1 minute sauts latéraux pieds joints, tractions barre fixe, sauts à la corde.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none">
                          <a:solidFill>
                            <a:srgbClr val="000000"/>
                          </a:solidFill>
                          <a:effectLst/>
                          <a:uFillTx/>
                          <a:latin typeface="Calibri"/>
                          <a:ea typeface="Calibri"/>
                        </a:rPr>
                        <a:t>Sur vélo : </a:t>
                      </a:r>
                      <a:r>
                        <a:rPr b="1" lang="fr-FR" sz="1600" strike="noStrike" u="none">
                          <a:solidFill>
                            <a:srgbClr val="000000"/>
                          </a:solidFill>
                          <a:effectLst/>
                          <a:uFillTx/>
                          <a:latin typeface="Calibri"/>
                          <a:ea typeface="Calibri"/>
                        </a:rPr>
                        <a:t>Puissance SRM, vitesse 500m, PMA 5000m, EA 30 km.</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Entrée touche, tirs précision, slalom tirs, tête précision, passes précision, 20m crochet sans et avec ballon, observation jeux</a:t>
                      </a: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ffff00"/>
                      </a:solidFill>
                      <a:prstDash val="solid"/>
                    </a:lnR>
                    <a:lnT w="5760">
                      <a:solidFill>
                        <a:srgbClr val="1c1c1c"/>
                      </a:solidFill>
                      <a:prstDash val="solid"/>
                    </a:lnT>
                    <a:lnB w="5760">
                      <a:solidFill>
                        <a:srgbClr val="ffff00"/>
                      </a:solidFill>
                      <a:prstDash val="solid"/>
                    </a:lnB>
                    <a:solidFill>
                      <a:srgbClr val="cbecde"/>
                    </a:solidFill>
                  </a:tcPr>
                </a:tc>
              </a:tr>
            </a:tbl>
          </a:graphicData>
        </a:graphic>
      </p:graphicFrame>
    </p:spTree>
  </p:cSld>
  <p:transition spd="med">
    <p:zoom dir="out"/>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1" name=""/>
          <p:cNvGraphicFramePr/>
          <p:nvPr/>
        </p:nvGraphicFramePr>
        <p:xfrm>
          <a:off x="34920" y="115920"/>
          <a:ext cx="9144000" cy="6743520"/>
        </p:xfrm>
        <a:graphic>
          <a:graphicData uri="http://schemas.openxmlformats.org/drawingml/2006/table">
            <a:tbl>
              <a:tblPr/>
              <a:tblGrid>
                <a:gridCol w="1152360"/>
                <a:gridCol w="1872000"/>
                <a:gridCol w="2771640"/>
                <a:gridCol w="3348000"/>
              </a:tblGrid>
              <a:tr h="1757160">
                <a:tc gridSpan="4">
                  <a:txBody>
                    <a:bodyPr lIns="90000" rIns="9000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Rappel des contenus des batteries : 1 = taille,  2 = poids, 3 = IMC, 4 = équilibre, 5 = adresse, 6 = souplesse, 7 = vitesse (50m), 8 = vitesse navette (10 x 5m), 9 = détente verticale, 10 = saut en longueur sans élan, 11 = lancer « touche », 12 = lancer balles lestées, 13 = abdominaux, 14 = pompes, 15 = Burpees, 16 = L. Léger ou VAM-EVAL, 17 = 6 minutes course</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ffffcc"/>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609840">
                <a:tc gridSpan="4">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0000"/>
                          </a:solidFill>
                          <a:effectLst/>
                          <a:uFillTx/>
                          <a:latin typeface="Calibri"/>
                          <a:ea typeface="Calibri"/>
                        </a:rPr>
                        <a:t>                                                   </a:t>
                      </a:r>
                      <a:r>
                        <a:rPr b="1" lang="fr-FR" sz="1600" strike="noStrike" u="none">
                          <a:solidFill>
                            <a:srgbClr val="000000"/>
                          </a:solidFill>
                          <a:effectLst/>
                          <a:uFillTx/>
                          <a:latin typeface="Calibri"/>
                          <a:ea typeface="Calibri"/>
                        </a:rPr>
                        <a:t>AIDE AU CHOIX…………………………………………...+ DETECTION DES TALENTS</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1c1c1c"/>
                      </a:solidFill>
                      <a:prstDash val="solid"/>
                    </a:lnB>
                    <a:solidFill>
                      <a:srgbClr val="d6d6f5"/>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555480">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SPORTS</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1c1c1c"/>
                      </a:solidFill>
                      <a:prstDash val="solid"/>
                    </a:lnR>
                    <a:lnT w="5760">
                      <a:solidFill>
                        <a:srgbClr val="1c1c1c"/>
                      </a:solidFill>
                      <a:prstDash val="solid"/>
                    </a:lnT>
                    <a:lnB w="5760">
                      <a:solidFill>
                        <a:srgbClr val="1c1c1c"/>
                      </a:solidFill>
                      <a:prstDash val="solid"/>
                    </a:lnB>
                    <a:solidFill>
                      <a:srgbClr val="e7f6ef"/>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BIOMETRIE</a:t>
                      </a: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1c1c1c"/>
                      </a:solidFill>
                      <a:prstDash val="solid"/>
                    </a:lnR>
                    <a:lnT w="5760">
                      <a:solidFill>
                        <a:srgbClr val="1c1c1c"/>
                      </a:solidFill>
                      <a:prstDash val="solid"/>
                    </a:lnT>
                    <a:lnB w="5760">
                      <a:solidFill>
                        <a:srgbClr val="1c1c1c"/>
                      </a:solidFill>
                      <a:prstDash val="solid"/>
                    </a:lnB>
                    <a:solidFill>
                      <a:srgbClr val="e7f6ef"/>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CAPACITES MOTRICES DE BASE</a:t>
                      </a: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1c1c1c"/>
                      </a:solidFill>
                      <a:prstDash val="solid"/>
                    </a:lnR>
                    <a:lnT w="5760">
                      <a:solidFill>
                        <a:srgbClr val="1c1c1c"/>
                      </a:solidFill>
                      <a:prstDash val="solid"/>
                    </a:lnT>
                    <a:lnB w="5760">
                      <a:solidFill>
                        <a:srgbClr val="1c1c1c"/>
                      </a:solidFill>
                      <a:prstDash val="solid"/>
                    </a:lnB>
                    <a:solidFill>
                      <a:srgbClr val="e7f6ef"/>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CAPACITES SPECIFIQUES</a:t>
                      </a: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ffff00"/>
                      </a:solidFill>
                      <a:prstDash val="solid"/>
                    </a:lnR>
                    <a:lnT w="5760">
                      <a:solidFill>
                        <a:srgbClr val="1c1c1c"/>
                      </a:solidFill>
                      <a:prstDash val="solid"/>
                    </a:lnT>
                    <a:lnB w="5760">
                      <a:solidFill>
                        <a:srgbClr val="1c1c1c"/>
                      </a:solidFill>
                      <a:prstDash val="solid"/>
                    </a:lnB>
                    <a:solidFill>
                      <a:srgbClr val="e7f6ef"/>
                    </a:solidFill>
                  </a:tcPr>
                </a:tc>
              </a:tr>
              <a:tr h="6661800">
                <a:tc>
                  <a:txBody>
                    <a:bodyPr lIns="90000" rIns="9000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 ESCRIME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JUDO</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NATATION</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TENNIS</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1c1c1c"/>
                      </a:solidFill>
                      <a:prstDash val="solid"/>
                    </a:lnR>
                    <a:lnT w="5760">
                      <a:solidFill>
                        <a:srgbClr val="1c1c1c"/>
                      </a:solidFill>
                      <a:prstDash val="solid"/>
                    </a:lnT>
                    <a:lnB w="5760">
                      <a:solidFill>
                        <a:srgbClr val="ffff00"/>
                      </a:solidFill>
                      <a:prstDash val="solid"/>
                    </a:lnB>
                    <a:solidFill>
                      <a:srgbClr val="cbecde"/>
                    </a:solidFill>
                  </a:tcPr>
                </a:tc>
                <a:tc>
                  <a:txBody>
                    <a:bodyPr lIns="39960" rIns="39960" tIns="0" bIns="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 2, 3 + envergure + fente avant</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 2, 3 + envergure + longueur bras + circonférence biceps</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80808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 2, 3 + âge osseux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envergure, taille assis + longueur main + % graisse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 2, 3 + envergure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1c1c1c"/>
                      </a:solidFill>
                      <a:prstDash val="solid"/>
                    </a:lnR>
                    <a:lnT w="5760">
                      <a:solidFill>
                        <a:srgbClr val="1c1c1c"/>
                      </a:solidFill>
                      <a:prstDash val="solid"/>
                    </a:lnT>
                    <a:lnB w="5760">
                      <a:solidFill>
                        <a:srgbClr val="ffff00"/>
                      </a:solidFill>
                      <a:prstDash val="solid"/>
                    </a:lnB>
                    <a:solidFill>
                      <a:srgbClr val="cbecde"/>
                    </a:solidFill>
                  </a:tcPr>
                </a:tc>
                <a:tc>
                  <a:txBody>
                    <a:bodyPr lIns="39960" rIns="39960" tIns="0" bIns="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6, 7, 8, 9, 10, 16.</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4, 6, 7, 8, 9, 10, 14, 15, 16.</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6, 7, 9, 10, 13, 14, 15, 16.</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1c1c1c"/>
                      </a:solidFill>
                      <a:prstDash val="solid"/>
                    </a:lnR>
                    <a:lnT w="5760">
                      <a:solidFill>
                        <a:srgbClr val="1c1c1c"/>
                      </a:solidFill>
                      <a:prstDash val="solid"/>
                    </a:lnT>
                    <a:lnB w="5760">
                      <a:solidFill>
                        <a:srgbClr val="ffff00"/>
                      </a:solidFill>
                      <a:prstDash val="solid"/>
                    </a:lnB>
                    <a:solidFill>
                      <a:srgbClr val="cbecde"/>
                    </a:solidFill>
                  </a:tcPr>
                </a:tc>
                <a:tc>
                  <a:txBody>
                    <a:bodyPr lIns="39960" rIns="39960" tIns="0" bIns="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Démarrage 5m, temps de réaction, vitesse précision sur cible, saut à la corde, observations assaut.</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Lancer sac 20 kg prise arrière latérale, durée suspension barre fixe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Souplesse épaule et chevilles, VAM nage, vitesse max 15m, longueur glisse, flottaison verticale et horizontale, Indice de nage, suivi des performances</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Démarrage 5m, temps de réaction, VAM, souplesse épaules, multi bond, vitesse navette tennis, adresse différentes frappes.</a:t>
                      </a: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ffff00"/>
                      </a:solidFill>
                      <a:prstDash val="solid"/>
                    </a:lnR>
                    <a:lnT w="5760">
                      <a:solidFill>
                        <a:srgbClr val="1c1c1c"/>
                      </a:solidFill>
                      <a:prstDash val="solid"/>
                    </a:lnT>
                    <a:lnB w="5760">
                      <a:solidFill>
                        <a:srgbClr val="ffff00"/>
                      </a:solidFill>
                      <a:prstDash val="solid"/>
                    </a:lnB>
                    <a:solidFill>
                      <a:srgbClr val="cbecde"/>
                    </a:solidFill>
                  </a:tcPr>
                </a:tc>
              </a:tr>
            </a:tbl>
          </a:graphicData>
        </a:graphic>
      </p:graphicFrame>
    </p:spTree>
  </p:cSld>
  <p:transition spd="med">
    <p:zoom dir="out"/>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2" name=""/>
          <p:cNvGraphicFramePr/>
          <p:nvPr/>
        </p:nvGraphicFramePr>
        <p:xfrm>
          <a:off x="34920" y="115920"/>
          <a:ext cx="9144000" cy="5352840"/>
        </p:xfrm>
        <a:graphic>
          <a:graphicData uri="http://schemas.openxmlformats.org/drawingml/2006/table">
            <a:tbl>
              <a:tblPr/>
              <a:tblGrid>
                <a:gridCol w="1152360"/>
                <a:gridCol w="1872000"/>
                <a:gridCol w="2771640"/>
                <a:gridCol w="3348000"/>
              </a:tblGrid>
              <a:tr h="1757160">
                <a:tc gridSpan="4">
                  <a:txBody>
                    <a:bodyPr lIns="90000" rIns="9000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Rappel des contenus des batteries : 1 = taille,  2 = poids, 3 = IMC, 4 = équilibre, 5 = adresse, 6 = souplesse, 7 = vitesse (50m), 8 = vitesse navette (10 x 5m), 9 = détente verticale, 10 = saut en longueur sans élan, 11 = lancer « touche », 12 = lancer balles lestées, 13 = abdominaux, 14 = pompes, 15 = Burpees, 16 = L. Léger ou VAM-EVAL, 17 = 6 minutes course</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ffffcc"/>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609840">
                <a:tc gridSpan="4">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0000"/>
                          </a:solidFill>
                          <a:effectLst/>
                          <a:uFillTx/>
                          <a:latin typeface="Calibri"/>
                          <a:ea typeface="Calibri"/>
                        </a:rPr>
                        <a:t>                                                   </a:t>
                      </a:r>
                      <a:r>
                        <a:rPr b="1" lang="fr-FR" sz="1600" strike="noStrike" u="none">
                          <a:solidFill>
                            <a:srgbClr val="000000"/>
                          </a:solidFill>
                          <a:effectLst/>
                          <a:uFillTx/>
                          <a:latin typeface="Calibri"/>
                          <a:ea typeface="Calibri"/>
                        </a:rPr>
                        <a:t>AIDE AU CHOIX…………………………………………...+ DETECTION DES TALENTS</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1c1c1c"/>
                      </a:solidFill>
                      <a:prstDash val="solid"/>
                    </a:lnB>
                    <a:solidFill>
                      <a:srgbClr val="d6d6f5"/>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555480">
                <a:tc>
                  <a:txBody>
                    <a:bodyPr lIns="90000" rIns="900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SPORTS</a:t>
                      </a: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1c1c1c"/>
                      </a:solidFill>
                      <a:prstDash val="solid"/>
                    </a:lnR>
                    <a:lnT w="5760">
                      <a:solidFill>
                        <a:srgbClr val="1c1c1c"/>
                      </a:solidFill>
                      <a:prstDash val="solid"/>
                    </a:lnT>
                    <a:lnB w="5760">
                      <a:solidFill>
                        <a:srgbClr val="1c1c1c"/>
                      </a:solidFill>
                      <a:prstDash val="solid"/>
                    </a:lnB>
                    <a:solidFill>
                      <a:srgbClr val="e7f6ef"/>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BIOMETRIE</a:t>
                      </a: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1c1c1c"/>
                      </a:solidFill>
                      <a:prstDash val="solid"/>
                    </a:lnR>
                    <a:lnT w="5760">
                      <a:solidFill>
                        <a:srgbClr val="1c1c1c"/>
                      </a:solidFill>
                      <a:prstDash val="solid"/>
                    </a:lnT>
                    <a:lnB w="5760">
                      <a:solidFill>
                        <a:srgbClr val="1c1c1c"/>
                      </a:solidFill>
                      <a:prstDash val="solid"/>
                    </a:lnB>
                    <a:solidFill>
                      <a:srgbClr val="e7f6ef"/>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CAPACITES MOTRICES DE BASE</a:t>
                      </a: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1c1c1c"/>
                      </a:solidFill>
                      <a:prstDash val="solid"/>
                    </a:lnR>
                    <a:lnT w="5760">
                      <a:solidFill>
                        <a:srgbClr val="1c1c1c"/>
                      </a:solidFill>
                      <a:prstDash val="solid"/>
                    </a:lnT>
                    <a:lnB w="5760">
                      <a:solidFill>
                        <a:srgbClr val="1c1c1c"/>
                      </a:solidFill>
                      <a:prstDash val="solid"/>
                    </a:lnB>
                    <a:solidFill>
                      <a:srgbClr val="e7f6ef"/>
                    </a:solidFill>
                  </a:tcPr>
                </a:tc>
                <a:tc>
                  <a:txBody>
                    <a:bodyPr lIns="39960" rIns="39960" tIns="0" bIns="0" anchor="t">
                      <a:noAutofit/>
                    </a:bodyPr>
                    <a:p>
                      <a:pPr algn="ct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CAPACITES SPECIFIQUES</a:t>
                      </a: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ffff00"/>
                      </a:solidFill>
                      <a:prstDash val="solid"/>
                    </a:lnR>
                    <a:lnT w="5760">
                      <a:solidFill>
                        <a:srgbClr val="1c1c1c"/>
                      </a:solidFill>
                      <a:prstDash val="solid"/>
                    </a:lnT>
                    <a:lnB w="5760">
                      <a:solidFill>
                        <a:srgbClr val="1c1c1c"/>
                      </a:solidFill>
                      <a:prstDash val="solid"/>
                    </a:lnB>
                    <a:solidFill>
                      <a:srgbClr val="e7f6ef"/>
                    </a:solidFill>
                  </a:tcPr>
                </a:tc>
              </a:tr>
              <a:tr h="4718880">
                <a:tc>
                  <a:txBody>
                    <a:bodyPr lIns="90000" rIns="9000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Calibri"/>
                        </a:rPr>
                        <a:t>VOLLEY BALL</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ea typeface="Garamond"/>
                        </a:rPr>
                        <a:t>HAND BALL</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1c1c1c"/>
                      </a:solidFill>
                      <a:prstDash val="solid"/>
                    </a:lnR>
                    <a:lnT w="5760">
                      <a:solidFill>
                        <a:srgbClr val="1c1c1c"/>
                      </a:solidFill>
                      <a:prstDash val="solid"/>
                    </a:lnT>
                    <a:lnB w="5760">
                      <a:solidFill>
                        <a:srgbClr val="ffff00"/>
                      </a:solidFill>
                      <a:prstDash val="solid"/>
                    </a:lnB>
                    <a:solidFill>
                      <a:srgbClr val="cbecde"/>
                    </a:solidFill>
                  </a:tcPr>
                </a:tc>
                <a:tc>
                  <a:txBody>
                    <a:bodyPr lIns="39960" rIns="39960" tIns="0" bIns="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 2, 3 + taille bras levés, % graisse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 2, 3 + empan, taille bras levés,</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 graisse</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1c1c1c"/>
                      </a:solidFill>
                      <a:prstDash val="solid"/>
                    </a:lnR>
                    <a:lnT w="5760">
                      <a:solidFill>
                        <a:srgbClr val="1c1c1c"/>
                      </a:solidFill>
                      <a:prstDash val="solid"/>
                    </a:lnT>
                    <a:lnB w="5760">
                      <a:solidFill>
                        <a:srgbClr val="ffff00"/>
                      </a:solidFill>
                      <a:prstDash val="solid"/>
                    </a:lnB>
                    <a:solidFill>
                      <a:srgbClr val="cbecde"/>
                    </a:solidFill>
                  </a:tcPr>
                </a:tc>
                <a:tc>
                  <a:txBody>
                    <a:bodyPr lIns="39960" rIns="39960" tIns="0" bIns="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4, 6, 7, 8, 9, 11, 15, 16.</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Garamond"/>
                        </a:rPr>
                        <a:t>5, 7, 8, 9, 10, 12, 13, 14, 15, 16</a:t>
                      </a: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1c1c1c"/>
                      </a:solidFill>
                      <a:prstDash val="solid"/>
                    </a:lnR>
                    <a:lnT w="5760">
                      <a:solidFill>
                        <a:srgbClr val="1c1c1c"/>
                      </a:solidFill>
                      <a:prstDash val="solid"/>
                    </a:lnT>
                    <a:lnB w="5760">
                      <a:solidFill>
                        <a:srgbClr val="ffff00"/>
                      </a:solidFill>
                      <a:prstDash val="solid"/>
                    </a:lnB>
                    <a:solidFill>
                      <a:srgbClr val="cbecde"/>
                    </a:solidFill>
                  </a:tcPr>
                </a:tc>
                <a:tc>
                  <a:txBody>
                    <a:bodyPr lIns="39960" rIns="39960" tIns="0" bIns="0" anchor="t">
                      <a:noAutofit/>
                    </a:bodyPr>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Souplesse accroupi et épaules, détente verticale avec et sans élan, départ assis, agilité au sol, jonglages manchettes, smatches</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Souplesse épaules, détente verticale avec et sans élan, démarrage 5m, temps de réaction, répétition de sprints en ligne et en crochets avec et sans la balle, précision tirs au but, </a:t>
                      </a:r>
                      <a:endParaRPr b="0" lang="en-US" sz="1600" strike="noStrike" u="none">
                        <a:solidFill>
                          <a:srgbClr val="ffff00"/>
                        </a:solidFill>
                        <a:effectLst/>
                        <a:uFillTx/>
                        <a:latin typeface="Times New Roman"/>
                      </a:endParaRPr>
                    </a:p>
                    <a:p>
                      <a:pPr>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txBody>
                  <a:tcPr anchor="t" marL="39960" marR="39960">
                    <a:lnL w="5760">
                      <a:solidFill>
                        <a:srgbClr val="1c1c1c"/>
                      </a:solidFill>
                      <a:prstDash val="solid"/>
                    </a:lnL>
                    <a:lnR w="5760">
                      <a:solidFill>
                        <a:srgbClr val="ffff00"/>
                      </a:solidFill>
                      <a:prstDash val="solid"/>
                    </a:lnR>
                    <a:lnT w="5760">
                      <a:solidFill>
                        <a:srgbClr val="1c1c1c"/>
                      </a:solidFill>
                      <a:prstDash val="solid"/>
                    </a:lnT>
                    <a:lnB w="5760">
                      <a:solidFill>
                        <a:srgbClr val="ffff00"/>
                      </a:solidFill>
                      <a:prstDash val="solid"/>
                    </a:lnB>
                    <a:solidFill>
                      <a:srgbClr val="cbecde"/>
                    </a:solidFill>
                  </a:tcPr>
                </a:tc>
              </a:tr>
            </a:tbl>
          </a:graphicData>
        </a:graphic>
      </p:graphicFrame>
    </p:spTree>
  </p:cSld>
  <p:transition spd="med">
    <p:zoom dir="out"/>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ZoneTexte 1"/>
          <p:cNvSpPr/>
          <p:nvPr/>
        </p:nvSpPr>
        <p:spPr>
          <a:xfrm>
            <a:off x="279360" y="1052640"/>
            <a:ext cx="8064720" cy="69253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22228b"/>
                </a:solidFill>
                <a:effectLst/>
                <a:uFillTx/>
                <a:latin typeface="Calibri"/>
                <a:ea typeface="Calibri"/>
              </a:rPr>
              <a:t>1- Quelques définitions préalables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22228b"/>
                </a:solidFill>
                <a:effectLst/>
                <a:uFillTx/>
                <a:latin typeface="Calibri"/>
                <a:ea typeface="Calibri"/>
              </a:rPr>
              <a:t>2- A quoi sert et à qui sert l’évaluation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22228b"/>
                </a:solidFill>
                <a:effectLst/>
                <a:uFillTx/>
                <a:latin typeface="Calibri"/>
                <a:ea typeface="Calibri"/>
              </a:rPr>
              <a:t>3- Comment choisir ses tests et son type d’évaluation</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4- Développement et évaluation des capacités physiques et physiologiques au cours de la croissance.</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Calibri"/>
                <a:ea typeface="Calibri"/>
              </a:rPr>
              <a:t>5- Quelles activités physiques et pour quels publics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p:txBody>
      </p:sp>
      <p:sp>
        <p:nvSpPr>
          <p:cNvPr id="134" name="ZoneTexte 1"/>
          <p:cNvSpPr/>
          <p:nvPr/>
        </p:nvSpPr>
        <p:spPr>
          <a:xfrm>
            <a:off x="2866680" y="189000"/>
            <a:ext cx="189108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SOMMAIRE</a:t>
            </a:r>
            <a:endParaRPr b="0" lang="en-US" sz="2800" strike="noStrike" u="none">
              <a:solidFill>
                <a:srgbClr val="ffff00"/>
              </a:solidFill>
              <a:effectLst/>
              <a:uFillTx/>
              <a:latin typeface="Times New Roman"/>
            </a:endParaRPr>
          </a:p>
        </p:txBody>
      </p:sp>
    </p:spTree>
  </p:cSld>
  <p:transition spd="med">
    <p:zoom dir="out"/>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Text Box 2"/>
          <p:cNvSpPr/>
          <p:nvPr/>
        </p:nvSpPr>
        <p:spPr>
          <a:xfrm>
            <a:off x="152280" y="115920"/>
            <a:ext cx="8610840" cy="1099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ff"/>
                </a:solidFill>
                <a:effectLst/>
                <a:uFillTx/>
                <a:latin typeface="Arial"/>
              </a:rPr>
              <a:t>L’étude des facteurs de la motricité de</a:t>
            </a:r>
            <a:endParaRPr b="0" lang="en-US" sz="2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ff"/>
                </a:solidFill>
                <a:effectLst/>
                <a:uFillTx/>
                <a:latin typeface="Arial"/>
              </a:rPr>
              <a:t> l’enfant et de l’adolescent au cours de l’exercice se</a:t>
            </a:r>
            <a:endParaRPr b="0" lang="en-US" sz="2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ff"/>
                </a:solidFill>
                <a:effectLst/>
                <a:uFillTx/>
                <a:latin typeface="Arial"/>
              </a:rPr>
              <a:t> heurte à des difficutés de trois ordres :</a:t>
            </a:r>
            <a:endParaRPr b="0" lang="en-US" sz="2200" strike="noStrike" u="none">
              <a:solidFill>
                <a:srgbClr val="ffff00"/>
              </a:solidFill>
              <a:effectLst/>
              <a:uFillTx/>
              <a:latin typeface="Times New Roman"/>
            </a:endParaRPr>
          </a:p>
        </p:txBody>
      </p:sp>
      <p:sp>
        <p:nvSpPr>
          <p:cNvPr id="136" name="AutoShape 3"/>
          <p:cNvSpPr/>
          <p:nvPr/>
        </p:nvSpPr>
        <p:spPr>
          <a:xfrm>
            <a:off x="380880" y="1596960"/>
            <a:ext cx="457200" cy="304920"/>
          </a:xfrm>
          <a:custGeom>
            <a:avLst/>
            <a:gdLst>
              <a:gd name="textAreaLeft" fmla="*/ 56880 w 457200"/>
              <a:gd name="textAreaRight" fmla="*/ 400320 w 457200"/>
              <a:gd name="textAreaTop" fmla="*/ 76320 h 304920"/>
              <a:gd name="textAreaBottom" fmla="*/ 228960 h 30492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lnTo>
                  <a:pt x="2700" y="10800"/>
                </a:lnTo>
                <a:lnTo>
                  <a:pt x="0" y="5400"/>
                </a:lnTo>
                <a:close/>
              </a:path>
            </a:pathLst>
          </a:cu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37" name="Text Box 4"/>
          <p:cNvSpPr/>
          <p:nvPr/>
        </p:nvSpPr>
        <p:spPr>
          <a:xfrm>
            <a:off x="1128600" y="1484280"/>
            <a:ext cx="8015400" cy="7646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Ethique : </a:t>
            </a:r>
            <a:r>
              <a:rPr b="1" lang="es-CL" sz="2000" strike="noStrike" u="none">
                <a:solidFill>
                  <a:srgbClr val="ffff00"/>
                </a:solidFill>
                <a:effectLst/>
                <a:uFillTx/>
                <a:latin typeface="Arial"/>
              </a:rPr>
              <a:t>Très peu de données recueilies expérimentalement</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chez les enfants surtout âgés de moins de 11 ans.</a:t>
            </a:r>
            <a:endParaRPr b="0" lang="en-US" sz="2000" strike="noStrike" u="none">
              <a:solidFill>
                <a:srgbClr val="ffff00"/>
              </a:solidFill>
              <a:effectLst/>
              <a:uFillTx/>
              <a:latin typeface="Times New Roman"/>
            </a:endParaRPr>
          </a:p>
        </p:txBody>
      </p:sp>
      <p:sp>
        <p:nvSpPr>
          <p:cNvPr id="138" name="Text Box 5"/>
          <p:cNvSpPr/>
          <p:nvPr/>
        </p:nvSpPr>
        <p:spPr>
          <a:xfrm>
            <a:off x="1066680" y="2509920"/>
            <a:ext cx="8077320" cy="10695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Méthodologique :1- </a:t>
            </a:r>
            <a:r>
              <a:rPr b="1" lang="es-CL" sz="2000" strike="noStrike" u="none">
                <a:solidFill>
                  <a:srgbClr val="ffff00"/>
                </a:solidFill>
                <a:effectLst/>
                <a:uFillTx/>
                <a:latin typeface="Arial"/>
              </a:rPr>
              <a:t>Difficile de distinguer ce qui revient,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d’une part à la croissance, au niveau habituel d’activité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individuelle et d’autre part, à l’entraînement contrôlé.</a:t>
            </a:r>
            <a:endParaRPr b="0" lang="en-US" sz="2000" strike="noStrike" u="none">
              <a:solidFill>
                <a:srgbClr val="ffff00"/>
              </a:solidFill>
              <a:effectLst/>
              <a:uFillTx/>
              <a:latin typeface="Times New Roman"/>
            </a:endParaRPr>
          </a:p>
        </p:txBody>
      </p:sp>
      <p:sp>
        <p:nvSpPr>
          <p:cNvPr id="139" name="Text Box 6"/>
          <p:cNvSpPr/>
          <p:nvPr/>
        </p:nvSpPr>
        <p:spPr>
          <a:xfrm>
            <a:off x="1066680" y="4721400"/>
            <a:ext cx="7925040" cy="10087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Subjective</a:t>
            </a:r>
            <a:r>
              <a:rPr b="1" lang="es-CL" sz="2000" strike="noStrike" u="none">
                <a:solidFill>
                  <a:srgbClr val="3333cc"/>
                </a:solidFill>
                <a:effectLst/>
                <a:uFillTx/>
                <a:latin typeface="Arial"/>
              </a:rPr>
              <a:t> </a:t>
            </a:r>
            <a:r>
              <a:rPr b="1" lang="es-CL" sz="2000" strike="noStrike" u="none">
                <a:solidFill>
                  <a:srgbClr val="ffff00"/>
                </a:solidFill>
                <a:effectLst/>
                <a:uFillTx/>
                <a:latin typeface="Arial"/>
              </a:rPr>
              <a:t>: L’enfant, plus que l’adulte, éprouve des  difficutés     </a:t>
            </a:r>
            <a:r>
              <a:rPr b="1" lang="es-CL" sz="2000" strike="noStrike" u="none">
                <a:solidFill>
                  <a:srgbClr val="ffff00"/>
                </a:solidFill>
                <a:effectLst/>
                <a:uFillTx/>
                <a:latin typeface="Arial"/>
              </a:rPr>
              <a:t>	</a:t>
            </a:r>
            <a:r>
              <a:rPr b="1" lang="es-CL" sz="2000" strike="noStrike" u="none">
                <a:solidFill>
                  <a:srgbClr val="ffff00"/>
                </a:solidFill>
                <a:effectLst/>
                <a:uFillTx/>
                <a:latin typeface="Arial"/>
              </a:rPr>
              <a:t>à bien respecter les consignes et  répugne à l’effort </a:t>
            </a:r>
            <a:r>
              <a:rPr b="1" lang="es-CL" sz="2000" strike="noStrike" u="none">
                <a:solidFill>
                  <a:srgbClr val="ffff00"/>
                </a:solidFill>
                <a:effectLst/>
                <a:uFillTx/>
                <a:latin typeface="Arial"/>
              </a:rPr>
              <a:t>	</a:t>
            </a:r>
            <a:r>
              <a:rPr b="1" lang="es-CL" sz="2000" strike="noStrike" u="none">
                <a:solidFill>
                  <a:srgbClr val="ffff00"/>
                </a:solidFill>
                <a:effectLst/>
                <a:uFillTx/>
                <a:latin typeface="Arial"/>
              </a:rPr>
              <a:t>	</a:t>
            </a:r>
            <a:r>
              <a:rPr b="1" lang="es-CL" sz="2000" strike="noStrike" u="none">
                <a:solidFill>
                  <a:srgbClr val="ffff00"/>
                </a:solidFill>
                <a:effectLst/>
                <a:uFillTx/>
                <a:latin typeface="Arial"/>
              </a:rPr>
              <a:t>maximal voire supramaximal qui conduit à l’épuisement.</a:t>
            </a:r>
            <a:endParaRPr b="0" lang="en-US" sz="2000" strike="noStrike" u="none">
              <a:solidFill>
                <a:srgbClr val="ffff00"/>
              </a:solidFill>
              <a:effectLst/>
              <a:uFillTx/>
              <a:latin typeface="Times New Roman"/>
            </a:endParaRPr>
          </a:p>
        </p:txBody>
      </p:sp>
      <p:sp>
        <p:nvSpPr>
          <p:cNvPr id="140" name="AutoShape 7"/>
          <p:cNvSpPr/>
          <p:nvPr/>
        </p:nvSpPr>
        <p:spPr>
          <a:xfrm>
            <a:off x="380880" y="2587680"/>
            <a:ext cx="457200" cy="304920"/>
          </a:xfrm>
          <a:custGeom>
            <a:avLst/>
            <a:gdLst>
              <a:gd name="textAreaLeft" fmla="*/ 56880 w 457200"/>
              <a:gd name="textAreaRight" fmla="*/ 400320 w 457200"/>
              <a:gd name="textAreaTop" fmla="*/ 76320 h 304920"/>
              <a:gd name="textAreaBottom" fmla="*/ 228960 h 30492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lnTo>
                  <a:pt x="2700" y="10800"/>
                </a:lnTo>
                <a:lnTo>
                  <a:pt x="0" y="5400"/>
                </a:lnTo>
                <a:close/>
              </a:path>
            </a:pathLst>
          </a:cu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41" name="AutoShape 8"/>
          <p:cNvSpPr/>
          <p:nvPr/>
        </p:nvSpPr>
        <p:spPr>
          <a:xfrm>
            <a:off x="380880" y="4873680"/>
            <a:ext cx="457200" cy="304920"/>
          </a:xfrm>
          <a:custGeom>
            <a:avLst/>
            <a:gdLst>
              <a:gd name="textAreaLeft" fmla="*/ 56880 w 457200"/>
              <a:gd name="textAreaRight" fmla="*/ 400320 w 457200"/>
              <a:gd name="textAreaTop" fmla="*/ 76320 h 304920"/>
              <a:gd name="textAreaBottom" fmla="*/ 228960 h 30492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lnTo>
                  <a:pt x="2700" y="10800"/>
                </a:lnTo>
                <a:lnTo>
                  <a:pt x="0" y="5400"/>
                </a:lnTo>
                <a:close/>
              </a:path>
            </a:pathLst>
          </a:cu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42" name="Text Box 9"/>
          <p:cNvSpPr/>
          <p:nvPr/>
        </p:nvSpPr>
        <p:spPr>
          <a:xfrm>
            <a:off x="1828800" y="3578400"/>
            <a:ext cx="7315200" cy="10087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2 - Les études longitudinales sont très rares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et ne sont qu’exceptionnellement comparatives à un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groupe témoin.</a:t>
            </a:r>
            <a:r>
              <a:rPr b="0" lang="es-CL"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p:txBody>
      </p:sp>
      <p:sp>
        <p:nvSpPr>
          <p:cNvPr id="143" name="Text Box 10"/>
          <p:cNvSpPr/>
          <p:nvPr/>
        </p:nvSpPr>
        <p:spPr>
          <a:xfrm>
            <a:off x="676800" y="5950080"/>
            <a:ext cx="808632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D’où les nombreuses spéculations concernant son entraînement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au cours de sa formation de sportif en devenir…</a:t>
            </a:r>
            <a:endParaRPr b="0" lang="en-US" sz="2000" strike="noStrike" u="none">
              <a:solidFill>
                <a:srgbClr val="ffff00"/>
              </a:solidFill>
              <a:effectLst/>
              <a:uFillTx/>
              <a:latin typeface="Times New Roman"/>
            </a:endParaRPr>
          </a:p>
        </p:txBody>
      </p:sp>
    </p:spTree>
  </p:cSld>
  <p:transition spd="med">
    <p:zoom dir="out"/>
  </p:transition>
  <p:timing>
    <p:tnLst>
      <p:par>
        <p:cTn id="333" dur="indefinite" restart="never" nodeType="tmRoot">
          <p:childTnLst>
            <p:seq>
              <p:cTn id="334" dur="indefinite" nodeType="mainSeq">
                <p:childTnLst>
                  <p:par>
                    <p:cTn id="335" nodeType="clickEffect" fill="hold">
                      <p:stCondLst>
                        <p:cond delay="0"/>
                      </p:stCondLst>
                      <p:childTnLst>
                        <p:par>
                          <p:cTn id="336" nodeType="withEffect" fill="hold">
                            <p:stCondLst>
                              <p:cond delay="0"/>
                            </p:stCondLst>
                            <p:childTnLst>
                              <p:par>
                                <p:cTn id="337" nodeType="afterEffect" fill="hold" presetClass="entr" presetID="9">
                                  <p:stCondLst>
                                    <p:cond delay="0"/>
                                  </p:stCondLst>
                                  <p:childTnLst>
                                    <p:set>
                                      <p:cBhvr>
                                        <p:cTn id="338" dur="1" fill="hold">
                                          <p:stCondLst>
                                            <p:cond delay="0"/>
                                          </p:stCondLst>
                                        </p:cTn>
                                        <p:tgtEl>
                                          <p:spTgt spid="135"/>
                                        </p:tgtEl>
                                        <p:attrNameLst>
                                          <p:attrName>style.visibility</p:attrName>
                                        </p:attrNameLst>
                                      </p:cBhvr>
                                      <p:to>
                                        <p:strVal val="visible"/>
                                      </p:to>
                                    </p:set>
                                    <p:animEffect filter="dissolve" transition="in">
                                      <p:cBhvr additive="repl">
                                        <p:cTn id="339" dur="500"/>
                                        <p:tgtEl>
                                          <p:spTgt spid="135"/>
                                        </p:tgtEl>
                                      </p:cBhvr>
                                    </p:animEffect>
                                  </p:childTnLst>
                                </p:cTn>
                              </p:par>
                            </p:childTnLst>
                          </p:cTn>
                        </p:par>
                      </p:childTnLst>
                    </p:cTn>
                  </p:par>
                  <p:par>
                    <p:cTn id="340" nodeType="clickEffect" fill="hold">
                      <p:stCondLst>
                        <p:cond delay="indefinite"/>
                      </p:stCondLst>
                      <p:childTnLst>
                        <p:par>
                          <p:cTn id="341" nodeType="withEffect" fill="hold">
                            <p:stCondLst>
                              <p:cond delay="0"/>
                            </p:stCondLst>
                            <p:childTnLst>
                              <p:par>
                                <p:cTn id="342" nodeType="clickEffect" fill="hold" presetClass="entr" presetID="23" presetSubtype="32">
                                  <p:stCondLst>
                                    <p:cond delay="0"/>
                                  </p:stCondLst>
                                  <p:childTnLst>
                                    <p:set>
                                      <p:cBhvr>
                                        <p:cTn id="343" dur="1" fill="hold">
                                          <p:stCondLst>
                                            <p:cond delay="0"/>
                                          </p:stCondLst>
                                        </p:cTn>
                                        <p:tgtEl>
                                          <p:spTgt spid="136"/>
                                        </p:tgtEl>
                                        <p:attrNameLst>
                                          <p:attrName>style.visibility</p:attrName>
                                        </p:attrNameLst>
                                      </p:cBhvr>
                                      <p:to>
                                        <p:strVal val="visible"/>
                                      </p:to>
                                    </p:set>
                                    <p:anim calcmode="lin" valueType="num">
                                      <p:cBhvr additive="repl">
                                        <p:cTn id="344" dur="500" fill="hold"/>
                                        <p:tgtEl>
                                          <p:spTgt spid="136"/>
                                        </p:tgtEl>
                                        <p:attrNameLst>
                                          <p:attrName>ppt_w</p:attrName>
                                        </p:attrNameLst>
                                      </p:cBhvr>
                                      <p:tavLst>
                                        <p:tav tm="0">
                                          <p:val>
                                            <p:strVal val="4*#ppt_w"/>
                                          </p:val>
                                        </p:tav>
                                        <p:tav tm="100000">
                                          <p:val>
                                            <p:strVal val="#ppt_w"/>
                                          </p:val>
                                        </p:tav>
                                      </p:tavLst>
                                    </p:anim>
                                    <p:anim calcmode="lin" valueType="num">
                                      <p:cBhvr additive="repl">
                                        <p:cTn id="345" dur="500" fill="hold"/>
                                        <p:tgtEl>
                                          <p:spTgt spid="136"/>
                                        </p:tgtEl>
                                        <p:attrNameLst>
                                          <p:attrName>ppt_h</p:attrName>
                                        </p:attrNameLst>
                                      </p:cBhvr>
                                      <p:tavLst>
                                        <p:tav tm="0">
                                          <p:val>
                                            <p:strVal val="4*#ppt_h"/>
                                          </p:val>
                                        </p:tav>
                                        <p:tav tm="100000">
                                          <p:val>
                                            <p:strVal val="#ppt_h"/>
                                          </p:val>
                                        </p:tav>
                                      </p:tavLst>
                                    </p:anim>
                                  </p:childTnLst>
                                </p:cTn>
                              </p:par>
                            </p:childTnLst>
                          </p:cTn>
                        </p:par>
                        <p:par>
                          <p:cTn id="346" nodeType="afterEffect" fill="hold">
                            <p:stCondLst>
                              <p:cond delay="500"/>
                            </p:stCondLst>
                            <p:childTnLst>
                              <p:par>
                                <p:cTn id="347" nodeType="afterEffect" fill="hold" presetClass="entr" presetID="9">
                                  <p:stCondLst>
                                    <p:cond delay="0"/>
                                  </p:stCondLst>
                                  <p:childTnLst>
                                    <p:set>
                                      <p:cBhvr>
                                        <p:cTn id="348" dur="1" fill="hold">
                                          <p:stCondLst>
                                            <p:cond delay="0"/>
                                          </p:stCondLst>
                                        </p:cTn>
                                        <p:tgtEl>
                                          <p:spTgt spid="137"/>
                                        </p:tgtEl>
                                        <p:attrNameLst>
                                          <p:attrName>style.visibility</p:attrName>
                                        </p:attrNameLst>
                                      </p:cBhvr>
                                      <p:to>
                                        <p:strVal val="visible"/>
                                      </p:to>
                                    </p:set>
                                    <p:animEffect filter="dissolve" transition="in">
                                      <p:cBhvr additive="repl">
                                        <p:cTn id="349" dur="500"/>
                                        <p:tgtEl>
                                          <p:spTgt spid="137"/>
                                        </p:tgtEl>
                                      </p:cBhvr>
                                    </p:animEffect>
                                  </p:childTnLst>
                                </p:cTn>
                              </p:par>
                            </p:childTnLst>
                          </p:cTn>
                        </p:par>
                      </p:childTnLst>
                    </p:cTn>
                  </p:par>
                  <p:par>
                    <p:cTn id="350" nodeType="clickEffect" fill="hold">
                      <p:stCondLst>
                        <p:cond delay="indefinite"/>
                      </p:stCondLst>
                      <p:childTnLst>
                        <p:par>
                          <p:cTn id="351" nodeType="withEffect" fill="hold">
                            <p:stCondLst>
                              <p:cond delay="0"/>
                            </p:stCondLst>
                            <p:childTnLst>
                              <p:par>
                                <p:cTn id="352" nodeType="clickEffect" fill="hold" presetClass="entr" presetID="23" presetSubtype="16">
                                  <p:stCondLst>
                                    <p:cond delay="0"/>
                                  </p:stCondLst>
                                  <p:childTnLst>
                                    <p:set>
                                      <p:cBhvr>
                                        <p:cTn id="353" dur="1" fill="hold">
                                          <p:stCondLst>
                                            <p:cond delay="0"/>
                                          </p:stCondLst>
                                        </p:cTn>
                                        <p:tgtEl>
                                          <p:spTgt spid="140"/>
                                        </p:tgtEl>
                                        <p:attrNameLst>
                                          <p:attrName>style.visibility</p:attrName>
                                        </p:attrNameLst>
                                      </p:cBhvr>
                                      <p:to>
                                        <p:strVal val="visible"/>
                                      </p:to>
                                    </p:set>
                                    <p:anim calcmode="lin" valueType="num">
                                      <p:cBhvr additive="repl">
                                        <p:cTn id="354" dur="500" fill="hold"/>
                                        <p:tgtEl>
                                          <p:spTgt spid="140"/>
                                        </p:tgtEl>
                                        <p:attrNameLst>
                                          <p:attrName>ppt_w</p:attrName>
                                        </p:attrNameLst>
                                      </p:cBhvr>
                                      <p:tavLst>
                                        <p:tav tm="0">
                                          <p:val>
                                            <p:fltVal val="0"/>
                                          </p:val>
                                        </p:tav>
                                        <p:tav tm="100000">
                                          <p:val>
                                            <p:strVal val="#ppt_w"/>
                                          </p:val>
                                        </p:tav>
                                      </p:tavLst>
                                    </p:anim>
                                    <p:anim calcmode="lin" valueType="num">
                                      <p:cBhvr additive="repl">
                                        <p:cTn id="355" dur="500" fill="hold"/>
                                        <p:tgtEl>
                                          <p:spTgt spid="140"/>
                                        </p:tgtEl>
                                        <p:attrNameLst>
                                          <p:attrName>ppt_h</p:attrName>
                                        </p:attrNameLst>
                                      </p:cBhvr>
                                      <p:tavLst>
                                        <p:tav tm="0">
                                          <p:val>
                                            <p:fltVal val="0"/>
                                          </p:val>
                                        </p:tav>
                                        <p:tav tm="100000">
                                          <p:val>
                                            <p:strVal val="#ppt_h"/>
                                          </p:val>
                                        </p:tav>
                                      </p:tavLst>
                                    </p:anim>
                                  </p:childTnLst>
                                </p:cTn>
                              </p:par>
                              <p:animClr clrSpc="rgb">
                                <p:cBhvr>
                                  <p:cTn id="356" dur="1" fill="hold">
                                    <p:stCondLst>
                                      <p:cond delay="0"/>
                                    </p:stCondLst>
                                  </p:cTn>
                                  <p:tgtEl>
                                    <p:spTgt spid="137"/>
                                  </p:tgtEl>
                                  <p:attrNameLst>
                                    <p:attrName>ppt_c</p:attrName>
                                  </p:attrNameLst>
                                </p:cBhvr>
                                <p:to>
                                  <a:srgbClr val="ccccff"/>
                                </p:to>
                              </p:animClr>
                            </p:childTnLst>
                          </p:cTn>
                        </p:par>
                        <p:par>
                          <p:cTn id="357" nodeType="afterEffect" fill="hold">
                            <p:stCondLst>
                              <p:cond delay="500"/>
                            </p:stCondLst>
                            <p:childTnLst>
                              <p:par>
                                <p:cTn id="358" nodeType="afterEffect" fill="hold" presetClass="entr" presetID="9">
                                  <p:stCondLst>
                                    <p:cond delay="0"/>
                                  </p:stCondLst>
                                  <p:childTnLst>
                                    <p:set>
                                      <p:cBhvr>
                                        <p:cTn id="359" dur="1" fill="hold">
                                          <p:stCondLst>
                                            <p:cond delay="0"/>
                                          </p:stCondLst>
                                        </p:cTn>
                                        <p:tgtEl>
                                          <p:spTgt spid="138"/>
                                        </p:tgtEl>
                                        <p:attrNameLst>
                                          <p:attrName>style.visibility</p:attrName>
                                        </p:attrNameLst>
                                      </p:cBhvr>
                                      <p:to>
                                        <p:strVal val="visible"/>
                                      </p:to>
                                    </p:set>
                                    <p:animEffect filter="dissolve" transition="in">
                                      <p:cBhvr additive="repl">
                                        <p:cTn id="360" dur="500"/>
                                        <p:tgtEl>
                                          <p:spTgt spid="138"/>
                                        </p:tgtEl>
                                      </p:cBhvr>
                                    </p:animEffect>
                                  </p:childTnLst>
                                </p:cTn>
                              </p:par>
                            </p:childTnLst>
                          </p:cTn>
                        </p:par>
                      </p:childTnLst>
                    </p:cTn>
                  </p:par>
                  <p:par>
                    <p:cTn id="361" nodeType="clickEffect" fill="hold">
                      <p:stCondLst>
                        <p:cond delay="indefinite"/>
                      </p:stCondLst>
                      <p:childTnLst>
                        <p:par>
                          <p:cTn id="362" nodeType="withEffect" fill="hold">
                            <p:stCondLst>
                              <p:cond delay="0"/>
                            </p:stCondLst>
                            <p:childTnLst>
                              <p:par>
                                <p:cTn id="363" nodeType="clickEffect" fill="hold" presetClass="entr" presetID="9">
                                  <p:stCondLst>
                                    <p:cond delay="0"/>
                                  </p:stCondLst>
                                  <p:childTnLst>
                                    <p:set>
                                      <p:cBhvr>
                                        <p:cTn id="364" dur="1" fill="hold">
                                          <p:stCondLst>
                                            <p:cond delay="0"/>
                                          </p:stCondLst>
                                        </p:cTn>
                                        <p:tgtEl>
                                          <p:spTgt spid="142"/>
                                        </p:tgtEl>
                                        <p:attrNameLst>
                                          <p:attrName>style.visibility</p:attrName>
                                        </p:attrNameLst>
                                      </p:cBhvr>
                                      <p:to>
                                        <p:strVal val="visible"/>
                                      </p:to>
                                    </p:set>
                                    <p:animEffect filter="dissolve" transition="in">
                                      <p:cBhvr additive="repl">
                                        <p:cTn id="365" dur="500"/>
                                        <p:tgtEl>
                                          <p:spTgt spid="142"/>
                                        </p:tgtEl>
                                      </p:cBhvr>
                                    </p:animEffect>
                                  </p:childTnLst>
                                </p:cTn>
                              </p:par>
                              <p:animClr clrSpc="rgb">
                                <p:cBhvr>
                                  <p:cTn id="366" dur="1" fill="hold">
                                    <p:stCondLst>
                                      <p:cond delay="0"/>
                                    </p:stCondLst>
                                  </p:cTn>
                                  <p:tgtEl>
                                    <p:spTgt spid="138"/>
                                  </p:tgtEl>
                                  <p:attrNameLst>
                                    <p:attrName>ppt_c</p:attrName>
                                  </p:attrNameLst>
                                </p:cBhvr>
                                <p:to>
                                  <a:srgbClr val="ccccff"/>
                                </p:to>
                              </p:animClr>
                            </p:childTnLst>
                          </p:cTn>
                        </p:par>
                      </p:childTnLst>
                    </p:cTn>
                  </p:par>
                  <p:par>
                    <p:cTn id="367" nodeType="clickEffect" fill="hold">
                      <p:stCondLst>
                        <p:cond delay="indefinite"/>
                      </p:stCondLst>
                      <p:childTnLst>
                        <p:par>
                          <p:cTn id="368" nodeType="withEffect" fill="hold">
                            <p:stCondLst>
                              <p:cond delay="0"/>
                            </p:stCondLst>
                            <p:childTnLst>
                              <p:par>
                                <p:cTn id="369" nodeType="clickEffect" fill="hold" presetClass="entr" presetID="23" presetSubtype="32">
                                  <p:stCondLst>
                                    <p:cond delay="0"/>
                                  </p:stCondLst>
                                  <p:childTnLst>
                                    <p:set>
                                      <p:cBhvr>
                                        <p:cTn id="370" dur="1" fill="hold">
                                          <p:stCondLst>
                                            <p:cond delay="0"/>
                                          </p:stCondLst>
                                        </p:cTn>
                                        <p:tgtEl>
                                          <p:spTgt spid="141"/>
                                        </p:tgtEl>
                                        <p:attrNameLst>
                                          <p:attrName>style.visibility</p:attrName>
                                        </p:attrNameLst>
                                      </p:cBhvr>
                                      <p:to>
                                        <p:strVal val="visible"/>
                                      </p:to>
                                    </p:set>
                                    <p:anim calcmode="lin" valueType="num">
                                      <p:cBhvr additive="repl">
                                        <p:cTn id="371" dur="500" fill="hold"/>
                                        <p:tgtEl>
                                          <p:spTgt spid="141"/>
                                        </p:tgtEl>
                                        <p:attrNameLst>
                                          <p:attrName>ppt_w</p:attrName>
                                        </p:attrNameLst>
                                      </p:cBhvr>
                                      <p:tavLst>
                                        <p:tav tm="0">
                                          <p:val>
                                            <p:strVal val="4*#ppt_w"/>
                                          </p:val>
                                        </p:tav>
                                        <p:tav tm="100000">
                                          <p:val>
                                            <p:strVal val="#ppt_w"/>
                                          </p:val>
                                        </p:tav>
                                      </p:tavLst>
                                    </p:anim>
                                    <p:anim calcmode="lin" valueType="num">
                                      <p:cBhvr additive="repl">
                                        <p:cTn id="372" dur="500" fill="hold"/>
                                        <p:tgtEl>
                                          <p:spTgt spid="141"/>
                                        </p:tgtEl>
                                        <p:attrNameLst>
                                          <p:attrName>ppt_h</p:attrName>
                                        </p:attrNameLst>
                                      </p:cBhvr>
                                      <p:tavLst>
                                        <p:tav tm="0">
                                          <p:val>
                                            <p:strVal val="4*#ppt_h"/>
                                          </p:val>
                                        </p:tav>
                                        <p:tav tm="100000">
                                          <p:val>
                                            <p:strVal val="#ppt_h"/>
                                          </p:val>
                                        </p:tav>
                                      </p:tavLst>
                                    </p:anim>
                                  </p:childTnLst>
                                </p:cTn>
                              </p:par>
                              <p:animClr clrSpc="rgb">
                                <p:cBhvr>
                                  <p:cTn id="373" dur="1" fill="hold">
                                    <p:stCondLst>
                                      <p:cond delay="0"/>
                                    </p:stCondLst>
                                  </p:cTn>
                                  <p:tgtEl>
                                    <p:spTgt spid="142"/>
                                  </p:tgtEl>
                                  <p:attrNameLst>
                                    <p:attrName>ppt_c</p:attrName>
                                  </p:attrNameLst>
                                </p:cBhvr>
                                <p:to>
                                  <a:srgbClr val="ccccff"/>
                                </p:to>
                              </p:animClr>
                            </p:childTnLst>
                          </p:cTn>
                        </p:par>
                        <p:par>
                          <p:cTn id="374" nodeType="afterEffect" fill="hold">
                            <p:stCondLst>
                              <p:cond delay="500"/>
                            </p:stCondLst>
                            <p:childTnLst>
                              <p:par>
                                <p:cTn id="375" nodeType="afterEffect" fill="hold" presetClass="entr" presetID="9">
                                  <p:stCondLst>
                                    <p:cond delay="0"/>
                                  </p:stCondLst>
                                  <p:childTnLst>
                                    <p:set>
                                      <p:cBhvr>
                                        <p:cTn id="376" dur="1" fill="hold">
                                          <p:stCondLst>
                                            <p:cond delay="0"/>
                                          </p:stCondLst>
                                        </p:cTn>
                                        <p:tgtEl>
                                          <p:spTgt spid="139"/>
                                        </p:tgtEl>
                                        <p:attrNameLst>
                                          <p:attrName>style.visibility</p:attrName>
                                        </p:attrNameLst>
                                      </p:cBhvr>
                                      <p:to>
                                        <p:strVal val="visible"/>
                                      </p:to>
                                    </p:set>
                                    <p:animEffect filter="dissolve" transition="in">
                                      <p:cBhvr additive="repl">
                                        <p:cTn id="377" dur="500"/>
                                        <p:tgtEl>
                                          <p:spTgt spid="139"/>
                                        </p:tgtEl>
                                      </p:cBhvr>
                                    </p:animEffect>
                                  </p:childTnLst>
                                </p:cTn>
                              </p:par>
                            </p:childTnLst>
                          </p:cTn>
                        </p:par>
                      </p:childTnLst>
                    </p:cTn>
                  </p:par>
                  <p:par>
                    <p:cTn id="378" nodeType="clickEffect" fill="hold">
                      <p:stCondLst>
                        <p:cond delay="indefinite"/>
                      </p:stCondLst>
                      <p:childTnLst>
                        <p:par>
                          <p:cTn id="379" nodeType="withEffect" fill="hold">
                            <p:stCondLst>
                              <p:cond delay="0"/>
                            </p:stCondLst>
                            <p:childTnLst>
                              <p:par>
                                <p:cTn id="380" nodeType="clickEffect" fill="hold" presetClass="entr" presetID="53">
                                  <p:stCondLst>
                                    <p:cond delay="0"/>
                                  </p:stCondLst>
                                  <p:childTnLst>
                                    <p:set>
                                      <p:cBhvr>
                                        <p:cTn id="381" dur="1" fill="hold">
                                          <p:stCondLst>
                                            <p:cond delay="0"/>
                                          </p:stCondLst>
                                        </p:cTn>
                                        <p:tgtEl>
                                          <p:spTgt spid="143"/>
                                        </p:tgtEl>
                                        <p:attrNameLst>
                                          <p:attrName>style.visibility</p:attrName>
                                        </p:attrNameLst>
                                      </p:cBhvr>
                                      <p:to>
                                        <p:strVal val="visible"/>
                                      </p:to>
                                    </p:set>
                                    <p:anim calcmode="lin" valueType="num">
                                      <p:cBhvr additive="repl">
                                        <p:cTn id="382" dur="2000" fill="hold"/>
                                        <p:tgtEl>
                                          <p:spTgt spid="143"/>
                                        </p:tgtEl>
                                        <p:attrNameLst>
                                          <p:attrName>ppt_w</p:attrName>
                                        </p:attrNameLst>
                                      </p:cBhvr>
                                      <p:tavLst>
                                        <p:tav tm="0">
                                          <p:val>
                                            <p:fltVal val="0"/>
                                          </p:val>
                                        </p:tav>
                                        <p:tav tm="100000">
                                          <p:val>
                                            <p:strVal val="#ppt_w"/>
                                          </p:val>
                                        </p:tav>
                                      </p:tavLst>
                                    </p:anim>
                                    <p:anim calcmode="lin" valueType="num">
                                      <p:cBhvr additive="repl">
                                        <p:cTn id="383" dur="2000" fill="hold"/>
                                        <p:tgtEl>
                                          <p:spTgt spid="143"/>
                                        </p:tgtEl>
                                        <p:attrNameLst>
                                          <p:attrName>ppt_h</p:attrName>
                                        </p:attrNameLst>
                                      </p:cBhvr>
                                      <p:tavLst>
                                        <p:tav tm="0">
                                          <p:val>
                                            <p:fltVal val="0"/>
                                          </p:val>
                                        </p:tav>
                                        <p:tav tm="100000">
                                          <p:val>
                                            <p:strVal val="#ppt_h"/>
                                          </p:val>
                                        </p:tav>
                                      </p:tavLst>
                                    </p:anim>
                                    <p:animEffect filter="fade" transition="in">
                                      <p:cBhvr additive="repl">
                                        <p:cTn id="384" dur="20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Text Box 4"/>
          <p:cNvSpPr/>
          <p:nvPr/>
        </p:nvSpPr>
        <p:spPr>
          <a:xfrm>
            <a:off x="1132920" y="1052640"/>
            <a:ext cx="6715800" cy="4484160"/>
          </a:xfrm>
          <a:prstGeom prst="rect">
            <a:avLst/>
          </a:prstGeom>
          <a:noFill/>
          <a:ln w="0">
            <a:noFill/>
          </a:ln>
        </p:spPr>
        <p:style>
          <a:lnRef idx="0"/>
          <a:fillRef idx="0"/>
          <a:effectRef idx="0"/>
          <a:fontRef idx="minor"/>
        </p:style>
        <p:txBody>
          <a:bodyPr wrap="none" lIns="90000" rIns="90000" tIns="46800" bIns="46800" anchor="t">
            <a:spAutoFit/>
          </a:bodyPr>
          <a:p>
            <a:pPr algn="ct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Bookman Old Style"/>
              </a:rPr>
              <a:t>…concernant le jeune enfant : </a:t>
            </a:r>
            <a:endParaRPr b="0" lang="en-US" sz="3200" strike="noStrike" u="none">
              <a:solidFill>
                <a:srgbClr val="ffff00"/>
              </a:solidFill>
              <a:effectLst/>
              <a:uFillTx/>
              <a:latin typeface="Times New Roman"/>
            </a:endParaRPr>
          </a:p>
          <a:p>
            <a:pPr algn="ct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trike="noStrike" u="none">
              <a:solidFill>
                <a:srgbClr val="ffff00"/>
              </a:solidFill>
              <a:effectLst/>
              <a:uFillTx/>
              <a:latin typeface="Times New Roman"/>
            </a:endParaRPr>
          </a:p>
          <a:p>
            <a:pPr algn="ct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Bookman Old Style"/>
              </a:rPr>
              <a:t>1- </a:t>
            </a:r>
            <a:r>
              <a:rPr b="1" lang="fr-FR" sz="3200" strike="noStrike" u="none">
                <a:solidFill>
                  <a:srgbClr val="ffffff"/>
                </a:solidFill>
                <a:effectLst/>
                <a:uFillTx/>
                <a:latin typeface="Bookman Old Style"/>
              </a:rPr>
              <a:t>à quel moment développer </a:t>
            </a:r>
            <a:endParaRPr b="0" lang="en-US" sz="3200" strike="noStrike" u="none">
              <a:solidFill>
                <a:srgbClr val="ffff00"/>
              </a:solidFill>
              <a:effectLst/>
              <a:uFillTx/>
              <a:latin typeface="Times New Roman"/>
            </a:endParaRPr>
          </a:p>
          <a:p>
            <a:pPr algn="ct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Bookman Old Style"/>
              </a:rPr>
              <a:t>ses capacités d’apprentissage</a:t>
            </a:r>
            <a:endParaRPr b="0" lang="en-US" sz="3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trike="noStrike" u="none">
              <a:solidFill>
                <a:srgbClr val="ffff00"/>
              </a:solidFill>
              <a:effectLst/>
              <a:uFillTx/>
              <a:latin typeface="Times New Roman"/>
            </a:endParaRPr>
          </a:p>
        </p:txBody>
      </p:sp>
    </p:spTree>
  </p:cSld>
  <p:transition spd="med">
    <p:zoom dir="out"/>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5" name="Picture 2" descr=""/>
          <p:cNvPicPr/>
          <p:nvPr/>
        </p:nvPicPr>
        <p:blipFill>
          <a:blip r:embed="rId1"/>
          <a:stretch/>
        </p:blipFill>
        <p:spPr>
          <a:xfrm>
            <a:off x="1447920" y="0"/>
            <a:ext cx="6705360" cy="5572080"/>
          </a:xfrm>
          <a:prstGeom prst="rect">
            <a:avLst/>
          </a:prstGeom>
          <a:noFill/>
          <a:ln w="0">
            <a:noFill/>
          </a:ln>
        </p:spPr>
      </p:pic>
      <p:sp>
        <p:nvSpPr>
          <p:cNvPr id="146" name="Text Box 3"/>
          <p:cNvSpPr/>
          <p:nvPr/>
        </p:nvSpPr>
        <p:spPr>
          <a:xfrm>
            <a:off x="111600" y="5657760"/>
            <a:ext cx="9087480" cy="11912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Maturation neuronale : enrichissement progressif en prolongements porteurs des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contacts synaptiques. Cette floraison synaptiques est maximum à 6 mois dans les aires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visuelles, </a:t>
            </a:r>
            <a:r>
              <a:rPr b="1" lang="fr-FR" sz="1800" strike="noStrike" u="none">
                <a:solidFill>
                  <a:srgbClr val="ffffff"/>
                </a:solidFill>
                <a:effectLst/>
                <a:uFillTx/>
                <a:latin typeface="Arial"/>
              </a:rPr>
              <a:t>à deux ans dans les aires motrices et persiste jusqu’à l’adolescence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dans les régions associatives</a:t>
            </a:r>
            <a:endParaRPr b="0" lang="en-US" sz="1800" strike="noStrike" u="none">
              <a:solidFill>
                <a:srgbClr val="ffff00"/>
              </a:solidFill>
              <a:effectLst/>
              <a:uFillTx/>
              <a:latin typeface="Times New Roman"/>
            </a:endParaRPr>
          </a:p>
        </p:txBody>
      </p:sp>
    </p:spTree>
  </p:cSld>
  <p:transition spd="med">
    <p:zoom dir="out"/>
  </p:transition>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7" name="Picture 2" descr=""/>
          <p:cNvPicPr/>
          <p:nvPr/>
        </p:nvPicPr>
        <p:blipFill>
          <a:blip r:embed="rId1"/>
          <a:srcRect l="0" t="25097" r="0" b="56381"/>
          <a:stretch/>
        </p:blipFill>
        <p:spPr>
          <a:xfrm>
            <a:off x="152280" y="685800"/>
            <a:ext cx="8839440" cy="2104920"/>
          </a:xfrm>
          <a:prstGeom prst="rect">
            <a:avLst/>
          </a:prstGeom>
          <a:noFill/>
          <a:ln w="0">
            <a:noFill/>
          </a:ln>
        </p:spPr>
      </p:pic>
      <p:pic>
        <p:nvPicPr>
          <p:cNvPr id="148" name="Picture 3" descr=""/>
          <p:cNvPicPr/>
          <p:nvPr/>
        </p:nvPicPr>
        <p:blipFill>
          <a:blip r:embed="rId2"/>
          <a:srcRect l="0" t="49927" r="0" b="25927"/>
          <a:stretch/>
        </p:blipFill>
        <p:spPr>
          <a:xfrm>
            <a:off x="152280" y="2971800"/>
            <a:ext cx="8839440" cy="2743200"/>
          </a:xfrm>
          <a:prstGeom prst="rect">
            <a:avLst/>
          </a:prstGeom>
          <a:noFill/>
          <a:ln w="0">
            <a:noFill/>
          </a:ln>
        </p:spPr>
      </p:pic>
      <p:sp>
        <p:nvSpPr>
          <p:cNvPr id="149" name="Text Box 4"/>
          <p:cNvSpPr/>
          <p:nvPr/>
        </p:nvSpPr>
        <p:spPr>
          <a:xfrm>
            <a:off x="1783800" y="166680"/>
            <a:ext cx="53881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EVOLUTION DU NEURONE AVEC L’ÂGE</a:t>
            </a:r>
            <a:endParaRPr b="0" lang="en-US" sz="2000" strike="noStrike" u="none">
              <a:solidFill>
                <a:srgbClr val="ffff00"/>
              </a:solidFill>
              <a:effectLst/>
              <a:uFillTx/>
              <a:latin typeface="Times New Roman"/>
            </a:endParaRPr>
          </a:p>
        </p:txBody>
      </p:sp>
      <p:sp>
        <p:nvSpPr>
          <p:cNvPr id="150" name="Text Box 5"/>
          <p:cNvSpPr/>
          <p:nvPr/>
        </p:nvSpPr>
        <p:spPr>
          <a:xfrm>
            <a:off x="60120" y="5734080"/>
            <a:ext cx="9138600" cy="11912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Maturation </a:t>
            </a:r>
            <a:r>
              <a:rPr b="0" lang="fr-FR" sz="1800" strike="noStrike" u="none">
                <a:solidFill>
                  <a:srgbClr val="ffff00"/>
                </a:solidFill>
                <a:effectLst/>
                <a:uFillTx/>
                <a:latin typeface="Symbol"/>
                <a:ea typeface="Symbol"/>
              </a:rPr>
              <a:t></a:t>
            </a:r>
            <a:r>
              <a:rPr b="0" lang="fr-FR" sz="1800" strike="noStrike" u="none">
                <a:solidFill>
                  <a:srgbClr val="ffff00"/>
                </a:solidFill>
                <a:effectLst/>
                <a:uFillTx/>
                <a:latin typeface="Arial"/>
              </a:rPr>
              <a:t> maturité : optimum des dendrites, augmentation du diamètre de l’axone et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 de la vitesse de conduction des potentiels d’action (de 50 à 100 m/s), autant de ChAc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enzymes de synthèse (Cholinacétylase: maturation) que d’AChE (Acétylcholinestérase :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dégradation) = équilibre dans la production et dans la dégradation de l’ACh</a:t>
            </a:r>
            <a:endParaRPr b="0" lang="en-US" sz="1800" strike="noStrike" u="none">
              <a:solidFill>
                <a:srgbClr val="ffff00"/>
              </a:solidFill>
              <a:effectLst/>
              <a:uFillTx/>
              <a:latin typeface="Times New Roman"/>
            </a:endParaRPr>
          </a:p>
        </p:txBody>
      </p:sp>
    </p:spTree>
  </p:cSld>
  <p:transition spd="med">
    <p:zoom dir="out"/>
  </p:transition>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p:nvPr>
        </p:nvSpPr>
        <p:spPr>
          <a:xfrm>
            <a:off x="-36360" y="836640"/>
            <a:ext cx="8991360" cy="1798560"/>
          </a:xfrm>
          <a:prstGeom prst="rect">
            <a:avLst/>
          </a:prstGeom>
          <a:noFill/>
          <a:ln w="0">
            <a:noFill/>
          </a:ln>
        </p:spPr>
        <p:txBody>
          <a:bodyPr lIns="91440" rIns="91440" tIns="45720" bIns="45720" anchor="t">
            <a:normAutofit/>
          </a:bodyPr>
          <a:p>
            <a:pPr marL="343080" indent="-343080">
              <a:lnSpc>
                <a:spcPct val="14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00"/>
                </a:solidFill>
                <a:effectLst/>
                <a:uFillTx/>
                <a:latin typeface="Arial"/>
              </a:rPr>
              <a:t>2 - L’enfant est donc très tôt équipé pour développer sa neuro-motricité fine (augmentation des liaisons synaptiques : </a:t>
            </a:r>
            <a:r>
              <a:rPr b="1" lang="es-CL" sz="2200" strike="noStrike" u="none">
                <a:solidFill>
                  <a:srgbClr val="ffffff"/>
                </a:solidFill>
                <a:effectLst/>
                <a:uFillTx/>
                <a:latin typeface="Arial"/>
              </a:rPr>
              <a:t>à partir de 1 - 2 ans)</a:t>
            </a:r>
            <a:endParaRPr b="0" lang="en-US" sz="2200" strike="noStrike" u="none">
              <a:solidFill>
                <a:srgbClr val="ffff00"/>
              </a:solidFill>
              <a:effectLst/>
              <a:uFillTx/>
              <a:latin typeface="Times New Roman"/>
            </a:endParaRPr>
          </a:p>
        </p:txBody>
      </p:sp>
      <p:sp>
        <p:nvSpPr>
          <p:cNvPr id="152" name="Text Box 6"/>
          <p:cNvSpPr/>
          <p:nvPr/>
        </p:nvSpPr>
        <p:spPr>
          <a:xfrm>
            <a:off x="338400" y="2739960"/>
            <a:ext cx="8751240" cy="3592800"/>
          </a:xfrm>
          <a:prstGeom prst="rect">
            <a:avLst/>
          </a:prstGeom>
          <a:noFill/>
          <a:ln w="0">
            <a:noFill/>
          </a:ln>
        </p:spPr>
        <p:style>
          <a:lnRef idx="0"/>
          <a:fillRef idx="0"/>
          <a:effectRef idx="0"/>
          <a:fontRef idx="minor"/>
        </p:style>
        <p:txBody>
          <a:bodyPr wrap="none" lIns="90000" rIns="90000" tIns="46800" bIns="46800" anchor="t">
            <a:spAutoFit/>
          </a:bodyPr>
          <a:p>
            <a:pPr>
              <a:lnSpc>
                <a:spcPct val="14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00"/>
                </a:solidFill>
                <a:effectLst/>
                <a:uFillTx/>
                <a:latin typeface="Arial"/>
                <a:ea typeface="Arial"/>
              </a:rPr>
              <a:t>mais la motricité exigeant les mouvements les plus rapides, les </a:t>
            </a:r>
            <a:endParaRPr b="0" lang="en-US" sz="2200" strike="noStrike" u="none">
              <a:solidFill>
                <a:srgbClr val="ffff00"/>
              </a:solidFill>
              <a:effectLst/>
              <a:uFillTx/>
              <a:latin typeface="Times New Roman"/>
            </a:endParaRPr>
          </a:p>
          <a:p>
            <a:pPr>
              <a:lnSpc>
                <a:spcPct val="14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00"/>
                </a:solidFill>
                <a:effectLst/>
                <a:uFillTx/>
                <a:latin typeface="Arial"/>
                <a:ea typeface="Arial"/>
              </a:rPr>
              <a:t>plus précis et les plus spécialisés ne peut atteindre sa pleine </a:t>
            </a:r>
            <a:endParaRPr b="0" lang="en-US" sz="2200" strike="noStrike" u="none">
              <a:solidFill>
                <a:srgbClr val="ffff00"/>
              </a:solidFill>
              <a:effectLst/>
              <a:uFillTx/>
              <a:latin typeface="Times New Roman"/>
            </a:endParaRPr>
          </a:p>
          <a:p>
            <a:pPr>
              <a:lnSpc>
                <a:spcPct val="14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00"/>
                </a:solidFill>
                <a:effectLst/>
                <a:uFillTx/>
                <a:latin typeface="Arial"/>
                <a:ea typeface="Arial"/>
              </a:rPr>
              <a:t>efficacité que lorsque la maturation synaptique, la myélinisation </a:t>
            </a:r>
            <a:endParaRPr b="0" lang="en-US" sz="2200" strike="noStrike" u="none">
              <a:solidFill>
                <a:srgbClr val="ffff00"/>
              </a:solidFill>
              <a:effectLst/>
              <a:uFillTx/>
              <a:latin typeface="Times New Roman"/>
            </a:endParaRPr>
          </a:p>
          <a:p>
            <a:pPr>
              <a:lnSpc>
                <a:spcPct val="14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00"/>
                </a:solidFill>
                <a:effectLst/>
                <a:uFillTx/>
                <a:latin typeface="Arial"/>
                <a:ea typeface="Arial"/>
              </a:rPr>
              <a:t>des fibres nerveuses, les liaisons et les coordinations neuro-</a:t>
            </a:r>
            <a:endParaRPr b="0" lang="en-US" sz="2200" strike="noStrike" u="none">
              <a:solidFill>
                <a:srgbClr val="ffff00"/>
              </a:solidFill>
              <a:effectLst/>
              <a:uFillTx/>
              <a:latin typeface="Times New Roman"/>
            </a:endParaRPr>
          </a:p>
          <a:p>
            <a:pPr>
              <a:lnSpc>
                <a:spcPct val="14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00"/>
                </a:solidFill>
                <a:effectLst/>
                <a:uFillTx/>
                <a:latin typeface="Arial"/>
                <a:ea typeface="Arial"/>
              </a:rPr>
              <a:t>musculaires auront atteint leur plein état de maturité c’est à dire </a:t>
            </a:r>
            <a:endParaRPr b="0" lang="en-US" sz="2200" strike="noStrike" u="none">
              <a:solidFill>
                <a:srgbClr val="ffff00"/>
              </a:solidFill>
              <a:effectLst/>
              <a:uFillTx/>
              <a:latin typeface="Times New Roman"/>
            </a:endParaRPr>
          </a:p>
          <a:p>
            <a:pPr>
              <a:lnSpc>
                <a:spcPct val="14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ff"/>
                </a:solidFill>
                <a:effectLst/>
                <a:uFillTx/>
                <a:latin typeface="Arial"/>
                <a:ea typeface="Arial"/>
              </a:rPr>
              <a:t>vers  6 – 9 ans..</a:t>
            </a:r>
            <a:endParaRPr b="0" lang="en-US" sz="22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200" strike="noStrike" u="none">
              <a:solidFill>
                <a:srgbClr val="ffff00"/>
              </a:solidFill>
              <a:effectLst/>
              <a:uFillTx/>
              <a:latin typeface="Times New Roman"/>
            </a:endParaRPr>
          </a:p>
        </p:txBody>
      </p:sp>
    </p:spTree>
  </p:cSld>
  <p:transition spd="med">
    <p:zoom dir="out"/>
  </p:transition>
  <p:timing>
    <p:tnLst>
      <p:par>
        <p:cTn id="385" dur="indefinite" restart="never" nodeType="tmRoot">
          <p:childTnLst>
            <p:seq>
              <p:cTn id="386" dur="indefinite" nodeType="mainSeq">
                <p:childTnLst>
                  <p:par>
                    <p:cTn id="387" nodeType="clickEffect" fill="hold">
                      <p:stCondLst>
                        <p:cond delay="indefinite"/>
                      </p:stCondLst>
                      <p:childTnLst>
                        <p:par>
                          <p:cTn id="388" nodeType="withEffect" fill="hold">
                            <p:stCondLst>
                              <p:cond delay="0"/>
                            </p:stCondLst>
                            <p:childTnLst>
                              <p:par>
                                <p:cTn id="389" nodeType="clickEffect" fill="hold" presetClass="entr" presetID="22" presetSubtype="1">
                                  <p:stCondLst>
                                    <p:cond delay="0"/>
                                  </p:stCondLst>
                                  <p:childTnLst>
                                    <p:set>
                                      <p:cBhvr>
                                        <p:cTn id="390" dur="1" fill="hold">
                                          <p:stCondLst>
                                            <p:cond delay="0"/>
                                          </p:stCondLst>
                                        </p:cTn>
                                        <p:tgtEl>
                                          <p:spTgt spid="151">
                                            <p:txEl>
                                              <p:pRg st="0" end="0"/>
                                            </p:txEl>
                                          </p:spTgt>
                                        </p:tgtEl>
                                        <p:attrNameLst>
                                          <p:attrName>style.visibility</p:attrName>
                                        </p:attrNameLst>
                                      </p:cBhvr>
                                      <p:to>
                                        <p:strVal val="visible"/>
                                      </p:to>
                                    </p:set>
                                    <p:animEffect filter="wipe(up)" transition="in">
                                      <p:cBhvr additive="repl">
                                        <p:cTn id="391" dur="1000"/>
                                        <p:tgtEl>
                                          <p:spTgt spid="151">
                                            <p:txEl>
                                              <p:pRg st="0" end="0"/>
                                            </p:txEl>
                                          </p:spTgt>
                                        </p:tgtEl>
                                      </p:cBhvr>
                                    </p:animEffect>
                                  </p:childTnLst>
                                </p:cTn>
                              </p:par>
                            </p:childTnLst>
                          </p:cTn>
                        </p:par>
                      </p:childTnLst>
                    </p:cTn>
                  </p:par>
                  <p:par>
                    <p:cTn id="392" nodeType="clickEffect" fill="hold">
                      <p:stCondLst>
                        <p:cond delay="indefinite"/>
                      </p:stCondLst>
                      <p:childTnLst>
                        <p:par>
                          <p:cTn id="393" nodeType="withEffect" fill="hold">
                            <p:stCondLst>
                              <p:cond delay="0"/>
                            </p:stCondLst>
                            <p:childTnLst>
                              <p:par>
                                <p:cTn id="394" nodeType="clickEffect" fill="hold" presetClass="entr" presetID="22" presetSubtype="1">
                                  <p:stCondLst>
                                    <p:cond delay="0"/>
                                  </p:stCondLst>
                                  <p:childTnLst>
                                    <p:set>
                                      <p:cBhvr>
                                        <p:cTn id="395" dur="1" fill="hold">
                                          <p:stCondLst>
                                            <p:cond delay="0"/>
                                          </p:stCondLst>
                                        </p:cTn>
                                        <p:tgtEl>
                                          <p:spTgt spid="152"/>
                                        </p:tgtEl>
                                        <p:attrNameLst>
                                          <p:attrName>style.visibility</p:attrName>
                                        </p:attrNameLst>
                                      </p:cBhvr>
                                      <p:to>
                                        <p:strVal val="visible"/>
                                      </p:to>
                                    </p:set>
                                    <p:animEffect filter="wipe(up)" transition="in">
                                      <p:cBhvr additive="repl">
                                        <p:cTn id="396" dur="5000"/>
                                        <p:tgtEl>
                                          <p:spTgt spid="1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Text Box 2"/>
          <p:cNvSpPr/>
          <p:nvPr/>
        </p:nvSpPr>
        <p:spPr>
          <a:xfrm>
            <a:off x="475200" y="1380960"/>
            <a:ext cx="8311320" cy="1782360"/>
          </a:xfrm>
          <a:prstGeom prst="rect">
            <a:avLst/>
          </a:prstGeom>
          <a:noFill/>
          <a:ln w="0">
            <a:noFill/>
          </a:ln>
        </p:spPr>
        <p:style>
          <a:lnRef idx="0"/>
          <a:fillRef idx="0"/>
          <a:effectRef idx="0"/>
          <a:fontRef idx="minor"/>
        </p:style>
        <p:txBody>
          <a:bodyPr wrap="none" lIns="90000" rIns="90000" tIns="46800" bIns="46800" anchor="t">
            <a:spAutoFit/>
          </a:bodyPr>
          <a:p>
            <a:pPr>
              <a:lnSpc>
                <a:spcPct val="14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Cet état constitue l’âge privilégié du développement de</a:t>
            </a:r>
            <a:endParaRPr b="0" lang="en-US" sz="2400" strike="noStrike" u="none">
              <a:solidFill>
                <a:srgbClr val="ffff00"/>
              </a:solidFill>
              <a:effectLst/>
              <a:uFillTx/>
              <a:latin typeface="Times New Roman"/>
            </a:endParaRPr>
          </a:p>
          <a:p>
            <a:pPr>
              <a:lnSpc>
                <a:spcPct val="14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la psychomotricité et des apprentissages multiples très </a:t>
            </a:r>
            <a:endParaRPr b="0" lang="en-US" sz="2400" strike="noStrike" u="none">
              <a:solidFill>
                <a:srgbClr val="ffff00"/>
              </a:solidFill>
              <a:effectLst/>
              <a:uFillTx/>
              <a:latin typeface="Times New Roman"/>
            </a:endParaRPr>
          </a:p>
          <a:p>
            <a:pPr>
              <a:lnSpc>
                <a:spcPct val="14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variés. </a:t>
            </a:r>
            <a:endParaRPr b="0" lang="en-US" sz="2400" strike="noStrike" u="none">
              <a:solidFill>
                <a:srgbClr val="ffff00"/>
              </a:solidFill>
              <a:effectLst/>
              <a:uFillTx/>
              <a:latin typeface="Times New Roman"/>
            </a:endParaRPr>
          </a:p>
        </p:txBody>
      </p:sp>
      <p:sp>
        <p:nvSpPr>
          <p:cNvPr id="154" name="Text Box 3"/>
          <p:cNvSpPr/>
          <p:nvPr/>
        </p:nvSpPr>
        <p:spPr>
          <a:xfrm>
            <a:off x="533520" y="3529080"/>
            <a:ext cx="7836840" cy="1782360"/>
          </a:xfrm>
          <a:prstGeom prst="rect">
            <a:avLst/>
          </a:prstGeom>
          <a:noFill/>
          <a:ln w="0">
            <a:noFill/>
          </a:ln>
        </p:spPr>
        <p:style>
          <a:lnRef idx="0"/>
          <a:fillRef idx="0"/>
          <a:effectRef idx="0"/>
          <a:fontRef idx="minor"/>
        </p:style>
        <p:txBody>
          <a:bodyPr wrap="none" lIns="90000" rIns="90000" tIns="46800" bIns="46800" anchor="t">
            <a:spAutoFit/>
          </a:bodyPr>
          <a:p>
            <a:pPr>
              <a:lnSpc>
                <a:spcPct val="14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Arial"/>
              </a:rPr>
              <a:t>Il serait donc dommageable d’enfermer cette grande </a:t>
            </a:r>
            <a:endParaRPr b="0" lang="en-US" sz="2400" strike="noStrike" u="none">
              <a:solidFill>
                <a:srgbClr val="ffff00"/>
              </a:solidFill>
              <a:effectLst/>
              <a:uFillTx/>
              <a:latin typeface="Times New Roman"/>
            </a:endParaRPr>
          </a:p>
          <a:p>
            <a:pPr>
              <a:lnSpc>
                <a:spcPct val="14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plasticité</a:t>
            </a:r>
            <a:r>
              <a:rPr b="1" lang="es-CL" sz="2400" strike="noStrike" u="none">
                <a:solidFill>
                  <a:srgbClr val="ffffff"/>
                </a:solidFill>
                <a:effectLst/>
                <a:uFillTx/>
                <a:latin typeface="Arial"/>
              </a:rPr>
              <a:t> neuromotrice dans les schèmes moteurs </a:t>
            </a:r>
            <a:endParaRPr b="0" lang="en-US" sz="2400" strike="noStrike" u="none">
              <a:solidFill>
                <a:srgbClr val="ffff00"/>
              </a:solidFill>
              <a:effectLst/>
              <a:uFillTx/>
              <a:latin typeface="Times New Roman"/>
            </a:endParaRPr>
          </a:p>
          <a:p>
            <a:pPr>
              <a:lnSpc>
                <a:spcPct val="14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Arial"/>
              </a:rPr>
              <a:t>souvent trop rigides de la spécialisation précoce.</a:t>
            </a:r>
            <a:endParaRPr b="0" lang="en-US" sz="2400" strike="noStrike" u="none">
              <a:solidFill>
                <a:srgbClr val="ffff00"/>
              </a:solidFill>
              <a:effectLst/>
              <a:uFillTx/>
              <a:latin typeface="Times New Roman"/>
            </a:endParaRPr>
          </a:p>
        </p:txBody>
      </p:sp>
    </p:spTree>
  </p:cSld>
  <p:transition spd="med">
    <p:zoom dir="out"/>
  </p:transition>
  <p:timing>
    <p:tnLst>
      <p:par>
        <p:cTn id="397" dur="indefinite" restart="never" nodeType="tmRoot">
          <p:childTnLst>
            <p:seq>
              <p:cTn id="398" dur="indefinite" nodeType="mainSeq">
                <p:childTnLst>
                  <p:par>
                    <p:cTn id="399" nodeType="clickEffect" fill="hold">
                      <p:stCondLst>
                        <p:cond delay="0"/>
                      </p:stCondLst>
                      <p:childTnLst>
                        <p:par>
                          <p:cTn id="400" nodeType="withEffect" fill="hold">
                            <p:stCondLst>
                              <p:cond delay="0"/>
                            </p:stCondLst>
                            <p:childTnLst>
                              <p:par>
                                <p:cTn id="401" nodeType="afterEffect" fill="hold" presetClass="entr" presetID="9">
                                  <p:stCondLst>
                                    <p:cond delay="0"/>
                                  </p:stCondLst>
                                  <p:childTnLst>
                                    <p:set>
                                      <p:cBhvr>
                                        <p:cTn id="402" dur="1" fill="hold">
                                          <p:stCondLst>
                                            <p:cond delay="0"/>
                                          </p:stCondLst>
                                        </p:cTn>
                                        <p:tgtEl>
                                          <p:spTgt spid="153"/>
                                        </p:tgtEl>
                                        <p:attrNameLst>
                                          <p:attrName>style.visibility</p:attrName>
                                        </p:attrNameLst>
                                      </p:cBhvr>
                                      <p:to>
                                        <p:strVal val="visible"/>
                                      </p:to>
                                    </p:set>
                                    <p:animEffect filter="dissolve" transition="in">
                                      <p:cBhvr additive="repl">
                                        <p:cTn id="403" dur="500"/>
                                        <p:tgtEl>
                                          <p:spTgt spid="153"/>
                                        </p:tgtEl>
                                      </p:cBhvr>
                                    </p:animEffect>
                                  </p:childTnLst>
                                </p:cTn>
                              </p:par>
                            </p:childTnLst>
                          </p:cTn>
                        </p:par>
                      </p:childTnLst>
                    </p:cTn>
                  </p:par>
                  <p:par>
                    <p:cTn id="404" nodeType="clickEffect" fill="hold">
                      <p:stCondLst>
                        <p:cond delay="indefinite"/>
                      </p:stCondLst>
                      <p:childTnLst>
                        <p:par>
                          <p:cTn id="405" nodeType="withEffect" fill="hold">
                            <p:stCondLst>
                              <p:cond delay="0"/>
                            </p:stCondLst>
                            <p:childTnLst>
                              <p:par>
                                <p:cTn id="406" nodeType="clickEffect" fill="hold" presetClass="entr" presetID="22" presetSubtype="1">
                                  <p:stCondLst>
                                    <p:cond delay="0"/>
                                  </p:stCondLst>
                                  <p:childTnLst>
                                    <p:set>
                                      <p:cBhvr>
                                        <p:cTn id="407" dur="1" fill="hold">
                                          <p:stCondLst>
                                            <p:cond delay="0"/>
                                          </p:stCondLst>
                                        </p:cTn>
                                        <p:tgtEl>
                                          <p:spTgt spid="154"/>
                                        </p:tgtEl>
                                        <p:attrNameLst>
                                          <p:attrName>style.visibility</p:attrName>
                                        </p:attrNameLst>
                                      </p:cBhvr>
                                      <p:to>
                                        <p:strVal val="visible"/>
                                      </p:to>
                                    </p:set>
                                    <p:animEffect filter="wipe(up)" transition="in">
                                      <p:cBhvr additive="repl">
                                        <p:cTn id="408" dur="30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Text Box 2"/>
          <p:cNvSpPr/>
          <p:nvPr/>
        </p:nvSpPr>
        <p:spPr>
          <a:xfrm>
            <a:off x="135720" y="115920"/>
            <a:ext cx="8713800" cy="5458680"/>
          </a:xfrm>
          <a:prstGeom prst="rect">
            <a:avLst/>
          </a:prstGeom>
          <a:noFill/>
          <a:ln w="0">
            <a:noFill/>
          </a:ln>
        </p:spPr>
        <p:style>
          <a:lnRef idx="0"/>
          <a:fillRef idx="0"/>
          <a:effectRef idx="0"/>
          <a:fontRef idx="minor"/>
        </p:style>
        <p:txBody>
          <a:bodyPr wrap="none" lIns="90000" rIns="90000" tIns="46800" bIns="46800" anchor="t">
            <a:spAutoFit/>
          </a:bodyPr>
          <a:p>
            <a:pPr algn="ct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ff"/>
                </a:solidFill>
                <a:effectLst/>
                <a:uFillTx/>
                <a:latin typeface="Calibri"/>
                <a:ea typeface="Calibri"/>
              </a:rPr>
              <a:t>2. Développement et évaluation </a:t>
            </a:r>
            <a:endParaRPr b="0" lang="en-US" sz="3600" strike="noStrike" u="none">
              <a:solidFill>
                <a:srgbClr val="ffff00"/>
              </a:solidFill>
              <a:effectLst/>
              <a:uFillTx/>
              <a:latin typeface="Times New Roman"/>
            </a:endParaRPr>
          </a:p>
          <a:p>
            <a:pPr algn="ct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ff"/>
                </a:solidFill>
                <a:effectLst/>
                <a:uFillTx/>
                <a:latin typeface="Calibri"/>
                <a:ea typeface="Calibri"/>
              </a:rPr>
              <a:t>des capacités physiques </a:t>
            </a:r>
            <a:endParaRPr b="0" lang="en-US" sz="3600" strike="noStrike" u="none">
              <a:solidFill>
                <a:srgbClr val="ffff00"/>
              </a:solidFill>
              <a:effectLst/>
              <a:uFillTx/>
              <a:latin typeface="Times New Roman"/>
            </a:endParaRPr>
          </a:p>
          <a:p>
            <a:pPr algn="ct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ff"/>
                </a:solidFill>
                <a:effectLst/>
                <a:uFillTx/>
                <a:latin typeface="Calibri"/>
                <a:ea typeface="Calibri"/>
              </a:rPr>
              <a:t>chez l’enfant et l’adolescent</a:t>
            </a:r>
            <a:endParaRPr b="0" lang="en-US" sz="3600" strike="noStrike" u="none">
              <a:solidFill>
                <a:srgbClr val="ffff00"/>
              </a:solidFill>
              <a:effectLst/>
              <a:uFillTx/>
              <a:latin typeface="Times New Roman"/>
            </a:endParaRPr>
          </a:p>
          <a:p>
            <a:pPr algn="ct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gn="ct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4000" strike="noStrike" u="none">
                <a:solidFill>
                  <a:srgbClr val="ffff00"/>
                </a:solidFill>
                <a:effectLst/>
                <a:uFillTx/>
                <a:latin typeface="Calibri"/>
                <a:ea typeface="Calibri"/>
              </a:rPr>
              <a:t>2-1 La vitesse</a:t>
            </a:r>
            <a:endParaRPr b="0" lang="en-US" sz="4000" strike="noStrike" u="none">
              <a:solidFill>
                <a:srgbClr val="ffff00"/>
              </a:solidFill>
              <a:effectLst/>
              <a:uFillTx/>
              <a:latin typeface="Times New Roman"/>
            </a:endParaRPr>
          </a:p>
        </p:txBody>
      </p:sp>
    </p:spTree>
  </p:cSld>
  <p:transition spd="med">
    <p:zoom dir="out"/>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Text Box 2"/>
          <p:cNvSpPr/>
          <p:nvPr/>
        </p:nvSpPr>
        <p:spPr>
          <a:xfrm>
            <a:off x="228600" y="685800"/>
            <a:ext cx="8610480" cy="1117800"/>
          </a:xfrm>
          <a:prstGeom prst="rect">
            <a:avLst/>
          </a:prstGeom>
          <a:noFill/>
          <a:ln w="0">
            <a:noFill/>
          </a:ln>
        </p:spPr>
        <p:style>
          <a:lnRef idx="0"/>
          <a:fillRef idx="0"/>
          <a:effectRef idx="0"/>
          <a:fontRef idx="minor"/>
        </p:style>
        <p:txBody>
          <a:bodyPr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Avant l’âge de 10 ans, le niveau de vitesse gestuelle moins élevé chez l’enfant que chez l’adulte est très fortement lié :</a:t>
            </a:r>
            <a:endParaRPr b="0" lang="en-US" sz="2400" strike="noStrike" u="none">
              <a:solidFill>
                <a:srgbClr val="ffff00"/>
              </a:solidFill>
              <a:effectLst/>
              <a:uFillTx/>
              <a:latin typeface="Times New Roman"/>
            </a:endParaRPr>
          </a:p>
        </p:txBody>
      </p:sp>
      <p:sp>
        <p:nvSpPr>
          <p:cNvPr id="157" name="Text Box 3"/>
          <p:cNvSpPr/>
          <p:nvPr/>
        </p:nvSpPr>
        <p:spPr>
          <a:xfrm>
            <a:off x="150840" y="2055960"/>
            <a:ext cx="55566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 au niveau de maturation du système nerveux, </a:t>
            </a:r>
            <a:endParaRPr b="0" lang="en-US" sz="2000" strike="noStrike" u="none">
              <a:solidFill>
                <a:srgbClr val="ffff00"/>
              </a:solidFill>
              <a:effectLst/>
              <a:uFillTx/>
              <a:latin typeface="Times New Roman"/>
            </a:endParaRPr>
          </a:p>
        </p:txBody>
      </p:sp>
      <p:sp>
        <p:nvSpPr>
          <p:cNvPr id="158" name="Text Box 4"/>
          <p:cNvSpPr/>
          <p:nvPr/>
        </p:nvSpPr>
        <p:spPr>
          <a:xfrm>
            <a:off x="80640" y="2774880"/>
            <a:ext cx="67878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 au niveau encore inachevé de myélinisation des axones, </a:t>
            </a:r>
            <a:endParaRPr b="0" lang="en-US" sz="2000" strike="noStrike" u="none">
              <a:solidFill>
                <a:srgbClr val="ffff00"/>
              </a:solidFill>
              <a:effectLst/>
              <a:uFillTx/>
              <a:latin typeface="Times New Roman"/>
            </a:endParaRPr>
          </a:p>
        </p:txBody>
      </p:sp>
      <p:sp>
        <p:nvSpPr>
          <p:cNvPr id="159" name="Text Box 5"/>
          <p:cNvSpPr/>
          <p:nvPr/>
        </p:nvSpPr>
        <p:spPr>
          <a:xfrm>
            <a:off x="97560" y="3495600"/>
            <a:ext cx="848412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 à la concentration plus faible de l’acétylcholine (??) (neurotransmetteur)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au niveau de la jonction neuromusculaire,</a:t>
            </a:r>
            <a:endParaRPr b="0" lang="en-US" sz="2000" strike="noStrike" u="none">
              <a:solidFill>
                <a:srgbClr val="ffff00"/>
              </a:solidFill>
              <a:effectLst/>
              <a:uFillTx/>
              <a:latin typeface="Times New Roman"/>
            </a:endParaRPr>
          </a:p>
        </p:txBody>
      </p:sp>
      <p:sp>
        <p:nvSpPr>
          <p:cNvPr id="160" name="Text Box 6"/>
          <p:cNvSpPr/>
          <p:nvPr/>
        </p:nvSpPr>
        <p:spPr>
          <a:xfrm>
            <a:off x="97200" y="5499000"/>
            <a:ext cx="875448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et à la capacité de coordination tant au niveau central que périphérique qui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dépend de la qualité et de la quantité des apprentissages antérieurs. </a:t>
            </a:r>
            <a:endParaRPr b="0" lang="en-US" sz="2000" strike="noStrike" u="none">
              <a:solidFill>
                <a:srgbClr val="ffff00"/>
              </a:solidFill>
              <a:effectLst/>
              <a:uFillTx/>
              <a:latin typeface="Times New Roman"/>
            </a:endParaRPr>
          </a:p>
        </p:txBody>
      </p:sp>
      <p:sp>
        <p:nvSpPr>
          <p:cNvPr id="161" name="Text Box 7"/>
          <p:cNvSpPr/>
          <p:nvPr/>
        </p:nvSpPr>
        <p:spPr>
          <a:xfrm>
            <a:off x="24840" y="4527720"/>
            <a:ext cx="862632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à une moindre libération et repompage du calcium au niveau du réticulum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 sarcoplasmique  </a:t>
            </a:r>
            <a:endParaRPr b="0" lang="en-US" sz="2000" strike="noStrike" u="none">
              <a:solidFill>
                <a:srgbClr val="ffff00"/>
              </a:solidFill>
              <a:effectLst/>
              <a:uFillTx/>
              <a:latin typeface="Times New Roman"/>
            </a:endParaRPr>
          </a:p>
        </p:txBody>
      </p:sp>
    </p:spTree>
  </p:cSld>
  <p:transition spd="med">
    <p:zoom dir="out"/>
  </p:transition>
  <p:timing>
    <p:tnLst>
      <p:par>
        <p:cTn id="409" dur="indefinite" restart="never" nodeType="tmRoot">
          <p:childTnLst>
            <p:seq>
              <p:cTn id="410" dur="indefinite" nodeType="mainSeq">
                <p:childTnLst>
                  <p:par>
                    <p:cTn id="411" nodeType="clickEffect" fill="hold">
                      <p:stCondLst>
                        <p:cond delay="indefinite"/>
                      </p:stCondLst>
                      <p:childTnLst>
                        <p:par>
                          <p:cTn id="412" nodeType="withEffect" fill="hold">
                            <p:stCondLst>
                              <p:cond delay="0"/>
                            </p:stCondLst>
                            <p:childTnLst>
                              <p:par>
                                <p:cTn id="413" nodeType="clickEffect" fill="hold" presetClass="entr" presetID="9">
                                  <p:stCondLst>
                                    <p:cond delay="0"/>
                                  </p:stCondLst>
                                  <p:childTnLst>
                                    <p:set>
                                      <p:cBhvr>
                                        <p:cTn id="414" dur="1" fill="hold">
                                          <p:stCondLst>
                                            <p:cond delay="0"/>
                                          </p:stCondLst>
                                        </p:cTn>
                                        <p:tgtEl>
                                          <p:spTgt spid="156"/>
                                        </p:tgtEl>
                                        <p:attrNameLst>
                                          <p:attrName>style.visibility</p:attrName>
                                        </p:attrNameLst>
                                      </p:cBhvr>
                                      <p:to>
                                        <p:strVal val="visible"/>
                                      </p:to>
                                    </p:set>
                                    <p:animEffect filter="dissolve" transition="in">
                                      <p:cBhvr additive="repl">
                                        <p:cTn id="415" dur="500"/>
                                        <p:tgtEl>
                                          <p:spTgt spid="156"/>
                                        </p:tgtEl>
                                      </p:cBhvr>
                                    </p:animEffect>
                                  </p:childTnLst>
                                </p:cTn>
                              </p:par>
                            </p:childTnLst>
                          </p:cTn>
                        </p:par>
                      </p:childTnLst>
                    </p:cTn>
                  </p:par>
                  <p:par>
                    <p:cTn id="416" nodeType="clickEffect" fill="hold">
                      <p:stCondLst>
                        <p:cond delay="indefinite"/>
                      </p:stCondLst>
                      <p:childTnLst>
                        <p:par>
                          <p:cTn id="417" nodeType="withEffect" fill="hold">
                            <p:stCondLst>
                              <p:cond delay="0"/>
                            </p:stCondLst>
                            <p:childTnLst>
                              <p:par>
                                <p:cTn id="418" nodeType="clickEffect" fill="hold" presetClass="entr" presetID="22" presetSubtype="1" repeatCount="1000">
                                  <p:stCondLst>
                                    <p:cond delay="0"/>
                                  </p:stCondLst>
                                  <p:childTnLst>
                                    <p:set>
                                      <p:cBhvr>
                                        <p:cTn id="419" dur="1" fill="hold">
                                          <p:stCondLst>
                                            <p:cond delay="0"/>
                                          </p:stCondLst>
                                        </p:cTn>
                                        <p:tgtEl>
                                          <p:spTgt spid="157"/>
                                        </p:tgtEl>
                                        <p:attrNameLst>
                                          <p:attrName>style.visibility</p:attrName>
                                        </p:attrNameLst>
                                      </p:cBhvr>
                                      <p:to>
                                        <p:strVal val="visible"/>
                                      </p:to>
                                    </p:set>
                                    <p:animEffect filter="wipe(up)" transition="in">
                                      <p:cBhvr additive="repl">
                                        <p:cTn id="420" dur="1500"/>
                                        <p:tgtEl>
                                          <p:spTgt spid="157"/>
                                        </p:tgtEl>
                                      </p:cBhvr>
                                    </p:animEffect>
                                  </p:childTnLst>
                                </p:cTn>
                              </p:par>
                              <p:par>
                                <p:cTn id="421" nodeType="withEffect" fill="hold" presetClass="entr" presetID="22" presetSubtype="1" repeatCount="1000">
                                  <p:stCondLst>
                                    <p:cond delay="0"/>
                                  </p:stCondLst>
                                  <p:childTnLst>
                                    <p:set>
                                      <p:cBhvr>
                                        <p:cTn id="422" dur="1" fill="hold">
                                          <p:stCondLst>
                                            <p:cond delay="0"/>
                                          </p:stCondLst>
                                        </p:cTn>
                                        <p:tgtEl>
                                          <p:spTgt spid="158"/>
                                        </p:tgtEl>
                                        <p:attrNameLst>
                                          <p:attrName>style.visibility</p:attrName>
                                        </p:attrNameLst>
                                      </p:cBhvr>
                                      <p:to>
                                        <p:strVal val="visible"/>
                                      </p:to>
                                    </p:set>
                                    <p:animEffect filter="wipe(up)" transition="in">
                                      <p:cBhvr additive="repl">
                                        <p:cTn id="423" dur="1500"/>
                                        <p:tgtEl>
                                          <p:spTgt spid="158"/>
                                        </p:tgtEl>
                                      </p:cBhvr>
                                    </p:animEffect>
                                  </p:childTnLst>
                                </p:cTn>
                              </p:par>
                              <p:par>
                                <p:cTn id="424" nodeType="withEffect" fill="hold" presetClass="entr" presetID="22" presetSubtype="1" repeatCount="1000">
                                  <p:stCondLst>
                                    <p:cond delay="0"/>
                                  </p:stCondLst>
                                  <p:childTnLst>
                                    <p:set>
                                      <p:cBhvr>
                                        <p:cTn id="425" dur="1" fill="hold">
                                          <p:stCondLst>
                                            <p:cond delay="0"/>
                                          </p:stCondLst>
                                        </p:cTn>
                                        <p:tgtEl>
                                          <p:spTgt spid="159"/>
                                        </p:tgtEl>
                                        <p:attrNameLst>
                                          <p:attrName>style.visibility</p:attrName>
                                        </p:attrNameLst>
                                      </p:cBhvr>
                                      <p:to>
                                        <p:strVal val="visible"/>
                                      </p:to>
                                    </p:set>
                                    <p:animEffect filter="wipe(up)" transition="in">
                                      <p:cBhvr additive="repl">
                                        <p:cTn id="426" dur="1500"/>
                                        <p:tgtEl>
                                          <p:spTgt spid="159"/>
                                        </p:tgtEl>
                                      </p:cBhvr>
                                    </p:animEffect>
                                  </p:childTnLst>
                                </p:cTn>
                              </p:par>
                              <p:par>
                                <p:cTn id="427" nodeType="withEffect" fill="hold" presetClass="entr" presetID="22" presetSubtype="1" repeatCount="1000">
                                  <p:stCondLst>
                                    <p:cond delay="0"/>
                                  </p:stCondLst>
                                  <p:childTnLst>
                                    <p:set>
                                      <p:cBhvr>
                                        <p:cTn id="428" dur="1" fill="hold">
                                          <p:stCondLst>
                                            <p:cond delay="0"/>
                                          </p:stCondLst>
                                        </p:cTn>
                                        <p:tgtEl>
                                          <p:spTgt spid="160"/>
                                        </p:tgtEl>
                                        <p:attrNameLst>
                                          <p:attrName>style.visibility</p:attrName>
                                        </p:attrNameLst>
                                      </p:cBhvr>
                                      <p:to>
                                        <p:strVal val="visible"/>
                                      </p:to>
                                    </p:set>
                                    <p:animEffect filter="wipe(up)" transition="in">
                                      <p:cBhvr additive="repl">
                                        <p:cTn id="429" dur="1500"/>
                                        <p:tgtEl>
                                          <p:spTgt spid="160"/>
                                        </p:tgtEl>
                                      </p:cBhvr>
                                    </p:animEffect>
                                  </p:childTnLst>
                                </p:cTn>
                              </p:par>
                              <p:par>
                                <p:cTn id="430" nodeType="withEffect" fill="hold" presetClass="entr" presetID="22" presetSubtype="1" repeatCount="1000">
                                  <p:stCondLst>
                                    <p:cond delay="0"/>
                                  </p:stCondLst>
                                  <p:childTnLst>
                                    <p:set>
                                      <p:cBhvr>
                                        <p:cTn id="431" dur="1" fill="hold">
                                          <p:stCondLst>
                                            <p:cond delay="0"/>
                                          </p:stCondLst>
                                        </p:cTn>
                                        <p:tgtEl>
                                          <p:spTgt spid="161"/>
                                        </p:tgtEl>
                                        <p:attrNameLst>
                                          <p:attrName>style.visibility</p:attrName>
                                        </p:attrNameLst>
                                      </p:cBhvr>
                                      <p:to>
                                        <p:strVal val="visible"/>
                                      </p:to>
                                    </p:set>
                                    <p:animEffect filter="wipe(up)" transition="in">
                                      <p:cBhvr additive="repl">
                                        <p:cTn id="432" dur="1500"/>
                                        <p:tgtEl>
                                          <p:spTgt spid="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Text Box 2"/>
          <p:cNvSpPr/>
          <p:nvPr/>
        </p:nvSpPr>
        <p:spPr>
          <a:xfrm>
            <a:off x="800640" y="260280"/>
            <a:ext cx="7276320" cy="825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ENTRAINEMENT DE LA VITESSE AU COURS </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DE LA CROISSANCE</a:t>
            </a:r>
            <a:endParaRPr b="0" lang="en-US" sz="2400" strike="noStrike" u="none">
              <a:solidFill>
                <a:srgbClr val="ffff00"/>
              </a:solidFill>
              <a:effectLst/>
              <a:uFillTx/>
              <a:latin typeface="Times New Roman"/>
            </a:endParaRPr>
          </a:p>
        </p:txBody>
      </p:sp>
      <p:sp>
        <p:nvSpPr>
          <p:cNvPr id="163" name="Text Box 3"/>
          <p:cNvSpPr/>
          <p:nvPr/>
        </p:nvSpPr>
        <p:spPr>
          <a:xfrm>
            <a:off x="0" y="1639800"/>
            <a:ext cx="8991720" cy="10695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Bien que limitée par les facteurs héréditaires, la vitesse peut être développée par une pratique d’exercices de vélocité réalisées </a:t>
            </a:r>
            <a:r>
              <a:rPr b="1" lang="fr-FR" sz="2000" strike="noStrike" u="none">
                <a:solidFill>
                  <a:srgbClr val="ffffff"/>
                </a:solidFill>
                <a:effectLst/>
                <a:uFillTx/>
                <a:latin typeface="Arial"/>
              </a:rPr>
              <a:t>avant et pendant la puberté</a:t>
            </a:r>
            <a:r>
              <a:rPr b="1" lang="fr-FR" sz="2000" strike="noStrike" u="none">
                <a:solidFill>
                  <a:srgbClr val="ffff00"/>
                </a:solidFill>
                <a:effectLst/>
                <a:uFillTx/>
                <a:latin typeface="Arial"/>
              </a:rPr>
              <a:t> (Ratchev et Stoev, 1979 : </a:t>
            </a:r>
            <a:r>
              <a:rPr b="1" lang="fr-FR" sz="2000" strike="noStrike" u="none">
                <a:solidFill>
                  <a:srgbClr val="ffffff"/>
                </a:solidFill>
                <a:effectLst/>
                <a:uFillTx/>
                <a:latin typeface="Arial"/>
              </a:rPr>
              <a:t>jeunes âgés de 11 à 14 ans)</a:t>
            </a:r>
            <a:r>
              <a:rPr b="0" lang="fr-FR" sz="2400" strike="noStrike" u="none">
                <a:solidFill>
                  <a:srgbClr val="ffffff"/>
                </a:solidFill>
                <a:effectLst/>
                <a:uFillTx/>
                <a:latin typeface="Times New Roman"/>
              </a:rPr>
              <a:t> </a:t>
            </a:r>
            <a:endParaRPr b="0" lang="en-US" sz="2400" strike="noStrike" u="none">
              <a:solidFill>
                <a:srgbClr val="ffff00"/>
              </a:solidFill>
              <a:effectLst/>
              <a:uFillTx/>
              <a:latin typeface="Times New Roman"/>
            </a:endParaRPr>
          </a:p>
        </p:txBody>
      </p:sp>
      <p:sp>
        <p:nvSpPr>
          <p:cNvPr id="164" name="Text Box 5"/>
          <p:cNvSpPr/>
          <p:nvPr/>
        </p:nvSpPr>
        <p:spPr>
          <a:xfrm>
            <a:off x="-11880" y="3276720"/>
            <a:ext cx="9175680" cy="34480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Par l’utilisation de toutes les formes de jeu, il est parfaitement justifié de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d’envisager très tôt </a:t>
            </a:r>
            <a:r>
              <a:rPr b="1" lang="fr-FR" sz="2000" strike="noStrike" u="none">
                <a:solidFill>
                  <a:srgbClr val="ffffff"/>
                </a:solidFill>
                <a:effectLst/>
                <a:uFillTx/>
                <a:latin typeface="Arial"/>
              </a:rPr>
              <a:t>(vers 6 ans) le début du développement de la vitesse</a:t>
            </a:r>
            <a:r>
              <a:rPr b="1" lang="fr-FR"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car celle-ci dépend étroitement de la coordination nerveuse et du dévelop-</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pement des programmes moteurs.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C’est dans le premier âge scolaire</a:t>
            </a:r>
            <a:r>
              <a:rPr b="1" lang="fr-FR" sz="2000" strike="noStrike" u="none">
                <a:solidFill>
                  <a:srgbClr val="ffff00"/>
                </a:solidFill>
                <a:effectLst/>
                <a:uFillTx/>
                <a:latin typeface="Arial"/>
              </a:rPr>
              <a:t> que se manifeste la plus forte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amélioration </a:t>
            </a:r>
            <a:r>
              <a:rPr b="1" lang="fr-FR" sz="2000" strike="noStrike" u="none">
                <a:solidFill>
                  <a:srgbClr val="ffffff"/>
                </a:solidFill>
                <a:effectLst/>
                <a:uFillTx/>
                <a:latin typeface="Arial"/>
              </a:rPr>
              <a:t>de la fréquence</a:t>
            </a:r>
            <a:r>
              <a:rPr b="1" lang="fr-FR" sz="2000" strike="noStrike" u="none">
                <a:solidFill>
                  <a:srgbClr val="ffff00"/>
                </a:solidFill>
                <a:effectLst/>
                <a:uFillTx/>
                <a:latin typeface="Arial"/>
              </a:rPr>
              <a:t> et de la vitesse de mouvement (Kohler et al.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1978, Stemmler 1977).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L’amplitude gestuelle </a:t>
            </a:r>
            <a:r>
              <a:rPr b="1" lang="fr-FR" sz="2000" strike="noStrike" u="none">
                <a:solidFill>
                  <a:srgbClr val="ffff00"/>
                </a:solidFill>
                <a:effectLst/>
                <a:uFillTx/>
                <a:latin typeface="Arial"/>
              </a:rPr>
              <a:t>explique ensuite au cours de la croissance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l’amélioration de la vitesse cyclique.</a:t>
            </a:r>
            <a:endParaRPr b="0" lang="en-US" sz="2000" strike="noStrike" u="none">
              <a:solidFill>
                <a:srgbClr val="ffff00"/>
              </a:solidFill>
              <a:effectLst/>
              <a:uFillTx/>
              <a:latin typeface="Times New Roman"/>
            </a:endParaRPr>
          </a:p>
        </p:txBody>
      </p:sp>
    </p:spTree>
  </p:cSld>
  <p:transition spd="med">
    <p:zoom dir="out"/>
  </p:transition>
  <p:timing>
    <p:tnLst>
      <p:par>
        <p:cTn id="433" dur="indefinite" restart="never" nodeType="tmRoot">
          <p:childTnLst>
            <p:seq>
              <p:cTn id="434" dur="indefinite" nodeType="mainSeq">
                <p:childTnLst>
                  <p:par>
                    <p:cTn id="435" nodeType="clickEffect" fill="hold">
                      <p:stCondLst>
                        <p:cond delay="indefinite"/>
                      </p:stCondLst>
                      <p:childTnLst>
                        <p:par>
                          <p:cTn id="436" nodeType="withEffect" fill="hold">
                            <p:stCondLst>
                              <p:cond delay="0"/>
                            </p:stCondLst>
                            <p:childTnLst>
                              <p:par>
                                <p:cTn id="437" nodeType="clickEffect" fill="hold" presetClass="entr" presetID="9">
                                  <p:stCondLst>
                                    <p:cond delay="0"/>
                                  </p:stCondLst>
                                  <p:childTnLst>
                                    <p:set>
                                      <p:cBhvr>
                                        <p:cTn id="438" dur="1" fill="hold">
                                          <p:stCondLst>
                                            <p:cond delay="0"/>
                                          </p:stCondLst>
                                        </p:cTn>
                                        <p:tgtEl>
                                          <p:spTgt spid="163"/>
                                        </p:tgtEl>
                                        <p:attrNameLst>
                                          <p:attrName>style.visibility</p:attrName>
                                        </p:attrNameLst>
                                      </p:cBhvr>
                                      <p:to>
                                        <p:strVal val="visible"/>
                                      </p:to>
                                    </p:set>
                                    <p:animEffect filter="dissolve" transition="in">
                                      <p:cBhvr additive="repl">
                                        <p:cTn id="439" dur="500"/>
                                        <p:tgtEl>
                                          <p:spTgt spid="163"/>
                                        </p:tgtEl>
                                      </p:cBhvr>
                                    </p:animEffect>
                                  </p:childTnLst>
                                </p:cTn>
                              </p:par>
                            </p:childTnLst>
                          </p:cTn>
                        </p:par>
                      </p:childTnLst>
                    </p:cTn>
                  </p:par>
                  <p:par>
                    <p:cTn id="440" nodeType="clickEffect" fill="hold">
                      <p:stCondLst>
                        <p:cond delay="indefinite"/>
                      </p:stCondLst>
                      <p:childTnLst>
                        <p:par>
                          <p:cTn id="441" nodeType="withEffect" fill="hold">
                            <p:stCondLst>
                              <p:cond delay="0"/>
                            </p:stCondLst>
                            <p:childTnLst>
                              <p:par>
                                <p:cTn id="442" nodeType="clickEffect" fill="hold" presetClass="entr" presetID="53">
                                  <p:stCondLst>
                                    <p:cond delay="0"/>
                                  </p:stCondLst>
                                  <p:childTnLst>
                                    <p:set>
                                      <p:cBhvr>
                                        <p:cTn id="443" dur="1" fill="hold">
                                          <p:stCondLst>
                                            <p:cond delay="0"/>
                                          </p:stCondLst>
                                        </p:cTn>
                                        <p:tgtEl>
                                          <p:spTgt spid="164">
                                            <p:txEl>
                                              <p:pRg st="0" end="0"/>
                                            </p:txEl>
                                          </p:spTgt>
                                        </p:tgtEl>
                                        <p:attrNameLst>
                                          <p:attrName>style.visibility</p:attrName>
                                        </p:attrNameLst>
                                      </p:cBhvr>
                                      <p:to>
                                        <p:strVal val="visible"/>
                                      </p:to>
                                    </p:set>
                                    <p:anim calcmode="lin" valueType="num">
                                      <p:cBhvr additive="repl">
                                        <p:cTn id="444" dur="1000" fill="hold"/>
                                        <p:tgtEl>
                                          <p:spTgt spid="164">
                                            <p:txEl>
                                              <p:pRg st="0" end="0"/>
                                            </p:txEl>
                                          </p:spTgt>
                                        </p:tgtEl>
                                        <p:attrNameLst>
                                          <p:attrName>ppt_w</p:attrName>
                                        </p:attrNameLst>
                                      </p:cBhvr>
                                      <p:tavLst>
                                        <p:tav tm="0">
                                          <p:val>
                                            <p:fltVal val="0"/>
                                          </p:val>
                                        </p:tav>
                                        <p:tav tm="100000">
                                          <p:val>
                                            <p:strVal val="#ppt_w"/>
                                          </p:val>
                                        </p:tav>
                                      </p:tavLst>
                                    </p:anim>
                                    <p:anim calcmode="lin" valueType="num">
                                      <p:cBhvr additive="repl">
                                        <p:cTn id="445" dur="1000" fill="hold"/>
                                        <p:tgtEl>
                                          <p:spTgt spid="164">
                                            <p:txEl>
                                              <p:pRg st="0" end="0"/>
                                            </p:txEl>
                                          </p:spTgt>
                                        </p:tgtEl>
                                        <p:attrNameLst>
                                          <p:attrName>ppt_h</p:attrName>
                                        </p:attrNameLst>
                                      </p:cBhvr>
                                      <p:tavLst>
                                        <p:tav tm="0">
                                          <p:val>
                                            <p:fltVal val="0"/>
                                          </p:val>
                                        </p:tav>
                                        <p:tav tm="100000">
                                          <p:val>
                                            <p:strVal val="#ppt_h"/>
                                          </p:val>
                                        </p:tav>
                                      </p:tavLst>
                                    </p:anim>
                                    <p:animEffect filter="fade" transition="in">
                                      <p:cBhvr additive="repl">
                                        <p:cTn id="446" dur="1000"/>
                                        <p:tgtEl>
                                          <p:spTgt spid="164">
                                            <p:txEl>
                                              <p:pRg st="0" end="0"/>
                                            </p:txEl>
                                          </p:spTgt>
                                        </p:tgtEl>
                                      </p:cBhvr>
                                    </p:animEffect>
                                  </p:childTnLst>
                                </p:cTn>
                              </p:par>
                              <p:par>
                                <p:cTn id="447" nodeType="withEffect" fill="hold" presetClass="entr" presetID="53">
                                  <p:stCondLst>
                                    <p:cond delay="0"/>
                                  </p:stCondLst>
                                  <p:childTnLst>
                                    <p:set>
                                      <p:cBhvr>
                                        <p:cTn id="448" dur="1" fill="hold">
                                          <p:stCondLst>
                                            <p:cond delay="0"/>
                                          </p:stCondLst>
                                        </p:cTn>
                                        <p:tgtEl>
                                          <p:spTgt spid="164">
                                            <p:txEl>
                                              <p:pRg st="1" end="1"/>
                                            </p:txEl>
                                          </p:spTgt>
                                        </p:tgtEl>
                                        <p:attrNameLst>
                                          <p:attrName>style.visibility</p:attrName>
                                        </p:attrNameLst>
                                      </p:cBhvr>
                                      <p:to>
                                        <p:strVal val="visible"/>
                                      </p:to>
                                    </p:set>
                                    <p:anim calcmode="lin" valueType="num">
                                      <p:cBhvr additive="repl">
                                        <p:cTn id="449" dur="1000" fill="hold"/>
                                        <p:tgtEl>
                                          <p:spTgt spid="164">
                                            <p:txEl>
                                              <p:pRg st="1" end="1"/>
                                            </p:txEl>
                                          </p:spTgt>
                                        </p:tgtEl>
                                        <p:attrNameLst>
                                          <p:attrName>ppt_w</p:attrName>
                                        </p:attrNameLst>
                                      </p:cBhvr>
                                      <p:tavLst>
                                        <p:tav tm="0">
                                          <p:val>
                                            <p:fltVal val="0"/>
                                          </p:val>
                                        </p:tav>
                                        <p:tav tm="100000">
                                          <p:val>
                                            <p:strVal val="#ppt_w"/>
                                          </p:val>
                                        </p:tav>
                                      </p:tavLst>
                                    </p:anim>
                                    <p:anim calcmode="lin" valueType="num">
                                      <p:cBhvr additive="repl">
                                        <p:cTn id="450" dur="1000" fill="hold"/>
                                        <p:tgtEl>
                                          <p:spTgt spid="164">
                                            <p:txEl>
                                              <p:pRg st="1" end="1"/>
                                            </p:txEl>
                                          </p:spTgt>
                                        </p:tgtEl>
                                        <p:attrNameLst>
                                          <p:attrName>ppt_h</p:attrName>
                                        </p:attrNameLst>
                                      </p:cBhvr>
                                      <p:tavLst>
                                        <p:tav tm="0">
                                          <p:val>
                                            <p:fltVal val="0"/>
                                          </p:val>
                                        </p:tav>
                                        <p:tav tm="100000">
                                          <p:val>
                                            <p:strVal val="#ppt_h"/>
                                          </p:val>
                                        </p:tav>
                                      </p:tavLst>
                                    </p:anim>
                                    <p:animEffect filter="fade" transition="in">
                                      <p:cBhvr additive="repl">
                                        <p:cTn id="451" dur="1000"/>
                                        <p:tgtEl>
                                          <p:spTgt spid="164">
                                            <p:txEl>
                                              <p:pRg st="1" end="1"/>
                                            </p:txEl>
                                          </p:spTgt>
                                        </p:tgtEl>
                                      </p:cBhvr>
                                    </p:animEffect>
                                  </p:childTnLst>
                                </p:cTn>
                              </p:par>
                              <p:par>
                                <p:cTn id="452" nodeType="withEffect" fill="hold" presetClass="entr" presetID="53">
                                  <p:stCondLst>
                                    <p:cond delay="0"/>
                                  </p:stCondLst>
                                  <p:childTnLst>
                                    <p:set>
                                      <p:cBhvr>
                                        <p:cTn id="453" dur="1" fill="hold">
                                          <p:stCondLst>
                                            <p:cond delay="0"/>
                                          </p:stCondLst>
                                        </p:cTn>
                                        <p:tgtEl>
                                          <p:spTgt spid="164">
                                            <p:txEl>
                                              <p:pRg st="2" end="2"/>
                                            </p:txEl>
                                          </p:spTgt>
                                        </p:tgtEl>
                                        <p:attrNameLst>
                                          <p:attrName>style.visibility</p:attrName>
                                        </p:attrNameLst>
                                      </p:cBhvr>
                                      <p:to>
                                        <p:strVal val="visible"/>
                                      </p:to>
                                    </p:set>
                                    <p:anim calcmode="lin" valueType="num">
                                      <p:cBhvr additive="repl">
                                        <p:cTn id="454" dur="1000" fill="hold"/>
                                        <p:tgtEl>
                                          <p:spTgt spid="164">
                                            <p:txEl>
                                              <p:pRg st="2" end="2"/>
                                            </p:txEl>
                                          </p:spTgt>
                                        </p:tgtEl>
                                        <p:attrNameLst>
                                          <p:attrName>ppt_w</p:attrName>
                                        </p:attrNameLst>
                                      </p:cBhvr>
                                      <p:tavLst>
                                        <p:tav tm="0">
                                          <p:val>
                                            <p:fltVal val="0"/>
                                          </p:val>
                                        </p:tav>
                                        <p:tav tm="100000">
                                          <p:val>
                                            <p:strVal val="#ppt_w"/>
                                          </p:val>
                                        </p:tav>
                                      </p:tavLst>
                                    </p:anim>
                                    <p:anim calcmode="lin" valueType="num">
                                      <p:cBhvr additive="repl">
                                        <p:cTn id="455" dur="1000" fill="hold"/>
                                        <p:tgtEl>
                                          <p:spTgt spid="164">
                                            <p:txEl>
                                              <p:pRg st="2" end="2"/>
                                            </p:txEl>
                                          </p:spTgt>
                                        </p:tgtEl>
                                        <p:attrNameLst>
                                          <p:attrName>ppt_h</p:attrName>
                                        </p:attrNameLst>
                                      </p:cBhvr>
                                      <p:tavLst>
                                        <p:tav tm="0">
                                          <p:val>
                                            <p:fltVal val="0"/>
                                          </p:val>
                                        </p:tav>
                                        <p:tav tm="100000">
                                          <p:val>
                                            <p:strVal val="#ppt_h"/>
                                          </p:val>
                                        </p:tav>
                                      </p:tavLst>
                                    </p:anim>
                                    <p:animEffect filter="fade" transition="in">
                                      <p:cBhvr additive="repl">
                                        <p:cTn id="456" dur="1000"/>
                                        <p:tgtEl>
                                          <p:spTgt spid="164">
                                            <p:txEl>
                                              <p:pRg st="2" end="2"/>
                                            </p:txEl>
                                          </p:spTgt>
                                        </p:tgtEl>
                                      </p:cBhvr>
                                    </p:animEffect>
                                  </p:childTnLst>
                                </p:cTn>
                              </p:par>
                              <p:par>
                                <p:cTn id="457" nodeType="withEffect" fill="hold" presetClass="entr" presetID="53">
                                  <p:stCondLst>
                                    <p:cond delay="0"/>
                                  </p:stCondLst>
                                  <p:childTnLst>
                                    <p:set>
                                      <p:cBhvr>
                                        <p:cTn id="458" dur="1" fill="hold">
                                          <p:stCondLst>
                                            <p:cond delay="0"/>
                                          </p:stCondLst>
                                        </p:cTn>
                                        <p:tgtEl>
                                          <p:spTgt spid="164">
                                            <p:txEl>
                                              <p:pRg st="3" end="3"/>
                                            </p:txEl>
                                          </p:spTgt>
                                        </p:tgtEl>
                                        <p:attrNameLst>
                                          <p:attrName>style.visibility</p:attrName>
                                        </p:attrNameLst>
                                      </p:cBhvr>
                                      <p:to>
                                        <p:strVal val="visible"/>
                                      </p:to>
                                    </p:set>
                                    <p:anim calcmode="lin" valueType="num">
                                      <p:cBhvr additive="repl">
                                        <p:cTn id="459" dur="1000" fill="hold"/>
                                        <p:tgtEl>
                                          <p:spTgt spid="164">
                                            <p:txEl>
                                              <p:pRg st="3" end="3"/>
                                            </p:txEl>
                                          </p:spTgt>
                                        </p:tgtEl>
                                        <p:attrNameLst>
                                          <p:attrName>ppt_w</p:attrName>
                                        </p:attrNameLst>
                                      </p:cBhvr>
                                      <p:tavLst>
                                        <p:tav tm="0">
                                          <p:val>
                                            <p:fltVal val="0"/>
                                          </p:val>
                                        </p:tav>
                                        <p:tav tm="100000">
                                          <p:val>
                                            <p:strVal val="#ppt_w"/>
                                          </p:val>
                                        </p:tav>
                                      </p:tavLst>
                                    </p:anim>
                                    <p:anim calcmode="lin" valueType="num">
                                      <p:cBhvr additive="repl">
                                        <p:cTn id="460" dur="1000" fill="hold"/>
                                        <p:tgtEl>
                                          <p:spTgt spid="164">
                                            <p:txEl>
                                              <p:pRg st="3" end="3"/>
                                            </p:txEl>
                                          </p:spTgt>
                                        </p:tgtEl>
                                        <p:attrNameLst>
                                          <p:attrName>ppt_h</p:attrName>
                                        </p:attrNameLst>
                                      </p:cBhvr>
                                      <p:tavLst>
                                        <p:tav tm="0">
                                          <p:val>
                                            <p:fltVal val="0"/>
                                          </p:val>
                                        </p:tav>
                                        <p:tav tm="100000">
                                          <p:val>
                                            <p:strVal val="#ppt_h"/>
                                          </p:val>
                                        </p:tav>
                                      </p:tavLst>
                                    </p:anim>
                                    <p:animEffect filter="fade" transition="in">
                                      <p:cBhvr additive="repl">
                                        <p:cTn id="461" dur="1000"/>
                                        <p:tgtEl>
                                          <p:spTgt spid="164">
                                            <p:txEl>
                                              <p:pRg st="3" end="3"/>
                                            </p:txEl>
                                          </p:spTgt>
                                        </p:tgtEl>
                                      </p:cBhvr>
                                    </p:animEffect>
                                  </p:childTnLst>
                                </p:cTn>
                              </p:par>
                              <p:animClr clrSpc="rgb">
                                <p:cBhvr>
                                  <p:cTn id="462" dur="1" fill="hold">
                                    <p:stCondLst>
                                      <p:cond delay="0"/>
                                    </p:stCondLst>
                                  </p:cTn>
                                  <p:tgtEl>
                                    <p:spTgt spid="163"/>
                                  </p:tgtEl>
                                  <p:attrNameLst>
                                    <p:attrName>ppt_c</p:attrName>
                                  </p:attrNameLst>
                                </p:cBhvr>
                                <p:to>
                                  <a:srgbClr val="ccccff"/>
                                </p:to>
                              </p:animClr>
                            </p:childTnLst>
                          </p:cTn>
                        </p:par>
                      </p:childTnLst>
                    </p:cTn>
                  </p:par>
                  <p:par>
                    <p:cTn id="463" nodeType="clickEffect" fill="hold">
                      <p:stCondLst>
                        <p:cond delay="indefinite"/>
                      </p:stCondLst>
                      <p:childTnLst>
                        <p:par>
                          <p:cTn id="464" nodeType="withEffect" fill="hold">
                            <p:stCondLst>
                              <p:cond delay="0"/>
                            </p:stCondLst>
                            <p:childTnLst>
                              <p:par>
                                <p:cTn id="465" nodeType="clickEffect" fill="hold" presetClass="entr" presetID="53">
                                  <p:stCondLst>
                                    <p:cond delay="0"/>
                                  </p:stCondLst>
                                  <p:childTnLst>
                                    <p:set>
                                      <p:cBhvr>
                                        <p:cTn id="466" dur="1" fill="hold">
                                          <p:stCondLst>
                                            <p:cond delay="0"/>
                                          </p:stCondLst>
                                        </p:cTn>
                                        <p:tgtEl>
                                          <p:spTgt spid="164">
                                            <p:txEl>
                                              <p:pRg st="5" end="5"/>
                                            </p:txEl>
                                          </p:spTgt>
                                        </p:tgtEl>
                                        <p:attrNameLst>
                                          <p:attrName>style.visibility</p:attrName>
                                        </p:attrNameLst>
                                      </p:cBhvr>
                                      <p:to>
                                        <p:strVal val="visible"/>
                                      </p:to>
                                    </p:set>
                                    <p:anim calcmode="lin" valueType="num">
                                      <p:cBhvr additive="repl">
                                        <p:cTn id="467" dur="1000" fill="hold"/>
                                        <p:tgtEl>
                                          <p:spTgt spid="164">
                                            <p:txEl>
                                              <p:pRg st="5" end="5"/>
                                            </p:txEl>
                                          </p:spTgt>
                                        </p:tgtEl>
                                        <p:attrNameLst>
                                          <p:attrName>ppt_w</p:attrName>
                                        </p:attrNameLst>
                                      </p:cBhvr>
                                      <p:tavLst>
                                        <p:tav tm="0">
                                          <p:val>
                                            <p:fltVal val="0"/>
                                          </p:val>
                                        </p:tav>
                                        <p:tav tm="100000">
                                          <p:val>
                                            <p:strVal val="#ppt_w"/>
                                          </p:val>
                                        </p:tav>
                                      </p:tavLst>
                                    </p:anim>
                                    <p:anim calcmode="lin" valueType="num">
                                      <p:cBhvr additive="repl">
                                        <p:cTn id="468" dur="1000" fill="hold"/>
                                        <p:tgtEl>
                                          <p:spTgt spid="164">
                                            <p:txEl>
                                              <p:pRg st="5" end="5"/>
                                            </p:txEl>
                                          </p:spTgt>
                                        </p:tgtEl>
                                        <p:attrNameLst>
                                          <p:attrName>ppt_h</p:attrName>
                                        </p:attrNameLst>
                                      </p:cBhvr>
                                      <p:tavLst>
                                        <p:tav tm="0">
                                          <p:val>
                                            <p:fltVal val="0"/>
                                          </p:val>
                                        </p:tav>
                                        <p:tav tm="100000">
                                          <p:val>
                                            <p:strVal val="#ppt_h"/>
                                          </p:val>
                                        </p:tav>
                                      </p:tavLst>
                                    </p:anim>
                                    <p:animEffect filter="fade" transition="in">
                                      <p:cBhvr additive="repl">
                                        <p:cTn id="469" dur="1000"/>
                                        <p:tgtEl>
                                          <p:spTgt spid="164">
                                            <p:txEl>
                                              <p:pRg st="5" end="5"/>
                                            </p:txEl>
                                          </p:spTgt>
                                        </p:tgtEl>
                                      </p:cBhvr>
                                    </p:animEffect>
                                  </p:childTnLst>
                                </p:cTn>
                              </p:par>
                              <p:par>
                                <p:cTn id="470" nodeType="withEffect" fill="hold" presetClass="entr" presetID="53">
                                  <p:stCondLst>
                                    <p:cond delay="0"/>
                                  </p:stCondLst>
                                  <p:childTnLst>
                                    <p:set>
                                      <p:cBhvr>
                                        <p:cTn id="471" dur="1" fill="hold">
                                          <p:stCondLst>
                                            <p:cond delay="0"/>
                                          </p:stCondLst>
                                        </p:cTn>
                                        <p:tgtEl>
                                          <p:spTgt spid="164">
                                            <p:txEl>
                                              <p:pRg st="6" end="6"/>
                                            </p:txEl>
                                          </p:spTgt>
                                        </p:tgtEl>
                                        <p:attrNameLst>
                                          <p:attrName>style.visibility</p:attrName>
                                        </p:attrNameLst>
                                      </p:cBhvr>
                                      <p:to>
                                        <p:strVal val="visible"/>
                                      </p:to>
                                    </p:set>
                                    <p:anim calcmode="lin" valueType="num">
                                      <p:cBhvr additive="repl">
                                        <p:cTn id="472" dur="1000" fill="hold"/>
                                        <p:tgtEl>
                                          <p:spTgt spid="164">
                                            <p:txEl>
                                              <p:pRg st="6" end="6"/>
                                            </p:txEl>
                                          </p:spTgt>
                                        </p:tgtEl>
                                        <p:attrNameLst>
                                          <p:attrName>ppt_w</p:attrName>
                                        </p:attrNameLst>
                                      </p:cBhvr>
                                      <p:tavLst>
                                        <p:tav tm="0">
                                          <p:val>
                                            <p:fltVal val="0"/>
                                          </p:val>
                                        </p:tav>
                                        <p:tav tm="100000">
                                          <p:val>
                                            <p:strVal val="#ppt_w"/>
                                          </p:val>
                                        </p:tav>
                                      </p:tavLst>
                                    </p:anim>
                                    <p:anim calcmode="lin" valueType="num">
                                      <p:cBhvr additive="repl">
                                        <p:cTn id="473" dur="1000" fill="hold"/>
                                        <p:tgtEl>
                                          <p:spTgt spid="164">
                                            <p:txEl>
                                              <p:pRg st="6" end="6"/>
                                            </p:txEl>
                                          </p:spTgt>
                                        </p:tgtEl>
                                        <p:attrNameLst>
                                          <p:attrName>ppt_h</p:attrName>
                                        </p:attrNameLst>
                                      </p:cBhvr>
                                      <p:tavLst>
                                        <p:tav tm="0">
                                          <p:val>
                                            <p:fltVal val="0"/>
                                          </p:val>
                                        </p:tav>
                                        <p:tav tm="100000">
                                          <p:val>
                                            <p:strVal val="#ppt_h"/>
                                          </p:val>
                                        </p:tav>
                                      </p:tavLst>
                                    </p:anim>
                                    <p:animEffect filter="fade" transition="in">
                                      <p:cBhvr additive="repl">
                                        <p:cTn id="474" dur="1000"/>
                                        <p:tgtEl>
                                          <p:spTgt spid="164">
                                            <p:txEl>
                                              <p:pRg st="6" end="6"/>
                                            </p:txEl>
                                          </p:spTgt>
                                        </p:tgtEl>
                                      </p:cBhvr>
                                    </p:animEffect>
                                  </p:childTnLst>
                                </p:cTn>
                              </p:par>
                              <p:par>
                                <p:cTn id="475" nodeType="withEffect" fill="hold" presetClass="entr" presetID="53">
                                  <p:stCondLst>
                                    <p:cond delay="0"/>
                                  </p:stCondLst>
                                  <p:childTnLst>
                                    <p:set>
                                      <p:cBhvr>
                                        <p:cTn id="476" dur="1" fill="hold">
                                          <p:stCondLst>
                                            <p:cond delay="0"/>
                                          </p:stCondLst>
                                        </p:cTn>
                                        <p:tgtEl>
                                          <p:spTgt spid="164">
                                            <p:txEl>
                                              <p:pRg st="7" end="7"/>
                                            </p:txEl>
                                          </p:spTgt>
                                        </p:tgtEl>
                                        <p:attrNameLst>
                                          <p:attrName>style.visibility</p:attrName>
                                        </p:attrNameLst>
                                      </p:cBhvr>
                                      <p:to>
                                        <p:strVal val="visible"/>
                                      </p:to>
                                    </p:set>
                                    <p:anim calcmode="lin" valueType="num">
                                      <p:cBhvr additive="repl">
                                        <p:cTn id="477" dur="1000" fill="hold"/>
                                        <p:tgtEl>
                                          <p:spTgt spid="164">
                                            <p:txEl>
                                              <p:pRg st="7" end="7"/>
                                            </p:txEl>
                                          </p:spTgt>
                                        </p:tgtEl>
                                        <p:attrNameLst>
                                          <p:attrName>ppt_w</p:attrName>
                                        </p:attrNameLst>
                                      </p:cBhvr>
                                      <p:tavLst>
                                        <p:tav tm="0">
                                          <p:val>
                                            <p:fltVal val="0"/>
                                          </p:val>
                                        </p:tav>
                                        <p:tav tm="100000">
                                          <p:val>
                                            <p:strVal val="#ppt_w"/>
                                          </p:val>
                                        </p:tav>
                                      </p:tavLst>
                                    </p:anim>
                                    <p:anim calcmode="lin" valueType="num">
                                      <p:cBhvr additive="repl">
                                        <p:cTn id="478" dur="1000" fill="hold"/>
                                        <p:tgtEl>
                                          <p:spTgt spid="164">
                                            <p:txEl>
                                              <p:pRg st="7" end="7"/>
                                            </p:txEl>
                                          </p:spTgt>
                                        </p:tgtEl>
                                        <p:attrNameLst>
                                          <p:attrName>ppt_h</p:attrName>
                                        </p:attrNameLst>
                                      </p:cBhvr>
                                      <p:tavLst>
                                        <p:tav tm="0">
                                          <p:val>
                                            <p:fltVal val="0"/>
                                          </p:val>
                                        </p:tav>
                                        <p:tav tm="100000">
                                          <p:val>
                                            <p:strVal val="#ppt_h"/>
                                          </p:val>
                                        </p:tav>
                                      </p:tavLst>
                                    </p:anim>
                                    <p:animEffect filter="fade" transition="in">
                                      <p:cBhvr additive="repl">
                                        <p:cTn id="479" dur="1000"/>
                                        <p:tgtEl>
                                          <p:spTgt spid="164">
                                            <p:txEl>
                                              <p:pRg st="7" end="7"/>
                                            </p:txEl>
                                          </p:spTgt>
                                        </p:tgtEl>
                                      </p:cBhvr>
                                    </p:animEffect>
                                  </p:childTnLst>
                                </p:cTn>
                              </p:par>
                            </p:childTnLst>
                          </p:cTn>
                        </p:par>
                      </p:childTnLst>
                    </p:cTn>
                  </p:par>
                  <p:par>
                    <p:cTn id="480" nodeType="clickEffect" fill="hold">
                      <p:stCondLst>
                        <p:cond delay="indefinite"/>
                      </p:stCondLst>
                      <p:childTnLst>
                        <p:par>
                          <p:cTn id="481" nodeType="withEffect" fill="hold">
                            <p:stCondLst>
                              <p:cond delay="0"/>
                            </p:stCondLst>
                            <p:childTnLst>
                              <p:par>
                                <p:cTn id="482" nodeType="clickEffect" fill="hold" presetClass="entr" presetID="53">
                                  <p:stCondLst>
                                    <p:cond delay="0"/>
                                  </p:stCondLst>
                                  <p:childTnLst>
                                    <p:set>
                                      <p:cBhvr>
                                        <p:cTn id="483" dur="1" fill="hold">
                                          <p:stCondLst>
                                            <p:cond delay="0"/>
                                          </p:stCondLst>
                                        </p:cTn>
                                        <p:tgtEl>
                                          <p:spTgt spid="164">
                                            <p:txEl>
                                              <p:pRg st="9" end="9"/>
                                            </p:txEl>
                                          </p:spTgt>
                                        </p:tgtEl>
                                        <p:attrNameLst>
                                          <p:attrName>style.visibility</p:attrName>
                                        </p:attrNameLst>
                                      </p:cBhvr>
                                      <p:to>
                                        <p:strVal val="visible"/>
                                      </p:to>
                                    </p:set>
                                    <p:anim calcmode="lin" valueType="num">
                                      <p:cBhvr additive="repl">
                                        <p:cTn id="484" dur="1000" fill="hold"/>
                                        <p:tgtEl>
                                          <p:spTgt spid="164">
                                            <p:txEl>
                                              <p:pRg st="9" end="9"/>
                                            </p:txEl>
                                          </p:spTgt>
                                        </p:tgtEl>
                                        <p:attrNameLst>
                                          <p:attrName>ppt_w</p:attrName>
                                        </p:attrNameLst>
                                      </p:cBhvr>
                                      <p:tavLst>
                                        <p:tav tm="0">
                                          <p:val>
                                            <p:fltVal val="0"/>
                                          </p:val>
                                        </p:tav>
                                        <p:tav tm="100000">
                                          <p:val>
                                            <p:strVal val="#ppt_w"/>
                                          </p:val>
                                        </p:tav>
                                      </p:tavLst>
                                    </p:anim>
                                    <p:anim calcmode="lin" valueType="num">
                                      <p:cBhvr additive="repl">
                                        <p:cTn id="485" dur="1000" fill="hold"/>
                                        <p:tgtEl>
                                          <p:spTgt spid="164">
                                            <p:txEl>
                                              <p:pRg st="9" end="9"/>
                                            </p:txEl>
                                          </p:spTgt>
                                        </p:tgtEl>
                                        <p:attrNameLst>
                                          <p:attrName>ppt_h</p:attrName>
                                        </p:attrNameLst>
                                      </p:cBhvr>
                                      <p:tavLst>
                                        <p:tav tm="0">
                                          <p:val>
                                            <p:fltVal val="0"/>
                                          </p:val>
                                        </p:tav>
                                        <p:tav tm="100000">
                                          <p:val>
                                            <p:strVal val="#ppt_h"/>
                                          </p:val>
                                        </p:tav>
                                      </p:tavLst>
                                    </p:anim>
                                    <p:animEffect filter="fade" transition="in">
                                      <p:cBhvr additive="repl">
                                        <p:cTn id="486" dur="1000"/>
                                        <p:tgtEl>
                                          <p:spTgt spid="164">
                                            <p:txEl>
                                              <p:pRg st="9" end="9"/>
                                            </p:txEl>
                                          </p:spTgt>
                                        </p:tgtEl>
                                      </p:cBhvr>
                                    </p:animEffect>
                                  </p:childTnLst>
                                </p:cTn>
                              </p:par>
                              <p:par>
                                <p:cTn id="487" nodeType="withEffect" fill="hold" presetClass="entr" presetID="53">
                                  <p:stCondLst>
                                    <p:cond delay="0"/>
                                  </p:stCondLst>
                                  <p:childTnLst>
                                    <p:set>
                                      <p:cBhvr>
                                        <p:cTn id="488" dur="1" fill="hold">
                                          <p:stCondLst>
                                            <p:cond delay="0"/>
                                          </p:stCondLst>
                                        </p:cTn>
                                        <p:tgtEl>
                                          <p:spTgt spid="164">
                                            <p:txEl>
                                              <p:pRg st="10" end="10"/>
                                            </p:txEl>
                                          </p:spTgt>
                                        </p:tgtEl>
                                        <p:attrNameLst>
                                          <p:attrName>style.visibility</p:attrName>
                                        </p:attrNameLst>
                                      </p:cBhvr>
                                      <p:to>
                                        <p:strVal val="visible"/>
                                      </p:to>
                                    </p:set>
                                    <p:anim calcmode="lin" valueType="num">
                                      <p:cBhvr additive="repl">
                                        <p:cTn id="489" dur="1000" fill="hold"/>
                                        <p:tgtEl>
                                          <p:spTgt spid="164">
                                            <p:txEl>
                                              <p:pRg st="10" end="10"/>
                                            </p:txEl>
                                          </p:spTgt>
                                        </p:tgtEl>
                                        <p:attrNameLst>
                                          <p:attrName>ppt_w</p:attrName>
                                        </p:attrNameLst>
                                      </p:cBhvr>
                                      <p:tavLst>
                                        <p:tav tm="0">
                                          <p:val>
                                            <p:fltVal val="0"/>
                                          </p:val>
                                        </p:tav>
                                        <p:tav tm="100000">
                                          <p:val>
                                            <p:strVal val="#ppt_w"/>
                                          </p:val>
                                        </p:tav>
                                      </p:tavLst>
                                    </p:anim>
                                    <p:anim calcmode="lin" valueType="num">
                                      <p:cBhvr additive="repl">
                                        <p:cTn id="490" dur="1000" fill="hold"/>
                                        <p:tgtEl>
                                          <p:spTgt spid="164">
                                            <p:txEl>
                                              <p:pRg st="10" end="10"/>
                                            </p:txEl>
                                          </p:spTgt>
                                        </p:tgtEl>
                                        <p:attrNameLst>
                                          <p:attrName>ppt_h</p:attrName>
                                        </p:attrNameLst>
                                      </p:cBhvr>
                                      <p:tavLst>
                                        <p:tav tm="0">
                                          <p:val>
                                            <p:fltVal val="0"/>
                                          </p:val>
                                        </p:tav>
                                        <p:tav tm="100000">
                                          <p:val>
                                            <p:strVal val="#ppt_h"/>
                                          </p:val>
                                        </p:tav>
                                      </p:tavLst>
                                    </p:anim>
                                    <p:animEffect filter="fade" transition="in">
                                      <p:cBhvr additive="repl">
                                        <p:cTn id="491" dur="1000"/>
                                        <p:tgtEl>
                                          <p:spTgt spid="164">
                                            <p:txEl>
                                              <p:pRg st="10" end="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Rectangle 1"/>
          <p:cNvSpPr/>
          <p:nvPr/>
        </p:nvSpPr>
        <p:spPr>
          <a:xfrm>
            <a:off x="324000" y="404640"/>
            <a:ext cx="8424720" cy="1465560"/>
          </a:xfrm>
          <a:prstGeom prst="rect">
            <a:avLst/>
          </a:prstGeom>
          <a:noFill/>
          <a:ln w="0">
            <a:noFill/>
          </a:ln>
        </p:spPr>
        <p:style>
          <a:lnRef idx="0"/>
          <a:fillRef idx="0"/>
          <a:effectRef idx="0"/>
          <a:fontRef idx="minor"/>
        </p:style>
        <p:txBody>
          <a:bodyPr lIns="90000" rIns="90000" tIns="46800" bIns="46800" anchor="t">
            <a:sp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Times New Roman"/>
              </a:rPr>
              <a:t>EVALUATION DE LA VITESSE ET DE LA VITESSE-COORDINATION </a:t>
            </a:r>
            <a:endParaRPr b="0" lang="en-US" sz="20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Times New Roman"/>
              </a:rPr>
              <a:t>DE COURSE DES ENFANTS ET DES DEBUTANTS SPORTIFS</a:t>
            </a:r>
            <a:endParaRPr b="0" lang="en-US" sz="2000" strike="noStrike" u="none">
              <a:solidFill>
                <a:srgbClr val="ffff00"/>
              </a:solidFill>
              <a:effectLst/>
              <a:uFillTx/>
              <a:latin typeface="Times New Roman"/>
            </a:endParaRPr>
          </a:p>
        </p:txBody>
      </p:sp>
      <p:sp>
        <p:nvSpPr>
          <p:cNvPr id="166" name="ZoneTexte 2"/>
          <p:cNvSpPr/>
          <p:nvPr/>
        </p:nvSpPr>
        <p:spPr>
          <a:xfrm>
            <a:off x="-1413720" y="1628640"/>
            <a:ext cx="10456920" cy="3385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1- 50m départ arrêté,</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2- 10 x 5m départ arrêté,</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3- établir le pourcentage que représente la performance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10 x 5m par rapport à celle du 50m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sng">
                <a:solidFill>
                  <a:srgbClr val="ffff00"/>
                </a:solidFill>
                <a:effectLst/>
                <a:uFillTx/>
                <a:latin typeface="Calibri"/>
                <a:ea typeface="Calibri"/>
              </a:rPr>
              <a:t>  Performance 50 m</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Performance 10 x 5 m</a:t>
            </a:r>
            <a:endParaRPr b="0" lang="en-US" sz="2400" strike="noStrike" u="none">
              <a:solidFill>
                <a:srgbClr val="ffff00"/>
              </a:solidFill>
              <a:effectLst/>
              <a:uFillTx/>
              <a:latin typeface="Times New Roman"/>
            </a:endParaRPr>
          </a:p>
        </p:txBody>
      </p:sp>
      <p:sp>
        <p:nvSpPr>
          <p:cNvPr id="167" name="ZoneTexte 3"/>
          <p:cNvSpPr/>
          <p:nvPr/>
        </p:nvSpPr>
        <p:spPr>
          <a:xfrm>
            <a:off x="2625480" y="4248000"/>
            <a:ext cx="20156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x 100 =  %</a:t>
            </a:r>
            <a:endParaRPr b="0" lang="en-US" sz="2400" strike="noStrike" u="none">
              <a:solidFill>
                <a:srgbClr val="ffff00"/>
              </a:solidFill>
              <a:effectLst/>
              <a:uFillTx/>
              <a:latin typeface="Times New Roman"/>
            </a:endParaRPr>
          </a:p>
        </p:txBody>
      </p:sp>
      <p:pic>
        <p:nvPicPr>
          <p:cNvPr id="168" name="Copie de 27.wmv" descr=""/>
          <p:cNvPicPr/>
          <p:nvPr/>
        </p:nvPicPr>
        <p:blipFill>
          <a:blip r:embed="rId1"/>
          <a:srcRect l="0" t="0" r="0" b="3274"/>
          <a:stretch/>
        </p:blipFill>
        <p:spPr>
          <a:xfrm>
            <a:off x="4859280" y="3637080"/>
            <a:ext cx="4284720" cy="3205080"/>
          </a:xfrm>
          <a:prstGeom prst="rect">
            <a:avLst/>
          </a:prstGeom>
          <a:noFill/>
          <a:ln w="9360">
            <a:solidFill>
              <a:srgbClr val="ffffff"/>
            </a:solidFill>
            <a:miter/>
          </a:ln>
        </p:spPr>
      </p:pic>
    </p:spTree>
  </p:cSld>
  <p:transition spd="med">
    <p:zoom dir="out"/>
  </p:transition>
  <p:timing>
    <p:tnLst>
      <p:par>
        <p:cTn id="492" dur="indefinite" restart="never" nodeType="tmRoot">
          <p:childTnLst>
            <p:seq>
              <p:cTn id="493" restart="whenNotActive" nodeType="interactiveSeq" fill="hold">
                <p:stCondLst>
                  <p:cond evt="onClick">
                    <p:tgtEl>
                      <p:spTgt spid="168"/>
                    </p:tgtEl>
                  </p:cond>
                </p:stCondLst>
                <p:childTnLst>
                  <p:par>
                    <p:cTn id="494" nodeType="clickEffect" fill="hold">
                      <p:stCondLst>
                        <p:cond evt="onClick">
                          <p:tgtEl>
                            <p:spTgt spid="168"/>
                          </p:tgtEl>
                        </p:cond>
                      </p:stCondLst>
                      <p:childTnLst>
                        <p:par>
                          <p:cTn id="495" nodeType="withEffect" fill="hold">
                            <p:stCondLst>
                              <p:cond delay="0"/>
                            </p:stCondLst>
                            <p:childTnLst>
                              <p:par>
                                <p:cTn id="496" nodeType="clickEffect" fill="hold" presetClass="mediacall" presetID="2">
                                  <p:stCondLst>
                                    <p:cond delay="0"/>
                                  </p:stCondLst>
                                  <p:childTnLst>
                                    <p:cmd type="call" cmd="togglePause">
                                      <p:cBhvr>
                                        <p:cTn id="497" dur="1" fill="hold"/>
                                        <p:tgtEl>
                                          <p:spTgt spid="168"/>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ZoneTexte 1"/>
          <p:cNvSpPr/>
          <p:nvPr/>
        </p:nvSpPr>
        <p:spPr>
          <a:xfrm>
            <a:off x="36360" y="500040"/>
            <a:ext cx="8928360" cy="89341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rPr>
              <a:t>CAPACITES A EVALUER CHEZ  LES SPECIALISTES</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rPr>
              <a:t>        -  Le temps de réaction (voir logiciel),</a:t>
            </a:r>
            <a:endParaRPr b="0" lang="en-US" sz="2400" strike="noStrike" u="none">
              <a:solidFill>
                <a:srgbClr val="ffff00"/>
              </a:solidFill>
              <a:effectLst/>
              <a:uFillTx/>
              <a:latin typeface="Times New Roman"/>
            </a:endParaRPr>
          </a:p>
          <a:p>
            <a:pP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rPr>
              <a:t>        -  La vitesse de  démarrage (départ + 10m),</a:t>
            </a:r>
            <a:endParaRPr b="0" lang="en-US" sz="2400" strike="noStrike" u="none">
              <a:solidFill>
                <a:srgbClr val="ffff00"/>
              </a:solidFill>
              <a:effectLst/>
              <a:uFillTx/>
              <a:latin typeface="Times New Roman"/>
            </a:endParaRPr>
          </a:p>
          <a:p>
            <a:pP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rPr>
              <a:t>        -  L’accélération (0 – 10m – 20m – 30m - 40m)  </a:t>
            </a:r>
            <a:endParaRPr b="0" lang="en-US" sz="2400" strike="noStrike" u="none">
              <a:solidFill>
                <a:srgbClr val="ffff00"/>
              </a:solidFill>
              <a:effectLst/>
              <a:uFillTx/>
              <a:latin typeface="Times New Roman"/>
            </a:endParaRPr>
          </a:p>
          <a:p>
            <a:pP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rPr>
              <a:t>        - La vélocité (&gt; 40m)</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rPr>
              <a:t>           …mais aussi pour les sports collectifs l’aptitude à répéter des    </a:t>
            </a:r>
            <a:r>
              <a:rPr b="0" lang="fr-FR" sz="2400" strike="noStrike" u="none">
                <a:solidFill>
                  <a:srgbClr val="ffffff"/>
                </a:solidFill>
                <a:effectLst/>
                <a:uFillTx/>
                <a:latin typeface="Calibri"/>
              </a:rPr>
              <a:t>	</a:t>
            </a:r>
            <a:r>
              <a:rPr b="0" lang="fr-FR" sz="2400" strike="noStrike" u="none">
                <a:solidFill>
                  <a:srgbClr val="ffffff"/>
                </a:solidFill>
                <a:effectLst/>
                <a:uFillTx/>
                <a:latin typeface="Calibri"/>
              </a:rPr>
              <a:t>sprints (ARP)</a:t>
            </a:r>
            <a:endParaRPr b="0" lang="en-US" sz="2400" strike="noStrike" u="none">
              <a:solidFill>
                <a:srgbClr val="ffff00"/>
              </a:solidFill>
              <a:effectLst/>
              <a:uFillTx/>
              <a:latin typeface="Times New Roman"/>
            </a:endParaRPr>
          </a:p>
          <a:p>
            <a:pPr>
              <a:lnSpc>
                <a:spcPct val="2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rPr>
              <a:t>         </a:t>
            </a:r>
            <a:endParaRPr b="0" lang="en-US" sz="2800" strike="noStrike" u="none">
              <a:solidFill>
                <a:srgbClr val="ffff00"/>
              </a:solidFill>
              <a:effectLst/>
              <a:uFillTx/>
              <a:latin typeface="Times New Roman"/>
            </a:endParaRPr>
          </a:p>
          <a:p>
            <a:pPr>
              <a:lnSpc>
                <a:spcPct val="100000"/>
              </a:lnSpc>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p:txBody>
      </p:sp>
    </p:spTree>
  </p:cSld>
  <p:transition spd="med">
    <p:zoom dir="out"/>
  </p:transition>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Rectangle 1"/>
          <p:cNvSpPr/>
          <p:nvPr/>
        </p:nvSpPr>
        <p:spPr>
          <a:xfrm>
            <a:off x="41400" y="334800"/>
            <a:ext cx="9036000" cy="66168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Times New Roman"/>
              </a:rPr>
              <a:t>EVALUATION DE LA VITESSE-COORDINATION DESTINEE AUX SPORTS COLLECTIFS : HANDBALL, BASKET BALL, FOOTBALL </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alibri"/>
                <a:ea typeface="Times New Roman"/>
              </a:rPr>
              <a:t> </a:t>
            </a:r>
            <a:endParaRPr b="0" lang="en-US" sz="3200" strike="noStrike" u="none">
              <a:solidFill>
                <a:srgbClr val="ffff00"/>
              </a:solidFill>
              <a:effectLst/>
              <a:uFillTx/>
              <a:latin typeface="Times New Roman"/>
            </a:endParaRPr>
          </a:p>
          <a:p>
            <a:pPr algn="just">
              <a:lnSpc>
                <a:spcPct val="15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Times New Roman"/>
              </a:rPr>
              <a:t>Vitesse-coordination : 20m course départ arrêté avec changements de direction sans ballon</a:t>
            </a:r>
            <a:endParaRPr b="0" lang="en-US" sz="2400" strike="noStrike" u="none">
              <a:solidFill>
                <a:srgbClr val="ffff00"/>
              </a:solidFill>
              <a:effectLst/>
              <a:uFillTx/>
              <a:latin typeface="Times New Roman"/>
            </a:endParaRPr>
          </a:p>
          <a:p>
            <a:pPr algn="just">
              <a:lnSpc>
                <a:spcPct val="15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gn="just">
              <a:lnSpc>
                <a:spcPct val="15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Times New Roman"/>
              </a:rPr>
              <a:t>Vitesse-habileté : 20m course départ arrêté avec changements de direction  avec ballon</a:t>
            </a:r>
            <a:endParaRPr b="0" lang="en-US" sz="2400" strike="noStrike" u="none">
              <a:solidFill>
                <a:srgbClr val="ffff00"/>
              </a:solidFill>
              <a:effectLst/>
              <a:uFillTx/>
              <a:latin typeface="Times New Roman"/>
            </a:endParaRPr>
          </a:p>
          <a:p>
            <a:pPr algn="just">
              <a:lnSpc>
                <a:spcPct val="15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gn="just">
              <a:lnSpc>
                <a:spcPct val="150000"/>
              </a:lnSpc>
              <a:buClr>
                <a:srgbClr val="ffff00"/>
              </a:buClr>
              <a:buFont typeface="Calibri"/>
              <a:buAutoNum type="arabicParen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Times New Roman"/>
              </a:rPr>
              <a:t>Endurance de vitesse (habileté à répéter des sprints HRS) : 12 x 20m départ toutes les 30s de course linéaire et avec changements de direction</a:t>
            </a:r>
            <a:endParaRPr b="0" lang="en-US" sz="2400" strike="noStrike" u="none">
              <a:solidFill>
                <a:srgbClr val="ffff00"/>
              </a:solidFill>
              <a:effectLst/>
              <a:uFillTx/>
              <a:latin typeface="Times New Roman"/>
            </a:endParaRPr>
          </a:p>
        </p:txBody>
      </p:sp>
    </p:spTree>
  </p:cSld>
  <p:transition spd="med">
    <p:zoom dir="out"/>
  </p:transition>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1" name="MOV00925.MPG" descr=""/>
          <p:cNvPicPr/>
          <p:nvPr/>
        </p:nvPicPr>
        <p:blipFill>
          <a:blip r:embed="rId1"/>
          <a:stretch/>
        </p:blipFill>
        <p:spPr>
          <a:xfrm>
            <a:off x="4859280" y="14400"/>
            <a:ext cx="4249800" cy="3186000"/>
          </a:xfrm>
          <a:prstGeom prst="rect">
            <a:avLst/>
          </a:prstGeom>
          <a:noFill/>
          <a:ln w="9360">
            <a:solidFill>
              <a:srgbClr val="ffffff"/>
            </a:solidFill>
            <a:miter/>
          </a:ln>
        </p:spPr>
      </p:pic>
      <p:pic>
        <p:nvPicPr>
          <p:cNvPr id="172" name="MOV00928.MPG" descr=""/>
          <p:cNvPicPr/>
          <p:nvPr/>
        </p:nvPicPr>
        <p:blipFill>
          <a:blip r:embed="rId2"/>
          <a:stretch/>
        </p:blipFill>
        <p:spPr>
          <a:xfrm>
            <a:off x="4649760" y="3475080"/>
            <a:ext cx="4321080" cy="3290760"/>
          </a:xfrm>
          <a:prstGeom prst="rect">
            <a:avLst/>
          </a:prstGeom>
          <a:solidFill>
            <a:srgbClr val="3333cc"/>
          </a:solidFill>
          <a:ln w="9360">
            <a:solidFill>
              <a:srgbClr val="ffffff"/>
            </a:solidFill>
            <a:miter/>
          </a:ln>
        </p:spPr>
      </p:pic>
      <p:pic>
        <p:nvPicPr>
          <p:cNvPr id="173" name="MOV00926.MPG" descr=""/>
          <p:cNvPicPr/>
          <p:nvPr/>
        </p:nvPicPr>
        <p:blipFill>
          <a:blip r:embed="rId3"/>
          <a:stretch/>
        </p:blipFill>
        <p:spPr>
          <a:xfrm>
            <a:off x="104760" y="3475080"/>
            <a:ext cx="4395960" cy="3295440"/>
          </a:xfrm>
          <a:prstGeom prst="rect">
            <a:avLst/>
          </a:prstGeom>
          <a:noFill/>
          <a:ln w="9360">
            <a:solidFill>
              <a:srgbClr val="ffffff"/>
            </a:solidFill>
            <a:miter/>
          </a:ln>
        </p:spPr>
      </p:pic>
      <p:pic>
        <p:nvPicPr>
          <p:cNvPr id="174" name="Test linéaire présentation.mpg" descr=""/>
          <p:cNvPicPr/>
          <p:nvPr/>
        </p:nvPicPr>
        <p:blipFill>
          <a:blip r:embed="rId4"/>
          <a:stretch/>
        </p:blipFill>
        <p:spPr>
          <a:xfrm>
            <a:off x="101520" y="115920"/>
            <a:ext cx="2202120" cy="1801800"/>
          </a:xfrm>
          <a:prstGeom prst="rect">
            <a:avLst/>
          </a:prstGeom>
          <a:noFill/>
          <a:ln w="19080">
            <a:solidFill>
              <a:srgbClr val="ffffff"/>
            </a:solidFill>
            <a:miter/>
          </a:ln>
        </p:spPr>
      </p:pic>
      <p:pic>
        <p:nvPicPr>
          <p:cNvPr id="175" name="Test en crochet présentation.mpg" descr=""/>
          <p:cNvPicPr/>
          <p:nvPr/>
        </p:nvPicPr>
        <p:blipFill>
          <a:blip r:embed="rId5"/>
          <a:stretch/>
        </p:blipFill>
        <p:spPr>
          <a:xfrm>
            <a:off x="2303640" y="1166760"/>
            <a:ext cx="2485800" cy="2033640"/>
          </a:xfrm>
          <a:prstGeom prst="rect">
            <a:avLst/>
          </a:prstGeom>
          <a:noFill/>
          <a:ln w="19080">
            <a:solidFill>
              <a:srgbClr val="ffffff"/>
            </a:solidFill>
            <a:miter/>
          </a:ln>
        </p:spPr>
      </p:pic>
    </p:spTree>
  </p:cSld>
  <p:transition spd="med">
    <p:zoom dir="out"/>
  </p:transition>
  <p:timing>
    <p:tnLst>
      <p:par>
        <p:cTn id="498" dur="indefinite" restart="never" nodeType="tmRoot">
          <p:childTnLst>
            <p:seq>
              <p:cTn id="499" restart="whenNotActive" nodeType="interactiveSeq" fill="hold">
                <p:stCondLst>
                  <p:cond evt="onClick">
                    <p:tgtEl>
                      <p:spTgt spid="171"/>
                    </p:tgtEl>
                  </p:cond>
                </p:stCondLst>
                <p:childTnLst>
                  <p:par>
                    <p:cTn id="500" nodeType="clickEffect" fill="hold">
                      <p:stCondLst>
                        <p:cond evt="onClick">
                          <p:tgtEl>
                            <p:spTgt spid="171"/>
                          </p:tgtEl>
                        </p:cond>
                      </p:stCondLst>
                      <p:childTnLst>
                        <p:par>
                          <p:cTn id="501" nodeType="withEffect" fill="hold">
                            <p:stCondLst>
                              <p:cond delay="0"/>
                            </p:stCondLst>
                            <p:childTnLst>
                              <p:par>
                                <p:cTn id="502" nodeType="clickEffect" fill="hold" presetClass="mediacall" presetID="2">
                                  <p:stCondLst>
                                    <p:cond delay="0"/>
                                  </p:stCondLst>
                                  <p:childTnLst>
                                    <p:cmd type="call" cmd="togglePause">
                                      <p:cBhvr>
                                        <p:cTn id="503" dur="1" fill="hold"/>
                                        <p:tgtEl>
                                          <p:spTgt spid="171"/>
                                        </p:tgtEl>
                                      </p:cBhvr>
                                    </p:cmd>
                                  </p:childTnLst>
                                </p:cTn>
                              </p:par>
                            </p:childTnLst>
                          </p:cTn>
                        </p:par>
                      </p:childTnLst>
                    </p:cTn>
                  </p:par>
                </p:childTnLst>
              </p:cTn>
              <p:prevCondLst>
                <p:cond evt="onPrev">
                  <p:tgtEl>
                    <p:sldTgt/>
                  </p:tgtEl>
                </p:cond>
              </p:prevCondLst>
              <p:nextCondLst>
                <p:cond evt="onNext">
                  <p:tgtEl>
                    <p:sldTgt/>
                  </p:tgtEl>
                </p:cond>
              </p:nextCondLst>
            </p:seq>
            <p:seq>
              <p:cTn id="504" restart="whenNotActive" nodeType="interactiveSeq" fill="hold">
                <p:stCondLst>
                  <p:cond evt="onClick">
                    <p:tgtEl>
                      <p:spTgt spid="172"/>
                    </p:tgtEl>
                  </p:cond>
                </p:stCondLst>
                <p:childTnLst>
                  <p:par>
                    <p:cTn id="505" nodeType="clickEffect" fill="hold">
                      <p:stCondLst>
                        <p:cond evt="onClick">
                          <p:tgtEl>
                            <p:spTgt spid="172"/>
                          </p:tgtEl>
                        </p:cond>
                      </p:stCondLst>
                      <p:childTnLst>
                        <p:par>
                          <p:cTn id="506" nodeType="withEffect" fill="hold">
                            <p:stCondLst>
                              <p:cond delay="0"/>
                            </p:stCondLst>
                            <p:childTnLst>
                              <p:par>
                                <p:cTn id="507" nodeType="clickEffect" fill="hold" presetClass="mediacall" presetID="2">
                                  <p:stCondLst>
                                    <p:cond delay="0"/>
                                  </p:stCondLst>
                                  <p:childTnLst>
                                    <p:cmd type="call" cmd="togglePause">
                                      <p:cBhvr>
                                        <p:cTn id="508" dur="1" fill="hold"/>
                                        <p:tgtEl>
                                          <p:spTgt spid="172"/>
                                        </p:tgtEl>
                                      </p:cBhvr>
                                    </p:cmd>
                                  </p:childTnLst>
                                </p:cTn>
                              </p:par>
                            </p:childTnLst>
                          </p:cTn>
                        </p:par>
                      </p:childTnLst>
                    </p:cTn>
                  </p:par>
                </p:childTnLst>
              </p:cTn>
              <p:prevCondLst>
                <p:cond evt="onPrev">
                  <p:tgtEl>
                    <p:sldTgt/>
                  </p:tgtEl>
                </p:cond>
              </p:prevCondLst>
              <p:nextCondLst>
                <p:cond evt="onNext">
                  <p:tgtEl>
                    <p:sldTgt/>
                  </p:tgtEl>
                </p:cond>
              </p:nextCondLst>
            </p:seq>
            <p:seq>
              <p:cTn id="509" restart="whenNotActive" nodeType="interactiveSeq" fill="hold">
                <p:stCondLst>
                  <p:cond evt="onClick">
                    <p:tgtEl>
                      <p:spTgt spid="173"/>
                    </p:tgtEl>
                  </p:cond>
                </p:stCondLst>
                <p:childTnLst>
                  <p:par>
                    <p:cTn id="510" nodeType="clickEffect" fill="hold">
                      <p:stCondLst>
                        <p:cond evt="onClick">
                          <p:tgtEl>
                            <p:spTgt spid="173"/>
                          </p:tgtEl>
                        </p:cond>
                      </p:stCondLst>
                      <p:childTnLst>
                        <p:par>
                          <p:cTn id="511" nodeType="withEffect" fill="hold">
                            <p:stCondLst>
                              <p:cond delay="0"/>
                            </p:stCondLst>
                            <p:childTnLst>
                              <p:par>
                                <p:cTn id="512" nodeType="clickEffect" fill="hold" presetClass="mediacall" presetID="2">
                                  <p:stCondLst>
                                    <p:cond delay="0"/>
                                  </p:stCondLst>
                                  <p:childTnLst>
                                    <p:cmd type="call" cmd="togglePause">
                                      <p:cBhvr>
                                        <p:cTn id="513" dur="1" fill="hold"/>
                                        <p:tgtEl>
                                          <p:spTgt spid="173"/>
                                        </p:tgtEl>
                                      </p:cBhvr>
                                    </p:cmd>
                                  </p:childTnLst>
                                </p:cTn>
                              </p:par>
                            </p:childTnLst>
                          </p:cTn>
                        </p:par>
                      </p:childTnLst>
                    </p:cTn>
                  </p:par>
                </p:childTnLst>
              </p:cTn>
              <p:prevCondLst>
                <p:cond evt="onPrev">
                  <p:tgtEl>
                    <p:sldTgt/>
                  </p:tgtEl>
                </p:cond>
              </p:prevCondLst>
              <p:nextCondLst>
                <p:cond evt="onNext">
                  <p:tgtEl>
                    <p:sldTgt/>
                  </p:tgtEl>
                </p:cond>
              </p:nextCondLst>
            </p:seq>
            <p:seq>
              <p:cTn id="514" restart="whenNotActive" nodeType="interactiveSeq" fill="hold">
                <p:stCondLst>
                  <p:cond evt="onClick">
                    <p:tgtEl>
                      <p:spTgt spid="174"/>
                    </p:tgtEl>
                  </p:cond>
                </p:stCondLst>
                <p:childTnLst>
                  <p:par>
                    <p:cTn id="515" nodeType="clickEffect" fill="hold">
                      <p:stCondLst>
                        <p:cond evt="onClick">
                          <p:tgtEl>
                            <p:spTgt spid="174"/>
                          </p:tgtEl>
                        </p:cond>
                      </p:stCondLst>
                      <p:childTnLst>
                        <p:par>
                          <p:cTn id="516" nodeType="withEffect" fill="hold">
                            <p:stCondLst>
                              <p:cond delay="0"/>
                            </p:stCondLst>
                            <p:childTnLst>
                              <p:par>
                                <p:cTn id="517" nodeType="clickEffect" fill="hold" presetClass="mediacall" presetID="2">
                                  <p:stCondLst>
                                    <p:cond delay="0"/>
                                  </p:stCondLst>
                                  <p:childTnLst>
                                    <p:cmd type="call" cmd="togglePause">
                                      <p:cBhvr>
                                        <p:cTn id="518" dur="1" fill="hold"/>
                                        <p:tgtEl>
                                          <p:spTgt spid="174"/>
                                        </p:tgtEl>
                                      </p:cBhvr>
                                    </p:cmd>
                                  </p:childTnLst>
                                </p:cTn>
                              </p:par>
                            </p:childTnLst>
                          </p:cTn>
                        </p:par>
                      </p:childTnLst>
                    </p:cTn>
                  </p:par>
                </p:childTnLst>
              </p:cTn>
              <p:prevCondLst>
                <p:cond evt="onPrev">
                  <p:tgtEl>
                    <p:sldTgt/>
                  </p:tgtEl>
                </p:cond>
              </p:prevCondLst>
              <p:nextCondLst>
                <p:cond evt="onNext">
                  <p:tgtEl>
                    <p:sldTgt/>
                  </p:tgtEl>
                </p:cond>
              </p:nextCondLst>
            </p:seq>
            <p:seq>
              <p:cTn id="519" restart="whenNotActive" nodeType="interactiveSeq" fill="hold">
                <p:stCondLst>
                  <p:cond evt="onClick">
                    <p:tgtEl>
                      <p:spTgt spid="175"/>
                    </p:tgtEl>
                  </p:cond>
                </p:stCondLst>
                <p:childTnLst>
                  <p:par>
                    <p:cTn id="520" nodeType="clickEffect" fill="hold">
                      <p:stCondLst>
                        <p:cond evt="onClick">
                          <p:tgtEl>
                            <p:spTgt spid="175"/>
                          </p:tgtEl>
                        </p:cond>
                      </p:stCondLst>
                      <p:childTnLst>
                        <p:par>
                          <p:cTn id="521" nodeType="withEffect" fill="hold">
                            <p:stCondLst>
                              <p:cond delay="0"/>
                            </p:stCondLst>
                            <p:childTnLst>
                              <p:par>
                                <p:cTn id="522" nodeType="clickEffect" fill="hold" presetClass="mediacall" presetID="2">
                                  <p:stCondLst>
                                    <p:cond delay="0"/>
                                  </p:stCondLst>
                                  <p:childTnLst>
                                    <p:cmd type="call" cmd="togglePause">
                                      <p:cBhvr>
                                        <p:cTn id="523" dur="1" fill="hold"/>
                                        <p:tgtEl>
                                          <p:spTgt spid="175"/>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6" name="Picture 3" descr=""/>
          <p:cNvPicPr/>
          <p:nvPr/>
        </p:nvPicPr>
        <p:blipFill>
          <a:blip r:embed="rId1"/>
          <a:srcRect l="22370" t="13685" r="20915" b="58803"/>
          <a:stretch/>
        </p:blipFill>
        <p:spPr>
          <a:xfrm>
            <a:off x="9360" y="1773360"/>
            <a:ext cx="9099720" cy="3384360"/>
          </a:xfrm>
          <a:prstGeom prst="rect">
            <a:avLst/>
          </a:prstGeom>
          <a:noFill/>
          <a:ln w="0">
            <a:noFill/>
          </a:ln>
        </p:spPr>
      </p:pic>
    </p:spTree>
  </p:cSld>
  <p:transition spd="med">
    <p:zoom dir="out"/>
  </p:transition>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7" name="Picture 2" descr=""/>
          <p:cNvPicPr/>
          <p:nvPr/>
        </p:nvPicPr>
        <p:blipFill>
          <a:blip r:embed="rId1"/>
          <a:srcRect l="20573" t="45735" r="17287" b="35912"/>
          <a:stretch/>
        </p:blipFill>
        <p:spPr>
          <a:xfrm>
            <a:off x="50760" y="1700280"/>
            <a:ext cx="9070920" cy="2009880"/>
          </a:xfrm>
          <a:prstGeom prst="rect">
            <a:avLst/>
          </a:prstGeom>
          <a:noFill/>
          <a:ln w="0">
            <a:noFill/>
          </a:ln>
        </p:spPr>
      </p:pic>
      <p:sp>
        <p:nvSpPr>
          <p:cNvPr id="178" name="ZoneTexte 1"/>
          <p:cNvSpPr/>
          <p:nvPr/>
        </p:nvSpPr>
        <p:spPr>
          <a:xfrm>
            <a:off x="-2068560" y="4365720"/>
            <a:ext cx="1121292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Indice d’habileté :   </a:t>
            </a:r>
            <a:r>
              <a:rPr b="0" lang="fr-FR" sz="2000" strike="noStrike" u="sng">
                <a:solidFill>
                  <a:srgbClr val="ffff00"/>
                </a:solidFill>
                <a:effectLst/>
                <a:uFillTx/>
                <a:latin typeface="Calibri"/>
                <a:ea typeface="Calibri"/>
              </a:rPr>
              <a:t>20m en ligne (test de référence en 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                                   20m avec changements de direction (s)</a:t>
            </a:r>
            <a:endParaRPr b="0" lang="en-US" sz="2000" strike="noStrike" u="none">
              <a:solidFill>
                <a:srgbClr val="ffff00"/>
              </a:solidFill>
              <a:effectLst/>
              <a:uFillTx/>
              <a:latin typeface="Times New Roman"/>
            </a:endParaRPr>
          </a:p>
        </p:txBody>
      </p:sp>
      <p:sp>
        <p:nvSpPr>
          <p:cNvPr id="179" name="Parenthèse ouvrante 2"/>
          <p:cNvSpPr/>
          <p:nvPr/>
        </p:nvSpPr>
        <p:spPr>
          <a:xfrm>
            <a:off x="2413080" y="4292640"/>
            <a:ext cx="46080" cy="903240"/>
          </a:xfrm>
          <a:custGeom>
            <a:avLst/>
            <a:gdLst>
              <a:gd name="textAreaLeft" fmla="*/ 13320 w 46080"/>
              <a:gd name="textAreaRight" fmla="*/ 46440 w 46080"/>
              <a:gd name="textAreaTop" fmla="*/ 1800 h 903240"/>
              <a:gd name="textAreaBottom" fmla="*/ 901440 h 903240"/>
              <a:gd name="GluePoint1X" fmla="*/ 21600 w 21600"/>
              <a:gd name="GluePoint1Y" fmla="*/ 0 h 21600"/>
              <a:gd name="GluePoint2X" fmla="*/ 0 w 21600"/>
              <a:gd name="GluePoint2Y" fmla="*/ 10800 h 21600"/>
              <a:gd name="GluePoint3X" fmla="*/ 21600 w 21600"/>
              <a:gd name="GluePoint3Y" fmla="*/ 216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21600" y="0"/>
                </a:moveTo>
                <a:cubicBezTo>
                  <a:pt x="10800" y="0"/>
                  <a:pt x="0" y="46"/>
                  <a:pt x="0" y="91"/>
                </a:cubicBezTo>
                <a:lnTo>
                  <a:pt x="0" y="21509"/>
                </a:lnTo>
                <a:cubicBezTo>
                  <a:pt x="0" y="21555"/>
                  <a:pt x="10800" y="21600"/>
                  <a:pt x="21600" y="21600"/>
                </a:cubicBezTo>
              </a:path>
            </a:pathLst>
          </a:custGeom>
          <a:noFill/>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0" name="Parenthèse fermante 3"/>
          <p:cNvSpPr/>
          <p:nvPr/>
        </p:nvSpPr>
        <p:spPr>
          <a:xfrm>
            <a:off x="6589800" y="4292640"/>
            <a:ext cx="73080" cy="914400"/>
          </a:xfrm>
          <a:custGeom>
            <a:avLst/>
            <a:gdLst>
              <a:gd name="textAreaLeft" fmla="*/ 0 w 73080"/>
              <a:gd name="textAreaRight" fmla="*/ 51480 w 73080"/>
              <a:gd name="textAreaTop" fmla="*/ 2880 h 914400"/>
              <a:gd name="textAreaBottom" fmla="*/ 911520 h 91440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10800" y="0"/>
                  <a:pt x="21600" y="72"/>
                  <a:pt x="21600" y="144"/>
                </a:cubicBezTo>
                <a:lnTo>
                  <a:pt x="21600" y="21456"/>
                </a:lnTo>
                <a:cubicBezTo>
                  <a:pt x="21600" y="21528"/>
                  <a:pt x="10800" y="21600"/>
                  <a:pt x="0" y="21600"/>
                </a:cubicBezTo>
              </a:path>
            </a:pathLst>
          </a:custGeom>
          <a:noFill/>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1" name="ZoneTexte 4"/>
          <p:cNvSpPr/>
          <p:nvPr/>
        </p:nvSpPr>
        <p:spPr>
          <a:xfrm>
            <a:off x="6041520" y="4487760"/>
            <a:ext cx="30920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x 100 =           %</a:t>
            </a:r>
            <a:endParaRPr b="0" lang="en-US" sz="2000" strike="noStrike" u="none">
              <a:solidFill>
                <a:srgbClr val="ffff00"/>
              </a:solidFill>
              <a:effectLst/>
              <a:uFillTx/>
              <a:latin typeface="Times New Roman"/>
            </a:endParaRPr>
          </a:p>
        </p:txBody>
      </p:sp>
    </p:spTree>
  </p:cSld>
  <p:transition spd="med">
    <p:zoom dir="out"/>
  </p:transition>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Text Box 2"/>
          <p:cNvSpPr/>
          <p:nvPr/>
        </p:nvSpPr>
        <p:spPr>
          <a:xfrm>
            <a:off x="1514880" y="2060640"/>
            <a:ext cx="6305040" cy="1557000"/>
          </a:xfrm>
          <a:prstGeom prst="rect">
            <a:avLst/>
          </a:prstGeom>
          <a:noFill/>
          <a:ln w="0">
            <a:noFill/>
          </a:ln>
        </p:spPr>
        <p:style>
          <a:lnRef idx="0"/>
          <a:fillRef idx="0"/>
          <a:effectRef idx="0"/>
          <a:fontRef idx="minor"/>
        </p:style>
        <p:txBody>
          <a:bodyPr wrap="none" lIns="90000" rIns="90000" tIns="46800" bIns="46800" anchor="t">
            <a:sp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Calibri"/>
                <a:ea typeface="Calibri"/>
              </a:rPr>
              <a:t>2-2. Force, Puissance et </a:t>
            </a:r>
            <a:endParaRPr b="0" lang="en-US" sz="32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Calibri"/>
                <a:ea typeface="Calibri"/>
              </a:rPr>
              <a:t>Endurance musculaires</a:t>
            </a:r>
            <a:endParaRPr b="0" lang="en-US" sz="3200" strike="noStrike" u="none">
              <a:solidFill>
                <a:srgbClr val="ffff00"/>
              </a:solidFill>
              <a:effectLst/>
              <a:uFillTx/>
              <a:latin typeface="Times New Roman"/>
            </a:endParaRPr>
          </a:p>
        </p:txBody>
      </p:sp>
    </p:spTree>
  </p:cSld>
  <p:transition spd="med">
    <p:zoom dir="out"/>
  </p:transition>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Text Box 2"/>
          <p:cNvSpPr/>
          <p:nvPr/>
        </p:nvSpPr>
        <p:spPr>
          <a:xfrm>
            <a:off x="1992960" y="528480"/>
            <a:ext cx="5222880" cy="9478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Bookman Old Style"/>
              </a:rPr>
              <a:t>Développement de la force </a:t>
            </a:r>
            <a:endParaRPr b="0" lang="en-US" sz="2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Bookman Old Style"/>
              </a:rPr>
              <a:t>au cours de la croissance</a:t>
            </a:r>
            <a:endParaRPr b="0" lang="en-US" sz="2800" strike="noStrike" u="none">
              <a:solidFill>
                <a:srgbClr val="ffff00"/>
              </a:solidFill>
              <a:effectLst/>
              <a:uFillTx/>
              <a:latin typeface="Times New Roman"/>
            </a:endParaRPr>
          </a:p>
        </p:txBody>
      </p:sp>
      <p:sp>
        <p:nvSpPr>
          <p:cNvPr id="184" name="Text Box 3"/>
          <p:cNvSpPr/>
          <p:nvPr/>
        </p:nvSpPr>
        <p:spPr>
          <a:xfrm>
            <a:off x="609480" y="1798560"/>
            <a:ext cx="8229600" cy="703800"/>
          </a:xfrm>
          <a:prstGeom prst="rect">
            <a:avLst/>
          </a:prstGeom>
          <a:noFill/>
          <a:ln w="0">
            <a:noFill/>
          </a:ln>
        </p:spPr>
        <p:style>
          <a:lnRef idx="0"/>
          <a:fillRef idx="0"/>
          <a:effectRef idx="0"/>
          <a:fontRef idx="minor"/>
        </p:style>
        <p:txBody>
          <a:bodyPr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La force musculaire augmente progressivement au cours de la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croissance en fonction de l’accroissement de la masse corporelle.</a:t>
            </a:r>
            <a:endParaRPr b="0" lang="en-US" sz="2000" strike="noStrike" u="none">
              <a:solidFill>
                <a:srgbClr val="ffff00"/>
              </a:solidFill>
              <a:effectLst/>
              <a:uFillTx/>
              <a:latin typeface="Times New Roman"/>
            </a:endParaRPr>
          </a:p>
        </p:txBody>
      </p:sp>
      <p:sp>
        <p:nvSpPr>
          <p:cNvPr id="185" name="Text Box 5"/>
          <p:cNvSpPr/>
          <p:nvPr/>
        </p:nvSpPr>
        <p:spPr>
          <a:xfrm>
            <a:off x="598320" y="2727360"/>
            <a:ext cx="790308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Avant la puberté, la force maximale des garçons et des filles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n’est pas très différente (Weltman, 1989, Sunnegardh et al.1994)</a:t>
            </a:r>
            <a:endParaRPr b="0" lang="en-US" sz="2000" strike="noStrike" u="none">
              <a:solidFill>
                <a:srgbClr val="ffff00"/>
              </a:solidFill>
              <a:effectLst/>
              <a:uFillTx/>
              <a:latin typeface="Times New Roman"/>
            </a:endParaRPr>
          </a:p>
        </p:txBody>
      </p:sp>
      <p:sp>
        <p:nvSpPr>
          <p:cNvPr id="186" name="Text Box 6"/>
          <p:cNvSpPr/>
          <p:nvPr/>
        </p:nvSpPr>
        <p:spPr>
          <a:xfrm>
            <a:off x="685800" y="3733920"/>
            <a:ext cx="8458200" cy="703800"/>
          </a:xfrm>
          <a:prstGeom prst="rect">
            <a:avLst/>
          </a:prstGeom>
          <a:noFill/>
          <a:ln w="0">
            <a:noFill/>
          </a:ln>
        </p:spPr>
        <p:style>
          <a:lnRef idx="0"/>
          <a:fillRef idx="0"/>
          <a:effectRef idx="0"/>
          <a:fontRef idx="minor"/>
        </p:style>
        <p:txBody>
          <a:bodyPr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En moyenne, les filles présentent l ’accroissement en force la plus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élevée pendant les années de croissance maximale: </a:t>
            </a:r>
            <a:r>
              <a:rPr b="1" lang="fr-FR" sz="2000" strike="noStrike" u="none">
                <a:solidFill>
                  <a:srgbClr val="ffffff"/>
                </a:solidFill>
                <a:effectLst/>
                <a:uFillTx/>
                <a:latin typeface="Arial"/>
              </a:rPr>
              <a:t>11,5 à 12,5 ans</a:t>
            </a:r>
            <a:endParaRPr b="0" lang="en-US" sz="2000" strike="noStrike" u="none">
              <a:solidFill>
                <a:srgbClr val="ffff00"/>
              </a:solidFill>
              <a:effectLst/>
              <a:uFillTx/>
              <a:latin typeface="Times New Roman"/>
            </a:endParaRPr>
          </a:p>
        </p:txBody>
      </p:sp>
      <p:sp>
        <p:nvSpPr>
          <p:cNvPr id="187" name="Text Box 9"/>
          <p:cNvSpPr/>
          <p:nvPr/>
        </p:nvSpPr>
        <p:spPr>
          <a:xfrm>
            <a:off x="685800" y="5410080"/>
            <a:ext cx="8458200" cy="1008720"/>
          </a:xfrm>
          <a:prstGeom prst="rect">
            <a:avLst/>
          </a:prstGeom>
          <a:noFill/>
          <a:ln w="0">
            <a:noFill/>
          </a:ln>
        </p:spPr>
        <p:style>
          <a:lnRef idx="0"/>
          <a:fillRef idx="0"/>
          <a:effectRef idx="0"/>
          <a:fontRef idx="minor"/>
        </p:style>
        <p:txBody>
          <a:bodyPr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La force maximale se stabilise </a:t>
            </a:r>
            <a:r>
              <a:rPr b="1" lang="fr-FR" sz="2000" strike="noStrike" u="none">
                <a:solidFill>
                  <a:srgbClr val="ffffff"/>
                </a:solidFill>
                <a:effectLst/>
                <a:uFillTx/>
                <a:latin typeface="Arial"/>
              </a:rPr>
              <a:t>vers 18 ans chez la fille et entre</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20 et 30 ans chez le garçon.</a:t>
            </a:r>
            <a:endParaRPr b="0" lang="en-US" sz="2000" strike="noStrike" u="none">
              <a:solidFill>
                <a:srgbClr val="ffff00"/>
              </a:solidFill>
              <a:effectLst/>
              <a:uFillTx/>
              <a:latin typeface="Times New Roman"/>
            </a:endParaRPr>
          </a:p>
        </p:txBody>
      </p:sp>
      <p:sp>
        <p:nvSpPr>
          <p:cNvPr id="188" name="Text Box 10"/>
          <p:cNvSpPr/>
          <p:nvPr/>
        </p:nvSpPr>
        <p:spPr>
          <a:xfrm>
            <a:off x="598320" y="4572000"/>
            <a:ext cx="8345880" cy="825480"/>
          </a:xfrm>
          <a:prstGeom prst="rect">
            <a:avLst/>
          </a:prstGeom>
          <a:noFill/>
          <a:ln w="0">
            <a:noFill/>
          </a:ln>
        </p:spPr>
        <p:style>
          <a:lnRef idx="0"/>
          <a:fillRef idx="0"/>
          <a:effectRef idx="0"/>
          <a:fontRef idx="minor"/>
        </p:style>
        <p:txBody>
          <a:bodyPr wrap="none" lIns="90000" rIns="90000" tIns="46800" bIns="46800" anchor="t">
            <a:spAutoFit/>
          </a:bodyPr>
          <a:p>
            <a:pPr>
              <a:lnSpc>
                <a:spcPct val="12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Chez les garçons, l’augmentation est maximale un an après le pic </a:t>
            </a:r>
            <a:endParaRPr b="0" lang="en-US" sz="20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de croissance :</a:t>
            </a:r>
            <a:r>
              <a:rPr b="1" lang="fr-FR" sz="2000" strike="noStrike" u="none">
                <a:solidFill>
                  <a:srgbClr val="ffffff"/>
                </a:solidFill>
                <a:effectLst/>
                <a:uFillTx/>
                <a:latin typeface="Arial"/>
              </a:rPr>
              <a:t>14,5 à 15,5 ans (Bar-Or 1989).</a:t>
            </a:r>
            <a:r>
              <a:rPr b="0" lang="fr-FR"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p:txBody>
      </p:sp>
    </p:spTree>
  </p:cSld>
  <p:transition spd="med">
    <p:zoom dir="out"/>
  </p:transition>
  <p:timing>
    <p:tnLst>
      <p:par>
        <p:cTn id="524" dur="indefinite" restart="never" nodeType="tmRoot">
          <p:childTnLst>
            <p:seq>
              <p:cTn id="525" dur="indefinite" nodeType="mainSeq">
                <p:childTnLst>
                  <p:par>
                    <p:cTn id="526" nodeType="clickEffect" fill="hold">
                      <p:stCondLst>
                        <p:cond delay="0"/>
                      </p:stCondLst>
                      <p:childTnLst>
                        <p:par>
                          <p:cTn id="527" nodeType="withEffect" fill="hold">
                            <p:stCondLst>
                              <p:cond delay="0"/>
                            </p:stCondLst>
                            <p:childTnLst>
                              <p:par>
                                <p:cTn id="528" nodeType="afterEffect" fill="hold" presetClass="entr" presetID="9">
                                  <p:stCondLst>
                                    <p:cond delay="0"/>
                                  </p:stCondLst>
                                  <p:childTnLst>
                                    <p:set>
                                      <p:cBhvr>
                                        <p:cTn id="529" dur="1" fill="hold">
                                          <p:stCondLst>
                                            <p:cond delay="0"/>
                                          </p:stCondLst>
                                        </p:cTn>
                                        <p:tgtEl>
                                          <p:spTgt spid="183"/>
                                        </p:tgtEl>
                                        <p:attrNameLst>
                                          <p:attrName>style.visibility</p:attrName>
                                        </p:attrNameLst>
                                      </p:cBhvr>
                                      <p:to>
                                        <p:strVal val="visible"/>
                                      </p:to>
                                    </p:set>
                                    <p:animEffect filter="dissolve" transition="in">
                                      <p:cBhvr additive="repl">
                                        <p:cTn id="530" dur="500"/>
                                        <p:tgtEl>
                                          <p:spTgt spid="183"/>
                                        </p:tgtEl>
                                      </p:cBhvr>
                                    </p:animEffect>
                                  </p:childTnLst>
                                </p:cTn>
                              </p:par>
                            </p:childTnLst>
                          </p:cTn>
                        </p:par>
                      </p:childTnLst>
                    </p:cTn>
                  </p:par>
                  <p:par>
                    <p:cTn id="531" nodeType="clickEffect" fill="hold">
                      <p:stCondLst>
                        <p:cond delay="indefinite"/>
                      </p:stCondLst>
                      <p:childTnLst>
                        <p:par>
                          <p:cTn id="532" nodeType="withEffect" fill="hold">
                            <p:stCondLst>
                              <p:cond delay="0"/>
                            </p:stCondLst>
                            <p:childTnLst>
                              <p:par>
                                <p:cTn id="533" nodeType="clickEffect" fill="hold" presetClass="entr" presetID="9">
                                  <p:stCondLst>
                                    <p:cond delay="0"/>
                                  </p:stCondLst>
                                  <p:childTnLst>
                                    <p:set>
                                      <p:cBhvr>
                                        <p:cTn id="534" dur="1" fill="hold">
                                          <p:stCondLst>
                                            <p:cond delay="0"/>
                                          </p:stCondLst>
                                        </p:cTn>
                                        <p:tgtEl>
                                          <p:spTgt spid="184"/>
                                        </p:tgtEl>
                                        <p:attrNameLst>
                                          <p:attrName>style.visibility</p:attrName>
                                        </p:attrNameLst>
                                      </p:cBhvr>
                                      <p:to>
                                        <p:strVal val="visible"/>
                                      </p:to>
                                    </p:set>
                                    <p:animEffect filter="dissolve" transition="in">
                                      <p:cBhvr additive="repl">
                                        <p:cTn id="535" dur="500"/>
                                        <p:tgtEl>
                                          <p:spTgt spid="184"/>
                                        </p:tgtEl>
                                      </p:cBhvr>
                                    </p:animEffect>
                                  </p:childTnLst>
                                </p:cTn>
                              </p:par>
                            </p:childTnLst>
                          </p:cTn>
                        </p:par>
                      </p:childTnLst>
                    </p:cTn>
                  </p:par>
                  <p:par>
                    <p:cTn id="536" nodeType="clickEffect" fill="hold">
                      <p:stCondLst>
                        <p:cond delay="indefinite"/>
                      </p:stCondLst>
                      <p:childTnLst>
                        <p:par>
                          <p:cTn id="537" nodeType="withEffect" fill="hold">
                            <p:stCondLst>
                              <p:cond delay="0"/>
                            </p:stCondLst>
                            <p:childTnLst>
                              <p:par>
                                <p:cTn id="538" nodeType="clickEffect" fill="hold" presetClass="entr" presetID="9">
                                  <p:stCondLst>
                                    <p:cond delay="0"/>
                                  </p:stCondLst>
                                  <p:childTnLst>
                                    <p:set>
                                      <p:cBhvr>
                                        <p:cTn id="539" dur="1" fill="hold">
                                          <p:stCondLst>
                                            <p:cond delay="0"/>
                                          </p:stCondLst>
                                        </p:cTn>
                                        <p:tgtEl>
                                          <p:spTgt spid="185"/>
                                        </p:tgtEl>
                                        <p:attrNameLst>
                                          <p:attrName>style.visibility</p:attrName>
                                        </p:attrNameLst>
                                      </p:cBhvr>
                                      <p:to>
                                        <p:strVal val="visible"/>
                                      </p:to>
                                    </p:set>
                                    <p:animEffect filter="dissolve" transition="in">
                                      <p:cBhvr additive="repl">
                                        <p:cTn id="540" dur="500"/>
                                        <p:tgtEl>
                                          <p:spTgt spid="185"/>
                                        </p:tgtEl>
                                      </p:cBhvr>
                                    </p:animEffect>
                                  </p:childTnLst>
                                </p:cTn>
                              </p:par>
                            </p:childTnLst>
                          </p:cTn>
                        </p:par>
                      </p:childTnLst>
                    </p:cTn>
                  </p:par>
                  <p:par>
                    <p:cTn id="541" nodeType="clickEffect" fill="hold">
                      <p:stCondLst>
                        <p:cond delay="indefinite"/>
                      </p:stCondLst>
                      <p:childTnLst>
                        <p:par>
                          <p:cTn id="542" nodeType="withEffect" fill="hold">
                            <p:stCondLst>
                              <p:cond delay="0"/>
                            </p:stCondLst>
                            <p:childTnLst>
                              <p:par>
                                <p:cTn id="543" nodeType="clickEffect" fill="hold" presetClass="entr" presetID="9">
                                  <p:stCondLst>
                                    <p:cond delay="0"/>
                                  </p:stCondLst>
                                  <p:childTnLst>
                                    <p:set>
                                      <p:cBhvr>
                                        <p:cTn id="544" dur="1" fill="hold">
                                          <p:stCondLst>
                                            <p:cond delay="0"/>
                                          </p:stCondLst>
                                        </p:cTn>
                                        <p:tgtEl>
                                          <p:spTgt spid="186"/>
                                        </p:tgtEl>
                                        <p:attrNameLst>
                                          <p:attrName>style.visibility</p:attrName>
                                        </p:attrNameLst>
                                      </p:cBhvr>
                                      <p:to>
                                        <p:strVal val="visible"/>
                                      </p:to>
                                    </p:set>
                                    <p:animEffect filter="dissolve" transition="in">
                                      <p:cBhvr additive="repl">
                                        <p:cTn id="545" dur="500"/>
                                        <p:tgtEl>
                                          <p:spTgt spid="186"/>
                                        </p:tgtEl>
                                      </p:cBhvr>
                                    </p:animEffect>
                                  </p:childTnLst>
                                </p:cTn>
                              </p:par>
                            </p:childTnLst>
                          </p:cTn>
                        </p:par>
                      </p:childTnLst>
                    </p:cTn>
                  </p:par>
                  <p:par>
                    <p:cTn id="546" nodeType="clickEffect" fill="hold">
                      <p:stCondLst>
                        <p:cond delay="indefinite"/>
                      </p:stCondLst>
                      <p:childTnLst>
                        <p:par>
                          <p:cTn id="547" nodeType="withEffect" fill="hold">
                            <p:stCondLst>
                              <p:cond delay="0"/>
                            </p:stCondLst>
                            <p:childTnLst>
                              <p:par>
                                <p:cTn id="548" nodeType="clickEffect" fill="hold" presetClass="entr" presetID="9">
                                  <p:stCondLst>
                                    <p:cond delay="0"/>
                                  </p:stCondLst>
                                  <p:childTnLst>
                                    <p:set>
                                      <p:cBhvr>
                                        <p:cTn id="549" dur="1" fill="hold">
                                          <p:stCondLst>
                                            <p:cond delay="0"/>
                                          </p:stCondLst>
                                        </p:cTn>
                                        <p:tgtEl>
                                          <p:spTgt spid="188"/>
                                        </p:tgtEl>
                                        <p:attrNameLst>
                                          <p:attrName>style.visibility</p:attrName>
                                        </p:attrNameLst>
                                      </p:cBhvr>
                                      <p:to>
                                        <p:strVal val="visible"/>
                                      </p:to>
                                    </p:set>
                                    <p:animEffect filter="dissolve" transition="in">
                                      <p:cBhvr additive="repl">
                                        <p:cTn id="550" dur="500"/>
                                        <p:tgtEl>
                                          <p:spTgt spid="188"/>
                                        </p:tgtEl>
                                      </p:cBhvr>
                                    </p:animEffect>
                                  </p:childTnLst>
                                </p:cTn>
                              </p:par>
                            </p:childTnLst>
                          </p:cTn>
                        </p:par>
                      </p:childTnLst>
                    </p:cTn>
                  </p:par>
                  <p:par>
                    <p:cTn id="551" nodeType="clickEffect" fill="hold">
                      <p:stCondLst>
                        <p:cond delay="indefinite"/>
                      </p:stCondLst>
                      <p:childTnLst>
                        <p:par>
                          <p:cTn id="552" nodeType="withEffect" fill="hold">
                            <p:stCondLst>
                              <p:cond delay="0"/>
                            </p:stCondLst>
                            <p:childTnLst>
                              <p:par>
                                <p:cTn id="553" nodeType="clickEffect" fill="hold" presetClass="entr" presetID="9">
                                  <p:stCondLst>
                                    <p:cond delay="0"/>
                                  </p:stCondLst>
                                  <p:childTnLst>
                                    <p:set>
                                      <p:cBhvr>
                                        <p:cTn id="554" dur="1" fill="hold">
                                          <p:stCondLst>
                                            <p:cond delay="0"/>
                                          </p:stCondLst>
                                        </p:cTn>
                                        <p:tgtEl>
                                          <p:spTgt spid="187"/>
                                        </p:tgtEl>
                                        <p:attrNameLst>
                                          <p:attrName>style.visibility</p:attrName>
                                        </p:attrNameLst>
                                      </p:cBhvr>
                                      <p:to>
                                        <p:strVal val="visible"/>
                                      </p:to>
                                    </p:set>
                                    <p:animEffect filter="dissolve" transition="in">
                                      <p:cBhvr additive="repl">
                                        <p:cTn id="555" dur="500"/>
                                        <p:tgtEl>
                                          <p:spTgt spid="1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ZoneTexte 1"/>
          <p:cNvSpPr/>
          <p:nvPr/>
        </p:nvSpPr>
        <p:spPr>
          <a:xfrm>
            <a:off x="-717120" y="2492280"/>
            <a:ext cx="9979920" cy="1557000"/>
          </a:xfrm>
          <a:prstGeom prst="rect">
            <a:avLst/>
          </a:prstGeom>
          <a:noFill/>
          <a:ln w="0">
            <a:noFill/>
          </a:ln>
        </p:spPr>
        <p:style>
          <a:lnRef idx="0"/>
          <a:fillRef idx="0"/>
          <a:effectRef idx="0"/>
          <a:fontRef idx="minor"/>
        </p:style>
        <p:txBody>
          <a:bodyPr wrap="none" lIns="90000" rIns="90000" tIns="46800" bIns="46800" anchor="t">
            <a:sp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ffff00"/>
                </a:solidFill>
                <a:effectLst/>
                <a:uFillTx/>
                <a:latin typeface="Calibri"/>
                <a:ea typeface="Calibri"/>
              </a:rPr>
              <a:t>Peut-on et doit-on envisager précocement</a:t>
            </a:r>
            <a:endParaRPr b="0" lang="en-US" sz="32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ffff00"/>
                </a:solidFill>
                <a:effectLst/>
                <a:uFillTx/>
                <a:latin typeface="Calibri"/>
                <a:ea typeface="Calibri"/>
              </a:rPr>
              <a:t>la musculation chez le jeune ?</a:t>
            </a:r>
            <a:endParaRPr b="0" lang="en-US" sz="3200" strike="noStrike" u="none">
              <a:solidFill>
                <a:srgbClr val="ffff00"/>
              </a:solidFill>
              <a:effectLst/>
              <a:uFillTx/>
              <a:latin typeface="Times New Roman"/>
            </a:endParaRPr>
          </a:p>
        </p:txBody>
      </p:sp>
    </p:spTree>
  </p:cSld>
  <p:transition spd="med">
    <p:zoom dir="out"/>
  </p:transition>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108000" y="1052640"/>
            <a:ext cx="9036000" cy="598320"/>
          </a:xfrm>
          <a:prstGeom prst="rect">
            <a:avLst/>
          </a:prstGeom>
          <a:noFill/>
          <a:ln w="0">
            <a:noFill/>
          </a:ln>
        </p:spPr>
        <p:txBody>
          <a:bodyPr lIns="92160" rIns="92160" tIns="46080" bIns="4608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800" strike="noStrike" u="none">
                <a:solidFill>
                  <a:srgbClr val="ffffff"/>
                </a:solidFill>
                <a:effectLst/>
                <a:uFillTx/>
                <a:latin typeface="Arial"/>
              </a:rPr>
              <a:t>Moyennant certaines précautions, la musculation bien maîtrisée ne peut qu’être bénéfique au développement moteur de l’adolescent et même de l’enfant…</a:t>
            </a:r>
            <a:endParaRPr b="0" lang="en-US" sz="2800" strike="noStrike" u="none">
              <a:solidFill>
                <a:srgbClr val="ffffff"/>
              </a:solidFill>
              <a:effectLst/>
              <a:uFillTx/>
              <a:latin typeface="Times New Roman"/>
            </a:endParaRPr>
          </a:p>
        </p:txBody>
      </p:sp>
      <p:sp>
        <p:nvSpPr>
          <p:cNvPr id="191" name="PlaceHolder 2"/>
          <p:cNvSpPr>
            <a:spLocks noGrp="1"/>
          </p:cNvSpPr>
          <p:nvPr>
            <p:ph/>
          </p:nvPr>
        </p:nvSpPr>
        <p:spPr>
          <a:xfrm>
            <a:off x="837720" y="2232000"/>
            <a:ext cx="5334120" cy="533520"/>
          </a:xfrm>
          <a:prstGeom prst="rect">
            <a:avLst/>
          </a:prstGeom>
          <a:noFill/>
          <a:ln w="0">
            <a:noFill/>
          </a:ln>
        </p:spPr>
        <p:txBody>
          <a:bodyPr lIns="92160" rIns="92160" tIns="46080" bIns="46080" anchor="t">
            <a:normAutofit fontScale="92500" lnSpcReduction="19999"/>
          </a:bodyPr>
          <a:p>
            <a:pPr marL="674640" indent="-67464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400" strike="noStrike" u="none">
                <a:solidFill>
                  <a:srgbClr val="ffff00"/>
                </a:solidFill>
                <a:effectLst/>
                <a:uFillTx/>
                <a:latin typeface="Arial"/>
              </a:rPr>
              <a:t>  Force et /ou puissance musculaire,</a:t>
            </a:r>
            <a:r>
              <a:rPr b="0" lang="fr-BE" sz="2400" strike="noStrike" u="none">
                <a:solidFill>
                  <a:srgbClr val="ffff00"/>
                </a:solidFill>
                <a:effectLst/>
                <a:uFillTx/>
                <a:latin typeface="Arial"/>
              </a:rPr>
              <a:t>	</a:t>
            </a:r>
            <a:r>
              <a:rPr b="0" lang="fr-BE" sz="2400" strike="noStrike" u="none">
                <a:solidFill>
                  <a:srgbClr val="ffff00"/>
                </a:solidFill>
                <a:effectLst/>
                <a:uFillTx/>
                <a:latin typeface="Arial"/>
              </a:rPr>
              <a:t>          </a:t>
            </a:r>
            <a:endParaRPr b="0" lang="en-US" sz="2400" strike="noStrike" u="none">
              <a:solidFill>
                <a:srgbClr val="ffff00"/>
              </a:solidFill>
              <a:effectLst/>
              <a:uFillTx/>
              <a:latin typeface="Times New Roman"/>
            </a:endParaRPr>
          </a:p>
        </p:txBody>
      </p:sp>
      <p:sp>
        <p:nvSpPr>
          <p:cNvPr id="192" name="Line 4"/>
          <p:cNvSpPr/>
          <p:nvPr/>
        </p:nvSpPr>
        <p:spPr>
          <a:xfrm flipV="1">
            <a:off x="685800" y="2307960"/>
            <a:ext cx="152280" cy="228600"/>
          </a:xfrm>
          <a:prstGeom prst="line">
            <a:avLst/>
          </a:prstGeom>
          <a:ln w="25560">
            <a:solidFill>
              <a:srgbClr val="ffff00"/>
            </a:solidFill>
            <a:miter/>
            <a:tailEnd len="med" type="stealth"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3" name="Line 5"/>
          <p:cNvSpPr/>
          <p:nvPr/>
        </p:nvSpPr>
        <p:spPr>
          <a:xfrm flipV="1">
            <a:off x="685800" y="3146040"/>
            <a:ext cx="152280" cy="228600"/>
          </a:xfrm>
          <a:prstGeom prst="line">
            <a:avLst/>
          </a:prstGeom>
          <a:ln w="25560">
            <a:solidFill>
              <a:srgbClr val="ffff00"/>
            </a:solidFill>
            <a:miter/>
            <a:tailEnd len="med" type="stealth"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4" name="Text Box 7"/>
          <p:cNvSpPr/>
          <p:nvPr/>
        </p:nvSpPr>
        <p:spPr>
          <a:xfrm>
            <a:off x="1023840" y="5424480"/>
            <a:ext cx="74149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400" strike="noStrike" u="none">
                <a:solidFill>
                  <a:srgbClr val="ffff00"/>
                </a:solidFill>
                <a:effectLst/>
                <a:uFillTx/>
                <a:latin typeface="Arial"/>
              </a:rPr>
              <a:t>Prévient des blessures pendant les activités sportives</a:t>
            </a:r>
            <a:endParaRPr b="0" lang="en-US" sz="2400" strike="noStrike" u="none">
              <a:solidFill>
                <a:srgbClr val="ffff00"/>
              </a:solidFill>
              <a:effectLst/>
              <a:uFillTx/>
              <a:latin typeface="Times New Roman"/>
            </a:endParaRPr>
          </a:p>
        </p:txBody>
      </p:sp>
      <p:sp>
        <p:nvSpPr>
          <p:cNvPr id="195" name="Text Box 8"/>
          <p:cNvSpPr/>
          <p:nvPr/>
        </p:nvSpPr>
        <p:spPr>
          <a:xfrm>
            <a:off x="990720" y="4340160"/>
            <a:ext cx="756108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400" strike="noStrike" u="none">
                <a:solidFill>
                  <a:srgbClr val="ffff00"/>
                </a:solidFill>
                <a:effectLst/>
                <a:uFillTx/>
                <a:latin typeface="Arial"/>
              </a:rPr>
              <a:t>Améliore la capacité de performance dans les activités sportives (loisirs ou compétition)</a:t>
            </a:r>
            <a:endParaRPr b="0" lang="en-US" sz="2400" strike="noStrike" u="none">
              <a:solidFill>
                <a:srgbClr val="ffff00"/>
              </a:solidFill>
              <a:effectLst/>
              <a:uFillTx/>
              <a:latin typeface="Times New Roman"/>
            </a:endParaRPr>
          </a:p>
        </p:txBody>
      </p:sp>
      <p:sp>
        <p:nvSpPr>
          <p:cNvPr id="196" name="Text Box 9"/>
          <p:cNvSpPr/>
          <p:nvPr/>
        </p:nvSpPr>
        <p:spPr>
          <a:xfrm>
            <a:off x="992160" y="2917800"/>
            <a:ext cx="47527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400" strike="noStrike" u="none">
                <a:solidFill>
                  <a:srgbClr val="ffff00"/>
                </a:solidFill>
                <a:effectLst/>
                <a:uFillTx/>
                <a:latin typeface="Arial"/>
              </a:rPr>
              <a:t>Endurance musculaire locale,</a:t>
            </a:r>
            <a:r>
              <a:rPr b="0" lang="fr-BE" sz="2400" strike="noStrike" u="none">
                <a:solidFill>
                  <a:srgbClr val="ffff00"/>
                </a:solidFill>
                <a:effectLst/>
                <a:uFillTx/>
                <a:latin typeface="Arial"/>
              </a:rPr>
              <a:t>	</a:t>
            </a:r>
            <a:endParaRPr b="0" lang="en-US" sz="2400" strike="noStrike" u="none">
              <a:solidFill>
                <a:srgbClr val="ffff00"/>
              </a:solidFill>
              <a:effectLst/>
              <a:uFillTx/>
              <a:latin typeface="Times New Roman"/>
            </a:endParaRPr>
          </a:p>
        </p:txBody>
      </p:sp>
      <p:sp>
        <p:nvSpPr>
          <p:cNvPr id="197" name="ZoneTexte 1"/>
          <p:cNvSpPr/>
          <p:nvPr/>
        </p:nvSpPr>
        <p:spPr>
          <a:xfrm>
            <a:off x="1012320" y="3652920"/>
            <a:ext cx="48063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ea typeface="Arial"/>
              </a:rPr>
              <a:t>Donne une meilleure image de soi</a:t>
            </a:r>
            <a:endParaRPr b="0" lang="en-US" sz="2400" strike="noStrike" u="none">
              <a:solidFill>
                <a:srgbClr val="ffff00"/>
              </a:solidFill>
              <a:effectLst/>
              <a:uFillTx/>
              <a:latin typeface="Times New Roman"/>
            </a:endParaRPr>
          </a:p>
        </p:txBody>
      </p:sp>
    </p:spTree>
  </p:cSld>
  <p:timing>
    <p:tnLst>
      <p:par>
        <p:cTn id="556" dur="indefinite" restart="never" nodeType="tmRoot">
          <p:childTnLst>
            <p:seq>
              <p:cTn id="557" dur="indefinite" nodeType="mainSeq">
                <p:childTnLst>
                  <p:par>
                    <p:cTn id="558" nodeType="clickEffect" fill="hold">
                      <p:stCondLst>
                        <p:cond delay="indefinite"/>
                      </p:stCondLst>
                      <p:childTnLst>
                        <p:par>
                          <p:cTn id="559" nodeType="withEffect" fill="hold">
                            <p:stCondLst>
                              <p:cond delay="0"/>
                            </p:stCondLst>
                            <p:childTnLst>
                              <p:par>
                                <p:cTn id="560" nodeType="clickEffect" fill="hold" presetClass="entr" presetID="22" presetSubtype="8" repeatCount="1000">
                                  <p:stCondLst>
                                    <p:cond delay="0"/>
                                  </p:stCondLst>
                                  <p:childTnLst>
                                    <p:set>
                                      <p:cBhvr>
                                        <p:cTn id="561" dur="1" fill="hold">
                                          <p:stCondLst>
                                            <p:cond delay="0"/>
                                          </p:stCondLst>
                                        </p:cTn>
                                        <p:tgtEl>
                                          <p:spTgt spid="190"/>
                                        </p:tgtEl>
                                        <p:attrNameLst>
                                          <p:attrName>style.visibility</p:attrName>
                                        </p:attrNameLst>
                                      </p:cBhvr>
                                      <p:to>
                                        <p:strVal val="visible"/>
                                      </p:to>
                                    </p:set>
                                    <p:animEffect filter="wipe(left)" transition="in">
                                      <p:cBhvr additive="repl">
                                        <p:cTn id="562" dur="2000"/>
                                        <p:tgtEl>
                                          <p:spTgt spid="190"/>
                                        </p:tgtEl>
                                      </p:cBhvr>
                                    </p:animEffect>
                                  </p:childTnLst>
                                </p:cTn>
                              </p:par>
                            </p:childTnLst>
                          </p:cTn>
                        </p:par>
                      </p:childTnLst>
                    </p:cTn>
                  </p:par>
                  <p:par>
                    <p:cTn id="563" nodeType="clickEffect" fill="hold">
                      <p:stCondLst>
                        <p:cond delay="indefinite"/>
                      </p:stCondLst>
                      <p:childTnLst>
                        <p:par>
                          <p:cTn id="564" nodeType="withEffect" fill="hold">
                            <p:stCondLst>
                              <p:cond delay="0"/>
                            </p:stCondLst>
                            <p:childTnLst>
                              <p:par>
                                <p:cTn id="565" nodeType="clickEffect" fill="hold" presetClass="entr" presetID="9">
                                  <p:stCondLst>
                                    <p:cond delay="0"/>
                                  </p:stCondLst>
                                  <p:childTnLst>
                                    <p:set>
                                      <p:cBhvr>
                                        <p:cTn id="566" dur="1" fill="hold">
                                          <p:stCondLst>
                                            <p:cond delay="0"/>
                                          </p:stCondLst>
                                        </p:cTn>
                                        <p:tgtEl>
                                          <p:spTgt spid="192"/>
                                        </p:tgtEl>
                                        <p:attrNameLst>
                                          <p:attrName>style.visibility</p:attrName>
                                        </p:attrNameLst>
                                      </p:cBhvr>
                                      <p:to>
                                        <p:strVal val="visible"/>
                                      </p:to>
                                    </p:set>
                                    <p:animEffect filter="dissolve" transition="in">
                                      <p:cBhvr additive="repl">
                                        <p:cTn id="567" dur="500"/>
                                        <p:tgtEl>
                                          <p:spTgt spid="192"/>
                                        </p:tgtEl>
                                      </p:cBhvr>
                                    </p:animEffect>
                                  </p:childTnLst>
                                </p:cTn>
                              </p:par>
                            </p:childTnLst>
                          </p:cTn>
                        </p:par>
                        <p:par>
                          <p:cTn id="568" nodeType="afterEffect" fill="hold">
                            <p:stCondLst>
                              <p:cond delay="500"/>
                            </p:stCondLst>
                            <p:childTnLst>
                              <p:par>
                                <p:cTn id="569" nodeType="afterEffect" fill="hold" presetClass="entr" presetID="9">
                                  <p:stCondLst>
                                    <p:cond delay="1000"/>
                                  </p:stCondLst>
                                  <p:childTnLst>
                                    <p:set>
                                      <p:cBhvr>
                                        <p:cTn id="570" dur="1" fill="hold">
                                          <p:stCondLst>
                                            <p:cond delay="0"/>
                                          </p:stCondLst>
                                        </p:cTn>
                                        <p:tgtEl>
                                          <p:spTgt spid="191">
                                            <p:txEl>
                                              <p:pRg st="0" end="0"/>
                                            </p:txEl>
                                          </p:spTgt>
                                        </p:tgtEl>
                                        <p:attrNameLst>
                                          <p:attrName>style.visibility</p:attrName>
                                        </p:attrNameLst>
                                      </p:cBhvr>
                                      <p:to>
                                        <p:strVal val="visible"/>
                                      </p:to>
                                    </p:set>
                                    <p:animEffect filter="dissolve" transition="in">
                                      <p:cBhvr additive="repl">
                                        <p:cTn id="571" dur="500"/>
                                        <p:tgtEl>
                                          <p:spTgt spid="191">
                                            <p:txEl>
                                              <p:pRg st="0" end="0"/>
                                            </p:txEl>
                                          </p:spTgt>
                                        </p:tgtEl>
                                      </p:cBhvr>
                                    </p:animEffect>
                                  </p:childTnLst>
                                </p:cTn>
                              </p:par>
                              <p:animClr clrSpc="rgb">
                                <p:cBhvr>
                                  <p:cTn id="572" dur="1" fill="hold">
                                    <p:stCondLst>
                                      <p:cond delay="1000"/>
                                    </p:stCondLst>
                                  </p:cTn>
                                  <p:tgtEl>
                                    <p:spTgt spid="192"/>
                                  </p:tgtEl>
                                  <p:attrNameLst>
                                    <p:attrName>ppt_c</p:attrName>
                                  </p:attrNameLst>
                                </p:cBhvr>
                                <p:to>
                                  <a:srgbClr val="ccccff"/>
                                </p:to>
                              </p:animClr>
                            </p:childTnLst>
                          </p:cTn>
                        </p:par>
                        <p:par>
                          <p:cTn id="573" nodeType="afterEffect" fill="hold">
                            <p:stCondLst>
                              <p:cond delay="2000"/>
                            </p:stCondLst>
                            <p:childTnLst>
                              <p:par>
                                <p:cTn id="574" nodeType="afterEffect" fill="hold" presetClass="entr" presetID="9">
                                  <p:stCondLst>
                                    <p:cond delay="2000"/>
                                  </p:stCondLst>
                                  <p:childTnLst>
                                    <p:set>
                                      <p:cBhvr>
                                        <p:cTn id="575" dur="1" fill="hold">
                                          <p:stCondLst>
                                            <p:cond delay="0"/>
                                          </p:stCondLst>
                                        </p:cTn>
                                        <p:tgtEl>
                                          <p:spTgt spid="193"/>
                                        </p:tgtEl>
                                        <p:attrNameLst>
                                          <p:attrName>style.visibility</p:attrName>
                                        </p:attrNameLst>
                                      </p:cBhvr>
                                      <p:to>
                                        <p:strVal val="visible"/>
                                      </p:to>
                                    </p:set>
                                    <p:animEffect filter="dissolve" transition="in">
                                      <p:cBhvr additive="repl">
                                        <p:cTn id="576" dur="500"/>
                                        <p:tgtEl>
                                          <p:spTgt spid="193"/>
                                        </p:tgtEl>
                                      </p:cBhvr>
                                    </p:animEffect>
                                  </p:childTnLst>
                                </p:cTn>
                              </p:par>
                              <p:animClr clrSpc="rgb">
                                <p:cBhvr>
                                  <p:cTn id="577" dur="1" fill="hold">
                                    <p:stCondLst>
                                      <p:cond delay="2000"/>
                                    </p:stCondLst>
                                  </p:cTn>
                                  <p:tgtEl>
                                    <p:spTgt spid="191">
                                      <p:txEl>
                                        <p:pRg st="0" end="0"/>
                                      </p:txEl>
                                    </p:spTgt>
                                  </p:tgtEl>
                                  <p:attrNameLst>
                                    <p:attrName>ppt_c</p:attrName>
                                  </p:attrNameLst>
                                </p:cBhvr>
                                <p:to>
                                  <a:srgbClr val="ccccff"/>
                                </p:to>
                              </p:animClr>
                            </p:childTnLst>
                          </p:cTn>
                        </p:par>
                        <p:par>
                          <p:cTn id="578" nodeType="afterEffect" fill="hold">
                            <p:stCondLst>
                              <p:cond delay="4500"/>
                            </p:stCondLst>
                            <p:childTnLst>
                              <p:par>
                                <p:cTn id="579" nodeType="afterEffect" fill="hold" presetClass="entr" presetID="9">
                                  <p:stCondLst>
                                    <p:cond delay="0"/>
                                  </p:stCondLst>
                                  <p:childTnLst>
                                    <p:set>
                                      <p:cBhvr>
                                        <p:cTn id="580" dur="1" fill="hold">
                                          <p:stCondLst>
                                            <p:cond delay="0"/>
                                          </p:stCondLst>
                                        </p:cTn>
                                        <p:tgtEl>
                                          <p:spTgt spid="196"/>
                                        </p:tgtEl>
                                        <p:attrNameLst>
                                          <p:attrName>style.visibility</p:attrName>
                                        </p:attrNameLst>
                                      </p:cBhvr>
                                      <p:to>
                                        <p:strVal val="visible"/>
                                      </p:to>
                                    </p:set>
                                    <p:animEffect filter="dissolve" transition="in">
                                      <p:cBhvr additive="repl">
                                        <p:cTn id="581" dur="500"/>
                                        <p:tgtEl>
                                          <p:spTgt spid="196"/>
                                        </p:tgtEl>
                                      </p:cBhvr>
                                    </p:animEffect>
                                  </p:childTnLst>
                                </p:cTn>
                              </p:par>
                              <p:animClr clrSpc="rgb">
                                <p:cBhvr>
                                  <p:cTn id="582" dur="1" fill="hold">
                                    <p:stCondLst>
                                      <p:cond delay="0"/>
                                    </p:stCondLst>
                                  </p:cTn>
                                  <p:tgtEl>
                                    <p:spTgt spid="193"/>
                                  </p:tgtEl>
                                  <p:attrNameLst>
                                    <p:attrName>ppt_c</p:attrName>
                                  </p:attrNameLst>
                                </p:cBhvr>
                                <p:to>
                                  <a:srgbClr val="ccccff"/>
                                </p:to>
                              </p:animClr>
                            </p:childTnLst>
                          </p:cTn>
                        </p:par>
                      </p:childTnLst>
                    </p:cTn>
                  </p:par>
                  <p:par>
                    <p:cTn id="583" nodeType="clickEffect" fill="hold">
                      <p:stCondLst>
                        <p:cond delay="indefinite"/>
                      </p:stCondLst>
                      <p:childTnLst>
                        <p:par>
                          <p:cTn id="584" nodeType="withEffect" fill="hold">
                            <p:stCondLst>
                              <p:cond delay="0"/>
                            </p:stCondLst>
                            <p:childTnLst>
                              <p:par>
                                <p:cTn id="585" nodeType="clickEffect" fill="hold" presetClass="entr" presetID="22" presetSubtype="8" repeatCount="1000">
                                  <p:stCondLst>
                                    <p:cond delay="0"/>
                                  </p:stCondLst>
                                  <p:childTnLst>
                                    <p:set>
                                      <p:cBhvr>
                                        <p:cTn id="586" dur="1" fill="hold">
                                          <p:stCondLst>
                                            <p:cond delay="0"/>
                                          </p:stCondLst>
                                        </p:cTn>
                                        <p:tgtEl>
                                          <p:spTgt spid="197"/>
                                        </p:tgtEl>
                                        <p:attrNameLst>
                                          <p:attrName>style.visibility</p:attrName>
                                        </p:attrNameLst>
                                      </p:cBhvr>
                                      <p:to>
                                        <p:strVal val="visible"/>
                                      </p:to>
                                    </p:set>
                                    <p:animEffect filter="wipe(left)" transition="in">
                                      <p:cBhvr additive="repl">
                                        <p:cTn id="587" dur="1500"/>
                                        <p:tgtEl>
                                          <p:spTgt spid="197"/>
                                        </p:tgtEl>
                                      </p:cBhvr>
                                    </p:animEffect>
                                  </p:childTnLst>
                                </p:cTn>
                              </p:par>
                              <p:animClr clrSpc="rgb">
                                <p:cBhvr>
                                  <p:cTn id="588" dur="1" fill="hold">
                                    <p:stCondLst>
                                      <p:cond delay="0"/>
                                    </p:stCondLst>
                                  </p:cTn>
                                  <p:tgtEl>
                                    <p:spTgt spid="196"/>
                                  </p:tgtEl>
                                  <p:attrNameLst>
                                    <p:attrName>ppt_c</p:attrName>
                                  </p:attrNameLst>
                                </p:cBhvr>
                                <p:to>
                                  <a:srgbClr val="ccccff"/>
                                </p:to>
                              </p:animClr>
                            </p:childTnLst>
                          </p:cTn>
                        </p:par>
                        <p:par>
                          <p:cTn id="589" nodeType="afterEffect" fill="hold">
                            <p:stCondLst>
                              <p:cond delay="1500"/>
                            </p:stCondLst>
                            <p:childTnLst>
                              <p:par>
                                <p:cTn id="590" nodeType="afterEffect" fill="hold" presetClass="entr" presetID="9">
                                  <p:stCondLst>
                                    <p:cond delay="0"/>
                                  </p:stCondLst>
                                  <p:childTnLst>
                                    <p:set>
                                      <p:cBhvr>
                                        <p:cTn id="591" dur="1" fill="hold">
                                          <p:stCondLst>
                                            <p:cond delay="0"/>
                                          </p:stCondLst>
                                        </p:cTn>
                                        <p:tgtEl>
                                          <p:spTgt spid="195"/>
                                        </p:tgtEl>
                                        <p:attrNameLst>
                                          <p:attrName>style.visibility</p:attrName>
                                        </p:attrNameLst>
                                      </p:cBhvr>
                                      <p:to>
                                        <p:strVal val="visible"/>
                                      </p:to>
                                    </p:set>
                                    <p:animEffect filter="dissolve" transition="in">
                                      <p:cBhvr additive="repl">
                                        <p:cTn id="592" dur="500"/>
                                        <p:tgtEl>
                                          <p:spTgt spid="195"/>
                                        </p:tgtEl>
                                      </p:cBhvr>
                                    </p:animEffect>
                                  </p:childTnLst>
                                </p:cTn>
                              </p:par>
                            </p:childTnLst>
                          </p:cTn>
                        </p:par>
                        <p:par>
                          <p:cTn id="593" nodeType="afterEffect" fill="hold">
                            <p:stCondLst>
                              <p:cond delay="2000"/>
                            </p:stCondLst>
                            <p:childTnLst>
                              <p:par>
                                <p:cTn id="594" nodeType="afterEffect" fill="hold" presetClass="entr" presetID="9">
                                  <p:stCondLst>
                                    <p:cond delay="2000"/>
                                  </p:stCondLst>
                                  <p:childTnLst>
                                    <p:set>
                                      <p:cBhvr>
                                        <p:cTn id="595" dur="1" fill="hold">
                                          <p:stCondLst>
                                            <p:cond delay="0"/>
                                          </p:stCondLst>
                                        </p:cTn>
                                        <p:tgtEl>
                                          <p:spTgt spid="194"/>
                                        </p:tgtEl>
                                        <p:attrNameLst>
                                          <p:attrName>style.visibility</p:attrName>
                                        </p:attrNameLst>
                                      </p:cBhvr>
                                      <p:to>
                                        <p:strVal val="visible"/>
                                      </p:to>
                                    </p:set>
                                    <p:animEffect filter="dissolve" transition="in">
                                      <p:cBhvr additive="repl">
                                        <p:cTn id="596" dur="500"/>
                                        <p:tgtEl>
                                          <p:spTgt spid="194"/>
                                        </p:tgtEl>
                                      </p:cBhvr>
                                    </p:animEffect>
                                  </p:childTnLst>
                                </p:cTn>
                              </p:par>
                              <p:animClr clrSpc="rgb">
                                <p:cBhvr>
                                  <p:cTn id="597" dur="1" fill="hold">
                                    <p:stCondLst>
                                      <p:cond delay="2000"/>
                                    </p:stCondLst>
                                  </p:cTn>
                                  <p:tgtEl>
                                    <p:spTgt spid="195"/>
                                  </p:tgtEl>
                                  <p:attrNameLst>
                                    <p:attrName>ppt_c</p:attrName>
                                  </p:attrNameLst>
                                </p:cBhvr>
                                <p:to>
                                  <a:srgbClr val="ccccff"/>
                                </p:to>
                              </p:animCl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Rectangle 1"/>
          <p:cNvSpPr/>
          <p:nvPr/>
        </p:nvSpPr>
        <p:spPr>
          <a:xfrm>
            <a:off x="0" y="657360"/>
            <a:ext cx="9144000" cy="832356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Les contraintes mécaniques exercées sur l’os : tensions musculaires, gravité, force de réaction au sol…sont nécessaires pour stimuler sa </a:t>
            </a:r>
            <a:r>
              <a:rPr b="0" i="1" lang="fr-FR" sz="2400" strike="noStrike" u="none">
                <a:solidFill>
                  <a:srgbClr val="ffffff"/>
                </a:solidFill>
                <a:effectLst/>
                <a:uFillTx/>
                <a:latin typeface="Calibri"/>
                <a:ea typeface="Calibri"/>
              </a:rPr>
              <a:t>minéralisation</a:t>
            </a:r>
            <a:r>
              <a:rPr b="0" lang="fr-FR" sz="2400" strike="noStrike" u="none">
                <a:solidFill>
                  <a:srgbClr val="ffff00"/>
                </a:solidFill>
                <a:effectLst/>
                <a:uFillTx/>
                <a:latin typeface="Calibri"/>
                <a:ea typeface="Calibri"/>
              </a:rPr>
              <a:t>.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L’importance de la minéralisation dépend des caractéristiques des contraintes mécaniques : </a:t>
            </a:r>
            <a:r>
              <a:rPr b="0" lang="fr-FR" sz="2400" strike="noStrike" u="none">
                <a:solidFill>
                  <a:srgbClr val="ffffff"/>
                </a:solidFill>
                <a:effectLst/>
                <a:uFillTx/>
                <a:latin typeface="Calibri"/>
                <a:ea typeface="Calibri"/>
              </a:rPr>
              <a:t>amplitude, fréquence, vitesse de mise en charge, modalités : compression, flexion, torsion, traction, cisaillement</a:t>
            </a:r>
            <a:r>
              <a:rPr b="0" lang="fr-FR" sz="2400" strike="noStrike" u="none">
                <a:solidFill>
                  <a:srgbClr val="ffff00"/>
                </a:solidFill>
                <a:effectLst/>
                <a:uFillTx/>
                <a:latin typeface="Calibri"/>
                <a:ea typeface="Calibri"/>
              </a:rPr>
              <a:t>…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Dans cette même perspective, les contraintes de type dynamique, très variées, s’avèrent plus efficaces que les contraintes statiques surtout en période de croissance où la sensibilité du tissu osseux en est plus importante. </a:t>
            </a:r>
            <a:endParaRPr b="0" lang="en-US" sz="2400" strike="noStrike" u="none">
              <a:solidFill>
                <a:srgbClr val="ffff00"/>
              </a:solidFill>
              <a:effectLst/>
              <a:uFillTx/>
              <a:latin typeface="Times New Roman"/>
            </a:endParaRPr>
          </a:p>
        </p:txBody>
      </p:sp>
      <p:sp>
        <p:nvSpPr>
          <p:cNvPr id="199" name="ZoneTexte 2"/>
          <p:cNvSpPr/>
          <p:nvPr/>
        </p:nvSpPr>
        <p:spPr>
          <a:xfrm>
            <a:off x="3184200" y="130320"/>
            <a:ext cx="194688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200" strike="noStrike" u="none">
                <a:solidFill>
                  <a:srgbClr val="ffffff"/>
                </a:solidFill>
                <a:effectLst/>
                <a:uFillTx/>
                <a:latin typeface="Comic Sans MS"/>
              </a:rPr>
              <a:t>En outre….</a:t>
            </a:r>
            <a:endParaRPr b="0" lang="en-US" sz="3200" strike="noStrike" u="none">
              <a:solidFill>
                <a:srgbClr val="ffff00"/>
              </a:solidFill>
              <a:effectLst/>
              <a:uFillTx/>
              <a:latin typeface="Times New Roman"/>
            </a:endParaRPr>
          </a:p>
        </p:txBody>
      </p:sp>
    </p:spTree>
  </p:cSld>
  <p:transition spd="med">
    <p:zoom dir="out"/>
  </p:transition>
  <p:timing>
    <p:tnLst>
      <p:par>
        <p:cTn id="598" dur="indefinite" restart="never" nodeType="tmRoot">
          <p:childTnLst>
            <p:seq>
              <p:cTn id="599" dur="indefinite" nodeType="mainSeq">
                <p:childTnLst>
                  <p:par>
                    <p:cTn id="600" nodeType="clickEffect" fill="hold">
                      <p:stCondLst>
                        <p:cond delay="indefinite"/>
                      </p:stCondLst>
                      <p:childTnLst>
                        <p:par>
                          <p:cTn id="601" nodeType="withEffect" fill="hold">
                            <p:stCondLst>
                              <p:cond delay="0"/>
                            </p:stCondLst>
                            <p:childTnLst>
                              <p:par>
                                <p:cTn id="602" nodeType="clickEffect" fill="hold" presetClass="entr" presetID="22" presetSubtype="8">
                                  <p:stCondLst>
                                    <p:cond delay="0"/>
                                  </p:stCondLst>
                                  <p:childTnLst>
                                    <p:set>
                                      <p:cBhvr>
                                        <p:cTn id="603" dur="1" fill="hold">
                                          <p:stCondLst>
                                            <p:cond delay="0"/>
                                          </p:stCondLst>
                                        </p:cTn>
                                        <p:tgtEl>
                                          <p:spTgt spid="198">
                                            <p:txEl>
                                              <p:pRg st="0" end="0"/>
                                            </p:txEl>
                                          </p:spTgt>
                                        </p:tgtEl>
                                        <p:attrNameLst>
                                          <p:attrName>style.visibility</p:attrName>
                                        </p:attrNameLst>
                                      </p:cBhvr>
                                      <p:to>
                                        <p:strVal val="visible"/>
                                      </p:to>
                                    </p:set>
                                    <p:animEffect filter="wipe(left)" transition="in">
                                      <p:cBhvr additive="repl">
                                        <p:cTn id="604" dur="500"/>
                                        <p:tgtEl>
                                          <p:spTgt spid="198">
                                            <p:txEl>
                                              <p:pRg st="0" end="0"/>
                                            </p:txEl>
                                          </p:spTgt>
                                        </p:tgtEl>
                                      </p:cBhvr>
                                    </p:animEffect>
                                  </p:childTnLst>
                                </p:cTn>
                              </p:par>
                            </p:childTnLst>
                          </p:cTn>
                        </p:par>
                      </p:childTnLst>
                    </p:cTn>
                  </p:par>
                  <p:par>
                    <p:cTn id="605" nodeType="clickEffect" fill="hold">
                      <p:stCondLst>
                        <p:cond delay="indefinite"/>
                      </p:stCondLst>
                      <p:childTnLst>
                        <p:par>
                          <p:cTn id="606" nodeType="withEffect" fill="hold">
                            <p:stCondLst>
                              <p:cond delay="0"/>
                            </p:stCondLst>
                            <p:childTnLst>
                              <p:par>
                                <p:cTn id="607" nodeType="clickEffect" fill="hold" presetClass="entr" presetID="22" presetSubtype="4">
                                  <p:stCondLst>
                                    <p:cond delay="0"/>
                                  </p:stCondLst>
                                  <p:childTnLst>
                                    <p:set>
                                      <p:cBhvr>
                                        <p:cTn id="608" dur="1" fill="hold">
                                          <p:stCondLst>
                                            <p:cond delay="0"/>
                                          </p:stCondLst>
                                        </p:cTn>
                                        <p:tgtEl>
                                          <p:spTgt spid="198">
                                            <p:txEl>
                                              <p:pRg st="1" end="1"/>
                                            </p:txEl>
                                          </p:spTgt>
                                        </p:tgtEl>
                                        <p:attrNameLst>
                                          <p:attrName>style.visibility</p:attrName>
                                        </p:attrNameLst>
                                      </p:cBhvr>
                                      <p:to>
                                        <p:strVal val="visible"/>
                                      </p:to>
                                    </p:set>
                                    <p:animEffect filter="wipe(down)" transition="in">
                                      <p:cBhvr additive="repl">
                                        <p:cTn id="609" dur="500"/>
                                        <p:tgtEl>
                                          <p:spTgt spid="198">
                                            <p:txEl>
                                              <p:pRg st="1" end="1"/>
                                            </p:txEl>
                                          </p:spTgt>
                                        </p:tgtEl>
                                      </p:cBhvr>
                                    </p:animEffect>
                                  </p:childTnLst>
                                </p:cTn>
                              </p:par>
                            </p:childTnLst>
                          </p:cTn>
                        </p:par>
                      </p:childTnLst>
                    </p:cTn>
                  </p:par>
                  <p:par>
                    <p:cTn id="610" nodeType="clickEffect" fill="hold">
                      <p:stCondLst>
                        <p:cond delay="indefinite"/>
                      </p:stCondLst>
                      <p:childTnLst>
                        <p:par>
                          <p:cTn id="611" nodeType="withEffect" fill="hold">
                            <p:stCondLst>
                              <p:cond delay="0"/>
                            </p:stCondLst>
                            <p:childTnLst>
                              <p:par>
                                <p:cTn id="612" nodeType="clickEffect" fill="hold" presetClass="entr" presetID="22" presetSubtype="4">
                                  <p:stCondLst>
                                    <p:cond delay="0"/>
                                  </p:stCondLst>
                                  <p:childTnLst>
                                    <p:set>
                                      <p:cBhvr>
                                        <p:cTn id="613" dur="1" fill="hold">
                                          <p:stCondLst>
                                            <p:cond delay="0"/>
                                          </p:stCondLst>
                                        </p:cTn>
                                        <p:tgtEl>
                                          <p:spTgt spid="198">
                                            <p:txEl>
                                              <p:pRg st="3" end="3"/>
                                            </p:txEl>
                                          </p:spTgt>
                                        </p:tgtEl>
                                        <p:attrNameLst>
                                          <p:attrName>style.visibility</p:attrName>
                                        </p:attrNameLst>
                                      </p:cBhvr>
                                      <p:to>
                                        <p:strVal val="visible"/>
                                      </p:to>
                                    </p:set>
                                    <p:animEffect filter="wipe(down)" transition="in">
                                      <p:cBhvr additive="repl">
                                        <p:cTn id="614" dur="500"/>
                                        <p:tgtEl>
                                          <p:spTgt spid="198">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ZoneTexte 1"/>
          <p:cNvSpPr/>
          <p:nvPr/>
        </p:nvSpPr>
        <p:spPr>
          <a:xfrm>
            <a:off x="-2224080" y="189000"/>
            <a:ext cx="13817880" cy="670752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Courbes de croissance en longueur et en épaisseur évoluent parallèlement ce qui</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permet  de conserver l’intégrité du squelette.</a:t>
            </a:r>
            <a:endParaRPr b="0" lang="en-US" sz="2000" strike="noStrike" u="none">
              <a:solidFill>
                <a:srgbClr val="ffff00"/>
              </a:solidFill>
              <a:effectLst/>
              <a:uFillTx/>
              <a:latin typeface="Times New Roman"/>
            </a:endParaRPr>
          </a:p>
          <a:p>
            <a:pPr>
              <a:lnSpc>
                <a:spcPts val="19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C’est aussi à ces âges que la minéralisation de l’os est la plus importante, ce qui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confère aux os une plus forte résistance.</a:t>
            </a:r>
            <a:endParaRPr b="0" lang="en-US" sz="2000" strike="noStrike" u="none">
              <a:solidFill>
                <a:srgbClr val="ffff00"/>
              </a:solidFill>
              <a:effectLst/>
              <a:uFillTx/>
              <a:latin typeface="Times New Roman"/>
            </a:endParaRPr>
          </a:p>
          <a:p>
            <a:pPr>
              <a:lnSpc>
                <a:spcPts val="19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0000"/>
                </a:solidFill>
                <a:effectLst/>
                <a:uFillTx/>
                <a:latin typeface="Calibri"/>
                <a:ea typeface="Calibri"/>
              </a:rPr>
              <a:t>Mais attention !! </a:t>
            </a:r>
            <a:r>
              <a:rPr b="0" lang="fr-FR" sz="2000" strike="noStrike" u="none">
                <a:solidFill>
                  <a:srgbClr val="ffff00"/>
                </a:solidFill>
                <a:effectLst/>
                <a:uFillTx/>
                <a:latin typeface="Calibri"/>
                <a:ea typeface="Calibri"/>
              </a:rPr>
              <a:t>le pic de minéralisation osseuse  n’intervient </a:t>
            </a:r>
            <a:r>
              <a:rPr b="1" i="1" lang="fr-FR" sz="2000" strike="noStrike" u="none">
                <a:solidFill>
                  <a:srgbClr val="ffffff"/>
                </a:solidFill>
                <a:effectLst/>
                <a:uFillTx/>
                <a:latin typeface="Calibri"/>
                <a:ea typeface="Calibri"/>
              </a:rPr>
              <a:t>que 6 à 18 mois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ff"/>
                </a:solidFill>
                <a:effectLst/>
                <a:uFillTx/>
                <a:latin typeface="Calibri"/>
                <a:ea typeface="Calibri"/>
              </a:rPr>
              <a:t>après le pic de croissance maximale</a:t>
            </a:r>
            <a:r>
              <a:rPr b="0" lang="fr-FR" sz="2000" strike="noStrike" u="none">
                <a:solidFill>
                  <a:srgbClr val="ffff00"/>
                </a:solidFill>
                <a:effectLst/>
                <a:uFillTx/>
                <a:latin typeface="Calibri"/>
                <a:ea typeface="Calibri"/>
              </a:rPr>
              <a:t>, décalage au cours duquel le squelette présente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une  période de relative  fragilité. Cette fragilité osseuse transitoire est maximale au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moment du pic de croissance staturale, au stade P2-P3 de l’échelle de Tanner,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Calibri"/>
              </a:rPr>
              <a:t>soit entre 11 et 12 ans chez la fille et 13 et 14 ans chez le garçon.</a:t>
            </a:r>
            <a:endParaRPr b="0" lang="en-US" sz="2000" strike="noStrike" u="none">
              <a:solidFill>
                <a:srgbClr val="ffff00"/>
              </a:solidFill>
              <a:effectLst/>
              <a:uFillTx/>
              <a:latin typeface="Times New Roman"/>
            </a:endParaRPr>
          </a:p>
          <a:p>
            <a:pPr>
              <a:lnSpc>
                <a:spcPts val="19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ff"/>
                </a:solidFill>
                <a:effectLst/>
                <a:uFillTx/>
                <a:latin typeface="Calibri"/>
                <a:ea typeface="Calibri"/>
              </a:rPr>
              <a:t>En conséquence, durant cette période proche et immédiatement post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ff"/>
                </a:solidFill>
                <a:effectLst/>
                <a:uFillTx/>
                <a:latin typeface="Calibri"/>
                <a:ea typeface="Calibri"/>
              </a:rPr>
              <a:t>pic de croissance osseuse, il est plus prudent d’éviter tous exercices,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ff"/>
                </a:solidFill>
                <a:effectLst/>
                <a:uFillTx/>
                <a:latin typeface="Calibri"/>
                <a:ea typeface="Calibri"/>
              </a:rPr>
              <a:t>activités physiques ou sports à fortes contraintes mécaniques.</a:t>
            </a:r>
            <a:endParaRPr b="0" lang="en-US" sz="2400" strike="noStrike" u="none">
              <a:solidFill>
                <a:srgbClr val="ffff00"/>
              </a:solidFill>
              <a:effectLst/>
              <a:uFillTx/>
              <a:latin typeface="Times New Roman"/>
            </a:endParaRPr>
          </a:p>
        </p:txBody>
      </p:sp>
    </p:spTree>
  </p:cSld>
  <p:transition spd="med">
    <p:zoom dir="out"/>
  </p:transition>
  <p:timing>
    <p:tnLst>
      <p:par>
        <p:cTn id="615" dur="indefinite" restart="never" nodeType="tmRoot">
          <p:childTnLst>
            <p:seq>
              <p:cTn id="616" dur="indefinite" nodeType="mainSeq">
                <p:childTnLst>
                  <p:par>
                    <p:cTn id="617" nodeType="clickEffect" fill="hold">
                      <p:stCondLst>
                        <p:cond delay="indefinite"/>
                      </p:stCondLst>
                      <p:childTnLst>
                        <p:par>
                          <p:cTn id="618" nodeType="withEffect" fill="hold">
                            <p:stCondLst>
                              <p:cond delay="0"/>
                            </p:stCondLst>
                            <p:childTnLst>
                              <p:par>
                                <p:cTn id="619" nodeType="clickEffect" fill="hold" presetClass="entr" presetID="22" presetSubtype="8">
                                  <p:stCondLst>
                                    <p:cond delay="0"/>
                                  </p:stCondLst>
                                  <p:childTnLst>
                                    <p:set>
                                      <p:cBhvr>
                                        <p:cTn id="620" dur="1" fill="hold">
                                          <p:stCondLst>
                                            <p:cond delay="0"/>
                                          </p:stCondLst>
                                        </p:cTn>
                                        <p:tgtEl>
                                          <p:spTgt spid="200">
                                            <p:txEl>
                                              <p:pRg st="0" end="0"/>
                                            </p:txEl>
                                          </p:spTgt>
                                        </p:tgtEl>
                                        <p:attrNameLst>
                                          <p:attrName>style.visibility</p:attrName>
                                        </p:attrNameLst>
                                      </p:cBhvr>
                                      <p:to>
                                        <p:strVal val="visible"/>
                                      </p:to>
                                    </p:set>
                                    <p:animEffect filter="wipe(left)" transition="in">
                                      <p:cBhvr additive="repl">
                                        <p:cTn id="621" dur="500"/>
                                        <p:tgtEl>
                                          <p:spTgt spid="200">
                                            <p:txEl>
                                              <p:pRg st="0" end="0"/>
                                            </p:txEl>
                                          </p:spTgt>
                                        </p:tgtEl>
                                      </p:cBhvr>
                                    </p:animEffect>
                                  </p:childTnLst>
                                </p:cTn>
                              </p:par>
                              <p:par>
                                <p:cTn id="622" nodeType="withEffect" fill="hold" presetClass="entr" presetID="22" presetSubtype="8">
                                  <p:stCondLst>
                                    <p:cond delay="0"/>
                                  </p:stCondLst>
                                  <p:childTnLst>
                                    <p:set>
                                      <p:cBhvr>
                                        <p:cTn id="623" dur="1" fill="hold">
                                          <p:stCondLst>
                                            <p:cond delay="0"/>
                                          </p:stCondLst>
                                        </p:cTn>
                                        <p:tgtEl>
                                          <p:spTgt spid="200">
                                            <p:txEl>
                                              <p:pRg st="1" end="1"/>
                                            </p:txEl>
                                          </p:spTgt>
                                        </p:tgtEl>
                                        <p:attrNameLst>
                                          <p:attrName>style.visibility</p:attrName>
                                        </p:attrNameLst>
                                      </p:cBhvr>
                                      <p:to>
                                        <p:strVal val="visible"/>
                                      </p:to>
                                    </p:set>
                                    <p:animEffect filter="wipe(left)" transition="in">
                                      <p:cBhvr additive="repl">
                                        <p:cTn id="624" dur="500"/>
                                        <p:tgtEl>
                                          <p:spTgt spid="200">
                                            <p:txEl>
                                              <p:pRg st="1" end="1"/>
                                            </p:txEl>
                                          </p:spTgt>
                                        </p:tgtEl>
                                      </p:cBhvr>
                                    </p:animEffect>
                                  </p:childTnLst>
                                </p:cTn>
                              </p:par>
                            </p:childTnLst>
                          </p:cTn>
                        </p:par>
                      </p:childTnLst>
                    </p:cTn>
                  </p:par>
                  <p:par>
                    <p:cTn id="625" nodeType="clickEffect" fill="hold">
                      <p:stCondLst>
                        <p:cond delay="indefinite"/>
                      </p:stCondLst>
                      <p:childTnLst>
                        <p:par>
                          <p:cTn id="626" nodeType="withEffect" fill="hold">
                            <p:stCondLst>
                              <p:cond delay="0"/>
                            </p:stCondLst>
                            <p:childTnLst>
                              <p:par>
                                <p:cTn id="627" nodeType="clickEffect" fill="hold" presetClass="entr" presetID="22" presetSubtype="8">
                                  <p:stCondLst>
                                    <p:cond delay="0"/>
                                  </p:stCondLst>
                                  <p:childTnLst>
                                    <p:set>
                                      <p:cBhvr>
                                        <p:cTn id="628" dur="1" fill="hold">
                                          <p:stCondLst>
                                            <p:cond delay="0"/>
                                          </p:stCondLst>
                                        </p:cTn>
                                        <p:tgtEl>
                                          <p:spTgt spid="200">
                                            <p:txEl>
                                              <p:pRg st="3" end="3"/>
                                            </p:txEl>
                                          </p:spTgt>
                                        </p:tgtEl>
                                        <p:attrNameLst>
                                          <p:attrName>style.visibility</p:attrName>
                                        </p:attrNameLst>
                                      </p:cBhvr>
                                      <p:to>
                                        <p:strVal val="visible"/>
                                      </p:to>
                                    </p:set>
                                    <p:animEffect filter="wipe(left)" transition="in">
                                      <p:cBhvr additive="repl">
                                        <p:cTn id="629" dur="500"/>
                                        <p:tgtEl>
                                          <p:spTgt spid="200">
                                            <p:txEl>
                                              <p:pRg st="3" end="3"/>
                                            </p:txEl>
                                          </p:spTgt>
                                        </p:tgtEl>
                                      </p:cBhvr>
                                    </p:animEffect>
                                  </p:childTnLst>
                                </p:cTn>
                              </p:par>
                              <p:par>
                                <p:cTn id="630" nodeType="withEffect" fill="hold" presetClass="entr" presetID="22" presetSubtype="8">
                                  <p:stCondLst>
                                    <p:cond delay="0"/>
                                  </p:stCondLst>
                                  <p:childTnLst>
                                    <p:set>
                                      <p:cBhvr>
                                        <p:cTn id="631" dur="1" fill="hold">
                                          <p:stCondLst>
                                            <p:cond delay="0"/>
                                          </p:stCondLst>
                                        </p:cTn>
                                        <p:tgtEl>
                                          <p:spTgt spid="200">
                                            <p:txEl>
                                              <p:pRg st="4" end="4"/>
                                            </p:txEl>
                                          </p:spTgt>
                                        </p:tgtEl>
                                        <p:attrNameLst>
                                          <p:attrName>style.visibility</p:attrName>
                                        </p:attrNameLst>
                                      </p:cBhvr>
                                      <p:to>
                                        <p:strVal val="visible"/>
                                      </p:to>
                                    </p:set>
                                    <p:animEffect filter="wipe(left)" transition="in">
                                      <p:cBhvr additive="repl">
                                        <p:cTn id="632" dur="500"/>
                                        <p:tgtEl>
                                          <p:spTgt spid="200">
                                            <p:txEl>
                                              <p:pRg st="4" end="4"/>
                                            </p:txEl>
                                          </p:spTgt>
                                        </p:tgtEl>
                                      </p:cBhvr>
                                    </p:animEffect>
                                  </p:childTnLst>
                                </p:cTn>
                              </p:par>
                            </p:childTnLst>
                          </p:cTn>
                        </p:par>
                      </p:childTnLst>
                    </p:cTn>
                  </p:par>
                  <p:par>
                    <p:cTn id="633" nodeType="clickEffect" fill="hold">
                      <p:stCondLst>
                        <p:cond delay="indefinite"/>
                      </p:stCondLst>
                      <p:childTnLst>
                        <p:par>
                          <p:cTn id="634" nodeType="withEffect" fill="hold">
                            <p:stCondLst>
                              <p:cond delay="0"/>
                            </p:stCondLst>
                            <p:childTnLst>
                              <p:par>
                                <p:cTn id="635" nodeType="clickEffect" fill="hold" presetClass="entr" presetID="22" presetSubtype="1">
                                  <p:stCondLst>
                                    <p:cond delay="0"/>
                                  </p:stCondLst>
                                  <p:childTnLst>
                                    <p:set>
                                      <p:cBhvr>
                                        <p:cTn id="636" dur="1" fill="hold">
                                          <p:stCondLst>
                                            <p:cond delay="0"/>
                                          </p:stCondLst>
                                        </p:cTn>
                                        <p:tgtEl>
                                          <p:spTgt spid="200">
                                            <p:txEl>
                                              <p:pRg st="6" end="6"/>
                                            </p:txEl>
                                          </p:spTgt>
                                        </p:tgtEl>
                                        <p:attrNameLst>
                                          <p:attrName>style.visibility</p:attrName>
                                        </p:attrNameLst>
                                      </p:cBhvr>
                                      <p:to>
                                        <p:strVal val="visible"/>
                                      </p:to>
                                    </p:set>
                                    <p:animEffect filter="wipe(up)" transition="in">
                                      <p:cBhvr additive="repl">
                                        <p:cTn id="637" dur="500"/>
                                        <p:tgtEl>
                                          <p:spTgt spid="200">
                                            <p:txEl>
                                              <p:pRg st="6" end="6"/>
                                            </p:txEl>
                                          </p:spTgt>
                                        </p:tgtEl>
                                      </p:cBhvr>
                                    </p:animEffect>
                                  </p:childTnLst>
                                </p:cTn>
                              </p:par>
                            </p:childTnLst>
                          </p:cTn>
                        </p:par>
                      </p:childTnLst>
                    </p:cTn>
                  </p:par>
                  <p:par>
                    <p:cTn id="638" nodeType="clickEffect" fill="hold">
                      <p:stCondLst>
                        <p:cond delay="indefinite"/>
                      </p:stCondLst>
                      <p:childTnLst>
                        <p:par>
                          <p:cTn id="639" nodeType="withEffect" fill="hold">
                            <p:stCondLst>
                              <p:cond delay="0"/>
                            </p:stCondLst>
                            <p:childTnLst>
                              <p:par>
                                <p:cTn id="640" nodeType="clickEffect" fill="hold" presetClass="entr" presetID="22" presetSubtype="1">
                                  <p:stCondLst>
                                    <p:cond delay="0"/>
                                  </p:stCondLst>
                                  <p:childTnLst>
                                    <p:set>
                                      <p:cBhvr>
                                        <p:cTn id="641" dur="1" fill="hold">
                                          <p:stCondLst>
                                            <p:cond delay="0"/>
                                          </p:stCondLst>
                                        </p:cTn>
                                        <p:tgtEl>
                                          <p:spTgt spid="200">
                                            <p:txEl>
                                              <p:pRg st="7" end="7"/>
                                            </p:txEl>
                                          </p:spTgt>
                                        </p:tgtEl>
                                        <p:attrNameLst>
                                          <p:attrName>style.visibility</p:attrName>
                                        </p:attrNameLst>
                                      </p:cBhvr>
                                      <p:to>
                                        <p:strVal val="visible"/>
                                      </p:to>
                                    </p:set>
                                    <p:animEffect filter="wipe(up)" transition="in">
                                      <p:cBhvr additive="repl">
                                        <p:cTn id="642" dur="500"/>
                                        <p:tgtEl>
                                          <p:spTgt spid="200">
                                            <p:txEl>
                                              <p:pRg st="7" end="7"/>
                                            </p:txEl>
                                          </p:spTgt>
                                        </p:tgtEl>
                                      </p:cBhvr>
                                    </p:animEffect>
                                  </p:childTnLst>
                                </p:cTn>
                              </p:par>
                            </p:childTnLst>
                          </p:cTn>
                        </p:par>
                      </p:childTnLst>
                    </p:cTn>
                  </p:par>
                  <p:par>
                    <p:cTn id="643" nodeType="clickEffect" fill="hold">
                      <p:stCondLst>
                        <p:cond delay="indefinite"/>
                      </p:stCondLst>
                      <p:childTnLst>
                        <p:par>
                          <p:cTn id="644" nodeType="withEffect" fill="hold">
                            <p:stCondLst>
                              <p:cond delay="0"/>
                            </p:stCondLst>
                            <p:childTnLst>
                              <p:par>
                                <p:cTn id="645" nodeType="clickEffect" fill="hold" presetClass="entr" presetID="22" presetSubtype="1">
                                  <p:stCondLst>
                                    <p:cond delay="0"/>
                                  </p:stCondLst>
                                  <p:childTnLst>
                                    <p:set>
                                      <p:cBhvr>
                                        <p:cTn id="646" dur="1" fill="hold">
                                          <p:stCondLst>
                                            <p:cond delay="0"/>
                                          </p:stCondLst>
                                        </p:cTn>
                                        <p:tgtEl>
                                          <p:spTgt spid="200">
                                            <p:txEl>
                                              <p:pRg st="8" end="8"/>
                                            </p:txEl>
                                          </p:spTgt>
                                        </p:tgtEl>
                                        <p:attrNameLst>
                                          <p:attrName>style.visibility</p:attrName>
                                        </p:attrNameLst>
                                      </p:cBhvr>
                                      <p:to>
                                        <p:strVal val="visible"/>
                                      </p:to>
                                    </p:set>
                                    <p:animEffect filter="wipe(up)" transition="in">
                                      <p:cBhvr additive="repl">
                                        <p:cTn id="647" dur="500"/>
                                        <p:tgtEl>
                                          <p:spTgt spid="200">
                                            <p:txEl>
                                              <p:pRg st="8" end="8"/>
                                            </p:txEl>
                                          </p:spTgt>
                                        </p:tgtEl>
                                      </p:cBhvr>
                                    </p:animEffect>
                                  </p:childTnLst>
                                </p:cTn>
                              </p:par>
                              <p:par>
                                <p:cTn id="648" nodeType="withEffect" fill="hold" presetClass="entr" presetID="22" presetSubtype="1">
                                  <p:stCondLst>
                                    <p:cond delay="0"/>
                                  </p:stCondLst>
                                  <p:childTnLst>
                                    <p:set>
                                      <p:cBhvr>
                                        <p:cTn id="649" dur="1" fill="hold">
                                          <p:stCondLst>
                                            <p:cond delay="0"/>
                                          </p:stCondLst>
                                        </p:cTn>
                                        <p:tgtEl>
                                          <p:spTgt spid="200">
                                            <p:txEl>
                                              <p:pRg st="9" end="9"/>
                                            </p:txEl>
                                          </p:spTgt>
                                        </p:tgtEl>
                                        <p:attrNameLst>
                                          <p:attrName>style.visibility</p:attrName>
                                        </p:attrNameLst>
                                      </p:cBhvr>
                                      <p:to>
                                        <p:strVal val="visible"/>
                                      </p:to>
                                    </p:set>
                                    <p:animEffect filter="wipe(up)" transition="in">
                                      <p:cBhvr additive="repl">
                                        <p:cTn id="650" dur="500"/>
                                        <p:tgtEl>
                                          <p:spTgt spid="200">
                                            <p:txEl>
                                              <p:pRg st="9" end="9"/>
                                            </p:txEl>
                                          </p:spTgt>
                                        </p:tgtEl>
                                      </p:cBhvr>
                                    </p:animEffect>
                                  </p:childTnLst>
                                </p:cTn>
                              </p:par>
                            </p:childTnLst>
                          </p:cTn>
                        </p:par>
                      </p:childTnLst>
                    </p:cTn>
                  </p:par>
                  <p:par>
                    <p:cTn id="651" nodeType="clickEffect" fill="hold">
                      <p:stCondLst>
                        <p:cond delay="indefinite"/>
                      </p:stCondLst>
                      <p:childTnLst>
                        <p:par>
                          <p:cTn id="652" nodeType="withEffect" fill="hold">
                            <p:stCondLst>
                              <p:cond delay="0"/>
                            </p:stCondLst>
                            <p:childTnLst>
                              <p:par>
                                <p:cTn id="653" nodeType="clickEffect" fill="hold" presetClass="entr" presetID="22" presetSubtype="8" repeatCount="1000">
                                  <p:stCondLst>
                                    <p:cond delay="0"/>
                                  </p:stCondLst>
                                  <p:childTnLst>
                                    <p:set>
                                      <p:cBhvr>
                                        <p:cTn id="654" dur="1" fill="hold">
                                          <p:stCondLst>
                                            <p:cond delay="0"/>
                                          </p:stCondLst>
                                        </p:cTn>
                                        <p:tgtEl>
                                          <p:spTgt spid="200">
                                            <p:txEl>
                                              <p:pRg st="10" end="10"/>
                                            </p:txEl>
                                          </p:spTgt>
                                        </p:tgtEl>
                                        <p:attrNameLst>
                                          <p:attrName>style.visibility</p:attrName>
                                        </p:attrNameLst>
                                      </p:cBhvr>
                                      <p:to>
                                        <p:strVal val="visible"/>
                                      </p:to>
                                    </p:set>
                                    <p:animEffect filter="wipe(left)" transition="in">
                                      <p:cBhvr additive="repl">
                                        <p:cTn id="655" dur="1500"/>
                                        <p:tgtEl>
                                          <p:spTgt spid="200">
                                            <p:txEl>
                                              <p:pRg st="10" end="10"/>
                                            </p:txEl>
                                          </p:spTgt>
                                        </p:tgtEl>
                                      </p:cBhvr>
                                    </p:animEffect>
                                  </p:childTnLst>
                                </p:cTn>
                              </p:par>
                            </p:childTnLst>
                          </p:cTn>
                        </p:par>
                      </p:childTnLst>
                    </p:cTn>
                  </p:par>
                  <p:par>
                    <p:cTn id="656" nodeType="clickEffect" fill="hold">
                      <p:stCondLst>
                        <p:cond delay="indefinite"/>
                      </p:stCondLst>
                      <p:childTnLst>
                        <p:par>
                          <p:cTn id="657" nodeType="withEffect" fill="hold">
                            <p:stCondLst>
                              <p:cond delay="0"/>
                            </p:stCondLst>
                            <p:childTnLst>
                              <p:par>
                                <p:cTn id="658" nodeType="clickEffect" fill="hold" presetClass="entr" presetID="22" presetSubtype="8" repeatCount="1000">
                                  <p:stCondLst>
                                    <p:cond delay="0"/>
                                  </p:stCondLst>
                                  <p:childTnLst>
                                    <p:set>
                                      <p:cBhvr>
                                        <p:cTn id="659" dur="1" fill="hold">
                                          <p:stCondLst>
                                            <p:cond delay="0"/>
                                          </p:stCondLst>
                                        </p:cTn>
                                        <p:tgtEl>
                                          <p:spTgt spid="200">
                                            <p:txEl>
                                              <p:pRg st="12" end="12"/>
                                            </p:txEl>
                                          </p:spTgt>
                                        </p:tgtEl>
                                        <p:attrNameLst>
                                          <p:attrName>style.visibility</p:attrName>
                                        </p:attrNameLst>
                                      </p:cBhvr>
                                      <p:to>
                                        <p:strVal val="visible"/>
                                      </p:to>
                                    </p:set>
                                    <p:animEffect filter="wipe(left)" transition="in">
                                      <p:cBhvr additive="repl">
                                        <p:cTn id="660" dur="1000"/>
                                        <p:tgtEl>
                                          <p:spTgt spid="200">
                                            <p:txEl>
                                              <p:pRg st="12" end="12"/>
                                            </p:txEl>
                                          </p:spTgt>
                                        </p:tgtEl>
                                      </p:cBhvr>
                                    </p:animEffect>
                                  </p:childTnLst>
                                </p:cTn>
                              </p:par>
                            </p:childTnLst>
                          </p:cTn>
                        </p:par>
                        <p:par>
                          <p:cTn id="661" nodeType="afterEffect" fill="hold">
                            <p:stCondLst>
                              <p:cond delay="1000"/>
                            </p:stCondLst>
                            <p:childTnLst>
                              <p:par>
                                <p:cTn id="662" nodeType="afterEffect" fill="hold" presetClass="entr" presetID="22" presetSubtype="8" repeatCount="1000">
                                  <p:stCondLst>
                                    <p:cond delay="0"/>
                                  </p:stCondLst>
                                  <p:childTnLst>
                                    <p:set>
                                      <p:cBhvr>
                                        <p:cTn id="663" dur="1" fill="hold">
                                          <p:stCondLst>
                                            <p:cond delay="0"/>
                                          </p:stCondLst>
                                        </p:cTn>
                                        <p:tgtEl>
                                          <p:spTgt spid="200">
                                            <p:txEl>
                                              <p:pRg st="13" end="13"/>
                                            </p:txEl>
                                          </p:spTgt>
                                        </p:tgtEl>
                                        <p:attrNameLst>
                                          <p:attrName>style.visibility</p:attrName>
                                        </p:attrNameLst>
                                      </p:cBhvr>
                                      <p:to>
                                        <p:strVal val="visible"/>
                                      </p:to>
                                    </p:set>
                                    <p:animEffect filter="wipe(left)" transition="in">
                                      <p:cBhvr additive="repl">
                                        <p:cTn id="664" dur="1500"/>
                                        <p:tgtEl>
                                          <p:spTgt spid="200">
                                            <p:txEl>
                                              <p:pRg st="13" end="13"/>
                                            </p:txEl>
                                          </p:spTgt>
                                        </p:tgtEl>
                                      </p:cBhvr>
                                    </p:animEffect>
                                  </p:childTnLst>
                                </p:cTn>
                              </p:par>
                            </p:childTnLst>
                          </p:cTn>
                        </p:par>
                        <p:par>
                          <p:cTn id="665" nodeType="afterEffect" fill="hold">
                            <p:stCondLst>
                              <p:cond delay="2500"/>
                            </p:stCondLst>
                            <p:childTnLst>
                              <p:par>
                                <p:cTn id="666" nodeType="afterEffect" fill="hold" presetClass="entr" presetID="22" presetSubtype="8" repeatCount="1000">
                                  <p:stCondLst>
                                    <p:cond delay="0"/>
                                  </p:stCondLst>
                                  <p:childTnLst>
                                    <p:set>
                                      <p:cBhvr>
                                        <p:cTn id="667" dur="1" fill="hold">
                                          <p:stCondLst>
                                            <p:cond delay="0"/>
                                          </p:stCondLst>
                                        </p:cTn>
                                        <p:tgtEl>
                                          <p:spTgt spid="200">
                                            <p:txEl>
                                              <p:pRg st="14" end="14"/>
                                            </p:txEl>
                                          </p:spTgt>
                                        </p:tgtEl>
                                        <p:attrNameLst>
                                          <p:attrName>style.visibility</p:attrName>
                                        </p:attrNameLst>
                                      </p:cBhvr>
                                      <p:to>
                                        <p:strVal val="visible"/>
                                      </p:to>
                                    </p:set>
                                    <p:animEffect filter="wipe(left)" transition="in">
                                      <p:cBhvr additive="repl">
                                        <p:cTn id="668" dur="1500"/>
                                        <p:tgtEl>
                                          <p:spTgt spid="200">
                                            <p:txEl>
                                              <p:pRg st="14" end="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1" name="Image 1" descr=""/>
          <p:cNvPicPr/>
          <p:nvPr/>
        </p:nvPicPr>
        <p:blipFill>
          <a:blip r:embed="rId1"/>
          <a:srcRect l="18184" t="22828" r="18512" b="6925"/>
          <a:stretch/>
        </p:blipFill>
        <p:spPr>
          <a:xfrm>
            <a:off x="395280" y="44280"/>
            <a:ext cx="7345440" cy="5113440"/>
          </a:xfrm>
          <a:prstGeom prst="rect">
            <a:avLst/>
          </a:prstGeom>
          <a:noFill/>
          <a:ln w="9360">
            <a:solidFill>
              <a:srgbClr val="ffff00"/>
            </a:solidFill>
            <a:miter/>
          </a:ln>
        </p:spPr>
      </p:pic>
      <p:pic>
        <p:nvPicPr>
          <p:cNvPr id="202" name="Image 2" descr=""/>
          <p:cNvPicPr/>
          <p:nvPr/>
        </p:nvPicPr>
        <p:blipFill>
          <a:blip r:embed="rId2"/>
          <a:srcRect l="17853" t="19578" r="17157" b="49208"/>
          <a:stretch/>
        </p:blipFill>
        <p:spPr>
          <a:xfrm>
            <a:off x="382680" y="5184720"/>
            <a:ext cx="7358040" cy="1700280"/>
          </a:xfrm>
          <a:prstGeom prst="rect">
            <a:avLst/>
          </a:prstGeom>
          <a:noFill/>
          <a:ln w="0">
            <a:noFill/>
          </a:ln>
        </p:spPr>
      </p:pic>
      <p:sp>
        <p:nvSpPr>
          <p:cNvPr id="203" name="Rectangle 1"/>
          <p:cNvSpPr/>
          <p:nvPr/>
        </p:nvSpPr>
        <p:spPr>
          <a:xfrm>
            <a:off x="5292720" y="2602080"/>
            <a:ext cx="216000" cy="1690560"/>
          </a:xfrm>
          <a:prstGeom prst="rect">
            <a:avLst/>
          </a:prstGeom>
          <a:solidFill>
            <a:srgbClr val="ff0000"/>
          </a:solidFill>
          <a:ln w="936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4" name="Rectangle 4"/>
          <p:cNvSpPr/>
          <p:nvPr/>
        </p:nvSpPr>
        <p:spPr>
          <a:xfrm>
            <a:off x="5940360" y="2421000"/>
            <a:ext cx="216000" cy="1871640"/>
          </a:xfrm>
          <a:prstGeom prst="rect">
            <a:avLst/>
          </a:prstGeom>
          <a:solidFill>
            <a:srgbClr val="ff0000"/>
          </a:solidFill>
          <a:ln w="936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5" name="ZoneTexte 3"/>
          <p:cNvSpPr/>
          <p:nvPr/>
        </p:nvSpPr>
        <p:spPr>
          <a:xfrm>
            <a:off x="5864760" y="1841400"/>
            <a:ext cx="2245320" cy="9169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Pic de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minéralisation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Calibri"/>
                <a:ea typeface="Calibri"/>
              </a:rPr>
              <a:t>osseuse</a:t>
            </a:r>
            <a:endParaRPr b="0" lang="en-US" sz="1800" strike="noStrike" u="none">
              <a:solidFill>
                <a:srgbClr val="ffff00"/>
              </a:solidFill>
              <a:effectLst/>
              <a:uFillTx/>
              <a:latin typeface="Times New Roman"/>
            </a:endParaRPr>
          </a:p>
        </p:txBody>
      </p:sp>
      <p:sp>
        <p:nvSpPr>
          <p:cNvPr id="206" name="Connecteur droit 6"/>
          <p:cNvSpPr/>
          <p:nvPr/>
        </p:nvSpPr>
        <p:spPr>
          <a:xfrm flipH="1">
            <a:off x="5508360" y="2421000"/>
            <a:ext cx="863640" cy="64764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7" name="Connecteur droit 8"/>
          <p:cNvSpPr/>
          <p:nvPr/>
        </p:nvSpPr>
        <p:spPr>
          <a:xfrm flipH="1">
            <a:off x="6156360" y="2421000"/>
            <a:ext cx="216000" cy="50328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p:transition spd="med">
    <p:zoom dir="out"/>
  </p:transition>
  <p:timing>
    <p:tnLst>
      <p:par>
        <p:cTn id="669" dur="indefinite" restart="never" nodeType="tmRoot">
          <p:childTnLst>
            <p:seq>
              <p:cTn id="670" dur="indefinite" nodeType="mainSeq">
                <p:childTnLst>
                  <p:par>
                    <p:cTn id="671" nodeType="clickEffect" fill="hold">
                      <p:stCondLst>
                        <p:cond delay="indefinite"/>
                      </p:stCondLst>
                      <p:childTnLst>
                        <p:par>
                          <p:cTn id="672" nodeType="withEffect" fill="hold">
                            <p:stCondLst>
                              <p:cond delay="0"/>
                            </p:stCondLst>
                            <p:childTnLst>
                              <p:par>
                                <p:cTn id="673" nodeType="clickEffect" fill="hold" presetClass="entr" presetID="22" presetSubtype="4">
                                  <p:stCondLst>
                                    <p:cond delay="0"/>
                                  </p:stCondLst>
                                  <p:childTnLst>
                                    <p:set>
                                      <p:cBhvr>
                                        <p:cTn id="674" dur="1" fill="hold">
                                          <p:stCondLst>
                                            <p:cond delay="0"/>
                                          </p:stCondLst>
                                        </p:cTn>
                                        <p:tgtEl>
                                          <p:spTgt spid="203"/>
                                        </p:tgtEl>
                                        <p:attrNameLst>
                                          <p:attrName>style.visibility</p:attrName>
                                        </p:attrNameLst>
                                      </p:cBhvr>
                                      <p:to>
                                        <p:strVal val="visible"/>
                                      </p:to>
                                    </p:set>
                                    <p:animEffect filter="wipe(down)" transition="in">
                                      <p:cBhvr additive="repl">
                                        <p:cTn id="675" dur="500"/>
                                        <p:tgtEl>
                                          <p:spTgt spid="203"/>
                                        </p:tgtEl>
                                      </p:cBhvr>
                                    </p:animEffect>
                                  </p:childTnLst>
                                </p:cTn>
                              </p:par>
                              <p:par>
                                <p:cTn id="676" nodeType="withEffect" fill="hold" presetClass="entr" presetID="22" presetSubtype="4">
                                  <p:stCondLst>
                                    <p:cond delay="0"/>
                                  </p:stCondLst>
                                  <p:childTnLst>
                                    <p:set>
                                      <p:cBhvr>
                                        <p:cTn id="677" dur="1" fill="hold">
                                          <p:stCondLst>
                                            <p:cond delay="0"/>
                                          </p:stCondLst>
                                        </p:cTn>
                                        <p:tgtEl>
                                          <p:spTgt spid="204"/>
                                        </p:tgtEl>
                                        <p:attrNameLst>
                                          <p:attrName>style.visibility</p:attrName>
                                        </p:attrNameLst>
                                      </p:cBhvr>
                                      <p:to>
                                        <p:strVal val="visible"/>
                                      </p:to>
                                    </p:set>
                                    <p:animEffect filter="wipe(down)" transition="in">
                                      <p:cBhvr additive="repl">
                                        <p:cTn id="678" dur="500"/>
                                        <p:tgtEl>
                                          <p:spTgt spid="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ZoneTexte 1"/>
          <p:cNvSpPr/>
          <p:nvPr/>
        </p:nvSpPr>
        <p:spPr>
          <a:xfrm>
            <a:off x="-650520" y="2259000"/>
            <a:ext cx="1022472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Calibri"/>
                <a:ea typeface="Calibri"/>
              </a:rPr>
              <a:t>2-3 EVALUATION DE LA PUISSANCE MUSCULAIRE</a:t>
            </a:r>
            <a:endParaRPr b="0" lang="en-US" sz="3200" strike="noStrike" u="none">
              <a:solidFill>
                <a:srgbClr val="ffff00"/>
              </a:solidFill>
              <a:effectLst/>
              <a:uFillTx/>
              <a:latin typeface="Times New Roman"/>
            </a:endParaRPr>
          </a:p>
        </p:txBody>
      </p:sp>
    </p:spTree>
  </p:cSld>
  <p:transition spd="med">
    <p:zoom dir="out"/>
  </p:transition>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9" name="Picture 2" descr="Sargent test schéma"/>
          <p:cNvPicPr/>
          <p:nvPr/>
        </p:nvPicPr>
        <p:blipFill>
          <a:blip r:embed="rId1"/>
          <a:stretch/>
        </p:blipFill>
        <p:spPr>
          <a:xfrm>
            <a:off x="0" y="1098720"/>
            <a:ext cx="4840200" cy="5715000"/>
          </a:xfrm>
          <a:prstGeom prst="rect">
            <a:avLst/>
          </a:prstGeom>
          <a:noFill/>
          <a:ln w="0">
            <a:noFill/>
          </a:ln>
        </p:spPr>
      </p:pic>
      <p:pic>
        <p:nvPicPr>
          <p:cNvPr id="210" name="Picture 3" descr=""/>
          <p:cNvPicPr/>
          <p:nvPr/>
        </p:nvPicPr>
        <p:blipFill>
          <a:blip r:embed="rId2"/>
          <a:stretch/>
        </p:blipFill>
        <p:spPr>
          <a:xfrm>
            <a:off x="5194440" y="1123920"/>
            <a:ext cx="3900240" cy="5689800"/>
          </a:xfrm>
          <a:prstGeom prst="rect">
            <a:avLst/>
          </a:prstGeom>
          <a:noFill/>
          <a:ln w="9360">
            <a:solidFill>
              <a:srgbClr val="ffff00"/>
            </a:solidFill>
            <a:miter/>
          </a:ln>
        </p:spPr>
      </p:pic>
    </p:spTree>
  </p:cSld>
  <p:transition spd="med">
    <p:zoom dir="out"/>
  </p:transition>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Espace réservé du numéro de diapositive 3"/>
          <p:cNvSpPr/>
          <p:nvPr/>
        </p:nvSpPr>
        <p:spPr>
          <a:xfrm>
            <a:off x="655308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C1EAB60-70A3-4ADD-87C2-EF98EC0A2678}" type="slidenum">
              <a:rPr b="0" lang="fr-FR" sz="1400" strike="noStrike" u="none">
                <a:solidFill>
                  <a:srgbClr val="ffff00"/>
                </a:solidFill>
                <a:effectLst/>
                <a:uFillTx/>
                <a:latin typeface="Times New Roman"/>
              </a:rPr>
              <a:t>&lt;number&gt;</a:t>
            </a:fld>
            <a:endParaRPr b="0" lang="en-US" sz="1400" strike="noStrike" u="none">
              <a:solidFill>
                <a:srgbClr val="ffff00"/>
              </a:solidFill>
              <a:effectLst/>
              <a:uFillTx/>
              <a:latin typeface="Times New Roman"/>
            </a:endParaRPr>
          </a:p>
        </p:txBody>
      </p:sp>
      <p:sp>
        <p:nvSpPr>
          <p:cNvPr id="212" name="Text Box 2"/>
          <p:cNvSpPr/>
          <p:nvPr/>
        </p:nvSpPr>
        <p:spPr>
          <a:xfrm>
            <a:off x="685800" y="793800"/>
            <a:ext cx="7620120" cy="11912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A PARTIR DE  L’EQUATION DE LEWIS IL EST POSSIBLE D’EVALUER LA PUISSANCE DES MEMBRES INFERIEURS </a:t>
            </a:r>
            <a:endParaRPr b="0" lang="en-US" sz="2400" strike="noStrike" u="none">
              <a:solidFill>
                <a:srgbClr val="ffff00"/>
              </a:solidFill>
              <a:effectLst/>
              <a:uFillTx/>
              <a:latin typeface="Times New Roman"/>
            </a:endParaRPr>
          </a:p>
        </p:txBody>
      </p:sp>
      <p:sp>
        <p:nvSpPr>
          <p:cNvPr id="213" name="Text Box 3"/>
          <p:cNvSpPr/>
          <p:nvPr/>
        </p:nvSpPr>
        <p:spPr>
          <a:xfrm>
            <a:off x="2124360" y="3378240"/>
            <a:ext cx="6003000" cy="1374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800" strike="noStrike" u="none">
                <a:solidFill>
                  <a:srgbClr val="ffff00"/>
                </a:solidFill>
                <a:effectLst/>
                <a:uFillTx/>
                <a:latin typeface="Arial"/>
              </a:rPr>
              <a:t>P ( w/kg ) = 21.72 </a:t>
            </a:r>
            <a:r>
              <a:rPr b="0" lang="es-CL" sz="2800" strike="noStrike" u="none">
                <a:solidFill>
                  <a:srgbClr val="ffff00"/>
                </a:solidFill>
                <a:effectLst/>
                <a:uFillTx/>
                <a:latin typeface="Symbol"/>
                <a:ea typeface="Symbol"/>
              </a:rPr>
              <a:t></a:t>
            </a:r>
            <a:r>
              <a:rPr b="0" lang="es-CL" sz="2800" strike="noStrike" u="none">
                <a:solidFill>
                  <a:srgbClr val="ffff00"/>
                </a:solidFill>
                <a:effectLst/>
                <a:uFillTx/>
                <a:latin typeface="Arial"/>
              </a:rPr>
              <a:t> DV (m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800" strike="noStrike" u="none">
                <a:solidFill>
                  <a:srgbClr val="ffff00"/>
                </a:solidFill>
                <a:effectLst/>
                <a:uFillTx/>
                <a:latin typeface="Arial"/>
              </a:rPr>
              <a:t>P (w) = 21.72 x POIDS (kg) </a:t>
            </a:r>
            <a:r>
              <a:rPr b="0" lang="es-CL" sz="2800" strike="noStrike" u="none">
                <a:solidFill>
                  <a:srgbClr val="ffff00"/>
                </a:solidFill>
                <a:effectLst/>
                <a:uFillTx/>
                <a:latin typeface="Symbol"/>
                <a:ea typeface="Symbol"/>
              </a:rPr>
              <a:t></a:t>
            </a:r>
            <a:r>
              <a:rPr b="0" lang="es-CL" sz="2800" strike="noStrike" u="none">
                <a:solidFill>
                  <a:srgbClr val="ffff00"/>
                </a:solidFill>
                <a:effectLst/>
                <a:uFillTx/>
                <a:latin typeface="Arial"/>
              </a:rPr>
              <a:t> DV (m)</a:t>
            </a:r>
            <a:endParaRPr b="0" lang="en-US" sz="2800" strike="noStrike" u="none">
              <a:solidFill>
                <a:srgbClr val="ffff00"/>
              </a:solidFill>
              <a:effectLst/>
              <a:uFillTx/>
              <a:latin typeface="Times New Roman"/>
            </a:endParaRPr>
          </a:p>
        </p:txBody>
      </p:sp>
      <p:sp>
        <p:nvSpPr>
          <p:cNvPr id="214" name="Line 4"/>
          <p:cNvSpPr/>
          <p:nvPr/>
        </p:nvSpPr>
        <p:spPr>
          <a:xfrm>
            <a:off x="5257800" y="3429000"/>
            <a:ext cx="121932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15" name="Line 5"/>
          <p:cNvSpPr/>
          <p:nvPr/>
        </p:nvSpPr>
        <p:spPr>
          <a:xfrm>
            <a:off x="6858000" y="4267080"/>
            <a:ext cx="10666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Tree>
  </p:cSld>
  <p:transition>
    <p:zoom dir="out"/>
  </p:transition>
  <p:timing>
    <p:tnLst>
      <p:par>
        <p:cTn id="679" dur="indefinite" restart="never" nodeType="tmRoot">
          <p:childTnLst>
            <p:seq>
              <p:cTn id="680" dur="indefinite" nodeType="mainSeq">
                <p:childTnLst>
                  <p:par>
                    <p:cTn id="681" nodeType="clickEffect" fill="hold">
                      <p:stCondLst>
                        <p:cond delay="0"/>
                      </p:stCondLst>
                      <p:childTnLst>
                        <p:par>
                          <p:cTn id="682" nodeType="withEffect" fill="hold">
                            <p:stCondLst>
                              <p:cond delay="0"/>
                            </p:stCondLst>
                            <p:childTnLst>
                              <p:par>
                                <p:cTn id="683" nodeType="afterEffect" fill="hold" presetClass="entr" presetID="2" presetSubtype="9">
                                  <p:stCondLst>
                                    <p:cond delay="0"/>
                                  </p:stCondLst>
                                  <p:childTnLst>
                                    <p:set>
                                      <p:cBhvr>
                                        <p:cTn id="684" dur="1" fill="hold">
                                          <p:stCondLst>
                                            <p:cond delay="0"/>
                                          </p:stCondLst>
                                        </p:cTn>
                                        <p:tgtEl>
                                          <p:spTgt spid="212"/>
                                        </p:tgtEl>
                                        <p:attrNameLst>
                                          <p:attrName>style.visibility</p:attrName>
                                        </p:attrNameLst>
                                      </p:cBhvr>
                                      <p:to>
                                        <p:strVal val="visible"/>
                                      </p:to>
                                    </p:set>
                                    <p:anim calcmode="lin" valueType="num">
                                      <p:cBhvr additive="base">
                                        <p:cTn id="685" dur="500" fill="hold"/>
                                        <p:tgtEl>
                                          <p:spTgt spid="212"/>
                                        </p:tgtEl>
                                        <p:attrNameLst>
                                          <p:attrName>ppt_x</p:attrName>
                                        </p:attrNameLst>
                                      </p:cBhvr>
                                      <p:tavLst>
                                        <p:tav tm="0">
                                          <p:val>
                                            <p:strVal val="0-#ppt_w/2"/>
                                          </p:val>
                                        </p:tav>
                                        <p:tav tm="100000">
                                          <p:val>
                                            <p:strVal val="#ppt_x"/>
                                          </p:val>
                                        </p:tav>
                                      </p:tavLst>
                                    </p:anim>
                                    <p:anim calcmode="lin" valueType="num">
                                      <p:cBhvr additive="base">
                                        <p:cTn id="686" dur="500" fill="hold"/>
                                        <p:tgtEl>
                                          <p:spTgt spid="212"/>
                                        </p:tgtEl>
                                        <p:attrNameLst>
                                          <p:attrName>ppt_y</p:attrName>
                                        </p:attrNameLst>
                                      </p:cBhvr>
                                      <p:tavLst>
                                        <p:tav tm="0">
                                          <p:val>
                                            <p:strVal val="0-#ppt_h/2"/>
                                          </p:val>
                                        </p:tav>
                                        <p:tav tm="100000">
                                          <p:val>
                                            <p:strVal val="#ppt_y"/>
                                          </p:val>
                                        </p:tav>
                                      </p:tavLst>
                                    </p:anim>
                                  </p:childTnLst>
                                </p:cTn>
                              </p:par>
                            </p:childTnLst>
                          </p:cTn>
                        </p:par>
                        <p:par>
                          <p:cTn id="687" nodeType="afterEffect" fill="hold">
                            <p:stCondLst>
                              <p:cond delay="500"/>
                            </p:stCondLst>
                            <p:childTnLst>
                              <p:par>
                                <p:cTn id="688" nodeType="afterEffect" fill="hold" presetClass="entr" presetID="2" presetSubtype="9">
                                  <p:stCondLst>
                                    <p:cond delay="0"/>
                                  </p:stCondLst>
                                  <p:iterate type="lt">
                                    <p:tmAbs val="75"/>
                                  </p:iterate>
                                  <p:childTnLst>
                                    <p:set>
                                      <p:cBhvr>
                                        <p:cTn id="689" dur="1" fill="hold">
                                          <p:stCondLst>
                                            <p:cond delay="0"/>
                                          </p:stCondLst>
                                        </p:cTn>
                                        <p:tgtEl>
                                          <p:spTgt spid="213"/>
                                        </p:tgtEl>
                                        <p:attrNameLst>
                                          <p:attrName>style.visibility</p:attrName>
                                        </p:attrNameLst>
                                      </p:cBhvr>
                                      <p:to>
                                        <p:strVal val="visible"/>
                                      </p:to>
                                    </p:set>
                                    <p:anim calcmode="lin" valueType="num">
                                      <p:cBhvr additive="base">
                                        <p:cTn id="690" dur="75" fill="hold"/>
                                        <p:tgtEl>
                                          <p:spTgt spid="213"/>
                                        </p:tgtEl>
                                        <p:attrNameLst>
                                          <p:attrName>ppt_x</p:attrName>
                                        </p:attrNameLst>
                                      </p:cBhvr>
                                      <p:tavLst>
                                        <p:tav tm="0">
                                          <p:val>
                                            <p:strVal val="0-#ppt_w/2"/>
                                          </p:val>
                                        </p:tav>
                                        <p:tav tm="100000">
                                          <p:val>
                                            <p:strVal val="#ppt_x"/>
                                          </p:val>
                                        </p:tav>
                                      </p:tavLst>
                                    </p:anim>
                                    <p:anim calcmode="lin" valueType="num">
                                      <p:cBhvr additive="base">
                                        <p:cTn id="691" dur="75" fill="hold"/>
                                        <p:tgtEl>
                                          <p:spTgt spid="2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6" name="Copie de CMJ (2).mpeg" descr=""/>
          <p:cNvPicPr/>
          <p:nvPr/>
        </p:nvPicPr>
        <p:blipFill>
          <a:blip r:embed="rId1"/>
          <a:stretch/>
        </p:blipFill>
        <p:spPr>
          <a:xfrm>
            <a:off x="108000" y="549360"/>
            <a:ext cx="4411440" cy="3527280"/>
          </a:xfrm>
          <a:prstGeom prst="rect">
            <a:avLst/>
          </a:prstGeom>
          <a:noFill/>
          <a:ln w="9360">
            <a:solidFill>
              <a:srgbClr val="ffffff"/>
            </a:solidFill>
            <a:miter/>
          </a:ln>
        </p:spPr>
      </p:pic>
      <p:pic>
        <p:nvPicPr>
          <p:cNvPr id="217" name="Copie de SJ  (2).mpeg" descr=""/>
          <p:cNvPicPr/>
          <p:nvPr/>
        </p:nvPicPr>
        <p:blipFill>
          <a:blip r:embed="rId2"/>
          <a:stretch/>
        </p:blipFill>
        <p:spPr>
          <a:xfrm>
            <a:off x="4643280" y="549360"/>
            <a:ext cx="4413240" cy="3527280"/>
          </a:xfrm>
          <a:prstGeom prst="rect">
            <a:avLst/>
          </a:prstGeom>
          <a:noFill/>
          <a:ln w="9360">
            <a:solidFill>
              <a:srgbClr val="ffffff"/>
            </a:solidFill>
            <a:miter/>
          </a:ln>
        </p:spPr>
      </p:pic>
    </p:spTree>
  </p:cSld>
  <p:transition spd="med">
    <p:zoom dir="out"/>
  </p:transition>
  <p:timing>
    <p:tnLst>
      <p:par>
        <p:cTn id="692" dur="indefinite" restart="never" nodeType="tmRoot">
          <p:childTnLst>
            <p:seq>
              <p:cTn id="693" restart="whenNotActive" nodeType="interactiveSeq" fill="hold">
                <p:stCondLst>
                  <p:cond evt="onClick">
                    <p:tgtEl>
                      <p:spTgt spid="216"/>
                    </p:tgtEl>
                  </p:cond>
                </p:stCondLst>
                <p:childTnLst>
                  <p:par>
                    <p:cTn id="694" nodeType="clickEffect" fill="hold">
                      <p:stCondLst>
                        <p:cond evt="onClick">
                          <p:tgtEl>
                            <p:spTgt spid="216"/>
                          </p:tgtEl>
                        </p:cond>
                      </p:stCondLst>
                      <p:childTnLst>
                        <p:par>
                          <p:cTn id="695" nodeType="withEffect" fill="hold">
                            <p:stCondLst>
                              <p:cond delay="0"/>
                            </p:stCondLst>
                            <p:childTnLst>
                              <p:par>
                                <p:cTn id="696" nodeType="clickEffect" fill="hold" presetClass="mediacall" presetID="2">
                                  <p:stCondLst>
                                    <p:cond delay="0"/>
                                  </p:stCondLst>
                                  <p:childTnLst>
                                    <p:cmd type="call" cmd="togglePause">
                                      <p:cBhvr>
                                        <p:cTn id="697" dur="1" fill="hold"/>
                                        <p:tgtEl>
                                          <p:spTgt spid="216"/>
                                        </p:tgtEl>
                                      </p:cBhvr>
                                    </p:cmd>
                                  </p:childTnLst>
                                </p:cTn>
                              </p:par>
                            </p:childTnLst>
                          </p:cTn>
                        </p:par>
                      </p:childTnLst>
                    </p:cTn>
                  </p:par>
                </p:childTnLst>
              </p:cTn>
              <p:prevCondLst>
                <p:cond evt="onPrev">
                  <p:tgtEl>
                    <p:sldTgt/>
                  </p:tgtEl>
                </p:cond>
              </p:prevCondLst>
              <p:nextCondLst>
                <p:cond evt="onNext">
                  <p:tgtEl>
                    <p:sldTgt/>
                  </p:tgtEl>
                </p:cond>
              </p:nextCondLst>
            </p:seq>
            <p:seq>
              <p:cTn id="698" restart="whenNotActive" nodeType="interactiveSeq" fill="hold">
                <p:stCondLst>
                  <p:cond evt="onClick">
                    <p:tgtEl>
                      <p:spTgt spid="217"/>
                    </p:tgtEl>
                  </p:cond>
                </p:stCondLst>
                <p:childTnLst>
                  <p:par>
                    <p:cTn id="699" nodeType="clickEffect" fill="hold">
                      <p:stCondLst>
                        <p:cond evt="onClick">
                          <p:tgtEl>
                            <p:spTgt spid="217"/>
                          </p:tgtEl>
                        </p:cond>
                      </p:stCondLst>
                      <p:childTnLst>
                        <p:par>
                          <p:cTn id="700" nodeType="withEffect" fill="hold">
                            <p:stCondLst>
                              <p:cond delay="0"/>
                            </p:stCondLst>
                            <p:childTnLst>
                              <p:par>
                                <p:cTn id="701" nodeType="clickEffect" fill="hold" presetClass="mediacall" presetID="2">
                                  <p:stCondLst>
                                    <p:cond delay="0"/>
                                  </p:stCondLst>
                                  <p:childTnLst>
                                    <p:cmd type="call" cmd="togglePause">
                                      <p:cBhvr>
                                        <p:cTn id="702" dur="1" fill="hold"/>
                                        <p:tgtEl>
                                          <p:spTgt spid="217"/>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ZoneTexte 1"/>
          <p:cNvSpPr/>
          <p:nvPr/>
        </p:nvSpPr>
        <p:spPr>
          <a:xfrm>
            <a:off x="414000" y="2637000"/>
            <a:ext cx="873216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2-4 EVALUATION DE L’ENDURANCE MUSCULAIRE</a:t>
            </a:r>
            <a:endParaRPr b="0" lang="en-US" sz="2800" strike="noStrike" u="none">
              <a:solidFill>
                <a:srgbClr val="ffff00"/>
              </a:solidFill>
              <a:effectLst/>
              <a:uFillTx/>
              <a:latin typeface="Times New Roman"/>
            </a:endParaRPr>
          </a:p>
        </p:txBody>
      </p:sp>
    </p:spTree>
  </p:cSld>
  <p:transition spd="med">
    <p:zoom dir="out"/>
  </p:transition>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9" name="Picture 3" descr=""/>
          <p:cNvPicPr/>
          <p:nvPr/>
        </p:nvPicPr>
        <p:blipFill>
          <a:blip r:embed="rId1"/>
          <a:stretch/>
        </p:blipFill>
        <p:spPr>
          <a:xfrm>
            <a:off x="5076720" y="4581360"/>
            <a:ext cx="3600720" cy="2171880"/>
          </a:xfrm>
          <a:prstGeom prst="rect">
            <a:avLst/>
          </a:prstGeom>
          <a:noFill/>
          <a:ln w="0">
            <a:noFill/>
          </a:ln>
        </p:spPr>
      </p:pic>
      <p:pic>
        <p:nvPicPr>
          <p:cNvPr id="220" name="Picture 4" descr=""/>
          <p:cNvPicPr/>
          <p:nvPr/>
        </p:nvPicPr>
        <p:blipFill>
          <a:blip r:embed="rId2"/>
          <a:stretch/>
        </p:blipFill>
        <p:spPr>
          <a:xfrm>
            <a:off x="900000" y="4581360"/>
            <a:ext cx="3932280" cy="2122560"/>
          </a:xfrm>
          <a:prstGeom prst="rect">
            <a:avLst/>
          </a:prstGeom>
          <a:noFill/>
          <a:ln w="0">
            <a:noFill/>
          </a:ln>
        </p:spPr>
      </p:pic>
      <p:sp>
        <p:nvSpPr>
          <p:cNvPr id="221" name="Rectangle 5"/>
          <p:cNvSpPr/>
          <p:nvPr/>
        </p:nvSpPr>
        <p:spPr>
          <a:xfrm>
            <a:off x="2671920" y="4581360"/>
            <a:ext cx="2160360" cy="287640"/>
          </a:xfrm>
          <a:prstGeom prst="rect">
            <a:avLst/>
          </a:prstGeom>
          <a:solidFill>
            <a:srgbClr val="ffffff"/>
          </a:solidFill>
          <a:ln w="936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pic>
        <p:nvPicPr>
          <p:cNvPr id="222" name="Picture 7" descr=""/>
          <p:cNvPicPr/>
          <p:nvPr/>
        </p:nvPicPr>
        <p:blipFill>
          <a:blip r:embed="rId3"/>
          <a:stretch/>
        </p:blipFill>
        <p:spPr>
          <a:xfrm>
            <a:off x="1338120" y="168120"/>
            <a:ext cx="2743200" cy="2849760"/>
          </a:xfrm>
          <a:prstGeom prst="rect">
            <a:avLst/>
          </a:prstGeom>
          <a:noFill/>
          <a:ln w="9360">
            <a:solidFill>
              <a:srgbClr val="ffff00"/>
            </a:solidFill>
            <a:miter/>
          </a:ln>
        </p:spPr>
      </p:pic>
      <p:pic>
        <p:nvPicPr>
          <p:cNvPr id="223" name="Picture 6" descr=""/>
          <p:cNvPicPr/>
          <p:nvPr/>
        </p:nvPicPr>
        <p:blipFill>
          <a:blip r:embed="rId4"/>
          <a:stretch/>
        </p:blipFill>
        <p:spPr>
          <a:xfrm>
            <a:off x="4854600" y="250920"/>
            <a:ext cx="2971800" cy="2759040"/>
          </a:xfrm>
          <a:prstGeom prst="rect">
            <a:avLst/>
          </a:prstGeom>
          <a:noFill/>
          <a:ln w="9360">
            <a:solidFill>
              <a:srgbClr val="ffff00"/>
            </a:solidFill>
            <a:miter/>
          </a:ln>
        </p:spPr>
      </p:pic>
      <p:sp>
        <p:nvSpPr>
          <p:cNvPr id="224" name="ZoneTexte 2"/>
          <p:cNvSpPr/>
          <p:nvPr/>
        </p:nvSpPr>
        <p:spPr>
          <a:xfrm>
            <a:off x="1608840" y="3573360"/>
            <a:ext cx="55022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Pompes et Abdominaux cadencés</a:t>
            </a:r>
            <a:endParaRPr b="0" lang="en-US" sz="2400" strike="noStrike" u="none">
              <a:solidFill>
                <a:srgbClr val="ffff00"/>
              </a:solidFill>
              <a:effectLst/>
              <a:uFillTx/>
              <a:latin typeface="Times New Roman"/>
            </a:endParaRPr>
          </a:p>
        </p:txBody>
      </p:sp>
      <p:pic>
        <p:nvPicPr>
          <p:cNvPr id="225" name="endurance muscu -abdo.mp3" descr=""/>
          <p:cNvPicPr/>
          <p:nvPr/>
        </p:nvPicPr>
        <p:blipFill>
          <a:blip r:embed="rId5"/>
          <a:stretch/>
        </p:blipFill>
        <p:spPr>
          <a:xfrm>
            <a:off x="179280" y="4840200"/>
            <a:ext cx="609840" cy="609840"/>
          </a:xfrm>
          <a:prstGeom prst="rect">
            <a:avLst/>
          </a:prstGeom>
          <a:noFill/>
          <a:ln w="0">
            <a:noFill/>
          </a:ln>
        </p:spPr>
      </p:pic>
      <p:pic>
        <p:nvPicPr>
          <p:cNvPr id="226" name="endurance muscu -pompe.mp3" descr=""/>
          <p:cNvPicPr/>
          <p:nvPr/>
        </p:nvPicPr>
        <p:blipFill>
          <a:blip r:embed="rId6"/>
          <a:stretch/>
        </p:blipFill>
        <p:spPr>
          <a:xfrm>
            <a:off x="179280" y="1325520"/>
            <a:ext cx="609840" cy="609480"/>
          </a:xfrm>
          <a:prstGeom prst="rect">
            <a:avLst/>
          </a:prstGeom>
          <a:noFill/>
          <a:ln w="0">
            <a:noFill/>
          </a:ln>
        </p:spPr>
      </p:pic>
    </p:spTree>
  </p:cSld>
  <p:transition spd="med">
    <p:zoom dir="out"/>
  </p:transition>
  <p:timing>
    <p:tnLst>
      <p:par>
        <p:cTn id="703" dur="indefinite" restart="never" nodeType="tmRoot">
          <p:childTnLst>
            <p:seq>
              <p:cTn id="704" restart="whenNotActive" nodeType="interactiveSeq" fill="hold">
                <p:stCondLst>
                  <p:cond evt="onClick">
                    <p:tgtEl>
                      <p:spTgt spid="225"/>
                    </p:tgtEl>
                  </p:cond>
                </p:stCondLst>
                <p:childTnLst>
                  <p:par>
                    <p:cTn id="705" nodeType="clickEffect" fill="hold">
                      <p:stCondLst>
                        <p:cond evt="onClick">
                          <p:tgtEl>
                            <p:spTgt spid="225"/>
                          </p:tgtEl>
                        </p:cond>
                      </p:stCondLst>
                      <p:childTnLst>
                        <p:par>
                          <p:cTn id="706" nodeType="withEffect" fill="hold">
                            <p:stCondLst>
                              <p:cond delay="0"/>
                            </p:stCondLst>
                            <p:childTnLst>
                              <p:par>
                                <p:cTn id="707" nodeType="clickEffect" fill="hold" presetClass="mediacall" presetID="1">
                                  <p:stCondLst>
                                    <p:cond delay="0"/>
                                  </p:stCondLst>
                                  <p:childTnLst>
                                    <p:cmd type="call" cmd="playFrom(0.0)">
                                      <p:cBhvr>
                                        <p:cTn id="708" dur="331705" fill="hold"/>
                                        <p:tgtEl>
                                          <p:spTgt spid="225"/>
                                        </p:tgtEl>
                                      </p:cBhvr>
                                    </p:cmd>
                                  </p:childTnLst>
                                </p:cTn>
                              </p:par>
                            </p:childTnLst>
                          </p:cTn>
                        </p:par>
                      </p:childTnLst>
                    </p:cTn>
                  </p:par>
                </p:childTnLst>
              </p:cTn>
              <p:prevCondLst>
                <p:cond evt="onPrev">
                  <p:tgtEl>
                    <p:sldTgt/>
                  </p:tgtEl>
                </p:cond>
              </p:prevCondLst>
              <p:nextCondLst>
                <p:cond evt="onNext">
                  <p:tgtEl>
                    <p:sldTgt/>
                  </p:tgtEl>
                </p:cond>
              </p:nextCondLst>
            </p:seq>
            <p:seq>
              <p:cTn id="709" restart="whenNotActive" nodeType="interactiveSeq" fill="hold">
                <p:stCondLst>
                  <p:cond evt="onClick">
                    <p:tgtEl>
                      <p:spTgt spid="226"/>
                    </p:tgtEl>
                  </p:cond>
                </p:stCondLst>
                <p:childTnLst>
                  <p:par>
                    <p:cTn id="710" nodeType="clickEffect" fill="hold">
                      <p:stCondLst>
                        <p:cond evt="onClick">
                          <p:tgtEl>
                            <p:spTgt spid="226"/>
                          </p:tgtEl>
                        </p:cond>
                      </p:stCondLst>
                      <p:childTnLst>
                        <p:par>
                          <p:cTn id="711" nodeType="withEffect" fill="hold">
                            <p:stCondLst>
                              <p:cond delay="0"/>
                            </p:stCondLst>
                            <p:childTnLst>
                              <p:par>
                                <p:cTn id="712" nodeType="clickEffect" fill="hold" presetClass="mediacall" presetID="1">
                                  <p:stCondLst>
                                    <p:cond delay="0"/>
                                  </p:stCondLst>
                                  <p:childTnLst>
                                    <p:cmd type="call" cmd="playFrom(0.0)">
                                      <p:cBhvr>
                                        <p:cTn id="713" dur="189024" fill="hold"/>
                                        <p:tgtEl>
                                          <p:spTgt spid="226"/>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7" name="Copie de MOV00843.MPG" descr=""/>
          <p:cNvPicPr/>
          <p:nvPr/>
        </p:nvPicPr>
        <p:blipFill>
          <a:blip r:embed="rId1"/>
          <a:stretch/>
        </p:blipFill>
        <p:spPr>
          <a:xfrm>
            <a:off x="900000" y="836640"/>
            <a:ext cx="6739200" cy="4753080"/>
          </a:xfrm>
          <a:prstGeom prst="rect">
            <a:avLst/>
          </a:prstGeom>
          <a:noFill/>
          <a:ln w="9360">
            <a:solidFill>
              <a:srgbClr val="ffffff"/>
            </a:solidFill>
            <a:miter/>
          </a:ln>
        </p:spPr>
      </p:pic>
      <p:sp>
        <p:nvSpPr>
          <p:cNvPr id="228" name="ZoneTexte 1"/>
          <p:cNvSpPr/>
          <p:nvPr/>
        </p:nvSpPr>
        <p:spPr>
          <a:xfrm>
            <a:off x="3510000" y="5732640"/>
            <a:ext cx="151884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BURPEES</a:t>
            </a:r>
            <a:endParaRPr b="0" lang="en-US" sz="2400" strike="noStrike" u="none">
              <a:solidFill>
                <a:srgbClr val="ffff00"/>
              </a:solidFill>
              <a:effectLst/>
              <a:uFillTx/>
              <a:latin typeface="Times New Roman"/>
            </a:endParaRPr>
          </a:p>
        </p:txBody>
      </p:sp>
    </p:spTree>
  </p:cSld>
  <p:transition spd="med">
    <p:zoom dir="out"/>
  </p:transition>
  <p:timing>
    <p:tnLst>
      <p:par>
        <p:cTn id="714" dur="indefinite" restart="never" nodeType="tmRoot">
          <p:childTnLst>
            <p:seq>
              <p:cTn id="715" restart="whenNotActive" nodeType="interactiveSeq" fill="hold">
                <p:stCondLst>
                  <p:cond evt="onClick">
                    <p:tgtEl>
                      <p:spTgt spid="227"/>
                    </p:tgtEl>
                  </p:cond>
                </p:stCondLst>
                <p:childTnLst>
                  <p:par>
                    <p:cTn id="716" nodeType="clickEffect" fill="hold">
                      <p:stCondLst>
                        <p:cond evt="onClick">
                          <p:tgtEl>
                            <p:spTgt spid="227"/>
                          </p:tgtEl>
                        </p:cond>
                      </p:stCondLst>
                      <p:childTnLst>
                        <p:par>
                          <p:cTn id="717" nodeType="withEffect" fill="hold">
                            <p:stCondLst>
                              <p:cond delay="0"/>
                            </p:stCondLst>
                            <p:childTnLst>
                              <p:par>
                                <p:cTn id="718" nodeType="clickEffect" fill="hold" presetClass="mediacall" presetID="2">
                                  <p:stCondLst>
                                    <p:cond delay="0"/>
                                  </p:stCondLst>
                                  <p:childTnLst>
                                    <p:cmd type="call" cmd="togglePause">
                                      <p:cBhvr>
                                        <p:cTn id="719" dur="1" fill="hold"/>
                                        <p:tgtEl>
                                          <p:spTgt spid="227"/>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Text Box 2"/>
          <p:cNvSpPr/>
          <p:nvPr/>
        </p:nvSpPr>
        <p:spPr>
          <a:xfrm>
            <a:off x="939240" y="1989000"/>
            <a:ext cx="7284960" cy="106956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Calibri"/>
                <a:ea typeface="Calibri"/>
              </a:rPr>
              <a:t>2-5 L ’amplitude articulaire </a:t>
            </a:r>
            <a:endParaRPr b="0" lang="en-US" sz="3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Calibri"/>
                <a:ea typeface="Calibri"/>
              </a:rPr>
              <a:t>ou « souplesse »</a:t>
            </a:r>
            <a:endParaRPr b="0" lang="en-US" sz="3200" strike="noStrike" u="none">
              <a:solidFill>
                <a:srgbClr val="ffff00"/>
              </a:solidFill>
              <a:effectLst/>
              <a:uFillTx/>
              <a:latin typeface="Times New Roman"/>
            </a:endParaRPr>
          </a:p>
        </p:txBody>
      </p:sp>
    </p:spTree>
  </p:cSld>
  <p:transition spd="med">
    <p:zoom dir="out"/>
  </p:transition>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Text Box 2"/>
          <p:cNvSpPr/>
          <p:nvPr/>
        </p:nvSpPr>
        <p:spPr>
          <a:xfrm>
            <a:off x="230040" y="380880"/>
            <a:ext cx="8913960" cy="5817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Bookman Old Style"/>
              </a:rPr>
              <a:t>A quel âge développer la souplesse?</a:t>
            </a:r>
            <a:endParaRPr b="0" lang="en-US" sz="3200" strike="noStrike" u="none">
              <a:solidFill>
                <a:srgbClr val="ffff00"/>
              </a:solidFill>
              <a:effectLst/>
              <a:uFillTx/>
              <a:latin typeface="Times New Roman"/>
            </a:endParaRPr>
          </a:p>
        </p:txBody>
      </p:sp>
      <p:sp>
        <p:nvSpPr>
          <p:cNvPr id="231" name="Text Box 3"/>
          <p:cNvSpPr/>
          <p:nvPr/>
        </p:nvSpPr>
        <p:spPr>
          <a:xfrm>
            <a:off x="228600" y="1295280"/>
            <a:ext cx="8915400" cy="1739160"/>
          </a:xfrm>
          <a:prstGeom prst="rect">
            <a:avLst/>
          </a:prstGeom>
          <a:noFill/>
          <a:ln w="0">
            <a:noFill/>
          </a:ln>
        </p:spPr>
        <p:style>
          <a:lnRef idx="0"/>
          <a:fillRef idx="0"/>
          <a:effectRef idx="0"/>
          <a:fontRef idx="minor"/>
        </p:style>
        <p:txBody>
          <a:bodyPr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Puisque l ’enfant possède dès le plus jeune âge un niveau élevé de souplesse </a:t>
            </a: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(Dutil 1978), un entraînement «poussé» de l’amplitude de ses articulations ne semble pas nécessaire avant 9-10 ans, sauf pour ceux qui pratiquent certains sports comme la gymnastique, la danse et toutes autres activités motrices de haute expression corporelle.</a:t>
            </a:r>
            <a:endParaRPr b="0" lang="en-US" sz="1800" strike="noStrike" u="none">
              <a:solidFill>
                <a:srgbClr val="ffff00"/>
              </a:solidFill>
              <a:effectLst/>
              <a:uFillTx/>
              <a:latin typeface="Times New Roman"/>
            </a:endParaRPr>
          </a:p>
        </p:txBody>
      </p:sp>
      <p:sp>
        <p:nvSpPr>
          <p:cNvPr id="232" name="Text Box 5"/>
          <p:cNvSpPr/>
          <p:nvPr/>
        </p:nvSpPr>
        <p:spPr>
          <a:xfrm>
            <a:off x="228600" y="3429000"/>
            <a:ext cx="937260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Par contre apprendre très tôt à l ’enfant les techniques d’auto étirement</a:t>
            </a:r>
            <a:endParaRPr b="0" lang="en-US" sz="1800" strike="noStrike" u="none">
              <a:solidFill>
                <a:srgbClr val="ffff00"/>
              </a:solidFill>
              <a:effectLst/>
              <a:uFillTx/>
              <a:latin typeface="Times New Roman"/>
            </a:endParaRPr>
          </a:p>
        </p:txBody>
      </p:sp>
      <p:sp>
        <p:nvSpPr>
          <p:cNvPr id="233" name="Text Box 6"/>
          <p:cNvSpPr/>
          <p:nvPr/>
        </p:nvSpPr>
        <p:spPr>
          <a:xfrm>
            <a:off x="0" y="4267080"/>
            <a:ext cx="9372600" cy="752040"/>
          </a:xfrm>
          <a:prstGeom prst="rect">
            <a:avLst/>
          </a:prstGeom>
          <a:noFill/>
          <a:ln w="0">
            <a:noFill/>
          </a:ln>
        </p:spPr>
        <p:style>
          <a:lnRef idx="0"/>
          <a:fillRef idx="0"/>
          <a:effectRef idx="0"/>
          <a:fontRef idx="minor"/>
        </p:style>
        <p:txBody>
          <a:bodyPr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D’après Sermejew et coll. (1964), la période optimale pour développer cette </a:t>
            </a: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qualité et pour obtenir les gains les plus importants  se situerait entre </a:t>
            </a:r>
            <a:r>
              <a:rPr b="1" lang="fr-FR" sz="1800" strike="noStrike" u="sng">
                <a:solidFill>
                  <a:srgbClr val="ffffff"/>
                </a:solidFill>
                <a:effectLst/>
                <a:uFillTx/>
                <a:latin typeface="Arial"/>
              </a:rPr>
              <a:t>11 et 14 ans.</a:t>
            </a:r>
            <a:endParaRPr b="0" lang="en-US" sz="1800" strike="noStrike" u="none">
              <a:solidFill>
                <a:srgbClr val="ffff00"/>
              </a:solidFill>
              <a:effectLst/>
              <a:uFillTx/>
              <a:latin typeface="Times New Roman"/>
            </a:endParaRPr>
          </a:p>
        </p:txBody>
      </p:sp>
      <p:sp>
        <p:nvSpPr>
          <p:cNvPr id="234" name="Text Box 7"/>
          <p:cNvSpPr/>
          <p:nvPr/>
        </p:nvSpPr>
        <p:spPr>
          <a:xfrm>
            <a:off x="0" y="5410080"/>
            <a:ext cx="9142560" cy="7038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La souplesse doit être ensuite entretenue très régulièrement afin de conserver le niveau acquis.</a:t>
            </a:r>
            <a:endParaRPr b="0" lang="en-US" sz="2000" strike="noStrike" u="none">
              <a:solidFill>
                <a:srgbClr val="ffff00"/>
              </a:solidFill>
              <a:effectLst/>
              <a:uFillTx/>
              <a:latin typeface="Times New Roman"/>
            </a:endParaRPr>
          </a:p>
        </p:txBody>
      </p:sp>
    </p:spTree>
  </p:cSld>
  <p:transition spd="med">
    <p:zoom dir="out"/>
  </p:transition>
  <p:timing>
    <p:tnLst>
      <p:par>
        <p:cTn id="720" dur="indefinite" restart="never" nodeType="tmRoot">
          <p:childTnLst>
            <p:seq>
              <p:cTn id="721" dur="indefinite" nodeType="mainSeq">
                <p:childTnLst>
                  <p:par>
                    <p:cTn id="722" nodeType="clickEffect" fill="hold">
                      <p:stCondLst>
                        <p:cond delay="indefinite"/>
                      </p:stCondLst>
                      <p:childTnLst>
                        <p:par>
                          <p:cTn id="723" nodeType="withEffect" fill="hold">
                            <p:stCondLst>
                              <p:cond delay="0"/>
                            </p:stCondLst>
                            <p:childTnLst>
                              <p:par>
                                <p:cTn id="724" nodeType="clickEffect" fill="hold" presetClass="entr" presetID="9">
                                  <p:stCondLst>
                                    <p:cond delay="0"/>
                                  </p:stCondLst>
                                  <p:childTnLst>
                                    <p:set>
                                      <p:cBhvr>
                                        <p:cTn id="725" dur="1" fill="hold">
                                          <p:stCondLst>
                                            <p:cond delay="0"/>
                                          </p:stCondLst>
                                        </p:cTn>
                                        <p:tgtEl>
                                          <p:spTgt spid="231">
                                            <p:txEl>
                                              <p:pRg st="0" end="0"/>
                                            </p:txEl>
                                          </p:spTgt>
                                        </p:tgtEl>
                                        <p:attrNameLst>
                                          <p:attrName>style.visibility</p:attrName>
                                        </p:attrNameLst>
                                      </p:cBhvr>
                                      <p:to>
                                        <p:strVal val="visible"/>
                                      </p:to>
                                    </p:set>
                                    <p:animEffect filter="dissolve" transition="in">
                                      <p:cBhvr additive="repl">
                                        <p:cTn id="726" dur="500"/>
                                        <p:tgtEl>
                                          <p:spTgt spid="231">
                                            <p:txEl>
                                              <p:pRg st="0" end="0"/>
                                            </p:txEl>
                                          </p:spTgt>
                                        </p:tgtEl>
                                      </p:cBhvr>
                                    </p:animEffect>
                                  </p:childTnLst>
                                </p:cTn>
                              </p:par>
                            </p:childTnLst>
                          </p:cTn>
                        </p:par>
                      </p:childTnLst>
                    </p:cTn>
                  </p:par>
                  <p:par>
                    <p:cTn id="727" nodeType="clickEffect" fill="hold">
                      <p:stCondLst>
                        <p:cond delay="indefinite"/>
                      </p:stCondLst>
                      <p:childTnLst>
                        <p:par>
                          <p:cTn id="728" nodeType="withEffect" fill="hold">
                            <p:stCondLst>
                              <p:cond delay="0"/>
                            </p:stCondLst>
                            <p:childTnLst>
                              <p:par>
                                <p:cTn id="729" nodeType="clickEffect" fill="hold" presetClass="entr" presetID="9">
                                  <p:stCondLst>
                                    <p:cond delay="0"/>
                                  </p:stCondLst>
                                  <p:childTnLst>
                                    <p:set>
                                      <p:cBhvr>
                                        <p:cTn id="730" dur="1" fill="hold">
                                          <p:stCondLst>
                                            <p:cond delay="0"/>
                                          </p:stCondLst>
                                        </p:cTn>
                                        <p:tgtEl>
                                          <p:spTgt spid="231">
                                            <p:txEl>
                                              <p:pRg st="1" end="1"/>
                                            </p:txEl>
                                          </p:spTgt>
                                        </p:tgtEl>
                                        <p:attrNameLst>
                                          <p:attrName>style.visibility</p:attrName>
                                        </p:attrNameLst>
                                      </p:cBhvr>
                                      <p:to>
                                        <p:strVal val="visible"/>
                                      </p:to>
                                    </p:set>
                                    <p:animEffect filter="dissolve" transition="in">
                                      <p:cBhvr additive="repl">
                                        <p:cTn id="731" dur="500"/>
                                        <p:tgtEl>
                                          <p:spTgt spid="231">
                                            <p:txEl>
                                              <p:pRg st="1" end="1"/>
                                            </p:txEl>
                                          </p:spTgt>
                                        </p:tgtEl>
                                      </p:cBhvr>
                                    </p:animEffect>
                                  </p:childTnLst>
                                </p:cTn>
                              </p:par>
                              <p:animClr clrSpc="rgb">
                                <p:cBhvr>
                                  <p:cTn id="732" dur="1" fill="hold">
                                    <p:stCondLst>
                                      <p:cond delay="0"/>
                                    </p:stCondLst>
                                  </p:cTn>
                                  <p:tgtEl>
                                    <p:spTgt spid="231">
                                      <p:txEl>
                                        <p:pRg st="0" end="0"/>
                                      </p:txEl>
                                    </p:spTgt>
                                  </p:tgtEl>
                                  <p:attrNameLst>
                                    <p:attrName>ppt_c</p:attrName>
                                  </p:attrNameLst>
                                </p:cBhvr>
                                <p:to>
                                  <a:srgbClr val="ccccff"/>
                                </p:to>
                              </p:animClr>
                            </p:childTnLst>
                          </p:cTn>
                        </p:par>
                      </p:childTnLst>
                    </p:cTn>
                  </p:par>
                  <p:par>
                    <p:cTn id="733" nodeType="clickEffect" fill="hold">
                      <p:stCondLst>
                        <p:cond delay="indefinite"/>
                      </p:stCondLst>
                      <p:childTnLst>
                        <p:par>
                          <p:cTn id="734" nodeType="withEffect" fill="hold">
                            <p:stCondLst>
                              <p:cond delay="0"/>
                            </p:stCondLst>
                            <p:childTnLst>
                              <p:par>
                                <p:cTn id="735" nodeType="clickEffect" fill="hold" presetClass="entr" presetID="9">
                                  <p:stCondLst>
                                    <p:cond delay="0"/>
                                  </p:stCondLst>
                                  <p:childTnLst>
                                    <p:set>
                                      <p:cBhvr>
                                        <p:cTn id="736" dur="1" fill="hold">
                                          <p:stCondLst>
                                            <p:cond delay="0"/>
                                          </p:stCondLst>
                                        </p:cTn>
                                        <p:tgtEl>
                                          <p:spTgt spid="232"/>
                                        </p:tgtEl>
                                        <p:attrNameLst>
                                          <p:attrName>style.visibility</p:attrName>
                                        </p:attrNameLst>
                                      </p:cBhvr>
                                      <p:to>
                                        <p:strVal val="visible"/>
                                      </p:to>
                                    </p:set>
                                    <p:animEffect filter="dissolve" transition="in">
                                      <p:cBhvr additive="repl">
                                        <p:cTn id="737" dur="500"/>
                                        <p:tgtEl>
                                          <p:spTgt spid="232"/>
                                        </p:tgtEl>
                                      </p:cBhvr>
                                    </p:animEffect>
                                  </p:childTnLst>
                                </p:cTn>
                              </p:par>
                              <p:animClr clrSpc="rgb">
                                <p:cBhvr>
                                  <p:cTn id="738" dur="1" fill="hold">
                                    <p:stCondLst>
                                      <p:cond delay="0"/>
                                    </p:stCondLst>
                                  </p:cTn>
                                  <p:tgtEl>
                                    <p:spTgt spid="231">
                                      <p:txEl>
                                        <p:pRg st="1" end="1"/>
                                      </p:txEl>
                                    </p:spTgt>
                                  </p:tgtEl>
                                  <p:attrNameLst>
                                    <p:attrName>ppt_c</p:attrName>
                                  </p:attrNameLst>
                                </p:cBhvr>
                                <p:to>
                                  <a:srgbClr val="ccccff"/>
                                </p:to>
                              </p:animClr>
                            </p:childTnLst>
                          </p:cTn>
                        </p:par>
                      </p:childTnLst>
                    </p:cTn>
                  </p:par>
                  <p:par>
                    <p:cTn id="739" nodeType="clickEffect" fill="hold">
                      <p:stCondLst>
                        <p:cond delay="indefinite"/>
                      </p:stCondLst>
                      <p:childTnLst>
                        <p:par>
                          <p:cTn id="740" nodeType="withEffect" fill="hold">
                            <p:stCondLst>
                              <p:cond delay="0"/>
                            </p:stCondLst>
                            <p:childTnLst>
                              <p:par>
                                <p:cTn id="741" nodeType="clickEffect" fill="hold" presetClass="entr" presetID="9">
                                  <p:stCondLst>
                                    <p:cond delay="0"/>
                                  </p:stCondLst>
                                  <p:childTnLst>
                                    <p:set>
                                      <p:cBhvr>
                                        <p:cTn id="742" dur="1" fill="hold">
                                          <p:stCondLst>
                                            <p:cond delay="0"/>
                                          </p:stCondLst>
                                        </p:cTn>
                                        <p:tgtEl>
                                          <p:spTgt spid="233"/>
                                        </p:tgtEl>
                                        <p:attrNameLst>
                                          <p:attrName>style.visibility</p:attrName>
                                        </p:attrNameLst>
                                      </p:cBhvr>
                                      <p:to>
                                        <p:strVal val="visible"/>
                                      </p:to>
                                    </p:set>
                                    <p:animEffect filter="dissolve" transition="in">
                                      <p:cBhvr additive="repl">
                                        <p:cTn id="743" dur="500"/>
                                        <p:tgtEl>
                                          <p:spTgt spid="233"/>
                                        </p:tgtEl>
                                      </p:cBhvr>
                                    </p:animEffect>
                                  </p:childTnLst>
                                </p:cTn>
                              </p:par>
                            </p:childTnLst>
                          </p:cTn>
                        </p:par>
                      </p:childTnLst>
                    </p:cTn>
                  </p:par>
                  <p:par>
                    <p:cTn id="744" nodeType="clickEffect" fill="hold">
                      <p:stCondLst>
                        <p:cond delay="indefinite"/>
                      </p:stCondLst>
                      <p:childTnLst>
                        <p:par>
                          <p:cTn id="745" nodeType="withEffect" fill="hold">
                            <p:stCondLst>
                              <p:cond delay="0"/>
                            </p:stCondLst>
                            <p:childTnLst>
                              <p:par>
                                <p:cTn id="746" nodeType="clickEffect" fill="hold" presetClass="entr" presetID="9">
                                  <p:stCondLst>
                                    <p:cond delay="0"/>
                                  </p:stCondLst>
                                  <p:childTnLst>
                                    <p:set>
                                      <p:cBhvr>
                                        <p:cTn id="747" dur="1" fill="hold">
                                          <p:stCondLst>
                                            <p:cond delay="0"/>
                                          </p:stCondLst>
                                        </p:cTn>
                                        <p:tgtEl>
                                          <p:spTgt spid="234"/>
                                        </p:tgtEl>
                                        <p:attrNameLst>
                                          <p:attrName>style.visibility</p:attrName>
                                        </p:attrNameLst>
                                      </p:cBhvr>
                                      <p:to>
                                        <p:strVal val="visible"/>
                                      </p:to>
                                    </p:set>
                                    <p:animEffect filter="dissolve" transition="in">
                                      <p:cBhvr additive="repl">
                                        <p:cTn id="748" dur="500"/>
                                        <p:tgtEl>
                                          <p:spTgt spid="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p:nvPr>
        </p:nvSpPr>
        <p:spPr>
          <a:xfrm>
            <a:off x="394920" y="907560"/>
            <a:ext cx="8134200" cy="1303560"/>
          </a:xfrm>
          <a:prstGeom prst="rect">
            <a:avLst/>
          </a:prstGeom>
          <a:noFill/>
          <a:ln w="0">
            <a:noFill/>
          </a:ln>
        </p:spPr>
        <p:txBody>
          <a:bodyPr lIns="91440" rIns="91440" tIns="45720" bIns="45720" anchor="t">
            <a:normAutofit fontScale="40000" lnSpcReduction="19999"/>
          </a:bodyPr>
          <a:p>
            <a:pPr marL="343080" indent="-343080" algn="ctr">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3600" strike="noStrike" u="none">
                <a:solidFill>
                  <a:srgbClr val="ffffff"/>
                </a:solidFill>
                <a:effectLst/>
                <a:uFillTx/>
                <a:latin typeface="Calibri"/>
                <a:ea typeface="Calibri"/>
              </a:rPr>
              <a:t>3- EVALUATION ET DEVELOPPEMENT DES CAPACTES PHYSIOLOGIQUES DE L’ENFANT ET DE L’ADOLESCENT </a:t>
            </a:r>
            <a:endParaRPr b="0" lang="en-US" sz="3600" strike="noStrike" u="none">
              <a:solidFill>
                <a:srgbClr val="ffff00"/>
              </a:solidFill>
              <a:effectLst/>
              <a:uFillTx/>
              <a:latin typeface="Times New Roman"/>
            </a:endParaRPr>
          </a:p>
          <a:p>
            <a:pPr marL="343080" indent="-343080" algn="ctr">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343080" indent="-343080" algn="ctr">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343080" indent="-343080" algn="ctr">
              <a:lnSpc>
                <a:spcPct val="15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Calibri"/>
                <a:ea typeface="Calibri"/>
              </a:rPr>
              <a:t>3-1 CAPACITE LACTIQUE ET APTITUDE A L’EXERCICE INTENSE DE MOYENNE DUREE</a:t>
            </a:r>
            <a:endParaRPr b="0" lang="en-US" sz="2400" strike="noStrike" u="none">
              <a:solidFill>
                <a:srgbClr val="ffff00"/>
              </a:solidFill>
              <a:effectLst/>
              <a:uFillTx/>
              <a:latin typeface="Times New Roman"/>
            </a:endParaRPr>
          </a:p>
        </p:txBody>
      </p:sp>
    </p:spTree>
  </p:cSld>
  <p:transition spd="med">
    <p:zoom dir="out"/>
  </p:transition>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Text Box 2"/>
          <p:cNvSpPr/>
          <p:nvPr/>
        </p:nvSpPr>
        <p:spPr>
          <a:xfrm>
            <a:off x="609480" y="1066680"/>
            <a:ext cx="8305920" cy="4370760"/>
          </a:xfrm>
          <a:prstGeom prst="rect">
            <a:avLst/>
          </a:prstGeom>
          <a:noFill/>
          <a:ln w="0">
            <a:noFill/>
          </a:ln>
        </p:spPr>
        <p:style>
          <a:lnRef idx="0"/>
          <a:fillRef idx="0"/>
          <a:effectRef idx="0"/>
          <a:fontRef idx="minor"/>
        </p:style>
        <p:txBody>
          <a:bodyPr lIns="90000" rIns="90000" tIns="46800" bIns="46800" anchor="t">
            <a:spAutoFit/>
          </a:bodyPr>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Il a été longtemps soutenu qu’il ne fallait pas soumettre </a:t>
            </a: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l’enfant à des exercices de type anérobie lactique.</a:t>
            </a: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A cause de concentrations moindres en glycogène musculaire et d’une maturation insuffisante des enzymes glycolytiques chez l’enfant, ces exercices </a:t>
            </a:r>
            <a:r>
              <a:rPr b="1" lang="fr-FR" sz="2400" strike="noStrike" u="none">
                <a:solidFill>
                  <a:srgbClr val="ffffff"/>
                </a:solidFill>
                <a:effectLst/>
                <a:uFillTx/>
                <a:latin typeface="Arial"/>
              </a:rPr>
              <a:t>seraient inefficaces </a:t>
            </a:r>
            <a:r>
              <a:rPr b="1" lang="fr-FR" sz="2400" strike="noStrike" u="none">
                <a:solidFill>
                  <a:srgbClr val="ffff00"/>
                </a:solidFill>
                <a:effectLst/>
                <a:uFillTx/>
                <a:latin typeface="Arial"/>
              </a:rPr>
              <a:t>pour améliorer  la glycolyse lactique et pourraient même </a:t>
            </a:r>
            <a:r>
              <a:rPr b="1" lang="fr-FR" sz="2400" strike="noStrike" u="none">
                <a:solidFill>
                  <a:srgbClr val="ffffff"/>
                </a:solidFill>
                <a:effectLst/>
                <a:uFillTx/>
                <a:latin typeface="Arial"/>
              </a:rPr>
              <a:t>s’avérer dangereux </a:t>
            </a:r>
            <a:r>
              <a:rPr b="1" lang="fr-FR" sz="2400" strike="noStrike" u="none">
                <a:solidFill>
                  <a:srgbClr val="ffff00"/>
                </a:solidFill>
                <a:effectLst/>
                <a:uFillTx/>
                <a:latin typeface="Arial"/>
              </a:rPr>
              <a:t>pour sa santé.</a:t>
            </a:r>
            <a:endParaRPr b="0" lang="en-US" sz="2400" strike="noStrike" u="none">
              <a:solidFill>
                <a:srgbClr val="ffff00"/>
              </a:solidFill>
              <a:effectLst/>
              <a:uFillTx/>
              <a:latin typeface="Times New Roman"/>
            </a:endParaRPr>
          </a:p>
        </p:txBody>
      </p:sp>
      <p:sp>
        <p:nvSpPr>
          <p:cNvPr id="237" name="Text Box 3"/>
          <p:cNvSpPr/>
          <p:nvPr/>
        </p:nvSpPr>
        <p:spPr>
          <a:xfrm>
            <a:off x="2667600" y="5732640"/>
            <a:ext cx="38732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Qu’en est-il exactement ?</a:t>
            </a:r>
            <a:endParaRPr b="0" lang="en-US" sz="2400" strike="noStrike" u="none">
              <a:solidFill>
                <a:srgbClr val="ffff00"/>
              </a:solidFill>
              <a:effectLst/>
              <a:uFillTx/>
              <a:latin typeface="Times New Roman"/>
            </a:endParaRPr>
          </a:p>
        </p:txBody>
      </p:sp>
    </p:spTree>
  </p:cSld>
  <p:transition spd="med">
    <p:zoom dir="out"/>
  </p:transition>
  <p:timing>
    <p:tnLst>
      <p:par>
        <p:cTn id="749" dur="indefinite" restart="never" nodeType="tmRoot">
          <p:childTnLst>
            <p:seq>
              <p:cTn id="750" dur="indefinite" nodeType="mainSeq">
                <p:childTnLst>
                  <p:par>
                    <p:cTn id="751" nodeType="clickEffect" fill="hold">
                      <p:stCondLst>
                        <p:cond delay="indefinite"/>
                      </p:stCondLst>
                      <p:childTnLst>
                        <p:par>
                          <p:cTn id="752" nodeType="withEffect" fill="hold">
                            <p:stCondLst>
                              <p:cond delay="0"/>
                            </p:stCondLst>
                            <p:childTnLst>
                              <p:par>
                                <p:cTn id="753" nodeType="clickEffect" fill="hold" presetClass="entr" presetID="22" presetSubtype="8" repeatCount="1000">
                                  <p:stCondLst>
                                    <p:cond delay="0"/>
                                  </p:stCondLst>
                                  <p:childTnLst>
                                    <p:set>
                                      <p:cBhvr>
                                        <p:cTn id="754" dur="1" fill="hold">
                                          <p:stCondLst>
                                            <p:cond delay="0"/>
                                          </p:stCondLst>
                                        </p:cTn>
                                        <p:tgtEl>
                                          <p:spTgt spid="236">
                                            <p:txEl>
                                              <p:pRg st="0" end="0"/>
                                            </p:txEl>
                                          </p:spTgt>
                                        </p:tgtEl>
                                        <p:attrNameLst>
                                          <p:attrName>style.visibility</p:attrName>
                                        </p:attrNameLst>
                                      </p:cBhvr>
                                      <p:to>
                                        <p:strVal val="visible"/>
                                      </p:to>
                                    </p:set>
                                    <p:animEffect filter="wipe(left)" transition="in">
                                      <p:cBhvr additive="repl">
                                        <p:cTn id="755" dur="1500"/>
                                        <p:tgtEl>
                                          <p:spTgt spid="236">
                                            <p:txEl>
                                              <p:pRg st="0" end="0"/>
                                            </p:txEl>
                                          </p:spTgt>
                                        </p:tgtEl>
                                      </p:cBhvr>
                                    </p:animEffect>
                                  </p:childTnLst>
                                </p:cTn>
                              </p:par>
                            </p:childTnLst>
                          </p:cTn>
                        </p:par>
                        <p:par>
                          <p:cTn id="756" nodeType="afterEffect" fill="hold">
                            <p:stCondLst>
                              <p:cond delay="1500"/>
                            </p:stCondLst>
                            <p:childTnLst>
                              <p:par>
                                <p:cTn id="757" nodeType="afterEffect" fill="hold" presetClass="entr" presetID="22" presetSubtype="8" repeatCount="1000">
                                  <p:stCondLst>
                                    <p:cond delay="0"/>
                                  </p:stCondLst>
                                  <p:childTnLst>
                                    <p:set>
                                      <p:cBhvr>
                                        <p:cTn id="758" dur="1" fill="hold">
                                          <p:stCondLst>
                                            <p:cond delay="0"/>
                                          </p:stCondLst>
                                        </p:cTn>
                                        <p:tgtEl>
                                          <p:spTgt spid="236">
                                            <p:txEl>
                                              <p:pRg st="1" end="1"/>
                                            </p:txEl>
                                          </p:spTgt>
                                        </p:tgtEl>
                                        <p:attrNameLst>
                                          <p:attrName>style.visibility</p:attrName>
                                        </p:attrNameLst>
                                      </p:cBhvr>
                                      <p:to>
                                        <p:strVal val="visible"/>
                                      </p:to>
                                    </p:set>
                                    <p:animEffect filter="wipe(left)" transition="in">
                                      <p:cBhvr additive="repl">
                                        <p:cTn id="759" dur="1500"/>
                                        <p:tgtEl>
                                          <p:spTgt spid="236">
                                            <p:txEl>
                                              <p:pRg st="1" end="1"/>
                                            </p:txEl>
                                          </p:spTgt>
                                        </p:tgtEl>
                                      </p:cBhvr>
                                    </p:animEffect>
                                  </p:childTnLst>
                                </p:cTn>
                              </p:par>
                            </p:childTnLst>
                          </p:cTn>
                        </p:par>
                        <p:par>
                          <p:cTn id="760" nodeType="afterEffect" fill="hold">
                            <p:stCondLst>
                              <p:cond delay="3000"/>
                            </p:stCondLst>
                            <p:childTnLst>
                              <p:par>
                                <p:cTn id="761" nodeType="afterEffect" fill="hold" presetClass="entr" presetID="22" presetSubtype="8" repeatCount="1000">
                                  <p:stCondLst>
                                    <p:cond delay="0"/>
                                  </p:stCondLst>
                                  <p:childTnLst>
                                    <p:set>
                                      <p:cBhvr>
                                        <p:cTn id="762" dur="1" fill="hold">
                                          <p:stCondLst>
                                            <p:cond delay="0"/>
                                          </p:stCondLst>
                                        </p:cTn>
                                        <p:tgtEl>
                                          <p:spTgt spid="236">
                                            <p:txEl>
                                              <p:pRg st="3" end="3"/>
                                            </p:txEl>
                                          </p:spTgt>
                                        </p:tgtEl>
                                        <p:attrNameLst>
                                          <p:attrName>style.visibility</p:attrName>
                                        </p:attrNameLst>
                                      </p:cBhvr>
                                      <p:to>
                                        <p:strVal val="visible"/>
                                      </p:to>
                                    </p:set>
                                    <p:animEffect filter="wipe(left)" transition="in">
                                      <p:cBhvr additive="repl">
                                        <p:cTn id="763" dur="2000"/>
                                        <p:tgtEl>
                                          <p:spTgt spid="236">
                                            <p:txEl>
                                              <p:pRg st="3" end="3"/>
                                            </p:txEl>
                                          </p:spTgt>
                                        </p:tgtEl>
                                      </p:cBhvr>
                                    </p:animEffect>
                                  </p:childTnLst>
                                </p:cTn>
                              </p:par>
                            </p:childTnLst>
                          </p:cTn>
                        </p:par>
                      </p:childTnLst>
                    </p:cTn>
                  </p:par>
                  <p:par>
                    <p:cTn id="764" nodeType="clickEffect" fill="hold">
                      <p:stCondLst>
                        <p:cond delay="indefinite"/>
                      </p:stCondLst>
                      <p:childTnLst>
                        <p:par>
                          <p:cTn id="765" nodeType="withEffect" fill="hold">
                            <p:stCondLst>
                              <p:cond delay="0"/>
                            </p:stCondLst>
                            <p:childTnLst>
                              <p:par>
                                <p:cTn id="766" nodeType="clickEffect" fill="hold" presetClass="entr" presetID="22" presetSubtype="8" repeatCount="1000">
                                  <p:stCondLst>
                                    <p:cond delay="0"/>
                                  </p:stCondLst>
                                  <p:childTnLst>
                                    <p:set>
                                      <p:cBhvr>
                                        <p:cTn id="767" dur="1" fill="hold">
                                          <p:stCondLst>
                                            <p:cond delay="0"/>
                                          </p:stCondLst>
                                        </p:cTn>
                                        <p:tgtEl>
                                          <p:spTgt spid="237"/>
                                        </p:tgtEl>
                                        <p:attrNameLst>
                                          <p:attrName>style.visibility</p:attrName>
                                        </p:attrNameLst>
                                      </p:cBhvr>
                                      <p:to>
                                        <p:strVal val="visible"/>
                                      </p:to>
                                    </p:set>
                                    <p:animEffect filter="wipe(left)" transition="in">
                                      <p:cBhvr additive="repl">
                                        <p:cTn id="768" dur="10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Rectangle 2"/>
          <p:cNvSpPr/>
          <p:nvPr/>
        </p:nvSpPr>
        <p:spPr>
          <a:xfrm>
            <a:off x="1066680" y="609480"/>
            <a:ext cx="7315200" cy="519480"/>
          </a:xfrm>
          <a:prstGeom prst="rect">
            <a:avLst/>
          </a:prstGeom>
          <a:noFill/>
          <a:ln w="0">
            <a:noFill/>
          </a:ln>
        </p:spPr>
        <p:style>
          <a:lnRef idx="0"/>
          <a:fillRef idx="0"/>
          <a:effectRef idx="0"/>
          <a:fontRef idx="minor"/>
        </p:style>
        <p:txBody>
          <a:bodyPr lIns="92160" rIns="92160" tIns="46080" bIns="46080" anchor="t">
            <a:spAutoFit/>
          </a:bodyPr>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Times New Roman"/>
              </a:rPr>
              <a:t>Activité glycolytique : Enfant &lt; Adulte</a:t>
            </a:r>
            <a:endParaRPr b="0" lang="en-US" sz="2800" strike="noStrike" u="none">
              <a:solidFill>
                <a:srgbClr val="ffff00"/>
              </a:solidFill>
              <a:effectLst/>
              <a:uFillTx/>
              <a:latin typeface="Times New Roman"/>
            </a:endParaRPr>
          </a:p>
        </p:txBody>
      </p:sp>
      <p:grpSp>
        <p:nvGrpSpPr>
          <p:cNvPr id="239" name="Group 3"/>
          <p:cNvGrpSpPr/>
          <p:nvPr/>
        </p:nvGrpSpPr>
        <p:grpSpPr>
          <a:xfrm>
            <a:off x="533520" y="1371600"/>
            <a:ext cx="6781680" cy="2472840"/>
            <a:chOff x="533520" y="1371600"/>
            <a:chExt cx="6781680" cy="2472840"/>
          </a:xfrm>
        </p:grpSpPr>
        <p:sp>
          <p:nvSpPr>
            <p:cNvPr id="240" name="Rectangle 4"/>
            <p:cNvSpPr/>
            <p:nvPr/>
          </p:nvSpPr>
          <p:spPr>
            <a:xfrm>
              <a:off x="533520" y="1371600"/>
              <a:ext cx="3886200" cy="397440"/>
            </a:xfrm>
            <a:prstGeom prst="rect">
              <a:avLst/>
            </a:prstGeom>
            <a:noFill/>
            <a:ln w="0">
              <a:noFill/>
            </a:ln>
          </p:spPr>
          <p:style>
            <a:lnRef idx="0"/>
            <a:fillRef idx="0"/>
            <a:effectRef idx="0"/>
            <a:fontRef idx="minor"/>
          </p:style>
          <p:txBody>
            <a:bodyPr lIns="92160" rIns="92160" tIns="46080" bIns="46080" anchor="t">
              <a:spAutoFit/>
            </a:bodyPr>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Times New Roman"/>
                </a:rPr>
                <a:t>1/ </a:t>
              </a:r>
              <a:r>
                <a:rPr b="1" lang="fr-FR" sz="2000" strike="noStrike" u="sng">
                  <a:solidFill>
                    <a:srgbClr val="ffff00"/>
                  </a:solidFill>
                  <a:effectLst/>
                  <a:uFillTx/>
                  <a:latin typeface="Times New Roman"/>
                </a:rPr>
                <a:t>AU NIVEAU MUSCULAIRE</a:t>
              </a:r>
              <a:endParaRPr b="0" lang="en-US" sz="2000" strike="noStrike" u="none">
                <a:solidFill>
                  <a:srgbClr val="ffff00"/>
                </a:solidFill>
                <a:effectLst/>
                <a:uFillTx/>
                <a:latin typeface="Times New Roman"/>
              </a:endParaRPr>
            </a:p>
          </p:txBody>
        </p:sp>
        <p:sp>
          <p:nvSpPr>
            <p:cNvPr id="241" name="AutoShape 5"/>
            <p:cNvSpPr/>
            <p:nvPr/>
          </p:nvSpPr>
          <p:spPr>
            <a:xfrm>
              <a:off x="1219320" y="2286000"/>
              <a:ext cx="733320" cy="1371600"/>
            </a:xfrm>
            <a:custGeom>
              <a:avLst/>
              <a:gdLst>
                <a:gd name="textAreaLeft" fmla="*/ 98280 w 733320"/>
                <a:gd name="textAreaRight" fmla="*/ 635040 w 733320"/>
                <a:gd name="textAreaTop" fmla="*/ 239760 h 1371600"/>
                <a:gd name="textAreaBottom" fmla="*/ 994320 h 1371600"/>
                <a:gd name="GluePoint1X" fmla="*/ 0 w 21600"/>
                <a:gd name="GluePoint1Y" fmla="*/ 17 h 21600"/>
                <a:gd name="GluePoint2X" fmla="*/ 2 w 21600"/>
                <a:gd name="GluePoint2Y" fmla="*/ 14 h 21600"/>
                <a:gd name="GluePoint3X" fmla="*/ 22 w 21600"/>
                <a:gd name="GluePoint3Y" fmla="*/ 8 h 21600"/>
                <a:gd name="GluePoint4X" fmla="*/ 2 w 21600"/>
                <a:gd name="GluePoint4Y" fmla="*/ 12 h 21600"/>
                <a:gd name="GluePoint5X" fmla="*/ 22 w 21600"/>
                <a:gd name="GluePoint5Y" fmla="*/ 16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21600" y="0"/>
                  </a:moveTo>
                  <a:arcTo wR="21600" hR="7560" stAng="-5400000" swAng="-5400000"/>
                  <a:lnTo>
                    <a:pt x="0" y="11880"/>
                  </a:lnTo>
                  <a:arcTo wR="21600" hR="7560" stAng="10800000" swAng="-2682637"/>
                  <a:lnTo>
                    <a:pt x="14400" y="21168"/>
                  </a:lnTo>
                  <a:lnTo>
                    <a:pt x="21600" y="17280"/>
                  </a:lnTo>
                  <a:lnTo>
                    <a:pt x="14400" y="12528"/>
                  </a:lnTo>
                  <a:lnTo>
                    <a:pt x="14400" y="14688"/>
                  </a:lnTo>
                  <a:arcTo wR="21600" hR="7560" stAng="8117363" swAng="2325203"/>
                  <a:lnTo>
                    <a:pt x="900" y="9720"/>
                  </a:lnTo>
                  <a:arcTo wR="21600" hR="7560" stAng="-10442565" swAng="5042565"/>
                  <a:close/>
                </a:path>
                <a:path fill="darkenLess" w="21600" h="21600">
                  <a:moveTo>
                    <a:pt x="21600" y="0"/>
                  </a:moveTo>
                  <a:arcTo wR="21600" hR="7560" stAng="-5400000" swAng="-5400000"/>
                  <a:lnTo>
                    <a:pt x="0" y="7560"/>
                  </a:lnTo>
                  <a:arcTo wR="21600" hR="7560" stAng="10800000" swAng="-357435"/>
                  <a:lnTo>
                    <a:pt x="900" y="9720"/>
                  </a:lnTo>
                  <a:arcTo wR="21600" hR="7560" stAng="-10442565" swAng="5042565"/>
                  <a:close/>
                </a:path>
              </a:pathLst>
            </a:cu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42" name="Rectangle 6"/>
            <p:cNvSpPr/>
            <p:nvPr/>
          </p:nvSpPr>
          <p:spPr>
            <a:xfrm>
              <a:off x="2209680" y="2133720"/>
              <a:ext cx="3124440" cy="519480"/>
            </a:xfrm>
            <a:prstGeom prst="rect">
              <a:avLst/>
            </a:prstGeom>
            <a:noFill/>
            <a:ln w="0">
              <a:noFill/>
            </a:ln>
          </p:spPr>
          <p:style>
            <a:lnRef idx="0"/>
            <a:fillRef idx="0"/>
            <a:effectRef idx="0"/>
            <a:fontRef idx="minor"/>
          </p:style>
          <p:txBody>
            <a:bodyPr lIns="92160" rIns="92160" tIns="46080" bIns="4608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Times New Roman"/>
                </a:rPr>
                <a:t>Biopsie musculaire</a:t>
              </a:r>
              <a:endParaRPr b="0" lang="en-US" sz="2800" strike="noStrike" u="none">
                <a:solidFill>
                  <a:srgbClr val="ffff00"/>
                </a:solidFill>
                <a:effectLst/>
                <a:uFillTx/>
                <a:latin typeface="Times New Roman"/>
              </a:endParaRPr>
            </a:p>
          </p:txBody>
        </p:sp>
        <p:sp>
          <p:nvSpPr>
            <p:cNvPr id="243" name="Rectangle 7"/>
            <p:cNvSpPr/>
            <p:nvPr/>
          </p:nvSpPr>
          <p:spPr>
            <a:xfrm>
              <a:off x="2209680" y="2895480"/>
              <a:ext cx="5105520" cy="948960"/>
            </a:xfrm>
            <a:prstGeom prst="rect">
              <a:avLst/>
            </a:prstGeom>
            <a:noFill/>
            <a:ln w="0">
              <a:noFill/>
            </a:ln>
          </p:spPr>
          <p:style>
            <a:lnRef idx="0"/>
            <a:fillRef idx="0"/>
            <a:effectRef idx="0"/>
            <a:fontRef idx="minor"/>
          </p:style>
          <p:txBody>
            <a:bodyPr lIns="92160" rIns="92160" tIns="46080" bIns="4608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Times New Roman"/>
                </a:rPr>
                <a:t>[L]</a:t>
              </a:r>
              <a:r>
                <a:rPr b="1" lang="fr-FR" sz="2800" strike="noStrike" u="none" baseline="-25000">
                  <a:solidFill>
                    <a:srgbClr val="ffff00"/>
                  </a:solidFill>
                  <a:effectLst/>
                  <a:uFillTx/>
                  <a:latin typeface="Times New Roman"/>
                </a:rPr>
                <a:t>m</a:t>
              </a:r>
              <a:r>
                <a:rPr b="1" lang="fr-FR" sz="2800" strike="noStrike" u="none">
                  <a:solidFill>
                    <a:srgbClr val="ffff00"/>
                  </a:solidFill>
                  <a:effectLst/>
                  <a:uFillTx/>
                  <a:latin typeface="Times New Roman"/>
                </a:rPr>
                <a:t> : Enfant &lt; Adulte</a:t>
              </a:r>
              <a:endParaRPr b="0" lang="en-US" sz="2800" strike="noStrike" u="none">
                <a:solidFill>
                  <a:srgbClr val="ffff00"/>
                </a:solidFill>
                <a:effectLst/>
                <a:uFillTx/>
                <a:latin typeface="Times New Roman"/>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Times New Roman"/>
                </a:rPr>
                <a:t>Eriksson et coll. (1971) ; Eriksson (1980)</a:t>
              </a:r>
              <a:endParaRPr b="0" lang="en-US" sz="1600" strike="noStrike" u="none">
                <a:solidFill>
                  <a:srgbClr val="ffff00"/>
                </a:solidFill>
                <a:effectLst/>
                <a:uFillTx/>
                <a:latin typeface="Times New Roman"/>
              </a:endParaRPr>
            </a:p>
          </p:txBody>
        </p:sp>
      </p:grpSp>
      <p:grpSp>
        <p:nvGrpSpPr>
          <p:cNvPr id="244" name="Group 8"/>
          <p:cNvGrpSpPr/>
          <p:nvPr/>
        </p:nvGrpSpPr>
        <p:grpSpPr>
          <a:xfrm>
            <a:off x="1219320" y="4343400"/>
            <a:ext cx="7238880" cy="1975320"/>
            <a:chOff x="1219320" y="4343400"/>
            <a:chExt cx="7238880" cy="1975320"/>
          </a:xfrm>
        </p:grpSpPr>
        <p:sp>
          <p:nvSpPr>
            <p:cNvPr id="245" name="Rectangle 9"/>
            <p:cNvSpPr/>
            <p:nvPr/>
          </p:nvSpPr>
          <p:spPr>
            <a:xfrm>
              <a:off x="2209680" y="4343400"/>
              <a:ext cx="1600200" cy="519480"/>
            </a:xfrm>
            <a:prstGeom prst="rect">
              <a:avLst/>
            </a:prstGeom>
            <a:noFill/>
            <a:ln w="0">
              <a:noFill/>
            </a:ln>
          </p:spPr>
          <p:style>
            <a:lnRef idx="0"/>
            <a:fillRef idx="0"/>
            <a:effectRef idx="0"/>
            <a:fontRef idx="minor"/>
          </p:style>
          <p:txBody>
            <a:bodyPr lIns="92160" rIns="92160" tIns="46080" bIns="4608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baseline="30000">
                  <a:solidFill>
                    <a:srgbClr val="ffff00"/>
                  </a:solidFill>
                  <a:effectLst/>
                  <a:uFillTx/>
                  <a:latin typeface="Times New Roman"/>
                </a:rPr>
                <a:t>31</a:t>
              </a:r>
              <a:r>
                <a:rPr b="1" lang="fr-FR" sz="2800" strike="noStrike" u="none">
                  <a:solidFill>
                    <a:srgbClr val="ffff00"/>
                  </a:solidFill>
                  <a:effectLst/>
                  <a:uFillTx/>
                  <a:latin typeface="Times New Roman"/>
                </a:rPr>
                <a:t>PRMN</a:t>
              </a:r>
              <a:endParaRPr b="0" lang="en-US" sz="2800" strike="noStrike" u="none">
                <a:solidFill>
                  <a:srgbClr val="ffff00"/>
                </a:solidFill>
                <a:effectLst/>
                <a:uFillTx/>
                <a:latin typeface="Times New Roman"/>
              </a:endParaRPr>
            </a:p>
          </p:txBody>
        </p:sp>
        <p:sp>
          <p:nvSpPr>
            <p:cNvPr id="246" name="Rectangle 10"/>
            <p:cNvSpPr/>
            <p:nvPr/>
          </p:nvSpPr>
          <p:spPr>
            <a:xfrm>
              <a:off x="2209680" y="5057640"/>
              <a:ext cx="6248520" cy="1261080"/>
            </a:xfrm>
            <a:prstGeom prst="rect">
              <a:avLst/>
            </a:prstGeom>
            <a:noFill/>
            <a:ln w="0">
              <a:noFill/>
            </a:ln>
          </p:spPr>
          <p:style>
            <a:lnRef idx="0"/>
            <a:fillRef idx="0"/>
            <a:effectRef idx="0"/>
            <a:fontRef idx="minor"/>
          </p:style>
          <p:txBody>
            <a:bodyPr lIns="92160" rIns="92160" tIns="46080" bIns="4608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Times New Roman"/>
                </a:rPr>
                <a:t>pH intramusculaire : Enfant &gt; Adulte</a:t>
              </a:r>
              <a:endParaRPr b="0" lang="en-US" sz="2800" strike="noStrike" u="none">
                <a:solidFill>
                  <a:srgbClr val="ffff00"/>
                </a:solidFill>
                <a:effectLst/>
                <a:uFillTx/>
                <a:latin typeface="Times New Roman"/>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Times New Roman"/>
                </a:rPr>
                <a:t>Kuno et coll. (1995) ; Taylor et coll. (1997) ; Zanconato et coll. (1993)</a:t>
              </a:r>
              <a:endParaRPr b="0" lang="en-US" sz="1600" strike="noStrike" u="none">
                <a:solidFill>
                  <a:srgbClr val="ffff00"/>
                </a:solidFill>
                <a:effectLst/>
                <a:uFillTx/>
                <a:latin typeface="Times New Roman"/>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Times New Roman"/>
                </a:rPr>
                <a:t>Petersen et al. (1999).</a:t>
              </a:r>
              <a:endParaRPr b="0" lang="en-US" sz="1600" strike="noStrike" u="none">
                <a:solidFill>
                  <a:srgbClr val="ffff00"/>
                </a:solidFill>
                <a:effectLst/>
                <a:uFillTx/>
                <a:latin typeface="Times New Roman"/>
              </a:endParaRPr>
            </a:p>
          </p:txBody>
        </p:sp>
        <p:sp>
          <p:nvSpPr>
            <p:cNvPr id="247" name="AutoShape 11"/>
            <p:cNvSpPr/>
            <p:nvPr/>
          </p:nvSpPr>
          <p:spPr>
            <a:xfrm>
              <a:off x="1219320" y="4495680"/>
              <a:ext cx="733320" cy="1371600"/>
            </a:xfrm>
            <a:custGeom>
              <a:avLst/>
              <a:gdLst>
                <a:gd name="textAreaLeft" fmla="*/ 98280 w 733320"/>
                <a:gd name="textAreaRight" fmla="*/ 635040 w 733320"/>
                <a:gd name="textAreaTop" fmla="*/ 239760 h 1371600"/>
                <a:gd name="textAreaBottom" fmla="*/ 994320 h 1371600"/>
                <a:gd name="GluePoint1X" fmla="*/ 0 w 21600"/>
                <a:gd name="GluePoint1Y" fmla="*/ 17 h 21600"/>
                <a:gd name="GluePoint2X" fmla="*/ 2 w 21600"/>
                <a:gd name="GluePoint2Y" fmla="*/ 14 h 21600"/>
                <a:gd name="GluePoint3X" fmla="*/ 22 w 21600"/>
                <a:gd name="GluePoint3Y" fmla="*/ 8 h 21600"/>
                <a:gd name="GluePoint4X" fmla="*/ 2 w 21600"/>
                <a:gd name="GluePoint4Y" fmla="*/ 12 h 21600"/>
                <a:gd name="GluePoint5X" fmla="*/ 22 w 21600"/>
                <a:gd name="GluePoint5Y" fmla="*/ 16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21600" y="0"/>
                  </a:moveTo>
                  <a:arcTo wR="21600" hR="7560" stAng="-5400000" swAng="-5400000"/>
                  <a:lnTo>
                    <a:pt x="0" y="11880"/>
                  </a:lnTo>
                  <a:arcTo wR="21600" hR="7560" stAng="10800000" swAng="-2682637"/>
                  <a:lnTo>
                    <a:pt x="14400" y="21168"/>
                  </a:lnTo>
                  <a:lnTo>
                    <a:pt x="21600" y="17280"/>
                  </a:lnTo>
                  <a:lnTo>
                    <a:pt x="14400" y="12528"/>
                  </a:lnTo>
                  <a:lnTo>
                    <a:pt x="14400" y="14688"/>
                  </a:lnTo>
                  <a:arcTo wR="21600" hR="7560" stAng="8117363" swAng="2325203"/>
                  <a:lnTo>
                    <a:pt x="900" y="9720"/>
                  </a:lnTo>
                  <a:arcTo wR="21600" hR="7560" stAng="-10442565" swAng="5042565"/>
                  <a:close/>
                </a:path>
                <a:path fill="darkenLess" w="21600" h="21600">
                  <a:moveTo>
                    <a:pt x="21600" y="0"/>
                  </a:moveTo>
                  <a:arcTo wR="21600" hR="7560" stAng="-5400000" swAng="-5400000"/>
                  <a:lnTo>
                    <a:pt x="0" y="7560"/>
                  </a:lnTo>
                  <a:arcTo wR="21600" hR="7560" stAng="10800000" swAng="-357435"/>
                  <a:lnTo>
                    <a:pt x="900" y="9720"/>
                  </a:lnTo>
                  <a:arcTo wR="21600" hR="7560" stAng="-10442565" swAng="5042565"/>
                  <a:close/>
                </a:path>
              </a:pathLst>
            </a:cu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spTree>
  </p:cSld>
  <p:transition spd="med">
    <p:zoom dir="out"/>
  </p:transition>
  <p:timing>
    <p:tnLst>
      <p:par>
        <p:cTn id="769" dur="indefinite" restart="never" nodeType="tmRoot">
          <p:childTnLst>
            <p:seq>
              <p:cTn id="770" dur="indefinite" nodeType="mainSeq">
                <p:childTnLst>
                  <p:par>
                    <p:cTn id="771" nodeType="clickEffect" fill="hold">
                      <p:stCondLst>
                        <p:cond delay="indefinite"/>
                      </p:stCondLst>
                      <p:childTnLst>
                        <p:par>
                          <p:cTn id="772" nodeType="withEffect" fill="hold">
                            <p:stCondLst>
                              <p:cond delay="0"/>
                            </p:stCondLst>
                            <p:childTnLst>
                              <p:par>
                                <p:cTn id="773" nodeType="clickEffect" fill="hold" presetClass="entr" presetID="4" presetSubtype="16">
                                  <p:stCondLst>
                                    <p:cond delay="0"/>
                                  </p:stCondLst>
                                  <p:childTnLst>
                                    <p:set>
                                      <p:cBhvr>
                                        <p:cTn id="774" dur="1" fill="hold">
                                          <p:stCondLst>
                                            <p:cond delay="0"/>
                                          </p:stCondLst>
                                        </p:cTn>
                                        <p:tgtEl>
                                          <p:spTgt spid="239"/>
                                        </p:tgtEl>
                                        <p:attrNameLst>
                                          <p:attrName>style.visibility</p:attrName>
                                        </p:attrNameLst>
                                      </p:cBhvr>
                                      <p:to>
                                        <p:strVal val="visible"/>
                                      </p:to>
                                    </p:set>
                                    <p:animEffect filter="box(in)" transition="in">
                                      <p:cBhvr additive="repl">
                                        <p:cTn id="775" dur="500"/>
                                        <p:tgtEl>
                                          <p:spTgt spid="239"/>
                                        </p:tgtEl>
                                      </p:cBhvr>
                                    </p:animEffect>
                                  </p:childTnLst>
                                </p:cTn>
                              </p:par>
                            </p:childTnLst>
                          </p:cTn>
                        </p:par>
                      </p:childTnLst>
                    </p:cTn>
                  </p:par>
                  <p:par>
                    <p:cTn id="776" nodeType="clickEffect" fill="hold">
                      <p:stCondLst>
                        <p:cond delay="indefinite"/>
                      </p:stCondLst>
                      <p:childTnLst>
                        <p:par>
                          <p:cTn id="777" nodeType="withEffect" fill="hold">
                            <p:stCondLst>
                              <p:cond delay="0"/>
                            </p:stCondLst>
                            <p:childTnLst>
                              <p:par>
                                <p:cTn id="778" nodeType="clickEffect" fill="hold" presetClass="entr" presetID="4" presetSubtype="16">
                                  <p:stCondLst>
                                    <p:cond delay="0"/>
                                  </p:stCondLst>
                                  <p:childTnLst>
                                    <p:set>
                                      <p:cBhvr>
                                        <p:cTn id="779" dur="1" fill="hold">
                                          <p:stCondLst>
                                            <p:cond delay="0"/>
                                          </p:stCondLst>
                                        </p:cTn>
                                        <p:tgtEl>
                                          <p:spTgt spid="244"/>
                                        </p:tgtEl>
                                        <p:attrNameLst>
                                          <p:attrName>style.visibility</p:attrName>
                                        </p:attrNameLst>
                                      </p:cBhvr>
                                      <p:to>
                                        <p:strVal val="visible"/>
                                      </p:to>
                                    </p:set>
                                    <p:animEffect filter="box(in)" transition="in">
                                      <p:cBhvr additive="repl">
                                        <p:cTn id="780" dur="5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Text Box 8"/>
          <p:cNvSpPr/>
          <p:nvPr/>
        </p:nvSpPr>
        <p:spPr>
          <a:xfrm>
            <a:off x="276480" y="836640"/>
            <a:ext cx="8686080" cy="283716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ea typeface="Arial"/>
              </a:rPr>
              <a:t>Le déficit des concentrations musculaires en glycogène et en</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ea typeface="Arial"/>
              </a:rPr>
              <a:t>enzymatiques glycolytiques constaté chez l’enfant </a:t>
            </a:r>
            <a:r>
              <a:rPr b="0" lang="es-CL" sz="2400" strike="noStrike" u="none">
                <a:solidFill>
                  <a:srgbClr val="ffff00"/>
                </a:solidFill>
                <a:effectLst/>
                <a:uFillTx/>
                <a:latin typeface="Arial"/>
                <a:ea typeface="Arial"/>
              </a:rPr>
              <a:t>limite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ea typeface="Arial"/>
              </a:rPr>
              <a:t>simultanément leur production d’acide lactique et</a:t>
            </a:r>
            <a:r>
              <a:rPr b="0" lang="fr-FR" sz="2400" strike="noStrike" u="none">
                <a:solidFill>
                  <a:srgbClr val="ffff00"/>
                </a:solidFill>
                <a:effectLst/>
                <a:uFillTx/>
                <a:latin typeface="Arial"/>
                <a:ea typeface="Arial"/>
              </a:rPr>
              <a:t> </a:t>
            </a:r>
            <a:r>
              <a:rPr b="0" lang="es-CL" sz="2400" strike="noStrike" u="none">
                <a:solidFill>
                  <a:srgbClr val="ffff00"/>
                </a:solidFill>
                <a:effectLst/>
                <a:uFillTx/>
                <a:latin typeface="Arial"/>
                <a:ea typeface="Arial"/>
              </a:rPr>
              <a:t>leur capacité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ea typeface="Arial"/>
              </a:rPr>
              <a:t>anaérobie</a:t>
            </a:r>
            <a:r>
              <a:rPr b="1" lang="es-CL" sz="2400" strike="noStrike" u="none">
                <a:solidFill>
                  <a:srgbClr val="ffff00"/>
                </a:solidFill>
                <a:effectLst/>
                <a:uFillTx/>
                <a:latin typeface="Arial"/>
                <a:ea typeface="Arial"/>
              </a:rPr>
              <a:t> (</a:t>
            </a:r>
            <a:r>
              <a:rPr b="0" lang="fr-FR" sz="2400" strike="noStrike" u="none">
                <a:solidFill>
                  <a:srgbClr val="ffff00"/>
                </a:solidFill>
                <a:effectLst/>
                <a:uFillTx/>
                <a:latin typeface="Arial"/>
                <a:ea typeface="Arial"/>
              </a:rPr>
              <a:t>Eriksson et Saltin, 1974; Eriksson, 1980; Karlsson,</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ea typeface="Arial"/>
              </a:rPr>
              <a:t>1971, Haralambie,1982; Berg et Keul, 1988) </a:t>
            </a:r>
            <a:endParaRPr b="0" lang="en-US" sz="2400" strike="noStrike" u="none">
              <a:solidFill>
                <a:srgbClr val="ffff00"/>
              </a:solidFill>
              <a:effectLst/>
              <a:uFillTx/>
              <a:latin typeface="Times New Roman"/>
            </a:endParaRPr>
          </a:p>
        </p:txBody>
      </p:sp>
      <p:sp>
        <p:nvSpPr>
          <p:cNvPr id="249" name="Rectangle 9"/>
          <p:cNvSpPr/>
          <p:nvPr/>
        </p:nvSpPr>
        <p:spPr>
          <a:xfrm>
            <a:off x="0" y="4952880"/>
            <a:ext cx="9144000" cy="1143000"/>
          </a:xfrm>
          <a:prstGeom prst="rect">
            <a:avLst/>
          </a:prstGeom>
          <a:noFill/>
          <a:ln w="0">
            <a:noFill/>
          </a:ln>
        </p:spPr>
        <p:style>
          <a:lnRef idx="0"/>
          <a:fillRef idx="0"/>
          <a:effectRef idx="0"/>
          <a:fontRef idx="minor"/>
        </p:style>
        <p:txBody>
          <a:bodyPr lIns="90000" rIns="90000" tIns="46800" bIns="46800" anchor="t">
            <a:noAutofit/>
          </a:bodyPr>
          <a:p>
            <a:pPr marL="343080" indent="-343080" algn="ctr">
              <a:lnSpc>
                <a:spcPct val="12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ff"/>
                </a:solidFill>
                <a:effectLst/>
                <a:uFillTx/>
                <a:latin typeface="Arial"/>
              </a:rPr>
              <a:t>EST-CE UNE SPECIFICITE PHYSIOLOGIQUE DE L’ENFANT LIEE A SA MATURATION, OU UNE CONSEQUENCE DE SON MODE DE FONCTIONNEMENT ?</a:t>
            </a:r>
            <a:endParaRPr b="0" lang="en-US" sz="2000" strike="noStrike" u="none">
              <a:solidFill>
                <a:srgbClr val="ffff00"/>
              </a:solidFill>
              <a:effectLst/>
              <a:uFillTx/>
              <a:latin typeface="Times New Roman"/>
            </a:endParaRPr>
          </a:p>
        </p:txBody>
      </p:sp>
    </p:spTree>
  </p:cSld>
  <p:transition spd="med">
    <p:zoom dir="out"/>
  </p:transition>
  <p:timing>
    <p:tnLst>
      <p:par>
        <p:cTn id="781" dur="indefinite" restart="never" nodeType="tmRoot">
          <p:childTnLst>
            <p:seq>
              <p:cTn id="782" dur="indefinite" nodeType="mainSeq">
                <p:childTnLst>
                  <p:par>
                    <p:cTn id="783" nodeType="clickEffect" fill="hold">
                      <p:stCondLst>
                        <p:cond delay="indefinite"/>
                      </p:stCondLst>
                      <p:childTnLst>
                        <p:par>
                          <p:cTn id="784" nodeType="withEffect" fill="hold">
                            <p:stCondLst>
                              <p:cond delay="0"/>
                            </p:stCondLst>
                            <p:childTnLst>
                              <p:par>
                                <p:cTn id="785" nodeType="clickEffect" fill="hold" presetClass="entr" presetID="5" presetSubtype="10">
                                  <p:stCondLst>
                                    <p:cond delay="0"/>
                                  </p:stCondLst>
                                  <p:childTnLst>
                                    <p:set>
                                      <p:cBhvr>
                                        <p:cTn id="786" dur="1" fill="hold">
                                          <p:stCondLst>
                                            <p:cond delay="0"/>
                                          </p:stCondLst>
                                        </p:cTn>
                                        <p:tgtEl>
                                          <p:spTgt spid="248"/>
                                        </p:tgtEl>
                                        <p:attrNameLst>
                                          <p:attrName>style.visibility</p:attrName>
                                        </p:attrNameLst>
                                      </p:cBhvr>
                                      <p:to>
                                        <p:strVal val="visible"/>
                                      </p:to>
                                    </p:set>
                                    <p:animEffect filter="checkerboard(across)" transition="in">
                                      <p:cBhvr additive="repl">
                                        <p:cTn id="787" dur="2000"/>
                                        <p:tgtEl>
                                          <p:spTgt spid="248"/>
                                        </p:tgtEl>
                                      </p:cBhvr>
                                    </p:animEffect>
                                  </p:childTnLst>
                                </p:cTn>
                              </p:par>
                            </p:childTnLst>
                          </p:cTn>
                        </p:par>
                      </p:childTnLst>
                    </p:cTn>
                  </p:par>
                  <p:par>
                    <p:cTn id="788" nodeType="clickEffect" fill="hold">
                      <p:stCondLst>
                        <p:cond delay="indefinite"/>
                      </p:stCondLst>
                      <p:childTnLst>
                        <p:par>
                          <p:cTn id="789" nodeType="withEffect" fill="hold">
                            <p:stCondLst>
                              <p:cond delay="0"/>
                            </p:stCondLst>
                            <p:childTnLst>
                              <p:par>
                                <p:cTn id="790" nodeType="clickEffect" fill="hold" presetClass="entr" presetID="22" presetSubtype="8" repeatCount="1000">
                                  <p:stCondLst>
                                    <p:cond delay="0"/>
                                  </p:stCondLst>
                                  <p:childTnLst>
                                    <p:set>
                                      <p:cBhvr>
                                        <p:cTn id="791" dur="1" fill="hold">
                                          <p:stCondLst>
                                            <p:cond delay="0"/>
                                          </p:stCondLst>
                                        </p:cTn>
                                        <p:tgtEl>
                                          <p:spTgt spid="249">
                                            <p:txEl>
                                              <p:pRg st="0" end="0"/>
                                            </p:txEl>
                                          </p:spTgt>
                                        </p:tgtEl>
                                        <p:attrNameLst>
                                          <p:attrName>style.visibility</p:attrName>
                                        </p:attrNameLst>
                                      </p:cBhvr>
                                      <p:to>
                                        <p:strVal val="visible"/>
                                      </p:to>
                                    </p:set>
                                    <p:animEffect filter="wipe(left)" transition="in">
                                      <p:cBhvr additive="repl">
                                        <p:cTn id="792" dur="2000"/>
                                        <p:tgtEl>
                                          <p:spTgt spid="249">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Line 2"/>
          <p:cNvSpPr/>
          <p:nvPr/>
        </p:nvSpPr>
        <p:spPr>
          <a:xfrm>
            <a:off x="1154160" y="317520"/>
            <a:ext cx="0" cy="54100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1" name="Line 3"/>
          <p:cNvSpPr/>
          <p:nvPr/>
        </p:nvSpPr>
        <p:spPr>
          <a:xfrm>
            <a:off x="1154160" y="5727600"/>
            <a:ext cx="670572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2" name="Text Box 4"/>
          <p:cNvSpPr/>
          <p:nvPr/>
        </p:nvSpPr>
        <p:spPr>
          <a:xfrm>
            <a:off x="1188720" y="5575320"/>
            <a:ext cx="6866280" cy="581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       </a:t>
            </a:r>
            <a:r>
              <a:rPr b="1" lang="fr-FR" sz="1400" strike="noStrike" u="none">
                <a:solidFill>
                  <a:srgbClr val="ffff00"/>
                </a:solidFill>
                <a:effectLst/>
                <a:uFillTx/>
                <a:latin typeface="Arial"/>
              </a:rPr>
              <a:t>I                                 I                             I                              I                              I</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REPOS                      25                      50                      75                      100</a:t>
            </a:r>
            <a:endParaRPr b="0" lang="en-US" sz="1600" strike="noStrike" u="none">
              <a:solidFill>
                <a:srgbClr val="ffff00"/>
              </a:solidFill>
              <a:effectLst/>
              <a:uFillTx/>
              <a:latin typeface="Times New Roman"/>
            </a:endParaRPr>
          </a:p>
        </p:txBody>
      </p:sp>
      <p:sp>
        <p:nvSpPr>
          <p:cNvPr id="253" name="AutoShape 5"/>
          <p:cNvSpPr/>
          <p:nvPr/>
        </p:nvSpPr>
        <p:spPr>
          <a:xfrm>
            <a:off x="1535040" y="5041800"/>
            <a:ext cx="152640" cy="15264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4320" bIns="4320" anchor="ctr">
            <a:noAutofit/>
          </a:bodyPr>
          <a:p>
            <a:endParaRPr b="0" lang="en-US" sz="2400" strike="noStrike" u="none">
              <a:solidFill>
                <a:srgbClr val="ffff00"/>
              </a:solidFill>
              <a:effectLst/>
              <a:uFillTx/>
              <a:latin typeface="Times New Roman"/>
            </a:endParaRPr>
          </a:p>
        </p:txBody>
      </p:sp>
      <p:sp>
        <p:nvSpPr>
          <p:cNvPr id="254" name="AutoShape 11"/>
          <p:cNvSpPr/>
          <p:nvPr/>
        </p:nvSpPr>
        <p:spPr>
          <a:xfrm>
            <a:off x="4659480" y="4737240"/>
            <a:ext cx="152280" cy="15228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3960" bIns="3960" anchor="ctr">
            <a:noAutofit/>
          </a:bodyPr>
          <a:p>
            <a:endParaRPr b="0" lang="en-US" sz="2400" strike="noStrike" u="none">
              <a:solidFill>
                <a:srgbClr val="ffff00"/>
              </a:solidFill>
              <a:effectLst/>
              <a:uFillTx/>
              <a:latin typeface="Times New Roman"/>
            </a:endParaRPr>
          </a:p>
        </p:txBody>
      </p:sp>
      <p:sp>
        <p:nvSpPr>
          <p:cNvPr id="255" name="AutoShape 14"/>
          <p:cNvSpPr/>
          <p:nvPr/>
        </p:nvSpPr>
        <p:spPr>
          <a:xfrm>
            <a:off x="6259680" y="3975120"/>
            <a:ext cx="152280" cy="15228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3960" bIns="3960" anchor="ctr">
            <a:noAutofit/>
          </a:bodyPr>
          <a:p>
            <a:endParaRPr b="0" lang="en-US" sz="2400" strike="noStrike" u="none">
              <a:solidFill>
                <a:srgbClr val="ffff00"/>
              </a:solidFill>
              <a:effectLst/>
              <a:uFillTx/>
              <a:latin typeface="Times New Roman"/>
            </a:endParaRPr>
          </a:p>
        </p:txBody>
      </p:sp>
      <p:sp>
        <p:nvSpPr>
          <p:cNvPr id="256" name="Line 17"/>
          <p:cNvSpPr/>
          <p:nvPr/>
        </p:nvSpPr>
        <p:spPr>
          <a:xfrm flipV="1">
            <a:off x="1687680" y="4812840"/>
            <a:ext cx="3047760" cy="3049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7" name="Line 18"/>
          <p:cNvSpPr/>
          <p:nvPr/>
        </p:nvSpPr>
        <p:spPr>
          <a:xfrm flipV="1">
            <a:off x="4811760" y="4051440"/>
            <a:ext cx="1523880" cy="7617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8" name="Line 24"/>
          <p:cNvSpPr/>
          <p:nvPr/>
        </p:nvSpPr>
        <p:spPr>
          <a:xfrm flipV="1">
            <a:off x="6335640" y="2298240"/>
            <a:ext cx="1295640" cy="17528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9" name="Text Box 25"/>
          <p:cNvSpPr/>
          <p:nvPr/>
        </p:nvSpPr>
        <p:spPr>
          <a:xfrm>
            <a:off x="4294440" y="2527200"/>
            <a:ext cx="2457000" cy="703800"/>
          </a:xfrm>
          <a:prstGeom prst="rect">
            <a:avLst/>
          </a:prstGeom>
          <a:noFill/>
          <a:ln w="2844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APRES 4 MOIS</a:t>
            </a:r>
            <a:br>
              <a:rPr sz="2000"/>
            </a:br>
            <a:r>
              <a:rPr b="1" lang="fr-FR" sz="2000" strike="noStrike" u="none">
                <a:solidFill>
                  <a:srgbClr val="ffff00"/>
                </a:solidFill>
                <a:effectLst/>
                <a:uFillTx/>
                <a:latin typeface="Arial"/>
              </a:rPr>
              <a:t>D’ENTRAINEMENT</a:t>
            </a:r>
            <a:endParaRPr b="0" lang="en-US" sz="2000" strike="noStrike" u="none">
              <a:solidFill>
                <a:srgbClr val="ffff00"/>
              </a:solidFill>
              <a:effectLst/>
              <a:uFillTx/>
              <a:latin typeface="Times New Roman"/>
            </a:endParaRPr>
          </a:p>
        </p:txBody>
      </p:sp>
      <p:sp>
        <p:nvSpPr>
          <p:cNvPr id="260" name="Text Box 26"/>
          <p:cNvSpPr/>
          <p:nvPr/>
        </p:nvSpPr>
        <p:spPr>
          <a:xfrm>
            <a:off x="686520" y="533520"/>
            <a:ext cx="619200" cy="5534640"/>
          </a:xfrm>
          <a:prstGeom prst="rect">
            <a:avLst/>
          </a:prstGeom>
          <a:noFill/>
          <a:ln w="0">
            <a:noFill/>
          </a:ln>
        </p:spPr>
        <p:style>
          <a:lnRef idx="0"/>
          <a:fillRef idx="0"/>
          <a:effectRef idx="0"/>
          <a:fontRef idx="minor"/>
        </p:style>
        <p:txBody>
          <a:bodyPr wrap="none" lIns="90000" rIns="90000" tIns="46800" bIns="46800" anchor="t">
            <a:spAutoFit/>
          </a:bodyPr>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20 -</a:t>
            </a: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15 -</a:t>
            </a: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10 -</a:t>
            </a: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5  -</a:t>
            </a: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0  -</a:t>
            </a:r>
            <a:endParaRPr b="0" lang="en-US" sz="2000" strike="noStrike" u="none">
              <a:solidFill>
                <a:srgbClr val="ffff00"/>
              </a:solidFill>
              <a:effectLst/>
              <a:uFillTx/>
              <a:latin typeface="Times New Roman"/>
            </a:endParaRPr>
          </a:p>
        </p:txBody>
      </p:sp>
      <p:sp>
        <p:nvSpPr>
          <p:cNvPr id="261" name="Text Box 27"/>
          <p:cNvSpPr/>
          <p:nvPr/>
        </p:nvSpPr>
        <p:spPr>
          <a:xfrm>
            <a:off x="1453320" y="519444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262" name="Line 30"/>
          <p:cNvSpPr/>
          <p:nvPr/>
        </p:nvSpPr>
        <p:spPr>
          <a:xfrm flipV="1">
            <a:off x="1611360" y="4889520"/>
            <a:ext cx="3886200" cy="4572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63" name="Text Box 35"/>
          <p:cNvSpPr/>
          <p:nvPr/>
        </p:nvSpPr>
        <p:spPr>
          <a:xfrm>
            <a:off x="5263560" y="466092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264" name="Line 41"/>
          <p:cNvSpPr/>
          <p:nvPr/>
        </p:nvSpPr>
        <p:spPr>
          <a:xfrm flipV="1">
            <a:off x="5497560" y="4127040"/>
            <a:ext cx="1676520" cy="6858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65" name="Text Box 43"/>
          <p:cNvSpPr/>
          <p:nvPr/>
        </p:nvSpPr>
        <p:spPr>
          <a:xfrm>
            <a:off x="7016040" y="397512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266" name="Line 46"/>
          <p:cNvSpPr/>
          <p:nvPr/>
        </p:nvSpPr>
        <p:spPr>
          <a:xfrm flipV="1">
            <a:off x="7174080" y="3517560"/>
            <a:ext cx="533160" cy="6094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67" name="Text Box 47"/>
          <p:cNvSpPr/>
          <p:nvPr/>
        </p:nvSpPr>
        <p:spPr>
          <a:xfrm>
            <a:off x="7549560" y="336564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268" name="Text Box 50"/>
          <p:cNvSpPr/>
          <p:nvPr/>
        </p:nvSpPr>
        <p:spPr>
          <a:xfrm>
            <a:off x="6579360" y="4889520"/>
            <a:ext cx="2287440" cy="398880"/>
          </a:xfrm>
          <a:prstGeom prst="rect">
            <a:avLst/>
          </a:prstGeom>
          <a:noFill/>
          <a:ln w="28440">
            <a:solidFill>
              <a:srgbClr val="ffffff"/>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NON ENTRAINES</a:t>
            </a:r>
            <a:endParaRPr b="0" lang="en-US" sz="2000" strike="noStrike" u="none">
              <a:solidFill>
                <a:srgbClr val="ffff00"/>
              </a:solidFill>
              <a:effectLst/>
              <a:uFillTx/>
              <a:latin typeface="Times New Roman"/>
            </a:endParaRPr>
          </a:p>
        </p:txBody>
      </p:sp>
      <p:sp>
        <p:nvSpPr>
          <p:cNvPr id="269" name="Text Box 51"/>
          <p:cNvSpPr/>
          <p:nvPr/>
        </p:nvSpPr>
        <p:spPr>
          <a:xfrm>
            <a:off x="1980720" y="6072120"/>
            <a:ext cx="61272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 de la consommation maximale d’oxygène</a:t>
            </a:r>
            <a:endParaRPr b="0" lang="en-US" sz="2400" strike="noStrike" u="none">
              <a:solidFill>
                <a:srgbClr val="ffff00"/>
              </a:solidFill>
              <a:effectLst/>
              <a:uFillTx/>
              <a:latin typeface="Times New Roman"/>
            </a:endParaRPr>
          </a:p>
        </p:txBody>
      </p:sp>
      <p:sp>
        <p:nvSpPr>
          <p:cNvPr id="270" name="Text Box 52"/>
          <p:cNvSpPr/>
          <p:nvPr/>
        </p:nvSpPr>
        <p:spPr>
          <a:xfrm rot="16200000">
            <a:off x="-1695600" y="2713320"/>
            <a:ext cx="41781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Lactate musculaire (mmol/kg)</a:t>
            </a:r>
            <a:endParaRPr b="0" lang="en-US" sz="2400" strike="noStrike" u="none">
              <a:solidFill>
                <a:srgbClr val="ffff00"/>
              </a:solidFill>
              <a:effectLst/>
              <a:uFillTx/>
              <a:latin typeface="Times New Roman"/>
            </a:endParaRPr>
          </a:p>
        </p:txBody>
      </p:sp>
      <p:sp>
        <p:nvSpPr>
          <p:cNvPr id="271" name="Text Box 53"/>
          <p:cNvSpPr/>
          <p:nvPr/>
        </p:nvSpPr>
        <p:spPr>
          <a:xfrm>
            <a:off x="1600200" y="152280"/>
            <a:ext cx="7315200" cy="703800"/>
          </a:xfrm>
          <a:prstGeom prst="rect">
            <a:avLst/>
          </a:prstGeom>
          <a:noFill/>
          <a:ln w="9360">
            <a:solidFill>
              <a:srgbClr val="ffffff"/>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Lactate musculaire chez les enfants non entraînés et après quatre mois d’entraînement. </a:t>
            </a:r>
            <a:r>
              <a:rPr b="0" i="1" lang="fr-FR" sz="2000" strike="noStrike" u="none">
                <a:solidFill>
                  <a:srgbClr val="ffffff"/>
                </a:solidFill>
                <a:effectLst/>
                <a:uFillTx/>
                <a:latin typeface="Arial"/>
              </a:rPr>
              <a:t>D’après Eriksson et al. (1973)</a:t>
            </a:r>
            <a:endParaRPr b="0" lang="en-US" sz="2000" strike="noStrike" u="none">
              <a:solidFill>
                <a:srgbClr val="ffff00"/>
              </a:solidFill>
              <a:effectLst/>
              <a:uFillTx/>
              <a:latin typeface="Times New Roman"/>
            </a:endParaRPr>
          </a:p>
        </p:txBody>
      </p:sp>
      <p:sp>
        <p:nvSpPr>
          <p:cNvPr id="272" name="AutoShape 54"/>
          <p:cNvSpPr/>
          <p:nvPr/>
        </p:nvSpPr>
        <p:spPr>
          <a:xfrm>
            <a:off x="7631280" y="2146320"/>
            <a:ext cx="152280" cy="15228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3960" bIns="3960" anchor="ctr">
            <a:noAutofit/>
          </a:bodyPr>
          <a:p>
            <a:endParaRPr b="0" lang="en-US" sz="2400" strike="noStrike" u="none">
              <a:solidFill>
                <a:srgbClr val="ffff00"/>
              </a:solidFill>
              <a:effectLst/>
              <a:uFillTx/>
              <a:latin typeface="Times New Roman"/>
            </a:endParaRPr>
          </a:p>
        </p:txBody>
      </p:sp>
      <p:sp>
        <p:nvSpPr>
          <p:cNvPr id="273" name="Line 55"/>
          <p:cNvSpPr/>
          <p:nvPr/>
        </p:nvSpPr>
        <p:spPr>
          <a:xfrm flipV="1">
            <a:off x="7740720" y="2349000"/>
            <a:ext cx="0" cy="1150920"/>
          </a:xfrm>
          <a:prstGeom prst="line">
            <a:avLst/>
          </a:prstGeom>
          <a:ln w="28440">
            <a:solidFill>
              <a:srgbClr val="ffff00"/>
            </a:solidFill>
            <a:prstDash val="sysDot"/>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74" name="Line 56"/>
          <p:cNvSpPr/>
          <p:nvPr/>
        </p:nvSpPr>
        <p:spPr>
          <a:xfrm flipV="1">
            <a:off x="7164360" y="2997000"/>
            <a:ext cx="0" cy="1152360"/>
          </a:xfrm>
          <a:prstGeom prst="line">
            <a:avLst/>
          </a:prstGeom>
          <a:ln w="28440">
            <a:solidFill>
              <a:srgbClr val="ffff00"/>
            </a:solidFill>
            <a:prstDash val="sysDot"/>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75" name="Line 57"/>
          <p:cNvSpPr/>
          <p:nvPr/>
        </p:nvSpPr>
        <p:spPr>
          <a:xfrm flipV="1">
            <a:off x="5508720" y="4508640"/>
            <a:ext cx="0" cy="288720"/>
          </a:xfrm>
          <a:prstGeom prst="line">
            <a:avLst/>
          </a:prstGeom>
          <a:ln w="28440">
            <a:solidFill>
              <a:srgbClr val="ffff00"/>
            </a:solidFill>
            <a:prstDash val="sysDot"/>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76" name="Line 58"/>
          <p:cNvSpPr/>
          <p:nvPr/>
        </p:nvSpPr>
        <p:spPr>
          <a:xfrm flipV="1">
            <a:off x="6443640" y="4005000"/>
            <a:ext cx="0" cy="431640"/>
          </a:xfrm>
          <a:prstGeom prst="line">
            <a:avLst/>
          </a:prstGeom>
          <a:ln w="28440">
            <a:solidFill>
              <a:srgbClr val="ffff00"/>
            </a:solidFill>
            <a:prstDash val="sysDot"/>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p:transition spd="med">
    <p:zoom dir="out"/>
  </p:transition>
  <p:timing>
    <p:tnLst>
      <p:par>
        <p:cTn id="793" dur="indefinite" restart="never" nodeType="tmRoot">
          <p:childTnLst>
            <p:seq>
              <p:cTn id="794" dur="indefinite" nodeType="mainSeq">
                <p:childTnLst>
                  <p:par>
                    <p:cTn id="795" nodeType="clickEffect" fill="hold">
                      <p:stCondLst>
                        <p:cond delay="indefinite"/>
                      </p:stCondLst>
                      <p:childTnLst>
                        <p:par>
                          <p:cTn id="796" nodeType="withEffect" fill="hold">
                            <p:stCondLst>
                              <p:cond delay="0"/>
                            </p:stCondLst>
                            <p:childTnLst>
                              <p:par>
                                <p:cTn id="797" nodeType="clickEffect" fill="hold" presetClass="entr" presetID="22" presetSubtype="4">
                                  <p:stCondLst>
                                    <p:cond delay="0"/>
                                  </p:stCondLst>
                                  <p:childTnLst>
                                    <p:set>
                                      <p:cBhvr>
                                        <p:cTn id="798" dur="1" fill="hold">
                                          <p:stCondLst>
                                            <p:cond delay="0"/>
                                          </p:stCondLst>
                                        </p:cTn>
                                        <p:tgtEl>
                                          <p:spTgt spid="275"/>
                                        </p:tgtEl>
                                        <p:attrNameLst>
                                          <p:attrName>style.visibility</p:attrName>
                                        </p:attrNameLst>
                                      </p:cBhvr>
                                      <p:to>
                                        <p:strVal val="visible"/>
                                      </p:to>
                                    </p:set>
                                    <p:animEffect filter="wipe(down)" transition="in">
                                      <p:cBhvr additive="repl">
                                        <p:cTn id="799" dur="500"/>
                                        <p:tgtEl>
                                          <p:spTgt spid="275"/>
                                        </p:tgtEl>
                                      </p:cBhvr>
                                    </p:animEffect>
                                  </p:childTnLst>
                                </p:cTn>
                              </p:par>
                              <p:par>
                                <p:cTn id="800" nodeType="withEffect" fill="hold" presetClass="entr" presetID="22" presetSubtype="4">
                                  <p:stCondLst>
                                    <p:cond delay="0"/>
                                  </p:stCondLst>
                                  <p:childTnLst>
                                    <p:set>
                                      <p:cBhvr>
                                        <p:cTn id="801" dur="1" fill="hold">
                                          <p:stCondLst>
                                            <p:cond delay="0"/>
                                          </p:stCondLst>
                                        </p:cTn>
                                        <p:tgtEl>
                                          <p:spTgt spid="276"/>
                                        </p:tgtEl>
                                        <p:attrNameLst>
                                          <p:attrName>style.visibility</p:attrName>
                                        </p:attrNameLst>
                                      </p:cBhvr>
                                      <p:to>
                                        <p:strVal val="visible"/>
                                      </p:to>
                                    </p:set>
                                    <p:animEffect filter="wipe(down)" transition="in">
                                      <p:cBhvr additive="repl">
                                        <p:cTn id="802" dur="500"/>
                                        <p:tgtEl>
                                          <p:spTgt spid="276"/>
                                        </p:tgtEl>
                                      </p:cBhvr>
                                    </p:animEffect>
                                  </p:childTnLst>
                                </p:cTn>
                              </p:par>
                              <p:par>
                                <p:cTn id="803" nodeType="withEffect" fill="hold" presetClass="entr" presetID="22" presetSubtype="4">
                                  <p:stCondLst>
                                    <p:cond delay="0"/>
                                  </p:stCondLst>
                                  <p:childTnLst>
                                    <p:set>
                                      <p:cBhvr>
                                        <p:cTn id="804" dur="1" fill="hold">
                                          <p:stCondLst>
                                            <p:cond delay="0"/>
                                          </p:stCondLst>
                                        </p:cTn>
                                        <p:tgtEl>
                                          <p:spTgt spid="274"/>
                                        </p:tgtEl>
                                        <p:attrNameLst>
                                          <p:attrName>style.visibility</p:attrName>
                                        </p:attrNameLst>
                                      </p:cBhvr>
                                      <p:to>
                                        <p:strVal val="visible"/>
                                      </p:to>
                                    </p:set>
                                    <p:animEffect filter="wipe(down)" transition="in">
                                      <p:cBhvr additive="repl">
                                        <p:cTn id="805" dur="500"/>
                                        <p:tgtEl>
                                          <p:spTgt spid="274"/>
                                        </p:tgtEl>
                                      </p:cBhvr>
                                    </p:animEffect>
                                  </p:childTnLst>
                                </p:cTn>
                              </p:par>
                              <p:par>
                                <p:cTn id="806" nodeType="withEffect" fill="hold" presetClass="entr" presetID="22" presetSubtype="4">
                                  <p:stCondLst>
                                    <p:cond delay="0"/>
                                  </p:stCondLst>
                                  <p:childTnLst>
                                    <p:set>
                                      <p:cBhvr>
                                        <p:cTn id="807" dur="1" fill="hold">
                                          <p:stCondLst>
                                            <p:cond delay="0"/>
                                          </p:stCondLst>
                                        </p:cTn>
                                        <p:tgtEl>
                                          <p:spTgt spid="273"/>
                                        </p:tgtEl>
                                        <p:attrNameLst>
                                          <p:attrName>style.visibility</p:attrName>
                                        </p:attrNameLst>
                                      </p:cBhvr>
                                      <p:to>
                                        <p:strVal val="visible"/>
                                      </p:to>
                                    </p:set>
                                    <p:animEffect filter="wipe(down)" transition="in">
                                      <p:cBhvr additive="repl">
                                        <p:cTn id="808" dur="5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Text Box 2"/>
          <p:cNvSpPr/>
          <p:nvPr/>
        </p:nvSpPr>
        <p:spPr>
          <a:xfrm>
            <a:off x="476280" y="260280"/>
            <a:ext cx="8704080" cy="825480"/>
          </a:xfrm>
          <a:prstGeom prst="rect">
            <a:avLst/>
          </a:prstGeom>
          <a:noFill/>
          <a:ln w="0">
            <a:noFill/>
          </a:ln>
        </p:spPr>
        <p:style>
          <a:lnRef idx="0"/>
          <a:fillRef idx="0"/>
          <a:effectRef idx="0"/>
          <a:fontRef idx="minor"/>
        </p:style>
        <p:txBody>
          <a:bodyPr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Aucune étude n’a rapporté à ce jour un quelconque danger pour les </a:t>
            </a:r>
            <a:endParaRPr b="0" lang="en-US" sz="20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enfants pratiquant des activités anaérobies lactiques. </a:t>
            </a:r>
            <a:endParaRPr b="0" lang="en-US" sz="2000" strike="noStrike" u="none">
              <a:solidFill>
                <a:srgbClr val="ffff00"/>
              </a:solidFill>
              <a:effectLst/>
              <a:uFillTx/>
              <a:latin typeface="Times New Roman"/>
            </a:endParaRPr>
          </a:p>
        </p:txBody>
      </p:sp>
      <p:sp>
        <p:nvSpPr>
          <p:cNvPr id="278" name="Text Box 3"/>
          <p:cNvSpPr/>
          <p:nvPr/>
        </p:nvSpPr>
        <p:spPr>
          <a:xfrm>
            <a:off x="457200" y="3024360"/>
            <a:ext cx="8685360" cy="1922760"/>
          </a:xfrm>
          <a:prstGeom prst="rect">
            <a:avLst/>
          </a:prstGeom>
          <a:noFill/>
          <a:ln w="0">
            <a:noFill/>
          </a:ln>
        </p:spPr>
        <p:style>
          <a:lnRef idx="0"/>
          <a:fillRef idx="0"/>
          <a:effectRef idx="0"/>
          <a:fontRef idx="minor"/>
        </p:style>
        <p:txBody>
          <a:bodyPr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Cette hypothèse est corroborée par les résultats de l’étude de Petersen et al. (1999). Utilisant la technique non invasive </a:t>
            </a:r>
            <a:r>
              <a:rPr b="0" lang="fr-FR" sz="2000" strike="noStrike" u="none" baseline="30000">
                <a:solidFill>
                  <a:srgbClr val="ffff00"/>
                </a:solidFill>
                <a:effectLst/>
                <a:uFillTx/>
                <a:latin typeface="Arial"/>
              </a:rPr>
              <a:t>31</a:t>
            </a:r>
            <a:r>
              <a:rPr b="0" lang="fr-FR" sz="2000" strike="noStrike" u="none">
                <a:solidFill>
                  <a:srgbClr val="ffff00"/>
                </a:solidFill>
                <a:effectLst/>
                <a:uFillTx/>
                <a:latin typeface="Arial"/>
              </a:rPr>
              <a:t>P-MRS avant et après un entraînement intensif réalisé par des nageuses </a:t>
            </a:r>
            <a:r>
              <a:rPr b="0" lang="fr-FR" sz="2000" strike="noStrike" u="none">
                <a:solidFill>
                  <a:srgbClr val="ffffff"/>
                </a:solidFill>
                <a:effectLst/>
                <a:uFillTx/>
                <a:latin typeface="Arial"/>
              </a:rPr>
              <a:t>pré pubères et pubères, </a:t>
            </a:r>
            <a:r>
              <a:rPr b="0" lang="fr-FR" sz="2000" strike="noStrike" u="none">
                <a:solidFill>
                  <a:srgbClr val="ffff00"/>
                </a:solidFill>
                <a:effectLst/>
                <a:uFillTx/>
                <a:latin typeface="Arial"/>
              </a:rPr>
              <a:t>ces auteurs obtiennent les mêmes améliorations avec les deux groupes et concluent…</a:t>
            </a:r>
            <a:endParaRPr b="0" lang="en-US" sz="2000" strike="noStrike" u="none">
              <a:solidFill>
                <a:srgbClr val="ffff00"/>
              </a:solidFill>
              <a:effectLst/>
              <a:uFillTx/>
              <a:latin typeface="Times New Roman"/>
            </a:endParaRPr>
          </a:p>
        </p:txBody>
      </p:sp>
      <p:sp>
        <p:nvSpPr>
          <p:cNvPr id="279" name="Text Box 4"/>
          <p:cNvSpPr/>
          <p:nvPr/>
        </p:nvSpPr>
        <p:spPr>
          <a:xfrm>
            <a:off x="474840" y="1989000"/>
            <a:ext cx="8777160" cy="825480"/>
          </a:xfrm>
          <a:prstGeom prst="rect">
            <a:avLst/>
          </a:prstGeom>
          <a:noFill/>
          <a:ln w="0">
            <a:noFill/>
          </a:ln>
        </p:spPr>
        <p:style>
          <a:lnRef idx="0"/>
          <a:fillRef idx="0"/>
          <a:effectRef idx="0"/>
          <a:fontRef idx="minor"/>
        </p:style>
        <p:txBody>
          <a:bodyPr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Si l’entraînement peut induire un développement de la glycolyse lactique, il est évident que celle-ci </a:t>
            </a:r>
            <a:r>
              <a:rPr b="0" lang="fr-FR" sz="2000" strike="noStrike" u="none">
                <a:solidFill>
                  <a:srgbClr val="ffffff"/>
                </a:solidFill>
                <a:effectLst/>
                <a:uFillTx/>
                <a:latin typeface="Arial"/>
              </a:rPr>
              <a:t>ne dépend pas que du niveau de maturation</a:t>
            </a:r>
            <a:r>
              <a:rPr b="0" lang="fr-FR" sz="2000" strike="noStrike" u="none">
                <a:solidFill>
                  <a:srgbClr val="ffff00"/>
                </a:solidFill>
                <a:effectLst/>
                <a:uFillTx/>
                <a:latin typeface="Arial"/>
              </a:rPr>
              <a:t>.</a:t>
            </a:r>
            <a:endParaRPr b="0" lang="en-US" sz="2000" strike="noStrike" u="none">
              <a:solidFill>
                <a:srgbClr val="ffff00"/>
              </a:solidFill>
              <a:effectLst/>
              <a:uFillTx/>
              <a:latin typeface="Times New Roman"/>
            </a:endParaRPr>
          </a:p>
        </p:txBody>
      </p:sp>
      <p:sp>
        <p:nvSpPr>
          <p:cNvPr id="280" name="Text Box 5"/>
          <p:cNvSpPr/>
          <p:nvPr/>
        </p:nvSpPr>
        <p:spPr>
          <a:xfrm>
            <a:off x="414000" y="1341360"/>
            <a:ext cx="62506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Le vrai danger est plus psychologique que biologique.</a:t>
            </a:r>
            <a:endParaRPr b="0" lang="en-US" sz="2000" strike="noStrike" u="none">
              <a:solidFill>
                <a:srgbClr val="ffff00"/>
              </a:solidFill>
              <a:effectLst/>
              <a:uFillTx/>
              <a:latin typeface="Times New Roman"/>
            </a:endParaRPr>
          </a:p>
        </p:txBody>
      </p:sp>
      <p:sp>
        <p:nvSpPr>
          <p:cNvPr id="281" name="Text Box 6"/>
          <p:cNvSpPr/>
          <p:nvPr/>
        </p:nvSpPr>
        <p:spPr>
          <a:xfrm>
            <a:off x="484560" y="5972040"/>
            <a:ext cx="8330040" cy="8254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Mais alors d’où provient le déficit de la capacité glycolytique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constaté chez l’enfant ?</a:t>
            </a:r>
            <a:endParaRPr b="0" lang="en-US" sz="2400" strike="noStrike" u="none">
              <a:solidFill>
                <a:srgbClr val="ffff00"/>
              </a:solidFill>
              <a:effectLst/>
              <a:uFillTx/>
              <a:latin typeface="Times New Roman"/>
            </a:endParaRPr>
          </a:p>
        </p:txBody>
      </p:sp>
      <p:sp>
        <p:nvSpPr>
          <p:cNvPr id="282" name="Text Box 7"/>
          <p:cNvSpPr/>
          <p:nvPr/>
        </p:nvSpPr>
        <p:spPr>
          <a:xfrm>
            <a:off x="509760" y="5157720"/>
            <a:ext cx="8429400" cy="764640"/>
          </a:xfrm>
          <a:prstGeom prst="rect">
            <a:avLst/>
          </a:prstGeom>
          <a:noFill/>
          <a:ln w="0">
            <a:noFill/>
          </a:ln>
        </p:spPr>
        <p:style>
          <a:lnRef idx="0"/>
          <a:fillRef idx="0"/>
          <a:effectRef idx="0"/>
          <a:fontRef idx="minor"/>
        </p:style>
        <p:txBody>
          <a:bodyPr wrap="none"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ea typeface="Arial"/>
              </a:rPr>
              <a:t>à la non maturation-dépendance du métabolisme glycolytique de l’enfant.</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Tree>
  </p:cSld>
  <p:transition spd="med">
    <p:zoom dir="out"/>
  </p:transition>
  <p:timing>
    <p:tnLst>
      <p:par>
        <p:cTn id="809" dur="indefinite" restart="never" nodeType="tmRoot">
          <p:childTnLst>
            <p:seq>
              <p:cTn id="810" dur="indefinite" nodeType="mainSeq">
                <p:childTnLst>
                  <p:par>
                    <p:cTn id="811" nodeType="clickEffect" fill="hold">
                      <p:stCondLst>
                        <p:cond delay="0"/>
                      </p:stCondLst>
                      <p:childTnLst>
                        <p:par>
                          <p:cTn id="812" nodeType="withEffect" fill="hold">
                            <p:stCondLst>
                              <p:cond delay="0"/>
                            </p:stCondLst>
                            <p:childTnLst>
                              <p:par>
                                <p:cTn id="813" nodeType="afterEffect" fill="hold" presetClass="entr" presetID="9">
                                  <p:stCondLst>
                                    <p:cond delay="0"/>
                                  </p:stCondLst>
                                  <p:childTnLst>
                                    <p:set>
                                      <p:cBhvr>
                                        <p:cTn id="814" dur="1" fill="hold">
                                          <p:stCondLst>
                                            <p:cond delay="0"/>
                                          </p:stCondLst>
                                        </p:cTn>
                                        <p:tgtEl>
                                          <p:spTgt spid="277"/>
                                        </p:tgtEl>
                                        <p:attrNameLst>
                                          <p:attrName>style.visibility</p:attrName>
                                        </p:attrNameLst>
                                      </p:cBhvr>
                                      <p:to>
                                        <p:strVal val="visible"/>
                                      </p:to>
                                    </p:set>
                                    <p:animEffect filter="dissolve" transition="in">
                                      <p:cBhvr additive="repl">
                                        <p:cTn id="815" dur="500"/>
                                        <p:tgtEl>
                                          <p:spTgt spid="277"/>
                                        </p:tgtEl>
                                      </p:cBhvr>
                                    </p:animEffect>
                                  </p:childTnLst>
                                </p:cTn>
                              </p:par>
                            </p:childTnLst>
                          </p:cTn>
                        </p:par>
                      </p:childTnLst>
                    </p:cTn>
                  </p:par>
                  <p:par>
                    <p:cTn id="816" nodeType="clickEffect" fill="hold">
                      <p:stCondLst>
                        <p:cond delay="indefinite"/>
                      </p:stCondLst>
                      <p:childTnLst>
                        <p:par>
                          <p:cTn id="817" nodeType="withEffect" fill="hold">
                            <p:stCondLst>
                              <p:cond delay="0"/>
                            </p:stCondLst>
                            <p:childTnLst>
                              <p:par>
                                <p:cTn id="818" nodeType="clickEffect" fill="hold" presetClass="entr" presetID="9">
                                  <p:stCondLst>
                                    <p:cond delay="0"/>
                                  </p:stCondLst>
                                  <p:childTnLst>
                                    <p:set>
                                      <p:cBhvr>
                                        <p:cTn id="819" dur="1" fill="hold">
                                          <p:stCondLst>
                                            <p:cond delay="0"/>
                                          </p:stCondLst>
                                        </p:cTn>
                                        <p:tgtEl>
                                          <p:spTgt spid="280"/>
                                        </p:tgtEl>
                                        <p:attrNameLst>
                                          <p:attrName>style.visibility</p:attrName>
                                        </p:attrNameLst>
                                      </p:cBhvr>
                                      <p:to>
                                        <p:strVal val="visible"/>
                                      </p:to>
                                    </p:set>
                                    <p:animEffect filter="dissolve" transition="in">
                                      <p:cBhvr additive="repl">
                                        <p:cTn id="820" dur="500"/>
                                        <p:tgtEl>
                                          <p:spTgt spid="280"/>
                                        </p:tgtEl>
                                      </p:cBhvr>
                                    </p:animEffect>
                                  </p:childTnLst>
                                </p:cTn>
                              </p:par>
                            </p:childTnLst>
                          </p:cTn>
                        </p:par>
                      </p:childTnLst>
                    </p:cTn>
                  </p:par>
                  <p:par>
                    <p:cTn id="821" nodeType="clickEffect" fill="hold">
                      <p:stCondLst>
                        <p:cond delay="indefinite"/>
                      </p:stCondLst>
                      <p:childTnLst>
                        <p:par>
                          <p:cTn id="822" nodeType="withEffect" fill="hold">
                            <p:stCondLst>
                              <p:cond delay="0"/>
                            </p:stCondLst>
                            <p:childTnLst>
                              <p:par>
                                <p:cTn id="823" nodeType="clickEffect" fill="hold" presetClass="entr" presetID="9">
                                  <p:stCondLst>
                                    <p:cond delay="0"/>
                                  </p:stCondLst>
                                  <p:childTnLst>
                                    <p:set>
                                      <p:cBhvr>
                                        <p:cTn id="824" dur="1" fill="hold">
                                          <p:stCondLst>
                                            <p:cond delay="0"/>
                                          </p:stCondLst>
                                        </p:cTn>
                                        <p:tgtEl>
                                          <p:spTgt spid="279"/>
                                        </p:tgtEl>
                                        <p:attrNameLst>
                                          <p:attrName>style.visibility</p:attrName>
                                        </p:attrNameLst>
                                      </p:cBhvr>
                                      <p:to>
                                        <p:strVal val="visible"/>
                                      </p:to>
                                    </p:set>
                                    <p:animEffect filter="dissolve" transition="in">
                                      <p:cBhvr additive="repl">
                                        <p:cTn id="825" dur="500"/>
                                        <p:tgtEl>
                                          <p:spTgt spid="279"/>
                                        </p:tgtEl>
                                      </p:cBhvr>
                                    </p:animEffect>
                                  </p:childTnLst>
                                </p:cTn>
                              </p:par>
                            </p:childTnLst>
                          </p:cTn>
                        </p:par>
                      </p:childTnLst>
                    </p:cTn>
                  </p:par>
                  <p:par>
                    <p:cTn id="826" nodeType="clickEffect" fill="hold">
                      <p:stCondLst>
                        <p:cond delay="indefinite"/>
                      </p:stCondLst>
                      <p:childTnLst>
                        <p:par>
                          <p:cTn id="827" nodeType="withEffect" fill="hold">
                            <p:stCondLst>
                              <p:cond delay="0"/>
                            </p:stCondLst>
                            <p:childTnLst>
                              <p:par>
                                <p:cTn id="828" nodeType="clickEffect" fill="hold" presetClass="entr" presetID="22" presetSubtype="8">
                                  <p:stCondLst>
                                    <p:cond delay="0"/>
                                  </p:stCondLst>
                                  <p:iterate type="wd">
                                    <p:tmAbs val="0"/>
                                  </p:iterate>
                                  <p:childTnLst>
                                    <p:set>
                                      <p:cBhvr>
                                        <p:cTn id="829" dur="1" fill="hold">
                                          <p:stCondLst>
                                            <p:cond delay="0"/>
                                          </p:stCondLst>
                                        </p:cTn>
                                        <p:tgtEl>
                                          <p:spTgt spid="278"/>
                                        </p:tgtEl>
                                        <p:attrNameLst>
                                          <p:attrName>style.visibility</p:attrName>
                                        </p:attrNameLst>
                                      </p:cBhvr>
                                      <p:to>
                                        <p:strVal val="visible"/>
                                      </p:to>
                                    </p:set>
                                    <p:animEffect filter="wipe(left)" transition="in">
                                      <p:cBhvr additive="repl">
                                        <p:cTn id="830" dur="2000"/>
                                        <p:tgtEl>
                                          <p:spTgt spid="278"/>
                                        </p:tgtEl>
                                      </p:cBhvr>
                                    </p:animEffect>
                                  </p:childTnLst>
                                </p:cTn>
                              </p:par>
                            </p:childTnLst>
                          </p:cTn>
                        </p:par>
                      </p:childTnLst>
                    </p:cTn>
                  </p:par>
                  <p:par>
                    <p:cTn id="831" nodeType="clickEffect" fill="hold">
                      <p:stCondLst>
                        <p:cond delay="indefinite"/>
                      </p:stCondLst>
                      <p:childTnLst>
                        <p:par>
                          <p:cTn id="832" nodeType="withEffect" fill="hold">
                            <p:stCondLst>
                              <p:cond delay="0"/>
                            </p:stCondLst>
                            <p:childTnLst>
                              <p:par>
                                <p:cTn id="833" nodeType="clickEffect" fill="hold" presetClass="entr" presetID="22" presetSubtype="8">
                                  <p:stCondLst>
                                    <p:cond delay="0"/>
                                  </p:stCondLst>
                                  <p:childTnLst>
                                    <p:set>
                                      <p:cBhvr>
                                        <p:cTn id="834" dur="1" fill="hold">
                                          <p:stCondLst>
                                            <p:cond delay="0"/>
                                          </p:stCondLst>
                                        </p:cTn>
                                        <p:tgtEl>
                                          <p:spTgt spid="282"/>
                                        </p:tgtEl>
                                        <p:attrNameLst>
                                          <p:attrName>style.visibility</p:attrName>
                                        </p:attrNameLst>
                                      </p:cBhvr>
                                      <p:to>
                                        <p:strVal val="visible"/>
                                      </p:to>
                                    </p:set>
                                    <p:animEffect filter="wipe(left)" transition="in">
                                      <p:cBhvr additive="repl">
                                        <p:cTn id="835" dur="2000"/>
                                        <p:tgtEl>
                                          <p:spTgt spid="282"/>
                                        </p:tgtEl>
                                      </p:cBhvr>
                                    </p:animEffect>
                                  </p:childTnLst>
                                </p:cTn>
                              </p:par>
                            </p:childTnLst>
                          </p:cTn>
                        </p:par>
                      </p:childTnLst>
                    </p:cTn>
                  </p:par>
                  <p:par>
                    <p:cTn id="836" nodeType="clickEffect" fill="hold">
                      <p:stCondLst>
                        <p:cond delay="indefinite"/>
                      </p:stCondLst>
                      <p:childTnLst>
                        <p:par>
                          <p:cTn id="837" nodeType="withEffect" fill="hold">
                            <p:stCondLst>
                              <p:cond delay="0"/>
                            </p:stCondLst>
                            <p:childTnLst>
                              <p:par>
                                <p:cTn id="838" nodeType="clickEffect" fill="hold" presetClass="entr" presetID="9">
                                  <p:stCondLst>
                                    <p:cond delay="0"/>
                                  </p:stCondLst>
                                  <p:childTnLst>
                                    <p:set>
                                      <p:cBhvr>
                                        <p:cTn id="839" dur="1" fill="hold">
                                          <p:stCondLst>
                                            <p:cond delay="0"/>
                                          </p:stCondLst>
                                        </p:cTn>
                                        <p:tgtEl>
                                          <p:spTgt spid="281"/>
                                        </p:tgtEl>
                                        <p:attrNameLst>
                                          <p:attrName>style.visibility</p:attrName>
                                        </p:attrNameLst>
                                      </p:cBhvr>
                                      <p:to>
                                        <p:strVal val="visible"/>
                                      </p:to>
                                    </p:set>
                                    <p:animEffect filter="dissolve" transition="in">
                                      <p:cBhvr additive="repl">
                                        <p:cTn id="840" dur="5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p:nvPr>
        </p:nvSpPr>
        <p:spPr>
          <a:xfrm>
            <a:off x="838080" y="228240"/>
            <a:ext cx="7772400" cy="1328760"/>
          </a:xfrm>
          <a:prstGeom prst="rect">
            <a:avLst/>
          </a:prstGeom>
          <a:noFill/>
          <a:ln w="0">
            <a:noFill/>
          </a:ln>
        </p:spPr>
        <p:txBody>
          <a:bodyPr lIns="91440" rIns="91440" tIns="45720" bIns="45720" anchor="t">
            <a:normAutofit/>
          </a:bodyPr>
          <a:p>
            <a:pPr marL="343080" indent="-343080" algn="ctr">
              <a:lnSpc>
                <a:spcPct val="12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Calibri"/>
                <a:ea typeface="Calibri"/>
              </a:rPr>
              <a:t>   3-2 CAPACITE AEROBIE DE L’ENFANT ET DE L’ADOLESCENT</a:t>
            </a:r>
            <a:endParaRPr b="0" lang="en-US" sz="2400" strike="noStrike" u="none">
              <a:solidFill>
                <a:srgbClr val="ffff00"/>
              </a:solidFill>
              <a:effectLst/>
              <a:uFillTx/>
              <a:latin typeface="Times New Roman"/>
            </a:endParaRPr>
          </a:p>
        </p:txBody>
      </p:sp>
      <p:pic>
        <p:nvPicPr>
          <p:cNvPr id="284" name="Picture 3" descr="Cazor06"/>
          <p:cNvPicPr/>
          <p:nvPr/>
        </p:nvPicPr>
        <p:blipFill>
          <a:blip r:embed="rId1">
            <a:lum bright="12000"/>
          </a:blip>
          <a:stretch/>
        </p:blipFill>
        <p:spPr>
          <a:xfrm>
            <a:off x="1042920" y="1500120"/>
            <a:ext cx="7705800" cy="5135760"/>
          </a:xfrm>
          <a:prstGeom prst="rect">
            <a:avLst/>
          </a:prstGeom>
          <a:noFill/>
          <a:ln w="0">
            <a:noFill/>
          </a:ln>
        </p:spPr>
      </p:pic>
    </p:spTree>
  </p:cSld>
  <p:transition spd="med">
    <p:zoom dir="out"/>
  </p:transition>
  <p:timing>
    <p:tnLst>
      <p:par>
        <p:cTn id="841" dur="indefinite" restart="never" nodeType="tmRoot">
          <p:childTnLst>
            <p:seq>
              <p:cTn id="842" dur="indefinite" nodeType="mainSeq">
                <p:childTnLst>
                  <p:par>
                    <p:cTn id="843" nodeType="clickEffect" fill="hold">
                      <p:stCondLst>
                        <p:cond delay="0"/>
                      </p:stCondLst>
                      <p:childTnLst>
                        <p:par>
                          <p:cTn id="844" nodeType="withEffect" fill="hold">
                            <p:stCondLst>
                              <p:cond delay="0"/>
                            </p:stCondLst>
                            <p:childTnLst>
                              <p:par>
                                <p:cTn id="845" nodeType="afterEffect" fill="hold" presetClass="entr" presetID="2" presetSubtype="9">
                                  <p:stCondLst>
                                    <p:cond delay="0"/>
                                  </p:stCondLst>
                                  <p:childTnLst>
                                    <p:set>
                                      <p:cBhvr>
                                        <p:cTn id="846" dur="1" fill="hold">
                                          <p:stCondLst>
                                            <p:cond delay="0"/>
                                          </p:stCondLst>
                                        </p:cTn>
                                        <p:tgtEl>
                                          <p:spTgt spid="283">
                                            <p:txEl>
                                              <p:pRg st="0" end="0"/>
                                            </p:txEl>
                                          </p:spTgt>
                                        </p:tgtEl>
                                        <p:attrNameLst>
                                          <p:attrName>style.visibility</p:attrName>
                                        </p:attrNameLst>
                                      </p:cBhvr>
                                      <p:to>
                                        <p:strVal val="visible"/>
                                      </p:to>
                                    </p:set>
                                    <p:anim calcmode="lin" valueType="num">
                                      <p:cBhvr additive="base">
                                        <p:cTn id="847" dur="500" fill="hold"/>
                                        <p:tgtEl>
                                          <p:spTgt spid="283">
                                            <p:txEl>
                                              <p:pRg st="0" end="0"/>
                                            </p:txEl>
                                          </p:spTgt>
                                        </p:tgtEl>
                                        <p:attrNameLst>
                                          <p:attrName>ppt_x</p:attrName>
                                        </p:attrNameLst>
                                      </p:cBhvr>
                                      <p:tavLst>
                                        <p:tav tm="0">
                                          <p:val>
                                            <p:strVal val="0-#ppt_w/2"/>
                                          </p:val>
                                        </p:tav>
                                        <p:tav tm="100000">
                                          <p:val>
                                            <p:strVal val="#ppt_x"/>
                                          </p:val>
                                        </p:tav>
                                      </p:tavLst>
                                    </p:anim>
                                    <p:anim calcmode="lin" valueType="num">
                                      <p:cBhvr additive="base">
                                        <p:cTn id="848" dur="500" fill="hold"/>
                                        <p:tgtEl>
                                          <p:spTgt spid="283">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85" name="Group 2"/>
          <p:cNvGrpSpPr/>
          <p:nvPr/>
        </p:nvGrpSpPr>
        <p:grpSpPr>
          <a:xfrm>
            <a:off x="762120" y="1758960"/>
            <a:ext cx="5212440" cy="3284640"/>
            <a:chOff x="762120" y="1758960"/>
            <a:chExt cx="5212440" cy="3284640"/>
          </a:xfrm>
        </p:grpSpPr>
        <p:grpSp>
          <p:nvGrpSpPr>
            <p:cNvPr id="286" name="Group 3"/>
            <p:cNvGrpSpPr/>
            <p:nvPr/>
          </p:nvGrpSpPr>
          <p:grpSpPr>
            <a:xfrm>
              <a:off x="762120" y="1758960"/>
              <a:ext cx="5212440" cy="3284640"/>
              <a:chOff x="762120" y="1758960"/>
              <a:chExt cx="5212440" cy="3284640"/>
            </a:xfrm>
          </p:grpSpPr>
          <p:grpSp>
            <p:nvGrpSpPr>
              <p:cNvPr id="287" name="Group 4"/>
              <p:cNvGrpSpPr/>
              <p:nvPr/>
            </p:nvGrpSpPr>
            <p:grpSpPr>
              <a:xfrm>
                <a:off x="762120" y="1758960"/>
                <a:ext cx="5212440" cy="3284640"/>
                <a:chOff x="762120" y="1758960"/>
                <a:chExt cx="5212440" cy="3284640"/>
              </a:xfrm>
            </p:grpSpPr>
            <p:grpSp>
              <p:nvGrpSpPr>
                <p:cNvPr id="288" name="Group 5"/>
                <p:cNvGrpSpPr/>
                <p:nvPr/>
              </p:nvGrpSpPr>
              <p:grpSpPr>
                <a:xfrm>
                  <a:off x="762120" y="1758960"/>
                  <a:ext cx="5212440" cy="3284640"/>
                  <a:chOff x="762120" y="1758960"/>
                  <a:chExt cx="5212440" cy="3284640"/>
                </a:xfrm>
              </p:grpSpPr>
              <p:sp>
                <p:nvSpPr>
                  <p:cNvPr id="289" name="Line 6"/>
                  <p:cNvSpPr/>
                  <p:nvPr/>
                </p:nvSpPr>
                <p:spPr>
                  <a:xfrm>
                    <a:off x="1672920" y="1922400"/>
                    <a:ext cx="0" cy="253872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90" name="Line 7"/>
                  <p:cNvSpPr/>
                  <p:nvPr/>
                </p:nvSpPr>
                <p:spPr>
                  <a:xfrm>
                    <a:off x="1572120" y="4379400"/>
                    <a:ext cx="433224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91" name="Line 8"/>
                  <p:cNvSpPr/>
                  <p:nvPr/>
                </p:nvSpPr>
                <p:spPr>
                  <a:xfrm>
                    <a:off x="2680560" y="4379400"/>
                    <a:ext cx="0" cy="81720"/>
                  </a:xfrm>
                  <a:prstGeom prst="line">
                    <a:avLst/>
                  </a:prstGeom>
                  <a:ln w="9360">
                    <a:solidFill>
                      <a:srgbClr val="ffff00"/>
                    </a:solidFill>
                    <a:miter/>
                  </a:ln>
                </p:spPr>
                <p:style>
                  <a:lnRef idx="0"/>
                  <a:fillRef idx="0"/>
                  <a:effectRef idx="0"/>
                  <a:fontRef idx="minor"/>
                </p:style>
                <p:txBody>
                  <a:bodyPr lIns="90000" rIns="90000" tIns="34920" bIns="34920" anchor="ctr">
                    <a:noAutofit/>
                  </a:bodyPr>
                  <a:p>
                    <a:endParaRPr b="0" lang="en-US" sz="2400" strike="noStrike" u="none">
                      <a:solidFill>
                        <a:srgbClr val="ffff00"/>
                      </a:solidFill>
                      <a:effectLst/>
                      <a:uFillTx/>
                      <a:latin typeface="Times New Roman"/>
                    </a:endParaRPr>
                  </a:p>
                </p:txBody>
              </p:sp>
              <p:sp>
                <p:nvSpPr>
                  <p:cNvPr id="292" name="Line 9"/>
                  <p:cNvSpPr/>
                  <p:nvPr/>
                </p:nvSpPr>
                <p:spPr>
                  <a:xfrm>
                    <a:off x="3789000" y="4379400"/>
                    <a:ext cx="0" cy="81720"/>
                  </a:xfrm>
                  <a:prstGeom prst="line">
                    <a:avLst/>
                  </a:prstGeom>
                  <a:ln w="9360">
                    <a:solidFill>
                      <a:srgbClr val="ffff00"/>
                    </a:solidFill>
                    <a:miter/>
                  </a:ln>
                </p:spPr>
                <p:style>
                  <a:lnRef idx="0"/>
                  <a:fillRef idx="0"/>
                  <a:effectRef idx="0"/>
                  <a:fontRef idx="minor"/>
                </p:style>
                <p:txBody>
                  <a:bodyPr lIns="90000" rIns="90000" tIns="34920" bIns="34920" anchor="ctr">
                    <a:noAutofit/>
                  </a:bodyPr>
                  <a:p>
                    <a:endParaRPr b="0" lang="en-US" sz="2400" strike="noStrike" u="none">
                      <a:solidFill>
                        <a:srgbClr val="ffff00"/>
                      </a:solidFill>
                      <a:effectLst/>
                      <a:uFillTx/>
                      <a:latin typeface="Times New Roman"/>
                    </a:endParaRPr>
                  </a:p>
                </p:txBody>
              </p:sp>
              <p:sp>
                <p:nvSpPr>
                  <p:cNvPr id="293" name="Line 10"/>
                  <p:cNvSpPr/>
                  <p:nvPr/>
                </p:nvSpPr>
                <p:spPr>
                  <a:xfrm>
                    <a:off x="5904720" y="4379400"/>
                    <a:ext cx="0" cy="81720"/>
                  </a:xfrm>
                  <a:prstGeom prst="line">
                    <a:avLst/>
                  </a:prstGeom>
                  <a:ln w="9360">
                    <a:solidFill>
                      <a:srgbClr val="ffff00"/>
                    </a:solidFill>
                    <a:miter/>
                  </a:ln>
                </p:spPr>
                <p:style>
                  <a:lnRef idx="0"/>
                  <a:fillRef idx="0"/>
                  <a:effectRef idx="0"/>
                  <a:fontRef idx="minor"/>
                </p:style>
                <p:txBody>
                  <a:bodyPr lIns="90000" rIns="90000" tIns="34920" bIns="34920" anchor="ctr">
                    <a:noAutofit/>
                  </a:bodyPr>
                  <a:p>
                    <a:endParaRPr b="0" lang="en-US" sz="2400" strike="noStrike" u="none">
                      <a:solidFill>
                        <a:srgbClr val="ffff00"/>
                      </a:solidFill>
                      <a:effectLst/>
                      <a:uFillTx/>
                      <a:latin typeface="Times New Roman"/>
                    </a:endParaRPr>
                  </a:p>
                </p:txBody>
              </p:sp>
              <p:sp>
                <p:nvSpPr>
                  <p:cNvPr id="294" name="Line 11"/>
                  <p:cNvSpPr/>
                  <p:nvPr/>
                </p:nvSpPr>
                <p:spPr>
                  <a:xfrm>
                    <a:off x="4796640" y="4379400"/>
                    <a:ext cx="0" cy="81720"/>
                  </a:xfrm>
                  <a:prstGeom prst="line">
                    <a:avLst/>
                  </a:prstGeom>
                  <a:ln w="9360">
                    <a:solidFill>
                      <a:srgbClr val="ffff00"/>
                    </a:solidFill>
                    <a:miter/>
                  </a:ln>
                </p:spPr>
                <p:style>
                  <a:lnRef idx="0"/>
                  <a:fillRef idx="0"/>
                  <a:effectRef idx="0"/>
                  <a:fontRef idx="minor"/>
                </p:style>
                <p:txBody>
                  <a:bodyPr lIns="90000" rIns="90000" tIns="34920" bIns="34920" anchor="ctr">
                    <a:noAutofit/>
                  </a:bodyPr>
                  <a:p>
                    <a:endParaRPr b="0" lang="en-US" sz="2400" strike="noStrike" u="none">
                      <a:solidFill>
                        <a:srgbClr val="ffff00"/>
                      </a:solidFill>
                      <a:effectLst/>
                      <a:uFillTx/>
                      <a:latin typeface="Times New Roman"/>
                    </a:endParaRPr>
                  </a:p>
                </p:txBody>
              </p:sp>
              <p:sp>
                <p:nvSpPr>
                  <p:cNvPr id="295" name="Line 12"/>
                  <p:cNvSpPr/>
                  <p:nvPr/>
                </p:nvSpPr>
                <p:spPr>
                  <a:xfrm flipH="1">
                    <a:off x="1572120" y="1922400"/>
                    <a:ext cx="1008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96" name="Line 13"/>
                  <p:cNvSpPr/>
                  <p:nvPr/>
                </p:nvSpPr>
                <p:spPr>
                  <a:xfrm flipH="1">
                    <a:off x="1572120" y="2331720"/>
                    <a:ext cx="1008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97" name="Line 14"/>
                  <p:cNvSpPr/>
                  <p:nvPr/>
                </p:nvSpPr>
                <p:spPr>
                  <a:xfrm flipH="1">
                    <a:off x="1572120" y="2741400"/>
                    <a:ext cx="1008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98" name="Line 15"/>
                  <p:cNvSpPr/>
                  <p:nvPr/>
                </p:nvSpPr>
                <p:spPr>
                  <a:xfrm flipH="1">
                    <a:off x="1572120" y="3151080"/>
                    <a:ext cx="1008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99" name="Line 16"/>
                  <p:cNvSpPr/>
                  <p:nvPr/>
                </p:nvSpPr>
                <p:spPr>
                  <a:xfrm flipH="1">
                    <a:off x="1572120" y="3970080"/>
                    <a:ext cx="1008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00" name="Line 17"/>
                  <p:cNvSpPr/>
                  <p:nvPr/>
                </p:nvSpPr>
                <p:spPr>
                  <a:xfrm flipH="1">
                    <a:off x="1572120" y="3560400"/>
                    <a:ext cx="1008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01" name="Text Box 18"/>
                  <p:cNvSpPr/>
                  <p:nvPr/>
                </p:nvSpPr>
                <p:spPr>
                  <a:xfrm>
                    <a:off x="1470240" y="4461480"/>
                    <a:ext cx="37116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0.5</a:t>
                    </a:r>
                    <a:endParaRPr b="0" lang="en-US" sz="1200" strike="noStrike" u="none">
                      <a:solidFill>
                        <a:srgbClr val="ffff00"/>
                      </a:solidFill>
                      <a:effectLst/>
                      <a:uFillTx/>
                      <a:latin typeface="Times New Roman"/>
                    </a:endParaRPr>
                  </a:p>
                </p:txBody>
              </p:sp>
              <p:sp>
                <p:nvSpPr>
                  <p:cNvPr id="302" name="Text Box 19"/>
                  <p:cNvSpPr/>
                  <p:nvPr/>
                </p:nvSpPr>
                <p:spPr>
                  <a:xfrm>
                    <a:off x="2477880" y="4461480"/>
                    <a:ext cx="37116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1.0</a:t>
                    </a:r>
                    <a:endParaRPr b="0" lang="en-US" sz="1200" strike="noStrike" u="none">
                      <a:solidFill>
                        <a:srgbClr val="ffff00"/>
                      </a:solidFill>
                      <a:effectLst/>
                      <a:uFillTx/>
                      <a:latin typeface="Times New Roman"/>
                    </a:endParaRPr>
                  </a:p>
                </p:txBody>
              </p:sp>
              <p:sp>
                <p:nvSpPr>
                  <p:cNvPr id="303" name="Text Box 20"/>
                  <p:cNvSpPr/>
                  <p:nvPr/>
                </p:nvSpPr>
                <p:spPr>
                  <a:xfrm>
                    <a:off x="3588480" y="4461480"/>
                    <a:ext cx="37116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1.5</a:t>
                    </a:r>
                    <a:endParaRPr b="0" lang="en-US" sz="1200" strike="noStrike" u="none">
                      <a:solidFill>
                        <a:srgbClr val="ffff00"/>
                      </a:solidFill>
                      <a:effectLst/>
                      <a:uFillTx/>
                      <a:latin typeface="Times New Roman"/>
                    </a:endParaRPr>
                  </a:p>
                </p:txBody>
              </p:sp>
              <p:sp>
                <p:nvSpPr>
                  <p:cNvPr id="304" name="Text Box 21"/>
                  <p:cNvSpPr/>
                  <p:nvPr/>
                </p:nvSpPr>
                <p:spPr>
                  <a:xfrm>
                    <a:off x="4595760" y="4461480"/>
                    <a:ext cx="37116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2.0</a:t>
                    </a:r>
                    <a:endParaRPr b="0" lang="en-US" sz="1200" strike="noStrike" u="none">
                      <a:solidFill>
                        <a:srgbClr val="ffff00"/>
                      </a:solidFill>
                      <a:effectLst/>
                      <a:uFillTx/>
                      <a:latin typeface="Times New Roman"/>
                    </a:endParaRPr>
                  </a:p>
                </p:txBody>
              </p:sp>
              <p:sp>
                <p:nvSpPr>
                  <p:cNvPr id="305" name="Text Box 22"/>
                  <p:cNvSpPr/>
                  <p:nvPr/>
                </p:nvSpPr>
                <p:spPr>
                  <a:xfrm>
                    <a:off x="5603400" y="4461480"/>
                    <a:ext cx="37116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2.5</a:t>
                    </a:r>
                    <a:endParaRPr b="0" lang="en-US" sz="1200" strike="noStrike" u="none">
                      <a:solidFill>
                        <a:srgbClr val="ffff00"/>
                      </a:solidFill>
                      <a:effectLst/>
                      <a:uFillTx/>
                      <a:latin typeface="Times New Roman"/>
                    </a:endParaRPr>
                  </a:p>
                </p:txBody>
              </p:sp>
              <p:sp>
                <p:nvSpPr>
                  <p:cNvPr id="306" name="Text Box 23"/>
                  <p:cNvSpPr/>
                  <p:nvPr/>
                </p:nvSpPr>
                <p:spPr>
                  <a:xfrm>
                    <a:off x="1269360" y="4215600"/>
                    <a:ext cx="25704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9</a:t>
                    </a:r>
                    <a:endParaRPr b="0" lang="en-US" sz="1200" strike="noStrike" u="none">
                      <a:solidFill>
                        <a:srgbClr val="ffff00"/>
                      </a:solidFill>
                      <a:effectLst/>
                      <a:uFillTx/>
                      <a:latin typeface="Times New Roman"/>
                    </a:endParaRPr>
                  </a:p>
                </p:txBody>
              </p:sp>
              <p:sp>
                <p:nvSpPr>
                  <p:cNvPr id="307" name="Text Box 24"/>
                  <p:cNvSpPr/>
                  <p:nvPr/>
                </p:nvSpPr>
                <p:spPr>
                  <a:xfrm>
                    <a:off x="1170360" y="3805920"/>
                    <a:ext cx="33300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10</a:t>
                    </a:r>
                    <a:endParaRPr b="0" lang="en-US" sz="1200" strike="noStrike" u="none">
                      <a:solidFill>
                        <a:srgbClr val="ffff00"/>
                      </a:solidFill>
                      <a:effectLst/>
                      <a:uFillTx/>
                      <a:latin typeface="Times New Roman"/>
                    </a:endParaRPr>
                  </a:p>
                </p:txBody>
              </p:sp>
              <p:sp>
                <p:nvSpPr>
                  <p:cNvPr id="308" name="Text Box 25"/>
                  <p:cNvSpPr/>
                  <p:nvPr/>
                </p:nvSpPr>
                <p:spPr>
                  <a:xfrm>
                    <a:off x="1170360" y="3396600"/>
                    <a:ext cx="33300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11</a:t>
                    </a:r>
                    <a:endParaRPr b="0" lang="en-US" sz="1200" strike="noStrike" u="none">
                      <a:solidFill>
                        <a:srgbClr val="ffff00"/>
                      </a:solidFill>
                      <a:effectLst/>
                      <a:uFillTx/>
                      <a:latin typeface="Times New Roman"/>
                    </a:endParaRPr>
                  </a:p>
                </p:txBody>
              </p:sp>
              <p:sp>
                <p:nvSpPr>
                  <p:cNvPr id="309" name="Text Box 26"/>
                  <p:cNvSpPr/>
                  <p:nvPr/>
                </p:nvSpPr>
                <p:spPr>
                  <a:xfrm>
                    <a:off x="1170360" y="2987280"/>
                    <a:ext cx="33300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12</a:t>
                    </a:r>
                    <a:endParaRPr b="0" lang="en-US" sz="1200" strike="noStrike" u="none">
                      <a:solidFill>
                        <a:srgbClr val="ffff00"/>
                      </a:solidFill>
                      <a:effectLst/>
                      <a:uFillTx/>
                      <a:latin typeface="Times New Roman"/>
                    </a:endParaRPr>
                  </a:p>
                </p:txBody>
              </p:sp>
              <p:sp>
                <p:nvSpPr>
                  <p:cNvPr id="310" name="Text Box 27"/>
                  <p:cNvSpPr/>
                  <p:nvPr/>
                </p:nvSpPr>
                <p:spPr>
                  <a:xfrm>
                    <a:off x="1170360" y="2577600"/>
                    <a:ext cx="33300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13</a:t>
                    </a:r>
                    <a:endParaRPr b="0" lang="en-US" sz="1200" strike="noStrike" u="none">
                      <a:solidFill>
                        <a:srgbClr val="ffff00"/>
                      </a:solidFill>
                      <a:effectLst/>
                      <a:uFillTx/>
                      <a:latin typeface="Times New Roman"/>
                    </a:endParaRPr>
                  </a:p>
                </p:txBody>
              </p:sp>
              <p:sp>
                <p:nvSpPr>
                  <p:cNvPr id="311" name="Text Box 28"/>
                  <p:cNvSpPr/>
                  <p:nvPr/>
                </p:nvSpPr>
                <p:spPr>
                  <a:xfrm>
                    <a:off x="1170360" y="2168280"/>
                    <a:ext cx="33300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14</a:t>
                    </a:r>
                    <a:endParaRPr b="0" lang="en-US" sz="1200" strike="noStrike" u="none">
                      <a:solidFill>
                        <a:srgbClr val="ffff00"/>
                      </a:solidFill>
                      <a:effectLst/>
                      <a:uFillTx/>
                      <a:latin typeface="Times New Roman"/>
                    </a:endParaRPr>
                  </a:p>
                </p:txBody>
              </p:sp>
              <p:sp>
                <p:nvSpPr>
                  <p:cNvPr id="312" name="Text Box 29"/>
                  <p:cNvSpPr/>
                  <p:nvPr/>
                </p:nvSpPr>
                <p:spPr>
                  <a:xfrm>
                    <a:off x="1170360" y="1758960"/>
                    <a:ext cx="33300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15</a:t>
                    </a:r>
                    <a:endParaRPr b="0" lang="en-US" sz="1200" strike="noStrike" u="none">
                      <a:solidFill>
                        <a:srgbClr val="ffff00"/>
                      </a:solidFill>
                      <a:effectLst/>
                      <a:uFillTx/>
                      <a:latin typeface="Times New Roman"/>
                    </a:endParaRPr>
                  </a:p>
                </p:txBody>
              </p:sp>
              <p:sp>
                <p:nvSpPr>
                  <p:cNvPr id="313" name="Text Box 30"/>
                  <p:cNvSpPr/>
                  <p:nvPr/>
                </p:nvSpPr>
                <p:spPr>
                  <a:xfrm rot="16200000">
                    <a:off x="-125280" y="2977920"/>
                    <a:ext cx="2112120" cy="33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CaO</a:t>
                    </a:r>
                    <a:r>
                      <a:rPr b="1" lang="fr-FR" sz="1400" strike="noStrike" u="none" baseline="-25000">
                        <a:solidFill>
                          <a:srgbClr val="ffff00"/>
                        </a:solidFill>
                        <a:effectLst/>
                        <a:uFillTx/>
                        <a:latin typeface="Arial"/>
                      </a:rPr>
                      <a:t>2</a:t>
                    </a:r>
                    <a:r>
                      <a:rPr b="1" lang="fr-FR" sz="1400" strike="noStrike" u="none">
                        <a:solidFill>
                          <a:srgbClr val="ffff00"/>
                        </a:solidFill>
                        <a:effectLst/>
                        <a:uFillTx/>
                        <a:latin typeface="Arial"/>
                      </a:rPr>
                      <a:t> - CvO</a:t>
                    </a:r>
                    <a:r>
                      <a:rPr b="1" lang="fr-FR" sz="1400" strike="noStrike" u="none" baseline="-25000">
                        <a:solidFill>
                          <a:srgbClr val="ffff00"/>
                        </a:solidFill>
                        <a:effectLst/>
                        <a:uFillTx/>
                        <a:latin typeface="Arial"/>
                      </a:rPr>
                      <a:t>2</a:t>
                    </a:r>
                    <a:r>
                      <a:rPr b="1" lang="fr-FR" sz="1400" strike="noStrike" u="none">
                        <a:solidFill>
                          <a:srgbClr val="ffff00"/>
                        </a:solidFill>
                        <a:effectLst/>
                        <a:uFillTx/>
                        <a:latin typeface="Arial"/>
                      </a:rPr>
                      <a:t> </a:t>
                    </a:r>
                    <a:r>
                      <a:rPr b="1" lang="fr-FR" sz="1200" strike="noStrike" u="none">
                        <a:solidFill>
                          <a:srgbClr val="ffff00"/>
                        </a:solidFill>
                        <a:effectLst/>
                        <a:uFillTx/>
                        <a:latin typeface="Arial"/>
                      </a:rPr>
                      <a:t>(ml.100 ml</a:t>
                    </a:r>
                    <a:r>
                      <a:rPr b="1" lang="fr-FR" sz="1200" strike="noStrike" u="none" baseline="30000">
                        <a:solidFill>
                          <a:srgbClr val="ffff00"/>
                        </a:solidFill>
                        <a:effectLst/>
                        <a:uFillTx/>
                        <a:latin typeface="Arial"/>
                      </a:rPr>
                      <a:t>-1</a:t>
                    </a:r>
                    <a:r>
                      <a:rPr b="1" lang="fr-FR" sz="1200" strike="noStrike" u="none">
                        <a:solidFill>
                          <a:srgbClr val="ffff00"/>
                        </a:solidFill>
                        <a:effectLst/>
                        <a:uFillTx/>
                        <a:latin typeface="Arial"/>
                      </a:rPr>
                      <a:t>)</a:t>
                    </a:r>
                    <a:endParaRPr b="0" lang="en-US" sz="1200" strike="noStrike" u="none">
                      <a:solidFill>
                        <a:srgbClr val="ffff00"/>
                      </a:solidFill>
                      <a:effectLst/>
                      <a:uFillTx/>
                      <a:latin typeface="Times New Roman"/>
                    </a:endParaRPr>
                  </a:p>
                </p:txBody>
              </p:sp>
              <p:sp>
                <p:nvSpPr>
                  <p:cNvPr id="314" name="Text Box 31"/>
                  <p:cNvSpPr/>
                  <p:nvPr/>
                </p:nvSpPr>
                <p:spPr>
                  <a:xfrm>
                    <a:off x="2082240" y="4707000"/>
                    <a:ext cx="2617560" cy="33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Consommation d ’O</a:t>
                    </a:r>
                    <a:r>
                      <a:rPr b="1" lang="fr-FR" sz="1400" strike="noStrike" u="none" baseline="-25000">
                        <a:solidFill>
                          <a:srgbClr val="ffff00"/>
                        </a:solidFill>
                        <a:effectLst/>
                        <a:uFillTx/>
                        <a:latin typeface="Arial"/>
                      </a:rPr>
                      <a:t>2</a:t>
                    </a:r>
                    <a:r>
                      <a:rPr b="1" lang="fr-FR" sz="1400" strike="noStrike" u="none">
                        <a:solidFill>
                          <a:srgbClr val="ffff00"/>
                        </a:solidFill>
                        <a:effectLst/>
                        <a:uFillTx/>
                        <a:latin typeface="Arial"/>
                      </a:rPr>
                      <a:t>  </a:t>
                    </a:r>
                    <a:r>
                      <a:rPr b="1" lang="fr-FR" sz="1200" strike="noStrike" u="none">
                        <a:solidFill>
                          <a:srgbClr val="ffff00"/>
                        </a:solidFill>
                        <a:effectLst/>
                        <a:uFillTx/>
                        <a:latin typeface="Arial"/>
                      </a:rPr>
                      <a:t>(L.min</a:t>
                    </a:r>
                    <a:r>
                      <a:rPr b="1" lang="fr-FR" sz="1200" strike="noStrike" u="none" baseline="30000">
                        <a:solidFill>
                          <a:srgbClr val="ffff00"/>
                        </a:solidFill>
                        <a:effectLst/>
                        <a:uFillTx/>
                        <a:latin typeface="Arial"/>
                      </a:rPr>
                      <a:t>-1</a:t>
                    </a:r>
                    <a:r>
                      <a:rPr b="1" lang="fr-FR" sz="1200" strike="noStrike" u="none">
                        <a:solidFill>
                          <a:srgbClr val="ffff00"/>
                        </a:solidFill>
                        <a:effectLst/>
                        <a:uFillTx/>
                        <a:latin typeface="Arial"/>
                      </a:rPr>
                      <a:t>)</a:t>
                    </a:r>
                    <a:endParaRPr b="0" lang="en-US" sz="1200" strike="noStrike" u="none">
                      <a:solidFill>
                        <a:srgbClr val="ffff00"/>
                      </a:solidFill>
                      <a:effectLst/>
                      <a:uFillTx/>
                      <a:latin typeface="Times New Roman"/>
                    </a:endParaRPr>
                  </a:p>
                </p:txBody>
              </p:sp>
            </p:grpSp>
            <p:grpSp>
              <p:nvGrpSpPr>
                <p:cNvPr id="315" name="Group 32"/>
                <p:cNvGrpSpPr/>
                <p:nvPr/>
              </p:nvGrpSpPr>
              <p:grpSpPr>
                <a:xfrm>
                  <a:off x="1851840" y="2413800"/>
                  <a:ext cx="3628440" cy="1699200"/>
                  <a:chOff x="1851840" y="2413800"/>
                  <a:chExt cx="3628440" cy="1699200"/>
                </a:xfrm>
              </p:grpSpPr>
              <p:sp>
                <p:nvSpPr>
                  <p:cNvPr id="316" name="Text Box 33"/>
                  <p:cNvSpPr/>
                  <p:nvPr/>
                </p:nvSpPr>
                <p:spPr>
                  <a:xfrm>
                    <a:off x="1851840" y="380556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17" name="Text Box 34"/>
                  <p:cNvSpPr/>
                  <p:nvPr/>
                </p:nvSpPr>
                <p:spPr>
                  <a:xfrm>
                    <a:off x="2355480" y="347652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18" name="Text Box 35"/>
                  <p:cNvSpPr/>
                  <p:nvPr/>
                </p:nvSpPr>
                <p:spPr>
                  <a:xfrm>
                    <a:off x="2960280" y="315072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19" name="Text Box 36"/>
                  <p:cNvSpPr/>
                  <p:nvPr/>
                </p:nvSpPr>
                <p:spPr>
                  <a:xfrm>
                    <a:off x="3565080" y="290484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20" name="Text Box 37"/>
                  <p:cNvSpPr/>
                  <p:nvPr/>
                </p:nvSpPr>
                <p:spPr>
                  <a:xfrm>
                    <a:off x="4070520" y="265932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21" name="Text Box 38"/>
                  <p:cNvSpPr/>
                  <p:nvPr/>
                </p:nvSpPr>
                <p:spPr>
                  <a:xfrm>
                    <a:off x="5077080" y="241380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22" name="Text Box 39"/>
                  <p:cNvSpPr/>
                  <p:nvPr/>
                </p:nvSpPr>
                <p:spPr>
                  <a:xfrm>
                    <a:off x="4574520" y="249732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23" name="Freeform 40"/>
                  <p:cNvSpPr/>
                  <p:nvPr/>
                </p:nvSpPr>
                <p:spPr>
                  <a:xfrm>
                    <a:off x="4291920" y="2536560"/>
                    <a:ext cx="1033200" cy="286200"/>
                  </a:xfrm>
                  <a:custGeom>
                    <a:avLst/>
                    <a:gdLst>
                      <a:gd name="GluePoint1X" fmla="*/ 492 w 492"/>
                      <a:gd name="GluePoint1Y" fmla="*/ 0 h 168"/>
                      <a:gd name="GluePoint2X" fmla="*/ 264 w 492"/>
                      <a:gd name="GluePoint2Y" fmla="*/ 48 h 168"/>
                      <a:gd name="GluePoint3X" fmla="*/ 0 w 492"/>
                      <a:gd name="GluePoint3Y" fmla="*/ 168 h 168"/>
                    </a:gdLst>
                    <a:ahLst/>
                    <a:cxnLst>
                      <a:cxn ang="0">
                        <a:pos x="GluePoint1X" y="GluePoint1Y"/>
                      </a:cxn>
                      <a:cxn ang="0">
                        <a:pos x="GluePoint2X" y="GluePoint2Y"/>
                      </a:cxn>
                      <a:cxn ang="0">
                        <a:pos x="GluePoint3X" y="GluePoint3Y"/>
                      </a:cxn>
                    </a:cxnLst>
                    <a:rect l="l" t="t" r="r" b="b"/>
                    <a:pathLst>
                      <a:path w="492" h="168">
                        <a:moveTo>
                          <a:pt x="492" y="0"/>
                        </a:moveTo>
                        <a:lnTo>
                          <a:pt x="264" y="48"/>
                        </a:lnTo>
                        <a:lnTo>
                          <a:pt x="0" y="168"/>
                        </a:lnTo>
                      </a:path>
                    </a:pathLst>
                  </a:custGeom>
                  <a:noFill/>
                  <a:ln w="9360">
                    <a:solidFill>
                      <a:srgbClr val="ffffff"/>
                    </a:solidFill>
                    <a:roun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24" name="Freeform 41"/>
                  <p:cNvSpPr/>
                  <p:nvPr/>
                </p:nvSpPr>
                <p:spPr>
                  <a:xfrm>
                    <a:off x="2074320" y="2823120"/>
                    <a:ext cx="2217240" cy="1146600"/>
                  </a:xfrm>
                  <a:custGeom>
                    <a:avLst/>
                    <a:gdLst>
                      <a:gd name="GluePoint1X" fmla="*/ 1056 w 1056"/>
                      <a:gd name="GluePoint1Y" fmla="*/ 0 h 672"/>
                      <a:gd name="GluePoint2X" fmla="*/ 540 w 1056"/>
                      <a:gd name="GluePoint2Y" fmla="*/ 276 h 672"/>
                      <a:gd name="GluePoint3X" fmla="*/ 276 w 1056"/>
                      <a:gd name="GluePoint3Y" fmla="*/ 468 h 672"/>
                      <a:gd name="GluePoint4X" fmla="*/ 0 w 1056"/>
                      <a:gd name="GluePoint4Y" fmla="*/ 672 h 672"/>
                    </a:gdLst>
                    <a:ahLst/>
                    <a:cxnLst>
                      <a:cxn ang="0">
                        <a:pos x="GluePoint1X" y="GluePoint1Y"/>
                      </a:cxn>
                      <a:cxn ang="0">
                        <a:pos x="GluePoint2X" y="GluePoint2Y"/>
                      </a:cxn>
                      <a:cxn ang="0">
                        <a:pos x="GluePoint3X" y="GluePoint3Y"/>
                      </a:cxn>
                      <a:cxn ang="0">
                        <a:pos x="GluePoint4X" y="GluePoint4Y"/>
                      </a:cxn>
                    </a:cxnLst>
                    <a:rect l="l" t="t" r="r" b="b"/>
                    <a:pathLst>
                      <a:path w="1056" h="672">
                        <a:moveTo>
                          <a:pt x="1056" y="0"/>
                        </a:moveTo>
                        <a:lnTo>
                          <a:pt x="540" y="276"/>
                        </a:lnTo>
                        <a:lnTo>
                          <a:pt x="276" y="468"/>
                        </a:lnTo>
                        <a:lnTo>
                          <a:pt x="0" y="672"/>
                        </a:lnTo>
                      </a:path>
                    </a:pathLst>
                  </a:custGeom>
                  <a:noFill/>
                  <a:ln w="9360">
                    <a:solidFill>
                      <a:srgbClr val="ffffff"/>
                    </a:solidFill>
                    <a:roun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grpSp>
          <p:grpSp>
            <p:nvGrpSpPr>
              <p:cNvPr id="325" name="Group 42"/>
              <p:cNvGrpSpPr/>
              <p:nvPr/>
            </p:nvGrpSpPr>
            <p:grpSpPr>
              <a:xfrm>
                <a:off x="1851840" y="1922400"/>
                <a:ext cx="3628080" cy="1617840"/>
                <a:chOff x="1851840" y="1922400"/>
                <a:chExt cx="3628080" cy="1617840"/>
              </a:xfrm>
            </p:grpSpPr>
            <p:sp>
              <p:nvSpPr>
                <p:cNvPr id="326" name="Text Box 43"/>
                <p:cNvSpPr/>
                <p:nvPr/>
              </p:nvSpPr>
              <p:spPr>
                <a:xfrm>
                  <a:off x="1851840" y="323280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grpSp>
              <p:nvGrpSpPr>
                <p:cNvPr id="327" name="Group 44"/>
                <p:cNvGrpSpPr/>
                <p:nvPr/>
              </p:nvGrpSpPr>
              <p:grpSpPr>
                <a:xfrm>
                  <a:off x="2074320" y="1922400"/>
                  <a:ext cx="3405600" cy="1473840"/>
                  <a:chOff x="2074320" y="1922400"/>
                  <a:chExt cx="3405600" cy="1473840"/>
                </a:xfrm>
              </p:grpSpPr>
              <p:sp>
                <p:nvSpPr>
                  <p:cNvPr id="328" name="Text Box 45"/>
                  <p:cNvSpPr/>
                  <p:nvPr/>
                </p:nvSpPr>
                <p:spPr>
                  <a:xfrm>
                    <a:off x="3465360" y="233172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29" name="Text Box 46"/>
                  <p:cNvSpPr/>
                  <p:nvPr/>
                </p:nvSpPr>
                <p:spPr>
                  <a:xfrm>
                    <a:off x="4069800" y="216792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30" name="Text Box 47"/>
                  <p:cNvSpPr/>
                  <p:nvPr/>
                </p:nvSpPr>
                <p:spPr>
                  <a:xfrm>
                    <a:off x="4572720" y="200412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31" name="Text Box 48"/>
                  <p:cNvSpPr/>
                  <p:nvPr/>
                </p:nvSpPr>
                <p:spPr>
                  <a:xfrm>
                    <a:off x="5076720" y="192240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32" name="Text Box 49"/>
                  <p:cNvSpPr/>
                  <p:nvPr/>
                </p:nvSpPr>
                <p:spPr>
                  <a:xfrm>
                    <a:off x="2859120" y="249552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33" name="Text Box 50"/>
                  <p:cNvSpPr/>
                  <p:nvPr/>
                </p:nvSpPr>
                <p:spPr>
                  <a:xfrm>
                    <a:off x="2254320" y="282312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334" name="Freeform 51"/>
                  <p:cNvSpPr/>
                  <p:nvPr/>
                </p:nvSpPr>
                <p:spPr>
                  <a:xfrm>
                    <a:off x="2074320" y="2085840"/>
                    <a:ext cx="3224880" cy="1310400"/>
                  </a:xfrm>
                  <a:custGeom>
                    <a:avLst/>
                    <a:gdLst>
                      <a:gd name="GluePoint1X" fmla="*/ 1536 w 1536"/>
                      <a:gd name="GluePoint1Y" fmla="*/ 0 h 768"/>
                      <a:gd name="GluePoint2X" fmla="*/ 1284 w 1536"/>
                      <a:gd name="GluePoint2Y" fmla="*/ 36 h 768"/>
                      <a:gd name="GluePoint3X" fmla="*/ 468 w 1536"/>
                      <a:gd name="GluePoint3Y" fmla="*/ 312 h 768"/>
                      <a:gd name="GluePoint4X" fmla="*/ 180 w 1536"/>
                      <a:gd name="GluePoint4Y" fmla="*/ 516 h 768"/>
                      <a:gd name="GluePoint5X" fmla="*/ 0 w 1536"/>
                      <a:gd name="GluePoint5Y" fmla="*/ 768 h 768"/>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536" h="768">
                        <a:moveTo>
                          <a:pt x="1536" y="0"/>
                        </a:moveTo>
                        <a:lnTo>
                          <a:pt x="1284" y="36"/>
                        </a:lnTo>
                        <a:lnTo>
                          <a:pt x="468" y="312"/>
                        </a:lnTo>
                        <a:lnTo>
                          <a:pt x="180" y="516"/>
                        </a:lnTo>
                        <a:lnTo>
                          <a:pt x="0" y="768"/>
                        </a:lnTo>
                      </a:path>
                    </a:pathLst>
                  </a:custGeom>
                  <a:noFill/>
                  <a:ln w="9360">
                    <a:solidFill>
                      <a:srgbClr val="3333cc"/>
                    </a:solidFill>
                    <a:roun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grpSp>
        </p:grpSp>
        <p:sp>
          <p:nvSpPr>
            <p:cNvPr id="335" name="Text Box 52"/>
            <p:cNvSpPr/>
            <p:nvPr/>
          </p:nvSpPr>
          <p:spPr>
            <a:xfrm>
              <a:off x="4777200" y="3206880"/>
              <a:ext cx="104220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3333cc"/>
                  </a:solidFill>
                  <a:effectLst/>
                  <a:uFillTx/>
                  <a:latin typeface="Arial"/>
                </a:rPr>
                <a:t> enfants</a:t>
              </a:r>
              <a:endParaRPr b="0" lang="en-US" sz="1400" strike="noStrike" u="none">
                <a:solidFill>
                  <a:srgbClr val="ffff00"/>
                </a:solidFill>
                <a:effectLst/>
                <a:uFillTx/>
                <a:latin typeface="Times New Roman"/>
              </a:endParaRPr>
            </a:p>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rPr>
                <a:t> adultes</a:t>
              </a:r>
              <a:endParaRPr b="0" lang="en-US" sz="1400" strike="noStrike" u="none">
                <a:solidFill>
                  <a:srgbClr val="ffff00"/>
                </a:solidFill>
                <a:effectLst/>
                <a:uFillTx/>
                <a:latin typeface="Times New Roman"/>
              </a:endParaRPr>
            </a:p>
          </p:txBody>
        </p:sp>
      </p:grpSp>
      <p:sp>
        <p:nvSpPr>
          <p:cNvPr id="336" name="Text Box 53"/>
          <p:cNvSpPr/>
          <p:nvPr/>
        </p:nvSpPr>
        <p:spPr>
          <a:xfrm>
            <a:off x="1722240" y="765000"/>
            <a:ext cx="5502600" cy="5101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Différence artério-veineuse en O</a:t>
            </a:r>
            <a:r>
              <a:rPr b="1" lang="fr-FR" sz="2400" strike="noStrike" u="none" baseline="-25000">
                <a:solidFill>
                  <a:srgbClr val="ffffff"/>
                </a:solidFill>
                <a:effectLst/>
                <a:uFillTx/>
                <a:latin typeface="Bookman Old Style"/>
              </a:rPr>
              <a:t>2 </a:t>
            </a:r>
            <a:endParaRPr b="0" lang="en-US" sz="2400" strike="noStrike" u="none">
              <a:solidFill>
                <a:srgbClr val="ffff00"/>
              </a:solidFill>
              <a:effectLst/>
              <a:uFillTx/>
              <a:latin typeface="Times New Roman"/>
            </a:endParaRPr>
          </a:p>
        </p:txBody>
      </p:sp>
      <p:grpSp>
        <p:nvGrpSpPr>
          <p:cNvPr id="337" name="Group 54"/>
          <p:cNvGrpSpPr/>
          <p:nvPr/>
        </p:nvGrpSpPr>
        <p:grpSpPr>
          <a:xfrm>
            <a:off x="6934320" y="1835280"/>
            <a:ext cx="1517400" cy="2611080"/>
            <a:chOff x="6934320" y="1835280"/>
            <a:chExt cx="1517400" cy="2611080"/>
          </a:xfrm>
        </p:grpSpPr>
        <p:sp>
          <p:nvSpPr>
            <p:cNvPr id="338" name="Oval 55"/>
            <p:cNvSpPr/>
            <p:nvPr/>
          </p:nvSpPr>
          <p:spPr>
            <a:xfrm>
              <a:off x="6934320" y="2280960"/>
              <a:ext cx="1517400" cy="1485720"/>
            </a:xfrm>
            <a:prstGeom prst="ellipse">
              <a:avLst/>
            </a:prstGeom>
            <a:solidFill>
              <a:srgbClr val="3366ff"/>
            </a:solidFill>
            <a:ln w="50760">
              <a:solidFill>
                <a:srgbClr val="3109f7"/>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pic>
          <p:nvPicPr>
            <p:cNvPr id="339" name="Picture 56" descr=""/>
            <p:cNvPicPr/>
            <p:nvPr/>
          </p:nvPicPr>
          <p:blipFill>
            <a:blip r:embed="rId1"/>
            <a:stretch/>
          </p:blipFill>
          <p:spPr>
            <a:xfrm>
              <a:off x="7238880" y="2662200"/>
              <a:ext cx="1010880" cy="712440"/>
            </a:xfrm>
            <a:prstGeom prst="rect">
              <a:avLst/>
            </a:prstGeom>
            <a:noFill/>
            <a:ln w="0">
              <a:noFill/>
            </a:ln>
          </p:spPr>
        </p:pic>
        <p:sp>
          <p:nvSpPr>
            <p:cNvPr id="340" name="Text Box 57"/>
            <p:cNvSpPr/>
            <p:nvPr/>
          </p:nvSpPr>
          <p:spPr>
            <a:xfrm>
              <a:off x="7402680" y="1835280"/>
              <a:ext cx="589320" cy="33660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Times New Roman"/>
                </a:rPr>
                <a:t>CaO</a:t>
              </a:r>
              <a:r>
                <a:rPr b="1" lang="fr-FR" sz="1400" strike="noStrike" u="none" baseline="-25000">
                  <a:solidFill>
                    <a:srgbClr val="ffff00"/>
                  </a:solidFill>
                  <a:effectLst/>
                  <a:uFillTx/>
                  <a:latin typeface="Times New Roman"/>
                </a:rPr>
                <a:t>2</a:t>
              </a:r>
              <a:endParaRPr b="0" lang="en-US" sz="1400" strike="noStrike" u="none">
                <a:solidFill>
                  <a:srgbClr val="ffff00"/>
                </a:solidFill>
                <a:effectLst/>
                <a:uFillTx/>
                <a:latin typeface="Times New Roman"/>
              </a:endParaRPr>
            </a:p>
          </p:txBody>
        </p:sp>
        <p:sp>
          <p:nvSpPr>
            <p:cNvPr id="341" name="Text Box 58"/>
            <p:cNvSpPr/>
            <p:nvPr/>
          </p:nvSpPr>
          <p:spPr>
            <a:xfrm>
              <a:off x="7394760" y="4109760"/>
              <a:ext cx="628920" cy="33660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Times New Roman"/>
                </a:rPr>
                <a:t>CVO</a:t>
              </a:r>
              <a:r>
                <a:rPr b="1" lang="fr-FR" sz="1400" strike="noStrike" u="none" baseline="-25000">
                  <a:solidFill>
                    <a:srgbClr val="ffff00"/>
                  </a:solidFill>
                  <a:effectLst/>
                  <a:uFillTx/>
                  <a:latin typeface="Times New Roman"/>
                </a:rPr>
                <a:t>2</a:t>
              </a:r>
              <a:endParaRPr b="0" lang="en-US" sz="1400" strike="noStrike" u="none">
                <a:solidFill>
                  <a:srgbClr val="ffff00"/>
                </a:solidFill>
                <a:effectLst/>
                <a:uFillTx/>
                <a:latin typeface="Times New Roman"/>
              </a:endParaRPr>
            </a:p>
          </p:txBody>
        </p:sp>
        <p:sp>
          <p:nvSpPr>
            <p:cNvPr id="342" name="Line 59"/>
            <p:cNvSpPr/>
            <p:nvPr/>
          </p:nvSpPr>
          <p:spPr>
            <a:xfrm>
              <a:off x="7696080" y="2128680"/>
              <a:ext cx="0" cy="76176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43" name="Line 60"/>
            <p:cNvSpPr/>
            <p:nvPr/>
          </p:nvSpPr>
          <p:spPr>
            <a:xfrm>
              <a:off x="7696080" y="3119400"/>
              <a:ext cx="0" cy="83772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grpSp>
      <p:sp>
        <p:nvSpPr>
          <p:cNvPr id="344" name="Rectangle 1"/>
          <p:cNvSpPr/>
          <p:nvPr/>
        </p:nvSpPr>
        <p:spPr>
          <a:xfrm>
            <a:off x="1335240" y="5516640"/>
            <a:ext cx="692280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système d ’extraction de l’oxygène l’enfant  est nettement plus performant que celui de l’adulte</a:t>
            </a:r>
            <a:endParaRPr b="0" lang="en-US" sz="2400" strike="noStrike" u="none">
              <a:solidFill>
                <a:srgbClr val="ffff00"/>
              </a:solidFill>
              <a:effectLst/>
              <a:uFillTx/>
              <a:latin typeface="Times New Roman"/>
            </a:endParaRPr>
          </a:p>
        </p:txBody>
      </p:sp>
    </p:spTree>
  </p:cSld>
  <p:transition spd="med">
    <p:zoom dir="out"/>
  </p:transition>
  <p:timing>
    <p:tnLst>
      <p:par>
        <p:cTn id="849" dur="indefinite" restart="never" nodeType="tmRoot">
          <p:childTnLst>
            <p:seq>
              <p:cTn id="850" dur="indefinite" nodeType="mainSeq">
                <p:childTnLst>
                  <p:par>
                    <p:cTn id="851" nodeType="clickEffect" fill="hold">
                      <p:stCondLst>
                        <p:cond delay="0"/>
                      </p:stCondLst>
                      <p:childTnLst>
                        <p:par>
                          <p:cTn id="852" nodeType="withEffect" fill="hold">
                            <p:stCondLst>
                              <p:cond delay="0"/>
                            </p:stCondLst>
                            <p:childTnLst>
                              <p:par>
                                <p:cTn id="853" nodeType="afterEffect" fill="hold" presetClass="entr" presetID="23" presetSubtype="16" repeatCount="1000">
                                  <p:stCondLst>
                                    <p:cond delay="500"/>
                                  </p:stCondLst>
                                  <p:childTnLst>
                                    <p:set>
                                      <p:cBhvr>
                                        <p:cTn id="854" dur="1" fill="hold">
                                          <p:stCondLst>
                                            <p:cond delay="0"/>
                                          </p:stCondLst>
                                        </p:cTn>
                                        <p:tgtEl>
                                          <p:spTgt spid="337"/>
                                        </p:tgtEl>
                                        <p:attrNameLst>
                                          <p:attrName>style.visibility</p:attrName>
                                        </p:attrNameLst>
                                      </p:cBhvr>
                                      <p:to>
                                        <p:strVal val="visible"/>
                                      </p:to>
                                    </p:set>
                                    <p:anim calcmode="lin" valueType="num">
                                      <p:cBhvr additive="repl">
                                        <p:cTn id="855" dur="500" fill="hold"/>
                                        <p:tgtEl>
                                          <p:spTgt spid="337"/>
                                        </p:tgtEl>
                                        <p:attrNameLst>
                                          <p:attrName>ppt_w</p:attrName>
                                        </p:attrNameLst>
                                      </p:cBhvr>
                                      <p:tavLst>
                                        <p:tav tm="0">
                                          <p:val>
                                            <p:fltVal val="0"/>
                                          </p:val>
                                        </p:tav>
                                        <p:tav tm="100000">
                                          <p:val>
                                            <p:strVal val="#ppt_w"/>
                                          </p:val>
                                        </p:tav>
                                      </p:tavLst>
                                    </p:anim>
                                    <p:anim calcmode="lin" valueType="num">
                                      <p:cBhvr additive="repl">
                                        <p:cTn id="856" dur="500" fill="hold"/>
                                        <p:tgtEl>
                                          <p:spTgt spid="33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Line 2"/>
          <p:cNvSpPr/>
          <p:nvPr/>
        </p:nvSpPr>
        <p:spPr>
          <a:xfrm>
            <a:off x="1828800" y="1447920"/>
            <a:ext cx="0" cy="44193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46" name="Line 3"/>
          <p:cNvSpPr/>
          <p:nvPr/>
        </p:nvSpPr>
        <p:spPr>
          <a:xfrm>
            <a:off x="1828800" y="5867280"/>
            <a:ext cx="72388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47" name="Rectangle 4" descr="Diagonales larges vers le haut"/>
          <p:cNvSpPr/>
          <p:nvPr/>
        </p:nvSpPr>
        <p:spPr>
          <a:xfrm>
            <a:off x="2057400" y="3505320"/>
            <a:ext cx="380880" cy="2361960"/>
          </a:xfrm>
          <a:prstGeom prst="rect">
            <a:avLst/>
          </a:prstGeom>
          <a:blipFill rotWithShape="0">
            <a:blip r:embed="rId1"/>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48" name="Text Box 5"/>
          <p:cNvSpPr/>
          <p:nvPr/>
        </p:nvSpPr>
        <p:spPr>
          <a:xfrm>
            <a:off x="691200" y="1523880"/>
            <a:ext cx="1613160" cy="4440960"/>
          </a:xfrm>
          <a:prstGeom prst="rect">
            <a:avLst/>
          </a:prstGeom>
          <a:noFill/>
          <a:ln w="0">
            <a:noFill/>
          </a:ln>
        </p:spPr>
        <p:style>
          <a:lnRef idx="0"/>
          <a:fillRef idx="0"/>
          <a:effectRef idx="0"/>
          <a:fontRef idx="minor"/>
        </p:style>
        <p:txBody>
          <a:bodyPr wrap="none" lIns="90000" rIns="90000" tIns="46800" bIns="46800" anchor="t">
            <a:spAutoFit/>
          </a:bodyPr>
          <a:p>
            <a:pPr marL="457200" indent="-457200">
              <a:lnSpc>
                <a:spcPct val="85000"/>
              </a:lnSpc>
              <a:buClr>
                <a:srgbClr val="ffff00"/>
              </a:buClr>
              <a:buFont typeface="Arial"/>
              <a:buAutoNum type="arabicPlain" startAt="10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9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8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7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6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5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4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3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10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9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0      -</a:t>
            </a:r>
            <a:endParaRPr b="0" lang="en-US" sz="1600" strike="noStrike" u="none">
              <a:solidFill>
                <a:srgbClr val="ffff00"/>
              </a:solidFill>
              <a:effectLst/>
              <a:uFillTx/>
              <a:latin typeface="Times New Roman"/>
            </a:endParaRPr>
          </a:p>
        </p:txBody>
      </p:sp>
      <p:sp>
        <p:nvSpPr>
          <p:cNvPr id="349" name="Rectangle 6" descr="10 %"/>
          <p:cNvSpPr/>
          <p:nvPr/>
        </p:nvSpPr>
        <p:spPr>
          <a:xfrm>
            <a:off x="2438280" y="4419720"/>
            <a:ext cx="381240" cy="1447560"/>
          </a:xfrm>
          <a:prstGeom prst="rect">
            <a:avLst/>
          </a:prstGeom>
          <a:blipFill rotWithShape="0">
            <a:blip r:embed="rId2"/>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50" name="Rectangle 7" descr="Diagonales larges vers le haut"/>
          <p:cNvSpPr/>
          <p:nvPr/>
        </p:nvSpPr>
        <p:spPr>
          <a:xfrm>
            <a:off x="3124080" y="2286000"/>
            <a:ext cx="381240" cy="3581280"/>
          </a:xfrm>
          <a:prstGeom prst="rect">
            <a:avLst/>
          </a:prstGeom>
          <a:blipFill rotWithShape="0">
            <a:blip r:embed="rId3"/>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51" name="Rectangle 8" descr="10 %"/>
          <p:cNvSpPr/>
          <p:nvPr/>
        </p:nvSpPr>
        <p:spPr>
          <a:xfrm>
            <a:off x="4648320" y="2286000"/>
            <a:ext cx="380880" cy="3581280"/>
          </a:xfrm>
          <a:prstGeom prst="rect">
            <a:avLst/>
          </a:prstGeom>
          <a:blipFill rotWithShape="0">
            <a:blip r:embed="rId4"/>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52" name="Rectangle 9" descr="Diagonales larges vers le haut"/>
          <p:cNvSpPr/>
          <p:nvPr/>
        </p:nvSpPr>
        <p:spPr>
          <a:xfrm>
            <a:off x="4267080" y="1828800"/>
            <a:ext cx="381240" cy="4038480"/>
          </a:xfrm>
          <a:prstGeom prst="rect">
            <a:avLst/>
          </a:prstGeom>
          <a:blipFill rotWithShape="0">
            <a:blip r:embed="rId5"/>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53" name="Rectangle 10" descr="10 %"/>
          <p:cNvSpPr/>
          <p:nvPr/>
        </p:nvSpPr>
        <p:spPr>
          <a:xfrm>
            <a:off x="3505320" y="2971800"/>
            <a:ext cx="380880" cy="2895480"/>
          </a:xfrm>
          <a:prstGeom prst="rect">
            <a:avLst/>
          </a:prstGeom>
          <a:blipFill rotWithShape="0">
            <a:blip r:embed="rId6"/>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54" name="Rectangle 11" descr="10 %"/>
          <p:cNvSpPr/>
          <p:nvPr/>
        </p:nvSpPr>
        <p:spPr>
          <a:xfrm>
            <a:off x="5791320" y="2133720"/>
            <a:ext cx="380880" cy="3733560"/>
          </a:xfrm>
          <a:prstGeom prst="rect">
            <a:avLst/>
          </a:prstGeom>
          <a:blipFill rotWithShape="0">
            <a:blip r:embed="rId7"/>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55" name="Rectangle 12" descr="Diagonales larges vers le haut"/>
          <p:cNvSpPr/>
          <p:nvPr/>
        </p:nvSpPr>
        <p:spPr>
          <a:xfrm>
            <a:off x="5410080" y="1828800"/>
            <a:ext cx="381240" cy="4038480"/>
          </a:xfrm>
          <a:prstGeom prst="rect">
            <a:avLst/>
          </a:prstGeom>
          <a:blipFill rotWithShape="0">
            <a:blip r:embed="rId8"/>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56" name="Rectangle 13" descr="10 %"/>
          <p:cNvSpPr/>
          <p:nvPr/>
        </p:nvSpPr>
        <p:spPr>
          <a:xfrm>
            <a:off x="6934320" y="2057400"/>
            <a:ext cx="380880" cy="3809880"/>
          </a:xfrm>
          <a:prstGeom prst="rect">
            <a:avLst/>
          </a:prstGeom>
          <a:blipFill rotWithShape="0">
            <a:blip r:embed="rId9"/>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57" name="Rectangle 14" descr="Diagonales larges vers le haut"/>
          <p:cNvSpPr/>
          <p:nvPr/>
        </p:nvSpPr>
        <p:spPr>
          <a:xfrm>
            <a:off x="6553080" y="1905120"/>
            <a:ext cx="381240" cy="3962160"/>
          </a:xfrm>
          <a:prstGeom prst="rect">
            <a:avLst/>
          </a:prstGeom>
          <a:blipFill rotWithShape="0">
            <a:blip r:embed="rId10"/>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58" name="Rectangle 15" descr="10 %"/>
          <p:cNvSpPr/>
          <p:nvPr/>
        </p:nvSpPr>
        <p:spPr>
          <a:xfrm>
            <a:off x="8077320" y="1981080"/>
            <a:ext cx="380880" cy="3886200"/>
          </a:xfrm>
          <a:prstGeom prst="rect">
            <a:avLst/>
          </a:prstGeom>
          <a:blipFill rotWithShape="0">
            <a:blip r:embed="rId11"/>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59" name="Rectangle 16" descr="Diagonales larges vers le haut"/>
          <p:cNvSpPr/>
          <p:nvPr/>
        </p:nvSpPr>
        <p:spPr>
          <a:xfrm>
            <a:off x="7696080" y="1905120"/>
            <a:ext cx="381240" cy="3962160"/>
          </a:xfrm>
          <a:prstGeom prst="rect">
            <a:avLst/>
          </a:prstGeom>
          <a:blipFill rotWithShape="0">
            <a:blip r:embed="rId12"/>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60" name="Line 21"/>
          <p:cNvSpPr/>
          <p:nvPr/>
        </p:nvSpPr>
        <p:spPr>
          <a:xfrm flipV="1">
            <a:off x="2209680" y="3276360"/>
            <a:ext cx="0" cy="2286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1" name="Line 22"/>
          <p:cNvSpPr/>
          <p:nvPr/>
        </p:nvSpPr>
        <p:spPr>
          <a:xfrm flipV="1">
            <a:off x="2590920" y="4114440"/>
            <a:ext cx="0" cy="3049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2" name="Line 24"/>
          <p:cNvSpPr/>
          <p:nvPr/>
        </p:nvSpPr>
        <p:spPr>
          <a:xfrm flipV="1">
            <a:off x="3276720" y="1828800"/>
            <a:ext cx="0" cy="4572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3" name="Line 25"/>
          <p:cNvSpPr/>
          <p:nvPr/>
        </p:nvSpPr>
        <p:spPr>
          <a:xfrm>
            <a:off x="3200400" y="182880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4" name="Line 26"/>
          <p:cNvSpPr/>
          <p:nvPr/>
        </p:nvSpPr>
        <p:spPr>
          <a:xfrm flipV="1">
            <a:off x="3733920" y="2514600"/>
            <a:ext cx="0" cy="4572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5" name="Line 27"/>
          <p:cNvSpPr/>
          <p:nvPr/>
        </p:nvSpPr>
        <p:spPr>
          <a:xfrm>
            <a:off x="3657600" y="251460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6" name="Line 28"/>
          <p:cNvSpPr/>
          <p:nvPr/>
        </p:nvSpPr>
        <p:spPr>
          <a:xfrm flipV="1">
            <a:off x="4419720" y="1599840"/>
            <a:ext cx="0" cy="2286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7" name="Line 29"/>
          <p:cNvSpPr/>
          <p:nvPr/>
        </p:nvSpPr>
        <p:spPr>
          <a:xfrm>
            <a:off x="4343400" y="160020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8" name="Line 30"/>
          <p:cNvSpPr/>
          <p:nvPr/>
        </p:nvSpPr>
        <p:spPr>
          <a:xfrm flipV="1">
            <a:off x="4876920" y="2057040"/>
            <a:ext cx="0" cy="2286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9" name="Line 31"/>
          <p:cNvSpPr/>
          <p:nvPr/>
        </p:nvSpPr>
        <p:spPr>
          <a:xfrm>
            <a:off x="4800600" y="205740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0" name="Line 32"/>
          <p:cNvSpPr/>
          <p:nvPr/>
        </p:nvSpPr>
        <p:spPr>
          <a:xfrm flipV="1">
            <a:off x="5638680" y="1676160"/>
            <a:ext cx="0" cy="1522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1" name="Line 33"/>
          <p:cNvSpPr/>
          <p:nvPr/>
        </p:nvSpPr>
        <p:spPr>
          <a:xfrm>
            <a:off x="5562720" y="167652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2" name="Line 34"/>
          <p:cNvSpPr/>
          <p:nvPr/>
        </p:nvSpPr>
        <p:spPr>
          <a:xfrm flipV="1">
            <a:off x="6019920" y="1752120"/>
            <a:ext cx="0" cy="3812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3" name="Line 35"/>
          <p:cNvSpPr/>
          <p:nvPr/>
        </p:nvSpPr>
        <p:spPr>
          <a:xfrm>
            <a:off x="5943600" y="175248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4" name="Line 38"/>
          <p:cNvSpPr/>
          <p:nvPr/>
        </p:nvSpPr>
        <p:spPr>
          <a:xfrm flipV="1">
            <a:off x="6781680" y="1752480"/>
            <a:ext cx="0" cy="1526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5" name="Line 39"/>
          <p:cNvSpPr/>
          <p:nvPr/>
        </p:nvSpPr>
        <p:spPr>
          <a:xfrm>
            <a:off x="6705720" y="175248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6" name="Line 40"/>
          <p:cNvSpPr/>
          <p:nvPr/>
        </p:nvSpPr>
        <p:spPr>
          <a:xfrm flipV="1">
            <a:off x="7162920" y="1752120"/>
            <a:ext cx="0" cy="3049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7" name="Line 41"/>
          <p:cNvSpPr/>
          <p:nvPr/>
        </p:nvSpPr>
        <p:spPr>
          <a:xfrm>
            <a:off x="7086600" y="175248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8" name="Line 42"/>
          <p:cNvSpPr/>
          <p:nvPr/>
        </p:nvSpPr>
        <p:spPr>
          <a:xfrm flipV="1">
            <a:off x="7848720" y="1752480"/>
            <a:ext cx="0" cy="1526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9" name="Line 43"/>
          <p:cNvSpPr/>
          <p:nvPr/>
        </p:nvSpPr>
        <p:spPr>
          <a:xfrm>
            <a:off x="7772400" y="175248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0" name="Line 44"/>
          <p:cNvSpPr/>
          <p:nvPr/>
        </p:nvSpPr>
        <p:spPr>
          <a:xfrm flipV="1">
            <a:off x="8229600" y="1828440"/>
            <a:ext cx="0" cy="1522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1" name="Line 45"/>
          <p:cNvSpPr/>
          <p:nvPr/>
        </p:nvSpPr>
        <p:spPr>
          <a:xfrm>
            <a:off x="8153280" y="1828800"/>
            <a:ext cx="15264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2" name="Line 46"/>
          <p:cNvSpPr/>
          <p:nvPr/>
        </p:nvSpPr>
        <p:spPr>
          <a:xfrm>
            <a:off x="2514600" y="411480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3" name="Line 47"/>
          <p:cNvSpPr/>
          <p:nvPr/>
        </p:nvSpPr>
        <p:spPr>
          <a:xfrm>
            <a:off x="2133720" y="327672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4" name="Text Box 48"/>
          <p:cNvSpPr/>
          <p:nvPr/>
        </p:nvSpPr>
        <p:spPr>
          <a:xfrm>
            <a:off x="1912680" y="5927760"/>
            <a:ext cx="64792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0 – 30 s       31 – 60 s     61 – 90 s      91 – 120 s     3 min          4 min</a:t>
            </a:r>
            <a:endParaRPr b="0" lang="en-US" sz="1600" strike="noStrike" u="none">
              <a:solidFill>
                <a:srgbClr val="ffff00"/>
              </a:solidFill>
              <a:effectLst/>
              <a:uFillTx/>
              <a:latin typeface="Times New Roman"/>
            </a:endParaRPr>
          </a:p>
        </p:txBody>
      </p:sp>
      <p:sp>
        <p:nvSpPr>
          <p:cNvPr id="385" name="Freeform 51"/>
          <p:cNvSpPr/>
          <p:nvPr/>
        </p:nvSpPr>
        <p:spPr>
          <a:xfrm>
            <a:off x="2209680" y="1752480"/>
            <a:ext cx="5842080" cy="1752840"/>
          </a:xfrm>
          <a:custGeom>
            <a:avLst/>
            <a:gdLst>
              <a:gd name="GluePoint1X" fmla="*/ 0 w 3680"/>
              <a:gd name="GluePoint1Y" fmla="*/ 2147483647 h 1104"/>
              <a:gd name="GluePoint2X" fmla="*/ 2147483647 w 3680"/>
              <a:gd name="GluePoint2Y" fmla="*/ 2147483647 h 1104"/>
              <a:gd name="GluePoint3X" fmla="*/ 2147483647 w 3680"/>
              <a:gd name="GluePoint3Y" fmla="*/ 2147483647 h 1104"/>
              <a:gd name="GluePoint4X" fmla="*/ 2147483647 w 3680"/>
              <a:gd name="GluePoint4Y" fmla="*/ 2147483647 h 1104"/>
              <a:gd name="GluePoint5X" fmla="*/ 2147483647 w 3680"/>
              <a:gd name="GluePoint5Y" fmla="*/ 2147483647 h 1104"/>
              <a:gd name="GluePoint6X" fmla="*/ 2147483647 w 3680"/>
              <a:gd name="GluePoint6Y" fmla="*/ 2147483647 h 1104"/>
              <a:gd name="GluePoint7X" fmla="*/ 2147483647 w 3680"/>
              <a:gd name="GluePoint7Y" fmla="*/ 2147483647 h 110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3680" h="1104">
                <a:moveTo>
                  <a:pt x="0" y="1104"/>
                </a:moveTo>
                <a:cubicBezTo>
                  <a:pt x="240" y="808"/>
                  <a:pt x="480" y="512"/>
                  <a:pt x="720" y="336"/>
                </a:cubicBezTo>
                <a:cubicBezTo>
                  <a:pt x="960" y="160"/>
                  <a:pt x="1200" y="96"/>
                  <a:pt x="1440" y="48"/>
                </a:cubicBezTo>
                <a:cubicBezTo>
                  <a:pt x="1680" y="0"/>
                  <a:pt x="1920" y="40"/>
                  <a:pt x="2160" y="48"/>
                </a:cubicBezTo>
                <a:cubicBezTo>
                  <a:pt x="2400" y="56"/>
                  <a:pt x="2648" y="88"/>
                  <a:pt x="2880" y="96"/>
                </a:cubicBezTo>
                <a:cubicBezTo>
                  <a:pt x="3112" y="104"/>
                  <a:pt x="3424" y="96"/>
                  <a:pt x="3552" y="96"/>
                </a:cubicBezTo>
                <a:cubicBezTo>
                  <a:pt x="3680" y="96"/>
                  <a:pt x="3632" y="96"/>
                  <a:pt x="3648" y="96"/>
                </a:cubicBezTo>
              </a:path>
            </a:pathLst>
          </a:custGeom>
          <a:noFill/>
          <a:ln w="28440">
            <a:solidFill>
              <a:srgbClr val="ffffff"/>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6" name="Freeform 52"/>
          <p:cNvSpPr/>
          <p:nvPr/>
        </p:nvSpPr>
        <p:spPr>
          <a:xfrm>
            <a:off x="2666880" y="1981080"/>
            <a:ext cx="5562720" cy="2438640"/>
          </a:xfrm>
          <a:custGeom>
            <a:avLst/>
            <a:gdLst>
              <a:gd name="GluePoint1X" fmla="*/ 0 w 3504"/>
              <a:gd name="GluePoint1Y" fmla="*/ 2147483647 h 1536"/>
              <a:gd name="GluePoint2X" fmla="*/ 2147483647 w 3504"/>
              <a:gd name="GluePoint2Y" fmla="*/ 2147483647 h 1536"/>
              <a:gd name="GluePoint3X" fmla="*/ 2147483647 w 3504"/>
              <a:gd name="GluePoint3Y" fmla="*/ 2147483647 h 1536"/>
              <a:gd name="GluePoint4X" fmla="*/ 2147483647 w 3504"/>
              <a:gd name="GluePoint4Y" fmla="*/ 2147483647 h 1536"/>
              <a:gd name="GluePoint5X" fmla="*/ 2147483647 w 3504"/>
              <a:gd name="GluePoint5Y" fmla="*/ 2147483647 h 1536"/>
              <a:gd name="GluePoint6X" fmla="*/ 2147483647 w 3504"/>
              <a:gd name="GluePoint6Y" fmla="*/ 0 h 153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504" h="1536">
                <a:moveTo>
                  <a:pt x="0" y="1536"/>
                </a:moveTo>
                <a:cubicBezTo>
                  <a:pt x="220" y="1192"/>
                  <a:pt x="440" y="848"/>
                  <a:pt x="672" y="624"/>
                </a:cubicBezTo>
                <a:cubicBezTo>
                  <a:pt x="904" y="400"/>
                  <a:pt x="1152" y="280"/>
                  <a:pt x="1392" y="192"/>
                </a:cubicBezTo>
                <a:cubicBezTo>
                  <a:pt x="1632" y="104"/>
                  <a:pt x="1872" y="120"/>
                  <a:pt x="2112" y="96"/>
                </a:cubicBezTo>
                <a:cubicBezTo>
                  <a:pt x="2352" y="72"/>
                  <a:pt x="2600" y="64"/>
                  <a:pt x="2832" y="48"/>
                </a:cubicBezTo>
                <a:cubicBezTo>
                  <a:pt x="3064" y="32"/>
                  <a:pt x="3392" y="8"/>
                  <a:pt x="3504" y="0"/>
                </a:cubicBezTo>
              </a:path>
            </a:pathLst>
          </a:custGeom>
          <a:noFill/>
          <a:ln w="38160">
            <a:solidFill>
              <a:srgbClr val="ffff00"/>
            </a:solidFill>
            <a:prstDash val="sysDot"/>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7" name="Text Box 53"/>
          <p:cNvSpPr/>
          <p:nvPr/>
        </p:nvSpPr>
        <p:spPr>
          <a:xfrm rot="16200000">
            <a:off x="-641520" y="3202560"/>
            <a:ext cx="25430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Symbol"/>
                <a:ea typeface="Symbol"/>
              </a:rPr>
              <a:t></a:t>
            </a:r>
            <a:r>
              <a:rPr b="1" lang="fr-FR" sz="2000" strike="noStrike" u="none">
                <a:solidFill>
                  <a:srgbClr val="ffff00"/>
                </a:solidFill>
                <a:effectLst/>
                <a:uFillTx/>
                <a:latin typeface="Arial"/>
              </a:rPr>
              <a:t> VO2 (% VO2 max)</a:t>
            </a:r>
            <a:endParaRPr b="0" lang="en-US" sz="2000" strike="noStrike" u="none">
              <a:solidFill>
                <a:srgbClr val="ffff00"/>
              </a:solidFill>
              <a:effectLst/>
              <a:uFillTx/>
              <a:latin typeface="Times New Roman"/>
            </a:endParaRPr>
          </a:p>
        </p:txBody>
      </p:sp>
      <p:sp>
        <p:nvSpPr>
          <p:cNvPr id="388" name="Rectangle 55" descr="Diagonales larges vers le haut"/>
          <p:cNvSpPr/>
          <p:nvPr/>
        </p:nvSpPr>
        <p:spPr>
          <a:xfrm>
            <a:off x="5334120" y="838080"/>
            <a:ext cx="380880" cy="228600"/>
          </a:xfrm>
          <a:prstGeom prst="rect">
            <a:avLst/>
          </a:prstGeom>
          <a:blipFill rotWithShape="0">
            <a:blip r:embed="rId13"/>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89" name="Rectangle 56" descr="10 %"/>
          <p:cNvSpPr/>
          <p:nvPr/>
        </p:nvSpPr>
        <p:spPr>
          <a:xfrm>
            <a:off x="7391520" y="838080"/>
            <a:ext cx="380880" cy="228600"/>
          </a:xfrm>
          <a:prstGeom prst="rect">
            <a:avLst/>
          </a:prstGeom>
          <a:blipFill rotWithShape="0">
            <a:blip r:embed="rId14"/>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90" name="Text Box 57"/>
          <p:cNvSpPr/>
          <p:nvPr/>
        </p:nvSpPr>
        <p:spPr>
          <a:xfrm>
            <a:off x="533520" y="380880"/>
            <a:ext cx="8153280" cy="945360"/>
          </a:xfrm>
          <a:prstGeom prst="rect">
            <a:avLst/>
          </a:prstGeom>
          <a:noFill/>
          <a:ln w="9360">
            <a:solidFill>
              <a:srgbClr val="ffff00"/>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Etude comparée de l’évolution des délais pour atteindre le  plateau de VO</a:t>
            </a:r>
            <a:r>
              <a:rPr b="1" lang="fr-FR" sz="2800" strike="noStrike" u="none" baseline="-25000">
                <a:solidFill>
                  <a:srgbClr val="ffff00"/>
                </a:solidFill>
                <a:effectLst/>
                <a:uFillTx/>
                <a:latin typeface="Arial"/>
              </a:rPr>
              <a:t>2</a:t>
            </a:r>
            <a:r>
              <a:rPr b="0" lang="fr-FR" sz="2400" strike="noStrike" u="none">
                <a:solidFill>
                  <a:srgbClr val="ffff00"/>
                </a:solidFill>
                <a:effectLst/>
                <a:uFillTx/>
                <a:latin typeface="Arial"/>
              </a:rPr>
              <a:t>max entre l’enfant         et l’adulte </a:t>
            </a:r>
            <a:endParaRPr b="0" lang="en-US" sz="2400" strike="noStrike" u="none">
              <a:solidFill>
                <a:srgbClr val="ffff00"/>
              </a:solidFill>
              <a:effectLst/>
              <a:uFillTx/>
              <a:latin typeface="Times New Roman"/>
            </a:endParaRPr>
          </a:p>
        </p:txBody>
      </p:sp>
      <p:sp>
        <p:nvSpPr>
          <p:cNvPr id="391" name="Text Box 58"/>
          <p:cNvSpPr/>
          <p:nvPr/>
        </p:nvSpPr>
        <p:spPr>
          <a:xfrm>
            <a:off x="2353320" y="6458040"/>
            <a:ext cx="53438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D’après Macek et al. </a:t>
            </a:r>
            <a:r>
              <a:rPr b="0" i="1" lang="fr-FR" sz="2000" strike="noStrike" u="none">
                <a:solidFill>
                  <a:srgbClr val="ffff00"/>
                </a:solidFill>
                <a:effectLst/>
                <a:uFillTx/>
                <a:latin typeface="Arial"/>
              </a:rPr>
              <a:t>Int. J. Sports Med.;</a:t>
            </a:r>
            <a:r>
              <a:rPr b="0" lang="fr-FR" sz="2000" strike="noStrike" u="none">
                <a:solidFill>
                  <a:srgbClr val="ffff00"/>
                </a:solidFill>
                <a:effectLst/>
                <a:uFillTx/>
                <a:latin typeface="Arial"/>
              </a:rPr>
              <a:t> 1980</a:t>
            </a:r>
            <a:endParaRPr b="0" lang="en-US" sz="2000" strike="noStrike" u="none">
              <a:solidFill>
                <a:srgbClr val="ffff00"/>
              </a:solidFill>
              <a:effectLst/>
              <a:uFillTx/>
              <a:latin typeface="Times New Roman"/>
            </a:endParaRPr>
          </a:p>
        </p:txBody>
      </p:sp>
    </p:spTree>
  </p:cSld>
  <p:transition spd="med">
    <p:zoom dir="out"/>
  </p:transition>
  <p:timing>
    <p:tnLst>
      <p:par>
        <p:cTn id="857" dur="indefinite" restart="never" nodeType="tmRoot">
          <p:childTnLst>
            <p:seq>
              <p:cTn id="858" dur="indefinite" nodeType="mainSeq">
                <p:childTnLst>
                  <p:par>
                    <p:cTn id="859" nodeType="clickEffect" fill="hold">
                      <p:stCondLst>
                        <p:cond delay="0"/>
                      </p:stCondLst>
                      <p:childTnLst>
                        <p:par>
                          <p:cTn id="860" nodeType="withEffect" fill="hold">
                            <p:stCondLst>
                              <p:cond delay="0"/>
                            </p:stCondLst>
                            <p:childTnLst>
                              <p:par>
                                <p:cTn id="861" nodeType="afterEffect" fill="hold" presetClass="entr" presetID="16" presetSubtype="37">
                                  <p:stCondLst>
                                    <p:cond delay="0"/>
                                  </p:stCondLst>
                                  <p:childTnLst>
                                    <p:set>
                                      <p:cBhvr>
                                        <p:cTn id="862" dur="1" fill="hold">
                                          <p:stCondLst>
                                            <p:cond delay="0"/>
                                          </p:stCondLst>
                                        </p:cTn>
                                        <p:tgtEl>
                                          <p:spTgt spid="388"/>
                                        </p:tgtEl>
                                        <p:attrNameLst>
                                          <p:attrName>style.visibility</p:attrName>
                                        </p:attrNameLst>
                                      </p:cBhvr>
                                      <p:to>
                                        <p:strVal val="visible"/>
                                      </p:to>
                                    </p:set>
                                    <p:animEffect filter="barn(outVertical)" transition="in">
                                      <p:cBhvr additive="repl">
                                        <p:cTn id="863" dur="500"/>
                                        <p:tgtEl>
                                          <p:spTgt spid="388"/>
                                        </p:tgtEl>
                                      </p:cBhvr>
                                    </p:animEffect>
                                  </p:childTnLst>
                                </p:cTn>
                              </p:par>
                            </p:childTnLst>
                          </p:cTn>
                        </p:par>
                        <p:par>
                          <p:cTn id="864" nodeType="afterEffect" fill="hold">
                            <p:stCondLst>
                              <p:cond delay="500"/>
                            </p:stCondLst>
                            <p:childTnLst>
                              <p:par>
                                <p:cTn id="865" nodeType="afterEffect" fill="hold" presetClass="entr" presetID="16" presetSubtype="37">
                                  <p:stCondLst>
                                    <p:cond delay="0"/>
                                  </p:stCondLst>
                                  <p:childTnLst>
                                    <p:set>
                                      <p:cBhvr>
                                        <p:cTn id="866" dur="1" fill="hold">
                                          <p:stCondLst>
                                            <p:cond delay="0"/>
                                          </p:stCondLst>
                                        </p:cTn>
                                        <p:tgtEl>
                                          <p:spTgt spid="389"/>
                                        </p:tgtEl>
                                        <p:attrNameLst>
                                          <p:attrName>style.visibility</p:attrName>
                                        </p:attrNameLst>
                                      </p:cBhvr>
                                      <p:to>
                                        <p:strVal val="visible"/>
                                      </p:to>
                                    </p:set>
                                    <p:animEffect filter="barn(outVertical)" transition="in">
                                      <p:cBhvr additive="repl">
                                        <p:cTn id="867" dur="500"/>
                                        <p:tgtEl>
                                          <p:spTgt spid="389"/>
                                        </p:tgtEl>
                                      </p:cBhvr>
                                    </p:animEffect>
                                  </p:childTnLst>
                                </p:cTn>
                              </p:par>
                            </p:childTnLst>
                          </p:cTn>
                        </p:par>
                      </p:childTnLst>
                    </p:cTn>
                  </p:par>
                  <p:par>
                    <p:cTn id="868" nodeType="clickEffect" fill="hold">
                      <p:stCondLst>
                        <p:cond delay="indefinite"/>
                      </p:stCondLst>
                      <p:childTnLst>
                        <p:par>
                          <p:cTn id="869" nodeType="withEffect" fill="hold">
                            <p:stCondLst>
                              <p:cond delay="0"/>
                            </p:stCondLst>
                            <p:childTnLst>
                              <p:par>
                                <p:cTn id="870" nodeType="clickEffect" fill="hold" presetClass="entr" presetID="22" presetSubtype="8">
                                  <p:stCondLst>
                                    <p:cond delay="0"/>
                                  </p:stCondLst>
                                  <p:childTnLst>
                                    <p:set>
                                      <p:cBhvr>
                                        <p:cTn id="871" dur="1" fill="hold">
                                          <p:stCondLst>
                                            <p:cond delay="0"/>
                                          </p:stCondLst>
                                        </p:cTn>
                                        <p:tgtEl>
                                          <p:spTgt spid="385"/>
                                        </p:tgtEl>
                                        <p:attrNameLst>
                                          <p:attrName>style.visibility</p:attrName>
                                        </p:attrNameLst>
                                      </p:cBhvr>
                                      <p:to>
                                        <p:strVal val="visible"/>
                                      </p:to>
                                    </p:set>
                                    <p:animEffect filter="wipe(left)" transition="in">
                                      <p:cBhvr additive="repl">
                                        <p:cTn id="872" dur="2000"/>
                                        <p:tgtEl>
                                          <p:spTgt spid="385"/>
                                        </p:tgtEl>
                                      </p:cBhvr>
                                    </p:animEffect>
                                  </p:childTnLst>
                                </p:cTn>
                              </p:par>
                            </p:childTnLst>
                          </p:cTn>
                        </p:par>
                      </p:childTnLst>
                    </p:cTn>
                  </p:par>
                  <p:par>
                    <p:cTn id="873" nodeType="clickEffect" fill="hold">
                      <p:stCondLst>
                        <p:cond delay="indefinite"/>
                      </p:stCondLst>
                      <p:childTnLst>
                        <p:par>
                          <p:cTn id="874" nodeType="withEffect" fill="hold">
                            <p:stCondLst>
                              <p:cond delay="0"/>
                            </p:stCondLst>
                            <p:childTnLst>
                              <p:par>
                                <p:cTn id="875" nodeType="clickEffect" fill="hold" presetClass="entr" presetID="22" presetSubtype="8">
                                  <p:stCondLst>
                                    <p:cond delay="0"/>
                                  </p:stCondLst>
                                  <p:childTnLst>
                                    <p:set>
                                      <p:cBhvr>
                                        <p:cTn id="876" dur="1" fill="hold">
                                          <p:stCondLst>
                                            <p:cond delay="0"/>
                                          </p:stCondLst>
                                        </p:cTn>
                                        <p:tgtEl>
                                          <p:spTgt spid="386"/>
                                        </p:tgtEl>
                                        <p:attrNameLst>
                                          <p:attrName>style.visibility</p:attrName>
                                        </p:attrNameLst>
                                      </p:cBhvr>
                                      <p:to>
                                        <p:strVal val="visible"/>
                                      </p:to>
                                    </p:set>
                                    <p:animEffect filter="wipe(left)" transition="in">
                                      <p:cBhvr additive="repl">
                                        <p:cTn id="877" dur="20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Text Box 2"/>
          <p:cNvSpPr/>
          <p:nvPr/>
        </p:nvSpPr>
        <p:spPr>
          <a:xfrm>
            <a:off x="252360" y="1628640"/>
            <a:ext cx="8804160" cy="2469960"/>
          </a:xfrm>
          <a:prstGeom prst="rect">
            <a:avLst/>
          </a:prstGeom>
          <a:noFill/>
          <a:ln w="0">
            <a:noFill/>
          </a:ln>
        </p:spPr>
        <p:style>
          <a:lnRef idx="0"/>
          <a:fillRef idx="0"/>
          <a:effectRef idx="0"/>
          <a:fontRef idx="minor"/>
        </p:style>
        <p:txBody>
          <a:bodyPr wrap="none" lIns="90000" rIns="90000" tIns="46800" bIns="46800" anchor="t">
            <a:spAutoFit/>
          </a:bodyPr>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En outre, par leurs travaux, Taylor et al. (1997) ont montré que, </a:t>
            </a: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comparés à ceux de jeunes adultes, les muscles de l’enfant </a:t>
            </a: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présentent une plus importante </a:t>
            </a:r>
            <a:r>
              <a:rPr b="0" lang="fr-FR" sz="2400" strike="noStrike" u="none">
                <a:solidFill>
                  <a:srgbClr val="ffffff"/>
                </a:solidFill>
                <a:effectLst/>
                <a:uFillTx/>
                <a:latin typeface="Arial"/>
              </a:rPr>
              <a:t>capacité oxydative (x 2),</a:t>
            </a:r>
            <a:r>
              <a:rPr b="0" lang="fr-FR" sz="2400" strike="noStrike" u="none">
                <a:solidFill>
                  <a:srgbClr val="ffff00"/>
                </a:solidFill>
                <a:effectLst/>
                <a:uFillTx/>
                <a:latin typeface="Arial"/>
              </a:rPr>
              <a:t> un </a:t>
            </a: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pH plus élevé durant l’exercice ainsi </a:t>
            </a:r>
            <a:r>
              <a:rPr b="0" lang="fr-FR" sz="2400" strike="noStrike" u="none">
                <a:solidFill>
                  <a:srgbClr val="ffffff"/>
                </a:solidFill>
                <a:effectLst/>
                <a:uFillTx/>
                <a:latin typeface="Arial"/>
              </a:rPr>
              <a:t>qu’une récupération </a:t>
            </a: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métabolique plus rapide.</a:t>
            </a:r>
            <a:endParaRPr b="0" lang="en-US" sz="2400" strike="noStrike" u="none">
              <a:solidFill>
                <a:srgbClr val="ffff00"/>
              </a:solidFill>
              <a:effectLst/>
              <a:uFillTx/>
              <a:latin typeface="Times New Roman"/>
            </a:endParaRPr>
          </a:p>
        </p:txBody>
      </p:sp>
    </p:spTree>
  </p:cSld>
  <p:transition spd="med">
    <p:zoom dir="out"/>
  </p:transition>
  <p:timing>
    <p:tnLst>
      <p:par>
        <p:cTn id="878" dur="indefinite" restart="never" nodeType="tmRoot">
          <p:childTnLst>
            <p:seq>
              <p:cTn id="879" dur="indefinite" nodeType="mainSeq">
                <p:childTnLst>
                  <p:par>
                    <p:cTn id="880" nodeType="clickEffect" fill="hold">
                      <p:stCondLst>
                        <p:cond delay="indefinite"/>
                      </p:stCondLst>
                      <p:childTnLst>
                        <p:par>
                          <p:cTn id="881" nodeType="withEffect" fill="hold">
                            <p:stCondLst>
                              <p:cond delay="0"/>
                            </p:stCondLst>
                            <p:childTnLst>
                              <p:par>
                                <p:cTn id="882" nodeType="clickEffect" fill="hold" presetClass="entr" presetID="9">
                                  <p:stCondLst>
                                    <p:cond delay="0"/>
                                  </p:stCondLst>
                                  <p:childTnLst>
                                    <p:set>
                                      <p:cBhvr>
                                        <p:cTn id="883" dur="1" fill="hold">
                                          <p:stCondLst>
                                            <p:cond delay="0"/>
                                          </p:stCondLst>
                                        </p:cTn>
                                        <p:tgtEl>
                                          <p:spTgt spid="392"/>
                                        </p:tgtEl>
                                        <p:attrNameLst>
                                          <p:attrName>style.visibility</p:attrName>
                                        </p:attrNameLst>
                                      </p:cBhvr>
                                      <p:to>
                                        <p:strVal val="visible"/>
                                      </p:to>
                                    </p:set>
                                    <p:animEffect filter="dissolve" transition="in">
                                      <p:cBhvr additive="repl">
                                        <p:cTn id="884" dur="500"/>
                                        <p:tgtEl>
                                          <p:spTgt spid="3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Text Box 4"/>
          <p:cNvSpPr/>
          <p:nvPr/>
        </p:nvSpPr>
        <p:spPr>
          <a:xfrm>
            <a:off x="250920" y="2133720"/>
            <a:ext cx="8700840" cy="2469960"/>
          </a:xfrm>
          <a:prstGeom prst="rect">
            <a:avLst/>
          </a:prstGeom>
          <a:noFill/>
          <a:ln w="0">
            <a:noFill/>
          </a:ln>
        </p:spPr>
        <p:style>
          <a:lnRef idx="0"/>
          <a:fillRef idx="0"/>
          <a:effectRef idx="0"/>
          <a:fontRef idx="minor"/>
        </p:style>
        <p:txBody>
          <a:bodyPr lIns="90000" rIns="90000" tIns="46800" bIns="46800" anchor="t">
            <a:spAutoFit/>
          </a:bodyPr>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En conséquence, tout indique que l’activité musculaire de l’enfant procède surtout d’un métabolisme aérobie plus efficace laissant peu de place à la sollicitation du métabolisme lactique, </a:t>
            </a:r>
            <a:r>
              <a:rPr b="1" lang="fr-FR" sz="2400" strike="noStrike" u="none">
                <a:solidFill>
                  <a:srgbClr val="ffff00"/>
                </a:solidFill>
                <a:effectLst/>
                <a:uFillTx/>
                <a:latin typeface="Arial"/>
              </a:rPr>
              <a:t>ce qui pourrait expliquer le faible développement de celui-ci.</a:t>
            </a:r>
            <a:endParaRPr b="0" lang="en-US" sz="2400" strike="noStrike" u="none">
              <a:solidFill>
                <a:srgbClr val="ffff00"/>
              </a:solidFill>
              <a:effectLst/>
              <a:uFillTx/>
              <a:latin typeface="Times New Roman"/>
            </a:endParaRPr>
          </a:p>
        </p:txBody>
      </p:sp>
    </p:spTree>
  </p:cSld>
  <p:transition spd="med">
    <p:zoom dir="out"/>
  </p:transition>
  <p:timing>
    <p:tnLst>
      <p:par>
        <p:cTn id="885" dur="indefinite" restart="never" nodeType="tmRoot">
          <p:childTnLst>
            <p:seq>
              <p:cTn id="886" dur="indefinite" nodeType="mainSeq">
                <p:childTnLst>
                  <p:par>
                    <p:cTn id="887" nodeType="clickEffect" fill="hold">
                      <p:stCondLst>
                        <p:cond delay="indefinite"/>
                      </p:stCondLst>
                      <p:childTnLst>
                        <p:par>
                          <p:cTn id="888" nodeType="withEffect" fill="hold">
                            <p:stCondLst>
                              <p:cond delay="0"/>
                            </p:stCondLst>
                            <p:childTnLst>
                              <p:par>
                                <p:cTn id="889" nodeType="clickEffect" fill="hold" presetClass="entr" presetID="53">
                                  <p:stCondLst>
                                    <p:cond delay="0"/>
                                  </p:stCondLst>
                                  <p:childTnLst>
                                    <p:set>
                                      <p:cBhvr>
                                        <p:cTn id="890" dur="1" fill="hold">
                                          <p:stCondLst>
                                            <p:cond delay="0"/>
                                          </p:stCondLst>
                                        </p:cTn>
                                        <p:tgtEl>
                                          <p:spTgt spid="393"/>
                                        </p:tgtEl>
                                        <p:attrNameLst>
                                          <p:attrName>style.visibility</p:attrName>
                                        </p:attrNameLst>
                                      </p:cBhvr>
                                      <p:to>
                                        <p:strVal val="visible"/>
                                      </p:to>
                                    </p:set>
                                    <p:anim calcmode="lin" valueType="num">
                                      <p:cBhvr additive="repl">
                                        <p:cTn id="891" dur="1000" fill="hold"/>
                                        <p:tgtEl>
                                          <p:spTgt spid="393"/>
                                        </p:tgtEl>
                                        <p:attrNameLst>
                                          <p:attrName>ppt_w</p:attrName>
                                        </p:attrNameLst>
                                      </p:cBhvr>
                                      <p:tavLst>
                                        <p:tav tm="0">
                                          <p:val>
                                            <p:fltVal val="0"/>
                                          </p:val>
                                        </p:tav>
                                        <p:tav tm="100000">
                                          <p:val>
                                            <p:strVal val="#ppt_w"/>
                                          </p:val>
                                        </p:tav>
                                      </p:tavLst>
                                    </p:anim>
                                    <p:anim calcmode="lin" valueType="num">
                                      <p:cBhvr additive="repl">
                                        <p:cTn id="892" dur="1000" fill="hold"/>
                                        <p:tgtEl>
                                          <p:spTgt spid="393"/>
                                        </p:tgtEl>
                                        <p:attrNameLst>
                                          <p:attrName>ppt_h</p:attrName>
                                        </p:attrNameLst>
                                      </p:cBhvr>
                                      <p:tavLst>
                                        <p:tav tm="0">
                                          <p:val>
                                            <p:fltVal val="0"/>
                                          </p:val>
                                        </p:tav>
                                        <p:tav tm="100000">
                                          <p:val>
                                            <p:strVal val="#ppt_h"/>
                                          </p:val>
                                        </p:tav>
                                      </p:tavLst>
                                    </p:anim>
                                    <p:animEffect filter="fade" transition="in">
                                      <p:cBhvr additive="repl">
                                        <p:cTn id="893" dur="1000"/>
                                        <p:tgtEl>
                                          <p:spTgt spid="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94" name="Object 4"/>
          <p:cNvGraphicFramePr/>
          <p:nvPr/>
        </p:nvGraphicFramePr>
        <p:xfrm>
          <a:off x="611280" y="2349360"/>
          <a:ext cx="7748640" cy="4291200"/>
        </p:xfrm>
        <a:graphic>
          <a:graphicData uri="http://schemas.openxmlformats.org/presentationml/2006/ole">
            <p:oleObj progId="Word.Document.12" r:id="rId1" spid="">
              <p:embed/>
              <p:pic>
                <p:nvPicPr>
                  <p:cNvPr id="395" name="Object 4" descr=""/>
                  <p:cNvPicPr/>
                  <p:nvPr/>
                </p:nvPicPr>
                <p:blipFill>
                  <a:blip r:embed="rId2"/>
                  <a:stretch/>
                </p:blipFill>
                <p:spPr>
                  <a:xfrm>
                    <a:off x="611280" y="2349360"/>
                    <a:ext cx="7748640" cy="4291200"/>
                  </a:xfrm>
                  <a:prstGeom prst="rect">
                    <a:avLst/>
                  </a:prstGeom>
                  <a:noFill/>
                  <a:ln w="0">
                    <a:noFill/>
                  </a:ln>
                </p:spPr>
              </p:pic>
            </p:oleObj>
          </a:graphicData>
        </a:graphic>
      </p:graphicFrame>
      <p:sp>
        <p:nvSpPr>
          <p:cNvPr id="396" name="Rectangle 5"/>
          <p:cNvSpPr/>
          <p:nvPr/>
        </p:nvSpPr>
        <p:spPr>
          <a:xfrm>
            <a:off x="647640" y="1413000"/>
            <a:ext cx="7956720" cy="3362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       REPONSE PHYSIOLOGIQUE AU COURS D’UN EXERCICE INTENSE</a:t>
            </a:r>
            <a:r>
              <a:rPr b="0" lang="fr-FR" sz="1600" strike="noStrike" u="none">
                <a:solidFill>
                  <a:srgbClr val="ffff00"/>
                </a:solidFill>
                <a:effectLst/>
                <a:uFillTx/>
                <a:latin typeface="Arial"/>
              </a:rPr>
              <a:t> </a:t>
            </a:r>
            <a:endParaRPr b="0" lang="en-US" sz="1600" strike="noStrike" u="none">
              <a:solidFill>
                <a:srgbClr val="ffff00"/>
              </a:solidFill>
              <a:effectLst/>
              <a:uFillTx/>
              <a:latin typeface="Times New Roman"/>
            </a:endParaRPr>
          </a:p>
        </p:txBody>
      </p:sp>
      <p:sp>
        <p:nvSpPr>
          <p:cNvPr id="397" name="Text Box 7"/>
          <p:cNvSpPr/>
          <p:nvPr/>
        </p:nvSpPr>
        <p:spPr>
          <a:xfrm>
            <a:off x="3137400" y="369720"/>
            <a:ext cx="2424240" cy="45972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EN RESUM</a:t>
            </a:r>
            <a:r>
              <a:rPr b="1" lang="en-US" sz="2400" strike="noStrike" u="none">
                <a:solidFill>
                  <a:srgbClr val="ffffff"/>
                </a:solidFill>
                <a:effectLst/>
                <a:uFillTx/>
                <a:latin typeface="Bookman Old Style"/>
                <a:ea typeface="Times New Roman"/>
              </a:rPr>
              <a:t>É</a:t>
            </a:r>
            <a:r>
              <a:rPr b="1" lang="fr-FR" sz="2400" strike="noStrike" u="none">
                <a:solidFill>
                  <a:srgbClr val="ffffff"/>
                </a:solidFill>
                <a:effectLst/>
                <a:uFillTx/>
                <a:latin typeface="Bookman Old Style"/>
              </a:rPr>
              <a:t>…</a:t>
            </a:r>
            <a:endParaRPr b="0" lang="en-US" sz="2400" strike="noStrike" u="none">
              <a:solidFill>
                <a:srgbClr val="ffff00"/>
              </a:solidFill>
              <a:effectLst/>
              <a:uFillTx/>
              <a:latin typeface="Times New Roman"/>
            </a:endParaRPr>
          </a:p>
        </p:txBody>
      </p:sp>
    </p:spTree>
  </p:cSld>
  <p:transition spd="med">
    <p:zoom dir="out"/>
  </p:transition>
  <p:timing>
    <p:tnLst>
      <p:par>
        <p:cTn id="894" dur="indefinite" restart="never" nodeType="tmRoot">
          <p:childTnLst>
            <p:seq>
              <p:cTn id="895" dur="indefinite" nodeType="mainSeq">
                <p:childTnLst>
                  <p:par>
                    <p:cTn id="896" nodeType="clickEffect" fill="hold">
                      <p:stCondLst>
                        <p:cond delay="0"/>
                      </p:stCondLst>
                      <p:childTnLst>
                        <p:par>
                          <p:cTn id="897" nodeType="withEffect" fill="hold">
                            <p:stCondLst>
                              <p:cond delay="0"/>
                            </p:stCondLst>
                            <p:childTnLst>
                              <p:par>
                                <p:cTn id="898" nodeType="afterEffect" fill="hold" presetClass="entr" presetID="14" presetSubtype="10">
                                  <p:stCondLst>
                                    <p:cond delay="0"/>
                                  </p:stCondLst>
                                  <p:childTnLst>
                                    <p:set>
                                      <p:cBhvr>
                                        <p:cTn id="899" dur="1" fill="hold">
                                          <p:stCondLst>
                                            <p:cond delay="0"/>
                                          </p:stCondLst>
                                        </p:cTn>
                                        <p:tgtEl>
                                          <p:spTgt spid="395"/>
                                        </p:tgtEl>
                                        <p:attrNameLst>
                                          <p:attrName>style.visibility</p:attrName>
                                        </p:attrNameLst>
                                      </p:cBhvr>
                                      <p:to>
                                        <p:strVal val="visible"/>
                                      </p:to>
                                    </p:set>
                                    <p:animEffect filter="randombar(horizontal)" transition="in">
                                      <p:cBhvr additive="repl">
                                        <p:cTn id="900" dur="500"/>
                                        <p:tgtEl>
                                          <p:spTgt spid="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Text Box 3"/>
          <p:cNvSpPr/>
          <p:nvPr/>
        </p:nvSpPr>
        <p:spPr>
          <a:xfrm>
            <a:off x="2819520" y="235080"/>
            <a:ext cx="4267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IMPLICATION  PRATIQUE</a:t>
            </a:r>
            <a:endParaRPr b="0" lang="en-US" sz="2400" strike="noStrike" u="none">
              <a:solidFill>
                <a:srgbClr val="ffff00"/>
              </a:solidFill>
              <a:effectLst/>
              <a:uFillTx/>
              <a:latin typeface="Times New Roman"/>
            </a:endParaRPr>
          </a:p>
        </p:txBody>
      </p:sp>
      <p:grpSp>
        <p:nvGrpSpPr>
          <p:cNvPr id="399" name="Group 4"/>
          <p:cNvGrpSpPr/>
          <p:nvPr/>
        </p:nvGrpSpPr>
        <p:grpSpPr>
          <a:xfrm>
            <a:off x="838080" y="1052640"/>
            <a:ext cx="7696440" cy="1218960"/>
            <a:chOff x="838080" y="1052640"/>
            <a:chExt cx="7696440" cy="1218960"/>
          </a:xfrm>
        </p:grpSpPr>
        <p:sp>
          <p:nvSpPr>
            <p:cNvPr id="400" name="Rectangle 5"/>
            <p:cNvSpPr/>
            <p:nvPr/>
          </p:nvSpPr>
          <p:spPr>
            <a:xfrm>
              <a:off x="1752480" y="1052640"/>
              <a:ext cx="6782040" cy="1189800"/>
            </a:xfrm>
            <a:prstGeom prst="rect">
              <a:avLst/>
            </a:prstGeom>
            <a:noFill/>
            <a:ln w="0">
              <a:noFill/>
            </a:ln>
          </p:spPr>
          <p:style>
            <a:lnRef idx="0"/>
            <a:fillRef idx="0"/>
            <a:effectRef idx="0"/>
            <a:fontRef idx="minor"/>
          </p:style>
          <p:txBody>
            <a:bodyPr lIns="92160" rIns="92160" tIns="46080" bIns="4608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Pas de contre-indication à faire pratiquer des exercices brefs intenses et répétés chez les enfants</a:t>
              </a:r>
              <a:endParaRPr b="0" lang="en-US" sz="2400" strike="noStrike" u="none">
                <a:solidFill>
                  <a:srgbClr val="ffff00"/>
                </a:solidFill>
                <a:effectLst/>
                <a:uFillTx/>
                <a:latin typeface="Times New Roman"/>
              </a:endParaRPr>
            </a:p>
          </p:txBody>
        </p:sp>
        <p:sp>
          <p:nvSpPr>
            <p:cNvPr id="401" name="AutoShape 6"/>
            <p:cNvSpPr/>
            <p:nvPr/>
          </p:nvSpPr>
          <p:spPr>
            <a:xfrm>
              <a:off x="838080" y="1281240"/>
              <a:ext cx="609840" cy="990360"/>
            </a:xfrm>
            <a:custGeom>
              <a:avLst/>
              <a:gdLst>
                <a:gd name="textAreaLeft" fmla="*/ 95040 w 609840"/>
                <a:gd name="textAreaRight" fmla="*/ 533880 w 609840"/>
                <a:gd name="textAreaTop" fmla="*/ 247680 h 990360"/>
                <a:gd name="textAreaBottom" fmla="*/ 743040 h 990360"/>
                <a:gd name="GluePoint1X" fmla="*/ 0 w 21600"/>
                <a:gd name="GluePoint1Y" fmla="*/ 0 h 21600"/>
                <a:gd name="GluePoint2X" fmla="*/ 0 w 21600"/>
                <a:gd name="GluePoint2Y" fmla="*/ 0 h 21600"/>
                <a:gd name="GluePoint3X" fmla="*/ 0 w 21600"/>
                <a:gd name="GluePoint3Y" fmla="*/ 0 h 21600"/>
                <a:gd name="GluePoint4X" fmla="*/ 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grpSp>
        <p:nvGrpSpPr>
          <p:cNvPr id="402" name="Group 7"/>
          <p:cNvGrpSpPr/>
          <p:nvPr/>
        </p:nvGrpSpPr>
        <p:grpSpPr>
          <a:xfrm>
            <a:off x="755640" y="2635200"/>
            <a:ext cx="7924320" cy="990360"/>
            <a:chOff x="755640" y="2635200"/>
            <a:chExt cx="7924320" cy="990360"/>
          </a:xfrm>
        </p:grpSpPr>
        <p:sp>
          <p:nvSpPr>
            <p:cNvPr id="403" name="Rectangle 8"/>
            <p:cNvSpPr/>
            <p:nvPr/>
          </p:nvSpPr>
          <p:spPr>
            <a:xfrm>
              <a:off x="1789200" y="2635200"/>
              <a:ext cx="6890760" cy="824040"/>
            </a:xfrm>
            <a:prstGeom prst="rect">
              <a:avLst/>
            </a:prstGeom>
            <a:noFill/>
            <a:ln w="0">
              <a:noFill/>
            </a:ln>
          </p:spPr>
          <p:style>
            <a:lnRef idx="0"/>
            <a:fillRef idx="0"/>
            <a:effectRef idx="0"/>
            <a:fontRef idx="minor"/>
          </p:style>
          <p:txBody>
            <a:bodyPr lIns="92160" rIns="92160" tIns="46080" bIns="4608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Durées de récupération plus courtes chez les enfants comparés aux adultes</a:t>
              </a:r>
              <a:endParaRPr b="0" lang="en-US" sz="2400" strike="noStrike" u="none">
                <a:solidFill>
                  <a:srgbClr val="ffff00"/>
                </a:solidFill>
                <a:effectLst/>
                <a:uFillTx/>
                <a:latin typeface="Times New Roman"/>
              </a:endParaRPr>
            </a:p>
          </p:txBody>
        </p:sp>
        <p:sp>
          <p:nvSpPr>
            <p:cNvPr id="404" name="AutoShape 9"/>
            <p:cNvSpPr/>
            <p:nvPr/>
          </p:nvSpPr>
          <p:spPr>
            <a:xfrm>
              <a:off x="755640" y="2635200"/>
              <a:ext cx="689040" cy="990360"/>
            </a:xfrm>
            <a:custGeom>
              <a:avLst/>
              <a:gdLst>
                <a:gd name="textAreaLeft" fmla="*/ 107640 w 689040"/>
                <a:gd name="textAreaRight" fmla="*/ 603000 w 689040"/>
                <a:gd name="textAreaTop" fmla="*/ 247680 h 990360"/>
                <a:gd name="textAreaBottom" fmla="*/ 743040 h 990360"/>
                <a:gd name="GluePoint1X" fmla="*/ 0 w 21600"/>
                <a:gd name="GluePoint1Y" fmla="*/ 0 h 21600"/>
                <a:gd name="GluePoint2X" fmla="*/ 0 w 21600"/>
                <a:gd name="GluePoint2Y" fmla="*/ 0 h 21600"/>
                <a:gd name="GluePoint3X" fmla="*/ 0 w 21600"/>
                <a:gd name="GluePoint3Y" fmla="*/ 0 h 21600"/>
                <a:gd name="GluePoint4X" fmla="*/ 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grpSp>
        <p:nvGrpSpPr>
          <p:cNvPr id="405" name="Group 10"/>
          <p:cNvGrpSpPr/>
          <p:nvPr/>
        </p:nvGrpSpPr>
        <p:grpSpPr>
          <a:xfrm>
            <a:off x="826920" y="5514840"/>
            <a:ext cx="8316720" cy="1298880"/>
            <a:chOff x="826920" y="5514840"/>
            <a:chExt cx="8316720" cy="1298880"/>
          </a:xfrm>
        </p:grpSpPr>
        <p:sp>
          <p:nvSpPr>
            <p:cNvPr id="406" name="Rectangle 11"/>
            <p:cNvSpPr/>
            <p:nvPr/>
          </p:nvSpPr>
          <p:spPr>
            <a:xfrm>
              <a:off x="1814760" y="5514840"/>
              <a:ext cx="7328880" cy="1298880"/>
            </a:xfrm>
            <a:prstGeom prst="rect">
              <a:avLst/>
            </a:prstGeom>
            <a:noFill/>
            <a:ln w="0">
              <a:noFill/>
            </a:ln>
          </p:spPr>
          <p:style>
            <a:lnRef idx="0"/>
            <a:fillRef idx="0"/>
            <a:effectRef idx="0"/>
            <a:fontRef idx="minor"/>
          </p:style>
          <p:txBody>
            <a:bodyPr lIns="92160" rIns="92160" tIns="46080" bIns="46080" anchor="t">
              <a:spAutoFit/>
            </a:bodyPr>
            <a:p>
              <a:pPr>
                <a:lnSpc>
                  <a:spcPct val="11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Ce qui permet d’envisager le développement précoce de la puissance aérobie maximale par ce type d’activité </a:t>
              </a:r>
              <a:endParaRPr b="0" lang="en-US" sz="2400" strike="noStrike" u="none">
                <a:solidFill>
                  <a:srgbClr val="ffff00"/>
                </a:solidFill>
                <a:effectLst/>
                <a:uFillTx/>
                <a:latin typeface="Times New Roman"/>
              </a:endParaRPr>
            </a:p>
          </p:txBody>
        </p:sp>
        <p:sp>
          <p:nvSpPr>
            <p:cNvPr id="407" name="AutoShape 12"/>
            <p:cNvSpPr/>
            <p:nvPr/>
          </p:nvSpPr>
          <p:spPr>
            <a:xfrm>
              <a:off x="826920" y="5743440"/>
              <a:ext cx="658800" cy="990360"/>
            </a:xfrm>
            <a:custGeom>
              <a:avLst/>
              <a:gdLst>
                <a:gd name="textAreaLeft" fmla="*/ 102960 w 658800"/>
                <a:gd name="textAreaRight" fmla="*/ 576720 w 658800"/>
                <a:gd name="textAreaTop" fmla="*/ 247680 h 990360"/>
                <a:gd name="textAreaBottom" fmla="*/ 743040 h 990360"/>
                <a:gd name="GluePoint1X" fmla="*/ 0 w 21600"/>
                <a:gd name="GluePoint1Y" fmla="*/ 0 h 21600"/>
                <a:gd name="GluePoint2X" fmla="*/ 0 w 21600"/>
                <a:gd name="GluePoint2Y" fmla="*/ 0 h 21600"/>
                <a:gd name="GluePoint3X" fmla="*/ 0 w 21600"/>
                <a:gd name="GluePoint3Y" fmla="*/ 0 h 21600"/>
                <a:gd name="GluePoint4X" fmla="*/ 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grpSp>
        <p:nvGrpSpPr>
          <p:cNvPr id="408" name="Group 13"/>
          <p:cNvGrpSpPr/>
          <p:nvPr/>
        </p:nvGrpSpPr>
        <p:grpSpPr>
          <a:xfrm>
            <a:off x="826920" y="4076640"/>
            <a:ext cx="7696440" cy="1218960"/>
            <a:chOff x="826920" y="4076640"/>
            <a:chExt cx="7696440" cy="1218960"/>
          </a:xfrm>
        </p:grpSpPr>
        <p:sp>
          <p:nvSpPr>
            <p:cNvPr id="409" name="Rectangle 14"/>
            <p:cNvSpPr/>
            <p:nvPr/>
          </p:nvSpPr>
          <p:spPr>
            <a:xfrm>
              <a:off x="1741320" y="4076640"/>
              <a:ext cx="6782040" cy="1189800"/>
            </a:xfrm>
            <a:prstGeom prst="rect">
              <a:avLst/>
            </a:prstGeom>
            <a:noFill/>
            <a:ln w="0">
              <a:noFill/>
            </a:ln>
          </p:spPr>
          <p:style>
            <a:lnRef idx="0"/>
            <a:fillRef idx="0"/>
            <a:effectRef idx="0"/>
            <a:fontRef idx="minor"/>
          </p:style>
          <p:txBody>
            <a:bodyPr lIns="92160" rIns="92160" tIns="46080" bIns="4608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L’enfant présente une meilleure aptitude aux exercices intermittents intenses et de courtes durées</a:t>
              </a:r>
              <a:endParaRPr b="0" lang="en-US" sz="2400" strike="noStrike" u="none">
                <a:solidFill>
                  <a:srgbClr val="ffff00"/>
                </a:solidFill>
                <a:effectLst/>
                <a:uFillTx/>
                <a:latin typeface="Times New Roman"/>
              </a:endParaRPr>
            </a:p>
          </p:txBody>
        </p:sp>
        <p:sp>
          <p:nvSpPr>
            <p:cNvPr id="410" name="AutoShape 15"/>
            <p:cNvSpPr/>
            <p:nvPr/>
          </p:nvSpPr>
          <p:spPr>
            <a:xfrm>
              <a:off x="826920" y="4305240"/>
              <a:ext cx="609840" cy="990360"/>
            </a:xfrm>
            <a:custGeom>
              <a:avLst/>
              <a:gdLst>
                <a:gd name="textAreaLeft" fmla="*/ 95040 w 609840"/>
                <a:gd name="textAreaRight" fmla="*/ 533880 w 609840"/>
                <a:gd name="textAreaTop" fmla="*/ 247680 h 990360"/>
                <a:gd name="textAreaBottom" fmla="*/ 743040 h 990360"/>
                <a:gd name="GluePoint1X" fmla="*/ 0 w 21600"/>
                <a:gd name="GluePoint1Y" fmla="*/ 0 h 21600"/>
                <a:gd name="GluePoint2X" fmla="*/ 0 w 21600"/>
                <a:gd name="GluePoint2Y" fmla="*/ 0 h 21600"/>
                <a:gd name="GluePoint3X" fmla="*/ 0 w 21600"/>
                <a:gd name="GluePoint3Y" fmla="*/ 0 h 21600"/>
                <a:gd name="GluePoint4X" fmla="*/ 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spTree>
  </p:cSld>
  <p:transition spd="med">
    <p:zoom dir="out"/>
  </p:transition>
  <p:timing>
    <p:tnLst>
      <p:par>
        <p:cTn id="901" dur="indefinite" restart="never" nodeType="tmRoot">
          <p:childTnLst>
            <p:seq>
              <p:cTn id="902" dur="indefinite" nodeType="mainSeq">
                <p:childTnLst>
                  <p:par>
                    <p:cTn id="903" nodeType="clickEffect" fill="hold">
                      <p:stCondLst>
                        <p:cond delay="indefinite"/>
                      </p:stCondLst>
                      <p:childTnLst>
                        <p:par>
                          <p:cTn id="904" nodeType="withEffect" fill="hold">
                            <p:stCondLst>
                              <p:cond delay="0"/>
                            </p:stCondLst>
                            <p:childTnLst>
                              <p:par>
                                <p:cTn id="905" nodeType="clickEffect" fill="hold" presetClass="entr" presetID="23" presetSubtype="272">
                                  <p:stCondLst>
                                    <p:cond delay="0"/>
                                  </p:stCondLst>
                                  <p:childTnLst>
                                    <p:set>
                                      <p:cBhvr>
                                        <p:cTn id="906" dur="1" fill="hold">
                                          <p:stCondLst>
                                            <p:cond delay="0"/>
                                          </p:stCondLst>
                                        </p:cTn>
                                        <p:tgtEl>
                                          <p:spTgt spid="399"/>
                                        </p:tgtEl>
                                        <p:attrNameLst>
                                          <p:attrName>style.visibility</p:attrName>
                                        </p:attrNameLst>
                                      </p:cBhvr>
                                      <p:to>
                                        <p:strVal val="visible"/>
                                      </p:to>
                                    </p:set>
                                    <p:anim calcmode="lin" valueType="num">
                                      <p:cBhvr additive="repl">
                                        <p:cTn id="907" dur="500" fill="hold"/>
                                        <p:tgtEl>
                                          <p:spTgt spid="399"/>
                                        </p:tgtEl>
                                        <p:attrNameLst>
                                          <p:attrName>ppt_w</p:attrName>
                                        </p:attrNameLst>
                                      </p:cBhvr>
                                      <p:tavLst>
                                        <p:tav tm="0">
                                          <p:val>
                                            <p:strVal val="2/3*#ppt_w"/>
                                          </p:val>
                                        </p:tav>
                                        <p:tav tm="100000">
                                          <p:val>
                                            <p:strVal val="#ppt_w"/>
                                          </p:val>
                                        </p:tav>
                                      </p:tavLst>
                                    </p:anim>
                                    <p:anim calcmode="lin" valueType="num">
                                      <p:cBhvr additive="repl">
                                        <p:cTn id="908" dur="500" fill="hold"/>
                                        <p:tgtEl>
                                          <p:spTgt spid="399"/>
                                        </p:tgtEl>
                                        <p:attrNameLst>
                                          <p:attrName>ppt_h</p:attrName>
                                        </p:attrNameLst>
                                      </p:cBhvr>
                                      <p:tavLst>
                                        <p:tav tm="0">
                                          <p:val>
                                            <p:strVal val="2/3*#ppt_h"/>
                                          </p:val>
                                        </p:tav>
                                        <p:tav tm="100000">
                                          <p:val>
                                            <p:strVal val="#ppt_h"/>
                                          </p:val>
                                        </p:tav>
                                      </p:tavLst>
                                    </p:anim>
                                  </p:childTnLst>
                                </p:cTn>
                              </p:par>
                            </p:childTnLst>
                          </p:cTn>
                        </p:par>
                      </p:childTnLst>
                    </p:cTn>
                  </p:par>
                  <p:par>
                    <p:cTn id="909" nodeType="clickEffect" fill="hold">
                      <p:stCondLst>
                        <p:cond delay="indefinite"/>
                      </p:stCondLst>
                      <p:childTnLst>
                        <p:par>
                          <p:cTn id="910" nodeType="withEffect" fill="hold">
                            <p:stCondLst>
                              <p:cond delay="0"/>
                            </p:stCondLst>
                            <p:childTnLst>
                              <p:par>
                                <p:cTn id="911" nodeType="clickEffect" fill="hold" presetClass="entr" presetID="23" presetSubtype="272">
                                  <p:stCondLst>
                                    <p:cond delay="0"/>
                                  </p:stCondLst>
                                  <p:childTnLst>
                                    <p:set>
                                      <p:cBhvr>
                                        <p:cTn id="912" dur="1" fill="hold">
                                          <p:stCondLst>
                                            <p:cond delay="0"/>
                                          </p:stCondLst>
                                        </p:cTn>
                                        <p:tgtEl>
                                          <p:spTgt spid="402"/>
                                        </p:tgtEl>
                                        <p:attrNameLst>
                                          <p:attrName>style.visibility</p:attrName>
                                        </p:attrNameLst>
                                      </p:cBhvr>
                                      <p:to>
                                        <p:strVal val="visible"/>
                                      </p:to>
                                    </p:set>
                                    <p:anim calcmode="lin" valueType="num">
                                      <p:cBhvr additive="repl">
                                        <p:cTn id="913" dur="500" fill="hold"/>
                                        <p:tgtEl>
                                          <p:spTgt spid="402"/>
                                        </p:tgtEl>
                                        <p:attrNameLst>
                                          <p:attrName>ppt_w</p:attrName>
                                        </p:attrNameLst>
                                      </p:cBhvr>
                                      <p:tavLst>
                                        <p:tav tm="0">
                                          <p:val>
                                            <p:strVal val="2/3*#ppt_w"/>
                                          </p:val>
                                        </p:tav>
                                        <p:tav tm="100000">
                                          <p:val>
                                            <p:strVal val="#ppt_w"/>
                                          </p:val>
                                        </p:tav>
                                      </p:tavLst>
                                    </p:anim>
                                    <p:anim calcmode="lin" valueType="num">
                                      <p:cBhvr additive="repl">
                                        <p:cTn id="914" dur="500" fill="hold"/>
                                        <p:tgtEl>
                                          <p:spTgt spid="402"/>
                                        </p:tgtEl>
                                        <p:attrNameLst>
                                          <p:attrName>ppt_h</p:attrName>
                                        </p:attrNameLst>
                                      </p:cBhvr>
                                      <p:tavLst>
                                        <p:tav tm="0">
                                          <p:val>
                                            <p:strVal val="2/3*#ppt_h"/>
                                          </p:val>
                                        </p:tav>
                                        <p:tav tm="100000">
                                          <p:val>
                                            <p:strVal val="#ppt_h"/>
                                          </p:val>
                                        </p:tav>
                                      </p:tavLst>
                                    </p:anim>
                                  </p:childTnLst>
                                </p:cTn>
                              </p:par>
                            </p:childTnLst>
                          </p:cTn>
                        </p:par>
                      </p:childTnLst>
                    </p:cTn>
                  </p:par>
                  <p:par>
                    <p:cTn id="915" nodeType="clickEffect" fill="hold">
                      <p:stCondLst>
                        <p:cond delay="indefinite"/>
                      </p:stCondLst>
                      <p:childTnLst>
                        <p:par>
                          <p:cTn id="916" nodeType="withEffect" fill="hold">
                            <p:stCondLst>
                              <p:cond delay="0"/>
                            </p:stCondLst>
                            <p:childTnLst>
                              <p:par>
                                <p:cTn id="917" nodeType="clickEffect" fill="hold" presetClass="entr" presetID="23" presetSubtype="272">
                                  <p:stCondLst>
                                    <p:cond delay="0"/>
                                  </p:stCondLst>
                                  <p:childTnLst>
                                    <p:set>
                                      <p:cBhvr>
                                        <p:cTn id="918" dur="1" fill="hold">
                                          <p:stCondLst>
                                            <p:cond delay="0"/>
                                          </p:stCondLst>
                                        </p:cTn>
                                        <p:tgtEl>
                                          <p:spTgt spid="408"/>
                                        </p:tgtEl>
                                        <p:attrNameLst>
                                          <p:attrName>style.visibility</p:attrName>
                                        </p:attrNameLst>
                                      </p:cBhvr>
                                      <p:to>
                                        <p:strVal val="visible"/>
                                      </p:to>
                                    </p:set>
                                    <p:anim calcmode="lin" valueType="num">
                                      <p:cBhvr additive="repl">
                                        <p:cTn id="919" dur="500" fill="hold"/>
                                        <p:tgtEl>
                                          <p:spTgt spid="408"/>
                                        </p:tgtEl>
                                        <p:attrNameLst>
                                          <p:attrName>ppt_w</p:attrName>
                                        </p:attrNameLst>
                                      </p:cBhvr>
                                      <p:tavLst>
                                        <p:tav tm="0">
                                          <p:val>
                                            <p:strVal val="2/3*#ppt_w"/>
                                          </p:val>
                                        </p:tav>
                                        <p:tav tm="100000">
                                          <p:val>
                                            <p:strVal val="#ppt_w"/>
                                          </p:val>
                                        </p:tav>
                                      </p:tavLst>
                                    </p:anim>
                                    <p:anim calcmode="lin" valueType="num">
                                      <p:cBhvr additive="repl">
                                        <p:cTn id="920" dur="500" fill="hold"/>
                                        <p:tgtEl>
                                          <p:spTgt spid="408"/>
                                        </p:tgtEl>
                                        <p:attrNameLst>
                                          <p:attrName>ppt_h</p:attrName>
                                        </p:attrNameLst>
                                      </p:cBhvr>
                                      <p:tavLst>
                                        <p:tav tm="0">
                                          <p:val>
                                            <p:strVal val="2/3*#ppt_h"/>
                                          </p:val>
                                        </p:tav>
                                        <p:tav tm="100000">
                                          <p:val>
                                            <p:strVal val="#ppt_h"/>
                                          </p:val>
                                        </p:tav>
                                      </p:tavLst>
                                    </p:anim>
                                  </p:childTnLst>
                                </p:cTn>
                              </p:par>
                            </p:childTnLst>
                          </p:cTn>
                        </p:par>
                      </p:childTnLst>
                    </p:cTn>
                  </p:par>
                  <p:par>
                    <p:cTn id="921" nodeType="clickEffect" fill="hold">
                      <p:stCondLst>
                        <p:cond delay="indefinite"/>
                      </p:stCondLst>
                      <p:childTnLst>
                        <p:par>
                          <p:cTn id="922" nodeType="withEffect" fill="hold">
                            <p:stCondLst>
                              <p:cond delay="0"/>
                            </p:stCondLst>
                            <p:childTnLst>
                              <p:par>
                                <p:cTn id="923" nodeType="clickEffect" fill="hold" presetClass="entr" presetID="23" presetSubtype="272">
                                  <p:stCondLst>
                                    <p:cond delay="0"/>
                                  </p:stCondLst>
                                  <p:childTnLst>
                                    <p:set>
                                      <p:cBhvr>
                                        <p:cTn id="924" dur="1" fill="hold">
                                          <p:stCondLst>
                                            <p:cond delay="0"/>
                                          </p:stCondLst>
                                        </p:cTn>
                                        <p:tgtEl>
                                          <p:spTgt spid="405"/>
                                        </p:tgtEl>
                                        <p:attrNameLst>
                                          <p:attrName>style.visibility</p:attrName>
                                        </p:attrNameLst>
                                      </p:cBhvr>
                                      <p:to>
                                        <p:strVal val="visible"/>
                                      </p:to>
                                    </p:set>
                                    <p:anim calcmode="lin" valueType="num">
                                      <p:cBhvr additive="repl">
                                        <p:cTn id="925" dur="500" fill="hold"/>
                                        <p:tgtEl>
                                          <p:spTgt spid="405"/>
                                        </p:tgtEl>
                                        <p:attrNameLst>
                                          <p:attrName>ppt_w</p:attrName>
                                        </p:attrNameLst>
                                      </p:cBhvr>
                                      <p:tavLst>
                                        <p:tav tm="0">
                                          <p:val>
                                            <p:strVal val="2/3*#ppt_w"/>
                                          </p:val>
                                        </p:tav>
                                        <p:tav tm="100000">
                                          <p:val>
                                            <p:strVal val="#ppt_w"/>
                                          </p:val>
                                        </p:tav>
                                      </p:tavLst>
                                    </p:anim>
                                    <p:anim calcmode="lin" valueType="num">
                                      <p:cBhvr additive="repl">
                                        <p:cTn id="926" dur="500" fill="hold"/>
                                        <p:tgtEl>
                                          <p:spTgt spid="405"/>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1" name="Picture 3" descr="~AUT0021"/>
          <p:cNvPicPr/>
          <p:nvPr/>
        </p:nvPicPr>
        <p:blipFill>
          <a:blip r:embed="rId1"/>
          <a:stretch/>
        </p:blipFill>
        <p:spPr>
          <a:xfrm>
            <a:off x="838080" y="1531800"/>
            <a:ext cx="7086600" cy="4497480"/>
          </a:xfrm>
          <a:prstGeom prst="rect">
            <a:avLst/>
          </a:prstGeom>
          <a:noFill/>
          <a:ln w="0">
            <a:noFill/>
          </a:ln>
        </p:spPr>
      </p:pic>
      <p:sp>
        <p:nvSpPr>
          <p:cNvPr id="412" name="Text Box 4"/>
          <p:cNvSpPr/>
          <p:nvPr/>
        </p:nvSpPr>
        <p:spPr>
          <a:xfrm>
            <a:off x="5778720" y="6446880"/>
            <a:ext cx="250416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fr-FR" sz="1800" strike="noStrike" u="none">
                <a:solidFill>
                  <a:srgbClr val="ffff00"/>
                </a:solidFill>
                <a:effectLst/>
                <a:uFillTx/>
                <a:latin typeface="Times New Roman"/>
              </a:rPr>
              <a:t>(Kobayashi et coll. 1978)</a:t>
            </a:r>
            <a:endParaRPr b="0" lang="en-US" sz="1800" strike="noStrike" u="none">
              <a:solidFill>
                <a:srgbClr val="ffff00"/>
              </a:solidFill>
              <a:effectLst/>
              <a:uFillTx/>
              <a:latin typeface="Times New Roman"/>
            </a:endParaRPr>
          </a:p>
        </p:txBody>
      </p:sp>
      <p:sp>
        <p:nvSpPr>
          <p:cNvPr id="413" name="Rectangle 5"/>
          <p:cNvSpPr/>
          <p:nvPr/>
        </p:nvSpPr>
        <p:spPr>
          <a:xfrm>
            <a:off x="4529160" y="528480"/>
            <a:ext cx="4063320" cy="579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ff9933"/>
                </a:solidFill>
                <a:effectLst/>
                <a:uFillTx/>
                <a:latin typeface="Arial"/>
              </a:rPr>
              <a:t>VO</a:t>
            </a:r>
            <a:r>
              <a:rPr b="1" i="1" lang="fr-FR" sz="2800" strike="noStrike" u="none" baseline="-25000">
                <a:solidFill>
                  <a:srgbClr val="ff9933"/>
                </a:solidFill>
                <a:effectLst/>
                <a:uFillTx/>
                <a:latin typeface="Arial"/>
              </a:rPr>
              <a:t>2</a:t>
            </a:r>
            <a:r>
              <a:rPr b="1" i="1" lang="fr-FR" sz="2800" strike="noStrike" u="none">
                <a:solidFill>
                  <a:srgbClr val="ff9933"/>
                </a:solidFill>
                <a:effectLst/>
                <a:uFillTx/>
                <a:latin typeface="Arial"/>
              </a:rPr>
              <a:t>max (PMA ou VMA)</a:t>
            </a:r>
            <a:endParaRPr b="0" lang="en-US" sz="2800" strike="noStrike" u="none">
              <a:solidFill>
                <a:srgbClr val="ffff00"/>
              </a:solidFill>
              <a:effectLst/>
              <a:uFillTx/>
              <a:latin typeface="Times New Roman"/>
            </a:endParaRPr>
          </a:p>
        </p:txBody>
      </p:sp>
      <p:sp>
        <p:nvSpPr>
          <p:cNvPr id="414" name="Line 6"/>
          <p:cNvSpPr/>
          <p:nvPr/>
        </p:nvSpPr>
        <p:spPr>
          <a:xfrm>
            <a:off x="1447920" y="1150920"/>
            <a:ext cx="723888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15" name="Rectangle 7"/>
          <p:cNvSpPr/>
          <p:nvPr/>
        </p:nvSpPr>
        <p:spPr>
          <a:xfrm>
            <a:off x="365400" y="6361200"/>
            <a:ext cx="23457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Étude longitudinale</a:t>
            </a:r>
            <a:endParaRPr b="0" lang="en-US" sz="2000" strike="noStrike" u="none">
              <a:solidFill>
                <a:srgbClr val="ffff00"/>
              </a:solidFill>
              <a:effectLst/>
              <a:uFillTx/>
              <a:latin typeface="Times New Roman"/>
            </a:endParaRPr>
          </a:p>
        </p:txBody>
      </p:sp>
      <p:sp>
        <p:nvSpPr>
          <p:cNvPr id="416" name="Rectangle 1"/>
          <p:cNvSpPr/>
          <p:nvPr/>
        </p:nvSpPr>
        <p:spPr>
          <a:xfrm>
            <a:off x="3132000" y="2085840"/>
            <a:ext cx="1152720" cy="3240360"/>
          </a:xfrm>
          <a:prstGeom prst="rect">
            <a:avLst/>
          </a:prstGeom>
          <a:noFill/>
          <a:ln w="19080">
            <a:solidFill>
              <a:srgbClr val="0000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17" name="Text Box 16"/>
          <p:cNvSpPr/>
          <p:nvPr/>
        </p:nvSpPr>
        <p:spPr>
          <a:xfrm>
            <a:off x="298440" y="19080"/>
            <a:ext cx="81298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A quels moments développer la capacité aérobie ?</a:t>
            </a:r>
            <a:endParaRPr b="0" lang="en-US" sz="2400" strike="noStrike" u="none">
              <a:solidFill>
                <a:srgbClr val="ffff00"/>
              </a:solidFill>
              <a:effectLst/>
              <a:uFillTx/>
              <a:latin typeface="Times New Roman"/>
            </a:endParaRPr>
          </a:p>
        </p:txBody>
      </p:sp>
    </p:spTree>
  </p:cSld>
  <p:transition spd="med">
    <p:zoom dir="out"/>
  </p:transition>
  <p:timing>
    <p:tnLst>
      <p:par>
        <p:cTn id="927" dur="indefinite" restart="never" nodeType="tmRoot">
          <p:childTnLst>
            <p:seq>
              <p:cTn id="928" dur="indefinite" nodeType="mainSeq">
                <p:childTnLst>
                  <p:par>
                    <p:cTn id="929" nodeType="clickEffect" fill="hold">
                      <p:stCondLst>
                        <p:cond delay="indefinite"/>
                      </p:stCondLst>
                      <p:childTnLst>
                        <p:par>
                          <p:cTn id="930" nodeType="withEffect" fill="hold">
                            <p:stCondLst>
                              <p:cond delay="0"/>
                            </p:stCondLst>
                            <p:childTnLst>
                              <p:par>
                                <p:cTn id="931" nodeType="clickEffect" fill="hold" presetClass="entr" presetID="22" presetSubtype="4" repeatCount="1000">
                                  <p:stCondLst>
                                    <p:cond delay="0"/>
                                  </p:stCondLst>
                                  <p:childTnLst>
                                    <p:set>
                                      <p:cBhvr>
                                        <p:cTn id="932" dur="1" fill="hold">
                                          <p:stCondLst>
                                            <p:cond delay="0"/>
                                          </p:stCondLst>
                                        </p:cTn>
                                        <p:tgtEl>
                                          <p:spTgt spid="416"/>
                                        </p:tgtEl>
                                        <p:attrNameLst>
                                          <p:attrName>style.visibility</p:attrName>
                                        </p:attrNameLst>
                                      </p:cBhvr>
                                      <p:to>
                                        <p:strVal val="visible"/>
                                      </p:to>
                                    </p:set>
                                    <p:animEffect filter="wipe(down)" transition="in">
                                      <p:cBhvr additive="repl">
                                        <p:cTn id="933" dur="15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8" name="Picture 2" descr="18"/>
          <p:cNvPicPr/>
          <p:nvPr/>
        </p:nvPicPr>
        <p:blipFill>
          <a:blip r:embed="rId1"/>
          <a:stretch/>
        </p:blipFill>
        <p:spPr>
          <a:xfrm>
            <a:off x="395280" y="609480"/>
            <a:ext cx="4249800" cy="6248520"/>
          </a:xfrm>
          <a:prstGeom prst="rect">
            <a:avLst/>
          </a:prstGeom>
          <a:solidFill>
            <a:srgbClr val="00cc99"/>
          </a:solidFill>
          <a:ln w="0">
            <a:noFill/>
          </a:ln>
        </p:spPr>
      </p:pic>
      <p:sp>
        <p:nvSpPr>
          <p:cNvPr id="419" name="Oval 4"/>
          <p:cNvSpPr/>
          <p:nvPr/>
        </p:nvSpPr>
        <p:spPr>
          <a:xfrm>
            <a:off x="539640" y="1268280"/>
            <a:ext cx="4032360" cy="5589720"/>
          </a:xfrm>
          <a:prstGeom prst="ellipse">
            <a:avLst/>
          </a:prstGeom>
          <a:noFill/>
          <a:ln w="28440">
            <a:solidFill>
              <a:srgbClr val="07000c"/>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420" name="Text Box 5"/>
          <p:cNvSpPr/>
          <p:nvPr/>
        </p:nvSpPr>
        <p:spPr>
          <a:xfrm>
            <a:off x="4716360" y="907920"/>
            <a:ext cx="4211640" cy="1282680"/>
          </a:xfrm>
          <a:prstGeom prst="rect">
            <a:avLst/>
          </a:prstGeom>
          <a:noFill/>
          <a:ln w="12600">
            <a:solidFill>
              <a:srgbClr val="ffff00"/>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Endurance :</a:t>
            </a:r>
            <a:r>
              <a:rPr b="1" lang="fr-FR" sz="2400" strike="noStrike" u="none">
                <a:solidFill>
                  <a:srgbClr val="ffff00"/>
                </a:solidFill>
                <a:effectLst/>
                <a:uFillTx/>
                <a:latin typeface="Bookman Old Style"/>
              </a:rPr>
              <a:t> </a:t>
            </a:r>
            <a:r>
              <a:rPr b="1" lang="fr-FR" sz="1800" strike="noStrike" u="none">
                <a:solidFill>
                  <a:srgbClr val="ffff00"/>
                </a:solidFill>
                <a:effectLst/>
                <a:uFillTx/>
                <a:latin typeface="Bookman Old Style"/>
              </a:rPr>
              <a:t>Enfant prépubère,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Bookman Old Style"/>
              </a:rPr>
              <a:t>pubère (jeux continus de longue durée) &lt; VAM (65-85 % VAM, &gt; 20 min)</a:t>
            </a:r>
            <a:endParaRPr b="0" lang="en-US" sz="1800" strike="noStrike" u="none">
              <a:solidFill>
                <a:srgbClr val="ffff00"/>
              </a:solidFill>
              <a:effectLst/>
              <a:uFillTx/>
              <a:latin typeface="Times New Roman"/>
            </a:endParaRPr>
          </a:p>
        </p:txBody>
      </p:sp>
      <p:sp>
        <p:nvSpPr>
          <p:cNvPr id="421" name="Line 6"/>
          <p:cNvSpPr/>
          <p:nvPr/>
        </p:nvSpPr>
        <p:spPr>
          <a:xfrm flipH="1">
            <a:off x="3924360" y="1484280"/>
            <a:ext cx="792000" cy="432000"/>
          </a:xfrm>
          <a:prstGeom prst="line">
            <a:avLst/>
          </a:prstGeom>
          <a:ln w="28440">
            <a:solidFill>
              <a:srgbClr val="07000c"/>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22" name="Text Box 7"/>
          <p:cNvSpPr/>
          <p:nvPr/>
        </p:nvSpPr>
        <p:spPr>
          <a:xfrm>
            <a:off x="4716360" y="2486160"/>
            <a:ext cx="4248360" cy="1221840"/>
          </a:xfrm>
          <a:prstGeom prst="rect">
            <a:avLst/>
          </a:prstGeom>
          <a:noFill/>
          <a:ln w="12600">
            <a:solidFill>
              <a:srgbClr val="ffffff"/>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La PAM : fartlek : </a:t>
            </a:r>
            <a:r>
              <a:rPr b="1" lang="fr-FR" sz="1800" strike="noStrike" u="none">
                <a:solidFill>
                  <a:srgbClr val="ffffff"/>
                </a:solidFill>
                <a:effectLst/>
                <a:uFillTx/>
                <a:latin typeface="Bookman Old Style"/>
              </a:rPr>
              <a:t>Enfant prépubère, pubère 60% VAM 40 à 50s…10 à 20s accélérations (120 à 140 % VAM) x 15 à 20</a:t>
            </a:r>
            <a:endParaRPr b="0" lang="en-US" sz="1800" strike="noStrike" u="none">
              <a:solidFill>
                <a:srgbClr val="ffff00"/>
              </a:solidFill>
              <a:effectLst/>
              <a:uFillTx/>
              <a:latin typeface="Times New Roman"/>
            </a:endParaRPr>
          </a:p>
        </p:txBody>
      </p:sp>
      <p:sp>
        <p:nvSpPr>
          <p:cNvPr id="423" name="Line 8"/>
          <p:cNvSpPr/>
          <p:nvPr/>
        </p:nvSpPr>
        <p:spPr>
          <a:xfrm flipH="1">
            <a:off x="3779640" y="2924280"/>
            <a:ext cx="936360" cy="288720"/>
          </a:xfrm>
          <a:prstGeom prst="line">
            <a:avLst/>
          </a:prstGeom>
          <a:ln w="28440">
            <a:solidFill>
              <a:srgbClr val="07000c"/>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24" name="Text Box 9"/>
          <p:cNvSpPr/>
          <p:nvPr/>
        </p:nvSpPr>
        <p:spPr>
          <a:xfrm>
            <a:off x="4737600" y="4149720"/>
            <a:ext cx="4237560" cy="978120"/>
          </a:xfrm>
          <a:prstGeom prst="rect">
            <a:avLst/>
          </a:prstGeom>
          <a:noFill/>
          <a:ln w="1260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Intermittent court : Enfant –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ado </a:t>
            </a:r>
            <a:r>
              <a:rPr b="1" lang="fr-FR" sz="1800" strike="noStrike" u="none">
                <a:solidFill>
                  <a:srgbClr val="ffff00"/>
                </a:solidFill>
                <a:effectLst/>
                <a:uFillTx/>
                <a:latin typeface="Bookman Old Style"/>
              </a:rPr>
              <a:t>[ 10 à 15s à 110-130 % VAM;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Bookman Old Style"/>
              </a:rPr>
              <a:t>r : 15-20s ] x 20 à 40</a:t>
            </a:r>
            <a:endParaRPr b="0" lang="en-US" sz="1800" strike="noStrike" u="none">
              <a:solidFill>
                <a:srgbClr val="ffff00"/>
              </a:solidFill>
              <a:effectLst/>
              <a:uFillTx/>
              <a:latin typeface="Times New Roman"/>
            </a:endParaRPr>
          </a:p>
        </p:txBody>
      </p:sp>
      <p:sp>
        <p:nvSpPr>
          <p:cNvPr id="425" name="Oval 10"/>
          <p:cNvSpPr/>
          <p:nvPr/>
        </p:nvSpPr>
        <p:spPr>
          <a:xfrm>
            <a:off x="1835280" y="5013360"/>
            <a:ext cx="2736720" cy="1584360"/>
          </a:xfrm>
          <a:prstGeom prst="ellipse">
            <a:avLst/>
          </a:prstGeom>
          <a:noFill/>
          <a:ln w="28440">
            <a:solidFill>
              <a:srgbClr val="6633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26" name="Oval 11"/>
          <p:cNvSpPr/>
          <p:nvPr/>
        </p:nvSpPr>
        <p:spPr>
          <a:xfrm>
            <a:off x="755640" y="2708280"/>
            <a:ext cx="3600360" cy="4149720"/>
          </a:xfrm>
          <a:prstGeom prst="ellipse">
            <a:avLst/>
          </a:prstGeom>
          <a:noFill/>
          <a:ln w="28440">
            <a:solidFill>
              <a:srgbClr val="3333cc"/>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427" name="Line 12"/>
          <p:cNvSpPr/>
          <p:nvPr/>
        </p:nvSpPr>
        <p:spPr>
          <a:xfrm flipH="1">
            <a:off x="4500360" y="5229360"/>
            <a:ext cx="215640" cy="2872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28" name="Text Box 13"/>
          <p:cNvSpPr/>
          <p:nvPr/>
        </p:nvSpPr>
        <p:spPr>
          <a:xfrm>
            <a:off x="4716360" y="5516640"/>
            <a:ext cx="4280040" cy="1252440"/>
          </a:xfrm>
          <a:prstGeom prst="rect">
            <a:avLst/>
          </a:prstGeom>
          <a:noFill/>
          <a:ln w="12600">
            <a:solidFill>
              <a:srgbClr val="ffffff"/>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Répétition de sprints : en fin de l’adolescence</a:t>
            </a:r>
            <a:r>
              <a:rPr b="1" lang="fr-FR" sz="1800" strike="noStrike" u="none">
                <a:solidFill>
                  <a:srgbClr val="ffffff"/>
                </a:solidFill>
                <a:effectLst/>
                <a:uFillTx/>
                <a:latin typeface="Bookman Old Style"/>
              </a:rPr>
              <a:t> [ 3 à 5 s à 96-100 % vitesse étalon; r : 30 à 40s ] x 10 à 15</a:t>
            </a:r>
            <a:endParaRPr b="0" lang="en-US" sz="1800" strike="noStrike" u="none">
              <a:solidFill>
                <a:srgbClr val="ffff00"/>
              </a:solidFill>
              <a:effectLst/>
              <a:uFillTx/>
              <a:latin typeface="Times New Roman"/>
            </a:endParaRPr>
          </a:p>
        </p:txBody>
      </p:sp>
      <p:sp>
        <p:nvSpPr>
          <p:cNvPr id="429" name="Line 14"/>
          <p:cNvSpPr/>
          <p:nvPr/>
        </p:nvSpPr>
        <p:spPr>
          <a:xfrm flipH="1" flipV="1">
            <a:off x="4500720" y="6093000"/>
            <a:ext cx="287280" cy="2872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30" name="Text Box 16"/>
          <p:cNvSpPr/>
          <p:nvPr/>
        </p:nvSpPr>
        <p:spPr>
          <a:xfrm>
            <a:off x="298440" y="19080"/>
            <a:ext cx="81298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A quels moments développer la capacité aérobie ?</a:t>
            </a:r>
            <a:endParaRPr b="0" lang="en-US" sz="2400" strike="noStrike" u="none">
              <a:solidFill>
                <a:srgbClr val="ffff00"/>
              </a:solidFill>
              <a:effectLst/>
              <a:uFillTx/>
              <a:latin typeface="Times New Roman"/>
            </a:endParaRPr>
          </a:p>
        </p:txBody>
      </p:sp>
    </p:spTree>
  </p:cSld>
  <p:transition spd="med">
    <p:zoom dir="out"/>
  </p:transition>
  <p:timing>
    <p:tnLst>
      <p:par>
        <p:cTn id="934" dur="indefinite" restart="never" nodeType="tmRoot">
          <p:childTnLst>
            <p:seq>
              <p:cTn id="935" dur="indefinite" nodeType="mainSeq">
                <p:childTnLst>
                  <p:par>
                    <p:cTn id="936" nodeType="clickEffect" fill="hold">
                      <p:stCondLst>
                        <p:cond delay="indefinite"/>
                      </p:stCondLst>
                      <p:childTnLst>
                        <p:par>
                          <p:cTn id="937" nodeType="withEffect" fill="hold">
                            <p:stCondLst>
                              <p:cond delay="0"/>
                            </p:stCondLst>
                            <p:childTnLst>
                              <p:par>
                                <p:cTn id="938" nodeType="clickEffect" fill="hold" presetClass="entr" presetID="22" presetSubtype="1">
                                  <p:stCondLst>
                                    <p:cond delay="0"/>
                                  </p:stCondLst>
                                  <p:childTnLst>
                                    <p:set>
                                      <p:cBhvr>
                                        <p:cTn id="939" dur="1" fill="hold">
                                          <p:stCondLst>
                                            <p:cond delay="0"/>
                                          </p:stCondLst>
                                        </p:cTn>
                                        <p:tgtEl>
                                          <p:spTgt spid="420"/>
                                        </p:tgtEl>
                                        <p:attrNameLst>
                                          <p:attrName>style.visibility</p:attrName>
                                        </p:attrNameLst>
                                      </p:cBhvr>
                                      <p:to>
                                        <p:strVal val="visible"/>
                                      </p:to>
                                    </p:set>
                                    <p:animEffect filter="wipe(up)" transition="in">
                                      <p:cBhvr additive="repl">
                                        <p:cTn id="940" dur="500"/>
                                        <p:tgtEl>
                                          <p:spTgt spid="420"/>
                                        </p:tgtEl>
                                      </p:cBhvr>
                                    </p:animEffect>
                                  </p:childTnLst>
                                </p:cTn>
                              </p:par>
                            </p:childTnLst>
                          </p:cTn>
                        </p:par>
                        <p:par>
                          <p:cTn id="941" nodeType="afterEffect" fill="hold">
                            <p:stCondLst>
                              <p:cond delay="500"/>
                            </p:stCondLst>
                            <p:childTnLst>
                              <p:par>
                                <p:cTn id="942" nodeType="afterEffect" fill="hold" presetClass="entr" presetID="22" presetSubtype="2">
                                  <p:stCondLst>
                                    <p:cond delay="0"/>
                                  </p:stCondLst>
                                  <p:childTnLst>
                                    <p:set>
                                      <p:cBhvr>
                                        <p:cTn id="943" dur="1" fill="hold">
                                          <p:stCondLst>
                                            <p:cond delay="0"/>
                                          </p:stCondLst>
                                        </p:cTn>
                                        <p:tgtEl>
                                          <p:spTgt spid="421"/>
                                        </p:tgtEl>
                                        <p:attrNameLst>
                                          <p:attrName>style.visibility</p:attrName>
                                        </p:attrNameLst>
                                      </p:cBhvr>
                                      <p:to>
                                        <p:strVal val="visible"/>
                                      </p:to>
                                    </p:set>
                                    <p:animEffect filter="wipe(right)" transition="in">
                                      <p:cBhvr additive="repl">
                                        <p:cTn id="944" dur="1000"/>
                                        <p:tgtEl>
                                          <p:spTgt spid="421"/>
                                        </p:tgtEl>
                                      </p:cBhvr>
                                    </p:animEffect>
                                  </p:childTnLst>
                                </p:cTn>
                              </p:par>
                            </p:childTnLst>
                          </p:cTn>
                        </p:par>
                        <p:par>
                          <p:cTn id="945" nodeType="afterEffect" fill="hold">
                            <p:stCondLst>
                              <p:cond delay="1500"/>
                            </p:stCondLst>
                            <p:childTnLst>
                              <p:par>
                                <p:cTn id="946" nodeType="afterEffect" fill="hold" presetClass="entr" presetID="22" presetSubtype="2">
                                  <p:stCondLst>
                                    <p:cond delay="0"/>
                                  </p:stCondLst>
                                  <p:childTnLst>
                                    <p:set>
                                      <p:cBhvr>
                                        <p:cTn id="947" dur="1" fill="hold">
                                          <p:stCondLst>
                                            <p:cond delay="0"/>
                                          </p:stCondLst>
                                        </p:cTn>
                                        <p:tgtEl>
                                          <p:spTgt spid="419"/>
                                        </p:tgtEl>
                                        <p:attrNameLst>
                                          <p:attrName>style.visibility</p:attrName>
                                        </p:attrNameLst>
                                      </p:cBhvr>
                                      <p:to>
                                        <p:strVal val="visible"/>
                                      </p:to>
                                    </p:set>
                                    <p:animEffect filter="wipe(right)" transition="in">
                                      <p:cBhvr additive="repl">
                                        <p:cTn id="948" dur="1000"/>
                                        <p:tgtEl>
                                          <p:spTgt spid="419"/>
                                        </p:tgtEl>
                                      </p:cBhvr>
                                    </p:animEffect>
                                  </p:childTnLst>
                                </p:cTn>
                              </p:par>
                            </p:childTnLst>
                          </p:cTn>
                        </p:par>
                      </p:childTnLst>
                    </p:cTn>
                  </p:par>
                  <p:par>
                    <p:cTn id="949" nodeType="clickEffect" fill="hold">
                      <p:stCondLst>
                        <p:cond delay="indefinite"/>
                      </p:stCondLst>
                      <p:childTnLst>
                        <p:par>
                          <p:cTn id="950" nodeType="withEffect" fill="hold">
                            <p:stCondLst>
                              <p:cond delay="0"/>
                            </p:stCondLst>
                            <p:childTnLst>
                              <p:par>
                                <p:cTn id="951" nodeType="clickEffect" fill="hold" presetClass="entr" presetID="22" presetSubtype="1">
                                  <p:stCondLst>
                                    <p:cond delay="0"/>
                                  </p:stCondLst>
                                  <p:childTnLst>
                                    <p:set>
                                      <p:cBhvr>
                                        <p:cTn id="952" dur="1" fill="hold">
                                          <p:stCondLst>
                                            <p:cond delay="0"/>
                                          </p:stCondLst>
                                        </p:cTn>
                                        <p:tgtEl>
                                          <p:spTgt spid="422"/>
                                        </p:tgtEl>
                                        <p:attrNameLst>
                                          <p:attrName>style.visibility</p:attrName>
                                        </p:attrNameLst>
                                      </p:cBhvr>
                                      <p:to>
                                        <p:strVal val="visible"/>
                                      </p:to>
                                    </p:set>
                                    <p:animEffect filter="wipe(up)" transition="in">
                                      <p:cBhvr additive="repl">
                                        <p:cTn id="953" dur="1000"/>
                                        <p:tgtEl>
                                          <p:spTgt spid="422"/>
                                        </p:tgtEl>
                                      </p:cBhvr>
                                    </p:animEffect>
                                  </p:childTnLst>
                                </p:cTn>
                              </p:par>
                            </p:childTnLst>
                          </p:cTn>
                        </p:par>
                        <p:par>
                          <p:cTn id="954" nodeType="afterEffect" fill="hold">
                            <p:stCondLst>
                              <p:cond delay="1000"/>
                            </p:stCondLst>
                            <p:childTnLst>
                              <p:par>
                                <p:cTn id="955" nodeType="afterEffect" fill="hold" presetClass="entr" presetID="22" presetSubtype="2">
                                  <p:stCondLst>
                                    <p:cond delay="0"/>
                                  </p:stCondLst>
                                  <p:childTnLst>
                                    <p:set>
                                      <p:cBhvr>
                                        <p:cTn id="956" dur="1" fill="hold">
                                          <p:stCondLst>
                                            <p:cond delay="0"/>
                                          </p:stCondLst>
                                        </p:cTn>
                                        <p:tgtEl>
                                          <p:spTgt spid="423"/>
                                        </p:tgtEl>
                                        <p:attrNameLst>
                                          <p:attrName>style.visibility</p:attrName>
                                        </p:attrNameLst>
                                      </p:cBhvr>
                                      <p:to>
                                        <p:strVal val="visible"/>
                                      </p:to>
                                    </p:set>
                                    <p:animEffect filter="wipe(right)" transition="in">
                                      <p:cBhvr additive="repl">
                                        <p:cTn id="957" dur="1000"/>
                                        <p:tgtEl>
                                          <p:spTgt spid="423"/>
                                        </p:tgtEl>
                                      </p:cBhvr>
                                    </p:animEffect>
                                  </p:childTnLst>
                                </p:cTn>
                              </p:par>
                            </p:childTnLst>
                          </p:cTn>
                        </p:par>
                        <p:par>
                          <p:cTn id="958" nodeType="afterEffect" fill="hold">
                            <p:stCondLst>
                              <p:cond delay="2000"/>
                            </p:stCondLst>
                            <p:childTnLst>
                              <p:par>
                                <p:cTn id="959" nodeType="afterEffect" fill="hold" presetClass="entr" presetID="22" presetSubtype="2">
                                  <p:stCondLst>
                                    <p:cond delay="0"/>
                                  </p:stCondLst>
                                  <p:childTnLst>
                                    <p:set>
                                      <p:cBhvr>
                                        <p:cTn id="960" dur="1" fill="hold">
                                          <p:stCondLst>
                                            <p:cond delay="0"/>
                                          </p:stCondLst>
                                        </p:cTn>
                                        <p:tgtEl>
                                          <p:spTgt spid="426"/>
                                        </p:tgtEl>
                                        <p:attrNameLst>
                                          <p:attrName>style.visibility</p:attrName>
                                        </p:attrNameLst>
                                      </p:cBhvr>
                                      <p:to>
                                        <p:strVal val="visible"/>
                                      </p:to>
                                    </p:set>
                                    <p:animEffect filter="wipe(right)" transition="in">
                                      <p:cBhvr additive="repl">
                                        <p:cTn id="961" dur="1000"/>
                                        <p:tgtEl>
                                          <p:spTgt spid="426"/>
                                        </p:tgtEl>
                                      </p:cBhvr>
                                    </p:animEffect>
                                  </p:childTnLst>
                                </p:cTn>
                              </p:par>
                            </p:childTnLst>
                          </p:cTn>
                        </p:par>
                      </p:childTnLst>
                    </p:cTn>
                  </p:par>
                  <p:par>
                    <p:cTn id="962" nodeType="clickEffect" fill="hold">
                      <p:stCondLst>
                        <p:cond delay="indefinite"/>
                      </p:stCondLst>
                      <p:childTnLst>
                        <p:par>
                          <p:cTn id="963" nodeType="withEffect" fill="hold">
                            <p:stCondLst>
                              <p:cond delay="0"/>
                            </p:stCondLst>
                            <p:childTnLst>
                              <p:par>
                                <p:cTn id="964" nodeType="clickEffect" fill="hold" presetClass="entr" presetID="22" presetSubtype="1">
                                  <p:stCondLst>
                                    <p:cond delay="0"/>
                                  </p:stCondLst>
                                  <p:childTnLst>
                                    <p:set>
                                      <p:cBhvr>
                                        <p:cTn id="965" dur="1" fill="hold">
                                          <p:stCondLst>
                                            <p:cond delay="0"/>
                                          </p:stCondLst>
                                        </p:cTn>
                                        <p:tgtEl>
                                          <p:spTgt spid="424"/>
                                        </p:tgtEl>
                                        <p:attrNameLst>
                                          <p:attrName>style.visibility</p:attrName>
                                        </p:attrNameLst>
                                      </p:cBhvr>
                                      <p:to>
                                        <p:strVal val="visible"/>
                                      </p:to>
                                    </p:set>
                                    <p:animEffect filter="wipe(up)" transition="in">
                                      <p:cBhvr additive="repl">
                                        <p:cTn id="966" dur="1000"/>
                                        <p:tgtEl>
                                          <p:spTgt spid="424"/>
                                        </p:tgtEl>
                                      </p:cBhvr>
                                    </p:animEffect>
                                  </p:childTnLst>
                                </p:cTn>
                              </p:par>
                            </p:childTnLst>
                          </p:cTn>
                        </p:par>
                        <p:par>
                          <p:cTn id="967" nodeType="afterEffect" fill="hold">
                            <p:stCondLst>
                              <p:cond delay="1000"/>
                            </p:stCondLst>
                            <p:childTnLst>
                              <p:par>
                                <p:cTn id="968" nodeType="afterEffect" fill="hold" presetClass="entr" presetID="22" presetSubtype="2">
                                  <p:stCondLst>
                                    <p:cond delay="0"/>
                                  </p:stCondLst>
                                  <p:childTnLst>
                                    <p:set>
                                      <p:cBhvr>
                                        <p:cTn id="969" dur="1" fill="hold">
                                          <p:stCondLst>
                                            <p:cond delay="0"/>
                                          </p:stCondLst>
                                        </p:cTn>
                                        <p:tgtEl>
                                          <p:spTgt spid="427"/>
                                        </p:tgtEl>
                                        <p:attrNameLst>
                                          <p:attrName>style.visibility</p:attrName>
                                        </p:attrNameLst>
                                      </p:cBhvr>
                                      <p:to>
                                        <p:strVal val="visible"/>
                                      </p:to>
                                    </p:set>
                                    <p:animEffect filter="wipe(right)" transition="in">
                                      <p:cBhvr additive="repl">
                                        <p:cTn id="970" dur="1000"/>
                                        <p:tgtEl>
                                          <p:spTgt spid="427"/>
                                        </p:tgtEl>
                                      </p:cBhvr>
                                    </p:animEffect>
                                  </p:childTnLst>
                                </p:cTn>
                              </p:par>
                            </p:childTnLst>
                          </p:cTn>
                        </p:par>
                        <p:par>
                          <p:cTn id="971" nodeType="afterEffect" fill="hold">
                            <p:stCondLst>
                              <p:cond delay="2000"/>
                            </p:stCondLst>
                            <p:childTnLst>
                              <p:par>
                                <p:cTn id="972" nodeType="afterEffect" fill="hold" presetClass="entr" presetID="22" presetSubtype="2">
                                  <p:stCondLst>
                                    <p:cond delay="0"/>
                                  </p:stCondLst>
                                  <p:childTnLst>
                                    <p:set>
                                      <p:cBhvr>
                                        <p:cTn id="973" dur="1" fill="hold">
                                          <p:stCondLst>
                                            <p:cond delay="0"/>
                                          </p:stCondLst>
                                        </p:cTn>
                                        <p:tgtEl>
                                          <p:spTgt spid="425"/>
                                        </p:tgtEl>
                                        <p:attrNameLst>
                                          <p:attrName>style.visibility</p:attrName>
                                        </p:attrNameLst>
                                      </p:cBhvr>
                                      <p:to>
                                        <p:strVal val="visible"/>
                                      </p:to>
                                    </p:set>
                                    <p:animEffect filter="wipe(right)" transition="in">
                                      <p:cBhvr additive="repl">
                                        <p:cTn id="974" dur="1000"/>
                                        <p:tgtEl>
                                          <p:spTgt spid="425"/>
                                        </p:tgtEl>
                                      </p:cBhvr>
                                    </p:animEffect>
                                  </p:childTnLst>
                                </p:cTn>
                              </p:par>
                            </p:childTnLst>
                          </p:cTn>
                        </p:par>
                      </p:childTnLst>
                    </p:cTn>
                  </p:par>
                  <p:par>
                    <p:cTn id="975" nodeType="clickEffect" fill="hold">
                      <p:stCondLst>
                        <p:cond delay="indefinite"/>
                      </p:stCondLst>
                      <p:childTnLst>
                        <p:par>
                          <p:cTn id="976" nodeType="withEffect" fill="hold">
                            <p:stCondLst>
                              <p:cond delay="0"/>
                            </p:stCondLst>
                            <p:childTnLst>
                              <p:par>
                                <p:cTn id="977" nodeType="clickEffect" fill="hold" presetClass="entr" presetID="22" presetSubtype="1">
                                  <p:stCondLst>
                                    <p:cond delay="0"/>
                                  </p:stCondLst>
                                  <p:childTnLst>
                                    <p:set>
                                      <p:cBhvr>
                                        <p:cTn id="978" dur="1" fill="hold">
                                          <p:stCondLst>
                                            <p:cond delay="0"/>
                                          </p:stCondLst>
                                        </p:cTn>
                                        <p:tgtEl>
                                          <p:spTgt spid="428"/>
                                        </p:tgtEl>
                                        <p:attrNameLst>
                                          <p:attrName>style.visibility</p:attrName>
                                        </p:attrNameLst>
                                      </p:cBhvr>
                                      <p:to>
                                        <p:strVal val="visible"/>
                                      </p:to>
                                    </p:set>
                                    <p:animEffect filter="wipe(up)" transition="in">
                                      <p:cBhvr additive="repl">
                                        <p:cTn id="979" dur="1000"/>
                                        <p:tgtEl>
                                          <p:spTgt spid="4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ZoneTexte 1"/>
          <p:cNvSpPr/>
          <p:nvPr/>
        </p:nvSpPr>
        <p:spPr>
          <a:xfrm>
            <a:off x="-565200" y="2852640"/>
            <a:ext cx="1046988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Calibri"/>
                <a:ea typeface="Calibri"/>
              </a:rPr>
              <a:t>TESTS D’EVALUATION DE LA CAPACITE LACTIQUE</a:t>
            </a:r>
            <a:endParaRPr b="0" lang="en-US" sz="3200" strike="noStrike" u="none">
              <a:solidFill>
                <a:srgbClr val="ffff00"/>
              </a:solidFill>
              <a:effectLst/>
              <a:uFillTx/>
              <a:latin typeface="Times New Roman"/>
            </a:endParaRPr>
          </a:p>
        </p:txBody>
      </p:sp>
    </p:spTree>
  </p:cSld>
  <p:transition spd="med">
    <p:zoom dir="out"/>
  </p:transition>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Text Box 2"/>
          <p:cNvSpPr/>
          <p:nvPr/>
        </p:nvSpPr>
        <p:spPr>
          <a:xfrm>
            <a:off x="-522000" y="1141560"/>
            <a:ext cx="11007360" cy="18010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000" strike="noStrike" u="none">
                <a:solidFill>
                  <a:srgbClr val="ffff00"/>
                </a:solidFill>
                <a:effectLst/>
                <a:uFillTx/>
                <a:latin typeface="Calibri"/>
                <a:ea typeface="Calibri"/>
              </a:rPr>
              <a:t>TEST Australien</a:t>
            </a:r>
            <a:endParaRPr b="0" lang="en-US" sz="3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Réaliser la plus grande distance possible en course navette</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n = 3 répétitions de 30 s ; Récupération = 35 s</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33" name="Text Box 3"/>
          <p:cNvSpPr/>
          <p:nvPr/>
        </p:nvSpPr>
        <p:spPr>
          <a:xfrm>
            <a:off x="0" y="0"/>
            <a:ext cx="9144000" cy="10695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3200" strike="noStrike" u="none">
                <a:solidFill>
                  <a:srgbClr val="ffffff"/>
                </a:solidFill>
                <a:effectLst/>
                <a:uFillTx/>
                <a:latin typeface="Calibri"/>
                <a:ea typeface="Calibri"/>
              </a:rPr>
              <a:t>Capacité à répéter des sprints en navette</a:t>
            </a:r>
            <a:endParaRPr b="0" lang="en-US" sz="3200" strike="noStrike" u="none">
              <a:solidFill>
                <a:srgbClr val="ffff00"/>
              </a:solidFill>
              <a:effectLst/>
              <a:uFillTx/>
              <a:latin typeface="Times New Roman"/>
            </a:endParaRPr>
          </a:p>
        </p:txBody>
      </p:sp>
      <p:sp>
        <p:nvSpPr>
          <p:cNvPr id="434" name="Line 8"/>
          <p:cNvSpPr/>
          <p:nvPr/>
        </p:nvSpPr>
        <p:spPr>
          <a:xfrm>
            <a:off x="755640" y="4437000"/>
            <a:ext cx="1295280" cy="0"/>
          </a:xfrm>
          <a:prstGeom prst="line">
            <a:avLst/>
          </a:prstGeom>
          <a:ln w="57240">
            <a:solidFill>
              <a:srgbClr val="3333cc"/>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grpSp>
        <p:nvGrpSpPr>
          <p:cNvPr id="435" name="Groupe 27"/>
          <p:cNvGrpSpPr/>
          <p:nvPr/>
        </p:nvGrpSpPr>
        <p:grpSpPr>
          <a:xfrm>
            <a:off x="395280" y="3429000"/>
            <a:ext cx="8283600" cy="767520"/>
            <a:chOff x="395280" y="3429000"/>
            <a:chExt cx="8283600" cy="767520"/>
          </a:xfrm>
        </p:grpSpPr>
        <p:sp>
          <p:nvSpPr>
            <p:cNvPr id="436" name="Line 10"/>
            <p:cNvSpPr/>
            <p:nvPr/>
          </p:nvSpPr>
          <p:spPr>
            <a:xfrm>
              <a:off x="684000" y="3789000"/>
              <a:ext cx="7921800" cy="0"/>
            </a:xfrm>
            <a:prstGeom prst="line">
              <a:avLst/>
            </a:prstGeom>
            <a:ln w="28440">
              <a:solidFill>
                <a:srgbClr val="92d05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37" name="AutoShape 11"/>
            <p:cNvSpPr/>
            <p:nvPr/>
          </p:nvSpPr>
          <p:spPr>
            <a:xfrm>
              <a:off x="684000" y="3429000"/>
              <a:ext cx="358560" cy="288360"/>
            </a:xfrm>
            <a:prstGeom prst="triangle">
              <a:avLst>
                <a:gd name="adj" fmla="val 50000"/>
              </a:avLst>
            </a:prstGeom>
            <a:solidFill>
              <a:srgbClr val="92d050"/>
            </a:solidFill>
            <a:ln w="9360">
              <a:solidFill>
                <a:srgbClr val="92d05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38" name="AutoShape 12"/>
            <p:cNvSpPr/>
            <p:nvPr/>
          </p:nvSpPr>
          <p:spPr>
            <a:xfrm>
              <a:off x="6878520" y="3429000"/>
              <a:ext cx="358560" cy="288360"/>
            </a:xfrm>
            <a:prstGeom prst="triangle">
              <a:avLst>
                <a:gd name="adj" fmla="val 50000"/>
              </a:avLst>
            </a:prstGeom>
            <a:solidFill>
              <a:srgbClr val="92d050"/>
            </a:solidFill>
            <a:ln w="9360">
              <a:solidFill>
                <a:srgbClr val="92d05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39" name="AutoShape 13"/>
            <p:cNvSpPr/>
            <p:nvPr/>
          </p:nvSpPr>
          <p:spPr>
            <a:xfrm>
              <a:off x="5581080" y="3429000"/>
              <a:ext cx="358560" cy="288360"/>
            </a:xfrm>
            <a:prstGeom prst="triangle">
              <a:avLst>
                <a:gd name="adj" fmla="val 50000"/>
              </a:avLst>
            </a:prstGeom>
            <a:solidFill>
              <a:srgbClr val="92d050"/>
            </a:solidFill>
            <a:ln w="9360">
              <a:solidFill>
                <a:srgbClr val="92d05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40" name="AutoShape 14"/>
            <p:cNvSpPr/>
            <p:nvPr/>
          </p:nvSpPr>
          <p:spPr>
            <a:xfrm>
              <a:off x="4285440" y="3429000"/>
              <a:ext cx="358560" cy="288360"/>
            </a:xfrm>
            <a:prstGeom prst="triangle">
              <a:avLst>
                <a:gd name="adj" fmla="val 50000"/>
              </a:avLst>
            </a:prstGeom>
            <a:solidFill>
              <a:srgbClr val="92d050"/>
            </a:solidFill>
            <a:ln w="9360">
              <a:solidFill>
                <a:srgbClr val="92d05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41" name="AutoShape 15"/>
            <p:cNvSpPr/>
            <p:nvPr/>
          </p:nvSpPr>
          <p:spPr>
            <a:xfrm>
              <a:off x="3059640" y="3429000"/>
              <a:ext cx="358560" cy="288360"/>
            </a:xfrm>
            <a:prstGeom prst="triangle">
              <a:avLst>
                <a:gd name="adj" fmla="val 50000"/>
              </a:avLst>
            </a:prstGeom>
            <a:solidFill>
              <a:srgbClr val="92d050"/>
            </a:solidFill>
            <a:ln w="9360">
              <a:solidFill>
                <a:srgbClr val="92d05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42" name="AutoShape 16"/>
            <p:cNvSpPr/>
            <p:nvPr/>
          </p:nvSpPr>
          <p:spPr>
            <a:xfrm>
              <a:off x="1835280" y="3429000"/>
              <a:ext cx="358560" cy="288360"/>
            </a:xfrm>
            <a:prstGeom prst="triangle">
              <a:avLst>
                <a:gd name="adj" fmla="val 50000"/>
              </a:avLst>
            </a:prstGeom>
            <a:solidFill>
              <a:srgbClr val="92d050"/>
            </a:solidFill>
            <a:ln w="9360">
              <a:solidFill>
                <a:srgbClr val="92d05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43" name="AutoShape 17"/>
            <p:cNvSpPr/>
            <p:nvPr/>
          </p:nvSpPr>
          <p:spPr>
            <a:xfrm>
              <a:off x="8174160" y="3429000"/>
              <a:ext cx="358560" cy="288360"/>
            </a:xfrm>
            <a:prstGeom prst="triangle">
              <a:avLst>
                <a:gd name="adj" fmla="val 50000"/>
              </a:avLst>
            </a:prstGeom>
            <a:solidFill>
              <a:srgbClr val="92d050"/>
            </a:solidFill>
            <a:ln w="9360">
              <a:solidFill>
                <a:srgbClr val="92d05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44" name="Text Box 18"/>
            <p:cNvSpPr/>
            <p:nvPr/>
          </p:nvSpPr>
          <p:spPr>
            <a:xfrm>
              <a:off x="1692000" y="3858840"/>
              <a:ext cx="650880" cy="337680"/>
            </a:xfrm>
            <a:prstGeom prst="rect">
              <a:avLst/>
            </a:prstGeom>
            <a:noFill/>
            <a:ln w="0">
              <a:noFill/>
            </a:ln>
          </p:spPr>
          <p:style>
            <a:lnRef idx="0"/>
            <a:fillRef idx="0"/>
            <a:effectRef idx="0"/>
            <a:fontRef idx="minor"/>
          </p:style>
          <p:txBody>
            <a:bodyPr lIns="90000" rIns="90000" tIns="46800" bIns="46800" anchor="t">
              <a:spAutoFit/>
            </a:bodyPr>
            <a:p>
              <a:pPr algn="ct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00"/>
                  </a:solidFill>
                  <a:effectLst/>
                  <a:uFillTx/>
                  <a:latin typeface="Times New Roman"/>
                  <a:ea typeface="Arial"/>
                </a:rPr>
                <a:t>5 m</a:t>
              </a:r>
              <a:endParaRPr b="0" lang="en-US" sz="1600" strike="noStrike" u="none">
                <a:solidFill>
                  <a:srgbClr val="ffff00"/>
                </a:solidFill>
                <a:effectLst/>
                <a:uFillTx/>
                <a:latin typeface="Times New Roman"/>
              </a:endParaRPr>
            </a:p>
          </p:txBody>
        </p:sp>
        <p:sp>
          <p:nvSpPr>
            <p:cNvPr id="445" name="Text Box 19"/>
            <p:cNvSpPr/>
            <p:nvPr/>
          </p:nvSpPr>
          <p:spPr>
            <a:xfrm>
              <a:off x="2916000" y="3858840"/>
              <a:ext cx="650880" cy="337680"/>
            </a:xfrm>
            <a:prstGeom prst="rect">
              <a:avLst/>
            </a:prstGeom>
            <a:noFill/>
            <a:ln w="0">
              <a:noFill/>
            </a:ln>
          </p:spPr>
          <p:style>
            <a:lnRef idx="0"/>
            <a:fillRef idx="0"/>
            <a:effectRef idx="0"/>
            <a:fontRef idx="minor"/>
          </p:style>
          <p:txBody>
            <a:bodyPr lIns="90000" rIns="90000" tIns="46800" bIns="46800" anchor="t">
              <a:spAutoFit/>
            </a:bodyPr>
            <a:p>
              <a:pPr algn="ct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00"/>
                  </a:solidFill>
                  <a:effectLst/>
                  <a:uFillTx/>
                  <a:latin typeface="Times New Roman"/>
                  <a:ea typeface="Arial"/>
                </a:rPr>
                <a:t>10 m</a:t>
              </a:r>
              <a:endParaRPr b="0" lang="en-US" sz="1600" strike="noStrike" u="none">
                <a:solidFill>
                  <a:srgbClr val="ffff00"/>
                </a:solidFill>
                <a:effectLst/>
                <a:uFillTx/>
                <a:latin typeface="Times New Roman"/>
              </a:endParaRPr>
            </a:p>
          </p:txBody>
        </p:sp>
        <p:sp>
          <p:nvSpPr>
            <p:cNvPr id="446" name="Text Box 20"/>
            <p:cNvSpPr/>
            <p:nvPr/>
          </p:nvSpPr>
          <p:spPr>
            <a:xfrm>
              <a:off x="4140360" y="3858840"/>
              <a:ext cx="649080" cy="337680"/>
            </a:xfrm>
            <a:prstGeom prst="rect">
              <a:avLst/>
            </a:prstGeom>
            <a:noFill/>
            <a:ln w="0">
              <a:noFill/>
            </a:ln>
          </p:spPr>
          <p:style>
            <a:lnRef idx="0"/>
            <a:fillRef idx="0"/>
            <a:effectRef idx="0"/>
            <a:fontRef idx="minor"/>
          </p:style>
          <p:txBody>
            <a:bodyPr lIns="90000" rIns="90000" tIns="46800" bIns="46800" anchor="t">
              <a:spAutoFit/>
            </a:bodyPr>
            <a:p>
              <a:pPr algn="ct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00"/>
                  </a:solidFill>
                  <a:effectLst/>
                  <a:uFillTx/>
                  <a:latin typeface="Times New Roman"/>
                  <a:ea typeface="Arial"/>
                </a:rPr>
                <a:t>15 m</a:t>
              </a:r>
              <a:endParaRPr b="0" lang="en-US" sz="1600" strike="noStrike" u="none">
                <a:solidFill>
                  <a:srgbClr val="ffff00"/>
                </a:solidFill>
                <a:effectLst/>
                <a:uFillTx/>
                <a:latin typeface="Times New Roman"/>
              </a:endParaRPr>
            </a:p>
          </p:txBody>
        </p:sp>
        <p:sp>
          <p:nvSpPr>
            <p:cNvPr id="447" name="Text Box 21"/>
            <p:cNvSpPr/>
            <p:nvPr/>
          </p:nvSpPr>
          <p:spPr>
            <a:xfrm>
              <a:off x="5435640" y="3858840"/>
              <a:ext cx="649080" cy="337680"/>
            </a:xfrm>
            <a:prstGeom prst="rect">
              <a:avLst/>
            </a:prstGeom>
            <a:noFill/>
            <a:ln w="0">
              <a:noFill/>
            </a:ln>
          </p:spPr>
          <p:style>
            <a:lnRef idx="0"/>
            <a:fillRef idx="0"/>
            <a:effectRef idx="0"/>
            <a:fontRef idx="minor"/>
          </p:style>
          <p:txBody>
            <a:bodyPr lIns="90000" rIns="90000" tIns="46800" bIns="46800" anchor="t">
              <a:spAutoFit/>
            </a:bodyPr>
            <a:p>
              <a:pPr algn="ct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00"/>
                  </a:solidFill>
                  <a:effectLst/>
                  <a:uFillTx/>
                  <a:latin typeface="Times New Roman"/>
                  <a:ea typeface="Arial"/>
                </a:rPr>
                <a:t>20 m</a:t>
              </a:r>
              <a:endParaRPr b="0" lang="en-US" sz="1600" strike="noStrike" u="none">
                <a:solidFill>
                  <a:srgbClr val="ffff00"/>
                </a:solidFill>
                <a:effectLst/>
                <a:uFillTx/>
                <a:latin typeface="Times New Roman"/>
              </a:endParaRPr>
            </a:p>
          </p:txBody>
        </p:sp>
        <p:sp>
          <p:nvSpPr>
            <p:cNvPr id="448" name="Text Box 22"/>
            <p:cNvSpPr/>
            <p:nvPr/>
          </p:nvSpPr>
          <p:spPr>
            <a:xfrm>
              <a:off x="6734160" y="3858840"/>
              <a:ext cx="649080" cy="337680"/>
            </a:xfrm>
            <a:prstGeom prst="rect">
              <a:avLst/>
            </a:prstGeom>
            <a:noFill/>
            <a:ln w="0">
              <a:noFill/>
            </a:ln>
          </p:spPr>
          <p:style>
            <a:lnRef idx="0"/>
            <a:fillRef idx="0"/>
            <a:effectRef idx="0"/>
            <a:fontRef idx="minor"/>
          </p:style>
          <p:txBody>
            <a:bodyPr lIns="90000" rIns="90000" tIns="46800" bIns="46800" anchor="t">
              <a:spAutoFit/>
            </a:bodyPr>
            <a:p>
              <a:pPr algn="ct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00"/>
                  </a:solidFill>
                  <a:effectLst/>
                  <a:uFillTx/>
                  <a:latin typeface="Times New Roman"/>
                  <a:ea typeface="Arial"/>
                </a:rPr>
                <a:t>25 m</a:t>
              </a:r>
              <a:endParaRPr b="0" lang="en-US" sz="1600" strike="noStrike" u="none">
                <a:solidFill>
                  <a:srgbClr val="ffff00"/>
                </a:solidFill>
                <a:effectLst/>
                <a:uFillTx/>
                <a:latin typeface="Times New Roman"/>
              </a:endParaRPr>
            </a:p>
          </p:txBody>
        </p:sp>
        <p:sp>
          <p:nvSpPr>
            <p:cNvPr id="449" name="Text Box 23"/>
            <p:cNvSpPr/>
            <p:nvPr/>
          </p:nvSpPr>
          <p:spPr>
            <a:xfrm>
              <a:off x="8029800" y="3858840"/>
              <a:ext cx="649080" cy="337680"/>
            </a:xfrm>
            <a:prstGeom prst="rect">
              <a:avLst/>
            </a:prstGeom>
            <a:noFill/>
            <a:ln w="0">
              <a:noFill/>
            </a:ln>
          </p:spPr>
          <p:style>
            <a:lnRef idx="0"/>
            <a:fillRef idx="0"/>
            <a:effectRef idx="0"/>
            <a:fontRef idx="minor"/>
          </p:style>
          <p:txBody>
            <a:bodyPr lIns="90000" rIns="90000" tIns="46800" bIns="46800" anchor="t">
              <a:spAutoFit/>
            </a:bodyPr>
            <a:p>
              <a:pPr algn="ct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00"/>
                  </a:solidFill>
                  <a:effectLst/>
                  <a:uFillTx/>
                  <a:latin typeface="Times New Roman"/>
                  <a:ea typeface="Arial"/>
                </a:rPr>
                <a:t>30 m</a:t>
              </a:r>
              <a:endParaRPr b="0" lang="en-US" sz="1600" strike="noStrike" u="none">
                <a:solidFill>
                  <a:srgbClr val="ffff00"/>
                </a:solidFill>
                <a:effectLst/>
                <a:uFillTx/>
                <a:latin typeface="Times New Roman"/>
              </a:endParaRPr>
            </a:p>
          </p:txBody>
        </p:sp>
        <p:sp>
          <p:nvSpPr>
            <p:cNvPr id="450" name="Text Box 24"/>
            <p:cNvSpPr/>
            <p:nvPr/>
          </p:nvSpPr>
          <p:spPr>
            <a:xfrm>
              <a:off x="395280" y="3858840"/>
              <a:ext cx="865080" cy="337680"/>
            </a:xfrm>
            <a:prstGeom prst="rect">
              <a:avLst/>
            </a:prstGeom>
            <a:noFill/>
            <a:ln w="0">
              <a:noFill/>
            </a:ln>
          </p:spPr>
          <p:style>
            <a:lnRef idx="0"/>
            <a:fillRef idx="0"/>
            <a:effectRef idx="0"/>
            <a:fontRef idx="minor"/>
          </p:style>
          <p:txBody>
            <a:bodyPr lIns="90000" rIns="90000" tIns="46800" bIns="46800" anchor="t">
              <a:spAutoFit/>
            </a:bodyPr>
            <a:p>
              <a:pPr algn="ct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A" sz="1600" strike="noStrike" u="none">
                  <a:solidFill>
                    <a:srgbClr val="ffff00"/>
                  </a:solidFill>
                  <a:effectLst/>
                  <a:uFillTx/>
                  <a:latin typeface="Times New Roman"/>
                  <a:ea typeface="Arial"/>
                </a:rPr>
                <a:t>Départ</a:t>
              </a:r>
              <a:endParaRPr b="0" lang="en-US" sz="1600" strike="noStrike" u="none">
                <a:solidFill>
                  <a:srgbClr val="ffff00"/>
                </a:solidFill>
                <a:effectLst/>
                <a:uFillTx/>
                <a:latin typeface="Times New Roman"/>
              </a:endParaRPr>
            </a:p>
          </p:txBody>
        </p:sp>
      </p:grpSp>
      <p:sp>
        <p:nvSpPr>
          <p:cNvPr id="451" name="Line 25"/>
          <p:cNvSpPr/>
          <p:nvPr/>
        </p:nvSpPr>
        <p:spPr>
          <a:xfrm>
            <a:off x="755640" y="4437000"/>
            <a:ext cx="2449440" cy="0"/>
          </a:xfrm>
          <a:prstGeom prst="line">
            <a:avLst/>
          </a:prstGeom>
          <a:ln w="57240">
            <a:solidFill>
              <a:srgbClr val="3333cc"/>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52" name="Line 26"/>
          <p:cNvSpPr/>
          <p:nvPr/>
        </p:nvSpPr>
        <p:spPr>
          <a:xfrm>
            <a:off x="755640" y="4437000"/>
            <a:ext cx="3745080" cy="0"/>
          </a:xfrm>
          <a:prstGeom prst="line">
            <a:avLst/>
          </a:prstGeom>
          <a:ln w="57240">
            <a:solidFill>
              <a:srgbClr val="3333cc"/>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53" name="Line 27"/>
          <p:cNvSpPr/>
          <p:nvPr/>
        </p:nvSpPr>
        <p:spPr>
          <a:xfrm>
            <a:off x="755640" y="4437000"/>
            <a:ext cx="5040360" cy="0"/>
          </a:xfrm>
          <a:prstGeom prst="line">
            <a:avLst/>
          </a:prstGeom>
          <a:ln w="57240">
            <a:solidFill>
              <a:srgbClr val="ffffff"/>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54" name="Rectangle 9"/>
          <p:cNvSpPr/>
          <p:nvPr/>
        </p:nvSpPr>
        <p:spPr>
          <a:xfrm>
            <a:off x="0" y="0"/>
            <a:ext cx="184320" cy="461880"/>
          </a:xfrm>
          <a:prstGeom prst="rect">
            <a:avLst/>
          </a:prstGeom>
          <a:noFill/>
          <a:ln w="0">
            <a:noFill/>
          </a:ln>
        </p:spPr>
        <p:style>
          <a:lnRef idx="0"/>
          <a:fillRef idx="0"/>
          <a:effectRef idx="0"/>
          <a:fontRef idx="minor"/>
        </p:style>
        <p:txBody>
          <a:bodyPr wrap="none" lIns="90000" rIns="90000" tIns="46800" bIns="46800" anchor="ctr">
            <a:spAutoFit/>
          </a:bodyPr>
          <a:p>
            <a:endParaRPr b="0" lang="en-US" sz="2400" strike="noStrike" u="none">
              <a:solidFill>
                <a:srgbClr val="ffff00"/>
              </a:solidFill>
              <a:effectLst/>
              <a:uFillTx/>
              <a:latin typeface="Times New Roman"/>
            </a:endParaRPr>
          </a:p>
        </p:txBody>
      </p:sp>
      <p:sp>
        <p:nvSpPr>
          <p:cNvPr id="455" name="Rectangle 10"/>
          <p:cNvSpPr/>
          <p:nvPr/>
        </p:nvSpPr>
        <p:spPr>
          <a:xfrm>
            <a:off x="0" y="950760"/>
            <a:ext cx="184320" cy="37008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56" name="Rectangle 12"/>
          <p:cNvSpPr/>
          <p:nvPr/>
        </p:nvSpPr>
        <p:spPr>
          <a:xfrm>
            <a:off x="0" y="0"/>
            <a:ext cx="184320" cy="461880"/>
          </a:xfrm>
          <a:prstGeom prst="rect">
            <a:avLst/>
          </a:prstGeom>
          <a:noFill/>
          <a:ln w="0">
            <a:noFill/>
          </a:ln>
        </p:spPr>
        <p:style>
          <a:lnRef idx="0"/>
          <a:fillRef idx="0"/>
          <a:effectRef idx="0"/>
          <a:fontRef idx="minor"/>
        </p:style>
        <p:txBody>
          <a:bodyPr wrap="none" lIns="90000" rIns="90000" tIns="46800" bIns="46800" anchor="ctr">
            <a:spAutoFit/>
          </a:bodyPr>
          <a:p>
            <a:endParaRPr b="0" lang="en-US" sz="2400" strike="noStrike" u="none">
              <a:solidFill>
                <a:srgbClr val="ffff00"/>
              </a:solidFill>
              <a:effectLst/>
              <a:uFillTx/>
              <a:latin typeface="Times New Roman"/>
            </a:endParaRPr>
          </a:p>
        </p:txBody>
      </p:sp>
      <p:sp>
        <p:nvSpPr>
          <p:cNvPr id="457" name="Rectangle 13"/>
          <p:cNvSpPr/>
          <p:nvPr/>
        </p:nvSpPr>
        <p:spPr>
          <a:xfrm>
            <a:off x="0" y="1150920"/>
            <a:ext cx="184320" cy="37008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58" name="Rectangle 15"/>
          <p:cNvSpPr/>
          <p:nvPr/>
        </p:nvSpPr>
        <p:spPr>
          <a:xfrm>
            <a:off x="0" y="0"/>
            <a:ext cx="184320" cy="461880"/>
          </a:xfrm>
          <a:prstGeom prst="rect">
            <a:avLst/>
          </a:prstGeom>
          <a:noFill/>
          <a:ln w="0">
            <a:noFill/>
          </a:ln>
        </p:spPr>
        <p:style>
          <a:lnRef idx="0"/>
          <a:fillRef idx="0"/>
          <a:effectRef idx="0"/>
          <a:fontRef idx="minor"/>
        </p:style>
        <p:txBody>
          <a:bodyPr wrap="none" lIns="90000" rIns="90000" tIns="46800" bIns="46800" anchor="ctr">
            <a:spAutoFit/>
          </a:bodyPr>
          <a:p>
            <a:endParaRPr b="0" lang="en-US" sz="2400" strike="noStrike" u="none">
              <a:solidFill>
                <a:srgbClr val="ffff00"/>
              </a:solidFill>
              <a:effectLst/>
              <a:uFillTx/>
              <a:latin typeface="Times New Roman"/>
            </a:endParaRPr>
          </a:p>
        </p:txBody>
      </p:sp>
      <p:sp>
        <p:nvSpPr>
          <p:cNvPr id="459" name="Rectangle 16"/>
          <p:cNvSpPr/>
          <p:nvPr/>
        </p:nvSpPr>
        <p:spPr>
          <a:xfrm>
            <a:off x="0" y="950760"/>
            <a:ext cx="184320" cy="37008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60" name="Rectangle 18"/>
          <p:cNvSpPr/>
          <p:nvPr/>
        </p:nvSpPr>
        <p:spPr>
          <a:xfrm>
            <a:off x="0" y="0"/>
            <a:ext cx="184320" cy="461880"/>
          </a:xfrm>
          <a:prstGeom prst="rect">
            <a:avLst/>
          </a:prstGeom>
          <a:noFill/>
          <a:ln w="0">
            <a:noFill/>
          </a:ln>
        </p:spPr>
        <p:style>
          <a:lnRef idx="0"/>
          <a:fillRef idx="0"/>
          <a:effectRef idx="0"/>
          <a:fontRef idx="minor"/>
        </p:style>
        <p:txBody>
          <a:bodyPr wrap="none" lIns="90000" rIns="90000" tIns="46800" bIns="46800" anchor="ctr">
            <a:spAutoFit/>
          </a:bodyPr>
          <a:p>
            <a:endParaRPr b="0" lang="en-US" sz="2400" strike="noStrike" u="none">
              <a:solidFill>
                <a:srgbClr val="ffff00"/>
              </a:solidFill>
              <a:effectLst/>
              <a:uFillTx/>
              <a:latin typeface="Times New Roman"/>
            </a:endParaRPr>
          </a:p>
        </p:txBody>
      </p:sp>
      <p:sp>
        <p:nvSpPr>
          <p:cNvPr id="461" name="Rectangle 19"/>
          <p:cNvSpPr/>
          <p:nvPr/>
        </p:nvSpPr>
        <p:spPr>
          <a:xfrm>
            <a:off x="0" y="950760"/>
            <a:ext cx="184320" cy="37008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62" name="Rectangle 21"/>
          <p:cNvSpPr/>
          <p:nvPr/>
        </p:nvSpPr>
        <p:spPr>
          <a:xfrm>
            <a:off x="0" y="0"/>
            <a:ext cx="184320" cy="461880"/>
          </a:xfrm>
          <a:prstGeom prst="rect">
            <a:avLst/>
          </a:prstGeom>
          <a:noFill/>
          <a:ln w="0">
            <a:noFill/>
          </a:ln>
        </p:spPr>
        <p:style>
          <a:lnRef idx="0"/>
          <a:fillRef idx="0"/>
          <a:effectRef idx="0"/>
          <a:fontRef idx="minor"/>
        </p:style>
        <p:txBody>
          <a:bodyPr wrap="none" lIns="90000" rIns="90000" tIns="46800" bIns="46800" anchor="ctr">
            <a:spAutoFit/>
          </a:bodyPr>
          <a:p>
            <a:endParaRPr b="0" lang="en-US" sz="2400" strike="noStrike" u="none">
              <a:solidFill>
                <a:srgbClr val="ffff00"/>
              </a:solidFill>
              <a:effectLst/>
              <a:uFillTx/>
              <a:latin typeface="Times New Roman"/>
            </a:endParaRPr>
          </a:p>
        </p:txBody>
      </p:sp>
      <p:sp>
        <p:nvSpPr>
          <p:cNvPr id="463" name="Rectangle 22"/>
          <p:cNvSpPr/>
          <p:nvPr/>
        </p:nvSpPr>
        <p:spPr>
          <a:xfrm>
            <a:off x="0" y="950760"/>
            <a:ext cx="184320" cy="37008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64" name="Rectangle 24"/>
          <p:cNvSpPr/>
          <p:nvPr/>
        </p:nvSpPr>
        <p:spPr>
          <a:xfrm>
            <a:off x="0" y="0"/>
            <a:ext cx="184320" cy="461880"/>
          </a:xfrm>
          <a:prstGeom prst="rect">
            <a:avLst/>
          </a:prstGeom>
          <a:noFill/>
          <a:ln w="0">
            <a:noFill/>
          </a:ln>
        </p:spPr>
        <p:style>
          <a:lnRef idx="0"/>
          <a:fillRef idx="0"/>
          <a:effectRef idx="0"/>
          <a:fontRef idx="minor"/>
        </p:style>
        <p:txBody>
          <a:bodyPr wrap="none" lIns="90000" rIns="90000" tIns="46800" bIns="46800" anchor="ctr">
            <a:spAutoFit/>
          </a:bodyPr>
          <a:p>
            <a:endParaRPr b="0" lang="en-US" sz="2400" strike="noStrike" u="none">
              <a:solidFill>
                <a:srgbClr val="ffff00"/>
              </a:solidFill>
              <a:effectLst/>
              <a:uFillTx/>
              <a:latin typeface="Times New Roman"/>
            </a:endParaRPr>
          </a:p>
        </p:txBody>
      </p:sp>
      <p:sp>
        <p:nvSpPr>
          <p:cNvPr id="465" name="Rectangle 25"/>
          <p:cNvSpPr/>
          <p:nvPr/>
        </p:nvSpPr>
        <p:spPr>
          <a:xfrm>
            <a:off x="0" y="1084320"/>
            <a:ext cx="184320" cy="36972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66" name="Rectangle 27"/>
          <p:cNvSpPr/>
          <p:nvPr/>
        </p:nvSpPr>
        <p:spPr>
          <a:xfrm>
            <a:off x="0" y="0"/>
            <a:ext cx="184320" cy="461880"/>
          </a:xfrm>
          <a:prstGeom prst="rect">
            <a:avLst/>
          </a:prstGeom>
          <a:noFill/>
          <a:ln w="0">
            <a:noFill/>
          </a:ln>
        </p:spPr>
        <p:style>
          <a:lnRef idx="0"/>
          <a:fillRef idx="0"/>
          <a:effectRef idx="0"/>
          <a:fontRef idx="minor"/>
        </p:style>
        <p:txBody>
          <a:bodyPr wrap="none" lIns="90000" rIns="90000" tIns="46800" bIns="46800" anchor="ctr">
            <a:spAutoFit/>
          </a:bodyPr>
          <a:p>
            <a:endParaRPr b="0" lang="en-US" sz="2400" strike="noStrike" u="none">
              <a:solidFill>
                <a:srgbClr val="ffff00"/>
              </a:solidFill>
              <a:effectLst/>
              <a:uFillTx/>
              <a:latin typeface="Times New Roman"/>
            </a:endParaRPr>
          </a:p>
        </p:txBody>
      </p:sp>
      <p:sp>
        <p:nvSpPr>
          <p:cNvPr id="467" name="Rectangle 28"/>
          <p:cNvSpPr/>
          <p:nvPr/>
        </p:nvSpPr>
        <p:spPr>
          <a:xfrm>
            <a:off x="0" y="817560"/>
            <a:ext cx="184320" cy="36972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68" name="Rectangle 38"/>
          <p:cNvSpPr/>
          <p:nvPr/>
        </p:nvSpPr>
        <p:spPr>
          <a:xfrm>
            <a:off x="-1052640" y="5205240"/>
            <a:ext cx="9910800" cy="155556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 Courir  la plus grande distance possible (m) en 30s</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 Indice de la capacité lactique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	</a:t>
            </a:r>
            <a:r>
              <a:rPr b="0" lang="fr-FR" sz="2400" strike="noStrike" u="sng">
                <a:solidFill>
                  <a:srgbClr val="ffff00"/>
                </a:solidFill>
                <a:effectLst/>
                <a:uFillTx/>
                <a:latin typeface="Calibri"/>
                <a:ea typeface="Calibri"/>
              </a:rPr>
              <a:t>performance moyenne sur 6 x 30 s</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	</a:t>
            </a:r>
            <a:r>
              <a:rPr b="0" lang="fr-FR" sz="2400" strike="noStrike" u="none">
                <a:solidFill>
                  <a:srgbClr val="ffff00"/>
                </a:solidFill>
                <a:effectLst/>
                <a:uFillTx/>
                <a:latin typeface="Calibri"/>
                <a:ea typeface="Calibri"/>
              </a:rPr>
              <a:t>meilleure performance sur 30 s</a:t>
            </a:r>
            <a:endParaRPr b="0" lang="en-US" sz="2400" strike="noStrike" u="none">
              <a:solidFill>
                <a:srgbClr val="ffff00"/>
              </a:solidFill>
              <a:effectLst/>
              <a:uFillTx/>
              <a:latin typeface="Times New Roman"/>
            </a:endParaRPr>
          </a:p>
        </p:txBody>
      </p:sp>
      <p:sp>
        <p:nvSpPr>
          <p:cNvPr id="469" name="Rectangle 39"/>
          <p:cNvSpPr/>
          <p:nvPr/>
        </p:nvSpPr>
        <p:spPr>
          <a:xfrm>
            <a:off x="5652720" y="5986440"/>
            <a:ext cx="2937600" cy="45828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x 100 =  .....%</a:t>
            </a:r>
            <a:endParaRPr b="0" lang="en-US" sz="2400" strike="noStrike" u="none">
              <a:solidFill>
                <a:srgbClr val="ffff00"/>
              </a:solidFill>
              <a:effectLst/>
              <a:uFillTx/>
              <a:latin typeface="Times New Roman"/>
            </a:endParaRPr>
          </a:p>
        </p:txBody>
      </p:sp>
    </p:spTree>
  </p:cSld>
  <p:timing>
    <p:tnLst>
      <p:par>
        <p:cTn id="980" dur="indefinite" restart="never" nodeType="tmRoot">
          <p:childTnLst>
            <p:seq>
              <p:cTn id="981" dur="indefinite" nodeType="mainSeq">
                <p:childTnLst>
                  <p:par>
                    <p:cTn id="982" nodeType="clickEffect" fill="hold">
                      <p:stCondLst>
                        <p:cond delay="indefinite"/>
                      </p:stCondLst>
                      <p:childTnLst>
                        <p:par>
                          <p:cTn id="983" nodeType="withEffect" fill="hold">
                            <p:stCondLst>
                              <p:cond delay="0"/>
                            </p:stCondLst>
                            <p:childTnLst>
                              <p:par>
                                <p:cTn id="984" nodeType="clickEffect" fill="hold" presetClass="entr" presetID="22" presetSubtype="8">
                                  <p:stCondLst>
                                    <p:cond delay="0"/>
                                  </p:stCondLst>
                                  <p:childTnLst>
                                    <p:set>
                                      <p:cBhvr>
                                        <p:cTn id="985" dur="1" fill="hold">
                                          <p:stCondLst>
                                            <p:cond delay="0"/>
                                          </p:stCondLst>
                                        </p:cTn>
                                        <p:tgtEl>
                                          <p:spTgt spid="434"/>
                                        </p:tgtEl>
                                        <p:attrNameLst>
                                          <p:attrName>style.visibility</p:attrName>
                                        </p:attrNameLst>
                                      </p:cBhvr>
                                      <p:to>
                                        <p:strVal val="visible"/>
                                      </p:to>
                                    </p:set>
                                    <p:animEffect filter="wipe(left)" transition="in">
                                      <p:cBhvr additive="repl">
                                        <p:cTn id="986" dur="1000"/>
                                        <p:tgtEl>
                                          <p:spTgt spid="434"/>
                                        </p:tgtEl>
                                      </p:cBhvr>
                                    </p:animEffect>
                                  </p:childTnLst>
                                </p:cTn>
                              </p:par>
                            </p:childTnLst>
                          </p:cTn>
                        </p:par>
                        <p:par>
                          <p:cTn id="987" nodeType="afterEffect" fill="hold">
                            <p:stCondLst>
                              <p:cond delay="1000"/>
                            </p:stCondLst>
                            <p:childTnLst>
                              <p:par>
                                <p:cTn id="988" nodeType="afterEffect" fill="hold" presetClass="exit" presetID="22" presetSubtype="2">
                                  <p:stCondLst>
                                    <p:cond delay="0"/>
                                  </p:stCondLst>
                                  <p:childTnLst>
                                    <p:animEffect filter="wipe(right)" transition="out">
                                      <p:cBhvr additive="repl">
                                        <p:cTn id="989" dur="1000"/>
                                        <p:tgtEl>
                                          <p:spTgt spid="434"/>
                                        </p:tgtEl>
                                      </p:cBhvr>
                                    </p:animEffect>
                                    <p:set>
                                      <p:cBhvr>
                                        <p:cTn id="990" dur="1" fill="hold">
                                          <p:stCondLst>
                                            <p:cond delay="999"/>
                                          </p:stCondLst>
                                        </p:cTn>
                                        <p:tgtEl>
                                          <p:spTgt spid="434"/>
                                        </p:tgtEl>
                                        <p:attrNameLst>
                                          <p:attrName>style.visibility</p:attrName>
                                        </p:attrNameLst>
                                      </p:cBhvr>
                                      <p:to>
                                        <p:strVal val="hidden"/>
                                      </p:to>
                                    </p:set>
                                  </p:childTnLst>
                                </p:cTn>
                              </p:par>
                            </p:childTnLst>
                          </p:cTn>
                        </p:par>
                        <p:par>
                          <p:cTn id="991" nodeType="afterEffect" fill="hold">
                            <p:stCondLst>
                              <p:cond delay="2000"/>
                            </p:stCondLst>
                            <p:childTnLst>
                              <p:par>
                                <p:cTn id="992" nodeType="afterEffect" fill="hold" presetClass="entr" presetID="22" presetSubtype="8">
                                  <p:stCondLst>
                                    <p:cond delay="0"/>
                                  </p:stCondLst>
                                  <p:childTnLst>
                                    <p:set>
                                      <p:cBhvr>
                                        <p:cTn id="993" dur="1" fill="hold">
                                          <p:stCondLst>
                                            <p:cond delay="0"/>
                                          </p:stCondLst>
                                        </p:cTn>
                                        <p:tgtEl>
                                          <p:spTgt spid="451"/>
                                        </p:tgtEl>
                                        <p:attrNameLst>
                                          <p:attrName>style.visibility</p:attrName>
                                        </p:attrNameLst>
                                      </p:cBhvr>
                                      <p:to>
                                        <p:strVal val="visible"/>
                                      </p:to>
                                    </p:set>
                                    <p:animEffect filter="wipe(left)" transition="in">
                                      <p:cBhvr additive="repl">
                                        <p:cTn id="994" dur="1000"/>
                                        <p:tgtEl>
                                          <p:spTgt spid="451"/>
                                        </p:tgtEl>
                                      </p:cBhvr>
                                    </p:animEffect>
                                  </p:childTnLst>
                                </p:cTn>
                              </p:par>
                            </p:childTnLst>
                          </p:cTn>
                        </p:par>
                        <p:par>
                          <p:cTn id="995" nodeType="afterEffect" fill="hold">
                            <p:stCondLst>
                              <p:cond delay="3000"/>
                            </p:stCondLst>
                            <p:childTnLst>
                              <p:par>
                                <p:cTn id="996" nodeType="afterEffect" fill="hold" presetClass="exit" presetID="22" presetSubtype="2">
                                  <p:stCondLst>
                                    <p:cond delay="0"/>
                                  </p:stCondLst>
                                  <p:childTnLst>
                                    <p:animEffect filter="wipe(right)" transition="out">
                                      <p:cBhvr additive="repl">
                                        <p:cTn id="997" dur="1000"/>
                                        <p:tgtEl>
                                          <p:spTgt spid="451"/>
                                        </p:tgtEl>
                                      </p:cBhvr>
                                    </p:animEffect>
                                    <p:set>
                                      <p:cBhvr>
                                        <p:cTn id="998" dur="1" fill="hold">
                                          <p:stCondLst>
                                            <p:cond delay="999"/>
                                          </p:stCondLst>
                                        </p:cTn>
                                        <p:tgtEl>
                                          <p:spTgt spid="451"/>
                                        </p:tgtEl>
                                        <p:attrNameLst>
                                          <p:attrName>style.visibility</p:attrName>
                                        </p:attrNameLst>
                                      </p:cBhvr>
                                      <p:to>
                                        <p:strVal val="hidden"/>
                                      </p:to>
                                    </p:set>
                                  </p:childTnLst>
                                </p:cTn>
                              </p:par>
                            </p:childTnLst>
                          </p:cTn>
                        </p:par>
                        <p:par>
                          <p:cTn id="999" nodeType="afterEffect" fill="hold">
                            <p:stCondLst>
                              <p:cond delay="4000"/>
                            </p:stCondLst>
                            <p:childTnLst>
                              <p:par>
                                <p:cTn id="1000" nodeType="afterEffect" fill="hold" presetClass="entr" presetID="22" presetSubtype="8">
                                  <p:stCondLst>
                                    <p:cond delay="0"/>
                                  </p:stCondLst>
                                  <p:childTnLst>
                                    <p:set>
                                      <p:cBhvr>
                                        <p:cTn id="1001" dur="1" fill="hold">
                                          <p:stCondLst>
                                            <p:cond delay="0"/>
                                          </p:stCondLst>
                                        </p:cTn>
                                        <p:tgtEl>
                                          <p:spTgt spid="452"/>
                                        </p:tgtEl>
                                        <p:attrNameLst>
                                          <p:attrName>style.visibility</p:attrName>
                                        </p:attrNameLst>
                                      </p:cBhvr>
                                      <p:to>
                                        <p:strVal val="visible"/>
                                      </p:to>
                                    </p:set>
                                    <p:animEffect filter="wipe(left)" transition="in">
                                      <p:cBhvr additive="repl">
                                        <p:cTn id="1002" dur="1000"/>
                                        <p:tgtEl>
                                          <p:spTgt spid="452"/>
                                        </p:tgtEl>
                                      </p:cBhvr>
                                    </p:animEffect>
                                  </p:childTnLst>
                                </p:cTn>
                              </p:par>
                            </p:childTnLst>
                          </p:cTn>
                        </p:par>
                        <p:par>
                          <p:cTn id="1003" nodeType="afterEffect" fill="hold">
                            <p:stCondLst>
                              <p:cond delay="5000"/>
                            </p:stCondLst>
                            <p:childTnLst>
                              <p:par>
                                <p:cTn id="1004" nodeType="afterEffect" fill="hold" presetClass="exit" presetID="22" presetSubtype="2">
                                  <p:stCondLst>
                                    <p:cond delay="0"/>
                                  </p:stCondLst>
                                  <p:childTnLst>
                                    <p:animEffect filter="wipe(right)" transition="out">
                                      <p:cBhvr additive="repl">
                                        <p:cTn id="1005" dur="1000"/>
                                        <p:tgtEl>
                                          <p:spTgt spid="452"/>
                                        </p:tgtEl>
                                      </p:cBhvr>
                                    </p:animEffect>
                                    <p:set>
                                      <p:cBhvr>
                                        <p:cTn id="1006" dur="1" fill="hold">
                                          <p:stCondLst>
                                            <p:cond delay="999"/>
                                          </p:stCondLst>
                                        </p:cTn>
                                        <p:tgtEl>
                                          <p:spTgt spid="452"/>
                                        </p:tgtEl>
                                        <p:attrNameLst>
                                          <p:attrName>style.visibility</p:attrName>
                                        </p:attrNameLst>
                                      </p:cBhvr>
                                      <p:to>
                                        <p:strVal val="hidden"/>
                                      </p:to>
                                    </p:set>
                                  </p:childTnLst>
                                </p:cTn>
                              </p:par>
                            </p:childTnLst>
                          </p:cTn>
                        </p:par>
                        <p:par>
                          <p:cTn id="1007" nodeType="afterEffect" fill="hold">
                            <p:stCondLst>
                              <p:cond delay="6000"/>
                            </p:stCondLst>
                            <p:childTnLst>
                              <p:par>
                                <p:cTn id="1008" nodeType="afterEffect" fill="hold" presetClass="entr" presetID="22" presetSubtype="8">
                                  <p:stCondLst>
                                    <p:cond delay="0"/>
                                  </p:stCondLst>
                                  <p:childTnLst>
                                    <p:set>
                                      <p:cBhvr>
                                        <p:cTn id="1009" dur="1" fill="hold">
                                          <p:stCondLst>
                                            <p:cond delay="0"/>
                                          </p:stCondLst>
                                        </p:cTn>
                                        <p:tgtEl>
                                          <p:spTgt spid="453"/>
                                        </p:tgtEl>
                                        <p:attrNameLst>
                                          <p:attrName>style.visibility</p:attrName>
                                        </p:attrNameLst>
                                      </p:cBhvr>
                                      <p:to>
                                        <p:strVal val="visible"/>
                                      </p:to>
                                    </p:set>
                                    <p:animEffect filter="wipe(left)" transition="in">
                                      <p:cBhvr additive="repl">
                                        <p:cTn id="1010" dur="1000"/>
                                        <p:tgtEl>
                                          <p:spTgt spid="453"/>
                                        </p:tgtEl>
                                      </p:cBhvr>
                                    </p:animEffect>
                                  </p:childTnLst>
                                </p:cTn>
                              </p:par>
                            </p:childTnLst>
                          </p:cTn>
                        </p:par>
                        <p:par>
                          <p:cTn id="1011" nodeType="afterEffect" fill="hold">
                            <p:stCondLst>
                              <p:cond delay="7000"/>
                            </p:stCondLst>
                            <p:childTnLst>
                              <p:par>
                                <p:cTn id="1012" nodeType="afterEffect" fill="hold" presetClass="exit" presetID="22" presetSubtype="2">
                                  <p:stCondLst>
                                    <p:cond delay="0"/>
                                  </p:stCondLst>
                                  <p:childTnLst>
                                    <p:animEffect filter="wipe(right)" transition="out">
                                      <p:cBhvr additive="repl">
                                        <p:cTn id="1013" dur="1000"/>
                                        <p:tgtEl>
                                          <p:spTgt spid="453"/>
                                        </p:tgtEl>
                                      </p:cBhvr>
                                    </p:animEffect>
                                    <p:set>
                                      <p:cBhvr>
                                        <p:cTn id="1014" dur="1" fill="hold">
                                          <p:stCondLst>
                                            <p:cond delay="999"/>
                                          </p:stCondLst>
                                        </p:cTn>
                                        <p:tgtEl>
                                          <p:spTgt spid="45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0" name="MOV00929.MPG" descr=""/>
          <p:cNvPicPr/>
          <p:nvPr/>
        </p:nvPicPr>
        <p:blipFill>
          <a:blip r:embed="rId1"/>
          <a:stretch/>
        </p:blipFill>
        <p:spPr>
          <a:xfrm>
            <a:off x="1763640" y="115920"/>
            <a:ext cx="4394160" cy="3294000"/>
          </a:xfrm>
          <a:prstGeom prst="rect">
            <a:avLst/>
          </a:prstGeom>
          <a:noFill/>
          <a:ln w="9360">
            <a:solidFill>
              <a:srgbClr val="3333cc"/>
            </a:solidFill>
            <a:miter/>
          </a:ln>
        </p:spPr>
      </p:pic>
      <p:pic>
        <p:nvPicPr>
          <p:cNvPr id="471" name="MOV00930.MPG" descr=""/>
          <p:cNvPicPr/>
          <p:nvPr/>
        </p:nvPicPr>
        <p:blipFill>
          <a:blip r:embed="rId2"/>
          <a:stretch/>
        </p:blipFill>
        <p:spPr>
          <a:xfrm>
            <a:off x="1763640" y="3500280"/>
            <a:ext cx="4394160" cy="3292560"/>
          </a:xfrm>
          <a:prstGeom prst="rect">
            <a:avLst/>
          </a:prstGeom>
          <a:noFill/>
          <a:ln w="9360">
            <a:solidFill>
              <a:srgbClr val="3333cc"/>
            </a:solidFill>
            <a:miter/>
          </a:ln>
        </p:spPr>
      </p:pic>
    </p:spTree>
  </p:cSld>
  <p:timing>
    <p:tnLst>
      <p:par>
        <p:cTn id="1015" dur="indefinite" restart="never" nodeType="tmRoot">
          <p:childTnLst>
            <p:seq>
              <p:cTn id="1016" restart="whenNotActive" nodeType="interactiveSeq" fill="hold">
                <p:stCondLst>
                  <p:cond evt="onClick">
                    <p:tgtEl>
                      <p:spTgt spid="470"/>
                    </p:tgtEl>
                  </p:cond>
                </p:stCondLst>
                <p:childTnLst>
                  <p:par>
                    <p:cTn id="1017" nodeType="clickEffect" fill="hold">
                      <p:stCondLst>
                        <p:cond evt="onClick">
                          <p:tgtEl>
                            <p:spTgt spid="470"/>
                          </p:tgtEl>
                        </p:cond>
                      </p:stCondLst>
                      <p:childTnLst>
                        <p:par>
                          <p:cTn id="1018" nodeType="withEffect" fill="hold">
                            <p:stCondLst>
                              <p:cond delay="0"/>
                            </p:stCondLst>
                            <p:childTnLst>
                              <p:par>
                                <p:cTn id="1019" nodeType="clickEffect" fill="hold" presetClass="mediacall" presetID="2">
                                  <p:stCondLst>
                                    <p:cond delay="0"/>
                                  </p:stCondLst>
                                  <p:childTnLst>
                                    <p:cmd type="call" cmd="togglePause">
                                      <p:cBhvr>
                                        <p:cTn id="1020" dur="1" fill="hold"/>
                                        <p:tgtEl>
                                          <p:spTgt spid="470"/>
                                        </p:tgtEl>
                                      </p:cBhvr>
                                    </p:cmd>
                                  </p:childTnLst>
                                </p:cTn>
                              </p:par>
                            </p:childTnLst>
                          </p:cTn>
                        </p:par>
                      </p:childTnLst>
                    </p:cTn>
                  </p:par>
                </p:childTnLst>
              </p:cTn>
              <p:prevCondLst>
                <p:cond evt="onPrev">
                  <p:tgtEl>
                    <p:sldTgt/>
                  </p:tgtEl>
                </p:cond>
              </p:prevCondLst>
              <p:nextCondLst>
                <p:cond evt="onNext">
                  <p:tgtEl>
                    <p:sldTgt/>
                  </p:tgtEl>
                </p:cond>
              </p:nextCondLst>
            </p:seq>
            <p:seq>
              <p:cTn id="1021" restart="whenNotActive" nodeType="interactiveSeq" fill="hold">
                <p:stCondLst>
                  <p:cond evt="onClick">
                    <p:tgtEl>
                      <p:spTgt spid="471"/>
                    </p:tgtEl>
                  </p:cond>
                </p:stCondLst>
                <p:childTnLst>
                  <p:par>
                    <p:cTn id="1022" nodeType="clickEffect" fill="hold">
                      <p:stCondLst>
                        <p:cond evt="onClick">
                          <p:tgtEl>
                            <p:spTgt spid="471"/>
                          </p:tgtEl>
                        </p:cond>
                      </p:stCondLst>
                      <p:childTnLst>
                        <p:par>
                          <p:cTn id="1023" nodeType="withEffect" fill="hold">
                            <p:stCondLst>
                              <p:cond delay="0"/>
                            </p:stCondLst>
                            <p:childTnLst>
                              <p:par>
                                <p:cTn id="1024" nodeType="clickEffect" fill="hold" presetClass="mediacall" presetID="2">
                                  <p:stCondLst>
                                    <p:cond delay="0"/>
                                  </p:stCondLst>
                                  <p:childTnLst>
                                    <p:cmd type="call" cmd="togglePause">
                                      <p:cBhvr>
                                        <p:cTn id="1025" dur="1" fill="hold"/>
                                        <p:tgtEl>
                                          <p:spTgt spid="471"/>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ZoneTexte 1"/>
          <p:cNvSpPr/>
          <p:nvPr/>
        </p:nvSpPr>
        <p:spPr>
          <a:xfrm>
            <a:off x="-558360" y="2496960"/>
            <a:ext cx="1022472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Calibri"/>
                <a:ea typeface="Calibri"/>
              </a:rPr>
              <a:t>TESTS D’EVALUATION DE LA CAPACITE AEROBIE</a:t>
            </a:r>
            <a:endParaRPr b="0" lang="en-US" sz="3200" strike="noStrike" u="none">
              <a:solidFill>
                <a:srgbClr val="ffff00"/>
              </a:solidFill>
              <a:effectLst/>
              <a:uFillTx/>
              <a:latin typeface="Times New Roman"/>
            </a:endParaRPr>
          </a:p>
        </p:txBody>
      </p:sp>
    </p:spTree>
  </p:cSld>
  <p:transition spd="med">
    <p:zoom dir="out"/>
  </p:transition>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title"/>
          </p:nvPr>
        </p:nvSpPr>
        <p:spPr>
          <a:xfrm>
            <a:off x="2556000" y="115920"/>
            <a:ext cx="3022560" cy="752400"/>
          </a:xfrm>
          <a:prstGeom prst="rect">
            <a:avLst/>
          </a:prstGeom>
          <a:noFill/>
          <a:ln w="9360">
            <a:solidFill>
              <a:srgbClr val="ffff00"/>
            </a:solidFill>
            <a:miter/>
          </a:ln>
        </p:spPr>
        <p:txBody>
          <a:bodyPr lIns="91440" rIns="91440" tIns="45720" bIns="4572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500" strike="noStrike" u="none">
                <a:solidFill>
                  <a:srgbClr val="ffff00"/>
                </a:solidFill>
                <a:effectLst/>
                <a:uFillTx/>
                <a:latin typeface="Bookman Old Style"/>
              </a:rPr>
              <a:t> </a:t>
            </a:r>
            <a:br>
              <a:rPr sz="2500"/>
            </a:br>
            <a:r>
              <a:rPr b="1" lang="fr-FR" sz="2500" strike="noStrike" u="none">
                <a:solidFill>
                  <a:srgbClr val="ffff00"/>
                </a:solidFill>
                <a:effectLst/>
                <a:uFillTx/>
                <a:latin typeface="Bookman Old Style"/>
              </a:rPr>
              <a:t>LES TESTS </a:t>
            </a:r>
            <a:br>
              <a:rPr sz="2500"/>
            </a:br>
            <a:endParaRPr b="0" lang="en-US" sz="2500" strike="noStrike" u="none">
              <a:solidFill>
                <a:srgbClr val="ffffff"/>
              </a:solidFill>
              <a:effectLst/>
              <a:uFillTx/>
              <a:latin typeface="Times New Roman"/>
            </a:endParaRPr>
          </a:p>
        </p:txBody>
      </p:sp>
      <p:sp>
        <p:nvSpPr>
          <p:cNvPr id="474" name="PlaceHolder 2"/>
          <p:cNvSpPr>
            <a:spLocks noGrp="1"/>
          </p:cNvSpPr>
          <p:nvPr>
            <p:ph/>
          </p:nvPr>
        </p:nvSpPr>
        <p:spPr>
          <a:xfrm>
            <a:off x="151920" y="980640"/>
            <a:ext cx="3915000" cy="5761080"/>
          </a:xfrm>
          <a:prstGeom prst="rect">
            <a:avLst/>
          </a:prstGeom>
          <a:noFill/>
          <a:ln w="9360">
            <a:solidFill>
              <a:srgbClr val="ffffff"/>
            </a:solidFill>
            <a:miter/>
          </a:ln>
        </p:spPr>
        <p:txBody>
          <a:bodyPr lIns="91440" rIns="91440" tIns="45720" bIns="45720" anchor="t">
            <a:normAutofit/>
          </a:bodyPr>
          <a:p>
            <a:pPr marL="343080" indent="-343080">
              <a:lnSpc>
                <a:spcPct val="100000"/>
              </a:lnSpc>
              <a:spcBef>
                <a:spcPts val="700"/>
              </a:spcBef>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RECTANGULAIRES</a:t>
            </a:r>
            <a:endParaRPr b="0" lang="en-US" sz="2800" strike="noStrike" u="none">
              <a:solidFill>
                <a:srgbClr val="ffff00"/>
              </a:solidFill>
              <a:effectLst/>
              <a:uFillTx/>
              <a:latin typeface="Times New Roman"/>
            </a:endParaRPr>
          </a:p>
          <a:p>
            <a:pPr marL="343080" indent="0">
              <a:lnSpc>
                <a:spcPct val="10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marL="343080" indent="0">
              <a:lnSpc>
                <a:spcPct val="10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p:txBody>
      </p:sp>
      <p:grpSp>
        <p:nvGrpSpPr>
          <p:cNvPr id="475" name="Group 4"/>
          <p:cNvGrpSpPr/>
          <p:nvPr/>
        </p:nvGrpSpPr>
        <p:grpSpPr>
          <a:xfrm>
            <a:off x="539640" y="1484280"/>
            <a:ext cx="2895480" cy="380880"/>
            <a:chOff x="539640" y="1484280"/>
            <a:chExt cx="2895480" cy="380880"/>
          </a:xfrm>
        </p:grpSpPr>
        <p:sp>
          <p:nvSpPr>
            <p:cNvPr id="476" name="Line 5"/>
            <p:cNvSpPr/>
            <p:nvPr/>
          </p:nvSpPr>
          <p:spPr>
            <a:xfrm>
              <a:off x="539640" y="1865160"/>
              <a:ext cx="457200" cy="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77" name="Line 6"/>
            <p:cNvSpPr/>
            <p:nvPr/>
          </p:nvSpPr>
          <p:spPr>
            <a:xfrm flipV="1">
              <a:off x="996840" y="1484280"/>
              <a:ext cx="0" cy="38088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78" name="Line 7"/>
            <p:cNvSpPr/>
            <p:nvPr/>
          </p:nvSpPr>
          <p:spPr>
            <a:xfrm>
              <a:off x="996840" y="1484280"/>
              <a:ext cx="1752480" cy="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79" name="Line 8"/>
            <p:cNvSpPr/>
            <p:nvPr/>
          </p:nvSpPr>
          <p:spPr>
            <a:xfrm>
              <a:off x="2749320" y="1484280"/>
              <a:ext cx="0" cy="38088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80" name="Line 9"/>
            <p:cNvSpPr/>
            <p:nvPr/>
          </p:nvSpPr>
          <p:spPr>
            <a:xfrm>
              <a:off x="2749320" y="1865160"/>
              <a:ext cx="685800" cy="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grpSp>
      <p:sp>
        <p:nvSpPr>
          <p:cNvPr id="481" name="Text Box 10"/>
          <p:cNvSpPr/>
          <p:nvPr/>
        </p:nvSpPr>
        <p:spPr>
          <a:xfrm>
            <a:off x="152280" y="2133720"/>
            <a:ext cx="365760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  TRIANGULAIRES</a:t>
            </a:r>
            <a:endParaRPr b="0" lang="en-US" sz="2800" strike="noStrike" u="none">
              <a:solidFill>
                <a:srgbClr val="ffff00"/>
              </a:solidFill>
              <a:effectLst/>
              <a:uFillTx/>
              <a:latin typeface="Times New Roman"/>
            </a:endParaRPr>
          </a:p>
        </p:txBody>
      </p:sp>
      <p:sp>
        <p:nvSpPr>
          <p:cNvPr id="482" name="Text Box 12"/>
          <p:cNvSpPr/>
          <p:nvPr/>
        </p:nvSpPr>
        <p:spPr>
          <a:xfrm>
            <a:off x="780120" y="2708280"/>
            <a:ext cx="14065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CONTINUS</a:t>
            </a:r>
            <a:endParaRPr b="0" lang="en-US" sz="2000" strike="noStrike" u="none">
              <a:solidFill>
                <a:srgbClr val="ffff00"/>
              </a:solidFill>
              <a:effectLst/>
              <a:uFillTx/>
              <a:latin typeface="Times New Roman"/>
            </a:endParaRPr>
          </a:p>
        </p:txBody>
      </p:sp>
      <p:grpSp>
        <p:nvGrpSpPr>
          <p:cNvPr id="483" name="Group 13"/>
          <p:cNvGrpSpPr/>
          <p:nvPr/>
        </p:nvGrpSpPr>
        <p:grpSpPr>
          <a:xfrm>
            <a:off x="3081240" y="2189160"/>
            <a:ext cx="609480" cy="457200"/>
            <a:chOff x="3081240" y="2189160"/>
            <a:chExt cx="609480" cy="457200"/>
          </a:xfrm>
        </p:grpSpPr>
        <p:sp>
          <p:nvSpPr>
            <p:cNvPr id="484" name="Line 14"/>
            <p:cNvSpPr/>
            <p:nvPr/>
          </p:nvSpPr>
          <p:spPr>
            <a:xfrm>
              <a:off x="3081240" y="2646360"/>
              <a:ext cx="152280" cy="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85" name="Line 15"/>
            <p:cNvSpPr/>
            <p:nvPr/>
          </p:nvSpPr>
          <p:spPr>
            <a:xfrm flipV="1">
              <a:off x="3233520" y="2493720"/>
              <a:ext cx="0" cy="15228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86" name="Line 16"/>
            <p:cNvSpPr/>
            <p:nvPr/>
          </p:nvSpPr>
          <p:spPr>
            <a:xfrm>
              <a:off x="3233520" y="2494080"/>
              <a:ext cx="152640" cy="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87" name="Line 17"/>
            <p:cNvSpPr/>
            <p:nvPr/>
          </p:nvSpPr>
          <p:spPr>
            <a:xfrm flipV="1">
              <a:off x="3386160" y="2341440"/>
              <a:ext cx="0" cy="15228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88" name="Line 18"/>
            <p:cNvSpPr/>
            <p:nvPr/>
          </p:nvSpPr>
          <p:spPr>
            <a:xfrm>
              <a:off x="3386160" y="2341800"/>
              <a:ext cx="152280" cy="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89" name="Line 19"/>
            <p:cNvSpPr/>
            <p:nvPr/>
          </p:nvSpPr>
          <p:spPr>
            <a:xfrm flipV="1">
              <a:off x="3538440" y="2189160"/>
              <a:ext cx="0" cy="15264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90" name="Line 20"/>
            <p:cNvSpPr/>
            <p:nvPr/>
          </p:nvSpPr>
          <p:spPr>
            <a:xfrm>
              <a:off x="3538440" y="2189160"/>
              <a:ext cx="152280" cy="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grpSp>
      <p:sp>
        <p:nvSpPr>
          <p:cNvPr id="491" name="Text Box 21"/>
          <p:cNvSpPr/>
          <p:nvPr/>
        </p:nvSpPr>
        <p:spPr>
          <a:xfrm>
            <a:off x="708840" y="4430880"/>
            <a:ext cx="196992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INTERMITTENTS</a:t>
            </a:r>
            <a:endParaRPr b="0" lang="en-US" sz="1800" strike="noStrike" u="none">
              <a:solidFill>
                <a:srgbClr val="ffff00"/>
              </a:solidFill>
              <a:effectLst/>
              <a:uFillTx/>
              <a:latin typeface="Times New Roman"/>
            </a:endParaRPr>
          </a:p>
        </p:txBody>
      </p:sp>
      <p:sp>
        <p:nvSpPr>
          <p:cNvPr id="492" name="Rectangle 22"/>
          <p:cNvSpPr/>
          <p:nvPr/>
        </p:nvSpPr>
        <p:spPr>
          <a:xfrm>
            <a:off x="3098880" y="4989600"/>
            <a:ext cx="152280" cy="304560"/>
          </a:xfrm>
          <a:prstGeom prst="rect">
            <a:avLst/>
          </a:prstGeom>
          <a:gradFill rotWithShape="0">
            <a:gsLst>
              <a:gs pos="0">
                <a:srgbClr val="ffff00"/>
              </a:gs>
              <a:gs pos="100000">
                <a:srgbClr val="494900"/>
              </a:gs>
            </a:gsLst>
            <a:lin ang="0"/>
          </a:gra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93" name="Line 23"/>
          <p:cNvSpPr/>
          <p:nvPr/>
        </p:nvSpPr>
        <p:spPr>
          <a:xfrm>
            <a:off x="2973240" y="5294160"/>
            <a:ext cx="1016280" cy="0"/>
          </a:xfrm>
          <a:prstGeom prst="line">
            <a:avLst/>
          </a:prstGeom>
          <a:ln w="9360">
            <a:solidFill>
              <a:srgbClr val="00cc99"/>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94" name="Rectangle 24"/>
          <p:cNvSpPr/>
          <p:nvPr/>
        </p:nvSpPr>
        <p:spPr>
          <a:xfrm>
            <a:off x="2897280" y="5141880"/>
            <a:ext cx="152280" cy="152280"/>
          </a:xfrm>
          <a:prstGeom prst="rect">
            <a:avLst/>
          </a:prstGeom>
          <a:gradFill rotWithShape="0">
            <a:gsLst>
              <a:gs pos="0">
                <a:srgbClr val="ffff00"/>
              </a:gs>
              <a:gs pos="100000">
                <a:srgbClr val="494900"/>
              </a:gs>
            </a:gsLst>
            <a:lin ang="0"/>
          </a:gra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95" name="Rectangle 25"/>
          <p:cNvSpPr/>
          <p:nvPr/>
        </p:nvSpPr>
        <p:spPr>
          <a:xfrm>
            <a:off x="3314880" y="4836960"/>
            <a:ext cx="152280" cy="457200"/>
          </a:xfrm>
          <a:prstGeom prst="rect">
            <a:avLst/>
          </a:prstGeom>
          <a:gradFill rotWithShape="0">
            <a:gsLst>
              <a:gs pos="0">
                <a:srgbClr val="ffff00"/>
              </a:gs>
              <a:gs pos="100000">
                <a:srgbClr val="494900"/>
              </a:gs>
            </a:gsLst>
            <a:lin ang="0"/>
          </a:gra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96" name="Rectangle 26"/>
          <p:cNvSpPr/>
          <p:nvPr/>
        </p:nvSpPr>
        <p:spPr>
          <a:xfrm>
            <a:off x="3532320" y="4684680"/>
            <a:ext cx="152280" cy="609480"/>
          </a:xfrm>
          <a:prstGeom prst="rect">
            <a:avLst/>
          </a:prstGeom>
          <a:gradFill rotWithShape="0">
            <a:gsLst>
              <a:gs pos="0">
                <a:srgbClr val="ffff00"/>
              </a:gs>
              <a:gs pos="100000">
                <a:srgbClr val="494900"/>
              </a:gs>
            </a:gsLst>
            <a:lin ang="0"/>
          </a:gra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97" name="Rectangle 27"/>
          <p:cNvSpPr/>
          <p:nvPr/>
        </p:nvSpPr>
        <p:spPr>
          <a:xfrm>
            <a:off x="3747960" y="4456080"/>
            <a:ext cx="152640" cy="838080"/>
          </a:xfrm>
          <a:prstGeom prst="rect">
            <a:avLst/>
          </a:prstGeom>
          <a:gradFill rotWithShape="0">
            <a:gsLst>
              <a:gs pos="0">
                <a:srgbClr val="ffff00"/>
              </a:gs>
              <a:gs pos="100000">
                <a:srgbClr val="494900"/>
              </a:gs>
            </a:gsLst>
            <a:lin ang="0"/>
          </a:gra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98" name="Line 30"/>
          <p:cNvSpPr/>
          <p:nvPr/>
        </p:nvSpPr>
        <p:spPr>
          <a:xfrm flipV="1">
            <a:off x="4105440" y="1436400"/>
            <a:ext cx="685800" cy="228600"/>
          </a:xfrm>
          <a:prstGeom prst="line">
            <a:avLst/>
          </a:prstGeom>
          <a:ln w="28440">
            <a:solidFill>
              <a:srgbClr val="ffff00"/>
            </a:solidFill>
            <a:miter/>
            <a:headEnd len="med" type="triangle"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9" name="Text Box 31"/>
          <p:cNvSpPr/>
          <p:nvPr/>
        </p:nvSpPr>
        <p:spPr>
          <a:xfrm>
            <a:off x="4123800" y="1147680"/>
            <a:ext cx="60033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Tests de K. COOPER (1968) </a:t>
            </a:r>
            <a:r>
              <a:rPr b="1" lang="fr-FR" sz="2000" strike="noStrike" u="none">
                <a:solidFill>
                  <a:srgbClr val="ffff00"/>
                </a:solidFill>
                <a:effectLst/>
                <a:uFillTx/>
                <a:latin typeface="Calibri"/>
                <a:ea typeface="Calibri"/>
              </a:rPr>
              <a:t>: endurance?</a:t>
            </a:r>
            <a:endParaRPr b="0" lang="en-US" sz="2000" strike="noStrike" u="none">
              <a:solidFill>
                <a:srgbClr val="ffff00"/>
              </a:solidFill>
              <a:effectLst/>
              <a:uFillTx/>
              <a:latin typeface="Times New Roman"/>
            </a:endParaRPr>
          </a:p>
        </p:txBody>
      </p:sp>
      <p:sp>
        <p:nvSpPr>
          <p:cNvPr id="500" name="Line 32"/>
          <p:cNvSpPr/>
          <p:nvPr/>
        </p:nvSpPr>
        <p:spPr>
          <a:xfrm>
            <a:off x="4105440" y="1665360"/>
            <a:ext cx="685800" cy="152280"/>
          </a:xfrm>
          <a:prstGeom prst="line">
            <a:avLst/>
          </a:prstGeom>
          <a:ln w="28440">
            <a:solidFill>
              <a:srgbClr val="ffff00"/>
            </a:solidFill>
            <a:miter/>
            <a:headEnd len="med" type="triangle"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1" name="Text Box 33"/>
          <p:cNvSpPr/>
          <p:nvPr/>
        </p:nvSpPr>
        <p:spPr>
          <a:xfrm>
            <a:off x="4239000" y="1589040"/>
            <a:ext cx="50839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Temps limites:  %VAM </a:t>
            </a:r>
            <a:r>
              <a:rPr b="1" lang="fr-FR" sz="2000" strike="noStrike" u="none">
                <a:solidFill>
                  <a:srgbClr val="ffff00"/>
                </a:solidFill>
                <a:effectLst/>
                <a:uFillTx/>
                <a:latin typeface="Calibri"/>
                <a:ea typeface="Calibri"/>
              </a:rPr>
              <a:t>(endurance)</a:t>
            </a:r>
            <a:endParaRPr b="0" lang="en-US" sz="2000" strike="noStrike" u="none">
              <a:solidFill>
                <a:srgbClr val="ffff00"/>
              </a:solidFill>
              <a:effectLst/>
              <a:uFillTx/>
              <a:latin typeface="Times New Roman"/>
            </a:endParaRPr>
          </a:p>
        </p:txBody>
      </p:sp>
      <p:sp>
        <p:nvSpPr>
          <p:cNvPr id="502" name="ZoneTexte 1"/>
          <p:cNvSpPr/>
          <p:nvPr/>
        </p:nvSpPr>
        <p:spPr>
          <a:xfrm>
            <a:off x="871200" y="4987800"/>
            <a:ext cx="224532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COURSE EN LIGNE</a:t>
            </a:r>
            <a:endParaRPr b="0" lang="en-US" sz="1800" strike="noStrike" u="none">
              <a:solidFill>
                <a:srgbClr val="ffff00"/>
              </a:solidFill>
              <a:effectLst/>
              <a:uFillTx/>
              <a:latin typeface="Times New Roman"/>
            </a:endParaRPr>
          </a:p>
        </p:txBody>
      </p:sp>
      <p:sp>
        <p:nvSpPr>
          <p:cNvPr id="503" name="ZoneTexte 34"/>
          <p:cNvSpPr/>
          <p:nvPr/>
        </p:nvSpPr>
        <p:spPr>
          <a:xfrm>
            <a:off x="868320" y="5780160"/>
            <a:ext cx="26578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COURSE EN NAVETTES</a:t>
            </a:r>
            <a:endParaRPr b="0" lang="en-US" sz="1800" strike="noStrike" u="none">
              <a:solidFill>
                <a:srgbClr val="ffff00"/>
              </a:solidFill>
              <a:effectLst/>
              <a:uFillTx/>
              <a:latin typeface="Times New Roman"/>
            </a:endParaRPr>
          </a:p>
        </p:txBody>
      </p:sp>
      <p:sp>
        <p:nvSpPr>
          <p:cNvPr id="504" name="Line 34"/>
          <p:cNvSpPr/>
          <p:nvPr/>
        </p:nvSpPr>
        <p:spPr>
          <a:xfrm flipV="1">
            <a:off x="4092480" y="4102200"/>
            <a:ext cx="733680" cy="25200"/>
          </a:xfrm>
          <a:prstGeom prst="line">
            <a:avLst/>
          </a:prstGeom>
          <a:ln w="28440">
            <a:solidFill>
              <a:srgbClr val="ffff00"/>
            </a:solidFill>
            <a:miter/>
            <a:tailEnd len="med" type="triangle" w="med"/>
          </a:ln>
        </p:spPr>
        <p:style>
          <a:lnRef idx="0"/>
          <a:fillRef idx="0"/>
          <a:effectRef idx="0"/>
          <a:fontRef idx="minor"/>
        </p:style>
        <p:txBody>
          <a:bodyPr lIns="90000" rIns="90000" tIns="-21600" bIns="-21600" anchor="t">
            <a:noAutofit/>
          </a:bodyPr>
          <a:p>
            <a:endParaRPr b="0" lang="en-US" sz="2400" strike="noStrike" u="none">
              <a:solidFill>
                <a:srgbClr val="ffff00"/>
              </a:solidFill>
              <a:effectLst/>
              <a:uFillTx/>
              <a:latin typeface="Times New Roman"/>
            </a:endParaRPr>
          </a:p>
        </p:txBody>
      </p:sp>
      <p:sp>
        <p:nvSpPr>
          <p:cNvPr id="505" name="Text Box 35"/>
          <p:cNvSpPr/>
          <p:nvPr/>
        </p:nvSpPr>
        <p:spPr>
          <a:xfrm>
            <a:off x="3913200" y="3902040"/>
            <a:ext cx="585000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Test navette (Léger et Lambert 1982)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 PAM</a:t>
            </a:r>
            <a:endParaRPr b="0" lang="en-US" sz="2000" strike="noStrike" u="none">
              <a:solidFill>
                <a:srgbClr val="ffff00"/>
              </a:solidFill>
              <a:effectLst/>
              <a:uFillTx/>
              <a:latin typeface="Times New Roman"/>
            </a:endParaRPr>
          </a:p>
        </p:txBody>
      </p:sp>
      <p:sp>
        <p:nvSpPr>
          <p:cNvPr id="506" name="Line 36"/>
          <p:cNvSpPr/>
          <p:nvPr/>
        </p:nvSpPr>
        <p:spPr>
          <a:xfrm flipV="1">
            <a:off x="4067280" y="2964960"/>
            <a:ext cx="660240" cy="241560"/>
          </a:xfrm>
          <a:prstGeom prst="line">
            <a:avLst/>
          </a:prstGeom>
          <a:ln w="28440">
            <a:solidFill>
              <a:srgbClr val="ffff00"/>
            </a:solidFill>
            <a:miter/>
            <a:headEnd len="med" type="oval"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7" name="Text Box 37"/>
          <p:cNvSpPr/>
          <p:nvPr/>
        </p:nvSpPr>
        <p:spPr>
          <a:xfrm>
            <a:off x="3943440" y="2741760"/>
            <a:ext cx="55440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Test Léger et Boucher (1980) : </a:t>
            </a:r>
            <a:r>
              <a:rPr b="1" lang="fr-FR" sz="2000" strike="noStrike" u="none">
                <a:solidFill>
                  <a:srgbClr val="ffff00"/>
                </a:solidFill>
                <a:effectLst/>
                <a:uFillTx/>
                <a:latin typeface="Calibri"/>
                <a:ea typeface="Calibri"/>
              </a:rPr>
              <a:t>VAM</a:t>
            </a:r>
            <a:r>
              <a:rPr b="0" lang="fr-FR" sz="2000" strike="noStrike" u="none">
                <a:solidFill>
                  <a:srgbClr val="ffff00"/>
                </a:solidFill>
                <a:effectLst/>
                <a:uFillTx/>
                <a:latin typeface="Calibri"/>
                <a:ea typeface="Calibri"/>
              </a:rPr>
              <a:t> </a:t>
            </a:r>
            <a:endParaRPr b="0" lang="en-US" sz="2000" strike="noStrike" u="none">
              <a:solidFill>
                <a:srgbClr val="ffff00"/>
              </a:solidFill>
              <a:effectLst/>
              <a:uFillTx/>
              <a:latin typeface="Times New Roman"/>
            </a:endParaRPr>
          </a:p>
        </p:txBody>
      </p:sp>
      <p:sp>
        <p:nvSpPr>
          <p:cNvPr id="508" name="Line 38"/>
          <p:cNvSpPr/>
          <p:nvPr/>
        </p:nvSpPr>
        <p:spPr>
          <a:xfrm>
            <a:off x="4067280" y="3206880"/>
            <a:ext cx="660240" cy="16668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9" name="Text Box 39"/>
          <p:cNvSpPr/>
          <p:nvPr/>
        </p:nvSpPr>
        <p:spPr>
          <a:xfrm>
            <a:off x="4301280" y="3173400"/>
            <a:ext cx="41644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Test VAM-EVAL (1993) : </a:t>
            </a:r>
            <a:r>
              <a:rPr b="1" lang="fr-FR" sz="2000" strike="noStrike" u="none">
                <a:solidFill>
                  <a:srgbClr val="ffff00"/>
                </a:solidFill>
                <a:effectLst/>
                <a:uFillTx/>
                <a:latin typeface="Calibri"/>
                <a:ea typeface="Calibri"/>
              </a:rPr>
              <a:t>VAM</a:t>
            </a:r>
            <a:endParaRPr b="0" lang="en-US" sz="2000" strike="noStrike" u="none">
              <a:solidFill>
                <a:srgbClr val="ffff00"/>
              </a:solidFill>
              <a:effectLst/>
              <a:uFillTx/>
              <a:latin typeface="Times New Roman"/>
            </a:endParaRPr>
          </a:p>
        </p:txBody>
      </p:sp>
      <p:sp>
        <p:nvSpPr>
          <p:cNvPr id="510" name="Line 40"/>
          <p:cNvSpPr/>
          <p:nvPr/>
        </p:nvSpPr>
        <p:spPr>
          <a:xfrm>
            <a:off x="4105440" y="4941720"/>
            <a:ext cx="647640" cy="0"/>
          </a:xfrm>
          <a:prstGeom prst="line">
            <a:avLst/>
          </a:prstGeom>
          <a:ln w="28440">
            <a:solidFill>
              <a:srgbClr val="ffff00"/>
            </a:solidFill>
            <a:miter/>
            <a:headEnd len="med" type="oval"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11" name="Text Box 41"/>
          <p:cNvSpPr/>
          <p:nvPr/>
        </p:nvSpPr>
        <p:spPr>
          <a:xfrm>
            <a:off x="3659760" y="4724280"/>
            <a:ext cx="646308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  Test Université Bordeaux 2 (1990): </a:t>
            </a:r>
            <a:r>
              <a:rPr b="1" lang="fr-FR" sz="2000" strike="noStrike" u="none">
                <a:solidFill>
                  <a:srgbClr val="ffff00"/>
                </a:solidFill>
                <a:effectLst/>
                <a:uFillTx/>
                <a:latin typeface="Calibri"/>
                <a:ea typeface="Calibri"/>
              </a:rPr>
              <a:t>VAM</a:t>
            </a:r>
            <a:r>
              <a:rPr b="0" lang="fr-FR" sz="2000" strike="noStrike" u="none">
                <a:solidFill>
                  <a:srgbClr val="ffff00"/>
                </a:solidFill>
                <a:effectLst/>
                <a:uFillTx/>
                <a:latin typeface="Calibri"/>
                <a:ea typeface="Calibri"/>
              </a:rPr>
              <a: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  + FC - Lactate</a:t>
            </a:r>
            <a:endParaRPr b="0" lang="en-US" sz="2000" strike="noStrike" u="none">
              <a:solidFill>
                <a:srgbClr val="ffff00"/>
              </a:solidFill>
              <a:effectLst/>
              <a:uFillTx/>
              <a:latin typeface="Times New Roman"/>
            </a:endParaRPr>
          </a:p>
        </p:txBody>
      </p:sp>
      <p:sp>
        <p:nvSpPr>
          <p:cNvPr id="512" name="Line 30"/>
          <p:cNvSpPr/>
          <p:nvPr/>
        </p:nvSpPr>
        <p:spPr>
          <a:xfrm flipV="1">
            <a:off x="4140360" y="5767200"/>
            <a:ext cx="685800" cy="228600"/>
          </a:xfrm>
          <a:prstGeom prst="line">
            <a:avLst/>
          </a:prstGeom>
          <a:ln w="28440">
            <a:solidFill>
              <a:srgbClr val="ffff00"/>
            </a:solidFill>
            <a:miter/>
            <a:headEnd len="med" type="oval"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13" name="Line 32"/>
          <p:cNvSpPr/>
          <p:nvPr/>
        </p:nvSpPr>
        <p:spPr>
          <a:xfrm>
            <a:off x="4140360" y="5996160"/>
            <a:ext cx="685800" cy="296640"/>
          </a:xfrm>
          <a:prstGeom prst="line">
            <a:avLst/>
          </a:prstGeom>
          <a:ln w="28440">
            <a:solidFill>
              <a:srgbClr val="ffff00"/>
            </a:solidFill>
            <a:miter/>
            <a:headEnd len="med" type="oval"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14" name="ZoneTexte 2"/>
          <p:cNvSpPr/>
          <p:nvPr/>
        </p:nvSpPr>
        <p:spPr>
          <a:xfrm>
            <a:off x="3994920" y="5572080"/>
            <a:ext cx="58503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Yoyo Test (Bangsbo 2008 ) : </a:t>
            </a:r>
            <a:r>
              <a:rPr b="1" lang="fr-FR" sz="2000" strike="noStrike" u="none">
                <a:solidFill>
                  <a:srgbClr val="ffff00"/>
                </a:solidFill>
                <a:effectLst/>
                <a:uFillTx/>
                <a:latin typeface="Calibri"/>
                <a:ea typeface="Calibri"/>
              </a:rPr>
              <a:t>VAM + RVA</a:t>
            </a:r>
            <a:endParaRPr b="0" lang="en-US" sz="2000" strike="noStrike" u="none">
              <a:solidFill>
                <a:srgbClr val="ffff00"/>
              </a:solidFill>
              <a:effectLst/>
              <a:uFillTx/>
              <a:latin typeface="Times New Roman"/>
            </a:endParaRPr>
          </a:p>
        </p:txBody>
      </p:sp>
      <p:sp>
        <p:nvSpPr>
          <p:cNvPr id="515" name="ZoneTexte 3"/>
          <p:cNvSpPr/>
          <p:nvPr/>
        </p:nvSpPr>
        <p:spPr>
          <a:xfrm>
            <a:off x="4788000" y="6076800"/>
            <a:ext cx="4356000" cy="13136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30-15s Intermittent Fitness Test (Buchheit 2008 ) : </a:t>
            </a:r>
            <a:r>
              <a:rPr b="1" lang="fr-FR" sz="2000" strike="noStrike" u="none">
                <a:solidFill>
                  <a:srgbClr val="ffff00"/>
                </a:solidFill>
                <a:effectLst/>
                <a:uFillTx/>
                <a:latin typeface="Calibri"/>
                <a:ea typeface="Calibri"/>
              </a:rPr>
              <a:t>VAM + RVA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 </a:t>
            </a:r>
            <a:endParaRPr b="0" lang="en-US" sz="2000" strike="noStrike" u="none">
              <a:solidFill>
                <a:srgbClr val="ffff00"/>
              </a:solidFill>
              <a:effectLst/>
              <a:uFillTx/>
              <a:latin typeface="Times New Roman"/>
            </a:endParaRPr>
          </a:p>
        </p:txBody>
      </p:sp>
      <p:sp>
        <p:nvSpPr>
          <p:cNvPr id="516" name="Connecteur droit 5"/>
          <p:cNvSpPr/>
          <p:nvPr/>
        </p:nvSpPr>
        <p:spPr>
          <a:xfrm>
            <a:off x="3708360" y="2004840"/>
            <a:ext cx="0" cy="673200"/>
          </a:xfrm>
          <a:prstGeom prst="line">
            <a:avLst/>
          </a:prstGeom>
          <a:ln w="12600">
            <a:solidFill>
              <a:srgbClr val="ffff00"/>
            </a:solidFill>
            <a:prstDash val="sys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17" name="Connecteur droit 7"/>
          <p:cNvSpPr/>
          <p:nvPr/>
        </p:nvSpPr>
        <p:spPr>
          <a:xfrm flipH="1">
            <a:off x="3136680" y="2708280"/>
            <a:ext cx="571320" cy="0"/>
          </a:xfrm>
          <a:prstGeom prst="line">
            <a:avLst/>
          </a:prstGeom>
          <a:ln w="12600">
            <a:solidFill>
              <a:srgbClr val="ffff00"/>
            </a:solidFill>
            <a:prstDash val="sys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18" name="Connecteur droit 10"/>
          <p:cNvSpPr/>
          <p:nvPr/>
        </p:nvSpPr>
        <p:spPr>
          <a:xfrm flipV="1">
            <a:off x="3081240" y="1989000"/>
            <a:ext cx="598680" cy="657360"/>
          </a:xfrm>
          <a:prstGeom prst="line">
            <a:avLst/>
          </a:prstGeom>
          <a:ln w="12600">
            <a:solidFill>
              <a:srgbClr val="ffff00"/>
            </a:solidFill>
            <a:prstDash val="sys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19" name="ZoneTexte 49"/>
          <p:cNvSpPr/>
          <p:nvPr/>
        </p:nvSpPr>
        <p:spPr>
          <a:xfrm>
            <a:off x="871200" y="3274920"/>
            <a:ext cx="224532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COURSE EN LIGNE</a:t>
            </a:r>
            <a:endParaRPr b="0" lang="en-US" sz="1800" strike="noStrike" u="none">
              <a:solidFill>
                <a:srgbClr val="ffff00"/>
              </a:solidFill>
              <a:effectLst/>
              <a:uFillTx/>
              <a:latin typeface="Times New Roman"/>
            </a:endParaRPr>
          </a:p>
        </p:txBody>
      </p:sp>
      <p:sp>
        <p:nvSpPr>
          <p:cNvPr id="520" name="Rectangle 22"/>
          <p:cNvSpPr/>
          <p:nvPr/>
        </p:nvSpPr>
        <p:spPr>
          <a:xfrm>
            <a:off x="3119400" y="3340080"/>
            <a:ext cx="152280" cy="304920"/>
          </a:xfrm>
          <a:prstGeom prst="rect">
            <a:avLst/>
          </a:prstGeom>
          <a:gradFill rotWithShape="0">
            <a:gsLst>
              <a:gs pos="0">
                <a:srgbClr val="ffff00"/>
              </a:gs>
              <a:gs pos="100000">
                <a:srgbClr val="494900"/>
              </a:gs>
            </a:gsLst>
            <a:lin ang="0"/>
          </a:gra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21" name="Line 23"/>
          <p:cNvSpPr/>
          <p:nvPr/>
        </p:nvSpPr>
        <p:spPr>
          <a:xfrm>
            <a:off x="3052800" y="3645000"/>
            <a:ext cx="1015920" cy="0"/>
          </a:xfrm>
          <a:prstGeom prst="line">
            <a:avLst/>
          </a:prstGeom>
          <a:ln w="9360">
            <a:solidFill>
              <a:srgbClr val="00cc99"/>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22" name="Rectangle 24"/>
          <p:cNvSpPr/>
          <p:nvPr/>
        </p:nvSpPr>
        <p:spPr>
          <a:xfrm>
            <a:off x="2976480" y="3492360"/>
            <a:ext cx="152640" cy="152640"/>
          </a:xfrm>
          <a:prstGeom prst="rect">
            <a:avLst/>
          </a:prstGeom>
          <a:gradFill rotWithShape="0">
            <a:gsLst>
              <a:gs pos="0">
                <a:srgbClr val="ffff00"/>
              </a:gs>
              <a:gs pos="100000">
                <a:srgbClr val="494900"/>
              </a:gs>
            </a:gsLst>
            <a:lin ang="0"/>
          </a:gra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23" name="Rectangle 25"/>
          <p:cNvSpPr/>
          <p:nvPr/>
        </p:nvSpPr>
        <p:spPr>
          <a:xfrm>
            <a:off x="3263760" y="3187800"/>
            <a:ext cx="152640" cy="457200"/>
          </a:xfrm>
          <a:prstGeom prst="rect">
            <a:avLst/>
          </a:prstGeom>
          <a:gradFill rotWithShape="0">
            <a:gsLst>
              <a:gs pos="0">
                <a:srgbClr val="ffff00"/>
              </a:gs>
              <a:gs pos="100000">
                <a:srgbClr val="494900"/>
              </a:gs>
            </a:gsLst>
            <a:lin ang="0"/>
          </a:gra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24" name="Rectangle 26"/>
          <p:cNvSpPr/>
          <p:nvPr/>
        </p:nvSpPr>
        <p:spPr>
          <a:xfrm>
            <a:off x="3408480" y="3035160"/>
            <a:ext cx="152280" cy="609840"/>
          </a:xfrm>
          <a:prstGeom prst="rect">
            <a:avLst/>
          </a:prstGeom>
          <a:gradFill rotWithShape="0">
            <a:gsLst>
              <a:gs pos="0">
                <a:srgbClr val="ffff00"/>
              </a:gs>
              <a:gs pos="100000">
                <a:srgbClr val="494900"/>
              </a:gs>
            </a:gsLst>
            <a:lin ang="0"/>
          </a:gra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25" name="Rectangle 27"/>
          <p:cNvSpPr/>
          <p:nvPr/>
        </p:nvSpPr>
        <p:spPr>
          <a:xfrm>
            <a:off x="3551400" y="2806560"/>
            <a:ext cx="152280" cy="838440"/>
          </a:xfrm>
          <a:prstGeom prst="rect">
            <a:avLst/>
          </a:prstGeom>
          <a:gradFill rotWithShape="0">
            <a:gsLst>
              <a:gs pos="0">
                <a:srgbClr val="ffff00"/>
              </a:gs>
              <a:gs pos="100000">
                <a:srgbClr val="494900"/>
              </a:gs>
            </a:gsLst>
            <a:lin ang="0"/>
          </a:gra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26" name="ZoneTexte 56"/>
          <p:cNvSpPr/>
          <p:nvPr/>
        </p:nvSpPr>
        <p:spPr>
          <a:xfrm>
            <a:off x="868320" y="3933720"/>
            <a:ext cx="26578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COURSE EN NAVETTES</a:t>
            </a:r>
            <a:endParaRPr b="0" lang="en-US" sz="1800" strike="noStrike" u="none">
              <a:solidFill>
                <a:srgbClr val="ffff00"/>
              </a:solidFill>
              <a:effectLst/>
              <a:uFillTx/>
              <a:latin typeface="Times New Roman"/>
            </a:endParaRPr>
          </a:p>
        </p:txBody>
      </p:sp>
    </p:spTree>
  </p:cSld>
  <p:timing>
    <p:tnLst>
      <p:par>
        <p:cTn id="1026" dur="indefinite" restart="never" nodeType="tmRoot">
          <p:childTnLst>
            <p:seq>
              <p:cTn id="1027" dur="indefinite" nodeType="mainSeq">
                <p:childTnLst>
                  <p:par>
                    <p:cTn id="1028" nodeType="clickEffect" fill="hold">
                      <p:stCondLst>
                        <p:cond delay="indefinite"/>
                      </p:stCondLst>
                      <p:childTnLst>
                        <p:par>
                          <p:cTn id="1029" nodeType="withEffect" fill="hold">
                            <p:stCondLst>
                              <p:cond delay="0"/>
                            </p:stCondLst>
                            <p:childTnLst>
                              <p:par>
                                <p:cTn id="1030" nodeType="clickEffect" fill="hold" presetClass="entr" presetID="17" presetSubtype="8">
                                  <p:stCondLst>
                                    <p:cond delay="0"/>
                                  </p:stCondLst>
                                  <p:childTnLst>
                                    <p:set>
                                      <p:cBhvr>
                                        <p:cTn id="1031" dur="1" fill="hold">
                                          <p:stCondLst>
                                            <p:cond delay="0"/>
                                          </p:stCondLst>
                                        </p:cTn>
                                        <p:tgtEl>
                                          <p:spTgt spid="498"/>
                                        </p:tgtEl>
                                        <p:attrNameLst>
                                          <p:attrName>style.visibility</p:attrName>
                                        </p:attrNameLst>
                                      </p:cBhvr>
                                      <p:to>
                                        <p:strVal val="visible"/>
                                      </p:to>
                                    </p:set>
                                    <p:anim calcmode="lin" valueType="num">
                                      <p:cBhvr additive="repl">
                                        <p:cTn id="1032" dur="500" fill="hold"/>
                                        <p:tgtEl>
                                          <p:spTgt spid="498"/>
                                        </p:tgtEl>
                                        <p:attrNameLst>
                                          <p:attrName>ppt_x</p:attrName>
                                        </p:attrNameLst>
                                      </p:cBhvr>
                                      <p:tavLst>
                                        <p:tav tm="0">
                                          <p:val>
                                            <p:strVal val="#ppt_x-#ppt_w/2"/>
                                          </p:val>
                                        </p:tav>
                                        <p:tav tm="100000">
                                          <p:val>
                                            <p:strVal val="#ppt_x"/>
                                          </p:val>
                                        </p:tav>
                                      </p:tavLst>
                                    </p:anim>
                                    <p:anim calcmode="lin" valueType="num">
                                      <p:cBhvr additive="repl">
                                        <p:cTn id="1033" dur="500" fill="hold"/>
                                        <p:tgtEl>
                                          <p:spTgt spid="498"/>
                                        </p:tgtEl>
                                        <p:attrNameLst>
                                          <p:attrName>ppt_y</p:attrName>
                                        </p:attrNameLst>
                                      </p:cBhvr>
                                      <p:tavLst>
                                        <p:tav tm="0">
                                          <p:val>
                                            <p:strVal val="#ppt_y"/>
                                          </p:val>
                                        </p:tav>
                                        <p:tav tm="100000">
                                          <p:val>
                                            <p:strVal val="#ppt_y"/>
                                          </p:val>
                                        </p:tav>
                                      </p:tavLst>
                                    </p:anim>
                                    <p:anim calcmode="lin" valueType="num">
                                      <p:cBhvr additive="repl">
                                        <p:cTn id="1034" dur="500" fill="hold"/>
                                        <p:tgtEl>
                                          <p:spTgt spid="498"/>
                                        </p:tgtEl>
                                        <p:attrNameLst>
                                          <p:attrName>ppt_w</p:attrName>
                                        </p:attrNameLst>
                                      </p:cBhvr>
                                      <p:tavLst>
                                        <p:tav tm="0">
                                          <p:val>
                                            <p:fltVal val="0"/>
                                          </p:val>
                                        </p:tav>
                                        <p:tav tm="100000">
                                          <p:val>
                                            <p:strVal val="#ppt_w"/>
                                          </p:val>
                                        </p:tav>
                                      </p:tavLst>
                                    </p:anim>
                                    <p:anim calcmode="lin" valueType="num">
                                      <p:cBhvr additive="repl">
                                        <p:cTn id="1035" dur="500" fill="hold"/>
                                        <p:tgtEl>
                                          <p:spTgt spid="498"/>
                                        </p:tgtEl>
                                        <p:attrNameLst>
                                          <p:attrName>ppt_h</p:attrName>
                                        </p:attrNameLst>
                                      </p:cBhvr>
                                      <p:tavLst>
                                        <p:tav tm="0">
                                          <p:val>
                                            <p:strVal val="#ppt_h"/>
                                          </p:val>
                                        </p:tav>
                                        <p:tav tm="100000">
                                          <p:val>
                                            <p:strVal val="#ppt_h"/>
                                          </p:val>
                                        </p:tav>
                                      </p:tavLst>
                                    </p:anim>
                                  </p:childTnLst>
                                </p:cTn>
                              </p:par>
                            </p:childTnLst>
                          </p:cTn>
                        </p:par>
                        <p:par>
                          <p:cTn id="1036" nodeType="afterEffect" fill="hold">
                            <p:stCondLst>
                              <p:cond delay="500"/>
                            </p:stCondLst>
                            <p:childTnLst>
                              <p:par>
                                <p:cTn id="1037" nodeType="afterEffect" fill="hold" presetClass="entr" presetID="9">
                                  <p:stCondLst>
                                    <p:cond delay="0"/>
                                  </p:stCondLst>
                                  <p:childTnLst>
                                    <p:set>
                                      <p:cBhvr>
                                        <p:cTn id="1038" dur="1" fill="hold">
                                          <p:stCondLst>
                                            <p:cond delay="0"/>
                                          </p:stCondLst>
                                        </p:cTn>
                                        <p:tgtEl>
                                          <p:spTgt spid="499"/>
                                        </p:tgtEl>
                                        <p:attrNameLst>
                                          <p:attrName>style.visibility</p:attrName>
                                        </p:attrNameLst>
                                      </p:cBhvr>
                                      <p:to>
                                        <p:strVal val="visible"/>
                                      </p:to>
                                    </p:set>
                                    <p:animEffect filter="dissolve" transition="in">
                                      <p:cBhvr additive="repl">
                                        <p:cTn id="1039" dur="500"/>
                                        <p:tgtEl>
                                          <p:spTgt spid="499"/>
                                        </p:tgtEl>
                                      </p:cBhvr>
                                    </p:animEffect>
                                  </p:childTnLst>
                                </p:cTn>
                              </p:par>
                            </p:childTnLst>
                          </p:cTn>
                        </p:par>
                        <p:par>
                          <p:cTn id="1040" nodeType="afterEffect" fill="hold">
                            <p:stCondLst>
                              <p:cond delay="1000"/>
                            </p:stCondLst>
                            <p:childTnLst>
                              <p:par>
                                <p:cTn id="1041" nodeType="afterEffect" fill="hold" presetClass="entr" presetID="9">
                                  <p:stCondLst>
                                    <p:cond delay="1250"/>
                                  </p:stCondLst>
                                  <p:childTnLst>
                                    <p:set>
                                      <p:cBhvr>
                                        <p:cTn id="1042" dur="1" fill="hold">
                                          <p:stCondLst>
                                            <p:cond delay="0"/>
                                          </p:stCondLst>
                                        </p:cTn>
                                        <p:tgtEl>
                                          <p:spTgt spid="500"/>
                                        </p:tgtEl>
                                        <p:attrNameLst>
                                          <p:attrName>style.visibility</p:attrName>
                                        </p:attrNameLst>
                                      </p:cBhvr>
                                      <p:to>
                                        <p:strVal val="visible"/>
                                      </p:to>
                                    </p:set>
                                    <p:animEffect filter="dissolve" transition="in">
                                      <p:cBhvr additive="repl">
                                        <p:cTn id="1043" dur="500"/>
                                        <p:tgtEl>
                                          <p:spTgt spid="500"/>
                                        </p:tgtEl>
                                      </p:cBhvr>
                                    </p:animEffect>
                                  </p:childTnLst>
                                </p:cTn>
                              </p:par>
                            </p:childTnLst>
                          </p:cTn>
                        </p:par>
                        <p:par>
                          <p:cTn id="1044" nodeType="afterEffect" fill="hold">
                            <p:stCondLst>
                              <p:cond delay="2750"/>
                            </p:stCondLst>
                            <p:childTnLst>
                              <p:par>
                                <p:cTn id="1045" nodeType="afterEffect" fill="hold" presetClass="entr" presetID="9">
                                  <p:stCondLst>
                                    <p:cond delay="0"/>
                                  </p:stCondLst>
                                  <p:childTnLst>
                                    <p:set>
                                      <p:cBhvr>
                                        <p:cTn id="1046" dur="1" fill="hold">
                                          <p:stCondLst>
                                            <p:cond delay="0"/>
                                          </p:stCondLst>
                                        </p:cTn>
                                        <p:tgtEl>
                                          <p:spTgt spid="501"/>
                                        </p:tgtEl>
                                        <p:attrNameLst>
                                          <p:attrName>style.visibility</p:attrName>
                                        </p:attrNameLst>
                                      </p:cBhvr>
                                      <p:to>
                                        <p:strVal val="visible"/>
                                      </p:to>
                                    </p:set>
                                    <p:animEffect filter="dissolve" transition="in">
                                      <p:cBhvr additive="repl">
                                        <p:cTn id="1047" dur="500"/>
                                        <p:tgtEl>
                                          <p:spTgt spid="501"/>
                                        </p:tgtEl>
                                      </p:cBhvr>
                                    </p:animEffect>
                                  </p:childTnLst>
                                </p:cTn>
                              </p:par>
                            </p:childTnLst>
                          </p:cTn>
                        </p:par>
                      </p:childTnLst>
                    </p:cTn>
                  </p:par>
                  <p:par>
                    <p:cTn id="1048" nodeType="clickEffect" fill="hold">
                      <p:stCondLst>
                        <p:cond delay="indefinite"/>
                      </p:stCondLst>
                      <p:childTnLst>
                        <p:par>
                          <p:cTn id="1049" nodeType="withEffect" fill="hold">
                            <p:stCondLst>
                              <p:cond delay="0"/>
                            </p:stCondLst>
                            <p:childTnLst>
                              <p:par>
                                <p:cTn id="1050" nodeType="clickEffect" fill="hold" presetClass="entr" presetID="22" presetSubtype="8">
                                  <p:stCondLst>
                                    <p:cond delay="0"/>
                                  </p:stCondLst>
                                  <p:childTnLst>
                                    <p:set>
                                      <p:cBhvr>
                                        <p:cTn id="1051" dur="1" fill="hold">
                                          <p:stCondLst>
                                            <p:cond delay="0"/>
                                          </p:stCondLst>
                                        </p:cTn>
                                        <p:tgtEl>
                                          <p:spTgt spid="506"/>
                                        </p:tgtEl>
                                        <p:attrNameLst>
                                          <p:attrName>style.visibility</p:attrName>
                                        </p:attrNameLst>
                                      </p:cBhvr>
                                      <p:to>
                                        <p:strVal val="visible"/>
                                      </p:to>
                                    </p:set>
                                    <p:animEffect filter="wipe(left)" transition="in">
                                      <p:cBhvr additive="repl">
                                        <p:cTn id="1052" dur="500"/>
                                        <p:tgtEl>
                                          <p:spTgt spid="506"/>
                                        </p:tgtEl>
                                      </p:cBhvr>
                                    </p:animEffect>
                                  </p:childTnLst>
                                </p:cTn>
                              </p:par>
                            </p:childTnLst>
                          </p:cTn>
                        </p:par>
                        <p:par>
                          <p:cTn id="1053" nodeType="afterEffect" fill="hold">
                            <p:stCondLst>
                              <p:cond delay="500"/>
                            </p:stCondLst>
                            <p:childTnLst>
                              <p:par>
                                <p:cTn id="1054" nodeType="afterEffect" fill="hold" presetClass="entr" presetID="22" presetSubtype="8">
                                  <p:stCondLst>
                                    <p:cond delay="0"/>
                                  </p:stCondLst>
                                  <p:childTnLst>
                                    <p:set>
                                      <p:cBhvr>
                                        <p:cTn id="1055" dur="1" fill="hold">
                                          <p:stCondLst>
                                            <p:cond delay="0"/>
                                          </p:stCondLst>
                                        </p:cTn>
                                        <p:tgtEl>
                                          <p:spTgt spid="507"/>
                                        </p:tgtEl>
                                        <p:attrNameLst>
                                          <p:attrName>style.visibility</p:attrName>
                                        </p:attrNameLst>
                                      </p:cBhvr>
                                      <p:to>
                                        <p:strVal val="visible"/>
                                      </p:to>
                                    </p:set>
                                    <p:animEffect filter="wipe(left)" transition="in">
                                      <p:cBhvr additive="repl">
                                        <p:cTn id="1056" dur="500"/>
                                        <p:tgtEl>
                                          <p:spTgt spid="507"/>
                                        </p:tgtEl>
                                      </p:cBhvr>
                                    </p:animEffect>
                                  </p:childTnLst>
                                </p:cTn>
                              </p:par>
                            </p:childTnLst>
                          </p:cTn>
                        </p:par>
                        <p:par>
                          <p:cTn id="1057" nodeType="afterEffect" fill="hold">
                            <p:stCondLst>
                              <p:cond delay="1000"/>
                            </p:stCondLst>
                            <p:childTnLst>
                              <p:par>
                                <p:cTn id="1058" nodeType="afterEffect" fill="hold" presetClass="entr" presetID="22" presetSubtype="8">
                                  <p:stCondLst>
                                    <p:cond delay="1250"/>
                                  </p:stCondLst>
                                  <p:childTnLst>
                                    <p:set>
                                      <p:cBhvr>
                                        <p:cTn id="1059" dur="1" fill="hold">
                                          <p:stCondLst>
                                            <p:cond delay="0"/>
                                          </p:stCondLst>
                                        </p:cTn>
                                        <p:tgtEl>
                                          <p:spTgt spid="508"/>
                                        </p:tgtEl>
                                        <p:attrNameLst>
                                          <p:attrName>style.visibility</p:attrName>
                                        </p:attrNameLst>
                                      </p:cBhvr>
                                      <p:to>
                                        <p:strVal val="visible"/>
                                      </p:to>
                                    </p:set>
                                    <p:animEffect filter="wipe(left)" transition="in">
                                      <p:cBhvr additive="repl">
                                        <p:cTn id="1060" dur="500"/>
                                        <p:tgtEl>
                                          <p:spTgt spid="508"/>
                                        </p:tgtEl>
                                      </p:cBhvr>
                                    </p:animEffect>
                                  </p:childTnLst>
                                </p:cTn>
                              </p:par>
                            </p:childTnLst>
                          </p:cTn>
                        </p:par>
                        <p:par>
                          <p:cTn id="1061" nodeType="afterEffect" fill="hold">
                            <p:stCondLst>
                              <p:cond delay="2750"/>
                            </p:stCondLst>
                            <p:childTnLst>
                              <p:par>
                                <p:cTn id="1062" nodeType="afterEffect" fill="hold" presetClass="entr" presetID="22" presetSubtype="8">
                                  <p:stCondLst>
                                    <p:cond delay="0"/>
                                  </p:stCondLst>
                                  <p:childTnLst>
                                    <p:set>
                                      <p:cBhvr>
                                        <p:cTn id="1063" dur="1" fill="hold">
                                          <p:stCondLst>
                                            <p:cond delay="0"/>
                                          </p:stCondLst>
                                        </p:cTn>
                                        <p:tgtEl>
                                          <p:spTgt spid="509"/>
                                        </p:tgtEl>
                                        <p:attrNameLst>
                                          <p:attrName>style.visibility</p:attrName>
                                        </p:attrNameLst>
                                      </p:cBhvr>
                                      <p:to>
                                        <p:strVal val="visible"/>
                                      </p:to>
                                    </p:set>
                                    <p:animEffect filter="wipe(left)" transition="in">
                                      <p:cBhvr additive="repl">
                                        <p:cTn id="1064" dur="500"/>
                                        <p:tgtEl>
                                          <p:spTgt spid="509"/>
                                        </p:tgtEl>
                                      </p:cBhvr>
                                    </p:animEffect>
                                  </p:childTnLst>
                                </p:cTn>
                              </p:par>
                            </p:childTnLst>
                          </p:cTn>
                        </p:par>
                      </p:childTnLst>
                    </p:cTn>
                  </p:par>
                  <p:par>
                    <p:cTn id="1065" nodeType="clickEffect" fill="hold">
                      <p:stCondLst>
                        <p:cond delay="indefinite"/>
                      </p:stCondLst>
                      <p:childTnLst>
                        <p:par>
                          <p:cTn id="1066" nodeType="withEffect" fill="hold">
                            <p:stCondLst>
                              <p:cond delay="0"/>
                            </p:stCondLst>
                            <p:childTnLst>
                              <p:par>
                                <p:cTn id="1067" nodeType="clickEffect" fill="hold" presetClass="entr" presetID="22" presetSubtype="8">
                                  <p:stCondLst>
                                    <p:cond delay="0"/>
                                  </p:stCondLst>
                                  <p:childTnLst>
                                    <p:set>
                                      <p:cBhvr>
                                        <p:cTn id="1068" dur="1" fill="hold">
                                          <p:stCondLst>
                                            <p:cond delay="0"/>
                                          </p:stCondLst>
                                        </p:cTn>
                                        <p:tgtEl>
                                          <p:spTgt spid="504"/>
                                        </p:tgtEl>
                                        <p:attrNameLst>
                                          <p:attrName>style.visibility</p:attrName>
                                        </p:attrNameLst>
                                      </p:cBhvr>
                                      <p:to>
                                        <p:strVal val="visible"/>
                                      </p:to>
                                    </p:set>
                                    <p:animEffect filter="wipe(left)" transition="in">
                                      <p:cBhvr additive="repl">
                                        <p:cTn id="1069" dur="500"/>
                                        <p:tgtEl>
                                          <p:spTgt spid="504"/>
                                        </p:tgtEl>
                                      </p:cBhvr>
                                    </p:animEffect>
                                  </p:childTnLst>
                                </p:cTn>
                              </p:par>
                            </p:childTnLst>
                          </p:cTn>
                        </p:par>
                        <p:par>
                          <p:cTn id="1070" nodeType="afterEffect" fill="hold">
                            <p:stCondLst>
                              <p:cond delay="500"/>
                            </p:stCondLst>
                            <p:childTnLst>
                              <p:par>
                                <p:cTn id="1071" nodeType="afterEffect" fill="hold" presetClass="entr" presetID="22" presetSubtype="8">
                                  <p:stCondLst>
                                    <p:cond delay="0"/>
                                  </p:stCondLst>
                                  <p:childTnLst>
                                    <p:set>
                                      <p:cBhvr>
                                        <p:cTn id="1072" dur="1" fill="hold">
                                          <p:stCondLst>
                                            <p:cond delay="0"/>
                                          </p:stCondLst>
                                        </p:cTn>
                                        <p:tgtEl>
                                          <p:spTgt spid="505"/>
                                        </p:tgtEl>
                                        <p:attrNameLst>
                                          <p:attrName>style.visibility</p:attrName>
                                        </p:attrNameLst>
                                      </p:cBhvr>
                                      <p:to>
                                        <p:strVal val="visible"/>
                                      </p:to>
                                    </p:set>
                                    <p:animEffect filter="wipe(left)" transition="in">
                                      <p:cBhvr additive="repl">
                                        <p:cTn id="1073" dur="500"/>
                                        <p:tgtEl>
                                          <p:spTgt spid="505"/>
                                        </p:tgtEl>
                                      </p:cBhvr>
                                    </p:animEffect>
                                  </p:childTnLst>
                                </p:cTn>
                              </p:par>
                            </p:childTnLst>
                          </p:cTn>
                        </p:par>
                      </p:childTnLst>
                    </p:cTn>
                  </p:par>
                  <p:par>
                    <p:cTn id="1074" nodeType="clickEffect" fill="hold">
                      <p:stCondLst>
                        <p:cond delay="indefinite"/>
                      </p:stCondLst>
                      <p:childTnLst>
                        <p:par>
                          <p:cTn id="1075" nodeType="withEffect" fill="hold">
                            <p:stCondLst>
                              <p:cond delay="0"/>
                            </p:stCondLst>
                            <p:childTnLst>
                              <p:par>
                                <p:cTn id="1076" nodeType="clickEffect" fill="hold" presetClass="entr" presetID="22" presetSubtype="8">
                                  <p:stCondLst>
                                    <p:cond delay="0"/>
                                  </p:stCondLst>
                                  <p:childTnLst>
                                    <p:set>
                                      <p:cBhvr>
                                        <p:cTn id="1077" dur="1" fill="hold">
                                          <p:stCondLst>
                                            <p:cond delay="0"/>
                                          </p:stCondLst>
                                        </p:cTn>
                                        <p:tgtEl>
                                          <p:spTgt spid="510"/>
                                        </p:tgtEl>
                                        <p:attrNameLst>
                                          <p:attrName>style.visibility</p:attrName>
                                        </p:attrNameLst>
                                      </p:cBhvr>
                                      <p:to>
                                        <p:strVal val="visible"/>
                                      </p:to>
                                    </p:set>
                                    <p:animEffect filter="wipe(left)" transition="in">
                                      <p:cBhvr additive="repl">
                                        <p:cTn id="1078" dur="500"/>
                                        <p:tgtEl>
                                          <p:spTgt spid="510"/>
                                        </p:tgtEl>
                                      </p:cBhvr>
                                    </p:animEffect>
                                  </p:childTnLst>
                                </p:cTn>
                              </p:par>
                            </p:childTnLst>
                          </p:cTn>
                        </p:par>
                        <p:par>
                          <p:cTn id="1079" nodeType="afterEffect" fill="hold">
                            <p:stCondLst>
                              <p:cond delay="500"/>
                            </p:stCondLst>
                            <p:childTnLst>
                              <p:par>
                                <p:cTn id="1080" nodeType="afterEffect" fill="hold" presetClass="entr" presetID="22" presetSubtype="8">
                                  <p:stCondLst>
                                    <p:cond delay="0"/>
                                  </p:stCondLst>
                                  <p:childTnLst>
                                    <p:set>
                                      <p:cBhvr>
                                        <p:cTn id="1081" dur="1" fill="hold">
                                          <p:stCondLst>
                                            <p:cond delay="0"/>
                                          </p:stCondLst>
                                        </p:cTn>
                                        <p:tgtEl>
                                          <p:spTgt spid="511">
                                            <p:txEl>
                                              <p:pRg st="0" end="0"/>
                                            </p:txEl>
                                          </p:spTgt>
                                        </p:tgtEl>
                                        <p:attrNameLst>
                                          <p:attrName>style.visibility</p:attrName>
                                        </p:attrNameLst>
                                      </p:cBhvr>
                                      <p:to>
                                        <p:strVal val="visible"/>
                                      </p:to>
                                    </p:set>
                                    <p:animEffect filter="wipe(left)" transition="in">
                                      <p:cBhvr additive="repl">
                                        <p:cTn id="1082" dur="500"/>
                                        <p:tgtEl>
                                          <p:spTgt spid="511">
                                            <p:txEl>
                                              <p:pRg st="0" end="0"/>
                                            </p:txEl>
                                          </p:spTgt>
                                        </p:tgtEl>
                                      </p:cBhvr>
                                    </p:animEffect>
                                  </p:childTnLst>
                                </p:cTn>
                              </p:par>
                            </p:childTnLst>
                          </p:cTn>
                        </p:par>
                        <p:par>
                          <p:cTn id="1083" nodeType="afterEffect" fill="hold">
                            <p:stCondLst>
                              <p:cond delay="1000"/>
                            </p:stCondLst>
                            <p:childTnLst>
                              <p:par>
                                <p:cTn id="1084" nodeType="afterEffect" fill="hold" presetClass="entr" presetID="22" presetSubtype="8">
                                  <p:stCondLst>
                                    <p:cond delay="0"/>
                                  </p:stCondLst>
                                  <p:childTnLst>
                                    <p:set>
                                      <p:cBhvr>
                                        <p:cTn id="1085" dur="1" fill="hold">
                                          <p:stCondLst>
                                            <p:cond delay="0"/>
                                          </p:stCondLst>
                                        </p:cTn>
                                        <p:tgtEl>
                                          <p:spTgt spid="511">
                                            <p:txEl>
                                              <p:pRg st="1" end="1"/>
                                            </p:txEl>
                                          </p:spTgt>
                                        </p:tgtEl>
                                        <p:attrNameLst>
                                          <p:attrName>style.visibility</p:attrName>
                                        </p:attrNameLst>
                                      </p:cBhvr>
                                      <p:to>
                                        <p:strVal val="visible"/>
                                      </p:to>
                                    </p:set>
                                    <p:animEffect filter="wipe(left)" transition="in">
                                      <p:cBhvr additive="repl">
                                        <p:cTn id="1086" dur="500"/>
                                        <p:tgtEl>
                                          <p:spTgt spid="511">
                                            <p:txEl>
                                              <p:pRg st="1" end="1"/>
                                            </p:txEl>
                                          </p:spTgt>
                                        </p:tgtEl>
                                      </p:cBhvr>
                                    </p:animEffect>
                                  </p:childTnLst>
                                </p:cTn>
                              </p:par>
                            </p:childTnLst>
                          </p:cTn>
                        </p:par>
                      </p:childTnLst>
                    </p:cTn>
                  </p:par>
                  <p:par>
                    <p:cTn id="1087" nodeType="clickEffect" fill="hold">
                      <p:stCondLst>
                        <p:cond delay="indefinite"/>
                      </p:stCondLst>
                      <p:childTnLst>
                        <p:par>
                          <p:cTn id="1088" nodeType="withEffect" fill="hold">
                            <p:stCondLst>
                              <p:cond delay="0"/>
                            </p:stCondLst>
                            <p:childTnLst>
                              <p:par>
                                <p:cTn id="1089" nodeType="clickEffect" fill="hold" presetClass="entr" presetID="22" presetSubtype="8">
                                  <p:stCondLst>
                                    <p:cond delay="0"/>
                                  </p:stCondLst>
                                  <p:childTnLst>
                                    <p:set>
                                      <p:cBhvr>
                                        <p:cTn id="1090" dur="1" fill="hold">
                                          <p:stCondLst>
                                            <p:cond delay="0"/>
                                          </p:stCondLst>
                                        </p:cTn>
                                        <p:tgtEl>
                                          <p:spTgt spid="512"/>
                                        </p:tgtEl>
                                        <p:attrNameLst>
                                          <p:attrName>style.visibility</p:attrName>
                                        </p:attrNameLst>
                                      </p:cBhvr>
                                      <p:to>
                                        <p:strVal val="visible"/>
                                      </p:to>
                                    </p:set>
                                    <p:animEffect filter="wipe(left)" transition="in">
                                      <p:cBhvr additive="repl">
                                        <p:cTn id="1091" dur="500"/>
                                        <p:tgtEl>
                                          <p:spTgt spid="512"/>
                                        </p:tgtEl>
                                      </p:cBhvr>
                                    </p:animEffect>
                                  </p:childTnLst>
                                </p:cTn>
                              </p:par>
                            </p:childTnLst>
                          </p:cTn>
                        </p:par>
                        <p:par>
                          <p:cTn id="1092" nodeType="afterEffect" fill="hold">
                            <p:stCondLst>
                              <p:cond delay="500"/>
                            </p:stCondLst>
                            <p:childTnLst>
                              <p:par>
                                <p:cTn id="1093" nodeType="afterEffect" fill="hold" presetClass="entr" presetID="22" presetSubtype="8">
                                  <p:stCondLst>
                                    <p:cond delay="0"/>
                                  </p:stCondLst>
                                  <p:childTnLst>
                                    <p:set>
                                      <p:cBhvr>
                                        <p:cTn id="1094" dur="1" fill="hold">
                                          <p:stCondLst>
                                            <p:cond delay="0"/>
                                          </p:stCondLst>
                                        </p:cTn>
                                        <p:tgtEl>
                                          <p:spTgt spid="514"/>
                                        </p:tgtEl>
                                        <p:attrNameLst>
                                          <p:attrName>style.visibility</p:attrName>
                                        </p:attrNameLst>
                                      </p:cBhvr>
                                      <p:to>
                                        <p:strVal val="visible"/>
                                      </p:to>
                                    </p:set>
                                    <p:animEffect filter="wipe(left)" transition="in">
                                      <p:cBhvr additive="repl">
                                        <p:cTn id="1095" dur="500"/>
                                        <p:tgtEl>
                                          <p:spTgt spid="514"/>
                                        </p:tgtEl>
                                      </p:cBhvr>
                                    </p:animEffect>
                                  </p:childTnLst>
                                </p:cTn>
                              </p:par>
                            </p:childTnLst>
                          </p:cTn>
                        </p:par>
                        <p:par>
                          <p:cTn id="1096" nodeType="afterEffect" fill="hold">
                            <p:stCondLst>
                              <p:cond delay="1000"/>
                            </p:stCondLst>
                            <p:childTnLst>
                              <p:par>
                                <p:cTn id="1097" nodeType="afterEffect" fill="hold" presetClass="entr" presetID="22" presetSubtype="8">
                                  <p:stCondLst>
                                    <p:cond delay="1250"/>
                                  </p:stCondLst>
                                  <p:childTnLst>
                                    <p:set>
                                      <p:cBhvr>
                                        <p:cTn id="1098" dur="1" fill="hold">
                                          <p:stCondLst>
                                            <p:cond delay="0"/>
                                          </p:stCondLst>
                                        </p:cTn>
                                        <p:tgtEl>
                                          <p:spTgt spid="513"/>
                                        </p:tgtEl>
                                        <p:attrNameLst>
                                          <p:attrName>style.visibility</p:attrName>
                                        </p:attrNameLst>
                                      </p:cBhvr>
                                      <p:to>
                                        <p:strVal val="visible"/>
                                      </p:to>
                                    </p:set>
                                    <p:animEffect filter="wipe(left)" transition="in">
                                      <p:cBhvr additive="repl">
                                        <p:cTn id="1099" dur="500"/>
                                        <p:tgtEl>
                                          <p:spTgt spid="513"/>
                                        </p:tgtEl>
                                      </p:cBhvr>
                                    </p:animEffect>
                                  </p:childTnLst>
                                </p:cTn>
                              </p:par>
                            </p:childTnLst>
                          </p:cTn>
                        </p:par>
                        <p:par>
                          <p:cTn id="1100" nodeType="afterEffect" fill="hold">
                            <p:stCondLst>
                              <p:cond delay="2750"/>
                            </p:stCondLst>
                            <p:childTnLst>
                              <p:par>
                                <p:cTn id="1101" nodeType="afterEffect" fill="hold" presetClass="entr" presetID="22" presetSubtype="8">
                                  <p:stCondLst>
                                    <p:cond delay="0"/>
                                  </p:stCondLst>
                                  <p:childTnLst>
                                    <p:set>
                                      <p:cBhvr>
                                        <p:cTn id="1102" dur="1" fill="hold">
                                          <p:stCondLst>
                                            <p:cond delay="0"/>
                                          </p:stCondLst>
                                        </p:cTn>
                                        <p:tgtEl>
                                          <p:spTgt spid="515"/>
                                        </p:tgtEl>
                                        <p:attrNameLst>
                                          <p:attrName>style.visibility</p:attrName>
                                        </p:attrNameLst>
                                      </p:cBhvr>
                                      <p:to>
                                        <p:strVal val="visible"/>
                                      </p:to>
                                    </p:set>
                                    <p:animEffect filter="wipe(left)" transition="in">
                                      <p:cBhvr additive="repl">
                                        <p:cTn id="1103" dur="500"/>
                                        <p:tgtEl>
                                          <p:spTgt spid="5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title"/>
          </p:nvPr>
        </p:nvSpPr>
        <p:spPr>
          <a:xfrm>
            <a:off x="0" y="151920"/>
            <a:ext cx="9142560" cy="1295640"/>
          </a:xfrm>
          <a:prstGeom prst="rect">
            <a:avLst/>
          </a:prstGeom>
          <a:noFill/>
          <a:ln w="0">
            <a:noFill/>
          </a:ln>
        </p:spPr>
        <p:txBody>
          <a:bodyPr lIns="92160" rIns="92160" tIns="46080" bIns="4608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Prédiction de la vitesse aérobie maximale de course «normale» à partir de la connaissance de la vitesse aérobie maximale de course navette</a:t>
            </a:r>
            <a:endParaRPr b="0" lang="en-US" sz="2400" strike="noStrike" u="none">
              <a:solidFill>
                <a:srgbClr val="ffffff"/>
              </a:solidFill>
              <a:effectLst/>
              <a:uFillTx/>
              <a:latin typeface="Times New Roman"/>
            </a:endParaRPr>
          </a:p>
        </p:txBody>
      </p:sp>
      <p:graphicFrame>
        <p:nvGraphicFramePr>
          <p:cNvPr id="528" name="Object 3"/>
          <p:cNvGraphicFramePr/>
          <p:nvPr/>
        </p:nvGraphicFramePr>
        <p:xfrm>
          <a:off x="838080" y="1905120"/>
          <a:ext cx="7848720" cy="3782880"/>
        </p:xfrm>
        <a:graphic>
          <a:graphicData uri="http://schemas.openxmlformats.org/presentationml/2006/ole">
            <p:oleObj progId="Word.Document.12" r:id="rId1" spid="">
              <p:embed/>
              <p:pic>
                <p:nvPicPr>
                  <p:cNvPr id="529" name="Object 3" descr=""/>
                  <p:cNvPicPr/>
                  <p:nvPr/>
                </p:nvPicPr>
                <p:blipFill>
                  <a:blip r:embed="rId2"/>
                  <a:stretch/>
                </p:blipFill>
                <p:spPr>
                  <a:xfrm>
                    <a:off x="838080" y="1905120"/>
                    <a:ext cx="7848720" cy="3782880"/>
                  </a:xfrm>
                  <a:prstGeom prst="rect">
                    <a:avLst/>
                  </a:prstGeom>
                  <a:noFill/>
                  <a:ln w="28440">
                    <a:solidFill>
                      <a:srgbClr val="ffff00"/>
                    </a:solidFill>
                    <a:miter/>
                  </a:ln>
                </p:spPr>
              </p:pic>
            </p:oleObj>
          </a:graphicData>
        </a:graphic>
      </p:graphicFrame>
      <p:sp>
        <p:nvSpPr>
          <p:cNvPr id="530" name="Line 4"/>
          <p:cNvSpPr/>
          <p:nvPr/>
        </p:nvSpPr>
        <p:spPr>
          <a:xfrm>
            <a:off x="2666880" y="1905120"/>
            <a:ext cx="0" cy="37335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31" name="Line 5"/>
          <p:cNvSpPr/>
          <p:nvPr/>
        </p:nvSpPr>
        <p:spPr>
          <a:xfrm>
            <a:off x="4419720" y="1905120"/>
            <a:ext cx="0" cy="3733560"/>
          </a:xfrm>
          <a:prstGeom prst="line">
            <a:avLst/>
          </a:prstGeom>
          <a:ln w="507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32" name="Line 6"/>
          <p:cNvSpPr/>
          <p:nvPr/>
        </p:nvSpPr>
        <p:spPr>
          <a:xfrm>
            <a:off x="6172200" y="1905120"/>
            <a:ext cx="0" cy="37335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33" name="Line 7"/>
          <p:cNvSpPr/>
          <p:nvPr/>
        </p:nvSpPr>
        <p:spPr>
          <a:xfrm>
            <a:off x="914400" y="2514600"/>
            <a:ext cx="7696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34" name="Rectangle 8"/>
          <p:cNvSpPr/>
          <p:nvPr/>
        </p:nvSpPr>
        <p:spPr>
          <a:xfrm>
            <a:off x="304920" y="5943600"/>
            <a:ext cx="8839080" cy="799920"/>
          </a:xfrm>
          <a:prstGeom prst="rect">
            <a:avLst/>
          </a:prstGeom>
          <a:noFill/>
          <a:ln w="0">
            <a:noFill/>
          </a:ln>
        </p:spPr>
        <p:style>
          <a:lnRef idx="0"/>
          <a:fillRef idx="0"/>
          <a:effectRef idx="0"/>
          <a:fontRef idx="minor"/>
        </p:style>
        <p:txBody>
          <a:bodyPr lIns="92160" rIns="92160" tIns="46080" bIns="46080" anchor="t">
            <a:spAutoFit/>
          </a:bodyPr>
          <a:p>
            <a:pPr algn="ct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baseline="-25000">
                <a:solidFill>
                  <a:srgbClr val="ffff00"/>
                </a:solidFill>
                <a:effectLst/>
                <a:uFillTx/>
                <a:latin typeface="Arial"/>
              </a:rPr>
              <a:t>Cazorla , Léger ,1993.</a:t>
            </a:r>
            <a:endParaRPr b="0" lang="en-US" sz="2400" strike="noStrike" u="none">
              <a:solidFill>
                <a:srgbClr val="ffff00"/>
              </a:solidFill>
              <a:effectLst/>
              <a:uFillTx/>
              <a:latin typeface="Times New Roman"/>
            </a:endParaRPr>
          </a:p>
        </p:txBody>
      </p:sp>
    </p:spTree>
  </p:cSld>
  <p:transition spd="med">
    <p:zoom dir="out"/>
  </p:transition>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5" name="Picture 4" descr=""/>
          <p:cNvPicPr/>
          <p:nvPr/>
        </p:nvPicPr>
        <p:blipFill>
          <a:blip r:embed="rId1"/>
          <a:srcRect l="0" t="4658" r="0" b="9079"/>
          <a:stretch/>
        </p:blipFill>
        <p:spPr>
          <a:xfrm>
            <a:off x="144360" y="3726000"/>
            <a:ext cx="4427640" cy="3016080"/>
          </a:xfrm>
          <a:prstGeom prst="rect">
            <a:avLst/>
          </a:prstGeom>
          <a:noFill/>
          <a:ln w="0">
            <a:noFill/>
          </a:ln>
        </p:spPr>
      </p:pic>
      <p:sp>
        <p:nvSpPr>
          <p:cNvPr id="536" name="Rectangle 5"/>
          <p:cNvSpPr/>
          <p:nvPr/>
        </p:nvSpPr>
        <p:spPr>
          <a:xfrm>
            <a:off x="4788000" y="189000"/>
            <a:ext cx="4572000" cy="34470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Test de l’Université de Bordeaux 2    </a:t>
            </a:r>
            <a:r>
              <a:rPr b="1" lang="fr-FR" sz="2000" strike="noStrike" u="none">
                <a:solidFill>
                  <a:srgbClr val="ffff00"/>
                </a:solidFill>
                <a:effectLst/>
                <a:uFillTx/>
                <a:latin typeface="Arial"/>
              </a:rPr>
              <a:t>	</a:t>
            </a:r>
            <a:r>
              <a:rPr b="1" lang="fr-FR" sz="2000" strike="noStrike" u="none">
                <a:solidFill>
                  <a:srgbClr val="ffff00"/>
                </a:solidFill>
                <a:effectLst/>
                <a:uFillTx/>
                <a:latin typeface="Arial"/>
              </a:rPr>
              <a:t>             (TUB2)</a:t>
            </a:r>
            <a:endParaRPr b="0" lang="en-US" sz="2000" strike="noStrike" u="none">
              <a:solidFill>
                <a:srgbClr val="ffff00"/>
              </a:solidFill>
              <a:effectLst/>
              <a:uFillTx/>
              <a:latin typeface="Times New Roman"/>
            </a:endParaRPr>
          </a:p>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Paliers de 3 min.</a:t>
            </a:r>
            <a:endParaRPr b="0" lang="en-US" sz="1800" strike="noStrike" u="none">
              <a:solidFill>
                <a:srgbClr val="ffff00"/>
              </a:solidFill>
              <a:effectLst/>
              <a:uFillTx/>
              <a:latin typeface="Times New Roman"/>
            </a:endParaRPr>
          </a:p>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Augmentation de la vitesse à chaque palier = 8, 10, 12, 13, 14, 15, 16, 17, 18 km/h....</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Arrêt d’1 minute entre chaque palier (prélèvements, relever de la fréquence cardiaque et étude de la récupération cardiaque entre chaque palier).</a:t>
            </a:r>
            <a:endParaRPr b="0" lang="en-US" sz="1800" strike="noStrike" u="none">
              <a:solidFill>
                <a:srgbClr val="ffff00"/>
              </a:solidFill>
              <a:effectLst/>
              <a:uFillTx/>
              <a:latin typeface="Times New Roman"/>
            </a:endParaRPr>
          </a:p>
        </p:txBody>
      </p:sp>
      <p:pic>
        <p:nvPicPr>
          <p:cNvPr id="537" name="sp_00.WMV" descr=""/>
          <p:cNvPicPr/>
          <p:nvPr/>
        </p:nvPicPr>
        <p:blipFill>
          <a:blip r:embed="rId2"/>
          <a:stretch/>
        </p:blipFill>
        <p:spPr>
          <a:xfrm>
            <a:off x="144360" y="189000"/>
            <a:ext cx="4511880" cy="3384360"/>
          </a:xfrm>
          <a:prstGeom prst="rect">
            <a:avLst/>
          </a:prstGeom>
          <a:noFill/>
          <a:ln w="28440">
            <a:solidFill>
              <a:srgbClr val="ffff00"/>
            </a:solidFill>
            <a:miter/>
          </a:ln>
        </p:spPr>
      </p:pic>
      <p:pic>
        <p:nvPicPr>
          <p:cNvPr id="538" name="sp_01.WMV" descr=""/>
          <p:cNvPicPr/>
          <p:nvPr/>
        </p:nvPicPr>
        <p:blipFill>
          <a:blip r:embed="rId3"/>
          <a:stretch/>
        </p:blipFill>
        <p:spPr>
          <a:xfrm>
            <a:off x="4716360" y="3726000"/>
            <a:ext cx="4103640" cy="3078000"/>
          </a:xfrm>
          <a:prstGeom prst="rect">
            <a:avLst/>
          </a:prstGeom>
          <a:noFill/>
          <a:ln w="28440">
            <a:solidFill>
              <a:srgbClr val="ffff00"/>
            </a:solidFill>
            <a:miter/>
          </a:ln>
        </p:spPr>
      </p:pic>
    </p:spTree>
  </p:cSld>
  <p:timing>
    <p:tnLst>
      <p:par>
        <p:cTn id="1104" dur="indefinite" restart="never" nodeType="tmRoot">
          <p:childTnLst>
            <p:seq>
              <p:cTn id="1105" dur="indefinite" nodeType="mainSeq">
                <p:childTnLst>
                  <p:par>
                    <p:cTn id="1106" nodeType="clickEffect" fill="hold">
                      <p:stCondLst>
                        <p:cond delay="0"/>
                      </p:stCondLst>
                      <p:childTnLst>
                        <p:par>
                          <p:cTn id="1107" nodeType="withEffect" fill="hold">
                            <p:stCondLst>
                              <p:cond delay="0"/>
                            </p:stCondLst>
                            <p:childTnLst>
                              <p:par>
                                <p:cTn id="1108" nodeType="afterEffect" fill="hold" presetClass="entr" presetID="5" presetSubtype="10">
                                  <p:stCondLst>
                                    <p:cond delay="0"/>
                                  </p:stCondLst>
                                  <p:childTnLst>
                                    <p:set>
                                      <p:cBhvr>
                                        <p:cTn id="1109" dur="1" fill="hold">
                                          <p:stCondLst>
                                            <p:cond delay="0"/>
                                          </p:stCondLst>
                                        </p:cTn>
                                        <p:tgtEl>
                                          <p:spTgt spid="535"/>
                                        </p:tgtEl>
                                        <p:attrNameLst>
                                          <p:attrName>style.visibility</p:attrName>
                                        </p:attrNameLst>
                                      </p:cBhvr>
                                      <p:to>
                                        <p:strVal val="visible"/>
                                      </p:to>
                                    </p:set>
                                    <p:animEffect filter="checkerboard(across)" transition="in">
                                      <p:cBhvr additive="repl">
                                        <p:cTn id="1110" dur="2000"/>
                                        <p:tgtEl>
                                          <p:spTgt spid="535"/>
                                        </p:tgtEl>
                                      </p:cBhvr>
                                    </p:animEffect>
                                  </p:childTnLst>
                                </p:cTn>
                              </p:par>
                            </p:childTnLst>
                          </p:cTn>
                        </p:par>
                      </p:childTnLst>
                    </p:cTn>
                  </p:par>
                </p:childTnLst>
              </p:cTn>
              <p:prevCondLst>
                <p:cond evt="onPrev">
                  <p:tgtEl>
                    <p:sldTgt/>
                  </p:tgtEl>
                </p:cond>
              </p:prevCondLst>
              <p:nextCondLst>
                <p:cond evt="onNext">
                  <p:tgtEl>
                    <p:sldTgt/>
                  </p:tgtEl>
                </p:cond>
              </p:nextCondLst>
            </p:seq>
            <p:seq>
              <p:cTn id="1111" restart="whenNotActive" nodeType="interactiveSeq" fill="hold">
                <p:stCondLst>
                  <p:cond evt="onClick">
                    <p:tgtEl>
                      <p:spTgt spid="537"/>
                    </p:tgtEl>
                  </p:cond>
                </p:stCondLst>
                <p:childTnLst>
                  <p:par>
                    <p:cTn id="1112" nodeType="clickEffect" fill="hold">
                      <p:stCondLst>
                        <p:cond evt="onClick">
                          <p:tgtEl>
                            <p:spTgt spid="537"/>
                          </p:tgtEl>
                        </p:cond>
                      </p:stCondLst>
                      <p:childTnLst>
                        <p:par>
                          <p:cTn id="1113" nodeType="withEffect" fill="hold">
                            <p:stCondLst>
                              <p:cond delay="0"/>
                            </p:stCondLst>
                            <p:childTnLst>
                              <p:par>
                                <p:cTn id="1114" nodeType="clickEffect" fill="hold" presetClass="mediacall" presetID="2">
                                  <p:stCondLst>
                                    <p:cond delay="0"/>
                                  </p:stCondLst>
                                  <p:childTnLst>
                                    <p:cmd type="call" cmd="togglePause">
                                      <p:cBhvr>
                                        <p:cTn id="1115" dur="1" fill="hold"/>
                                        <p:tgtEl>
                                          <p:spTgt spid="537"/>
                                        </p:tgtEl>
                                      </p:cBhvr>
                                    </p:cmd>
                                  </p:childTnLst>
                                </p:cTn>
                              </p:par>
                            </p:childTnLst>
                          </p:cTn>
                        </p:par>
                      </p:childTnLst>
                    </p:cTn>
                  </p:par>
                </p:childTnLst>
              </p:cTn>
              <p:prevCondLst>
                <p:cond evt="onPrev">
                  <p:tgtEl>
                    <p:sldTgt/>
                  </p:tgtEl>
                </p:cond>
              </p:prevCondLst>
              <p:nextCondLst>
                <p:cond evt="onNext">
                  <p:tgtEl>
                    <p:sldTgt/>
                  </p:tgtEl>
                </p:cond>
              </p:nextCondLst>
            </p:seq>
            <p:seq>
              <p:cTn id="1116" restart="whenNotActive" nodeType="interactiveSeq" fill="hold">
                <p:stCondLst>
                  <p:cond evt="onClick">
                    <p:tgtEl>
                      <p:spTgt spid="538"/>
                    </p:tgtEl>
                  </p:cond>
                </p:stCondLst>
                <p:childTnLst>
                  <p:par>
                    <p:cTn id="1117" nodeType="clickEffect" fill="hold">
                      <p:stCondLst>
                        <p:cond evt="onClick">
                          <p:tgtEl>
                            <p:spTgt spid="538"/>
                          </p:tgtEl>
                        </p:cond>
                      </p:stCondLst>
                      <p:childTnLst>
                        <p:par>
                          <p:cTn id="1118" nodeType="withEffect" fill="hold">
                            <p:stCondLst>
                              <p:cond delay="0"/>
                            </p:stCondLst>
                            <p:childTnLst>
                              <p:par>
                                <p:cTn id="1119" nodeType="clickEffect" fill="hold" presetClass="mediacall" presetID="2">
                                  <p:stCondLst>
                                    <p:cond delay="0"/>
                                  </p:stCondLst>
                                  <p:childTnLst>
                                    <p:cmd type="call" cmd="togglePause">
                                      <p:cBhvr>
                                        <p:cTn id="1120" dur="1" fill="hold"/>
                                        <p:tgtEl>
                                          <p:spTgt spid="538"/>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9" name="Picture 2" descr=""/>
          <p:cNvPicPr/>
          <p:nvPr/>
        </p:nvPicPr>
        <p:blipFill>
          <a:blip r:embed="rId1"/>
          <a:srcRect l="55887" t="51573" r="33873" b="28063"/>
          <a:stretch/>
        </p:blipFill>
        <p:spPr>
          <a:xfrm>
            <a:off x="8464680" y="6286680"/>
            <a:ext cx="568080" cy="480960"/>
          </a:xfrm>
          <a:prstGeom prst="rect">
            <a:avLst/>
          </a:prstGeom>
          <a:noFill/>
          <a:ln w="0">
            <a:noFill/>
          </a:ln>
        </p:spPr>
      </p:pic>
      <p:pic>
        <p:nvPicPr>
          <p:cNvPr id="540" name="30-15IFT.wmv" descr=""/>
          <p:cNvPicPr/>
          <p:nvPr/>
        </p:nvPicPr>
        <p:blipFill>
          <a:blip r:embed="rId2"/>
          <a:srcRect l="8723" t="0" r="3286" b="12098"/>
          <a:stretch/>
        </p:blipFill>
        <p:spPr>
          <a:xfrm>
            <a:off x="60480" y="318960"/>
            <a:ext cx="3516120" cy="2635200"/>
          </a:xfrm>
          <a:prstGeom prst="rect">
            <a:avLst/>
          </a:prstGeom>
          <a:noFill/>
          <a:ln w="19080">
            <a:solidFill>
              <a:srgbClr val="ffff00"/>
            </a:solidFill>
            <a:miter/>
          </a:ln>
        </p:spPr>
      </p:pic>
      <p:sp>
        <p:nvSpPr>
          <p:cNvPr id="541" name="Rectangle 2"/>
          <p:cNvSpPr/>
          <p:nvPr/>
        </p:nvSpPr>
        <p:spPr>
          <a:xfrm>
            <a:off x="2409840" y="3800520"/>
            <a:ext cx="6264360" cy="2303280"/>
          </a:xfrm>
          <a:prstGeom prst="rect">
            <a:avLst/>
          </a:prstGeom>
          <a:noFill/>
          <a:ln w="28440">
            <a:solidFill>
              <a:srgbClr val="ffff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42" name="Connecteur droit 4"/>
          <p:cNvSpPr/>
          <p:nvPr/>
        </p:nvSpPr>
        <p:spPr>
          <a:xfrm>
            <a:off x="5541840" y="3800520"/>
            <a:ext cx="0" cy="23032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43" name="ZoneTexte 5"/>
          <p:cNvSpPr/>
          <p:nvPr/>
        </p:nvSpPr>
        <p:spPr>
          <a:xfrm>
            <a:off x="8102880" y="3430440"/>
            <a:ext cx="11440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ea typeface="Calibri"/>
              </a:rPr>
              <a:t>Ligne A</a:t>
            </a:r>
            <a:endParaRPr b="0" lang="en-US" sz="1800" strike="noStrike" u="none">
              <a:solidFill>
                <a:srgbClr val="ffff00"/>
              </a:solidFill>
              <a:effectLst/>
              <a:uFillTx/>
              <a:latin typeface="Times New Roman"/>
            </a:endParaRPr>
          </a:p>
        </p:txBody>
      </p:sp>
      <p:sp>
        <p:nvSpPr>
          <p:cNvPr id="544" name="ZoneTexte 6"/>
          <p:cNvSpPr/>
          <p:nvPr/>
        </p:nvSpPr>
        <p:spPr>
          <a:xfrm>
            <a:off x="4968360" y="3430440"/>
            <a:ext cx="11440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ea typeface="Calibri"/>
              </a:rPr>
              <a:t>Ligne B</a:t>
            </a:r>
            <a:endParaRPr b="0" lang="en-US" sz="1800" strike="noStrike" u="none">
              <a:solidFill>
                <a:srgbClr val="ffff00"/>
              </a:solidFill>
              <a:effectLst/>
              <a:uFillTx/>
              <a:latin typeface="Times New Roman"/>
            </a:endParaRPr>
          </a:p>
        </p:txBody>
      </p:sp>
      <p:sp>
        <p:nvSpPr>
          <p:cNvPr id="545" name="ZoneTexte 7"/>
          <p:cNvSpPr/>
          <p:nvPr/>
        </p:nvSpPr>
        <p:spPr>
          <a:xfrm>
            <a:off x="1945800" y="3444840"/>
            <a:ext cx="11440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ea typeface="Calibri"/>
              </a:rPr>
              <a:t>Ligne C</a:t>
            </a:r>
            <a:endParaRPr b="0" lang="en-US" sz="1800" strike="noStrike" u="none">
              <a:solidFill>
                <a:srgbClr val="ffff00"/>
              </a:solidFill>
              <a:effectLst/>
              <a:uFillTx/>
              <a:latin typeface="Times New Roman"/>
            </a:endParaRPr>
          </a:p>
        </p:txBody>
      </p:sp>
      <p:sp>
        <p:nvSpPr>
          <p:cNvPr id="546" name="Connecteur droit 9"/>
          <p:cNvSpPr/>
          <p:nvPr/>
        </p:nvSpPr>
        <p:spPr>
          <a:xfrm flipH="1">
            <a:off x="2409480" y="5888160"/>
            <a:ext cx="626436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47" name="Connecteur droit 13"/>
          <p:cNvSpPr/>
          <p:nvPr/>
        </p:nvSpPr>
        <p:spPr>
          <a:xfrm>
            <a:off x="2411280" y="4773600"/>
            <a:ext cx="633744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cxnSp>
        <p:nvCxnSpPr>
          <p:cNvPr id="548" name="Connecteur droit avec flèche 16"/>
          <p:cNvCxnSpPr/>
          <p:nvPr/>
        </p:nvCxnSpPr>
        <p:spPr>
          <a:xfrm>
            <a:off x="7237080" y="5744880"/>
            <a:ext cx="1437480" cy="1080"/>
          </a:xfrm>
          <a:prstGeom prst="straightConnector1">
            <a:avLst/>
          </a:prstGeom>
          <a:ln w="28440">
            <a:solidFill>
              <a:srgbClr val="ffff00"/>
            </a:solidFill>
            <a:prstDash val="dash"/>
            <a:miter/>
            <a:tailEnd len="med" type="arrow" w="med"/>
          </a:ln>
        </p:spPr>
      </p:cxnSp>
      <p:sp>
        <p:nvSpPr>
          <p:cNvPr id="549" name="ZoneTexte 17"/>
          <p:cNvSpPr/>
          <p:nvPr/>
        </p:nvSpPr>
        <p:spPr>
          <a:xfrm>
            <a:off x="3602880" y="6156360"/>
            <a:ext cx="104436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Course</a:t>
            </a:r>
            <a:endParaRPr b="0" lang="en-US" sz="2400" strike="noStrike" u="none">
              <a:solidFill>
                <a:srgbClr val="ffff00"/>
              </a:solidFill>
              <a:effectLst/>
              <a:uFillTx/>
              <a:latin typeface="Times New Roman"/>
            </a:endParaRPr>
          </a:p>
        </p:txBody>
      </p:sp>
      <p:sp>
        <p:nvSpPr>
          <p:cNvPr id="550" name="ZoneTexte 19"/>
          <p:cNvSpPr/>
          <p:nvPr/>
        </p:nvSpPr>
        <p:spPr>
          <a:xfrm>
            <a:off x="4422960" y="5192640"/>
            <a:ext cx="33462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ea typeface="Calibri"/>
              </a:rPr>
              <a:t>Marche pour se replacer</a:t>
            </a:r>
            <a:endParaRPr b="0" lang="en-US" sz="1800" strike="noStrike" u="none">
              <a:solidFill>
                <a:srgbClr val="ffff00"/>
              </a:solidFill>
              <a:effectLst/>
              <a:uFillTx/>
              <a:latin typeface="Times New Roman"/>
            </a:endParaRPr>
          </a:p>
        </p:txBody>
      </p:sp>
      <p:sp>
        <p:nvSpPr>
          <p:cNvPr id="551" name="Arc 20"/>
          <p:cNvSpPr/>
          <p:nvPr/>
        </p:nvSpPr>
        <p:spPr>
          <a:xfrm>
            <a:off x="7021440" y="5442120"/>
            <a:ext cx="617760" cy="504720"/>
          </a:xfrm>
          <a:custGeom>
            <a:avLst/>
            <a:gdLst>
              <a:gd name="GluePoint1X" fmla="*/ 308768 w 617537"/>
              <a:gd name="GluePoint1Y" fmla="*/ 0 h 504825"/>
              <a:gd name="GluePoint2X" fmla="*/ 617537 w 617537"/>
              <a:gd name="GluePoint2Y" fmla="*/ 252413 h 504825"/>
            </a:gdLst>
            <a:ahLst/>
            <a:cxnLst>
              <a:cxn ang="0">
                <a:pos x="GluePoint1X" y="GluePoint1Y"/>
              </a:cxn>
              <a:cxn ang="0">
                <a:pos x="GluePoint2X" y="GluePoint2Y"/>
              </a:cxn>
            </a:cxnLst>
            <a:rect l="l" t="t" r="r" b="b"/>
            <a:pathLst>
              <a:path stroke="0" w="617537" h="504825">
                <a:moveTo>
                  <a:pt x="308768" y="0"/>
                </a:moveTo>
                <a:cubicBezTo>
                  <a:pt x="479296" y="0"/>
                  <a:pt x="617537" y="113009"/>
                  <a:pt x="617537" y="252413"/>
                </a:cubicBezTo>
                <a:lnTo>
                  <a:pt x="308769" y="252413"/>
                </a:lnTo>
                <a:cubicBezTo>
                  <a:pt x="308769" y="168275"/>
                  <a:pt x="308768" y="84138"/>
                  <a:pt x="308768" y="0"/>
                </a:cubicBezTo>
                <a:close/>
              </a:path>
              <a:path fill="none" w="617537" h="504825">
                <a:moveTo>
                  <a:pt x="308768" y="0"/>
                </a:moveTo>
                <a:cubicBezTo>
                  <a:pt x="479296" y="0"/>
                  <a:pt x="617537" y="113009"/>
                  <a:pt x="617537" y="252413"/>
                </a:cubicBezTo>
              </a:path>
            </a:pathLst>
          </a:custGeom>
          <a:noFill/>
          <a:ln w="19080">
            <a:solidFill>
              <a:srgbClr val="ffff00"/>
            </a:solidFill>
            <a:roun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52" name="Connecteur droit 8"/>
          <p:cNvSpPr/>
          <p:nvPr/>
        </p:nvSpPr>
        <p:spPr>
          <a:xfrm>
            <a:off x="2436840" y="4005360"/>
            <a:ext cx="6237360" cy="0"/>
          </a:xfrm>
          <a:prstGeom prst="line">
            <a:avLst/>
          </a:prstGeom>
          <a:ln w="9360">
            <a:solidFill>
              <a:srgbClr val="ffff00"/>
            </a:solidFill>
            <a:miter/>
            <a:headEnd len="med" type="triangle"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3" name="ZoneTexte 10"/>
          <p:cNvSpPr/>
          <p:nvPr/>
        </p:nvSpPr>
        <p:spPr>
          <a:xfrm>
            <a:off x="5243400" y="3813120"/>
            <a:ext cx="593640" cy="368280"/>
          </a:xfrm>
          <a:prstGeom prst="rect">
            <a:avLst/>
          </a:prstGeom>
          <a:solidFill>
            <a:srgbClr val="808080"/>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ea typeface="Calibri"/>
              </a:rPr>
              <a:t>40m</a:t>
            </a:r>
            <a:endParaRPr b="0" lang="en-US" sz="1800" strike="noStrike" u="none">
              <a:solidFill>
                <a:srgbClr val="ffff00"/>
              </a:solidFill>
              <a:effectLst/>
              <a:uFillTx/>
              <a:latin typeface="Times New Roman"/>
            </a:endParaRPr>
          </a:p>
        </p:txBody>
      </p:sp>
      <p:sp>
        <p:nvSpPr>
          <p:cNvPr id="554" name="Arc 11"/>
          <p:cNvSpPr/>
          <p:nvPr/>
        </p:nvSpPr>
        <p:spPr>
          <a:xfrm rot="11523000">
            <a:off x="3308400" y="5553000"/>
            <a:ext cx="914400" cy="790560"/>
          </a:xfrm>
          <a:custGeom>
            <a:avLst/>
            <a:gdLst>
              <a:gd name="GluePoint1X" fmla="*/ 457200 w 914400"/>
              <a:gd name="GluePoint1Y" fmla="*/ 0 h 790575"/>
              <a:gd name="GluePoint2X" fmla="*/ 914400 w 914400"/>
              <a:gd name="GluePoint2Y" fmla="*/ 395288 h 790575"/>
            </a:gdLst>
            <a:ahLst/>
            <a:cxnLst>
              <a:cxn ang="0">
                <a:pos x="GluePoint1X" y="GluePoint1Y"/>
              </a:cxn>
              <a:cxn ang="0">
                <a:pos x="GluePoint2X" y="GluePoint2Y"/>
              </a:cxn>
            </a:cxnLst>
            <a:rect l="l" t="t" r="r" b="b"/>
            <a:pathLst>
              <a:path stroke="0" w="914400" h="790575">
                <a:moveTo>
                  <a:pt x="457200" y="0"/>
                </a:moveTo>
                <a:cubicBezTo>
                  <a:pt x="709705" y="0"/>
                  <a:pt x="914400" y="176976"/>
                  <a:pt x="914400" y="395288"/>
                </a:cubicBezTo>
                <a:lnTo>
                  <a:pt x="457200" y="395288"/>
                </a:lnTo>
                <a:lnTo>
                  <a:pt x="457200" y="0"/>
                </a:lnTo>
                <a:close/>
              </a:path>
              <a:path fill="none" w="914400" h="790575">
                <a:moveTo>
                  <a:pt x="457200" y="0"/>
                </a:moveTo>
                <a:cubicBezTo>
                  <a:pt x="709705" y="0"/>
                  <a:pt x="914400" y="176976"/>
                  <a:pt x="914400" y="395288"/>
                </a:cubicBezTo>
              </a:path>
            </a:pathLst>
          </a:custGeom>
          <a:noFill/>
          <a:ln w="19080">
            <a:solidFill>
              <a:srgbClr val="ffff00"/>
            </a:solidFill>
            <a:roun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55" name="ZoneTexte 12"/>
          <p:cNvSpPr/>
          <p:nvPr/>
        </p:nvSpPr>
        <p:spPr>
          <a:xfrm>
            <a:off x="2835720" y="318960"/>
            <a:ext cx="7062120" cy="18619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00"/>
                </a:solidFill>
                <a:effectLst/>
                <a:uFillTx/>
                <a:latin typeface="Calibri"/>
                <a:ea typeface="Calibri"/>
              </a:rPr>
              <a:t>TEST 30-15 </a:t>
            </a:r>
            <a:endParaRPr b="0" lang="en-US" sz="3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00"/>
                </a:solidFill>
                <a:effectLst/>
                <a:uFillTx/>
                <a:latin typeface="Calibri"/>
                <a:ea typeface="Calibri"/>
              </a:rPr>
              <a:t>Intermittent Fitness Test</a:t>
            </a:r>
            <a:endParaRPr b="0" lang="en-US" sz="3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ff"/>
                </a:solidFill>
                <a:effectLst/>
                <a:uFillTx/>
                <a:latin typeface="Calibri"/>
                <a:ea typeface="Calibri"/>
              </a:rPr>
              <a:t>Buchheit M. </a:t>
            </a:r>
            <a:r>
              <a:rPr b="0" i="1" lang="fr-FR" sz="2000" strike="noStrike" u="none">
                <a:solidFill>
                  <a:srgbClr val="ffffff"/>
                </a:solidFill>
                <a:effectLst/>
                <a:uFillTx/>
                <a:latin typeface="Calibri"/>
                <a:ea typeface="Calibri"/>
              </a:rPr>
              <a:t>Science &amp; Sports 23: 2008</a:t>
            </a:r>
            <a:endParaRPr b="0" lang="en-US" sz="2000" strike="noStrike" u="none">
              <a:solidFill>
                <a:srgbClr val="ffff00"/>
              </a:solidFill>
              <a:effectLst/>
              <a:uFillTx/>
              <a:latin typeface="Times New Roman"/>
            </a:endParaRPr>
          </a:p>
        </p:txBody>
      </p:sp>
      <p:sp>
        <p:nvSpPr>
          <p:cNvPr id="556" name="Connecteur droit 21"/>
          <p:cNvSpPr/>
          <p:nvPr/>
        </p:nvSpPr>
        <p:spPr>
          <a:xfrm flipH="1">
            <a:off x="2441160" y="4944960"/>
            <a:ext cx="626580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7" name="Connecteur droit 22"/>
          <p:cNvSpPr/>
          <p:nvPr/>
        </p:nvSpPr>
        <p:spPr>
          <a:xfrm flipH="1">
            <a:off x="2436840" y="4581360"/>
            <a:ext cx="623880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8" name="Connecteur droit 24"/>
          <p:cNvSpPr/>
          <p:nvPr/>
        </p:nvSpPr>
        <p:spPr>
          <a:xfrm>
            <a:off x="2436840" y="5745240"/>
            <a:ext cx="482760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9" name="Connecteur droit 25"/>
          <p:cNvSpPr/>
          <p:nvPr/>
        </p:nvSpPr>
        <p:spPr>
          <a:xfrm flipH="1">
            <a:off x="4747680" y="4365720"/>
            <a:ext cx="831960" cy="0"/>
          </a:xfrm>
          <a:prstGeom prst="line">
            <a:avLst/>
          </a:prstGeom>
          <a:ln w="28440">
            <a:solidFill>
              <a:srgbClr val="ffff00"/>
            </a:solidFill>
            <a:prstDash val="dash"/>
            <a:miter/>
            <a:head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pic>
        <p:nvPicPr>
          <p:cNvPr id="560" name="Picture 2" descr=""/>
          <p:cNvPicPr/>
          <p:nvPr/>
        </p:nvPicPr>
        <p:blipFill>
          <a:blip r:embed="rId3"/>
          <a:srcRect l="51220" t="21854" r="25002" b="46017"/>
          <a:stretch/>
        </p:blipFill>
        <p:spPr>
          <a:xfrm>
            <a:off x="95400" y="4030560"/>
            <a:ext cx="1955520" cy="1486080"/>
          </a:xfrm>
          <a:prstGeom prst="rect">
            <a:avLst/>
          </a:prstGeom>
          <a:noFill/>
          <a:ln w="19080">
            <a:solidFill>
              <a:srgbClr val="ffff00"/>
            </a:solidFill>
            <a:miter/>
          </a:ln>
        </p:spPr>
      </p:pic>
      <p:sp>
        <p:nvSpPr>
          <p:cNvPr id="561" name="Connecteur droit 26"/>
          <p:cNvSpPr/>
          <p:nvPr/>
        </p:nvSpPr>
        <p:spPr>
          <a:xfrm>
            <a:off x="2411280" y="4365720"/>
            <a:ext cx="2440080" cy="144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562" name="Connecteur droit 28"/>
          <p:cNvSpPr/>
          <p:nvPr/>
        </p:nvSpPr>
        <p:spPr>
          <a:xfrm flipH="1">
            <a:off x="2410920" y="6040440"/>
            <a:ext cx="6264360" cy="0"/>
          </a:xfrm>
          <a:prstGeom prst="line">
            <a:avLst/>
          </a:prstGeom>
          <a:ln w="28440">
            <a:solidFill>
              <a:srgbClr val="ffff00"/>
            </a:solidFill>
            <a:prstDash val="sysDash"/>
            <a:miter/>
            <a:head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p:transition spd="med">
    <p:zoom dir="out"/>
  </p:transition>
  <p:timing>
    <p:tnLst>
      <p:par>
        <p:cTn id="1121" dur="indefinite" restart="never" nodeType="tmRoot">
          <p:childTnLst>
            <p:seq>
              <p:cTn id="1122" dur="indefinite" nodeType="mainSeq">
                <p:childTnLst>
                  <p:par>
                    <p:cTn id="1123" nodeType="clickEffect" fill="hold">
                      <p:stCondLst>
                        <p:cond delay="indefinite"/>
                      </p:stCondLst>
                      <p:childTnLst>
                        <p:par>
                          <p:cTn id="1124" nodeType="withEffect" fill="hold">
                            <p:stCondLst>
                              <p:cond delay="0"/>
                            </p:stCondLst>
                            <p:childTnLst>
                              <p:par>
                                <p:cTn id="1125" nodeType="clickEffect" fill="hold" presetClass="entr" presetID="22" presetSubtype="8">
                                  <p:stCondLst>
                                    <p:cond delay="0"/>
                                  </p:stCondLst>
                                  <p:childTnLst>
                                    <p:set>
                                      <p:cBhvr>
                                        <p:cTn id="1126" dur="1" fill="hold">
                                          <p:stCondLst>
                                            <p:cond delay="0"/>
                                          </p:stCondLst>
                                        </p:cTn>
                                        <p:tgtEl>
                                          <p:spTgt spid="562"/>
                                        </p:tgtEl>
                                        <p:attrNameLst>
                                          <p:attrName>style.visibility</p:attrName>
                                        </p:attrNameLst>
                                      </p:cBhvr>
                                      <p:to>
                                        <p:strVal val="visible"/>
                                      </p:to>
                                    </p:set>
                                    <p:animEffect filter="wipe(left)" transition="in">
                                      <p:cBhvr additive="repl">
                                        <p:cTn id="1127" dur="4000"/>
                                        <p:tgtEl>
                                          <p:spTgt spid="562"/>
                                        </p:tgtEl>
                                      </p:cBhvr>
                                    </p:animEffect>
                                  </p:childTnLst>
                                </p:cTn>
                              </p:par>
                            </p:childTnLst>
                          </p:cTn>
                        </p:par>
                        <p:par>
                          <p:cTn id="1128" nodeType="afterEffect" fill="hold">
                            <p:stCondLst>
                              <p:cond delay="4000"/>
                            </p:stCondLst>
                            <p:childTnLst>
                              <p:par>
                                <p:cTn id="1129" nodeType="afterEffect" fill="hold" presetClass="entr" presetID="22" presetSubtype="2">
                                  <p:stCondLst>
                                    <p:cond delay="0"/>
                                  </p:stCondLst>
                                  <p:childTnLst>
                                    <p:set>
                                      <p:cBhvr>
                                        <p:cTn id="1130" dur="1" fill="hold">
                                          <p:stCondLst>
                                            <p:cond delay="0"/>
                                          </p:stCondLst>
                                        </p:cTn>
                                        <p:tgtEl>
                                          <p:spTgt spid="546"/>
                                        </p:tgtEl>
                                        <p:attrNameLst>
                                          <p:attrName>style.visibility</p:attrName>
                                        </p:attrNameLst>
                                      </p:cBhvr>
                                      <p:to>
                                        <p:strVal val="visible"/>
                                      </p:to>
                                    </p:set>
                                    <p:animEffect filter="wipe(right)" transition="in">
                                      <p:cBhvr additive="repl">
                                        <p:cTn id="1131" dur="4000"/>
                                        <p:tgtEl>
                                          <p:spTgt spid="546"/>
                                        </p:tgtEl>
                                      </p:cBhvr>
                                    </p:animEffect>
                                  </p:childTnLst>
                                </p:cTn>
                              </p:par>
                            </p:childTnLst>
                          </p:cTn>
                        </p:par>
                        <p:par>
                          <p:cTn id="1132" nodeType="afterEffect" fill="hold">
                            <p:stCondLst>
                              <p:cond delay="8000"/>
                            </p:stCondLst>
                            <p:childTnLst>
                              <p:par>
                                <p:cTn id="1133" nodeType="afterEffect" fill="hold" presetClass="entr" presetID="22" presetSubtype="8">
                                  <p:stCondLst>
                                    <p:cond delay="0"/>
                                  </p:stCondLst>
                                  <p:childTnLst>
                                    <p:set>
                                      <p:cBhvr>
                                        <p:cTn id="1134" dur="1" fill="hold">
                                          <p:stCondLst>
                                            <p:cond delay="0"/>
                                          </p:stCondLst>
                                        </p:cTn>
                                        <p:tgtEl>
                                          <p:spTgt spid="558"/>
                                        </p:tgtEl>
                                        <p:attrNameLst>
                                          <p:attrName>style.visibility</p:attrName>
                                        </p:attrNameLst>
                                      </p:cBhvr>
                                      <p:to>
                                        <p:strVal val="visible"/>
                                      </p:to>
                                    </p:set>
                                    <p:animEffect filter="wipe(left)" transition="in">
                                      <p:cBhvr additive="repl">
                                        <p:cTn id="1135" dur="4000"/>
                                        <p:tgtEl>
                                          <p:spTgt spid="558"/>
                                        </p:tgtEl>
                                      </p:cBhvr>
                                    </p:animEffect>
                                  </p:childTnLst>
                                </p:cTn>
                              </p:par>
                              <p:par>
                                <p:cTn id="1136" nodeType="withEffect" fill="hold" presetClass="entr" presetID="22" presetSubtype="2">
                                  <p:stCondLst>
                                    <p:cond delay="0"/>
                                  </p:stCondLst>
                                  <p:childTnLst>
                                    <p:set>
                                      <p:cBhvr>
                                        <p:cTn id="1137" dur="1" fill="hold">
                                          <p:stCondLst>
                                            <p:cond delay="0"/>
                                          </p:stCondLst>
                                        </p:cTn>
                                        <p:tgtEl>
                                          <p:spTgt spid="549"/>
                                        </p:tgtEl>
                                        <p:attrNameLst>
                                          <p:attrName>style.visibility</p:attrName>
                                        </p:attrNameLst>
                                      </p:cBhvr>
                                      <p:to>
                                        <p:strVal val="visible"/>
                                      </p:to>
                                    </p:set>
                                    <p:animEffect filter="wipe(right)" transition="in">
                                      <p:cBhvr additive="repl">
                                        <p:cTn id="1138" dur="500"/>
                                        <p:tgtEl>
                                          <p:spTgt spid="549"/>
                                        </p:tgtEl>
                                      </p:cBhvr>
                                    </p:animEffect>
                                  </p:childTnLst>
                                </p:cTn>
                              </p:par>
                            </p:childTnLst>
                          </p:cTn>
                        </p:par>
                        <p:par>
                          <p:cTn id="1139" nodeType="afterEffect" fill="hold">
                            <p:stCondLst>
                              <p:cond delay="12000"/>
                            </p:stCondLst>
                            <p:childTnLst>
                              <p:par>
                                <p:cTn id="1140" nodeType="afterEffect" fill="hold" presetClass="entr" presetID="22" presetSubtype="4">
                                  <p:stCondLst>
                                    <p:cond delay="0"/>
                                  </p:stCondLst>
                                  <p:childTnLst>
                                    <p:set>
                                      <p:cBhvr>
                                        <p:cTn id="1141" dur="1" fill="hold">
                                          <p:stCondLst>
                                            <p:cond delay="0"/>
                                          </p:stCondLst>
                                        </p:cTn>
                                        <p:tgtEl>
                                          <p:spTgt spid="554"/>
                                        </p:tgtEl>
                                        <p:attrNameLst>
                                          <p:attrName>style.visibility</p:attrName>
                                        </p:attrNameLst>
                                      </p:cBhvr>
                                      <p:to>
                                        <p:strVal val="visible"/>
                                      </p:to>
                                    </p:set>
                                    <p:animEffect filter="wipe(down)" transition="in">
                                      <p:cBhvr additive="repl">
                                        <p:cTn id="1142" dur="500"/>
                                        <p:tgtEl>
                                          <p:spTgt spid="554"/>
                                        </p:tgtEl>
                                      </p:cBhvr>
                                    </p:animEffect>
                                  </p:childTnLst>
                                </p:cTn>
                              </p:par>
                            </p:childTnLst>
                          </p:cTn>
                        </p:par>
                        <p:par>
                          <p:cTn id="1143" nodeType="afterEffect" fill="hold">
                            <p:stCondLst>
                              <p:cond delay="12500"/>
                            </p:stCondLst>
                            <p:childTnLst>
                              <p:par>
                                <p:cTn id="1144" nodeType="afterEffect" fill="hold" presetClass="entr" presetID="22" presetSubtype="8">
                                  <p:stCondLst>
                                    <p:cond delay="0"/>
                                  </p:stCondLst>
                                  <p:childTnLst>
                                    <p:set>
                                      <p:cBhvr>
                                        <p:cTn id="1145" dur="1" fill="hold">
                                          <p:stCondLst>
                                            <p:cond delay="0"/>
                                          </p:stCondLst>
                                        </p:cTn>
                                        <p:tgtEl>
                                          <p:spTgt spid="548"/>
                                        </p:tgtEl>
                                        <p:attrNameLst>
                                          <p:attrName>style.visibility</p:attrName>
                                        </p:attrNameLst>
                                      </p:cBhvr>
                                      <p:to>
                                        <p:strVal val="visible"/>
                                      </p:to>
                                    </p:set>
                                    <p:animEffect filter="wipe(left)" transition="in">
                                      <p:cBhvr additive="repl">
                                        <p:cTn id="1146" dur="6000"/>
                                        <p:tgtEl>
                                          <p:spTgt spid="548"/>
                                        </p:tgtEl>
                                      </p:cBhvr>
                                    </p:animEffect>
                                  </p:childTnLst>
                                </p:cTn>
                              </p:par>
                            </p:childTnLst>
                          </p:cTn>
                        </p:par>
                        <p:par>
                          <p:cTn id="1147" nodeType="afterEffect" fill="hold">
                            <p:stCondLst>
                              <p:cond delay="18500"/>
                            </p:stCondLst>
                            <p:childTnLst>
                              <p:par>
                                <p:cTn id="1148" nodeType="afterEffect" fill="hold" presetClass="entr" presetID="22" presetSubtype="8">
                                  <p:stCondLst>
                                    <p:cond delay="0"/>
                                  </p:stCondLst>
                                  <p:childTnLst>
                                    <p:set>
                                      <p:cBhvr>
                                        <p:cTn id="1149" dur="1" fill="hold">
                                          <p:stCondLst>
                                            <p:cond delay="0"/>
                                          </p:stCondLst>
                                        </p:cTn>
                                        <p:tgtEl>
                                          <p:spTgt spid="550"/>
                                        </p:tgtEl>
                                        <p:attrNameLst>
                                          <p:attrName>style.visibility</p:attrName>
                                        </p:attrNameLst>
                                      </p:cBhvr>
                                      <p:to>
                                        <p:strVal val="visible"/>
                                      </p:to>
                                    </p:set>
                                    <p:animEffect filter="wipe(left)" transition="in">
                                      <p:cBhvr additive="repl">
                                        <p:cTn id="1150" dur="500"/>
                                        <p:tgtEl>
                                          <p:spTgt spid="550"/>
                                        </p:tgtEl>
                                      </p:cBhvr>
                                    </p:animEffect>
                                  </p:childTnLst>
                                </p:cTn>
                              </p:par>
                            </p:childTnLst>
                          </p:cTn>
                        </p:par>
                        <p:par>
                          <p:cTn id="1151" nodeType="afterEffect" fill="hold">
                            <p:stCondLst>
                              <p:cond delay="19000"/>
                            </p:stCondLst>
                            <p:childTnLst>
                              <p:par>
                                <p:cTn id="1152" nodeType="afterEffect" fill="hold" presetClass="entr" presetID="22" presetSubtype="8">
                                  <p:stCondLst>
                                    <p:cond delay="0"/>
                                  </p:stCondLst>
                                  <p:childTnLst>
                                    <p:set>
                                      <p:cBhvr>
                                        <p:cTn id="1153" dur="1" fill="hold">
                                          <p:stCondLst>
                                            <p:cond delay="0"/>
                                          </p:stCondLst>
                                        </p:cTn>
                                        <p:tgtEl>
                                          <p:spTgt spid="551"/>
                                        </p:tgtEl>
                                        <p:attrNameLst>
                                          <p:attrName>style.visibility</p:attrName>
                                        </p:attrNameLst>
                                      </p:cBhvr>
                                      <p:to>
                                        <p:strVal val="visible"/>
                                      </p:to>
                                    </p:set>
                                    <p:animEffect filter="wipe(left)" transition="in">
                                      <p:cBhvr additive="repl">
                                        <p:cTn id="1154" dur="500"/>
                                        <p:tgtEl>
                                          <p:spTgt spid="551"/>
                                        </p:tgtEl>
                                      </p:cBhvr>
                                    </p:animEffect>
                                  </p:childTnLst>
                                </p:cTn>
                              </p:par>
                            </p:childTnLst>
                          </p:cTn>
                        </p:par>
                      </p:childTnLst>
                    </p:cTn>
                  </p:par>
                  <p:par>
                    <p:cTn id="1155" nodeType="clickEffect" fill="hold">
                      <p:stCondLst>
                        <p:cond delay="indefinite"/>
                      </p:stCondLst>
                      <p:childTnLst>
                        <p:par>
                          <p:cTn id="1156" nodeType="withEffect" fill="hold">
                            <p:stCondLst>
                              <p:cond delay="0"/>
                            </p:stCondLst>
                            <p:childTnLst>
                              <p:par>
                                <p:cTn id="1157" nodeType="clickEffect" fill="hold" presetClass="entr" presetID="22" presetSubtype="2">
                                  <p:stCondLst>
                                    <p:cond delay="0"/>
                                  </p:stCondLst>
                                  <p:childTnLst>
                                    <p:set>
                                      <p:cBhvr>
                                        <p:cTn id="1158" dur="1" fill="hold">
                                          <p:stCondLst>
                                            <p:cond delay="0"/>
                                          </p:stCondLst>
                                        </p:cTn>
                                        <p:tgtEl>
                                          <p:spTgt spid="556"/>
                                        </p:tgtEl>
                                        <p:attrNameLst>
                                          <p:attrName>style.visibility</p:attrName>
                                        </p:attrNameLst>
                                      </p:cBhvr>
                                      <p:to>
                                        <p:strVal val="visible"/>
                                      </p:to>
                                    </p:set>
                                    <p:animEffect filter="wipe(right)" transition="in">
                                      <p:cBhvr additive="repl">
                                        <p:cTn id="1159" dur="6000"/>
                                        <p:tgtEl>
                                          <p:spTgt spid="556"/>
                                        </p:tgtEl>
                                      </p:cBhvr>
                                    </p:animEffect>
                                  </p:childTnLst>
                                </p:cTn>
                              </p:par>
                            </p:childTnLst>
                          </p:cTn>
                        </p:par>
                        <p:par>
                          <p:cTn id="1160" nodeType="afterEffect" fill="hold">
                            <p:stCondLst>
                              <p:cond delay="6000"/>
                            </p:stCondLst>
                            <p:childTnLst>
                              <p:par>
                                <p:cTn id="1161" nodeType="afterEffect" fill="hold" presetClass="entr" presetID="22" presetSubtype="8">
                                  <p:stCondLst>
                                    <p:cond delay="0"/>
                                  </p:stCondLst>
                                  <p:childTnLst>
                                    <p:set>
                                      <p:cBhvr>
                                        <p:cTn id="1162" dur="1" fill="hold">
                                          <p:stCondLst>
                                            <p:cond delay="0"/>
                                          </p:stCondLst>
                                        </p:cTn>
                                        <p:tgtEl>
                                          <p:spTgt spid="547"/>
                                        </p:tgtEl>
                                        <p:attrNameLst>
                                          <p:attrName>style.visibility</p:attrName>
                                        </p:attrNameLst>
                                      </p:cBhvr>
                                      <p:to>
                                        <p:strVal val="visible"/>
                                      </p:to>
                                    </p:set>
                                    <p:animEffect filter="wipe(left)" transition="in">
                                      <p:cBhvr additive="repl">
                                        <p:cTn id="1163" dur="6000"/>
                                        <p:tgtEl>
                                          <p:spTgt spid="547"/>
                                        </p:tgtEl>
                                      </p:cBhvr>
                                    </p:animEffect>
                                  </p:childTnLst>
                                </p:cTn>
                              </p:par>
                            </p:childTnLst>
                          </p:cTn>
                        </p:par>
                        <p:par>
                          <p:cTn id="1164" nodeType="afterEffect" fill="hold">
                            <p:stCondLst>
                              <p:cond delay="12000"/>
                            </p:stCondLst>
                            <p:childTnLst>
                              <p:par>
                                <p:cTn id="1165" nodeType="afterEffect" fill="hold" presetClass="entr" presetID="22" presetSubtype="2">
                                  <p:stCondLst>
                                    <p:cond delay="0"/>
                                  </p:stCondLst>
                                  <p:childTnLst>
                                    <p:set>
                                      <p:cBhvr>
                                        <p:cTn id="1166" dur="1" fill="hold">
                                          <p:stCondLst>
                                            <p:cond delay="0"/>
                                          </p:stCondLst>
                                        </p:cTn>
                                        <p:tgtEl>
                                          <p:spTgt spid="557"/>
                                        </p:tgtEl>
                                        <p:attrNameLst>
                                          <p:attrName>style.visibility</p:attrName>
                                        </p:attrNameLst>
                                      </p:cBhvr>
                                      <p:to>
                                        <p:strVal val="visible"/>
                                      </p:to>
                                    </p:set>
                                    <p:animEffect filter="wipe(right)" transition="in">
                                      <p:cBhvr additive="repl">
                                        <p:cTn id="1167" dur="6000"/>
                                        <p:tgtEl>
                                          <p:spTgt spid="557"/>
                                        </p:tgtEl>
                                      </p:cBhvr>
                                    </p:animEffect>
                                  </p:childTnLst>
                                </p:cTn>
                              </p:par>
                            </p:childTnLst>
                          </p:cTn>
                        </p:par>
                        <p:par>
                          <p:cTn id="1168" nodeType="afterEffect" fill="hold">
                            <p:stCondLst>
                              <p:cond delay="18000"/>
                            </p:stCondLst>
                            <p:childTnLst>
                              <p:par>
                                <p:cTn id="1169" nodeType="afterEffect" fill="hold" presetClass="entr" presetID="22" presetSubtype="8">
                                  <p:stCondLst>
                                    <p:cond delay="0"/>
                                  </p:stCondLst>
                                  <p:childTnLst>
                                    <p:set>
                                      <p:cBhvr>
                                        <p:cTn id="1170" dur="1" fill="hold">
                                          <p:stCondLst>
                                            <p:cond delay="0"/>
                                          </p:stCondLst>
                                        </p:cTn>
                                        <p:tgtEl>
                                          <p:spTgt spid="561"/>
                                        </p:tgtEl>
                                        <p:attrNameLst>
                                          <p:attrName>style.visibility</p:attrName>
                                        </p:attrNameLst>
                                      </p:cBhvr>
                                      <p:to>
                                        <p:strVal val="visible"/>
                                      </p:to>
                                    </p:set>
                                    <p:animEffect filter="wipe(left)" transition="in">
                                      <p:cBhvr additive="repl">
                                        <p:cTn id="1171" dur="6000"/>
                                        <p:tgtEl>
                                          <p:spTgt spid="561"/>
                                        </p:tgtEl>
                                      </p:cBhvr>
                                    </p:animEffect>
                                  </p:childTnLst>
                                </p:cTn>
                              </p:par>
                            </p:childTnLst>
                          </p:cTn>
                        </p:par>
                        <p:par>
                          <p:cTn id="1172" nodeType="afterEffect" fill="hold">
                            <p:stCondLst>
                              <p:cond delay="24000"/>
                            </p:stCondLst>
                            <p:childTnLst>
                              <p:par>
                                <p:cTn id="1173" nodeType="afterEffect" fill="hold" presetClass="entr" presetID="22" presetSubtype="8">
                                  <p:stCondLst>
                                    <p:cond delay="0"/>
                                  </p:stCondLst>
                                  <p:childTnLst>
                                    <p:set>
                                      <p:cBhvr>
                                        <p:cTn id="1174" dur="1" fill="hold">
                                          <p:stCondLst>
                                            <p:cond delay="0"/>
                                          </p:stCondLst>
                                        </p:cTn>
                                        <p:tgtEl>
                                          <p:spTgt spid="559"/>
                                        </p:tgtEl>
                                        <p:attrNameLst>
                                          <p:attrName>style.visibility</p:attrName>
                                        </p:attrNameLst>
                                      </p:cBhvr>
                                      <p:to>
                                        <p:strVal val="visible"/>
                                      </p:to>
                                    </p:set>
                                    <p:animEffect filter="wipe(left)" transition="in">
                                      <p:cBhvr additive="repl">
                                        <p:cTn id="1175" dur="4000"/>
                                        <p:tgtEl>
                                          <p:spTgt spid="559"/>
                                        </p:tgtEl>
                                      </p:cBhvr>
                                    </p:animEffect>
                                  </p:childTnLst>
                                </p:cTn>
                              </p:par>
                            </p:childTnLst>
                          </p:cTn>
                        </p:par>
                      </p:childTnLst>
                    </p:cTn>
                  </p:par>
                  <p:par>
                    <p:cTn id="1176" nodeType="clickEffect" fill="hold">
                      <p:stCondLst>
                        <p:cond delay="indefinite"/>
                      </p:stCondLst>
                      <p:childTnLst>
                        <p:par>
                          <p:cTn id="1177" nodeType="withEffect" fill="hold">
                            <p:stCondLst>
                              <p:cond delay="0"/>
                            </p:stCondLst>
                            <p:childTnLst>
                              <p:par>
                                <p:cTn id="1178" nodeType="clickEffect" fill="hold" presetClass="entr" presetID="53" presetSubtype="16">
                                  <p:stCondLst>
                                    <p:cond delay="0"/>
                                  </p:stCondLst>
                                  <p:childTnLst>
                                    <p:set>
                                      <p:cBhvr>
                                        <p:cTn id="1179" dur="1" fill="hold">
                                          <p:stCondLst>
                                            <p:cond delay="0"/>
                                          </p:stCondLst>
                                        </p:cTn>
                                        <p:tgtEl>
                                          <p:spTgt spid="560"/>
                                        </p:tgtEl>
                                        <p:attrNameLst>
                                          <p:attrName>style.visibility</p:attrName>
                                        </p:attrNameLst>
                                      </p:cBhvr>
                                      <p:to>
                                        <p:strVal val="visible"/>
                                      </p:to>
                                    </p:set>
                                    <p:anim calcmode="lin" valueType="num">
                                      <p:cBhvr additive="repl">
                                        <p:cTn id="1180" dur="500" fill="hold"/>
                                        <p:tgtEl>
                                          <p:spTgt spid="560"/>
                                        </p:tgtEl>
                                        <p:attrNameLst>
                                          <p:attrName>ppt_w</p:attrName>
                                        </p:attrNameLst>
                                      </p:cBhvr>
                                      <p:tavLst>
                                        <p:tav tm="0">
                                          <p:val>
                                            <p:fltVal val="0"/>
                                          </p:val>
                                        </p:tav>
                                        <p:tav tm="100000">
                                          <p:val>
                                            <p:strVal val="#ppt_w"/>
                                          </p:val>
                                        </p:tav>
                                      </p:tavLst>
                                    </p:anim>
                                    <p:anim calcmode="lin" valueType="num">
                                      <p:cBhvr additive="repl">
                                        <p:cTn id="1181" dur="500" fill="hold"/>
                                        <p:tgtEl>
                                          <p:spTgt spid="560"/>
                                        </p:tgtEl>
                                        <p:attrNameLst>
                                          <p:attrName>ppt_h</p:attrName>
                                        </p:attrNameLst>
                                      </p:cBhvr>
                                      <p:tavLst>
                                        <p:tav tm="0">
                                          <p:val>
                                            <p:fltVal val="0"/>
                                          </p:val>
                                        </p:tav>
                                        <p:tav tm="100000">
                                          <p:val>
                                            <p:strVal val="#ppt_h"/>
                                          </p:val>
                                        </p:tav>
                                      </p:tavLst>
                                    </p:anim>
                                    <p:animEffect filter="fade" transition="in">
                                      <p:cBhvr additive="repl">
                                        <p:cTn id="1182" dur="500"/>
                                        <p:tgtEl>
                                          <p:spTgt spid="5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3" name="16052009.mp4" descr=""/>
          <p:cNvPicPr/>
          <p:nvPr/>
        </p:nvPicPr>
        <p:blipFill>
          <a:blip r:embed="rId1"/>
          <a:stretch/>
        </p:blipFill>
        <p:spPr>
          <a:xfrm>
            <a:off x="108000" y="115920"/>
            <a:ext cx="3359160" cy="2521080"/>
          </a:xfrm>
          <a:prstGeom prst="rect">
            <a:avLst/>
          </a:prstGeom>
          <a:noFill/>
          <a:ln w="19080">
            <a:solidFill>
              <a:srgbClr val="ffff00"/>
            </a:solidFill>
            <a:miter/>
          </a:ln>
        </p:spPr>
      </p:pic>
      <p:pic>
        <p:nvPicPr>
          <p:cNvPr id="564" name="Picture 2" descr=""/>
          <p:cNvPicPr/>
          <p:nvPr/>
        </p:nvPicPr>
        <p:blipFill>
          <a:blip r:embed="rId2"/>
          <a:srcRect l="55887" t="51573" r="33873" b="28063"/>
          <a:stretch/>
        </p:blipFill>
        <p:spPr>
          <a:xfrm>
            <a:off x="8388360" y="6237360"/>
            <a:ext cx="568440" cy="479520"/>
          </a:xfrm>
          <a:prstGeom prst="rect">
            <a:avLst/>
          </a:prstGeom>
          <a:noFill/>
          <a:ln w="0">
            <a:noFill/>
          </a:ln>
        </p:spPr>
      </p:pic>
      <p:sp>
        <p:nvSpPr>
          <p:cNvPr id="565" name="Rectangle 3"/>
          <p:cNvSpPr/>
          <p:nvPr/>
        </p:nvSpPr>
        <p:spPr>
          <a:xfrm>
            <a:off x="1619280" y="3357720"/>
            <a:ext cx="6265800" cy="2303280"/>
          </a:xfrm>
          <a:prstGeom prst="rect">
            <a:avLst/>
          </a:prstGeom>
          <a:noFill/>
          <a:ln w="28440">
            <a:solidFill>
              <a:srgbClr val="ffff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66" name="Connecteur droit 5"/>
          <p:cNvSpPr/>
          <p:nvPr/>
        </p:nvSpPr>
        <p:spPr>
          <a:xfrm>
            <a:off x="4643280" y="3357720"/>
            <a:ext cx="0" cy="23032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67" name="Rectangle 7"/>
          <p:cNvSpPr/>
          <p:nvPr/>
        </p:nvSpPr>
        <p:spPr>
          <a:xfrm>
            <a:off x="585720" y="3357720"/>
            <a:ext cx="1033560" cy="2303280"/>
          </a:xfrm>
          <a:prstGeom prst="rect">
            <a:avLst/>
          </a:prstGeom>
          <a:solidFill>
            <a:srgbClr val="00cc99"/>
          </a:solidFill>
          <a:ln w="25560">
            <a:solidFill>
              <a:srgbClr val="00956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68" name="Connecteur droit 9"/>
          <p:cNvSpPr/>
          <p:nvPr/>
        </p:nvSpPr>
        <p:spPr>
          <a:xfrm>
            <a:off x="1619280" y="5516640"/>
            <a:ext cx="313200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69" name="Connecteur droit 13"/>
          <p:cNvSpPr/>
          <p:nvPr/>
        </p:nvSpPr>
        <p:spPr>
          <a:xfrm flipH="1">
            <a:off x="1619280" y="5454720"/>
            <a:ext cx="302400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0" name="Connecteur droit 17"/>
          <p:cNvSpPr/>
          <p:nvPr/>
        </p:nvSpPr>
        <p:spPr>
          <a:xfrm flipH="1">
            <a:off x="585360" y="5445000"/>
            <a:ext cx="1033560" cy="0"/>
          </a:xfrm>
          <a:prstGeom prst="line">
            <a:avLst/>
          </a:prstGeom>
          <a:ln w="28440">
            <a:solidFill>
              <a:srgbClr val="000000"/>
            </a:solidFill>
            <a:prstDash val="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1" name="Connecteur droit 19"/>
          <p:cNvSpPr/>
          <p:nvPr/>
        </p:nvSpPr>
        <p:spPr>
          <a:xfrm>
            <a:off x="585720" y="5516640"/>
            <a:ext cx="1033560" cy="0"/>
          </a:xfrm>
          <a:prstGeom prst="line">
            <a:avLst/>
          </a:prstGeom>
          <a:ln w="28440">
            <a:solidFill>
              <a:srgbClr val="000000"/>
            </a:solidFill>
            <a:prstDash val="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2" name="Connecteur droit 20"/>
          <p:cNvSpPr/>
          <p:nvPr/>
        </p:nvSpPr>
        <p:spPr>
          <a:xfrm>
            <a:off x="1644480" y="5084640"/>
            <a:ext cx="313236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3" name="Connecteur droit 21"/>
          <p:cNvSpPr/>
          <p:nvPr/>
        </p:nvSpPr>
        <p:spPr>
          <a:xfrm flipH="1">
            <a:off x="1644120" y="5013360"/>
            <a:ext cx="302436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4" name="Connecteur droit 22"/>
          <p:cNvSpPr/>
          <p:nvPr/>
        </p:nvSpPr>
        <p:spPr>
          <a:xfrm flipH="1">
            <a:off x="611280" y="5013360"/>
            <a:ext cx="1033200" cy="0"/>
          </a:xfrm>
          <a:prstGeom prst="line">
            <a:avLst/>
          </a:prstGeom>
          <a:ln w="28440">
            <a:solidFill>
              <a:srgbClr val="000000"/>
            </a:solidFill>
            <a:prstDash val="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5" name="Connecteur droit 23"/>
          <p:cNvSpPr/>
          <p:nvPr/>
        </p:nvSpPr>
        <p:spPr>
          <a:xfrm>
            <a:off x="611280" y="5084640"/>
            <a:ext cx="1033200" cy="0"/>
          </a:xfrm>
          <a:prstGeom prst="line">
            <a:avLst/>
          </a:prstGeom>
          <a:ln w="28440">
            <a:solidFill>
              <a:srgbClr val="000000"/>
            </a:solidFill>
            <a:prstDash val="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6" name="Connecteur droit 24"/>
          <p:cNvSpPr/>
          <p:nvPr/>
        </p:nvSpPr>
        <p:spPr>
          <a:xfrm>
            <a:off x="1644480" y="4724280"/>
            <a:ext cx="313236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7" name="Connecteur droit 25"/>
          <p:cNvSpPr/>
          <p:nvPr/>
        </p:nvSpPr>
        <p:spPr>
          <a:xfrm flipH="1">
            <a:off x="1644120" y="4653000"/>
            <a:ext cx="302436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8" name="Connecteur droit 26"/>
          <p:cNvSpPr/>
          <p:nvPr/>
        </p:nvSpPr>
        <p:spPr>
          <a:xfrm flipH="1">
            <a:off x="611280" y="4653000"/>
            <a:ext cx="1033200" cy="0"/>
          </a:xfrm>
          <a:prstGeom prst="line">
            <a:avLst/>
          </a:prstGeom>
          <a:ln w="28440">
            <a:solidFill>
              <a:srgbClr val="000000"/>
            </a:solidFill>
            <a:prstDash val="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9" name="Connecteur droit 27"/>
          <p:cNvSpPr/>
          <p:nvPr/>
        </p:nvSpPr>
        <p:spPr>
          <a:xfrm>
            <a:off x="611280" y="4724280"/>
            <a:ext cx="1033200" cy="0"/>
          </a:xfrm>
          <a:prstGeom prst="line">
            <a:avLst/>
          </a:prstGeom>
          <a:ln w="28440">
            <a:solidFill>
              <a:srgbClr val="000000"/>
            </a:solidFill>
            <a:prstDash val="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0" name="Connecteur droit 28"/>
          <p:cNvSpPr/>
          <p:nvPr/>
        </p:nvSpPr>
        <p:spPr>
          <a:xfrm>
            <a:off x="1644480" y="4292640"/>
            <a:ext cx="313236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1" name="Connecteur droit 29"/>
          <p:cNvSpPr/>
          <p:nvPr/>
        </p:nvSpPr>
        <p:spPr>
          <a:xfrm flipH="1">
            <a:off x="1644120" y="4221000"/>
            <a:ext cx="3024360" cy="0"/>
          </a:xfrm>
          <a:prstGeom prst="line">
            <a:avLst/>
          </a:prstGeom>
          <a:ln w="28440">
            <a:solidFill>
              <a:srgbClr val="ffff00"/>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2" name="Connecteur droit 30"/>
          <p:cNvSpPr/>
          <p:nvPr/>
        </p:nvSpPr>
        <p:spPr>
          <a:xfrm flipH="1">
            <a:off x="611280" y="4221000"/>
            <a:ext cx="1033200" cy="0"/>
          </a:xfrm>
          <a:prstGeom prst="line">
            <a:avLst/>
          </a:prstGeom>
          <a:ln w="28440">
            <a:solidFill>
              <a:srgbClr val="000000"/>
            </a:solidFill>
            <a:prstDash val="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3" name="Connecteur droit 31"/>
          <p:cNvSpPr/>
          <p:nvPr/>
        </p:nvSpPr>
        <p:spPr>
          <a:xfrm>
            <a:off x="611280" y="4292640"/>
            <a:ext cx="1033200" cy="0"/>
          </a:xfrm>
          <a:prstGeom prst="line">
            <a:avLst/>
          </a:prstGeom>
          <a:ln w="28440">
            <a:solidFill>
              <a:srgbClr val="000000"/>
            </a:solidFill>
            <a:prstDash val="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84" name="ZoneTexte 32"/>
          <p:cNvSpPr/>
          <p:nvPr/>
        </p:nvSpPr>
        <p:spPr>
          <a:xfrm>
            <a:off x="2678040" y="3346560"/>
            <a:ext cx="5936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20m</a:t>
            </a:r>
            <a:endParaRPr b="0" lang="en-US" sz="1800" strike="noStrike" u="none">
              <a:solidFill>
                <a:srgbClr val="ffff00"/>
              </a:solidFill>
              <a:effectLst/>
              <a:uFillTx/>
              <a:latin typeface="Times New Roman"/>
            </a:endParaRPr>
          </a:p>
        </p:txBody>
      </p:sp>
      <p:cxnSp>
        <p:nvCxnSpPr>
          <p:cNvPr id="585" name="Connecteur droit avec flèche 34"/>
          <p:cNvCxnSpPr/>
          <p:nvPr/>
        </p:nvCxnSpPr>
        <p:spPr>
          <a:xfrm flipH="1">
            <a:off x="1644120" y="3573000"/>
            <a:ext cx="912240" cy="1080"/>
          </a:xfrm>
          <a:prstGeom prst="straightConnector1">
            <a:avLst/>
          </a:prstGeom>
          <a:ln w="9360">
            <a:solidFill>
              <a:srgbClr val="ffff00"/>
            </a:solidFill>
            <a:miter/>
            <a:tailEnd len="med" type="triangle" w="med"/>
          </a:ln>
        </p:spPr>
      </p:cxnSp>
      <p:cxnSp>
        <p:nvCxnSpPr>
          <p:cNvPr id="586" name="Connecteur droit avec flèche 36"/>
          <p:cNvCxnSpPr/>
          <p:nvPr/>
        </p:nvCxnSpPr>
        <p:spPr>
          <a:xfrm>
            <a:off x="3276720" y="3573000"/>
            <a:ext cx="1296000" cy="1080"/>
          </a:xfrm>
          <a:prstGeom prst="straightConnector1">
            <a:avLst/>
          </a:prstGeom>
          <a:ln w="9360">
            <a:solidFill>
              <a:srgbClr val="ffff00"/>
            </a:solidFill>
            <a:miter/>
            <a:tailEnd len="med" type="arrow" w="med"/>
          </a:ln>
        </p:spPr>
      </p:cxnSp>
      <p:sp>
        <p:nvSpPr>
          <p:cNvPr id="587" name="ZoneTexte 33"/>
          <p:cNvSpPr/>
          <p:nvPr/>
        </p:nvSpPr>
        <p:spPr>
          <a:xfrm>
            <a:off x="2340720" y="184320"/>
            <a:ext cx="8020080" cy="164844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alibri"/>
                <a:ea typeface="Calibri"/>
              </a:rPr>
              <a:t>Yo-Yo Intermittent Recovery Test</a:t>
            </a:r>
            <a:endParaRPr b="0" lang="en-US" sz="32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ff"/>
                </a:solidFill>
                <a:effectLst/>
                <a:uFillTx/>
                <a:latin typeface="Calibri"/>
                <a:ea typeface="Calibri"/>
              </a:rPr>
              <a:t>Bansgsbo J., Iaia M., Krustrup P</a:t>
            </a:r>
            <a:r>
              <a:rPr b="1" lang="fr-FR" sz="1800" strike="noStrike" u="none">
                <a:solidFill>
                  <a:srgbClr val="ffffff"/>
                </a:solidFill>
                <a:effectLst/>
                <a:uFillTx/>
                <a:latin typeface="Calibri"/>
                <a:ea typeface="Calibri"/>
              </a:rPr>
              <a:t>. </a:t>
            </a:r>
            <a:r>
              <a:rPr b="1" i="1" lang="fr-FR" sz="1800" strike="noStrike" u="none">
                <a:solidFill>
                  <a:srgbClr val="ffffff"/>
                </a:solidFill>
                <a:effectLst/>
                <a:uFillTx/>
                <a:latin typeface="Calibri"/>
                <a:ea typeface="Calibri"/>
              </a:rPr>
              <a:t>2008. Sport Med 38(1)</a:t>
            </a:r>
            <a:endParaRPr b="0" lang="en-US" sz="18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p:txBody>
      </p:sp>
    </p:spTree>
  </p:cSld>
  <p:transition spd="med">
    <p:zoom dir="out"/>
  </p:transition>
  <p:timing>
    <p:tnLst>
      <p:par>
        <p:cTn id="1183" dur="indefinite" restart="never" nodeType="tmRoot">
          <p:childTnLst>
            <p:seq>
              <p:cTn id="1184" dur="indefinite" nodeType="mainSeq">
                <p:childTnLst>
                  <p:par>
                    <p:cTn id="1185" nodeType="clickEffect" fill="hold">
                      <p:stCondLst>
                        <p:cond delay="indefinite"/>
                      </p:stCondLst>
                      <p:childTnLst>
                        <p:par>
                          <p:cTn id="1186" nodeType="withEffect" fill="hold">
                            <p:stCondLst>
                              <p:cond delay="0"/>
                            </p:stCondLst>
                            <p:childTnLst>
                              <p:par>
                                <p:cTn id="1187" nodeType="clickEffect" fill="hold" presetClass="entr" presetID="22" presetSubtype="8">
                                  <p:stCondLst>
                                    <p:cond delay="0"/>
                                  </p:stCondLst>
                                  <p:childTnLst>
                                    <p:set>
                                      <p:cBhvr>
                                        <p:cTn id="1188" dur="1" fill="hold">
                                          <p:stCondLst>
                                            <p:cond delay="0"/>
                                          </p:stCondLst>
                                        </p:cTn>
                                        <p:tgtEl>
                                          <p:spTgt spid="568"/>
                                        </p:tgtEl>
                                        <p:attrNameLst>
                                          <p:attrName>style.visibility</p:attrName>
                                        </p:attrNameLst>
                                      </p:cBhvr>
                                      <p:to>
                                        <p:strVal val="visible"/>
                                      </p:to>
                                    </p:set>
                                    <p:animEffect filter="wipe(left)" transition="in">
                                      <p:cBhvr additive="repl">
                                        <p:cTn id="1189" dur="3250"/>
                                        <p:tgtEl>
                                          <p:spTgt spid="568"/>
                                        </p:tgtEl>
                                      </p:cBhvr>
                                    </p:animEffect>
                                  </p:childTnLst>
                                </p:cTn>
                              </p:par>
                              <p:par>
                                <p:cTn id="1190" nodeType="withEffect" fill="hold" presetClass="entr" presetID="22" presetSubtype="8">
                                  <p:stCondLst>
                                    <p:cond delay="0"/>
                                  </p:stCondLst>
                                  <p:childTnLst>
                                    <p:set>
                                      <p:cBhvr>
                                        <p:cTn id="1191" dur="1" fill="hold">
                                          <p:stCondLst>
                                            <p:cond delay="0"/>
                                          </p:stCondLst>
                                        </p:cTn>
                                        <p:tgtEl>
                                          <p:spTgt spid="572"/>
                                        </p:tgtEl>
                                        <p:attrNameLst>
                                          <p:attrName>style.visibility</p:attrName>
                                        </p:attrNameLst>
                                      </p:cBhvr>
                                      <p:to>
                                        <p:strVal val="visible"/>
                                      </p:to>
                                    </p:set>
                                    <p:animEffect filter="wipe(left)" transition="in">
                                      <p:cBhvr additive="repl">
                                        <p:cTn id="1192" dur="3250"/>
                                        <p:tgtEl>
                                          <p:spTgt spid="572"/>
                                        </p:tgtEl>
                                      </p:cBhvr>
                                    </p:animEffect>
                                  </p:childTnLst>
                                </p:cTn>
                              </p:par>
                              <p:par>
                                <p:cTn id="1193" nodeType="withEffect" fill="hold" presetClass="entr" presetID="22" presetSubtype="8">
                                  <p:stCondLst>
                                    <p:cond delay="0"/>
                                  </p:stCondLst>
                                  <p:childTnLst>
                                    <p:set>
                                      <p:cBhvr>
                                        <p:cTn id="1194" dur="1" fill="hold">
                                          <p:stCondLst>
                                            <p:cond delay="0"/>
                                          </p:stCondLst>
                                        </p:cTn>
                                        <p:tgtEl>
                                          <p:spTgt spid="576"/>
                                        </p:tgtEl>
                                        <p:attrNameLst>
                                          <p:attrName>style.visibility</p:attrName>
                                        </p:attrNameLst>
                                      </p:cBhvr>
                                      <p:to>
                                        <p:strVal val="visible"/>
                                      </p:to>
                                    </p:set>
                                    <p:animEffect filter="wipe(left)" transition="in">
                                      <p:cBhvr additive="repl">
                                        <p:cTn id="1195" dur="3250"/>
                                        <p:tgtEl>
                                          <p:spTgt spid="576"/>
                                        </p:tgtEl>
                                      </p:cBhvr>
                                    </p:animEffect>
                                  </p:childTnLst>
                                </p:cTn>
                              </p:par>
                              <p:par>
                                <p:cTn id="1196" nodeType="withEffect" fill="hold" presetClass="entr" presetID="22" presetSubtype="8">
                                  <p:stCondLst>
                                    <p:cond delay="0"/>
                                  </p:stCondLst>
                                  <p:childTnLst>
                                    <p:set>
                                      <p:cBhvr>
                                        <p:cTn id="1197" dur="1" fill="hold">
                                          <p:stCondLst>
                                            <p:cond delay="0"/>
                                          </p:stCondLst>
                                        </p:cTn>
                                        <p:tgtEl>
                                          <p:spTgt spid="580"/>
                                        </p:tgtEl>
                                        <p:attrNameLst>
                                          <p:attrName>style.visibility</p:attrName>
                                        </p:attrNameLst>
                                      </p:cBhvr>
                                      <p:to>
                                        <p:strVal val="visible"/>
                                      </p:to>
                                    </p:set>
                                    <p:animEffect filter="wipe(left)" transition="in">
                                      <p:cBhvr additive="repl">
                                        <p:cTn id="1198" dur="3250"/>
                                        <p:tgtEl>
                                          <p:spTgt spid="580"/>
                                        </p:tgtEl>
                                      </p:cBhvr>
                                    </p:animEffect>
                                  </p:childTnLst>
                                </p:cTn>
                              </p:par>
                            </p:childTnLst>
                          </p:cTn>
                        </p:par>
                        <p:par>
                          <p:cTn id="1199" nodeType="afterEffect" fill="hold">
                            <p:stCondLst>
                              <p:cond delay="3250"/>
                            </p:stCondLst>
                            <p:childTnLst>
                              <p:par>
                                <p:cTn id="1200" nodeType="afterEffect" fill="hold" presetClass="entr" presetID="22" presetSubtype="2">
                                  <p:stCondLst>
                                    <p:cond delay="0"/>
                                  </p:stCondLst>
                                  <p:childTnLst>
                                    <p:set>
                                      <p:cBhvr>
                                        <p:cTn id="1201" dur="1" fill="hold">
                                          <p:stCondLst>
                                            <p:cond delay="0"/>
                                          </p:stCondLst>
                                        </p:cTn>
                                        <p:tgtEl>
                                          <p:spTgt spid="569"/>
                                        </p:tgtEl>
                                        <p:attrNameLst>
                                          <p:attrName>style.visibility</p:attrName>
                                        </p:attrNameLst>
                                      </p:cBhvr>
                                      <p:to>
                                        <p:strVal val="visible"/>
                                      </p:to>
                                    </p:set>
                                    <p:animEffect filter="wipe(right)" transition="in">
                                      <p:cBhvr additive="repl">
                                        <p:cTn id="1202" dur="3250"/>
                                        <p:tgtEl>
                                          <p:spTgt spid="569"/>
                                        </p:tgtEl>
                                      </p:cBhvr>
                                    </p:animEffect>
                                  </p:childTnLst>
                                </p:cTn>
                              </p:par>
                              <p:par>
                                <p:cTn id="1203" nodeType="withEffect" fill="hold" presetClass="entr" presetID="22" presetSubtype="2">
                                  <p:stCondLst>
                                    <p:cond delay="0"/>
                                  </p:stCondLst>
                                  <p:childTnLst>
                                    <p:set>
                                      <p:cBhvr>
                                        <p:cTn id="1204" dur="1" fill="hold">
                                          <p:stCondLst>
                                            <p:cond delay="0"/>
                                          </p:stCondLst>
                                        </p:cTn>
                                        <p:tgtEl>
                                          <p:spTgt spid="573"/>
                                        </p:tgtEl>
                                        <p:attrNameLst>
                                          <p:attrName>style.visibility</p:attrName>
                                        </p:attrNameLst>
                                      </p:cBhvr>
                                      <p:to>
                                        <p:strVal val="visible"/>
                                      </p:to>
                                    </p:set>
                                    <p:animEffect filter="wipe(right)" transition="in">
                                      <p:cBhvr additive="repl">
                                        <p:cTn id="1205" dur="3250"/>
                                        <p:tgtEl>
                                          <p:spTgt spid="573"/>
                                        </p:tgtEl>
                                      </p:cBhvr>
                                    </p:animEffect>
                                  </p:childTnLst>
                                </p:cTn>
                              </p:par>
                              <p:par>
                                <p:cTn id="1206" nodeType="withEffect" fill="hold" presetClass="entr" presetID="22" presetSubtype="2">
                                  <p:stCondLst>
                                    <p:cond delay="0"/>
                                  </p:stCondLst>
                                  <p:childTnLst>
                                    <p:set>
                                      <p:cBhvr>
                                        <p:cTn id="1207" dur="1" fill="hold">
                                          <p:stCondLst>
                                            <p:cond delay="0"/>
                                          </p:stCondLst>
                                        </p:cTn>
                                        <p:tgtEl>
                                          <p:spTgt spid="577"/>
                                        </p:tgtEl>
                                        <p:attrNameLst>
                                          <p:attrName>style.visibility</p:attrName>
                                        </p:attrNameLst>
                                      </p:cBhvr>
                                      <p:to>
                                        <p:strVal val="visible"/>
                                      </p:to>
                                    </p:set>
                                    <p:animEffect filter="wipe(right)" transition="in">
                                      <p:cBhvr additive="repl">
                                        <p:cTn id="1208" dur="3250"/>
                                        <p:tgtEl>
                                          <p:spTgt spid="577"/>
                                        </p:tgtEl>
                                      </p:cBhvr>
                                    </p:animEffect>
                                  </p:childTnLst>
                                </p:cTn>
                              </p:par>
                              <p:par>
                                <p:cTn id="1209" nodeType="withEffect" fill="hold" presetClass="entr" presetID="22" presetSubtype="2">
                                  <p:stCondLst>
                                    <p:cond delay="0"/>
                                  </p:stCondLst>
                                  <p:childTnLst>
                                    <p:set>
                                      <p:cBhvr>
                                        <p:cTn id="1210" dur="1" fill="hold">
                                          <p:stCondLst>
                                            <p:cond delay="0"/>
                                          </p:stCondLst>
                                        </p:cTn>
                                        <p:tgtEl>
                                          <p:spTgt spid="581"/>
                                        </p:tgtEl>
                                        <p:attrNameLst>
                                          <p:attrName>style.visibility</p:attrName>
                                        </p:attrNameLst>
                                      </p:cBhvr>
                                      <p:to>
                                        <p:strVal val="visible"/>
                                      </p:to>
                                    </p:set>
                                    <p:animEffect filter="wipe(right)" transition="in">
                                      <p:cBhvr additive="repl">
                                        <p:cTn id="1211" dur="3250"/>
                                        <p:tgtEl>
                                          <p:spTgt spid="581"/>
                                        </p:tgtEl>
                                      </p:cBhvr>
                                    </p:animEffect>
                                  </p:childTnLst>
                                </p:cTn>
                              </p:par>
                            </p:childTnLst>
                          </p:cTn>
                        </p:par>
                        <p:par>
                          <p:cTn id="1212" nodeType="afterEffect" fill="hold">
                            <p:stCondLst>
                              <p:cond delay="6500"/>
                            </p:stCondLst>
                            <p:childTnLst>
                              <p:par>
                                <p:cTn id="1213" nodeType="afterEffect" fill="hold" presetClass="entr" presetID="22" presetSubtype="2">
                                  <p:stCondLst>
                                    <p:cond delay="0"/>
                                  </p:stCondLst>
                                  <p:childTnLst>
                                    <p:set>
                                      <p:cBhvr>
                                        <p:cTn id="1214" dur="1" fill="hold">
                                          <p:stCondLst>
                                            <p:cond delay="0"/>
                                          </p:stCondLst>
                                        </p:cTn>
                                        <p:tgtEl>
                                          <p:spTgt spid="570"/>
                                        </p:tgtEl>
                                        <p:attrNameLst>
                                          <p:attrName>style.visibility</p:attrName>
                                        </p:attrNameLst>
                                      </p:cBhvr>
                                      <p:to>
                                        <p:strVal val="visible"/>
                                      </p:to>
                                    </p:set>
                                    <p:animEffect filter="wipe(right)" transition="in">
                                      <p:cBhvr additive="repl">
                                        <p:cTn id="1215" dur="4000"/>
                                        <p:tgtEl>
                                          <p:spTgt spid="570"/>
                                        </p:tgtEl>
                                      </p:cBhvr>
                                    </p:animEffect>
                                  </p:childTnLst>
                                </p:cTn>
                              </p:par>
                              <p:par>
                                <p:cTn id="1216" nodeType="withEffect" fill="hold" presetClass="entr" presetID="22" presetSubtype="2">
                                  <p:stCondLst>
                                    <p:cond delay="0"/>
                                  </p:stCondLst>
                                  <p:childTnLst>
                                    <p:set>
                                      <p:cBhvr>
                                        <p:cTn id="1217" dur="1" fill="hold">
                                          <p:stCondLst>
                                            <p:cond delay="0"/>
                                          </p:stCondLst>
                                        </p:cTn>
                                        <p:tgtEl>
                                          <p:spTgt spid="574"/>
                                        </p:tgtEl>
                                        <p:attrNameLst>
                                          <p:attrName>style.visibility</p:attrName>
                                        </p:attrNameLst>
                                      </p:cBhvr>
                                      <p:to>
                                        <p:strVal val="visible"/>
                                      </p:to>
                                    </p:set>
                                    <p:animEffect filter="wipe(right)" transition="in">
                                      <p:cBhvr additive="repl">
                                        <p:cTn id="1218" dur="4000"/>
                                        <p:tgtEl>
                                          <p:spTgt spid="574"/>
                                        </p:tgtEl>
                                      </p:cBhvr>
                                    </p:animEffect>
                                  </p:childTnLst>
                                </p:cTn>
                              </p:par>
                              <p:par>
                                <p:cTn id="1219" nodeType="withEffect" fill="hold" presetClass="entr" presetID="22" presetSubtype="2">
                                  <p:stCondLst>
                                    <p:cond delay="0"/>
                                  </p:stCondLst>
                                  <p:childTnLst>
                                    <p:set>
                                      <p:cBhvr>
                                        <p:cTn id="1220" dur="1" fill="hold">
                                          <p:stCondLst>
                                            <p:cond delay="0"/>
                                          </p:stCondLst>
                                        </p:cTn>
                                        <p:tgtEl>
                                          <p:spTgt spid="578"/>
                                        </p:tgtEl>
                                        <p:attrNameLst>
                                          <p:attrName>style.visibility</p:attrName>
                                        </p:attrNameLst>
                                      </p:cBhvr>
                                      <p:to>
                                        <p:strVal val="visible"/>
                                      </p:to>
                                    </p:set>
                                    <p:animEffect filter="wipe(right)" transition="in">
                                      <p:cBhvr additive="repl">
                                        <p:cTn id="1221" dur="4000"/>
                                        <p:tgtEl>
                                          <p:spTgt spid="578"/>
                                        </p:tgtEl>
                                      </p:cBhvr>
                                    </p:animEffect>
                                  </p:childTnLst>
                                </p:cTn>
                              </p:par>
                              <p:par>
                                <p:cTn id="1222" nodeType="withEffect" fill="hold" presetClass="entr" presetID="22" presetSubtype="2">
                                  <p:stCondLst>
                                    <p:cond delay="0"/>
                                  </p:stCondLst>
                                  <p:childTnLst>
                                    <p:set>
                                      <p:cBhvr>
                                        <p:cTn id="1223" dur="1" fill="hold">
                                          <p:stCondLst>
                                            <p:cond delay="0"/>
                                          </p:stCondLst>
                                        </p:cTn>
                                        <p:tgtEl>
                                          <p:spTgt spid="582"/>
                                        </p:tgtEl>
                                        <p:attrNameLst>
                                          <p:attrName>style.visibility</p:attrName>
                                        </p:attrNameLst>
                                      </p:cBhvr>
                                      <p:to>
                                        <p:strVal val="visible"/>
                                      </p:to>
                                    </p:set>
                                    <p:animEffect filter="wipe(right)" transition="in">
                                      <p:cBhvr additive="repl">
                                        <p:cTn id="1224" dur="4000"/>
                                        <p:tgtEl>
                                          <p:spTgt spid="582"/>
                                        </p:tgtEl>
                                      </p:cBhvr>
                                    </p:animEffect>
                                  </p:childTnLst>
                                </p:cTn>
                              </p:par>
                            </p:childTnLst>
                          </p:cTn>
                        </p:par>
                        <p:par>
                          <p:cTn id="1225" nodeType="afterEffect" fill="hold">
                            <p:stCondLst>
                              <p:cond delay="10500"/>
                            </p:stCondLst>
                            <p:childTnLst>
                              <p:par>
                                <p:cTn id="1226" nodeType="afterEffect" fill="hold" presetClass="entr" presetID="22" presetSubtype="8">
                                  <p:stCondLst>
                                    <p:cond delay="0"/>
                                  </p:stCondLst>
                                  <p:childTnLst>
                                    <p:set>
                                      <p:cBhvr>
                                        <p:cTn id="1227" dur="1" fill="hold">
                                          <p:stCondLst>
                                            <p:cond delay="0"/>
                                          </p:stCondLst>
                                        </p:cTn>
                                        <p:tgtEl>
                                          <p:spTgt spid="571"/>
                                        </p:tgtEl>
                                        <p:attrNameLst>
                                          <p:attrName>style.visibility</p:attrName>
                                        </p:attrNameLst>
                                      </p:cBhvr>
                                      <p:to>
                                        <p:strVal val="visible"/>
                                      </p:to>
                                    </p:set>
                                    <p:animEffect filter="wipe(left)" transition="in">
                                      <p:cBhvr additive="repl">
                                        <p:cTn id="1228" dur="4000"/>
                                        <p:tgtEl>
                                          <p:spTgt spid="571"/>
                                        </p:tgtEl>
                                      </p:cBhvr>
                                    </p:animEffect>
                                  </p:childTnLst>
                                </p:cTn>
                              </p:par>
                              <p:par>
                                <p:cTn id="1229" nodeType="withEffect" fill="hold" presetClass="entr" presetID="22" presetSubtype="8">
                                  <p:stCondLst>
                                    <p:cond delay="0"/>
                                  </p:stCondLst>
                                  <p:childTnLst>
                                    <p:set>
                                      <p:cBhvr>
                                        <p:cTn id="1230" dur="1" fill="hold">
                                          <p:stCondLst>
                                            <p:cond delay="0"/>
                                          </p:stCondLst>
                                        </p:cTn>
                                        <p:tgtEl>
                                          <p:spTgt spid="575"/>
                                        </p:tgtEl>
                                        <p:attrNameLst>
                                          <p:attrName>style.visibility</p:attrName>
                                        </p:attrNameLst>
                                      </p:cBhvr>
                                      <p:to>
                                        <p:strVal val="visible"/>
                                      </p:to>
                                    </p:set>
                                    <p:animEffect filter="wipe(left)" transition="in">
                                      <p:cBhvr additive="repl">
                                        <p:cTn id="1231" dur="4000"/>
                                        <p:tgtEl>
                                          <p:spTgt spid="575"/>
                                        </p:tgtEl>
                                      </p:cBhvr>
                                    </p:animEffect>
                                  </p:childTnLst>
                                </p:cTn>
                              </p:par>
                              <p:par>
                                <p:cTn id="1232" nodeType="withEffect" fill="hold" presetClass="entr" presetID="22" presetSubtype="8">
                                  <p:stCondLst>
                                    <p:cond delay="0"/>
                                  </p:stCondLst>
                                  <p:childTnLst>
                                    <p:set>
                                      <p:cBhvr>
                                        <p:cTn id="1233" dur="1" fill="hold">
                                          <p:stCondLst>
                                            <p:cond delay="0"/>
                                          </p:stCondLst>
                                        </p:cTn>
                                        <p:tgtEl>
                                          <p:spTgt spid="579"/>
                                        </p:tgtEl>
                                        <p:attrNameLst>
                                          <p:attrName>style.visibility</p:attrName>
                                        </p:attrNameLst>
                                      </p:cBhvr>
                                      <p:to>
                                        <p:strVal val="visible"/>
                                      </p:to>
                                    </p:set>
                                    <p:animEffect filter="wipe(left)" transition="in">
                                      <p:cBhvr additive="repl">
                                        <p:cTn id="1234" dur="4000"/>
                                        <p:tgtEl>
                                          <p:spTgt spid="579"/>
                                        </p:tgtEl>
                                      </p:cBhvr>
                                    </p:animEffect>
                                  </p:childTnLst>
                                </p:cTn>
                              </p:par>
                              <p:par>
                                <p:cTn id="1235" nodeType="withEffect" fill="hold" presetClass="entr" presetID="22" presetSubtype="8">
                                  <p:stCondLst>
                                    <p:cond delay="0"/>
                                  </p:stCondLst>
                                  <p:childTnLst>
                                    <p:set>
                                      <p:cBhvr>
                                        <p:cTn id="1236" dur="1" fill="hold">
                                          <p:stCondLst>
                                            <p:cond delay="0"/>
                                          </p:stCondLst>
                                        </p:cTn>
                                        <p:tgtEl>
                                          <p:spTgt spid="583"/>
                                        </p:tgtEl>
                                        <p:attrNameLst>
                                          <p:attrName>style.visibility</p:attrName>
                                        </p:attrNameLst>
                                      </p:cBhvr>
                                      <p:to>
                                        <p:strVal val="visible"/>
                                      </p:to>
                                    </p:set>
                                    <p:animEffect filter="wipe(left)" transition="in">
                                      <p:cBhvr additive="repl">
                                        <p:cTn id="1237" dur="4000"/>
                                        <p:tgtEl>
                                          <p:spTgt spid="5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88" name=""/>
          <p:cNvGraphicFramePr/>
          <p:nvPr/>
        </p:nvGraphicFramePr>
        <p:xfrm>
          <a:off x="34920" y="620640"/>
          <a:ext cx="9037800" cy="6037200"/>
        </p:xfrm>
        <a:graphic>
          <a:graphicData uri="http://schemas.openxmlformats.org/drawingml/2006/table">
            <a:tbl>
              <a:tblPr/>
              <a:tblGrid>
                <a:gridCol w="1600200"/>
                <a:gridCol w="833400"/>
                <a:gridCol w="1251000"/>
                <a:gridCol w="708120"/>
                <a:gridCol w="649080"/>
                <a:gridCol w="935280"/>
                <a:gridCol w="936360"/>
                <a:gridCol w="719280"/>
                <a:gridCol w="919080"/>
                <a:gridCol w="486000"/>
              </a:tblGrid>
              <a:tr h="1400760">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n = 10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VO2</a:t>
                      </a:r>
                      <a:endParaRPr b="0" lang="en-US" sz="1600" strike="noStrike" u="none">
                        <a:solidFill>
                          <a:srgbClr val="ffff00"/>
                        </a:solidFill>
                        <a:effectLst/>
                        <a:uFillTx/>
                        <a:latin typeface="Times New Roman"/>
                      </a:endParaRPr>
                    </a:p>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(L.min</a:t>
                      </a:r>
                      <a:r>
                        <a:rPr b="1" lang="fr-FR" sz="1600" strike="noStrike" u="none" baseline="30000">
                          <a:solidFill>
                            <a:srgbClr val="000000"/>
                          </a:solidFill>
                          <a:effectLst/>
                          <a:uFillTx/>
                          <a:latin typeface="Calibri"/>
                          <a:ea typeface="Calibri"/>
                        </a:rPr>
                        <a:t>-1</a:t>
                      </a:r>
                      <a:r>
                        <a:rPr b="1" lang="fr-FR" sz="1600" strike="noStrike" u="none">
                          <a:solidFill>
                            <a:srgbClr val="000000"/>
                          </a:solidFill>
                          <a:effectLst/>
                          <a:uFillTx/>
                          <a:latin typeface="Calibri"/>
                          <a:ea typeface="Calibri"/>
                        </a:rPr>
                        <a:t>)</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VO2 </a:t>
                      </a:r>
                      <a:endParaRPr b="0" lang="en-US" sz="1600" strike="noStrike" u="none">
                        <a:solidFill>
                          <a:srgbClr val="ffff00"/>
                        </a:solidFill>
                        <a:effectLst/>
                        <a:uFillTx/>
                        <a:latin typeface="Times New Roman"/>
                      </a:endParaRPr>
                    </a:p>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ml.min</a:t>
                      </a:r>
                      <a:r>
                        <a:rPr b="1" lang="fr-FR" sz="1600" strike="noStrike" u="none" baseline="30000">
                          <a:solidFill>
                            <a:srgbClr val="000000"/>
                          </a:solidFill>
                          <a:effectLst/>
                          <a:uFillTx/>
                          <a:latin typeface="Calibri"/>
                          <a:ea typeface="Calibri"/>
                        </a:rPr>
                        <a:t>-1</a:t>
                      </a:r>
                      <a:r>
                        <a:rPr b="1" lang="fr-FR" sz="1600" strike="noStrike" u="none">
                          <a:solidFill>
                            <a:srgbClr val="000000"/>
                          </a:solidFill>
                          <a:effectLst/>
                          <a:uFillTx/>
                          <a:latin typeface="Calibri"/>
                          <a:ea typeface="Calibri"/>
                        </a:rPr>
                        <a:t>.kg</a:t>
                      </a:r>
                      <a:r>
                        <a:rPr b="1" lang="fr-FR" sz="1600" strike="noStrike" u="none" baseline="30000">
                          <a:solidFill>
                            <a:srgbClr val="000000"/>
                          </a:solidFill>
                          <a:effectLst/>
                          <a:uFillTx/>
                          <a:latin typeface="Calibri"/>
                          <a:ea typeface="Calibri"/>
                        </a:rPr>
                        <a:t>-1</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Vit</a:t>
                      </a:r>
                      <a:endParaRPr b="0" lang="en-US" sz="1600" strike="noStrike" u="none">
                        <a:solidFill>
                          <a:srgbClr val="ffff00"/>
                        </a:solidFill>
                        <a:effectLst/>
                        <a:uFillTx/>
                        <a:latin typeface="Times New Roman"/>
                      </a:endParaRPr>
                    </a:p>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km.h</a:t>
                      </a:r>
                      <a:r>
                        <a:rPr b="1" lang="fr-FR" sz="1600" strike="noStrike" u="none" baseline="30000">
                          <a:solidFill>
                            <a:srgbClr val="000000"/>
                          </a:solidFill>
                          <a:effectLst/>
                          <a:uFillTx/>
                          <a:latin typeface="Calibri"/>
                          <a:ea typeface="Calibri"/>
                        </a:rPr>
                        <a:t>-1</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solidFill>
                      <a:srgbClr val="00cc99"/>
                    </a:solidFill>
                  </a:tcPr>
                </a:tc>
                <a:tc>
                  <a:txBody>
                    <a:bodyPr lIns="44280" rIns="44280" tIns="0" bIns="0" anchor="t">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Δ vit.</a:t>
                      </a:r>
                      <a:endParaRPr b="0" lang="en-US" sz="1600" strike="noStrike" u="none">
                        <a:solidFill>
                          <a:srgbClr val="ffff00"/>
                        </a:solidFill>
                        <a:effectLst/>
                        <a:uFillTx/>
                        <a:latin typeface="Times New Roman"/>
                      </a:endParaRPr>
                    </a:p>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L.Bou.</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FC</a:t>
                      </a:r>
                      <a:endParaRPr b="0" lang="en-US" sz="1600" strike="noStrike" u="none">
                        <a:solidFill>
                          <a:srgbClr val="ffff00"/>
                        </a:solidFill>
                        <a:effectLst/>
                        <a:uFillTx/>
                        <a:latin typeface="Times New Roman"/>
                      </a:endParaRPr>
                    </a:p>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(b.min</a:t>
                      </a:r>
                      <a:r>
                        <a:rPr b="1" lang="fr-FR" sz="1600" strike="noStrike" u="none" baseline="30000">
                          <a:solidFill>
                            <a:srgbClr val="000000"/>
                          </a:solidFill>
                          <a:effectLst/>
                          <a:uFillTx/>
                          <a:latin typeface="Calibri"/>
                          <a:ea typeface="Calibri"/>
                        </a:rPr>
                        <a:t>-1</a:t>
                      </a:r>
                      <a:r>
                        <a:rPr b="1" lang="fr-FR" sz="1600" strike="noStrike" u="none">
                          <a:solidFill>
                            <a:srgbClr val="000000"/>
                          </a:solidFill>
                          <a:effectLst/>
                          <a:uFillTx/>
                          <a:latin typeface="Calibri"/>
                          <a:ea typeface="Calibri"/>
                        </a:rPr>
                        <a:t>)</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Δ Lactate </a:t>
                      </a:r>
                      <a:endParaRPr b="0" lang="en-US" sz="1600" strike="noStrike" u="none">
                        <a:solidFill>
                          <a:srgbClr val="ffff00"/>
                        </a:solidFill>
                        <a:effectLst/>
                        <a:uFillTx/>
                        <a:latin typeface="Times New Roman"/>
                      </a:endParaRPr>
                    </a:p>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(mMol/L)</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Δ CRP </a:t>
                      </a:r>
                      <a:endParaRPr b="0" lang="en-US" sz="1600" strike="noStrike" u="none">
                        <a:solidFill>
                          <a:srgbClr val="ffff00"/>
                        </a:solidFill>
                        <a:effectLst/>
                        <a:uFillTx/>
                        <a:latin typeface="Times New Roman"/>
                      </a:endParaRPr>
                    </a:p>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(mg/L)</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solidFill>
                      <a:srgbClr val="00cc99"/>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solidFill>
                      <a:srgbClr val="00cc99"/>
                    </a:solidFill>
                  </a:tcPr>
                </a:tc>
              </a:tr>
              <a:tr h="56052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30-15s BUCHHEIT</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4,91</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64,20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20,10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solidFill>
                      <a:srgbClr val="cbecde"/>
                    </a:solidFill>
                  </a:tcPr>
                </a:tc>
                <a:tc>
                  <a:txBody>
                    <a:bodyPr lIns="44280" rIns="44280" tIns="0" bIns="0" anchor="t">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+ 3,75</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192,7</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10,82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465%</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0,700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82%</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solidFill>
                      <a:srgbClr val="cbecde"/>
                    </a:solidFill>
                  </a:tcPr>
                </a:tc>
              </a:tr>
              <a:tr h="28044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0,40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5,59</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1,13</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t">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10,06</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2,21</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95%</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0,080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9%</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r>
              <a:tr h="28044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t">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r>
              <a:tr h="56052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YO-YO Test</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4,90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63,50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18,31</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t">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+ 1,96</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193</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10,50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426%</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0,686</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82%</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r>
              <a:tr h="28044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0,44</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4,01</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0,77</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t">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9,64</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2,27</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92%</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0,130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15%</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r>
              <a:tr h="28044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t">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r>
              <a:tr h="56052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LEGER BOUCHER</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4,87</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62,78</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16,35</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t">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Réf.</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192,2</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8,13</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347%</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0,268</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33%</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r>
              <a:tr h="28044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0,80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5,12</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1,47</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t">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8,12</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1,92</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82%</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0,065</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8%</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r>
              <a:tr h="28044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t">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r>
              <a:tr h="56052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VAMEVAL</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4,84</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62,20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16,65</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t">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+ 0.3</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192,5</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8,20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324%</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0,254</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30%</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r>
              <a:tr h="28044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0,60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5,22</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2,68</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t">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8,34</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1,62</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64%</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0,059</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7%</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r>
              <a:tr h="28044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t">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r>
              <a:tr h="112068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NAVETTE</a:t>
                      </a:r>
                      <a:endParaRPr b="0" lang="en-US" sz="1600" strike="noStrike" u="none">
                        <a:solidFill>
                          <a:srgbClr val="ffff00"/>
                        </a:solidFill>
                        <a:effectLst/>
                        <a:uFillTx/>
                        <a:latin typeface="Times New Roman"/>
                      </a:endParaRPr>
                    </a:p>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L. LEGER</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4,91</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63,40</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13,36</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t">
                      <a:noAutofit/>
                    </a:bodyPr>
                    <a:p>
                      <a:pPr marL="228600" indent="-228600">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p>
                      <a:pPr marL="228600" indent="-228600">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- 2,99</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193,4</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8,14</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332%</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0,335</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39%</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cbecde"/>
                    </a:solidFill>
                  </a:tcPr>
                </a:tc>
              </a:tr>
              <a:tr h="280440">
                <a:tc>
                  <a:txBody>
                    <a:bodyPr lIns="44280" rIns="44280" tIns="0" bIns="0" anchor="b">
                      <a:noAutofit/>
                    </a:bodyPr>
                    <a:p>
                      <a:pP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00cc99"/>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0,64</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7,62</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1,11</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t">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 </a:t>
                      </a:r>
                      <a:endParaRPr b="0" lang="en-US" sz="1600" strike="noStrike" u="none">
                        <a:solidFill>
                          <a:srgbClr val="ffff00"/>
                        </a:solidFill>
                        <a:effectLst/>
                        <a:uFillTx/>
                        <a:latin typeface="Times New Roman"/>
                      </a:endParaRPr>
                    </a:p>
                  </a:txBody>
                  <a:tcPr anchor="t"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10,19</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1,32</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54%</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b">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0,043</a:t>
                      </a:r>
                      <a:endParaRPr b="0" lang="en-US" sz="1600" strike="noStrike" u="none">
                        <a:solidFill>
                          <a:srgbClr val="ffff00"/>
                        </a:solidFill>
                        <a:effectLst/>
                        <a:uFillTx/>
                        <a:latin typeface="Times New Roman"/>
                      </a:endParaRPr>
                    </a:p>
                  </a:txBody>
                  <a:tcPr anchor="b"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c>
                  <a:txBody>
                    <a:bodyPr lIns="44280" rIns="44280" tIns="0" bIns="0" anchor="ctr">
                      <a:noAutofit/>
                    </a:bodyPr>
                    <a:p>
                      <a:pPr algn="ctr">
                        <a:lnSpc>
                          <a:spcPct val="11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5%</a:t>
                      </a:r>
                      <a:endParaRPr b="0" lang="en-US" sz="1600" strike="noStrike" u="none">
                        <a:solidFill>
                          <a:srgbClr val="ffff00"/>
                        </a:solidFill>
                        <a:effectLst/>
                        <a:uFillTx/>
                        <a:latin typeface="Times New Roman"/>
                      </a:endParaRPr>
                    </a:p>
                  </a:txBody>
                  <a:tcPr anchor="ctr" marL="44280" marR="4428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r>
            </a:tbl>
          </a:graphicData>
        </a:graphic>
      </p:graphicFrame>
      <p:sp>
        <p:nvSpPr>
          <p:cNvPr id="589" name="ZoneTexte 2"/>
          <p:cNvSpPr/>
          <p:nvPr/>
        </p:nvSpPr>
        <p:spPr>
          <a:xfrm>
            <a:off x="2292840" y="44280"/>
            <a:ext cx="47682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COMPARAISON DE CINQ TESTS</a:t>
            </a:r>
            <a:endParaRPr b="0" lang="en-US" sz="2400" strike="noStrike" u="none">
              <a:solidFill>
                <a:srgbClr val="ffff00"/>
              </a:solidFill>
              <a:effectLst/>
              <a:uFillTx/>
              <a:latin typeface="Times New Roman"/>
            </a:endParaRPr>
          </a:p>
        </p:txBody>
      </p:sp>
      <p:sp>
        <p:nvSpPr>
          <p:cNvPr id="590" name="Rectangle à coins arrondis 4"/>
          <p:cNvSpPr/>
          <p:nvPr/>
        </p:nvSpPr>
        <p:spPr>
          <a:xfrm>
            <a:off x="3708360" y="692280"/>
            <a:ext cx="1368360" cy="5976720"/>
          </a:xfrm>
          <a:custGeom>
            <a:avLst/>
            <a:gdLst>
              <a:gd name="textAreaLeft" fmla="*/ 66600 w 1368360"/>
              <a:gd name="textAreaRight" fmla="*/ 1301760 w 1368360"/>
              <a:gd name="textAreaTop" fmla="*/ 66600 h 5976720"/>
              <a:gd name="textAreaBottom" fmla="*/ 5910120 h 5976720"/>
            </a:gdLst>
            <a:ahLst/>
            <a:cxnLst/>
            <a:rect l="textAreaLeft" t="textAreaTop" r="textAreaRight" b="textAreaBottom"/>
            <a:pathLst>
              <a:path w="21600" h="94325">
                <a:moveTo>
                  <a:pt x="3600" y="0"/>
                </a:moveTo>
                <a:arcTo wR="3600" hR="3600" stAng="16200000" swAng="-5400000"/>
                <a:lnTo>
                  <a:pt x="0" y="90725"/>
                </a:lnTo>
                <a:arcTo wR="3600" hR="3600" stAng="10800000" swAng="-5400000"/>
                <a:lnTo>
                  <a:pt x="18000" y="94325"/>
                </a:lnTo>
                <a:arcTo wR="3600" hR="3600" stAng="5400000" swAng="-5400000"/>
                <a:lnTo>
                  <a:pt x="21600" y="3600"/>
                </a:lnTo>
                <a:arcTo wR="3600" hR="3600" stAng="0" swAng="-5400000"/>
                <a:close/>
              </a:path>
            </a:pathLst>
          </a:custGeom>
          <a:noFill/>
          <a:ln w="25560">
            <a:solidFill>
              <a:srgbClr val="ff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91" name="Rectangle à coins arrondis 5"/>
          <p:cNvSpPr/>
          <p:nvPr/>
        </p:nvSpPr>
        <p:spPr>
          <a:xfrm>
            <a:off x="1692360" y="692280"/>
            <a:ext cx="1922400" cy="5976720"/>
          </a:xfrm>
          <a:custGeom>
            <a:avLst/>
            <a:gdLst>
              <a:gd name="textAreaLeft" fmla="*/ 93600 w 1922400"/>
              <a:gd name="textAreaRight" fmla="*/ 1828800 w 1922400"/>
              <a:gd name="textAreaTop" fmla="*/ 93600 h 5976720"/>
              <a:gd name="textAreaBottom" fmla="*/ 5883120 h 5976720"/>
            </a:gdLst>
            <a:ahLst/>
            <a:cxnLst/>
            <a:rect l="textAreaLeft" t="textAreaTop" r="textAreaRight" b="textAreaBottom"/>
            <a:pathLst>
              <a:path w="21600" h="67146">
                <a:moveTo>
                  <a:pt x="3600" y="0"/>
                </a:moveTo>
                <a:arcTo wR="3600" hR="3600" stAng="16200000" swAng="-5400000"/>
                <a:lnTo>
                  <a:pt x="0" y="63546"/>
                </a:lnTo>
                <a:arcTo wR="3600" hR="3600" stAng="10800000" swAng="-5400000"/>
                <a:lnTo>
                  <a:pt x="18000" y="67146"/>
                </a:lnTo>
                <a:arcTo wR="3600" hR="3600" stAng="5400000" swAng="-5400000"/>
                <a:lnTo>
                  <a:pt x="21600" y="3600"/>
                </a:lnTo>
                <a:arcTo wR="3600" hR="3600" stAng="0" swAng="-5400000"/>
                <a:close/>
              </a:path>
            </a:pathLst>
          </a:custGeom>
          <a:noFill/>
          <a:ln w="25560">
            <a:solidFill>
              <a:srgbClr val="ff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92" name="Rectangle à coins arrondis 6"/>
          <p:cNvSpPr/>
          <p:nvPr/>
        </p:nvSpPr>
        <p:spPr>
          <a:xfrm>
            <a:off x="6012000" y="690480"/>
            <a:ext cx="1655640" cy="5977080"/>
          </a:xfrm>
          <a:custGeom>
            <a:avLst/>
            <a:gdLst>
              <a:gd name="textAreaLeft" fmla="*/ 80640 w 1655640"/>
              <a:gd name="textAreaRight" fmla="*/ 1575000 w 1655640"/>
              <a:gd name="textAreaTop" fmla="*/ 80640 h 5977080"/>
              <a:gd name="textAreaBottom" fmla="*/ 5896440 h 5977080"/>
            </a:gdLst>
            <a:ahLst/>
            <a:cxnLst/>
            <a:rect l="textAreaLeft" t="textAreaTop" r="textAreaRight" b="textAreaBottom"/>
            <a:pathLst>
              <a:path w="21600" h="77967">
                <a:moveTo>
                  <a:pt x="3600" y="0"/>
                </a:moveTo>
                <a:arcTo wR="3600" hR="3600" stAng="16200000" swAng="-5400000"/>
                <a:lnTo>
                  <a:pt x="0" y="74367"/>
                </a:lnTo>
                <a:arcTo wR="3600" hR="3600" stAng="10800000" swAng="-5400000"/>
                <a:lnTo>
                  <a:pt x="18000" y="77967"/>
                </a:lnTo>
                <a:arcTo wR="3600" hR="3600" stAng="5400000" swAng="-5400000"/>
                <a:lnTo>
                  <a:pt x="21600" y="3600"/>
                </a:lnTo>
                <a:arcTo wR="3600" hR="3600" stAng="0" swAng="-5400000"/>
                <a:close/>
              </a:path>
            </a:pathLst>
          </a:custGeom>
          <a:noFill/>
          <a:ln w="25560">
            <a:solidFill>
              <a:srgbClr val="ff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93" name="Rectangle à coins arrondis 8"/>
          <p:cNvSpPr/>
          <p:nvPr/>
        </p:nvSpPr>
        <p:spPr>
          <a:xfrm>
            <a:off x="7740720" y="692280"/>
            <a:ext cx="1295280" cy="6049800"/>
          </a:xfrm>
          <a:custGeom>
            <a:avLst/>
            <a:gdLst>
              <a:gd name="textAreaLeft" fmla="*/ 63000 w 1295280"/>
              <a:gd name="textAreaRight" fmla="*/ 1232280 w 1295280"/>
              <a:gd name="textAreaTop" fmla="*/ 63000 h 6049800"/>
              <a:gd name="textAreaBottom" fmla="*/ 5986800 h 6049800"/>
            </a:gdLst>
            <a:ahLst/>
            <a:cxnLst/>
            <a:rect l="textAreaLeft" t="textAreaTop" r="textAreaRight" b="textAreaBottom"/>
            <a:pathLst>
              <a:path w="21600" h="100864">
                <a:moveTo>
                  <a:pt x="3600" y="0"/>
                </a:moveTo>
                <a:arcTo wR="3600" hR="3600" stAng="16200000" swAng="-5400000"/>
                <a:lnTo>
                  <a:pt x="0" y="97264"/>
                </a:lnTo>
                <a:arcTo wR="3600" hR="3600" stAng="10800000" swAng="-5400000"/>
                <a:lnTo>
                  <a:pt x="18000" y="100864"/>
                </a:lnTo>
                <a:arcTo wR="3600" hR="3600" stAng="5400000" swAng="-5400000"/>
                <a:lnTo>
                  <a:pt x="21600" y="3600"/>
                </a:lnTo>
                <a:arcTo wR="3600" hR="3600" stAng="0" swAng="-5400000"/>
                <a:close/>
              </a:path>
            </a:pathLst>
          </a:custGeom>
          <a:noFill/>
          <a:ln w="25560">
            <a:solidFill>
              <a:srgbClr val="ff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94" name="Rectangle à coins arrondis 3"/>
          <p:cNvSpPr/>
          <p:nvPr/>
        </p:nvSpPr>
        <p:spPr>
          <a:xfrm>
            <a:off x="0" y="3429000"/>
            <a:ext cx="9036000" cy="720720"/>
          </a:xfrm>
          <a:prstGeom prst="roundRect">
            <a:avLst>
              <a:gd name="adj" fmla="val 16667"/>
            </a:avLst>
          </a:prstGeom>
          <a:noFill/>
          <a:ln w="25560">
            <a:solidFill>
              <a:srgbClr val="ff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595" name="Ellipse 7"/>
          <p:cNvSpPr/>
          <p:nvPr/>
        </p:nvSpPr>
        <p:spPr>
          <a:xfrm>
            <a:off x="5867280" y="690480"/>
            <a:ext cx="3168720" cy="2738520"/>
          </a:xfrm>
          <a:prstGeom prst="ellipse">
            <a:avLst/>
          </a:prstGeom>
          <a:noFill/>
          <a:ln w="19080">
            <a:solidFill>
              <a:srgbClr val="0000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p:transition spd="med">
    <p:zoom dir="out"/>
  </p:transition>
  <p:timing>
    <p:tnLst>
      <p:par>
        <p:cTn id="1238" dur="indefinite" restart="never" nodeType="tmRoot">
          <p:childTnLst>
            <p:seq>
              <p:cTn id="1239" dur="indefinite" nodeType="mainSeq">
                <p:childTnLst>
                  <p:par>
                    <p:cTn id="1240" nodeType="clickEffect" fill="hold">
                      <p:stCondLst>
                        <p:cond delay="indefinite"/>
                      </p:stCondLst>
                      <p:childTnLst>
                        <p:par>
                          <p:cTn id="1241" nodeType="withEffect" fill="hold">
                            <p:stCondLst>
                              <p:cond delay="0"/>
                            </p:stCondLst>
                            <p:childTnLst>
                              <p:par>
                                <p:cTn id="1242" nodeType="clickEffect" fill="hold" presetClass="entr" presetID="22" presetSubtype="8">
                                  <p:stCondLst>
                                    <p:cond delay="0"/>
                                  </p:stCondLst>
                                  <p:childTnLst>
                                    <p:set>
                                      <p:cBhvr>
                                        <p:cTn id="1243" dur="1" fill="hold">
                                          <p:stCondLst>
                                            <p:cond delay="0"/>
                                          </p:stCondLst>
                                        </p:cTn>
                                        <p:tgtEl>
                                          <p:spTgt spid="594"/>
                                        </p:tgtEl>
                                        <p:attrNameLst>
                                          <p:attrName>style.visibility</p:attrName>
                                        </p:attrNameLst>
                                      </p:cBhvr>
                                      <p:to>
                                        <p:strVal val="visible"/>
                                      </p:to>
                                    </p:set>
                                    <p:animEffect filter="wipe(left)" transition="in">
                                      <p:cBhvr additive="repl">
                                        <p:cTn id="1244" dur="1000"/>
                                        <p:tgtEl>
                                          <p:spTgt spid="594"/>
                                        </p:tgtEl>
                                      </p:cBhvr>
                                    </p:animEffect>
                                  </p:childTnLst>
                                </p:cTn>
                              </p:par>
                            </p:childTnLst>
                          </p:cTn>
                        </p:par>
                      </p:childTnLst>
                    </p:cTn>
                  </p:par>
                  <p:par>
                    <p:cTn id="1245" nodeType="clickEffect" fill="hold">
                      <p:stCondLst>
                        <p:cond delay="indefinite"/>
                      </p:stCondLst>
                      <p:childTnLst>
                        <p:par>
                          <p:cTn id="1246" nodeType="withEffect" fill="hold">
                            <p:stCondLst>
                              <p:cond delay="0"/>
                            </p:stCondLst>
                            <p:childTnLst>
                              <p:par>
                                <p:cTn id="1247" nodeType="clickEffect" fill="hold" presetClass="entr" presetID="22" presetSubtype="1">
                                  <p:stCondLst>
                                    <p:cond delay="0"/>
                                  </p:stCondLst>
                                  <p:childTnLst>
                                    <p:set>
                                      <p:cBhvr>
                                        <p:cTn id="1248" dur="1" fill="hold">
                                          <p:stCondLst>
                                            <p:cond delay="0"/>
                                          </p:stCondLst>
                                        </p:cTn>
                                        <p:tgtEl>
                                          <p:spTgt spid="591"/>
                                        </p:tgtEl>
                                        <p:attrNameLst>
                                          <p:attrName>style.visibility</p:attrName>
                                        </p:attrNameLst>
                                      </p:cBhvr>
                                      <p:to>
                                        <p:strVal val="visible"/>
                                      </p:to>
                                    </p:set>
                                    <p:animEffect filter="wipe(up)" transition="in">
                                      <p:cBhvr additive="repl">
                                        <p:cTn id="1249" dur="1000"/>
                                        <p:tgtEl>
                                          <p:spTgt spid="591"/>
                                        </p:tgtEl>
                                      </p:cBhvr>
                                    </p:animEffect>
                                  </p:childTnLst>
                                </p:cTn>
                              </p:par>
                            </p:childTnLst>
                          </p:cTn>
                        </p:par>
                      </p:childTnLst>
                    </p:cTn>
                  </p:par>
                  <p:par>
                    <p:cTn id="1250" nodeType="clickEffect" fill="hold">
                      <p:stCondLst>
                        <p:cond delay="indefinite"/>
                      </p:stCondLst>
                      <p:childTnLst>
                        <p:par>
                          <p:cTn id="1251" nodeType="withEffect" fill="hold">
                            <p:stCondLst>
                              <p:cond delay="0"/>
                            </p:stCondLst>
                            <p:childTnLst>
                              <p:par>
                                <p:cTn id="1252" nodeType="clickEffect" fill="hold" presetClass="entr" presetID="22" presetSubtype="1">
                                  <p:stCondLst>
                                    <p:cond delay="0"/>
                                  </p:stCondLst>
                                  <p:childTnLst>
                                    <p:set>
                                      <p:cBhvr>
                                        <p:cTn id="1253" dur="1" fill="hold">
                                          <p:stCondLst>
                                            <p:cond delay="0"/>
                                          </p:stCondLst>
                                        </p:cTn>
                                        <p:tgtEl>
                                          <p:spTgt spid="590"/>
                                        </p:tgtEl>
                                        <p:attrNameLst>
                                          <p:attrName>style.visibility</p:attrName>
                                        </p:attrNameLst>
                                      </p:cBhvr>
                                      <p:to>
                                        <p:strVal val="visible"/>
                                      </p:to>
                                    </p:set>
                                    <p:animEffect filter="wipe(up)" transition="in">
                                      <p:cBhvr additive="repl">
                                        <p:cTn id="1254" dur="1000"/>
                                        <p:tgtEl>
                                          <p:spTgt spid="590"/>
                                        </p:tgtEl>
                                      </p:cBhvr>
                                    </p:animEffect>
                                  </p:childTnLst>
                                </p:cTn>
                              </p:par>
                            </p:childTnLst>
                          </p:cTn>
                        </p:par>
                      </p:childTnLst>
                    </p:cTn>
                  </p:par>
                  <p:par>
                    <p:cTn id="1255" nodeType="clickEffect" fill="hold">
                      <p:stCondLst>
                        <p:cond delay="indefinite"/>
                      </p:stCondLst>
                      <p:childTnLst>
                        <p:par>
                          <p:cTn id="1256" nodeType="withEffect" fill="hold">
                            <p:stCondLst>
                              <p:cond delay="0"/>
                            </p:stCondLst>
                            <p:childTnLst>
                              <p:par>
                                <p:cTn id="1257" nodeType="clickEffect" fill="hold" presetClass="entr" presetID="22" presetSubtype="1">
                                  <p:stCondLst>
                                    <p:cond delay="0"/>
                                  </p:stCondLst>
                                  <p:childTnLst>
                                    <p:set>
                                      <p:cBhvr>
                                        <p:cTn id="1258" dur="1" fill="hold">
                                          <p:stCondLst>
                                            <p:cond delay="0"/>
                                          </p:stCondLst>
                                        </p:cTn>
                                        <p:tgtEl>
                                          <p:spTgt spid="592"/>
                                        </p:tgtEl>
                                        <p:attrNameLst>
                                          <p:attrName>style.visibility</p:attrName>
                                        </p:attrNameLst>
                                      </p:cBhvr>
                                      <p:to>
                                        <p:strVal val="visible"/>
                                      </p:to>
                                    </p:set>
                                    <p:animEffect filter="wipe(up)" transition="in">
                                      <p:cBhvr additive="repl">
                                        <p:cTn id="1259" dur="1000"/>
                                        <p:tgtEl>
                                          <p:spTgt spid="592"/>
                                        </p:tgtEl>
                                      </p:cBhvr>
                                    </p:animEffect>
                                  </p:childTnLst>
                                </p:cTn>
                              </p:par>
                            </p:childTnLst>
                          </p:cTn>
                        </p:par>
                      </p:childTnLst>
                    </p:cTn>
                  </p:par>
                  <p:par>
                    <p:cTn id="1260" nodeType="clickEffect" fill="hold">
                      <p:stCondLst>
                        <p:cond delay="indefinite"/>
                      </p:stCondLst>
                      <p:childTnLst>
                        <p:par>
                          <p:cTn id="1261" nodeType="withEffect" fill="hold">
                            <p:stCondLst>
                              <p:cond delay="0"/>
                            </p:stCondLst>
                            <p:childTnLst>
                              <p:par>
                                <p:cTn id="1262" nodeType="clickEffect" fill="hold" presetClass="entr" presetID="22" presetSubtype="1">
                                  <p:stCondLst>
                                    <p:cond delay="0"/>
                                  </p:stCondLst>
                                  <p:childTnLst>
                                    <p:set>
                                      <p:cBhvr>
                                        <p:cTn id="1263" dur="1" fill="hold">
                                          <p:stCondLst>
                                            <p:cond delay="0"/>
                                          </p:stCondLst>
                                        </p:cTn>
                                        <p:tgtEl>
                                          <p:spTgt spid="593"/>
                                        </p:tgtEl>
                                        <p:attrNameLst>
                                          <p:attrName>style.visibility</p:attrName>
                                        </p:attrNameLst>
                                      </p:cBhvr>
                                      <p:to>
                                        <p:strVal val="visible"/>
                                      </p:to>
                                    </p:set>
                                    <p:animEffect filter="wipe(up)" transition="in">
                                      <p:cBhvr additive="repl">
                                        <p:cTn id="1264" dur="1000"/>
                                        <p:tgtEl>
                                          <p:spTgt spid="593"/>
                                        </p:tgtEl>
                                      </p:cBhvr>
                                    </p:animEffect>
                                  </p:childTnLst>
                                </p:cTn>
                              </p:par>
                            </p:childTnLst>
                          </p:cTn>
                        </p:par>
                      </p:childTnLst>
                    </p:cTn>
                  </p:par>
                  <p:par>
                    <p:cTn id="1265" nodeType="clickEffect" fill="hold">
                      <p:stCondLst>
                        <p:cond delay="indefinite"/>
                      </p:stCondLst>
                      <p:childTnLst>
                        <p:par>
                          <p:cTn id="1266" nodeType="withEffect" fill="hold">
                            <p:stCondLst>
                              <p:cond delay="0"/>
                            </p:stCondLst>
                            <p:childTnLst>
                              <p:par>
                                <p:cTn id="1267" nodeType="clickEffect" fill="hold" presetClass="entr" presetID="22" presetSubtype="4">
                                  <p:stCondLst>
                                    <p:cond delay="0"/>
                                  </p:stCondLst>
                                  <p:childTnLst>
                                    <p:set>
                                      <p:cBhvr>
                                        <p:cTn id="1268" dur="1" fill="hold">
                                          <p:stCondLst>
                                            <p:cond delay="0"/>
                                          </p:stCondLst>
                                        </p:cTn>
                                        <p:tgtEl>
                                          <p:spTgt spid="595"/>
                                        </p:tgtEl>
                                        <p:attrNameLst>
                                          <p:attrName>style.visibility</p:attrName>
                                        </p:attrNameLst>
                                      </p:cBhvr>
                                      <p:to>
                                        <p:strVal val="visible"/>
                                      </p:to>
                                    </p:set>
                                    <p:animEffect filter="wipe(down)" transition="in">
                                      <p:cBhvr additive="repl">
                                        <p:cTn id="1269" dur="500"/>
                                        <p:tgtEl>
                                          <p:spTgt spid="5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6" name="Picture 2" descr=""/>
          <p:cNvPicPr/>
          <p:nvPr/>
        </p:nvPicPr>
        <p:blipFill>
          <a:blip r:embed="rId1"/>
          <a:srcRect l="0" t="4206" r="0" b="0"/>
          <a:stretch/>
        </p:blipFill>
        <p:spPr>
          <a:xfrm>
            <a:off x="0" y="1440"/>
            <a:ext cx="9144000" cy="6856560"/>
          </a:xfrm>
          <a:prstGeom prst="rect">
            <a:avLst/>
          </a:prstGeom>
          <a:noFill/>
          <a:ln w="0">
            <a:noFill/>
          </a:ln>
        </p:spPr>
      </p:pic>
      <p:sp>
        <p:nvSpPr>
          <p:cNvPr id="597" name="Line 3"/>
          <p:cNvSpPr/>
          <p:nvPr/>
        </p:nvSpPr>
        <p:spPr>
          <a:xfrm flipH="1">
            <a:off x="3886200" y="5334120"/>
            <a:ext cx="533520" cy="1522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98" name="Line 4"/>
          <p:cNvSpPr/>
          <p:nvPr/>
        </p:nvSpPr>
        <p:spPr>
          <a:xfrm>
            <a:off x="6019920" y="3352680"/>
            <a:ext cx="380880" cy="30492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99" name="Rectangle 5"/>
          <p:cNvSpPr/>
          <p:nvPr/>
        </p:nvSpPr>
        <p:spPr>
          <a:xfrm>
            <a:off x="7238880" y="304920"/>
            <a:ext cx="838440" cy="1522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p:transition spd="med">
    <p:zoom dir="out"/>
  </p:transition>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ZoneTexte 1"/>
          <p:cNvSpPr/>
          <p:nvPr/>
        </p:nvSpPr>
        <p:spPr>
          <a:xfrm>
            <a:off x="279360" y="1052640"/>
            <a:ext cx="8064720" cy="69253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22228b"/>
                </a:solidFill>
                <a:effectLst/>
                <a:uFillTx/>
                <a:latin typeface="Calibri"/>
                <a:ea typeface="Calibri"/>
              </a:rPr>
              <a:t>1- Quelques définitions préalables</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22228b"/>
                </a:solidFill>
                <a:effectLst/>
                <a:uFillTx/>
                <a:latin typeface="Calibri"/>
                <a:ea typeface="Calibri"/>
              </a:rPr>
              <a:t>2- A quoi sert et à qui sert l’évaluation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22228b"/>
                </a:solidFill>
                <a:effectLst/>
                <a:uFillTx/>
                <a:latin typeface="Calibri"/>
                <a:ea typeface="Calibri"/>
              </a:rPr>
              <a:t>3- Comment choisir ses tests et son type d’évaluation</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22228b"/>
                </a:solidFill>
                <a:effectLst/>
                <a:uFillTx/>
                <a:latin typeface="Calibri"/>
                <a:ea typeface="Calibri"/>
              </a:rPr>
              <a:t>4- Développement et évaluation des capacités physiques et physiologiques au cours de la croissance.</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5- Quelles activités physiques et pour quels publics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p:txBody>
      </p:sp>
      <p:sp>
        <p:nvSpPr>
          <p:cNvPr id="601" name="ZoneTexte 1"/>
          <p:cNvSpPr/>
          <p:nvPr/>
        </p:nvSpPr>
        <p:spPr>
          <a:xfrm>
            <a:off x="2866680" y="189000"/>
            <a:ext cx="189108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ff"/>
                </a:solidFill>
                <a:effectLst/>
                <a:uFillTx/>
                <a:latin typeface="Calibri"/>
                <a:ea typeface="Calibri"/>
              </a:rPr>
              <a:t>SOMMAIRE</a:t>
            </a:r>
            <a:endParaRPr b="0" lang="en-US" sz="2800" strike="noStrike" u="none">
              <a:solidFill>
                <a:srgbClr val="ffff00"/>
              </a:solidFill>
              <a:effectLst/>
              <a:uFillTx/>
              <a:latin typeface="Times New Roman"/>
            </a:endParaRPr>
          </a:p>
        </p:txBody>
      </p:sp>
    </p:spTree>
  </p:cSld>
  <p:transition spd="med">
    <p:zoom dir="out"/>
  </p:transition>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Text Box 2"/>
          <p:cNvSpPr/>
          <p:nvPr/>
        </p:nvSpPr>
        <p:spPr>
          <a:xfrm>
            <a:off x="179280" y="1125360"/>
            <a:ext cx="8964720" cy="1959120"/>
          </a:xfrm>
          <a:prstGeom prst="rect">
            <a:avLst/>
          </a:prstGeom>
          <a:noFill/>
          <a:ln w="0">
            <a:noFill/>
          </a:ln>
        </p:spPr>
        <p:style>
          <a:lnRef idx="0"/>
          <a:fillRef idx="0"/>
          <a:effectRef idx="0"/>
          <a:fontRef idx="minor"/>
        </p:style>
        <p:txBody>
          <a:bodyPr lIns="90000" rIns="90000" tIns="46800" bIns="46800" anchor="t">
            <a:spAutoFit/>
          </a:bodyPr>
          <a:p>
            <a:pPr algn="ct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En fonction de l ’âge des enfants et des </a:t>
            </a:r>
            <a:endParaRPr b="0" lang="en-US" sz="2400" strike="noStrike" u="none">
              <a:solidFill>
                <a:srgbClr val="ffff00"/>
              </a:solidFill>
              <a:effectLst/>
              <a:uFillTx/>
              <a:latin typeface="Times New Roman"/>
            </a:endParaRPr>
          </a:p>
          <a:p>
            <a:pPr algn="ct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adolescents, quelles sont les périodes sensibles au </a:t>
            </a:r>
            <a:endParaRPr b="0" lang="en-US" sz="2400" strike="noStrike" u="none">
              <a:solidFill>
                <a:srgbClr val="ffff00"/>
              </a:solidFill>
              <a:effectLst/>
              <a:uFillTx/>
              <a:latin typeface="Times New Roman"/>
            </a:endParaRPr>
          </a:p>
          <a:p>
            <a:pPr algn="ct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développement des principales capacités motrices ? </a:t>
            </a:r>
            <a:endParaRPr b="0" lang="en-US" sz="2400" strike="noStrike" u="none">
              <a:solidFill>
                <a:srgbClr val="ffff00"/>
              </a:solidFill>
              <a:effectLst/>
              <a:uFillTx/>
              <a:latin typeface="Times New Roman"/>
            </a:endParaRPr>
          </a:p>
        </p:txBody>
      </p:sp>
      <p:sp>
        <p:nvSpPr>
          <p:cNvPr id="603" name="Text Box 3"/>
          <p:cNvSpPr/>
          <p:nvPr/>
        </p:nvSpPr>
        <p:spPr>
          <a:xfrm>
            <a:off x="5343480" y="6689880"/>
            <a:ext cx="184320" cy="457200"/>
          </a:xfrm>
          <a:prstGeom prst="rect">
            <a:avLst/>
          </a:prstGeom>
          <a:noFill/>
          <a:ln w="0">
            <a:noFill/>
          </a:ln>
        </p:spPr>
        <p:style>
          <a:lnRef idx="0"/>
          <a:fillRef idx="0"/>
          <a:effectRef idx="0"/>
          <a:fontRef idx="minor"/>
        </p:style>
        <p:txBody>
          <a:bodyPr wrap="none" lIns="90000" rIns="90000" tIns="46800" bIns="46800" anchor="t">
            <a:spAutoFit/>
          </a:bodyPr>
          <a:p>
            <a:endParaRPr b="0" lang="en-US" sz="2400" strike="noStrike" u="none">
              <a:solidFill>
                <a:srgbClr val="ffff00"/>
              </a:solidFill>
              <a:effectLst/>
              <a:uFillTx/>
              <a:latin typeface="Times New Roman"/>
            </a:endParaRPr>
          </a:p>
        </p:txBody>
      </p:sp>
      <p:sp>
        <p:nvSpPr>
          <p:cNvPr id="604" name="Text Box 4"/>
          <p:cNvSpPr/>
          <p:nvPr/>
        </p:nvSpPr>
        <p:spPr>
          <a:xfrm>
            <a:off x="1670400" y="404640"/>
            <a:ext cx="505404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Arial"/>
                <a:ea typeface="Arial"/>
              </a:rPr>
              <a:t>A vous de jouer maintenant !</a:t>
            </a:r>
            <a:endParaRPr b="0" lang="en-US" sz="2800" strike="noStrike" u="none">
              <a:solidFill>
                <a:srgbClr val="ffff00"/>
              </a:solidFill>
              <a:effectLst/>
              <a:uFillTx/>
              <a:latin typeface="Times New Roman"/>
            </a:endParaRPr>
          </a:p>
        </p:txBody>
      </p:sp>
      <p:sp>
        <p:nvSpPr>
          <p:cNvPr id="605" name="Rectangle 9"/>
          <p:cNvSpPr/>
          <p:nvPr/>
        </p:nvSpPr>
        <p:spPr>
          <a:xfrm>
            <a:off x="214200" y="3300840"/>
            <a:ext cx="8929800" cy="3080160"/>
          </a:xfrm>
          <a:prstGeom prst="rect">
            <a:avLst/>
          </a:prstGeom>
          <a:noFill/>
          <a:ln w="0">
            <a:noFill/>
          </a:ln>
        </p:spPr>
        <p:style>
          <a:lnRef idx="0"/>
          <a:fillRef idx="0"/>
          <a:effectRef idx="0"/>
          <a:fontRef idx="minor"/>
        </p:style>
        <p:txBody>
          <a:bodyPr lIns="90000" rIns="90000" tIns="46800" bIns="46800" anchor="ctr">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Périodes les plus favorables au développement des principales qualités </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au cours de la croissance. </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a:t>
            </a:r>
            <a:r>
              <a:rPr b="0" lang="fr-FR" sz="2000" strike="noStrike" u="none">
                <a:solidFill>
                  <a:srgbClr val="ffffff"/>
                </a:solidFill>
                <a:effectLst/>
                <a:uFillTx/>
                <a:latin typeface="Arial"/>
              </a:rPr>
              <a:t> : début du développement ou développement très modéré ; </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a:t>
            </a:r>
            <a:r>
              <a:rPr b="0" lang="fr-FR" sz="2000" strike="noStrike" u="none">
                <a:solidFill>
                  <a:srgbClr val="ffffff"/>
                </a:solidFill>
                <a:effectLst/>
                <a:uFillTx/>
                <a:latin typeface="Arial"/>
              </a:rPr>
              <a:t> : augmentation du développement ou développement modéré ; </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a:t>
            </a:r>
            <a:r>
              <a:rPr b="0" lang="fr-FR" sz="2000" strike="noStrike" u="none">
                <a:solidFill>
                  <a:srgbClr val="ffffff"/>
                </a:solidFill>
                <a:effectLst/>
                <a:uFillTx/>
                <a:latin typeface="Arial"/>
              </a:rPr>
              <a:t> : important développement ; </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a:t>
            </a:r>
            <a:r>
              <a:rPr b="0" lang="fr-FR" sz="2000" strike="noStrike" u="none">
                <a:solidFill>
                  <a:srgbClr val="ffffff"/>
                </a:solidFill>
                <a:effectLst/>
                <a:uFillTx/>
                <a:latin typeface="Arial"/>
              </a:rPr>
              <a:t> : développement très important et absolument prioritaire ; </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a:t>
            </a:r>
            <a:r>
              <a:rPr b="0" lang="fr-FR" sz="2000" strike="noStrike" u="none">
                <a:solidFill>
                  <a:srgbClr val="ffffff"/>
                </a:solidFill>
                <a:effectLst/>
                <a:uFillTx/>
                <a:latin typeface="Arial"/>
              </a:rPr>
              <a:t> : entretien des capacités acquises.</a:t>
            </a:r>
            <a:endParaRPr b="0" lang="en-US" sz="2000" strike="noStrike" u="none">
              <a:solidFill>
                <a:srgbClr val="ffff00"/>
              </a:solidFill>
              <a:effectLst/>
              <a:uFillTx/>
              <a:latin typeface="Times New Roman"/>
            </a:endParaRPr>
          </a:p>
        </p:txBody>
      </p:sp>
    </p:spTree>
  </p:cSld>
  <p:transition spd="med">
    <p:zoom dir="out"/>
  </p:transition>
  <p:timing>
    <p:tnLst>
      <p:par>
        <p:cTn id="1270" dur="indefinite" restart="never" nodeType="tmRoot">
          <p:childTnLst>
            <p:seq>
              <p:cTn id="1271" dur="indefinite" nodeType="mainSeq">
                <p:childTnLst>
                  <p:par>
                    <p:cTn id="1272" nodeType="clickEffect" fill="hold">
                      <p:stCondLst>
                        <p:cond delay="indefinite"/>
                      </p:stCondLst>
                      <p:childTnLst>
                        <p:par>
                          <p:cTn id="1273" nodeType="withEffect" fill="hold">
                            <p:stCondLst>
                              <p:cond delay="0"/>
                            </p:stCondLst>
                            <p:childTnLst>
                              <p:par>
                                <p:cTn id="1274" nodeType="clickEffect" fill="hold" presetClass="entr" presetID="53">
                                  <p:stCondLst>
                                    <p:cond delay="0"/>
                                  </p:stCondLst>
                                  <p:childTnLst>
                                    <p:set>
                                      <p:cBhvr>
                                        <p:cTn id="1275" dur="1" fill="hold">
                                          <p:stCondLst>
                                            <p:cond delay="0"/>
                                          </p:stCondLst>
                                        </p:cTn>
                                        <p:tgtEl>
                                          <p:spTgt spid="605">
                                            <p:txEl>
                                              <p:pRg st="0" end="0"/>
                                            </p:txEl>
                                          </p:spTgt>
                                        </p:tgtEl>
                                        <p:attrNameLst>
                                          <p:attrName>style.visibility</p:attrName>
                                        </p:attrNameLst>
                                      </p:cBhvr>
                                      <p:to>
                                        <p:strVal val="visible"/>
                                      </p:to>
                                    </p:set>
                                    <p:anim calcmode="lin" valueType="num">
                                      <p:cBhvr additive="repl">
                                        <p:cTn id="1276" dur="1000" fill="hold"/>
                                        <p:tgtEl>
                                          <p:spTgt spid="605">
                                            <p:txEl>
                                              <p:pRg st="0" end="0"/>
                                            </p:txEl>
                                          </p:spTgt>
                                        </p:tgtEl>
                                        <p:attrNameLst>
                                          <p:attrName>ppt_w</p:attrName>
                                        </p:attrNameLst>
                                      </p:cBhvr>
                                      <p:tavLst>
                                        <p:tav tm="0">
                                          <p:val>
                                            <p:fltVal val="0"/>
                                          </p:val>
                                        </p:tav>
                                        <p:tav tm="100000">
                                          <p:val>
                                            <p:strVal val="#ppt_w"/>
                                          </p:val>
                                        </p:tav>
                                      </p:tavLst>
                                    </p:anim>
                                    <p:anim calcmode="lin" valueType="num">
                                      <p:cBhvr additive="repl">
                                        <p:cTn id="1277" dur="1000" fill="hold"/>
                                        <p:tgtEl>
                                          <p:spTgt spid="605">
                                            <p:txEl>
                                              <p:pRg st="0" end="0"/>
                                            </p:txEl>
                                          </p:spTgt>
                                        </p:tgtEl>
                                        <p:attrNameLst>
                                          <p:attrName>ppt_h</p:attrName>
                                        </p:attrNameLst>
                                      </p:cBhvr>
                                      <p:tavLst>
                                        <p:tav tm="0">
                                          <p:val>
                                            <p:fltVal val="0"/>
                                          </p:val>
                                        </p:tav>
                                        <p:tav tm="100000">
                                          <p:val>
                                            <p:strVal val="#ppt_h"/>
                                          </p:val>
                                        </p:tav>
                                      </p:tavLst>
                                    </p:anim>
                                    <p:animEffect filter="fade" transition="in">
                                      <p:cBhvr additive="repl">
                                        <p:cTn id="1278" dur="1000"/>
                                        <p:tgtEl>
                                          <p:spTgt spid="605">
                                            <p:txEl>
                                              <p:pRg st="0" end="0"/>
                                            </p:txEl>
                                          </p:spTgt>
                                        </p:tgtEl>
                                      </p:cBhvr>
                                    </p:animEffect>
                                  </p:childTnLst>
                                </p:cTn>
                              </p:par>
                              <p:par>
                                <p:cTn id="1279" nodeType="withEffect" fill="hold" presetClass="entr" presetID="53">
                                  <p:stCondLst>
                                    <p:cond delay="0"/>
                                  </p:stCondLst>
                                  <p:childTnLst>
                                    <p:set>
                                      <p:cBhvr>
                                        <p:cTn id="1280" dur="1" fill="hold">
                                          <p:stCondLst>
                                            <p:cond delay="0"/>
                                          </p:stCondLst>
                                        </p:cTn>
                                        <p:tgtEl>
                                          <p:spTgt spid="605">
                                            <p:txEl>
                                              <p:pRg st="1" end="1"/>
                                            </p:txEl>
                                          </p:spTgt>
                                        </p:tgtEl>
                                        <p:attrNameLst>
                                          <p:attrName>style.visibility</p:attrName>
                                        </p:attrNameLst>
                                      </p:cBhvr>
                                      <p:to>
                                        <p:strVal val="visible"/>
                                      </p:to>
                                    </p:set>
                                    <p:anim calcmode="lin" valueType="num">
                                      <p:cBhvr additive="repl">
                                        <p:cTn id="1281" dur="1000" fill="hold"/>
                                        <p:tgtEl>
                                          <p:spTgt spid="605">
                                            <p:txEl>
                                              <p:pRg st="1" end="1"/>
                                            </p:txEl>
                                          </p:spTgt>
                                        </p:tgtEl>
                                        <p:attrNameLst>
                                          <p:attrName>ppt_w</p:attrName>
                                        </p:attrNameLst>
                                      </p:cBhvr>
                                      <p:tavLst>
                                        <p:tav tm="0">
                                          <p:val>
                                            <p:fltVal val="0"/>
                                          </p:val>
                                        </p:tav>
                                        <p:tav tm="100000">
                                          <p:val>
                                            <p:strVal val="#ppt_w"/>
                                          </p:val>
                                        </p:tav>
                                      </p:tavLst>
                                    </p:anim>
                                    <p:anim calcmode="lin" valueType="num">
                                      <p:cBhvr additive="repl">
                                        <p:cTn id="1282" dur="1000" fill="hold"/>
                                        <p:tgtEl>
                                          <p:spTgt spid="605">
                                            <p:txEl>
                                              <p:pRg st="1" end="1"/>
                                            </p:txEl>
                                          </p:spTgt>
                                        </p:tgtEl>
                                        <p:attrNameLst>
                                          <p:attrName>ppt_h</p:attrName>
                                        </p:attrNameLst>
                                      </p:cBhvr>
                                      <p:tavLst>
                                        <p:tav tm="0">
                                          <p:val>
                                            <p:fltVal val="0"/>
                                          </p:val>
                                        </p:tav>
                                        <p:tav tm="100000">
                                          <p:val>
                                            <p:strVal val="#ppt_h"/>
                                          </p:val>
                                        </p:tav>
                                      </p:tavLst>
                                    </p:anim>
                                    <p:animEffect filter="fade" transition="in">
                                      <p:cBhvr additive="repl">
                                        <p:cTn id="1283" dur="1000"/>
                                        <p:tgtEl>
                                          <p:spTgt spid="605">
                                            <p:txEl>
                                              <p:pRg st="1" end="1"/>
                                            </p:txEl>
                                          </p:spTgt>
                                        </p:tgtEl>
                                      </p:cBhvr>
                                    </p:animEffect>
                                  </p:childTnLst>
                                </p:cTn>
                              </p:par>
                            </p:childTnLst>
                          </p:cTn>
                        </p:par>
                      </p:childTnLst>
                    </p:cTn>
                  </p:par>
                  <p:par>
                    <p:cTn id="1284" nodeType="clickEffect" fill="hold">
                      <p:stCondLst>
                        <p:cond delay="indefinite"/>
                      </p:stCondLst>
                      <p:childTnLst>
                        <p:par>
                          <p:cTn id="1285" nodeType="withEffect" fill="hold">
                            <p:stCondLst>
                              <p:cond delay="0"/>
                            </p:stCondLst>
                            <p:childTnLst>
                              <p:par>
                                <p:cTn id="1286" nodeType="clickEffect" fill="hold" presetClass="entr" presetID="22" presetSubtype="1">
                                  <p:stCondLst>
                                    <p:cond delay="0"/>
                                  </p:stCondLst>
                                  <p:childTnLst>
                                    <p:set>
                                      <p:cBhvr>
                                        <p:cTn id="1287" dur="1" fill="hold">
                                          <p:stCondLst>
                                            <p:cond delay="0"/>
                                          </p:stCondLst>
                                        </p:cTn>
                                        <p:tgtEl>
                                          <p:spTgt spid="605">
                                            <p:txEl>
                                              <p:pRg st="2" end="2"/>
                                            </p:txEl>
                                          </p:spTgt>
                                        </p:tgtEl>
                                        <p:attrNameLst>
                                          <p:attrName>style.visibility</p:attrName>
                                        </p:attrNameLst>
                                      </p:cBhvr>
                                      <p:to>
                                        <p:strVal val="visible"/>
                                      </p:to>
                                    </p:set>
                                    <p:animEffect filter="wipe(up)" transition="in">
                                      <p:cBhvr additive="repl">
                                        <p:cTn id="1288" dur="2000"/>
                                        <p:tgtEl>
                                          <p:spTgt spid="605">
                                            <p:txEl>
                                              <p:pRg st="2" end="2"/>
                                            </p:txEl>
                                          </p:spTgt>
                                        </p:tgtEl>
                                      </p:cBhvr>
                                    </p:animEffect>
                                  </p:childTnLst>
                                </p:cTn>
                              </p:par>
                              <p:par>
                                <p:cTn id="1289" nodeType="withEffect" fill="hold" presetClass="entr" presetID="22" presetSubtype="1">
                                  <p:stCondLst>
                                    <p:cond delay="0"/>
                                  </p:stCondLst>
                                  <p:childTnLst>
                                    <p:set>
                                      <p:cBhvr>
                                        <p:cTn id="1290" dur="1" fill="hold">
                                          <p:stCondLst>
                                            <p:cond delay="0"/>
                                          </p:stCondLst>
                                        </p:cTn>
                                        <p:tgtEl>
                                          <p:spTgt spid="605">
                                            <p:txEl>
                                              <p:pRg st="3" end="3"/>
                                            </p:txEl>
                                          </p:spTgt>
                                        </p:tgtEl>
                                        <p:attrNameLst>
                                          <p:attrName>style.visibility</p:attrName>
                                        </p:attrNameLst>
                                      </p:cBhvr>
                                      <p:to>
                                        <p:strVal val="visible"/>
                                      </p:to>
                                    </p:set>
                                    <p:animEffect filter="wipe(up)" transition="in">
                                      <p:cBhvr additive="repl">
                                        <p:cTn id="1291" dur="2000"/>
                                        <p:tgtEl>
                                          <p:spTgt spid="605">
                                            <p:txEl>
                                              <p:pRg st="3" end="3"/>
                                            </p:txEl>
                                          </p:spTgt>
                                        </p:tgtEl>
                                      </p:cBhvr>
                                    </p:animEffect>
                                  </p:childTnLst>
                                </p:cTn>
                              </p:par>
                              <p:par>
                                <p:cTn id="1292" nodeType="withEffect" fill="hold" presetClass="entr" presetID="22" presetSubtype="1">
                                  <p:stCondLst>
                                    <p:cond delay="0"/>
                                  </p:stCondLst>
                                  <p:childTnLst>
                                    <p:set>
                                      <p:cBhvr>
                                        <p:cTn id="1293" dur="1" fill="hold">
                                          <p:stCondLst>
                                            <p:cond delay="0"/>
                                          </p:stCondLst>
                                        </p:cTn>
                                        <p:tgtEl>
                                          <p:spTgt spid="605">
                                            <p:txEl>
                                              <p:pRg st="4" end="4"/>
                                            </p:txEl>
                                          </p:spTgt>
                                        </p:tgtEl>
                                        <p:attrNameLst>
                                          <p:attrName>style.visibility</p:attrName>
                                        </p:attrNameLst>
                                      </p:cBhvr>
                                      <p:to>
                                        <p:strVal val="visible"/>
                                      </p:to>
                                    </p:set>
                                    <p:animEffect filter="wipe(up)" transition="in">
                                      <p:cBhvr additive="repl">
                                        <p:cTn id="1294" dur="2000"/>
                                        <p:tgtEl>
                                          <p:spTgt spid="605">
                                            <p:txEl>
                                              <p:pRg st="4" end="4"/>
                                            </p:txEl>
                                          </p:spTgt>
                                        </p:tgtEl>
                                      </p:cBhvr>
                                    </p:animEffect>
                                  </p:childTnLst>
                                </p:cTn>
                              </p:par>
                              <p:par>
                                <p:cTn id="1295" nodeType="withEffect" fill="hold" presetClass="entr" presetID="22" presetSubtype="1">
                                  <p:stCondLst>
                                    <p:cond delay="0"/>
                                  </p:stCondLst>
                                  <p:childTnLst>
                                    <p:set>
                                      <p:cBhvr>
                                        <p:cTn id="1296" dur="1" fill="hold">
                                          <p:stCondLst>
                                            <p:cond delay="0"/>
                                          </p:stCondLst>
                                        </p:cTn>
                                        <p:tgtEl>
                                          <p:spTgt spid="605">
                                            <p:txEl>
                                              <p:pRg st="5" end="5"/>
                                            </p:txEl>
                                          </p:spTgt>
                                        </p:tgtEl>
                                        <p:attrNameLst>
                                          <p:attrName>style.visibility</p:attrName>
                                        </p:attrNameLst>
                                      </p:cBhvr>
                                      <p:to>
                                        <p:strVal val="visible"/>
                                      </p:to>
                                    </p:set>
                                    <p:animEffect filter="wipe(up)" transition="in">
                                      <p:cBhvr additive="repl">
                                        <p:cTn id="1297" dur="2000"/>
                                        <p:tgtEl>
                                          <p:spTgt spid="605">
                                            <p:txEl>
                                              <p:pRg st="5" end="5"/>
                                            </p:txEl>
                                          </p:spTgt>
                                        </p:tgtEl>
                                      </p:cBhvr>
                                    </p:animEffect>
                                  </p:childTnLst>
                                </p:cTn>
                              </p:par>
                              <p:par>
                                <p:cTn id="1298" nodeType="withEffect" fill="hold" presetClass="entr" presetID="22" presetSubtype="1">
                                  <p:stCondLst>
                                    <p:cond delay="0"/>
                                  </p:stCondLst>
                                  <p:childTnLst>
                                    <p:set>
                                      <p:cBhvr>
                                        <p:cTn id="1299" dur="1" fill="hold">
                                          <p:stCondLst>
                                            <p:cond delay="0"/>
                                          </p:stCondLst>
                                        </p:cTn>
                                        <p:tgtEl>
                                          <p:spTgt spid="605">
                                            <p:txEl>
                                              <p:pRg st="6" end="6"/>
                                            </p:txEl>
                                          </p:spTgt>
                                        </p:tgtEl>
                                        <p:attrNameLst>
                                          <p:attrName>style.visibility</p:attrName>
                                        </p:attrNameLst>
                                      </p:cBhvr>
                                      <p:to>
                                        <p:strVal val="visible"/>
                                      </p:to>
                                    </p:set>
                                    <p:animEffect filter="wipe(up)" transition="in">
                                      <p:cBhvr additive="repl">
                                        <p:cTn id="1300" dur="2000"/>
                                        <p:tgtEl>
                                          <p:spTgt spid="605">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606" name="Object 2"/>
          <p:cNvGraphicFramePr/>
          <p:nvPr/>
        </p:nvGraphicFramePr>
        <p:xfrm>
          <a:off x="0" y="0"/>
          <a:ext cx="9009000" cy="6858000"/>
        </p:xfrm>
        <a:graphic>
          <a:graphicData uri="http://schemas.openxmlformats.org/presentationml/2006/ole">
            <p:oleObj progId="Word.Document.12" r:id="rId1" spid="">
              <p:embed/>
              <p:pic>
                <p:nvPicPr>
                  <p:cNvPr id="607" name="Object 2" descr=""/>
                  <p:cNvPicPr/>
                  <p:nvPr/>
                </p:nvPicPr>
                <p:blipFill>
                  <a:blip r:embed="rId2"/>
                  <a:stretch/>
                </p:blipFill>
                <p:spPr>
                  <a:xfrm>
                    <a:off x="0" y="0"/>
                    <a:ext cx="9009000" cy="6858000"/>
                  </a:xfrm>
                  <a:prstGeom prst="rect">
                    <a:avLst/>
                  </a:prstGeom>
                  <a:noFill/>
                  <a:ln w="0">
                    <a:noFill/>
                  </a:ln>
                </p:spPr>
              </p:pic>
            </p:oleObj>
          </a:graphicData>
        </a:graphic>
      </p:graphicFrame>
      <p:sp>
        <p:nvSpPr>
          <p:cNvPr id="608" name="Line 3"/>
          <p:cNvSpPr/>
          <p:nvPr/>
        </p:nvSpPr>
        <p:spPr>
          <a:xfrm>
            <a:off x="2438280" y="152280"/>
            <a:ext cx="0" cy="670572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09" name="Line 4"/>
          <p:cNvSpPr/>
          <p:nvPr/>
        </p:nvSpPr>
        <p:spPr>
          <a:xfrm>
            <a:off x="4648320" y="152280"/>
            <a:ext cx="0" cy="670572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0" name="Line 5"/>
          <p:cNvSpPr/>
          <p:nvPr/>
        </p:nvSpPr>
        <p:spPr>
          <a:xfrm>
            <a:off x="6019920" y="152280"/>
            <a:ext cx="0" cy="670572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1" name="Rectangle 6"/>
          <p:cNvSpPr/>
          <p:nvPr/>
        </p:nvSpPr>
        <p:spPr>
          <a:xfrm>
            <a:off x="0" y="152280"/>
            <a:ext cx="9144000" cy="6705720"/>
          </a:xfrm>
          <a:prstGeom prst="rect">
            <a:avLst/>
          </a:prstGeom>
          <a:noFill/>
          <a:ln w="2844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612" name="Line 7"/>
          <p:cNvSpPr/>
          <p:nvPr/>
        </p:nvSpPr>
        <p:spPr>
          <a:xfrm>
            <a:off x="0" y="1066680"/>
            <a:ext cx="914400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3" name="Line 8"/>
          <p:cNvSpPr/>
          <p:nvPr/>
        </p:nvSpPr>
        <p:spPr>
          <a:xfrm>
            <a:off x="0" y="144792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4" name="Line 9"/>
          <p:cNvSpPr/>
          <p:nvPr/>
        </p:nvSpPr>
        <p:spPr>
          <a:xfrm>
            <a:off x="0" y="205740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5" name="Line 10"/>
          <p:cNvSpPr/>
          <p:nvPr/>
        </p:nvSpPr>
        <p:spPr>
          <a:xfrm>
            <a:off x="0" y="266688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6" name="Line 11"/>
          <p:cNvSpPr/>
          <p:nvPr/>
        </p:nvSpPr>
        <p:spPr>
          <a:xfrm>
            <a:off x="0" y="350532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7" name="Line 12"/>
          <p:cNvSpPr/>
          <p:nvPr/>
        </p:nvSpPr>
        <p:spPr>
          <a:xfrm>
            <a:off x="0" y="403848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8" name="Line 13"/>
          <p:cNvSpPr/>
          <p:nvPr/>
        </p:nvSpPr>
        <p:spPr>
          <a:xfrm>
            <a:off x="0" y="457200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9" name="Line 14"/>
          <p:cNvSpPr/>
          <p:nvPr/>
        </p:nvSpPr>
        <p:spPr>
          <a:xfrm>
            <a:off x="0" y="541008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20" name="Line 15"/>
          <p:cNvSpPr/>
          <p:nvPr/>
        </p:nvSpPr>
        <p:spPr>
          <a:xfrm>
            <a:off x="0" y="594360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21" name="Line 16"/>
          <p:cNvSpPr/>
          <p:nvPr/>
        </p:nvSpPr>
        <p:spPr>
          <a:xfrm>
            <a:off x="0" y="640080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22" name="Line 17"/>
          <p:cNvSpPr/>
          <p:nvPr/>
        </p:nvSpPr>
        <p:spPr>
          <a:xfrm>
            <a:off x="3505320" y="609480"/>
            <a:ext cx="0" cy="6248520"/>
          </a:xfrm>
          <a:prstGeom prst="line">
            <a:avLst/>
          </a:prstGeom>
          <a:ln w="1908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23" name="Line 18"/>
          <p:cNvSpPr/>
          <p:nvPr/>
        </p:nvSpPr>
        <p:spPr>
          <a:xfrm>
            <a:off x="2438280" y="609480"/>
            <a:ext cx="670572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24" name="Line 19"/>
          <p:cNvSpPr/>
          <p:nvPr/>
        </p:nvSpPr>
        <p:spPr>
          <a:xfrm>
            <a:off x="7543800" y="609480"/>
            <a:ext cx="0" cy="6248520"/>
          </a:xfrm>
          <a:prstGeom prst="line">
            <a:avLst/>
          </a:prstGeom>
          <a:ln w="1908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25" name="Text Box 20"/>
          <p:cNvSpPr/>
          <p:nvPr/>
        </p:nvSpPr>
        <p:spPr>
          <a:xfrm>
            <a:off x="2667600" y="104292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26" name="Text Box 21"/>
          <p:cNvSpPr/>
          <p:nvPr/>
        </p:nvSpPr>
        <p:spPr>
          <a:xfrm>
            <a:off x="3611520" y="955800"/>
            <a:ext cx="244440" cy="342720"/>
          </a:xfrm>
          <a:prstGeom prst="rect">
            <a:avLst/>
          </a:prstGeom>
          <a:noFill/>
          <a:ln w="0">
            <a:noFill/>
          </a:ln>
        </p:spPr>
        <p:style>
          <a:lnRef idx="0"/>
          <a:fillRef idx="0"/>
          <a:effectRef idx="0"/>
          <a:fontRef idx="minor"/>
        </p:style>
        <p:txBody>
          <a:bodyPr wrap="none" lIns="90000" rIns="90000" tIns="46800" bIns="46800" anchor="t">
            <a:spAutoFit/>
          </a:bodyPr>
          <a:p>
            <a:endParaRPr b="0" lang="en-US" sz="2400" strike="noStrike" u="none">
              <a:solidFill>
                <a:srgbClr val="ffff00"/>
              </a:solidFill>
              <a:effectLst/>
              <a:uFillTx/>
              <a:latin typeface="Times New Roman"/>
            </a:endParaRPr>
          </a:p>
        </p:txBody>
      </p:sp>
      <p:sp>
        <p:nvSpPr>
          <p:cNvPr id="627" name="Text Box 22"/>
          <p:cNvSpPr/>
          <p:nvPr/>
        </p:nvSpPr>
        <p:spPr>
          <a:xfrm>
            <a:off x="3864600" y="10429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28" name="Text Box 23"/>
          <p:cNvSpPr/>
          <p:nvPr/>
        </p:nvSpPr>
        <p:spPr>
          <a:xfrm>
            <a:off x="3687840" y="1638360"/>
            <a:ext cx="244440" cy="274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629" name="Text Box 24"/>
          <p:cNvSpPr/>
          <p:nvPr/>
        </p:nvSpPr>
        <p:spPr>
          <a:xfrm>
            <a:off x="3810600" y="150012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0" name="Text Box 25"/>
          <p:cNvSpPr/>
          <p:nvPr/>
        </p:nvSpPr>
        <p:spPr>
          <a:xfrm>
            <a:off x="2721600" y="15001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1" name="Text Box 26"/>
          <p:cNvSpPr/>
          <p:nvPr/>
        </p:nvSpPr>
        <p:spPr>
          <a:xfrm>
            <a:off x="6477480" y="218592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2" name="Text Box 27"/>
          <p:cNvSpPr/>
          <p:nvPr/>
        </p:nvSpPr>
        <p:spPr>
          <a:xfrm>
            <a:off x="5029560" y="312408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3" name="Text Box 28"/>
          <p:cNvSpPr/>
          <p:nvPr/>
        </p:nvSpPr>
        <p:spPr>
          <a:xfrm>
            <a:off x="5029560" y="409104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4" name="Text Box 29"/>
          <p:cNvSpPr/>
          <p:nvPr/>
        </p:nvSpPr>
        <p:spPr>
          <a:xfrm>
            <a:off x="5105880" y="649116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5" name="Text Box 30"/>
          <p:cNvSpPr/>
          <p:nvPr/>
        </p:nvSpPr>
        <p:spPr>
          <a:xfrm>
            <a:off x="8077680" y="500544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6" name="Text Box 31"/>
          <p:cNvSpPr/>
          <p:nvPr/>
        </p:nvSpPr>
        <p:spPr>
          <a:xfrm>
            <a:off x="8077680" y="546264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37" name="Line 32"/>
          <p:cNvSpPr/>
          <p:nvPr/>
        </p:nvSpPr>
        <p:spPr>
          <a:xfrm>
            <a:off x="914400" y="4572000"/>
            <a:ext cx="0" cy="838080"/>
          </a:xfrm>
          <a:prstGeom prst="line">
            <a:avLst/>
          </a:prstGeom>
          <a:ln w="1908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38" name="Line 33"/>
          <p:cNvSpPr/>
          <p:nvPr/>
        </p:nvSpPr>
        <p:spPr>
          <a:xfrm>
            <a:off x="1066680" y="2666880"/>
            <a:ext cx="0" cy="838440"/>
          </a:xfrm>
          <a:prstGeom prst="line">
            <a:avLst/>
          </a:prstGeom>
          <a:ln w="1908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39" name="Text Box 34"/>
          <p:cNvSpPr/>
          <p:nvPr/>
        </p:nvSpPr>
        <p:spPr>
          <a:xfrm>
            <a:off x="1174320" y="3124080"/>
            <a:ext cx="6310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PMA</a:t>
            </a:r>
            <a:endParaRPr b="0" lang="en-US" sz="1600" strike="noStrike" u="none">
              <a:solidFill>
                <a:srgbClr val="ffff00"/>
              </a:solidFill>
              <a:effectLst/>
              <a:uFillTx/>
              <a:latin typeface="Times New Roman"/>
            </a:endParaRPr>
          </a:p>
        </p:txBody>
      </p:sp>
      <p:sp>
        <p:nvSpPr>
          <p:cNvPr id="640" name="Line 35"/>
          <p:cNvSpPr/>
          <p:nvPr/>
        </p:nvSpPr>
        <p:spPr>
          <a:xfrm>
            <a:off x="1066680" y="3048120"/>
            <a:ext cx="8077320" cy="0"/>
          </a:xfrm>
          <a:prstGeom prst="line">
            <a:avLst/>
          </a:prstGeom>
          <a:ln w="1908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41" name="Text Box 36"/>
          <p:cNvSpPr/>
          <p:nvPr/>
        </p:nvSpPr>
        <p:spPr>
          <a:xfrm>
            <a:off x="5007600" y="15001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42" name="Text Box 37"/>
          <p:cNvSpPr/>
          <p:nvPr/>
        </p:nvSpPr>
        <p:spPr>
          <a:xfrm>
            <a:off x="5007600" y="220968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43" name="Text Box 38"/>
          <p:cNvSpPr/>
          <p:nvPr/>
        </p:nvSpPr>
        <p:spPr>
          <a:xfrm>
            <a:off x="5007600" y="266688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44" name="Text Box 39"/>
          <p:cNvSpPr/>
          <p:nvPr/>
        </p:nvSpPr>
        <p:spPr>
          <a:xfrm>
            <a:off x="3864600" y="411480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45" name="Text Box 40"/>
          <p:cNvSpPr/>
          <p:nvPr/>
        </p:nvSpPr>
        <p:spPr>
          <a:xfrm>
            <a:off x="3864600" y="46483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46" name="Line 41"/>
          <p:cNvSpPr/>
          <p:nvPr/>
        </p:nvSpPr>
        <p:spPr>
          <a:xfrm>
            <a:off x="914400" y="5029200"/>
            <a:ext cx="8229600" cy="0"/>
          </a:xfrm>
          <a:prstGeom prst="line">
            <a:avLst/>
          </a:prstGeom>
          <a:ln w="1908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47" name="Text Box 42"/>
          <p:cNvSpPr/>
          <p:nvPr/>
        </p:nvSpPr>
        <p:spPr>
          <a:xfrm>
            <a:off x="5040000" y="4648320"/>
            <a:ext cx="96876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 </a:t>
            </a:r>
            <a:endParaRPr b="0" lang="en-US" sz="1800" strike="noStrike" u="none">
              <a:solidFill>
                <a:srgbClr val="ffff00"/>
              </a:solidFill>
              <a:effectLst/>
              <a:uFillTx/>
              <a:latin typeface="Times New Roman"/>
            </a:endParaRPr>
          </a:p>
        </p:txBody>
      </p:sp>
      <p:sp>
        <p:nvSpPr>
          <p:cNvPr id="648" name="Text Box 43"/>
          <p:cNvSpPr/>
          <p:nvPr/>
        </p:nvSpPr>
        <p:spPr>
          <a:xfrm>
            <a:off x="6455160" y="548640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49" name="Text Box 44"/>
          <p:cNvSpPr/>
          <p:nvPr/>
        </p:nvSpPr>
        <p:spPr>
          <a:xfrm>
            <a:off x="3951000" y="2209680"/>
            <a:ext cx="8352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50" name="Text Box 45"/>
          <p:cNvSpPr/>
          <p:nvPr/>
        </p:nvSpPr>
        <p:spPr>
          <a:xfrm>
            <a:off x="6509520" y="35812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51" name="Text Box 46"/>
          <p:cNvSpPr/>
          <p:nvPr/>
        </p:nvSpPr>
        <p:spPr>
          <a:xfrm>
            <a:off x="8186040" y="35812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52" name="Text Box 47"/>
          <p:cNvSpPr/>
          <p:nvPr/>
        </p:nvSpPr>
        <p:spPr>
          <a:xfrm>
            <a:off x="6509520" y="15238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53" name="Text Box 48"/>
          <p:cNvSpPr/>
          <p:nvPr/>
        </p:nvSpPr>
        <p:spPr>
          <a:xfrm>
            <a:off x="3918600" y="31240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54" name="Text Box 49"/>
          <p:cNvSpPr/>
          <p:nvPr/>
        </p:nvSpPr>
        <p:spPr>
          <a:xfrm>
            <a:off x="3842640" y="601992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55" name="Text Box 50"/>
          <p:cNvSpPr/>
          <p:nvPr/>
        </p:nvSpPr>
        <p:spPr>
          <a:xfrm>
            <a:off x="5137920" y="601992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56" name="Text Box 51"/>
          <p:cNvSpPr/>
          <p:nvPr/>
        </p:nvSpPr>
        <p:spPr>
          <a:xfrm>
            <a:off x="3842640" y="649116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57" name="Text Box 52"/>
          <p:cNvSpPr/>
          <p:nvPr/>
        </p:nvSpPr>
        <p:spPr>
          <a:xfrm>
            <a:off x="2775600" y="26668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58" name="Text Box 53"/>
          <p:cNvSpPr/>
          <p:nvPr/>
        </p:nvSpPr>
        <p:spPr>
          <a:xfrm>
            <a:off x="2775600" y="411480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59" name="Text Box 54"/>
          <p:cNvSpPr/>
          <p:nvPr/>
        </p:nvSpPr>
        <p:spPr>
          <a:xfrm>
            <a:off x="2775600" y="464832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60" name="Text Box 55"/>
          <p:cNvSpPr/>
          <p:nvPr/>
        </p:nvSpPr>
        <p:spPr>
          <a:xfrm>
            <a:off x="6509520" y="502920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61" name="Text Box 56"/>
          <p:cNvSpPr/>
          <p:nvPr/>
        </p:nvSpPr>
        <p:spPr>
          <a:xfrm>
            <a:off x="2743200" y="312408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62" name="Text Box 57"/>
          <p:cNvSpPr/>
          <p:nvPr/>
        </p:nvSpPr>
        <p:spPr>
          <a:xfrm>
            <a:off x="2819520" y="601992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63" name="Text Box 58"/>
          <p:cNvSpPr/>
          <p:nvPr/>
        </p:nvSpPr>
        <p:spPr>
          <a:xfrm>
            <a:off x="5029200" y="1066680"/>
            <a:ext cx="60948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64" name="Text Box 59"/>
          <p:cNvSpPr/>
          <p:nvPr/>
        </p:nvSpPr>
        <p:spPr>
          <a:xfrm>
            <a:off x="5105520" y="5486400"/>
            <a:ext cx="61884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65" name="Text Box 60"/>
          <p:cNvSpPr/>
          <p:nvPr/>
        </p:nvSpPr>
        <p:spPr>
          <a:xfrm>
            <a:off x="2819520" y="649116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66" name="Text Box 61"/>
          <p:cNvSpPr/>
          <p:nvPr/>
        </p:nvSpPr>
        <p:spPr>
          <a:xfrm>
            <a:off x="6541920" y="3124080"/>
            <a:ext cx="8352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667" name="Text Box 62"/>
          <p:cNvSpPr/>
          <p:nvPr/>
        </p:nvSpPr>
        <p:spPr>
          <a:xfrm>
            <a:off x="7878600" y="2022480"/>
            <a:ext cx="244800" cy="342720"/>
          </a:xfrm>
          <a:prstGeom prst="rect">
            <a:avLst/>
          </a:prstGeom>
          <a:noFill/>
          <a:ln w="0">
            <a:noFill/>
          </a:ln>
        </p:spPr>
        <p:style>
          <a:lnRef idx="0"/>
          <a:fillRef idx="0"/>
          <a:effectRef idx="0"/>
          <a:fontRef idx="minor"/>
        </p:style>
        <p:txBody>
          <a:bodyPr wrap="none" lIns="90000" rIns="90000" tIns="46800" bIns="46800" anchor="t">
            <a:spAutoFit/>
          </a:bodyPr>
          <a:p>
            <a:endParaRPr b="0" lang="en-US" sz="2400" strike="noStrike" u="none">
              <a:solidFill>
                <a:srgbClr val="ffff00"/>
              </a:solidFill>
              <a:effectLst/>
              <a:uFillTx/>
              <a:latin typeface="Times New Roman"/>
            </a:endParaRPr>
          </a:p>
        </p:txBody>
      </p:sp>
      <p:sp>
        <p:nvSpPr>
          <p:cNvPr id="668" name="Text Box 63"/>
          <p:cNvSpPr/>
          <p:nvPr/>
        </p:nvSpPr>
        <p:spPr>
          <a:xfrm>
            <a:off x="7878600" y="2022480"/>
            <a:ext cx="244800" cy="342720"/>
          </a:xfrm>
          <a:prstGeom prst="rect">
            <a:avLst/>
          </a:prstGeom>
          <a:noFill/>
          <a:ln w="0">
            <a:noFill/>
          </a:ln>
        </p:spPr>
        <p:style>
          <a:lnRef idx="0"/>
          <a:fillRef idx="0"/>
          <a:effectRef idx="0"/>
          <a:fontRef idx="minor"/>
        </p:style>
        <p:txBody>
          <a:bodyPr wrap="none" lIns="90000" rIns="90000" tIns="46800" bIns="46800" anchor="t">
            <a:spAutoFit/>
          </a:bodyPr>
          <a:p>
            <a:endParaRPr b="0" lang="en-US" sz="2400" strike="noStrike" u="none">
              <a:solidFill>
                <a:srgbClr val="ffff00"/>
              </a:solidFill>
              <a:effectLst/>
              <a:uFillTx/>
              <a:latin typeface="Times New Roman"/>
            </a:endParaRPr>
          </a:p>
        </p:txBody>
      </p:sp>
      <p:sp>
        <p:nvSpPr>
          <p:cNvPr id="669" name="Text Box 64"/>
          <p:cNvSpPr/>
          <p:nvPr/>
        </p:nvSpPr>
        <p:spPr>
          <a:xfrm>
            <a:off x="7650000" y="2098800"/>
            <a:ext cx="244800" cy="342720"/>
          </a:xfrm>
          <a:prstGeom prst="rect">
            <a:avLst/>
          </a:prstGeom>
          <a:noFill/>
          <a:ln w="0">
            <a:noFill/>
          </a:ln>
        </p:spPr>
        <p:style>
          <a:lnRef idx="0"/>
          <a:fillRef idx="0"/>
          <a:effectRef idx="0"/>
          <a:fontRef idx="minor"/>
        </p:style>
        <p:txBody>
          <a:bodyPr wrap="none" lIns="90000" rIns="90000" tIns="46800" bIns="46800" anchor="t">
            <a:spAutoFit/>
          </a:bodyPr>
          <a:p>
            <a:endParaRPr b="0" lang="en-US" sz="2400" strike="noStrike" u="none">
              <a:solidFill>
                <a:srgbClr val="ffff00"/>
              </a:solidFill>
              <a:effectLst/>
              <a:uFillTx/>
              <a:latin typeface="Times New Roman"/>
            </a:endParaRPr>
          </a:p>
        </p:txBody>
      </p:sp>
      <p:sp>
        <p:nvSpPr>
          <p:cNvPr id="670" name="Line 65"/>
          <p:cNvSpPr/>
          <p:nvPr/>
        </p:nvSpPr>
        <p:spPr>
          <a:xfrm>
            <a:off x="7848720" y="17524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1" name="Line 66"/>
          <p:cNvSpPr/>
          <p:nvPr/>
        </p:nvSpPr>
        <p:spPr>
          <a:xfrm>
            <a:off x="8153280" y="17524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2" name="Line 67"/>
          <p:cNvSpPr/>
          <p:nvPr/>
        </p:nvSpPr>
        <p:spPr>
          <a:xfrm>
            <a:off x="7848720" y="28195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3" name="Line 68"/>
          <p:cNvSpPr/>
          <p:nvPr/>
        </p:nvSpPr>
        <p:spPr>
          <a:xfrm>
            <a:off x="8153280" y="28195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4" name="Line 69"/>
          <p:cNvSpPr/>
          <p:nvPr/>
        </p:nvSpPr>
        <p:spPr>
          <a:xfrm>
            <a:off x="6781680" y="28195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5" name="Line 70"/>
          <p:cNvSpPr/>
          <p:nvPr/>
        </p:nvSpPr>
        <p:spPr>
          <a:xfrm>
            <a:off x="7086600" y="28195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6" name="Line 71"/>
          <p:cNvSpPr/>
          <p:nvPr/>
        </p:nvSpPr>
        <p:spPr>
          <a:xfrm>
            <a:off x="807732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7" name="Line 72"/>
          <p:cNvSpPr/>
          <p:nvPr/>
        </p:nvSpPr>
        <p:spPr>
          <a:xfrm>
            <a:off x="838188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8" name="Line 73"/>
          <p:cNvSpPr/>
          <p:nvPr/>
        </p:nvSpPr>
        <p:spPr>
          <a:xfrm>
            <a:off x="8381880" y="32767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79" name="Line 74"/>
          <p:cNvSpPr/>
          <p:nvPr/>
        </p:nvSpPr>
        <p:spPr>
          <a:xfrm>
            <a:off x="8686800" y="32767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0" name="Line 75"/>
          <p:cNvSpPr/>
          <p:nvPr/>
        </p:nvSpPr>
        <p:spPr>
          <a:xfrm>
            <a:off x="8305920" y="61722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1" name="Line 76"/>
          <p:cNvSpPr/>
          <p:nvPr/>
        </p:nvSpPr>
        <p:spPr>
          <a:xfrm>
            <a:off x="8610480" y="61722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2" name="Text Box 77"/>
          <p:cNvSpPr/>
          <p:nvPr/>
        </p:nvSpPr>
        <p:spPr>
          <a:xfrm>
            <a:off x="7881120" y="31240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683" name="Line 78"/>
          <p:cNvSpPr/>
          <p:nvPr/>
        </p:nvSpPr>
        <p:spPr>
          <a:xfrm>
            <a:off x="792468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4" name="Line 79"/>
          <p:cNvSpPr/>
          <p:nvPr/>
        </p:nvSpPr>
        <p:spPr>
          <a:xfrm>
            <a:off x="822960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5" name="Line 80"/>
          <p:cNvSpPr/>
          <p:nvPr/>
        </p:nvSpPr>
        <p:spPr>
          <a:xfrm>
            <a:off x="853452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6" name="Line 81"/>
          <p:cNvSpPr/>
          <p:nvPr/>
        </p:nvSpPr>
        <p:spPr>
          <a:xfrm>
            <a:off x="632448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7" name="Line 82"/>
          <p:cNvSpPr/>
          <p:nvPr/>
        </p:nvSpPr>
        <p:spPr>
          <a:xfrm>
            <a:off x="662940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8" name="Line 83"/>
          <p:cNvSpPr/>
          <p:nvPr/>
        </p:nvSpPr>
        <p:spPr>
          <a:xfrm>
            <a:off x="693432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9" name="Line 84"/>
          <p:cNvSpPr/>
          <p:nvPr/>
        </p:nvSpPr>
        <p:spPr>
          <a:xfrm>
            <a:off x="640080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0" name="Line 85"/>
          <p:cNvSpPr/>
          <p:nvPr/>
        </p:nvSpPr>
        <p:spPr>
          <a:xfrm>
            <a:off x="670572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1" name="Line 86"/>
          <p:cNvSpPr/>
          <p:nvPr/>
        </p:nvSpPr>
        <p:spPr>
          <a:xfrm>
            <a:off x="701028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2" name="Line 87"/>
          <p:cNvSpPr/>
          <p:nvPr/>
        </p:nvSpPr>
        <p:spPr>
          <a:xfrm>
            <a:off x="640080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3" name="Line 88"/>
          <p:cNvSpPr/>
          <p:nvPr/>
        </p:nvSpPr>
        <p:spPr>
          <a:xfrm>
            <a:off x="670572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4" name="Line 89"/>
          <p:cNvSpPr/>
          <p:nvPr/>
        </p:nvSpPr>
        <p:spPr>
          <a:xfrm>
            <a:off x="701028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5" name="Line 90"/>
          <p:cNvSpPr/>
          <p:nvPr/>
        </p:nvSpPr>
        <p:spPr>
          <a:xfrm>
            <a:off x="784872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6" name="Line 91"/>
          <p:cNvSpPr/>
          <p:nvPr/>
        </p:nvSpPr>
        <p:spPr>
          <a:xfrm>
            <a:off x="815328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7" name="Line 92"/>
          <p:cNvSpPr/>
          <p:nvPr/>
        </p:nvSpPr>
        <p:spPr>
          <a:xfrm>
            <a:off x="845820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8" name="Text Box 93"/>
          <p:cNvSpPr/>
          <p:nvPr/>
        </p:nvSpPr>
        <p:spPr>
          <a:xfrm>
            <a:off x="7924680" y="6019920"/>
            <a:ext cx="38124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699" name="Text Box 94"/>
          <p:cNvSpPr/>
          <p:nvPr/>
        </p:nvSpPr>
        <p:spPr>
          <a:xfrm>
            <a:off x="6324480" y="2666880"/>
            <a:ext cx="38124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700" name="Text Box 95"/>
          <p:cNvSpPr/>
          <p:nvPr/>
        </p:nvSpPr>
        <p:spPr>
          <a:xfrm>
            <a:off x="7804800" y="22096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701" name="Line 96"/>
          <p:cNvSpPr/>
          <p:nvPr/>
        </p:nvSpPr>
        <p:spPr>
          <a:xfrm>
            <a:off x="8305920" y="23623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02" name="Text Box 97"/>
          <p:cNvSpPr/>
          <p:nvPr/>
        </p:nvSpPr>
        <p:spPr>
          <a:xfrm>
            <a:off x="3864600" y="266688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703" name="Line 98"/>
          <p:cNvSpPr/>
          <p:nvPr/>
        </p:nvSpPr>
        <p:spPr>
          <a:xfrm>
            <a:off x="7162920" y="32767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04" name="Text Box 99"/>
          <p:cNvSpPr/>
          <p:nvPr/>
        </p:nvSpPr>
        <p:spPr>
          <a:xfrm>
            <a:off x="5105520" y="358128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705" name="Text Box 100"/>
          <p:cNvSpPr/>
          <p:nvPr/>
        </p:nvSpPr>
        <p:spPr>
          <a:xfrm>
            <a:off x="6379200" y="60199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706" name="Line 101"/>
          <p:cNvSpPr/>
          <p:nvPr/>
        </p:nvSpPr>
        <p:spPr>
          <a:xfrm>
            <a:off x="7010280" y="61722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07" name="Text Box 102"/>
          <p:cNvSpPr/>
          <p:nvPr/>
        </p:nvSpPr>
        <p:spPr>
          <a:xfrm>
            <a:off x="2739960" y="2170080"/>
            <a:ext cx="5112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708" name="Text Box 103"/>
          <p:cNvSpPr/>
          <p:nvPr/>
        </p:nvSpPr>
        <p:spPr>
          <a:xfrm>
            <a:off x="-849240" y="6041880"/>
            <a:ext cx="183960" cy="457200"/>
          </a:xfrm>
          <a:prstGeom prst="rect">
            <a:avLst/>
          </a:prstGeom>
          <a:noFill/>
          <a:ln w="0">
            <a:noFill/>
          </a:ln>
        </p:spPr>
        <p:style>
          <a:lnRef idx="0"/>
          <a:fillRef idx="0"/>
          <a:effectRef idx="0"/>
          <a:fontRef idx="minor"/>
        </p:style>
        <p:txBody>
          <a:bodyPr wrap="none" lIns="90000" rIns="90000" tIns="46800" bIns="46800" anchor="t">
            <a:spAutoFit/>
          </a:bodyPr>
          <a:p>
            <a:endParaRPr b="0" lang="en-US" sz="2400" strike="noStrike" u="none">
              <a:solidFill>
                <a:srgbClr val="ffff00"/>
              </a:solidFill>
              <a:effectLst/>
              <a:uFillTx/>
              <a:latin typeface="Times New Roman"/>
            </a:endParaRPr>
          </a:p>
        </p:txBody>
      </p:sp>
      <p:sp>
        <p:nvSpPr>
          <p:cNvPr id="709" name="Text Box 59"/>
          <p:cNvSpPr/>
          <p:nvPr/>
        </p:nvSpPr>
        <p:spPr>
          <a:xfrm>
            <a:off x="2624040" y="5486400"/>
            <a:ext cx="61920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710" name="Text Box 59"/>
          <p:cNvSpPr/>
          <p:nvPr/>
        </p:nvSpPr>
        <p:spPr>
          <a:xfrm>
            <a:off x="3733920" y="5486400"/>
            <a:ext cx="61884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Tree>
  </p:cSld>
  <p:transition spd="med">
    <p:zoom dir="out"/>
  </p:transition>
  <p:timing>
    <p:tnLst>
      <p:par>
        <p:cTn id="1301" dur="indefinite" restart="never" nodeType="tmRoot">
          <p:childTnLst>
            <p:seq>
              <p:cTn id="1302" dur="indefinite" nodeType="mainSeq">
                <p:childTnLst>
                  <p:par>
                    <p:cTn id="1303" nodeType="clickEffect" fill="hold">
                      <p:stCondLst>
                        <p:cond delay="indefinite"/>
                      </p:stCondLst>
                      <p:childTnLst>
                        <p:par>
                          <p:cTn id="1304" nodeType="withEffect" fill="hold">
                            <p:stCondLst>
                              <p:cond delay="0"/>
                            </p:stCondLst>
                            <p:childTnLst>
                              <p:par>
                                <p:cTn id="1305" nodeType="clickEffect" fill="hold" presetClass="entr" presetID="9">
                                  <p:stCondLst>
                                    <p:cond delay="0"/>
                                  </p:stCondLst>
                                  <p:iterate type="lt">
                                    <p:tmAbs val="75"/>
                                  </p:iterate>
                                  <p:childTnLst>
                                    <p:set>
                                      <p:cBhvr>
                                        <p:cTn id="1306" dur="1" fill="hold">
                                          <p:stCondLst>
                                            <p:cond delay="0"/>
                                          </p:stCondLst>
                                        </p:cTn>
                                        <p:tgtEl>
                                          <p:spTgt spid="625"/>
                                        </p:tgtEl>
                                        <p:attrNameLst>
                                          <p:attrName>style.visibility</p:attrName>
                                        </p:attrNameLst>
                                      </p:cBhvr>
                                      <p:to>
                                        <p:strVal val="visible"/>
                                      </p:to>
                                    </p:set>
                                    <p:animEffect filter="dissolve" transition="in">
                                      <p:cBhvr additive="repl">
                                        <p:cTn id="1307" dur="75"/>
                                        <p:tgtEl>
                                          <p:spTgt spid="625"/>
                                        </p:tgtEl>
                                      </p:cBhvr>
                                    </p:animEffect>
                                  </p:childTnLst>
                                </p:cTn>
                              </p:par>
                            </p:childTnLst>
                          </p:cTn>
                        </p:par>
                        <p:par>
                          <p:cTn id="1308" nodeType="afterEffect" fill="hold">
                            <p:stCondLst>
                              <p:cond delay="300"/>
                            </p:stCondLst>
                            <p:childTnLst>
                              <p:par>
                                <p:cTn id="1309" nodeType="afterEffect" fill="hold" presetClass="entr" presetID="9">
                                  <p:stCondLst>
                                    <p:cond delay="1000"/>
                                  </p:stCondLst>
                                  <p:iterate type="lt">
                                    <p:tmAbs val="75"/>
                                  </p:iterate>
                                  <p:childTnLst>
                                    <p:set>
                                      <p:cBhvr>
                                        <p:cTn id="1310" dur="1" fill="hold">
                                          <p:stCondLst>
                                            <p:cond delay="0"/>
                                          </p:stCondLst>
                                        </p:cTn>
                                        <p:tgtEl>
                                          <p:spTgt spid="627"/>
                                        </p:tgtEl>
                                        <p:attrNameLst>
                                          <p:attrName>style.visibility</p:attrName>
                                        </p:attrNameLst>
                                      </p:cBhvr>
                                      <p:to>
                                        <p:strVal val="visible"/>
                                      </p:to>
                                    </p:set>
                                    <p:animEffect filter="dissolve" transition="in">
                                      <p:cBhvr additive="repl">
                                        <p:cTn id="1311" dur="75"/>
                                        <p:tgtEl>
                                          <p:spTgt spid="627"/>
                                        </p:tgtEl>
                                      </p:cBhvr>
                                    </p:animEffect>
                                  </p:childTnLst>
                                </p:cTn>
                              </p:par>
                            </p:childTnLst>
                          </p:cTn>
                        </p:par>
                        <p:par>
                          <p:cTn id="1312" nodeType="afterEffect" fill="hold">
                            <p:stCondLst>
                              <p:cond delay="1525"/>
                            </p:stCondLst>
                            <p:childTnLst>
                              <p:par>
                                <p:cTn id="1313" nodeType="afterEffect" fill="hold" presetClass="entr" presetID="9">
                                  <p:stCondLst>
                                    <p:cond delay="1000"/>
                                  </p:stCondLst>
                                  <p:iterate type="lt">
                                    <p:tmAbs val="75"/>
                                  </p:iterate>
                                  <p:childTnLst>
                                    <p:set>
                                      <p:cBhvr>
                                        <p:cTn id="1314" dur="1" fill="hold">
                                          <p:stCondLst>
                                            <p:cond delay="0"/>
                                          </p:stCondLst>
                                        </p:cTn>
                                        <p:tgtEl>
                                          <p:spTgt spid="663"/>
                                        </p:tgtEl>
                                        <p:attrNameLst>
                                          <p:attrName>style.visibility</p:attrName>
                                        </p:attrNameLst>
                                      </p:cBhvr>
                                      <p:to>
                                        <p:strVal val="visible"/>
                                      </p:to>
                                    </p:set>
                                    <p:animEffect filter="dissolve" transition="in">
                                      <p:cBhvr additive="repl">
                                        <p:cTn id="1315" dur="75"/>
                                        <p:tgtEl>
                                          <p:spTgt spid="663"/>
                                        </p:tgtEl>
                                      </p:cBhvr>
                                    </p:animEffect>
                                  </p:childTnLst>
                                </p:cTn>
                              </p:par>
                            </p:childTnLst>
                          </p:cTn>
                        </p:par>
                      </p:childTnLst>
                    </p:cTn>
                  </p:par>
                  <p:par>
                    <p:cTn id="1316" nodeType="clickEffect" fill="hold">
                      <p:stCondLst>
                        <p:cond delay="indefinite"/>
                      </p:stCondLst>
                      <p:childTnLst>
                        <p:par>
                          <p:cTn id="1317" nodeType="withEffect" fill="hold">
                            <p:stCondLst>
                              <p:cond delay="0"/>
                            </p:stCondLst>
                            <p:childTnLst>
                              <p:par>
                                <p:cTn id="1318" nodeType="clickEffect" fill="hold" presetClass="entr" presetID="9">
                                  <p:stCondLst>
                                    <p:cond delay="0"/>
                                  </p:stCondLst>
                                  <p:iterate type="lt">
                                    <p:tmAbs val="75"/>
                                  </p:iterate>
                                  <p:childTnLst>
                                    <p:set>
                                      <p:cBhvr>
                                        <p:cTn id="1319" dur="1" fill="hold">
                                          <p:stCondLst>
                                            <p:cond delay="0"/>
                                          </p:stCondLst>
                                        </p:cTn>
                                        <p:tgtEl>
                                          <p:spTgt spid="630"/>
                                        </p:tgtEl>
                                        <p:attrNameLst>
                                          <p:attrName>style.visibility</p:attrName>
                                        </p:attrNameLst>
                                      </p:cBhvr>
                                      <p:to>
                                        <p:strVal val="visible"/>
                                      </p:to>
                                    </p:set>
                                    <p:animEffect filter="dissolve" transition="in">
                                      <p:cBhvr additive="repl">
                                        <p:cTn id="1320" dur="75"/>
                                        <p:tgtEl>
                                          <p:spTgt spid="630"/>
                                        </p:tgtEl>
                                      </p:cBhvr>
                                    </p:animEffect>
                                  </p:childTnLst>
                                </p:cTn>
                              </p:par>
                            </p:childTnLst>
                          </p:cTn>
                        </p:par>
                        <p:par>
                          <p:cTn id="1321" nodeType="afterEffect" fill="hold">
                            <p:stCondLst>
                              <p:cond delay="225"/>
                            </p:stCondLst>
                            <p:childTnLst>
                              <p:par>
                                <p:cTn id="1322" nodeType="afterEffect" fill="hold" presetClass="entr" presetID="9">
                                  <p:stCondLst>
                                    <p:cond delay="1000"/>
                                  </p:stCondLst>
                                  <p:iterate type="lt">
                                    <p:tmAbs val="75"/>
                                  </p:iterate>
                                  <p:childTnLst>
                                    <p:set>
                                      <p:cBhvr>
                                        <p:cTn id="1323" dur="1" fill="hold">
                                          <p:stCondLst>
                                            <p:cond delay="0"/>
                                          </p:stCondLst>
                                        </p:cTn>
                                        <p:tgtEl>
                                          <p:spTgt spid="629"/>
                                        </p:tgtEl>
                                        <p:attrNameLst>
                                          <p:attrName>style.visibility</p:attrName>
                                        </p:attrNameLst>
                                      </p:cBhvr>
                                      <p:to>
                                        <p:strVal val="visible"/>
                                      </p:to>
                                    </p:set>
                                    <p:animEffect filter="dissolve" transition="in">
                                      <p:cBhvr additive="repl">
                                        <p:cTn id="1324" dur="75"/>
                                        <p:tgtEl>
                                          <p:spTgt spid="629"/>
                                        </p:tgtEl>
                                      </p:cBhvr>
                                    </p:animEffect>
                                  </p:childTnLst>
                                </p:cTn>
                              </p:par>
                            </p:childTnLst>
                          </p:cTn>
                        </p:par>
                        <p:par>
                          <p:cTn id="1325" nodeType="afterEffect" fill="hold">
                            <p:stCondLst>
                              <p:cond delay="1525"/>
                            </p:stCondLst>
                            <p:childTnLst>
                              <p:par>
                                <p:cTn id="1326" nodeType="afterEffect" fill="hold" presetClass="entr" presetID="9">
                                  <p:stCondLst>
                                    <p:cond delay="1000"/>
                                  </p:stCondLst>
                                  <p:iterate type="lt">
                                    <p:tmAbs val="75"/>
                                  </p:iterate>
                                  <p:childTnLst>
                                    <p:set>
                                      <p:cBhvr>
                                        <p:cTn id="1327" dur="1" fill="hold">
                                          <p:stCondLst>
                                            <p:cond delay="0"/>
                                          </p:stCondLst>
                                        </p:cTn>
                                        <p:tgtEl>
                                          <p:spTgt spid="641"/>
                                        </p:tgtEl>
                                        <p:attrNameLst>
                                          <p:attrName>style.visibility</p:attrName>
                                        </p:attrNameLst>
                                      </p:cBhvr>
                                      <p:to>
                                        <p:strVal val="visible"/>
                                      </p:to>
                                    </p:set>
                                    <p:animEffect filter="dissolve" transition="in">
                                      <p:cBhvr additive="repl">
                                        <p:cTn id="1328" dur="75"/>
                                        <p:tgtEl>
                                          <p:spTgt spid="641"/>
                                        </p:tgtEl>
                                      </p:cBhvr>
                                    </p:animEffect>
                                  </p:childTnLst>
                                </p:cTn>
                              </p:par>
                            </p:childTnLst>
                          </p:cTn>
                        </p:par>
                        <p:par>
                          <p:cTn id="1329" nodeType="afterEffect" fill="hold">
                            <p:stCondLst>
                              <p:cond delay="2750"/>
                            </p:stCondLst>
                            <p:childTnLst>
                              <p:par>
                                <p:cTn id="1330" nodeType="afterEffect" fill="hold" presetClass="entr" presetID="9">
                                  <p:stCondLst>
                                    <p:cond delay="1000"/>
                                  </p:stCondLst>
                                  <p:iterate type="lt">
                                    <p:tmAbs val="75"/>
                                  </p:iterate>
                                  <p:childTnLst>
                                    <p:set>
                                      <p:cBhvr>
                                        <p:cTn id="1331" dur="1" fill="hold">
                                          <p:stCondLst>
                                            <p:cond delay="0"/>
                                          </p:stCondLst>
                                        </p:cTn>
                                        <p:tgtEl>
                                          <p:spTgt spid="652"/>
                                        </p:tgtEl>
                                        <p:attrNameLst>
                                          <p:attrName>style.visibility</p:attrName>
                                        </p:attrNameLst>
                                      </p:cBhvr>
                                      <p:to>
                                        <p:strVal val="visible"/>
                                      </p:to>
                                    </p:set>
                                    <p:animEffect filter="dissolve" transition="in">
                                      <p:cBhvr additive="repl">
                                        <p:cTn id="1332" dur="75"/>
                                        <p:tgtEl>
                                          <p:spTgt spid="652"/>
                                        </p:tgtEl>
                                      </p:cBhvr>
                                    </p:animEffect>
                                  </p:childTnLst>
                                </p:cTn>
                              </p:par>
                            </p:childTnLst>
                          </p:cTn>
                        </p:par>
                        <p:par>
                          <p:cTn id="1333" nodeType="afterEffect" fill="hold">
                            <p:stCondLst>
                              <p:cond delay="3900"/>
                            </p:stCondLst>
                            <p:childTnLst>
                              <p:par>
                                <p:cTn id="1334" nodeType="afterEffect" fill="hold" presetClass="entr" presetID="9">
                                  <p:stCondLst>
                                    <p:cond delay="0"/>
                                  </p:stCondLst>
                                  <p:childTnLst>
                                    <p:set>
                                      <p:cBhvr>
                                        <p:cTn id="1335" dur="1" fill="hold">
                                          <p:stCondLst>
                                            <p:cond delay="0"/>
                                          </p:stCondLst>
                                        </p:cTn>
                                        <p:tgtEl>
                                          <p:spTgt spid="670"/>
                                        </p:tgtEl>
                                        <p:attrNameLst>
                                          <p:attrName>style.visibility</p:attrName>
                                        </p:attrNameLst>
                                      </p:cBhvr>
                                      <p:to>
                                        <p:strVal val="visible"/>
                                      </p:to>
                                    </p:set>
                                    <p:animEffect filter="dissolve" transition="in">
                                      <p:cBhvr additive="repl">
                                        <p:cTn id="1336" dur="500"/>
                                        <p:tgtEl>
                                          <p:spTgt spid="670"/>
                                        </p:tgtEl>
                                      </p:cBhvr>
                                    </p:animEffect>
                                  </p:childTnLst>
                                </p:cTn>
                              </p:par>
                            </p:childTnLst>
                          </p:cTn>
                        </p:par>
                        <p:par>
                          <p:cTn id="1337" nodeType="afterEffect" fill="hold">
                            <p:stCondLst>
                              <p:cond delay="4400"/>
                            </p:stCondLst>
                            <p:childTnLst>
                              <p:par>
                                <p:cTn id="1338" nodeType="afterEffect" fill="hold" presetClass="entr" presetID="9">
                                  <p:stCondLst>
                                    <p:cond delay="0"/>
                                  </p:stCondLst>
                                  <p:childTnLst>
                                    <p:set>
                                      <p:cBhvr>
                                        <p:cTn id="1339" dur="1" fill="hold">
                                          <p:stCondLst>
                                            <p:cond delay="0"/>
                                          </p:stCondLst>
                                        </p:cTn>
                                        <p:tgtEl>
                                          <p:spTgt spid="671"/>
                                        </p:tgtEl>
                                        <p:attrNameLst>
                                          <p:attrName>style.visibility</p:attrName>
                                        </p:attrNameLst>
                                      </p:cBhvr>
                                      <p:to>
                                        <p:strVal val="visible"/>
                                      </p:to>
                                    </p:set>
                                    <p:animEffect filter="dissolve" transition="in">
                                      <p:cBhvr additive="repl">
                                        <p:cTn id="1340" dur="500"/>
                                        <p:tgtEl>
                                          <p:spTgt spid="671"/>
                                        </p:tgtEl>
                                      </p:cBhvr>
                                    </p:animEffect>
                                  </p:childTnLst>
                                </p:cTn>
                              </p:par>
                            </p:childTnLst>
                          </p:cTn>
                        </p:par>
                      </p:childTnLst>
                    </p:cTn>
                  </p:par>
                  <p:par>
                    <p:cTn id="1341" nodeType="clickEffect" fill="hold">
                      <p:stCondLst>
                        <p:cond delay="indefinite"/>
                      </p:stCondLst>
                      <p:childTnLst>
                        <p:par>
                          <p:cTn id="1342" nodeType="withEffect" fill="hold">
                            <p:stCondLst>
                              <p:cond delay="0"/>
                            </p:stCondLst>
                            <p:childTnLst>
                              <p:par>
                                <p:cTn id="1343" nodeType="clickEffect" fill="hold" presetClass="entr" presetID="9">
                                  <p:stCondLst>
                                    <p:cond delay="0"/>
                                  </p:stCondLst>
                                  <p:iterate type="lt">
                                    <p:tmAbs val="75"/>
                                  </p:iterate>
                                  <p:childTnLst>
                                    <p:set>
                                      <p:cBhvr>
                                        <p:cTn id="1344" dur="1" fill="hold">
                                          <p:stCondLst>
                                            <p:cond delay="0"/>
                                          </p:stCondLst>
                                        </p:cTn>
                                        <p:tgtEl>
                                          <p:spTgt spid="707"/>
                                        </p:tgtEl>
                                        <p:attrNameLst>
                                          <p:attrName>style.visibility</p:attrName>
                                        </p:attrNameLst>
                                      </p:cBhvr>
                                      <p:to>
                                        <p:strVal val="visible"/>
                                      </p:to>
                                    </p:set>
                                    <p:animEffect filter="dissolve" transition="in">
                                      <p:cBhvr additive="repl">
                                        <p:cTn id="1345" dur="75"/>
                                        <p:tgtEl>
                                          <p:spTgt spid="707"/>
                                        </p:tgtEl>
                                      </p:cBhvr>
                                    </p:animEffect>
                                  </p:childTnLst>
                                </p:cTn>
                              </p:par>
                            </p:childTnLst>
                          </p:cTn>
                        </p:par>
                        <p:par>
                          <p:cTn id="1346" nodeType="afterEffect" fill="hold">
                            <p:stCondLst>
                              <p:cond delay="150"/>
                            </p:stCondLst>
                            <p:childTnLst>
                              <p:par>
                                <p:cTn id="1347" nodeType="afterEffect" fill="hold" presetClass="entr" presetID="9">
                                  <p:stCondLst>
                                    <p:cond delay="1000"/>
                                  </p:stCondLst>
                                  <p:iterate type="lt">
                                    <p:tmAbs val="75"/>
                                  </p:iterate>
                                  <p:childTnLst>
                                    <p:set>
                                      <p:cBhvr>
                                        <p:cTn id="1348" dur="1" fill="hold">
                                          <p:stCondLst>
                                            <p:cond delay="0"/>
                                          </p:stCondLst>
                                        </p:cTn>
                                        <p:tgtEl>
                                          <p:spTgt spid="649"/>
                                        </p:tgtEl>
                                        <p:attrNameLst>
                                          <p:attrName>style.visibility</p:attrName>
                                        </p:attrNameLst>
                                      </p:cBhvr>
                                      <p:to>
                                        <p:strVal val="visible"/>
                                      </p:to>
                                    </p:set>
                                    <p:animEffect filter="dissolve" transition="in">
                                      <p:cBhvr additive="repl">
                                        <p:cTn id="1349" dur="75"/>
                                        <p:tgtEl>
                                          <p:spTgt spid="649"/>
                                        </p:tgtEl>
                                      </p:cBhvr>
                                    </p:animEffect>
                                  </p:childTnLst>
                                </p:cTn>
                              </p:par>
                            </p:childTnLst>
                          </p:cTn>
                        </p:par>
                        <p:par>
                          <p:cTn id="1350" nodeType="afterEffect" fill="hold">
                            <p:stCondLst>
                              <p:cond delay="1375"/>
                            </p:stCondLst>
                            <p:childTnLst>
                              <p:par>
                                <p:cTn id="1351" nodeType="afterEffect" fill="hold" presetClass="entr" presetID="9">
                                  <p:stCondLst>
                                    <p:cond delay="1000"/>
                                  </p:stCondLst>
                                  <p:iterate type="lt">
                                    <p:tmAbs val="75"/>
                                  </p:iterate>
                                  <p:childTnLst>
                                    <p:set>
                                      <p:cBhvr>
                                        <p:cTn id="1352" dur="1" fill="hold">
                                          <p:stCondLst>
                                            <p:cond delay="0"/>
                                          </p:stCondLst>
                                        </p:cTn>
                                        <p:tgtEl>
                                          <p:spTgt spid="642"/>
                                        </p:tgtEl>
                                        <p:attrNameLst>
                                          <p:attrName>style.visibility</p:attrName>
                                        </p:attrNameLst>
                                      </p:cBhvr>
                                      <p:to>
                                        <p:strVal val="visible"/>
                                      </p:to>
                                    </p:set>
                                    <p:animEffect filter="dissolve" transition="in">
                                      <p:cBhvr additive="repl">
                                        <p:cTn id="1353" dur="75"/>
                                        <p:tgtEl>
                                          <p:spTgt spid="642"/>
                                        </p:tgtEl>
                                      </p:cBhvr>
                                    </p:animEffect>
                                  </p:childTnLst>
                                </p:cTn>
                              </p:par>
                            </p:childTnLst>
                          </p:cTn>
                        </p:par>
                        <p:par>
                          <p:cTn id="1354" nodeType="afterEffect" fill="hold">
                            <p:stCondLst>
                              <p:cond delay="2600"/>
                            </p:stCondLst>
                            <p:childTnLst>
                              <p:par>
                                <p:cTn id="1355" nodeType="afterEffect" fill="hold" presetClass="entr" presetID="9">
                                  <p:stCondLst>
                                    <p:cond delay="1000"/>
                                  </p:stCondLst>
                                  <p:iterate type="lt">
                                    <p:tmAbs val="75"/>
                                  </p:iterate>
                                  <p:childTnLst>
                                    <p:set>
                                      <p:cBhvr>
                                        <p:cTn id="1356" dur="1" fill="hold">
                                          <p:stCondLst>
                                            <p:cond delay="0"/>
                                          </p:stCondLst>
                                        </p:cTn>
                                        <p:tgtEl>
                                          <p:spTgt spid="631"/>
                                        </p:tgtEl>
                                        <p:attrNameLst>
                                          <p:attrName>style.visibility</p:attrName>
                                        </p:attrNameLst>
                                      </p:cBhvr>
                                      <p:to>
                                        <p:strVal val="visible"/>
                                      </p:to>
                                    </p:set>
                                    <p:animEffect filter="dissolve" transition="in">
                                      <p:cBhvr additive="repl">
                                        <p:cTn id="1357" dur="75"/>
                                        <p:tgtEl>
                                          <p:spTgt spid="631"/>
                                        </p:tgtEl>
                                      </p:cBhvr>
                                    </p:animEffect>
                                  </p:childTnLst>
                                </p:cTn>
                              </p:par>
                            </p:childTnLst>
                          </p:cTn>
                        </p:par>
                        <p:par>
                          <p:cTn id="1358" nodeType="afterEffect" fill="hold">
                            <p:stCondLst>
                              <p:cond delay="3900"/>
                            </p:stCondLst>
                            <p:childTnLst>
                              <p:par>
                                <p:cTn id="1359" nodeType="afterEffect" fill="hold" presetClass="entr" presetID="9">
                                  <p:stCondLst>
                                    <p:cond delay="1000"/>
                                  </p:stCondLst>
                                  <p:iterate type="lt">
                                    <p:tmAbs val="75"/>
                                  </p:iterate>
                                  <p:childTnLst>
                                    <p:set>
                                      <p:cBhvr>
                                        <p:cTn id="1360" dur="1" fill="hold">
                                          <p:stCondLst>
                                            <p:cond delay="0"/>
                                          </p:stCondLst>
                                        </p:cTn>
                                        <p:tgtEl>
                                          <p:spTgt spid="700"/>
                                        </p:tgtEl>
                                        <p:attrNameLst>
                                          <p:attrName>style.visibility</p:attrName>
                                        </p:attrNameLst>
                                      </p:cBhvr>
                                      <p:to>
                                        <p:strVal val="visible"/>
                                      </p:to>
                                    </p:set>
                                    <p:animEffect filter="dissolve" transition="in">
                                      <p:cBhvr additive="repl">
                                        <p:cTn id="1361" dur="75"/>
                                        <p:tgtEl>
                                          <p:spTgt spid="700"/>
                                        </p:tgtEl>
                                      </p:cBhvr>
                                    </p:animEffect>
                                  </p:childTnLst>
                                </p:cTn>
                              </p:par>
                            </p:childTnLst>
                          </p:cTn>
                        </p:par>
                        <p:par>
                          <p:cTn id="1362" nodeType="afterEffect" fill="hold">
                            <p:stCondLst>
                              <p:cond delay="5050"/>
                            </p:stCondLst>
                            <p:childTnLst>
                              <p:par>
                                <p:cTn id="1363" nodeType="afterEffect" fill="hold" presetClass="entr" presetID="17" presetSubtype="8">
                                  <p:stCondLst>
                                    <p:cond delay="0"/>
                                  </p:stCondLst>
                                  <p:childTnLst>
                                    <p:set>
                                      <p:cBhvr>
                                        <p:cTn id="1364" dur="1" fill="hold">
                                          <p:stCondLst>
                                            <p:cond delay="0"/>
                                          </p:stCondLst>
                                        </p:cTn>
                                        <p:tgtEl>
                                          <p:spTgt spid="701"/>
                                        </p:tgtEl>
                                        <p:attrNameLst>
                                          <p:attrName>style.visibility</p:attrName>
                                        </p:attrNameLst>
                                      </p:cBhvr>
                                      <p:to>
                                        <p:strVal val="visible"/>
                                      </p:to>
                                    </p:set>
                                    <p:anim calcmode="lin" valueType="num">
                                      <p:cBhvr additive="repl">
                                        <p:cTn id="1365" dur="500" fill="hold"/>
                                        <p:tgtEl>
                                          <p:spTgt spid="701"/>
                                        </p:tgtEl>
                                        <p:attrNameLst>
                                          <p:attrName>ppt_x</p:attrName>
                                        </p:attrNameLst>
                                      </p:cBhvr>
                                      <p:tavLst>
                                        <p:tav tm="0">
                                          <p:val>
                                            <p:strVal val="#ppt_x-#ppt_w/2"/>
                                          </p:val>
                                        </p:tav>
                                        <p:tav tm="100000">
                                          <p:val>
                                            <p:strVal val="#ppt_x"/>
                                          </p:val>
                                        </p:tav>
                                      </p:tavLst>
                                    </p:anim>
                                    <p:anim calcmode="lin" valueType="num">
                                      <p:cBhvr additive="repl">
                                        <p:cTn id="1366" dur="500" fill="hold"/>
                                        <p:tgtEl>
                                          <p:spTgt spid="701"/>
                                        </p:tgtEl>
                                        <p:attrNameLst>
                                          <p:attrName>ppt_y</p:attrName>
                                        </p:attrNameLst>
                                      </p:cBhvr>
                                      <p:tavLst>
                                        <p:tav tm="0">
                                          <p:val>
                                            <p:strVal val="#ppt_y"/>
                                          </p:val>
                                        </p:tav>
                                        <p:tav tm="100000">
                                          <p:val>
                                            <p:strVal val="#ppt_y"/>
                                          </p:val>
                                        </p:tav>
                                      </p:tavLst>
                                    </p:anim>
                                    <p:anim calcmode="lin" valueType="num">
                                      <p:cBhvr additive="repl">
                                        <p:cTn id="1367" dur="500" fill="hold"/>
                                        <p:tgtEl>
                                          <p:spTgt spid="701"/>
                                        </p:tgtEl>
                                        <p:attrNameLst>
                                          <p:attrName>ppt_w</p:attrName>
                                        </p:attrNameLst>
                                      </p:cBhvr>
                                      <p:tavLst>
                                        <p:tav tm="0">
                                          <p:val>
                                            <p:fltVal val="0"/>
                                          </p:val>
                                        </p:tav>
                                        <p:tav tm="100000">
                                          <p:val>
                                            <p:strVal val="#ppt_w"/>
                                          </p:val>
                                        </p:tav>
                                      </p:tavLst>
                                    </p:anim>
                                    <p:anim calcmode="lin" valueType="num">
                                      <p:cBhvr additive="repl">
                                        <p:cTn id="1368" dur="500" fill="hold"/>
                                        <p:tgtEl>
                                          <p:spTgt spid="701"/>
                                        </p:tgtEl>
                                        <p:attrNameLst>
                                          <p:attrName>ppt_h</p:attrName>
                                        </p:attrNameLst>
                                      </p:cBhvr>
                                      <p:tavLst>
                                        <p:tav tm="0">
                                          <p:val>
                                            <p:strVal val="#ppt_h"/>
                                          </p:val>
                                        </p:tav>
                                        <p:tav tm="100000">
                                          <p:val>
                                            <p:strVal val="#ppt_h"/>
                                          </p:val>
                                        </p:tav>
                                      </p:tavLst>
                                    </p:anim>
                                  </p:childTnLst>
                                </p:cTn>
                              </p:par>
                            </p:childTnLst>
                          </p:cTn>
                        </p:par>
                      </p:childTnLst>
                    </p:cTn>
                  </p:par>
                  <p:par>
                    <p:cTn id="1369" nodeType="clickEffect" fill="hold">
                      <p:stCondLst>
                        <p:cond delay="indefinite"/>
                      </p:stCondLst>
                      <p:childTnLst>
                        <p:par>
                          <p:cTn id="1370" nodeType="withEffect" fill="hold">
                            <p:stCondLst>
                              <p:cond delay="0"/>
                            </p:stCondLst>
                            <p:childTnLst>
                              <p:par>
                                <p:cTn id="1371" nodeType="clickEffect" fill="hold" presetClass="entr" presetID="9">
                                  <p:stCondLst>
                                    <p:cond delay="0"/>
                                  </p:stCondLst>
                                  <p:iterate type="lt">
                                    <p:tmAbs val="75"/>
                                  </p:iterate>
                                  <p:childTnLst>
                                    <p:set>
                                      <p:cBhvr>
                                        <p:cTn id="1372" dur="1" fill="hold">
                                          <p:stCondLst>
                                            <p:cond delay="0"/>
                                          </p:stCondLst>
                                        </p:cTn>
                                        <p:tgtEl>
                                          <p:spTgt spid="657"/>
                                        </p:tgtEl>
                                        <p:attrNameLst>
                                          <p:attrName>style.visibility</p:attrName>
                                        </p:attrNameLst>
                                      </p:cBhvr>
                                      <p:to>
                                        <p:strVal val="visible"/>
                                      </p:to>
                                    </p:set>
                                    <p:animEffect filter="dissolve" transition="in">
                                      <p:cBhvr additive="repl">
                                        <p:cTn id="1373" dur="75"/>
                                        <p:tgtEl>
                                          <p:spTgt spid="657"/>
                                        </p:tgtEl>
                                      </p:cBhvr>
                                    </p:animEffect>
                                  </p:childTnLst>
                                </p:cTn>
                              </p:par>
                            </p:childTnLst>
                          </p:cTn>
                        </p:par>
                        <p:par>
                          <p:cTn id="1374" nodeType="afterEffect" fill="hold">
                            <p:stCondLst>
                              <p:cond delay="150"/>
                            </p:stCondLst>
                            <p:childTnLst>
                              <p:par>
                                <p:cTn id="1375" nodeType="afterEffect" fill="hold" presetClass="entr" presetID="9">
                                  <p:stCondLst>
                                    <p:cond delay="1000"/>
                                  </p:stCondLst>
                                  <p:iterate type="lt">
                                    <p:tmAbs val="75"/>
                                  </p:iterate>
                                  <p:childTnLst>
                                    <p:set>
                                      <p:cBhvr>
                                        <p:cTn id="1376" dur="1" fill="hold">
                                          <p:stCondLst>
                                            <p:cond delay="0"/>
                                          </p:stCondLst>
                                        </p:cTn>
                                        <p:tgtEl>
                                          <p:spTgt spid="702"/>
                                        </p:tgtEl>
                                        <p:attrNameLst>
                                          <p:attrName>style.visibility</p:attrName>
                                        </p:attrNameLst>
                                      </p:cBhvr>
                                      <p:to>
                                        <p:strVal val="visible"/>
                                      </p:to>
                                    </p:set>
                                    <p:animEffect filter="dissolve" transition="in">
                                      <p:cBhvr additive="repl">
                                        <p:cTn id="1377" dur="75"/>
                                        <p:tgtEl>
                                          <p:spTgt spid="702"/>
                                        </p:tgtEl>
                                      </p:cBhvr>
                                    </p:animEffect>
                                  </p:childTnLst>
                                </p:cTn>
                              </p:par>
                            </p:childTnLst>
                          </p:cTn>
                        </p:par>
                        <p:par>
                          <p:cTn id="1378" nodeType="afterEffect" fill="hold">
                            <p:stCondLst>
                              <p:cond delay="1375"/>
                            </p:stCondLst>
                            <p:childTnLst>
                              <p:par>
                                <p:cTn id="1379" nodeType="afterEffect" fill="hold" presetClass="entr" presetID="9">
                                  <p:stCondLst>
                                    <p:cond delay="1000"/>
                                  </p:stCondLst>
                                  <p:iterate type="lt">
                                    <p:tmAbs val="75"/>
                                  </p:iterate>
                                  <p:childTnLst>
                                    <p:set>
                                      <p:cBhvr>
                                        <p:cTn id="1380" dur="1" fill="hold">
                                          <p:stCondLst>
                                            <p:cond delay="0"/>
                                          </p:stCondLst>
                                        </p:cTn>
                                        <p:tgtEl>
                                          <p:spTgt spid="643"/>
                                        </p:tgtEl>
                                        <p:attrNameLst>
                                          <p:attrName>style.visibility</p:attrName>
                                        </p:attrNameLst>
                                      </p:cBhvr>
                                      <p:to>
                                        <p:strVal val="visible"/>
                                      </p:to>
                                    </p:set>
                                    <p:animEffect filter="dissolve" transition="in">
                                      <p:cBhvr additive="repl">
                                        <p:cTn id="1381" dur="75"/>
                                        <p:tgtEl>
                                          <p:spTgt spid="643"/>
                                        </p:tgtEl>
                                      </p:cBhvr>
                                    </p:animEffect>
                                  </p:childTnLst>
                                </p:cTn>
                              </p:par>
                            </p:childTnLst>
                          </p:cTn>
                        </p:par>
                        <p:par>
                          <p:cTn id="1382" nodeType="afterEffect" fill="hold">
                            <p:stCondLst>
                              <p:cond delay="2600"/>
                            </p:stCondLst>
                            <p:childTnLst>
                              <p:par>
                                <p:cTn id="1383" nodeType="afterEffect" fill="hold" presetClass="entr" presetID="9">
                                  <p:stCondLst>
                                    <p:cond delay="1000"/>
                                  </p:stCondLst>
                                  <p:iterate type="lt">
                                    <p:tmAbs val="75"/>
                                  </p:iterate>
                                  <p:childTnLst>
                                    <p:set>
                                      <p:cBhvr>
                                        <p:cTn id="1384" dur="1" fill="hold">
                                          <p:stCondLst>
                                            <p:cond delay="0"/>
                                          </p:stCondLst>
                                        </p:cTn>
                                        <p:tgtEl>
                                          <p:spTgt spid="699"/>
                                        </p:tgtEl>
                                        <p:attrNameLst>
                                          <p:attrName>style.visibility</p:attrName>
                                        </p:attrNameLst>
                                      </p:cBhvr>
                                      <p:to>
                                        <p:strVal val="visible"/>
                                      </p:to>
                                    </p:set>
                                    <p:animEffect filter="dissolve" transition="in">
                                      <p:cBhvr additive="repl">
                                        <p:cTn id="1385" dur="75"/>
                                        <p:tgtEl>
                                          <p:spTgt spid="699"/>
                                        </p:tgtEl>
                                      </p:cBhvr>
                                    </p:animEffect>
                                  </p:childTnLst>
                                </p:cTn>
                              </p:par>
                            </p:childTnLst>
                          </p:cTn>
                        </p:par>
                        <p:par>
                          <p:cTn id="1386" nodeType="afterEffect" fill="hold">
                            <p:stCondLst>
                              <p:cond delay="3675"/>
                            </p:stCondLst>
                            <p:childTnLst>
                              <p:par>
                                <p:cTn id="1387" nodeType="afterEffect" fill="hold" presetClass="entr" presetID="17" presetSubtype="8">
                                  <p:stCondLst>
                                    <p:cond delay="0"/>
                                  </p:stCondLst>
                                  <p:childTnLst>
                                    <p:set>
                                      <p:cBhvr>
                                        <p:cTn id="1388" dur="1" fill="hold">
                                          <p:stCondLst>
                                            <p:cond delay="0"/>
                                          </p:stCondLst>
                                        </p:cTn>
                                        <p:tgtEl>
                                          <p:spTgt spid="674"/>
                                        </p:tgtEl>
                                        <p:attrNameLst>
                                          <p:attrName>style.visibility</p:attrName>
                                        </p:attrNameLst>
                                      </p:cBhvr>
                                      <p:to>
                                        <p:strVal val="visible"/>
                                      </p:to>
                                    </p:set>
                                    <p:anim calcmode="lin" valueType="num">
                                      <p:cBhvr additive="repl">
                                        <p:cTn id="1389" dur="500" fill="hold"/>
                                        <p:tgtEl>
                                          <p:spTgt spid="674"/>
                                        </p:tgtEl>
                                        <p:attrNameLst>
                                          <p:attrName>ppt_x</p:attrName>
                                        </p:attrNameLst>
                                      </p:cBhvr>
                                      <p:tavLst>
                                        <p:tav tm="0">
                                          <p:val>
                                            <p:strVal val="#ppt_x-#ppt_w/2"/>
                                          </p:val>
                                        </p:tav>
                                        <p:tav tm="100000">
                                          <p:val>
                                            <p:strVal val="#ppt_x"/>
                                          </p:val>
                                        </p:tav>
                                      </p:tavLst>
                                    </p:anim>
                                    <p:anim calcmode="lin" valueType="num">
                                      <p:cBhvr additive="repl">
                                        <p:cTn id="1390" dur="500" fill="hold"/>
                                        <p:tgtEl>
                                          <p:spTgt spid="674"/>
                                        </p:tgtEl>
                                        <p:attrNameLst>
                                          <p:attrName>ppt_y</p:attrName>
                                        </p:attrNameLst>
                                      </p:cBhvr>
                                      <p:tavLst>
                                        <p:tav tm="0">
                                          <p:val>
                                            <p:strVal val="#ppt_y"/>
                                          </p:val>
                                        </p:tav>
                                        <p:tav tm="100000">
                                          <p:val>
                                            <p:strVal val="#ppt_y"/>
                                          </p:val>
                                        </p:tav>
                                      </p:tavLst>
                                    </p:anim>
                                    <p:anim calcmode="lin" valueType="num">
                                      <p:cBhvr additive="repl">
                                        <p:cTn id="1391" dur="500" fill="hold"/>
                                        <p:tgtEl>
                                          <p:spTgt spid="674"/>
                                        </p:tgtEl>
                                        <p:attrNameLst>
                                          <p:attrName>ppt_w</p:attrName>
                                        </p:attrNameLst>
                                      </p:cBhvr>
                                      <p:tavLst>
                                        <p:tav tm="0">
                                          <p:val>
                                            <p:fltVal val="0"/>
                                          </p:val>
                                        </p:tav>
                                        <p:tav tm="100000">
                                          <p:val>
                                            <p:strVal val="#ppt_w"/>
                                          </p:val>
                                        </p:tav>
                                      </p:tavLst>
                                    </p:anim>
                                    <p:anim calcmode="lin" valueType="num">
                                      <p:cBhvr additive="repl">
                                        <p:cTn id="1392" dur="500" fill="hold"/>
                                        <p:tgtEl>
                                          <p:spTgt spid="674"/>
                                        </p:tgtEl>
                                        <p:attrNameLst>
                                          <p:attrName>ppt_h</p:attrName>
                                        </p:attrNameLst>
                                      </p:cBhvr>
                                      <p:tavLst>
                                        <p:tav tm="0">
                                          <p:val>
                                            <p:strVal val="#ppt_h"/>
                                          </p:val>
                                        </p:tav>
                                        <p:tav tm="100000">
                                          <p:val>
                                            <p:strVal val="#ppt_h"/>
                                          </p:val>
                                        </p:tav>
                                      </p:tavLst>
                                    </p:anim>
                                  </p:childTnLst>
                                </p:cTn>
                              </p:par>
                            </p:childTnLst>
                          </p:cTn>
                        </p:par>
                        <p:par>
                          <p:cTn id="1393" nodeType="afterEffect" fill="hold">
                            <p:stCondLst>
                              <p:cond delay="4175"/>
                            </p:stCondLst>
                            <p:childTnLst>
                              <p:par>
                                <p:cTn id="1394" nodeType="afterEffect" fill="hold" presetClass="entr" presetID="17" presetSubtype="8">
                                  <p:stCondLst>
                                    <p:cond delay="0"/>
                                  </p:stCondLst>
                                  <p:childTnLst>
                                    <p:set>
                                      <p:cBhvr>
                                        <p:cTn id="1395" dur="1" fill="hold">
                                          <p:stCondLst>
                                            <p:cond delay="0"/>
                                          </p:stCondLst>
                                        </p:cTn>
                                        <p:tgtEl>
                                          <p:spTgt spid="675"/>
                                        </p:tgtEl>
                                        <p:attrNameLst>
                                          <p:attrName>style.visibility</p:attrName>
                                        </p:attrNameLst>
                                      </p:cBhvr>
                                      <p:to>
                                        <p:strVal val="visible"/>
                                      </p:to>
                                    </p:set>
                                    <p:anim calcmode="lin" valueType="num">
                                      <p:cBhvr additive="repl">
                                        <p:cTn id="1396" dur="500" fill="hold"/>
                                        <p:tgtEl>
                                          <p:spTgt spid="675"/>
                                        </p:tgtEl>
                                        <p:attrNameLst>
                                          <p:attrName>ppt_x</p:attrName>
                                        </p:attrNameLst>
                                      </p:cBhvr>
                                      <p:tavLst>
                                        <p:tav tm="0">
                                          <p:val>
                                            <p:strVal val="#ppt_x-#ppt_w/2"/>
                                          </p:val>
                                        </p:tav>
                                        <p:tav tm="100000">
                                          <p:val>
                                            <p:strVal val="#ppt_x"/>
                                          </p:val>
                                        </p:tav>
                                      </p:tavLst>
                                    </p:anim>
                                    <p:anim calcmode="lin" valueType="num">
                                      <p:cBhvr additive="repl">
                                        <p:cTn id="1397" dur="500" fill="hold"/>
                                        <p:tgtEl>
                                          <p:spTgt spid="675"/>
                                        </p:tgtEl>
                                        <p:attrNameLst>
                                          <p:attrName>ppt_y</p:attrName>
                                        </p:attrNameLst>
                                      </p:cBhvr>
                                      <p:tavLst>
                                        <p:tav tm="0">
                                          <p:val>
                                            <p:strVal val="#ppt_y"/>
                                          </p:val>
                                        </p:tav>
                                        <p:tav tm="100000">
                                          <p:val>
                                            <p:strVal val="#ppt_y"/>
                                          </p:val>
                                        </p:tav>
                                      </p:tavLst>
                                    </p:anim>
                                    <p:anim calcmode="lin" valueType="num">
                                      <p:cBhvr additive="repl">
                                        <p:cTn id="1398" dur="500" fill="hold"/>
                                        <p:tgtEl>
                                          <p:spTgt spid="675"/>
                                        </p:tgtEl>
                                        <p:attrNameLst>
                                          <p:attrName>ppt_w</p:attrName>
                                        </p:attrNameLst>
                                      </p:cBhvr>
                                      <p:tavLst>
                                        <p:tav tm="0">
                                          <p:val>
                                            <p:fltVal val="0"/>
                                          </p:val>
                                        </p:tav>
                                        <p:tav tm="100000">
                                          <p:val>
                                            <p:strVal val="#ppt_w"/>
                                          </p:val>
                                        </p:tav>
                                      </p:tavLst>
                                    </p:anim>
                                    <p:anim calcmode="lin" valueType="num">
                                      <p:cBhvr additive="repl">
                                        <p:cTn id="1399" dur="500" fill="hold"/>
                                        <p:tgtEl>
                                          <p:spTgt spid="675"/>
                                        </p:tgtEl>
                                        <p:attrNameLst>
                                          <p:attrName>ppt_h</p:attrName>
                                        </p:attrNameLst>
                                      </p:cBhvr>
                                      <p:tavLst>
                                        <p:tav tm="0">
                                          <p:val>
                                            <p:strVal val="#ppt_h"/>
                                          </p:val>
                                        </p:tav>
                                        <p:tav tm="100000">
                                          <p:val>
                                            <p:strVal val="#ppt_h"/>
                                          </p:val>
                                        </p:tav>
                                      </p:tavLst>
                                    </p:anim>
                                  </p:childTnLst>
                                </p:cTn>
                              </p:par>
                            </p:childTnLst>
                          </p:cTn>
                        </p:par>
                        <p:par>
                          <p:cTn id="1400" nodeType="afterEffect" fill="hold">
                            <p:stCondLst>
                              <p:cond delay="4675"/>
                            </p:stCondLst>
                            <p:childTnLst>
                              <p:par>
                                <p:cTn id="1401" nodeType="afterEffect" fill="hold" presetClass="entr" presetID="17" presetSubtype="8">
                                  <p:stCondLst>
                                    <p:cond delay="1000"/>
                                  </p:stCondLst>
                                  <p:childTnLst>
                                    <p:set>
                                      <p:cBhvr>
                                        <p:cTn id="1402" dur="1" fill="hold">
                                          <p:stCondLst>
                                            <p:cond delay="0"/>
                                          </p:stCondLst>
                                        </p:cTn>
                                        <p:tgtEl>
                                          <p:spTgt spid="672"/>
                                        </p:tgtEl>
                                        <p:attrNameLst>
                                          <p:attrName>style.visibility</p:attrName>
                                        </p:attrNameLst>
                                      </p:cBhvr>
                                      <p:to>
                                        <p:strVal val="visible"/>
                                      </p:to>
                                    </p:set>
                                    <p:anim calcmode="lin" valueType="num">
                                      <p:cBhvr additive="repl">
                                        <p:cTn id="1403" dur="500" fill="hold"/>
                                        <p:tgtEl>
                                          <p:spTgt spid="672"/>
                                        </p:tgtEl>
                                        <p:attrNameLst>
                                          <p:attrName>ppt_x</p:attrName>
                                        </p:attrNameLst>
                                      </p:cBhvr>
                                      <p:tavLst>
                                        <p:tav tm="0">
                                          <p:val>
                                            <p:strVal val="#ppt_x-#ppt_w/2"/>
                                          </p:val>
                                        </p:tav>
                                        <p:tav tm="100000">
                                          <p:val>
                                            <p:strVal val="#ppt_x"/>
                                          </p:val>
                                        </p:tav>
                                      </p:tavLst>
                                    </p:anim>
                                    <p:anim calcmode="lin" valueType="num">
                                      <p:cBhvr additive="repl">
                                        <p:cTn id="1404" dur="500" fill="hold"/>
                                        <p:tgtEl>
                                          <p:spTgt spid="672"/>
                                        </p:tgtEl>
                                        <p:attrNameLst>
                                          <p:attrName>ppt_y</p:attrName>
                                        </p:attrNameLst>
                                      </p:cBhvr>
                                      <p:tavLst>
                                        <p:tav tm="0">
                                          <p:val>
                                            <p:strVal val="#ppt_y"/>
                                          </p:val>
                                        </p:tav>
                                        <p:tav tm="100000">
                                          <p:val>
                                            <p:strVal val="#ppt_y"/>
                                          </p:val>
                                        </p:tav>
                                      </p:tavLst>
                                    </p:anim>
                                    <p:anim calcmode="lin" valueType="num">
                                      <p:cBhvr additive="repl">
                                        <p:cTn id="1405" dur="500" fill="hold"/>
                                        <p:tgtEl>
                                          <p:spTgt spid="672"/>
                                        </p:tgtEl>
                                        <p:attrNameLst>
                                          <p:attrName>ppt_w</p:attrName>
                                        </p:attrNameLst>
                                      </p:cBhvr>
                                      <p:tavLst>
                                        <p:tav tm="0">
                                          <p:val>
                                            <p:fltVal val="0"/>
                                          </p:val>
                                        </p:tav>
                                        <p:tav tm="100000">
                                          <p:val>
                                            <p:strVal val="#ppt_w"/>
                                          </p:val>
                                        </p:tav>
                                      </p:tavLst>
                                    </p:anim>
                                    <p:anim calcmode="lin" valueType="num">
                                      <p:cBhvr additive="repl">
                                        <p:cTn id="1406" dur="500" fill="hold"/>
                                        <p:tgtEl>
                                          <p:spTgt spid="672"/>
                                        </p:tgtEl>
                                        <p:attrNameLst>
                                          <p:attrName>ppt_h</p:attrName>
                                        </p:attrNameLst>
                                      </p:cBhvr>
                                      <p:tavLst>
                                        <p:tav tm="0">
                                          <p:val>
                                            <p:strVal val="#ppt_h"/>
                                          </p:val>
                                        </p:tav>
                                        <p:tav tm="100000">
                                          <p:val>
                                            <p:strVal val="#ppt_h"/>
                                          </p:val>
                                        </p:tav>
                                      </p:tavLst>
                                    </p:anim>
                                  </p:childTnLst>
                                </p:cTn>
                              </p:par>
                            </p:childTnLst>
                          </p:cTn>
                        </p:par>
                        <p:par>
                          <p:cTn id="1407" nodeType="afterEffect" fill="hold">
                            <p:stCondLst>
                              <p:cond delay="6175"/>
                            </p:stCondLst>
                            <p:childTnLst>
                              <p:par>
                                <p:cTn id="1408" nodeType="afterEffect" fill="hold" presetClass="entr" presetID="17" presetSubtype="8">
                                  <p:stCondLst>
                                    <p:cond delay="0"/>
                                  </p:stCondLst>
                                  <p:childTnLst>
                                    <p:set>
                                      <p:cBhvr>
                                        <p:cTn id="1409" dur="1" fill="hold">
                                          <p:stCondLst>
                                            <p:cond delay="0"/>
                                          </p:stCondLst>
                                        </p:cTn>
                                        <p:tgtEl>
                                          <p:spTgt spid="673"/>
                                        </p:tgtEl>
                                        <p:attrNameLst>
                                          <p:attrName>style.visibility</p:attrName>
                                        </p:attrNameLst>
                                      </p:cBhvr>
                                      <p:to>
                                        <p:strVal val="visible"/>
                                      </p:to>
                                    </p:set>
                                    <p:anim calcmode="lin" valueType="num">
                                      <p:cBhvr additive="repl">
                                        <p:cTn id="1410" dur="500" fill="hold"/>
                                        <p:tgtEl>
                                          <p:spTgt spid="673"/>
                                        </p:tgtEl>
                                        <p:attrNameLst>
                                          <p:attrName>ppt_x</p:attrName>
                                        </p:attrNameLst>
                                      </p:cBhvr>
                                      <p:tavLst>
                                        <p:tav tm="0">
                                          <p:val>
                                            <p:strVal val="#ppt_x-#ppt_w/2"/>
                                          </p:val>
                                        </p:tav>
                                        <p:tav tm="100000">
                                          <p:val>
                                            <p:strVal val="#ppt_x"/>
                                          </p:val>
                                        </p:tav>
                                      </p:tavLst>
                                    </p:anim>
                                    <p:anim calcmode="lin" valueType="num">
                                      <p:cBhvr additive="repl">
                                        <p:cTn id="1411" dur="500" fill="hold"/>
                                        <p:tgtEl>
                                          <p:spTgt spid="673"/>
                                        </p:tgtEl>
                                        <p:attrNameLst>
                                          <p:attrName>ppt_y</p:attrName>
                                        </p:attrNameLst>
                                      </p:cBhvr>
                                      <p:tavLst>
                                        <p:tav tm="0">
                                          <p:val>
                                            <p:strVal val="#ppt_y"/>
                                          </p:val>
                                        </p:tav>
                                        <p:tav tm="100000">
                                          <p:val>
                                            <p:strVal val="#ppt_y"/>
                                          </p:val>
                                        </p:tav>
                                      </p:tavLst>
                                    </p:anim>
                                    <p:anim calcmode="lin" valueType="num">
                                      <p:cBhvr additive="repl">
                                        <p:cTn id="1412" dur="500" fill="hold"/>
                                        <p:tgtEl>
                                          <p:spTgt spid="673"/>
                                        </p:tgtEl>
                                        <p:attrNameLst>
                                          <p:attrName>ppt_w</p:attrName>
                                        </p:attrNameLst>
                                      </p:cBhvr>
                                      <p:tavLst>
                                        <p:tav tm="0">
                                          <p:val>
                                            <p:fltVal val="0"/>
                                          </p:val>
                                        </p:tav>
                                        <p:tav tm="100000">
                                          <p:val>
                                            <p:strVal val="#ppt_w"/>
                                          </p:val>
                                        </p:tav>
                                      </p:tavLst>
                                    </p:anim>
                                    <p:anim calcmode="lin" valueType="num">
                                      <p:cBhvr additive="repl">
                                        <p:cTn id="1413" dur="500" fill="hold"/>
                                        <p:tgtEl>
                                          <p:spTgt spid="673"/>
                                        </p:tgtEl>
                                        <p:attrNameLst>
                                          <p:attrName>ppt_h</p:attrName>
                                        </p:attrNameLst>
                                      </p:cBhvr>
                                      <p:tavLst>
                                        <p:tav tm="0">
                                          <p:val>
                                            <p:strVal val="#ppt_h"/>
                                          </p:val>
                                        </p:tav>
                                        <p:tav tm="100000">
                                          <p:val>
                                            <p:strVal val="#ppt_h"/>
                                          </p:val>
                                        </p:tav>
                                      </p:tavLst>
                                    </p:anim>
                                  </p:childTnLst>
                                </p:cTn>
                              </p:par>
                            </p:childTnLst>
                          </p:cTn>
                        </p:par>
                      </p:childTnLst>
                    </p:cTn>
                  </p:par>
                  <p:par>
                    <p:cTn id="1414" nodeType="clickEffect" fill="hold">
                      <p:stCondLst>
                        <p:cond delay="indefinite"/>
                      </p:stCondLst>
                      <p:childTnLst>
                        <p:par>
                          <p:cTn id="1415" nodeType="withEffect" fill="hold">
                            <p:stCondLst>
                              <p:cond delay="0"/>
                            </p:stCondLst>
                            <p:childTnLst>
                              <p:par>
                                <p:cTn id="1416" nodeType="clickEffect" fill="hold" presetClass="entr" presetID="9">
                                  <p:stCondLst>
                                    <p:cond delay="0"/>
                                  </p:stCondLst>
                                  <p:iterate type="lt">
                                    <p:tmAbs val="75"/>
                                  </p:iterate>
                                  <p:childTnLst>
                                    <p:set>
                                      <p:cBhvr>
                                        <p:cTn id="1417" dur="1" fill="hold">
                                          <p:stCondLst>
                                            <p:cond delay="0"/>
                                          </p:stCondLst>
                                        </p:cTn>
                                        <p:tgtEl>
                                          <p:spTgt spid="661"/>
                                        </p:tgtEl>
                                        <p:attrNameLst>
                                          <p:attrName>style.visibility</p:attrName>
                                        </p:attrNameLst>
                                      </p:cBhvr>
                                      <p:to>
                                        <p:strVal val="visible"/>
                                      </p:to>
                                    </p:set>
                                    <p:animEffect filter="dissolve" transition="in">
                                      <p:cBhvr additive="repl">
                                        <p:cTn id="1418" dur="75"/>
                                        <p:tgtEl>
                                          <p:spTgt spid="661"/>
                                        </p:tgtEl>
                                      </p:cBhvr>
                                    </p:animEffect>
                                  </p:childTnLst>
                                </p:cTn>
                              </p:par>
                            </p:childTnLst>
                          </p:cTn>
                        </p:par>
                        <p:par>
                          <p:cTn id="1419" nodeType="afterEffect" fill="hold">
                            <p:stCondLst>
                              <p:cond delay="75"/>
                            </p:stCondLst>
                            <p:childTnLst>
                              <p:par>
                                <p:cTn id="1420" nodeType="afterEffect" fill="hold" presetClass="entr" presetID="9">
                                  <p:stCondLst>
                                    <p:cond delay="1000"/>
                                  </p:stCondLst>
                                  <p:iterate type="lt">
                                    <p:tmAbs val="75"/>
                                  </p:iterate>
                                  <p:childTnLst>
                                    <p:set>
                                      <p:cBhvr>
                                        <p:cTn id="1421" dur="1" fill="hold">
                                          <p:stCondLst>
                                            <p:cond delay="0"/>
                                          </p:stCondLst>
                                        </p:cTn>
                                        <p:tgtEl>
                                          <p:spTgt spid="653"/>
                                        </p:tgtEl>
                                        <p:attrNameLst>
                                          <p:attrName>style.visibility</p:attrName>
                                        </p:attrNameLst>
                                      </p:cBhvr>
                                      <p:to>
                                        <p:strVal val="visible"/>
                                      </p:to>
                                    </p:set>
                                    <p:animEffect filter="dissolve" transition="in">
                                      <p:cBhvr additive="repl">
                                        <p:cTn id="1422" dur="75"/>
                                        <p:tgtEl>
                                          <p:spTgt spid="653"/>
                                        </p:tgtEl>
                                      </p:cBhvr>
                                    </p:animEffect>
                                  </p:childTnLst>
                                </p:cTn>
                              </p:par>
                            </p:childTnLst>
                          </p:cTn>
                        </p:par>
                        <p:par>
                          <p:cTn id="1423" nodeType="afterEffect" fill="hold">
                            <p:stCondLst>
                              <p:cond delay="1225"/>
                            </p:stCondLst>
                            <p:childTnLst>
                              <p:par>
                                <p:cTn id="1424" nodeType="afterEffect" fill="hold" presetClass="entr" presetID="9">
                                  <p:stCondLst>
                                    <p:cond delay="1000"/>
                                  </p:stCondLst>
                                  <p:iterate type="lt">
                                    <p:tmAbs val="75"/>
                                  </p:iterate>
                                  <p:childTnLst>
                                    <p:set>
                                      <p:cBhvr>
                                        <p:cTn id="1425" dur="1" fill="hold">
                                          <p:stCondLst>
                                            <p:cond delay="0"/>
                                          </p:stCondLst>
                                        </p:cTn>
                                        <p:tgtEl>
                                          <p:spTgt spid="632"/>
                                        </p:tgtEl>
                                        <p:attrNameLst>
                                          <p:attrName>style.visibility</p:attrName>
                                        </p:attrNameLst>
                                      </p:cBhvr>
                                      <p:to>
                                        <p:strVal val="visible"/>
                                      </p:to>
                                    </p:set>
                                    <p:animEffect filter="dissolve" transition="in">
                                      <p:cBhvr additive="repl">
                                        <p:cTn id="1426" dur="75"/>
                                        <p:tgtEl>
                                          <p:spTgt spid="632"/>
                                        </p:tgtEl>
                                      </p:cBhvr>
                                    </p:animEffect>
                                  </p:childTnLst>
                                </p:cTn>
                              </p:par>
                            </p:childTnLst>
                          </p:cTn>
                        </p:par>
                        <p:par>
                          <p:cTn id="1427" nodeType="afterEffect" fill="hold">
                            <p:stCondLst>
                              <p:cond delay="2525"/>
                            </p:stCondLst>
                            <p:childTnLst>
                              <p:par>
                                <p:cTn id="1428" nodeType="afterEffect" fill="hold" presetClass="entr" presetID="9">
                                  <p:stCondLst>
                                    <p:cond delay="0"/>
                                  </p:stCondLst>
                                  <p:iterate type="lt">
                                    <p:tmAbs val="75"/>
                                  </p:iterate>
                                  <p:childTnLst>
                                    <p:set>
                                      <p:cBhvr>
                                        <p:cTn id="1429" dur="1" fill="hold">
                                          <p:stCondLst>
                                            <p:cond delay="0"/>
                                          </p:stCondLst>
                                        </p:cTn>
                                        <p:tgtEl>
                                          <p:spTgt spid="666"/>
                                        </p:tgtEl>
                                        <p:attrNameLst>
                                          <p:attrName>style.visibility</p:attrName>
                                        </p:attrNameLst>
                                      </p:cBhvr>
                                      <p:to>
                                        <p:strVal val="visible"/>
                                      </p:to>
                                    </p:set>
                                    <p:animEffect filter="dissolve" transition="in">
                                      <p:cBhvr additive="repl">
                                        <p:cTn id="1430" dur="75"/>
                                        <p:tgtEl>
                                          <p:spTgt spid="666"/>
                                        </p:tgtEl>
                                      </p:cBhvr>
                                    </p:animEffect>
                                  </p:childTnLst>
                                </p:cTn>
                              </p:par>
                            </p:childTnLst>
                          </p:cTn>
                        </p:par>
                        <p:par>
                          <p:cTn id="1431" nodeType="afterEffect" fill="hold">
                            <p:stCondLst>
                              <p:cond delay="2750"/>
                            </p:stCondLst>
                            <p:childTnLst>
                              <p:par>
                                <p:cTn id="1432" nodeType="afterEffect" fill="hold" presetClass="entr" presetID="17" presetSubtype="8">
                                  <p:stCondLst>
                                    <p:cond delay="0"/>
                                  </p:stCondLst>
                                  <p:childTnLst>
                                    <p:set>
                                      <p:cBhvr>
                                        <p:cTn id="1433" dur="1" fill="hold">
                                          <p:stCondLst>
                                            <p:cond delay="0"/>
                                          </p:stCondLst>
                                        </p:cTn>
                                        <p:tgtEl>
                                          <p:spTgt spid="703"/>
                                        </p:tgtEl>
                                        <p:attrNameLst>
                                          <p:attrName>style.visibility</p:attrName>
                                        </p:attrNameLst>
                                      </p:cBhvr>
                                      <p:to>
                                        <p:strVal val="visible"/>
                                      </p:to>
                                    </p:set>
                                    <p:anim calcmode="lin" valueType="num">
                                      <p:cBhvr additive="repl">
                                        <p:cTn id="1434" dur="500" fill="hold"/>
                                        <p:tgtEl>
                                          <p:spTgt spid="703"/>
                                        </p:tgtEl>
                                        <p:attrNameLst>
                                          <p:attrName>ppt_x</p:attrName>
                                        </p:attrNameLst>
                                      </p:cBhvr>
                                      <p:tavLst>
                                        <p:tav tm="0">
                                          <p:val>
                                            <p:strVal val="#ppt_x-#ppt_w/2"/>
                                          </p:val>
                                        </p:tav>
                                        <p:tav tm="100000">
                                          <p:val>
                                            <p:strVal val="#ppt_x"/>
                                          </p:val>
                                        </p:tav>
                                      </p:tavLst>
                                    </p:anim>
                                    <p:anim calcmode="lin" valueType="num">
                                      <p:cBhvr additive="repl">
                                        <p:cTn id="1435" dur="500" fill="hold"/>
                                        <p:tgtEl>
                                          <p:spTgt spid="703"/>
                                        </p:tgtEl>
                                        <p:attrNameLst>
                                          <p:attrName>ppt_y</p:attrName>
                                        </p:attrNameLst>
                                      </p:cBhvr>
                                      <p:tavLst>
                                        <p:tav tm="0">
                                          <p:val>
                                            <p:strVal val="#ppt_y"/>
                                          </p:val>
                                        </p:tav>
                                        <p:tav tm="100000">
                                          <p:val>
                                            <p:strVal val="#ppt_y"/>
                                          </p:val>
                                        </p:tav>
                                      </p:tavLst>
                                    </p:anim>
                                    <p:anim calcmode="lin" valueType="num">
                                      <p:cBhvr additive="repl">
                                        <p:cTn id="1436" dur="500" fill="hold"/>
                                        <p:tgtEl>
                                          <p:spTgt spid="703"/>
                                        </p:tgtEl>
                                        <p:attrNameLst>
                                          <p:attrName>ppt_w</p:attrName>
                                        </p:attrNameLst>
                                      </p:cBhvr>
                                      <p:tavLst>
                                        <p:tav tm="0">
                                          <p:val>
                                            <p:fltVal val="0"/>
                                          </p:val>
                                        </p:tav>
                                        <p:tav tm="100000">
                                          <p:val>
                                            <p:strVal val="#ppt_w"/>
                                          </p:val>
                                        </p:tav>
                                      </p:tavLst>
                                    </p:anim>
                                    <p:anim calcmode="lin" valueType="num">
                                      <p:cBhvr additive="repl">
                                        <p:cTn id="1437" dur="500" fill="hold"/>
                                        <p:tgtEl>
                                          <p:spTgt spid="703"/>
                                        </p:tgtEl>
                                        <p:attrNameLst>
                                          <p:attrName>ppt_h</p:attrName>
                                        </p:attrNameLst>
                                      </p:cBhvr>
                                      <p:tavLst>
                                        <p:tav tm="0">
                                          <p:val>
                                            <p:strVal val="#ppt_h"/>
                                          </p:val>
                                        </p:tav>
                                        <p:tav tm="100000">
                                          <p:val>
                                            <p:strVal val="#ppt_h"/>
                                          </p:val>
                                        </p:tav>
                                      </p:tavLst>
                                    </p:anim>
                                  </p:childTnLst>
                                </p:cTn>
                              </p:par>
                            </p:childTnLst>
                          </p:cTn>
                        </p:par>
                        <p:par>
                          <p:cTn id="1438" nodeType="afterEffect" fill="hold">
                            <p:stCondLst>
                              <p:cond delay="3250"/>
                            </p:stCondLst>
                            <p:childTnLst>
                              <p:par>
                                <p:cTn id="1439" nodeType="afterEffect" fill="hold" presetClass="entr" presetID="9">
                                  <p:stCondLst>
                                    <p:cond delay="1000"/>
                                  </p:stCondLst>
                                  <p:iterate type="lt">
                                    <p:tmAbs val="75"/>
                                  </p:iterate>
                                  <p:childTnLst>
                                    <p:set>
                                      <p:cBhvr>
                                        <p:cTn id="1440" dur="1" fill="hold">
                                          <p:stCondLst>
                                            <p:cond delay="0"/>
                                          </p:stCondLst>
                                        </p:cTn>
                                        <p:tgtEl>
                                          <p:spTgt spid="682"/>
                                        </p:tgtEl>
                                        <p:attrNameLst>
                                          <p:attrName>style.visibility</p:attrName>
                                        </p:attrNameLst>
                                      </p:cBhvr>
                                      <p:to>
                                        <p:strVal val="visible"/>
                                      </p:to>
                                    </p:set>
                                    <p:animEffect filter="dissolve" transition="in">
                                      <p:cBhvr additive="repl">
                                        <p:cTn id="1441" dur="75"/>
                                        <p:tgtEl>
                                          <p:spTgt spid="682"/>
                                        </p:tgtEl>
                                      </p:cBhvr>
                                    </p:animEffect>
                                  </p:childTnLst>
                                </p:cTn>
                              </p:par>
                            </p:childTnLst>
                          </p:cTn>
                        </p:par>
                        <p:par>
                          <p:cTn id="1442" nodeType="afterEffect" fill="hold">
                            <p:stCondLst>
                              <p:cond delay="4400"/>
                            </p:stCondLst>
                            <p:childTnLst>
                              <p:par>
                                <p:cTn id="1443" nodeType="afterEffect" fill="hold" presetClass="entr" presetID="17" presetSubtype="8">
                                  <p:stCondLst>
                                    <p:cond delay="0"/>
                                  </p:stCondLst>
                                  <p:childTnLst>
                                    <p:set>
                                      <p:cBhvr>
                                        <p:cTn id="1444" dur="1" fill="hold">
                                          <p:stCondLst>
                                            <p:cond delay="0"/>
                                          </p:stCondLst>
                                        </p:cTn>
                                        <p:tgtEl>
                                          <p:spTgt spid="678"/>
                                        </p:tgtEl>
                                        <p:attrNameLst>
                                          <p:attrName>style.visibility</p:attrName>
                                        </p:attrNameLst>
                                      </p:cBhvr>
                                      <p:to>
                                        <p:strVal val="visible"/>
                                      </p:to>
                                    </p:set>
                                    <p:anim calcmode="lin" valueType="num">
                                      <p:cBhvr additive="repl">
                                        <p:cTn id="1445" dur="500" fill="hold"/>
                                        <p:tgtEl>
                                          <p:spTgt spid="678"/>
                                        </p:tgtEl>
                                        <p:attrNameLst>
                                          <p:attrName>ppt_x</p:attrName>
                                        </p:attrNameLst>
                                      </p:cBhvr>
                                      <p:tavLst>
                                        <p:tav tm="0">
                                          <p:val>
                                            <p:strVal val="#ppt_x-#ppt_w/2"/>
                                          </p:val>
                                        </p:tav>
                                        <p:tav tm="100000">
                                          <p:val>
                                            <p:strVal val="#ppt_x"/>
                                          </p:val>
                                        </p:tav>
                                      </p:tavLst>
                                    </p:anim>
                                    <p:anim calcmode="lin" valueType="num">
                                      <p:cBhvr additive="repl">
                                        <p:cTn id="1446" dur="500" fill="hold"/>
                                        <p:tgtEl>
                                          <p:spTgt spid="678"/>
                                        </p:tgtEl>
                                        <p:attrNameLst>
                                          <p:attrName>ppt_y</p:attrName>
                                        </p:attrNameLst>
                                      </p:cBhvr>
                                      <p:tavLst>
                                        <p:tav tm="0">
                                          <p:val>
                                            <p:strVal val="#ppt_y"/>
                                          </p:val>
                                        </p:tav>
                                        <p:tav tm="100000">
                                          <p:val>
                                            <p:strVal val="#ppt_y"/>
                                          </p:val>
                                        </p:tav>
                                      </p:tavLst>
                                    </p:anim>
                                    <p:anim calcmode="lin" valueType="num">
                                      <p:cBhvr additive="repl">
                                        <p:cTn id="1447" dur="500" fill="hold"/>
                                        <p:tgtEl>
                                          <p:spTgt spid="678"/>
                                        </p:tgtEl>
                                        <p:attrNameLst>
                                          <p:attrName>ppt_w</p:attrName>
                                        </p:attrNameLst>
                                      </p:cBhvr>
                                      <p:tavLst>
                                        <p:tav tm="0">
                                          <p:val>
                                            <p:fltVal val="0"/>
                                          </p:val>
                                        </p:tav>
                                        <p:tav tm="100000">
                                          <p:val>
                                            <p:strVal val="#ppt_w"/>
                                          </p:val>
                                        </p:tav>
                                      </p:tavLst>
                                    </p:anim>
                                    <p:anim calcmode="lin" valueType="num">
                                      <p:cBhvr additive="repl">
                                        <p:cTn id="1448" dur="500" fill="hold"/>
                                        <p:tgtEl>
                                          <p:spTgt spid="678"/>
                                        </p:tgtEl>
                                        <p:attrNameLst>
                                          <p:attrName>ppt_h</p:attrName>
                                        </p:attrNameLst>
                                      </p:cBhvr>
                                      <p:tavLst>
                                        <p:tav tm="0">
                                          <p:val>
                                            <p:strVal val="#ppt_h"/>
                                          </p:val>
                                        </p:tav>
                                        <p:tav tm="100000">
                                          <p:val>
                                            <p:strVal val="#ppt_h"/>
                                          </p:val>
                                        </p:tav>
                                      </p:tavLst>
                                    </p:anim>
                                  </p:childTnLst>
                                </p:cTn>
                              </p:par>
                            </p:childTnLst>
                          </p:cTn>
                        </p:par>
                        <p:par>
                          <p:cTn id="1449" nodeType="afterEffect" fill="hold">
                            <p:stCondLst>
                              <p:cond delay="4900"/>
                            </p:stCondLst>
                            <p:childTnLst>
                              <p:par>
                                <p:cTn id="1450" nodeType="afterEffect" fill="hold" presetClass="entr" presetID="17" presetSubtype="8">
                                  <p:stCondLst>
                                    <p:cond delay="0"/>
                                  </p:stCondLst>
                                  <p:childTnLst>
                                    <p:set>
                                      <p:cBhvr>
                                        <p:cTn id="1451" dur="1" fill="hold">
                                          <p:stCondLst>
                                            <p:cond delay="0"/>
                                          </p:stCondLst>
                                        </p:cTn>
                                        <p:tgtEl>
                                          <p:spTgt spid="679"/>
                                        </p:tgtEl>
                                        <p:attrNameLst>
                                          <p:attrName>style.visibility</p:attrName>
                                        </p:attrNameLst>
                                      </p:cBhvr>
                                      <p:to>
                                        <p:strVal val="visible"/>
                                      </p:to>
                                    </p:set>
                                    <p:anim calcmode="lin" valueType="num">
                                      <p:cBhvr additive="repl">
                                        <p:cTn id="1452" dur="500" fill="hold"/>
                                        <p:tgtEl>
                                          <p:spTgt spid="679"/>
                                        </p:tgtEl>
                                        <p:attrNameLst>
                                          <p:attrName>ppt_x</p:attrName>
                                        </p:attrNameLst>
                                      </p:cBhvr>
                                      <p:tavLst>
                                        <p:tav tm="0">
                                          <p:val>
                                            <p:strVal val="#ppt_x-#ppt_w/2"/>
                                          </p:val>
                                        </p:tav>
                                        <p:tav tm="100000">
                                          <p:val>
                                            <p:strVal val="#ppt_x"/>
                                          </p:val>
                                        </p:tav>
                                      </p:tavLst>
                                    </p:anim>
                                    <p:anim calcmode="lin" valueType="num">
                                      <p:cBhvr additive="repl">
                                        <p:cTn id="1453" dur="500" fill="hold"/>
                                        <p:tgtEl>
                                          <p:spTgt spid="679"/>
                                        </p:tgtEl>
                                        <p:attrNameLst>
                                          <p:attrName>ppt_y</p:attrName>
                                        </p:attrNameLst>
                                      </p:cBhvr>
                                      <p:tavLst>
                                        <p:tav tm="0">
                                          <p:val>
                                            <p:strVal val="#ppt_y"/>
                                          </p:val>
                                        </p:tav>
                                        <p:tav tm="100000">
                                          <p:val>
                                            <p:strVal val="#ppt_y"/>
                                          </p:val>
                                        </p:tav>
                                      </p:tavLst>
                                    </p:anim>
                                    <p:anim calcmode="lin" valueType="num">
                                      <p:cBhvr additive="repl">
                                        <p:cTn id="1454" dur="500" fill="hold"/>
                                        <p:tgtEl>
                                          <p:spTgt spid="679"/>
                                        </p:tgtEl>
                                        <p:attrNameLst>
                                          <p:attrName>ppt_w</p:attrName>
                                        </p:attrNameLst>
                                      </p:cBhvr>
                                      <p:tavLst>
                                        <p:tav tm="0">
                                          <p:val>
                                            <p:fltVal val="0"/>
                                          </p:val>
                                        </p:tav>
                                        <p:tav tm="100000">
                                          <p:val>
                                            <p:strVal val="#ppt_w"/>
                                          </p:val>
                                        </p:tav>
                                      </p:tavLst>
                                    </p:anim>
                                    <p:anim calcmode="lin" valueType="num">
                                      <p:cBhvr additive="repl">
                                        <p:cTn id="1455" dur="500" fill="hold"/>
                                        <p:tgtEl>
                                          <p:spTgt spid="679"/>
                                        </p:tgtEl>
                                        <p:attrNameLst>
                                          <p:attrName>ppt_h</p:attrName>
                                        </p:attrNameLst>
                                      </p:cBhvr>
                                      <p:tavLst>
                                        <p:tav tm="0">
                                          <p:val>
                                            <p:strVal val="#ppt_h"/>
                                          </p:val>
                                        </p:tav>
                                        <p:tav tm="100000">
                                          <p:val>
                                            <p:strVal val="#ppt_h"/>
                                          </p:val>
                                        </p:tav>
                                      </p:tavLst>
                                    </p:anim>
                                  </p:childTnLst>
                                </p:cTn>
                              </p:par>
                            </p:childTnLst>
                          </p:cTn>
                        </p:par>
                      </p:childTnLst>
                    </p:cTn>
                  </p:par>
                  <p:par>
                    <p:cTn id="1456" nodeType="clickEffect" fill="hold">
                      <p:stCondLst>
                        <p:cond delay="indefinite"/>
                      </p:stCondLst>
                      <p:childTnLst>
                        <p:par>
                          <p:cTn id="1457" nodeType="withEffect" fill="hold">
                            <p:stCondLst>
                              <p:cond delay="0"/>
                            </p:stCondLst>
                            <p:childTnLst>
                              <p:par>
                                <p:cTn id="1458" nodeType="clickEffect" fill="hold" presetClass="entr" presetID="9">
                                  <p:stCondLst>
                                    <p:cond delay="0"/>
                                  </p:stCondLst>
                                  <p:iterate type="lt">
                                    <p:tmAbs val="75"/>
                                  </p:iterate>
                                  <p:childTnLst>
                                    <p:set>
                                      <p:cBhvr>
                                        <p:cTn id="1459" dur="1" fill="hold">
                                          <p:stCondLst>
                                            <p:cond delay="0"/>
                                          </p:stCondLst>
                                        </p:cTn>
                                        <p:tgtEl>
                                          <p:spTgt spid="704"/>
                                        </p:tgtEl>
                                        <p:attrNameLst>
                                          <p:attrName>style.visibility</p:attrName>
                                        </p:attrNameLst>
                                      </p:cBhvr>
                                      <p:to>
                                        <p:strVal val="visible"/>
                                      </p:to>
                                    </p:set>
                                    <p:animEffect filter="dissolve" transition="in">
                                      <p:cBhvr additive="repl">
                                        <p:cTn id="1460" dur="75"/>
                                        <p:tgtEl>
                                          <p:spTgt spid="704"/>
                                        </p:tgtEl>
                                      </p:cBhvr>
                                    </p:animEffect>
                                  </p:childTnLst>
                                </p:cTn>
                              </p:par>
                            </p:childTnLst>
                          </p:cTn>
                        </p:par>
                        <p:par>
                          <p:cTn id="1461" nodeType="afterEffect" fill="hold">
                            <p:stCondLst>
                              <p:cond delay="75"/>
                            </p:stCondLst>
                            <p:childTnLst>
                              <p:par>
                                <p:cTn id="1462" nodeType="afterEffect" fill="hold" presetClass="entr" presetID="9">
                                  <p:stCondLst>
                                    <p:cond delay="1000"/>
                                  </p:stCondLst>
                                  <p:iterate type="lt">
                                    <p:tmAbs val="75"/>
                                  </p:iterate>
                                  <p:childTnLst>
                                    <p:set>
                                      <p:cBhvr>
                                        <p:cTn id="1463" dur="1" fill="hold">
                                          <p:stCondLst>
                                            <p:cond delay="0"/>
                                          </p:stCondLst>
                                        </p:cTn>
                                        <p:tgtEl>
                                          <p:spTgt spid="650"/>
                                        </p:tgtEl>
                                        <p:attrNameLst>
                                          <p:attrName>style.visibility</p:attrName>
                                        </p:attrNameLst>
                                      </p:cBhvr>
                                      <p:to>
                                        <p:strVal val="visible"/>
                                      </p:to>
                                    </p:set>
                                    <p:animEffect filter="dissolve" transition="in">
                                      <p:cBhvr additive="repl">
                                        <p:cTn id="1464" dur="75"/>
                                        <p:tgtEl>
                                          <p:spTgt spid="650"/>
                                        </p:tgtEl>
                                      </p:cBhvr>
                                    </p:animEffect>
                                  </p:childTnLst>
                                </p:cTn>
                              </p:par>
                            </p:childTnLst>
                          </p:cTn>
                        </p:par>
                        <p:par>
                          <p:cTn id="1465" nodeType="afterEffect" fill="hold">
                            <p:stCondLst>
                              <p:cond delay="1225"/>
                            </p:stCondLst>
                            <p:childTnLst>
                              <p:par>
                                <p:cTn id="1466" nodeType="afterEffect" fill="hold" presetClass="entr" presetID="9">
                                  <p:stCondLst>
                                    <p:cond delay="1000"/>
                                  </p:stCondLst>
                                  <p:iterate type="lt">
                                    <p:tmAbs val="75"/>
                                  </p:iterate>
                                  <p:childTnLst>
                                    <p:set>
                                      <p:cBhvr>
                                        <p:cTn id="1467" dur="1" fill="hold">
                                          <p:stCondLst>
                                            <p:cond delay="0"/>
                                          </p:stCondLst>
                                        </p:cTn>
                                        <p:tgtEl>
                                          <p:spTgt spid="651"/>
                                        </p:tgtEl>
                                        <p:attrNameLst>
                                          <p:attrName>style.visibility</p:attrName>
                                        </p:attrNameLst>
                                      </p:cBhvr>
                                      <p:to>
                                        <p:strVal val="visible"/>
                                      </p:to>
                                    </p:set>
                                    <p:animEffect filter="dissolve" transition="in">
                                      <p:cBhvr additive="repl">
                                        <p:cTn id="1468" dur="75"/>
                                        <p:tgtEl>
                                          <p:spTgt spid="651"/>
                                        </p:tgtEl>
                                      </p:cBhvr>
                                    </p:animEffect>
                                  </p:childTnLst>
                                </p:cTn>
                              </p:par>
                            </p:childTnLst>
                          </p:cTn>
                        </p:par>
                      </p:childTnLst>
                    </p:cTn>
                  </p:par>
                  <p:par>
                    <p:cTn id="1469" nodeType="clickEffect" fill="hold">
                      <p:stCondLst>
                        <p:cond delay="indefinite"/>
                      </p:stCondLst>
                      <p:childTnLst>
                        <p:par>
                          <p:cTn id="1470" nodeType="withEffect" fill="hold">
                            <p:stCondLst>
                              <p:cond delay="0"/>
                            </p:stCondLst>
                            <p:childTnLst>
                              <p:par>
                                <p:cTn id="1471" nodeType="clickEffect" fill="hold" presetClass="entr" presetID="9">
                                  <p:stCondLst>
                                    <p:cond delay="0"/>
                                  </p:stCondLst>
                                  <p:iterate type="lt">
                                    <p:tmAbs val="75"/>
                                  </p:iterate>
                                  <p:childTnLst>
                                    <p:set>
                                      <p:cBhvr>
                                        <p:cTn id="1472" dur="1" fill="hold">
                                          <p:stCondLst>
                                            <p:cond delay="0"/>
                                          </p:stCondLst>
                                        </p:cTn>
                                        <p:tgtEl>
                                          <p:spTgt spid="658"/>
                                        </p:tgtEl>
                                        <p:attrNameLst>
                                          <p:attrName>style.visibility</p:attrName>
                                        </p:attrNameLst>
                                      </p:cBhvr>
                                      <p:to>
                                        <p:strVal val="visible"/>
                                      </p:to>
                                    </p:set>
                                    <p:animEffect filter="dissolve" transition="in">
                                      <p:cBhvr additive="repl">
                                        <p:cTn id="1473" dur="75"/>
                                        <p:tgtEl>
                                          <p:spTgt spid="658"/>
                                        </p:tgtEl>
                                      </p:cBhvr>
                                    </p:animEffect>
                                  </p:childTnLst>
                                </p:cTn>
                              </p:par>
                            </p:childTnLst>
                          </p:cTn>
                        </p:par>
                        <p:par>
                          <p:cTn id="1474" nodeType="afterEffect" fill="hold">
                            <p:stCondLst>
                              <p:cond delay="150"/>
                            </p:stCondLst>
                            <p:childTnLst>
                              <p:par>
                                <p:cTn id="1475" nodeType="afterEffect" fill="hold" presetClass="entr" presetID="9">
                                  <p:stCondLst>
                                    <p:cond delay="1000"/>
                                  </p:stCondLst>
                                  <p:iterate type="lt">
                                    <p:tmAbs val="75"/>
                                  </p:iterate>
                                  <p:childTnLst>
                                    <p:set>
                                      <p:cBhvr>
                                        <p:cTn id="1476" dur="1" fill="hold">
                                          <p:stCondLst>
                                            <p:cond delay="0"/>
                                          </p:stCondLst>
                                        </p:cTn>
                                        <p:tgtEl>
                                          <p:spTgt spid="644"/>
                                        </p:tgtEl>
                                        <p:attrNameLst>
                                          <p:attrName>style.visibility</p:attrName>
                                        </p:attrNameLst>
                                      </p:cBhvr>
                                      <p:to>
                                        <p:strVal val="visible"/>
                                      </p:to>
                                    </p:set>
                                    <p:animEffect filter="dissolve" transition="in">
                                      <p:cBhvr additive="repl">
                                        <p:cTn id="1477" dur="75"/>
                                        <p:tgtEl>
                                          <p:spTgt spid="644"/>
                                        </p:tgtEl>
                                      </p:cBhvr>
                                    </p:animEffect>
                                  </p:childTnLst>
                                </p:cTn>
                              </p:par>
                            </p:childTnLst>
                          </p:cTn>
                        </p:par>
                        <p:par>
                          <p:cTn id="1478" nodeType="afterEffect" fill="hold">
                            <p:stCondLst>
                              <p:cond delay="1375"/>
                            </p:stCondLst>
                            <p:childTnLst>
                              <p:par>
                                <p:cTn id="1479" nodeType="afterEffect" fill="hold" presetClass="entr" presetID="9">
                                  <p:stCondLst>
                                    <p:cond delay="1000"/>
                                  </p:stCondLst>
                                  <p:iterate type="lt">
                                    <p:tmAbs val="75"/>
                                  </p:iterate>
                                  <p:childTnLst>
                                    <p:set>
                                      <p:cBhvr>
                                        <p:cTn id="1480" dur="1" fill="hold">
                                          <p:stCondLst>
                                            <p:cond delay="0"/>
                                          </p:stCondLst>
                                        </p:cTn>
                                        <p:tgtEl>
                                          <p:spTgt spid="633"/>
                                        </p:tgtEl>
                                        <p:attrNameLst>
                                          <p:attrName>style.visibility</p:attrName>
                                        </p:attrNameLst>
                                      </p:cBhvr>
                                      <p:to>
                                        <p:strVal val="visible"/>
                                      </p:to>
                                    </p:set>
                                    <p:animEffect filter="dissolve" transition="in">
                                      <p:cBhvr additive="repl">
                                        <p:cTn id="1481" dur="75"/>
                                        <p:tgtEl>
                                          <p:spTgt spid="633"/>
                                        </p:tgtEl>
                                      </p:cBhvr>
                                    </p:animEffect>
                                  </p:childTnLst>
                                </p:cTn>
                              </p:par>
                            </p:childTnLst>
                          </p:cTn>
                        </p:par>
                        <p:par>
                          <p:cTn id="1482" nodeType="afterEffect" fill="hold">
                            <p:stCondLst>
                              <p:cond delay="2675"/>
                            </p:stCondLst>
                            <p:childTnLst>
                              <p:par>
                                <p:cTn id="1483" nodeType="afterEffect" fill="hold" presetClass="entr" presetID="17" presetSubtype="8">
                                  <p:stCondLst>
                                    <p:cond delay="1000"/>
                                  </p:stCondLst>
                                  <p:childTnLst>
                                    <p:set>
                                      <p:cBhvr>
                                        <p:cTn id="1484" dur="1" fill="hold">
                                          <p:stCondLst>
                                            <p:cond delay="0"/>
                                          </p:stCondLst>
                                        </p:cTn>
                                        <p:tgtEl>
                                          <p:spTgt spid="692"/>
                                        </p:tgtEl>
                                        <p:attrNameLst>
                                          <p:attrName>style.visibility</p:attrName>
                                        </p:attrNameLst>
                                      </p:cBhvr>
                                      <p:to>
                                        <p:strVal val="visible"/>
                                      </p:to>
                                    </p:set>
                                    <p:anim calcmode="lin" valueType="num">
                                      <p:cBhvr additive="repl">
                                        <p:cTn id="1485" dur="500" fill="hold"/>
                                        <p:tgtEl>
                                          <p:spTgt spid="692"/>
                                        </p:tgtEl>
                                        <p:attrNameLst>
                                          <p:attrName>ppt_x</p:attrName>
                                        </p:attrNameLst>
                                      </p:cBhvr>
                                      <p:tavLst>
                                        <p:tav tm="0">
                                          <p:val>
                                            <p:strVal val="#ppt_x-#ppt_w/2"/>
                                          </p:val>
                                        </p:tav>
                                        <p:tav tm="100000">
                                          <p:val>
                                            <p:strVal val="#ppt_x"/>
                                          </p:val>
                                        </p:tav>
                                      </p:tavLst>
                                    </p:anim>
                                    <p:anim calcmode="lin" valueType="num">
                                      <p:cBhvr additive="repl">
                                        <p:cTn id="1486" dur="500" fill="hold"/>
                                        <p:tgtEl>
                                          <p:spTgt spid="692"/>
                                        </p:tgtEl>
                                        <p:attrNameLst>
                                          <p:attrName>ppt_y</p:attrName>
                                        </p:attrNameLst>
                                      </p:cBhvr>
                                      <p:tavLst>
                                        <p:tav tm="0">
                                          <p:val>
                                            <p:strVal val="#ppt_y"/>
                                          </p:val>
                                        </p:tav>
                                        <p:tav tm="100000">
                                          <p:val>
                                            <p:strVal val="#ppt_y"/>
                                          </p:val>
                                        </p:tav>
                                      </p:tavLst>
                                    </p:anim>
                                    <p:anim calcmode="lin" valueType="num">
                                      <p:cBhvr additive="repl">
                                        <p:cTn id="1487" dur="500" fill="hold"/>
                                        <p:tgtEl>
                                          <p:spTgt spid="692"/>
                                        </p:tgtEl>
                                        <p:attrNameLst>
                                          <p:attrName>ppt_w</p:attrName>
                                        </p:attrNameLst>
                                      </p:cBhvr>
                                      <p:tavLst>
                                        <p:tav tm="0">
                                          <p:val>
                                            <p:fltVal val="0"/>
                                          </p:val>
                                        </p:tav>
                                        <p:tav tm="100000">
                                          <p:val>
                                            <p:strVal val="#ppt_w"/>
                                          </p:val>
                                        </p:tav>
                                      </p:tavLst>
                                    </p:anim>
                                    <p:anim calcmode="lin" valueType="num">
                                      <p:cBhvr additive="repl">
                                        <p:cTn id="1488" dur="500" fill="hold"/>
                                        <p:tgtEl>
                                          <p:spTgt spid="692"/>
                                        </p:tgtEl>
                                        <p:attrNameLst>
                                          <p:attrName>ppt_h</p:attrName>
                                        </p:attrNameLst>
                                      </p:cBhvr>
                                      <p:tavLst>
                                        <p:tav tm="0">
                                          <p:val>
                                            <p:strVal val="#ppt_h"/>
                                          </p:val>
                                        </p:tav>
                                        <p:tav tm="100000">
                                          <p:val>
                                            <p:strVal val="#ppt_h"/>
                                          </p:val>
                                        </p:tav>
                                      </p:tavLst>
                                    </p:anim>
                                  </p:childTnLst>
                                </p:cTn>
                              </p:par>
                            </p:childTnLst>
                          </p:cTn>
                        </p:par>
                        <p:par>
                          <p:cTn id="1489" nodeType="afterEffect" fill="hold">
                            <p:stCondLst>
                              <p:cond delay="4175"/>
                            </p:stCondLst>
                            <p:childTnLst>
                              <p:par>
                                <p:cTn id="1490" nodeType="afterEffect" fill="hold" presetClass="entr" presetID="17" presetSubtype="8">
                                  <p:stCondLst>
                                    <p:cond delay="0"/>
                                  </p:stCondLst>
                                  <p:childTnLst>
                                    <p:set>
                                      <p:cBhvr>
                                        <p:cTn id="1491" dur="1" fill="hold">
                                          <p:stCondLst>
                                            <p:cond delay="0"/>
                                          </p:stCondLst>
                                        </p:cTn>
                                        <p:tgtEl>
                                          <p:spTgt spid="693"/>
                                        </p:tgtEl>
                                        <p:attrNameLst>
                                          <p:attrName>style.visibility</p:attrName>
                                        </p:attrNameLst>
                                      </p:cBhvr>
                                      <p:to>
                                        <p:strVal val="visible"/>
                                      </p:to>
                                    </p:set>
                                    <p:anim calcmode="lin" valueType="num">
                                      <p:cBhvr additive="repl">
                                        <p:cTn id="1492" dur="500" fill="hold"/>
                                        <p:tgtEl>
                                          <p:spTgt spid="693"/>
                                        </p:tgtEl>
                                        <p:attrNameLst>
                                          <p:attrName>ppt_x</p:attrName>
                                        </p:attrNameLst>
                                      </p:cBhvr>
                                      <p:tavLst>
                                        <p:tav tm="0">
                                          <p:val>
                                            <p:strVal val="#ppt_x-#ppt_w/2"/>
                                          </p:val>
                                        </p:tav>
                                        <p:tav tm="100000">
                                          <p:val>
                                            <p:strVal val="#ppt_x"/>
                                          </p:val>
                                        </p:tav>
                                      </p:tavLst>
                                    </p:anim>
                                    <p:anim calcmode="lin" valueType="num">
                                      <p:cBhvr additive="repl">
                                        <p:cTn id="1493" dur="500" fill="hold"/>
                                        <p:tgtEl>
                                          <p:spTgt spid="693"/>
                                        </p:tgtEl>
                                        <p:attrNameLst>
                                          <p:attrName>ppt_y</p:attrName>
                                        </p:attrNameLst>
                                      </p:cBhvr>
                                      <p:tavLst>
                                        <p:tav tm="0">
                                          <p:val>
                                            <p:strVal val="#ppt_y"/>
                                          </p:val>
                                        </p:tav>
                                        <p:tav tm="100000">
                                          <p:val>
                                            <p:strVal val="#ppt_y"/>
                                          </p:val>
                                        </p:tav>
                                      </p:tavLst>
                                    </p:anim>
                                    <p:anim calcmode="lin" valueType="num">
                                      <p:cBhvr additive="repl">
                                        <p:cTn id="1494" dur="500" fill="hold"/>
                                        <p:tgtEl>
                                          <p:spTgt spid="693"/>
                                        </p:tgtEl>
                                        <p:attrNameLst>
                                          <p:attrName>ppt_w</p:attrName>
                                        </p:attrNameLst>
                                      </p:cBhvr>
                                      <p:tavLst>
                                        <p:tav tm="0">
                                          <p:val>
                                            <p:fltVal val="0"/>
                                          </p:val>
                                        </p:tav>
                                        <p:tav tm="100000">
                                          <p:val>
                                            <p:strVal val="#ppt_w"/>
                                          </p:val>
                                        </p:tav>
                                      </p:tavLst>
                                    </p:anim>
                                    <p:anim calcmode="lin" valueType="num">
                                      <p:cBhvr additive="repl">
                                        <p:cTn id="1495" dur="500" fill="hold"/>
                                        <p:tgtEl>
                                          <p:spTgt spid="693"/>
                                        </p:tgtEl>
                                        <p:attrNameLst>
                                          <p:attrName>ppt_h</p:attrName>
                                        </p:attrNameLst>
                                      </p:cBhvr>
                                      <p:tavLst>
                                        <p:tav tm="0">
                                          <p:val>
                                            <p:strVal val="#ppt_h"/>
                                          </p:val>
                                        </p:tav>
                                        <p:tav tm="100000">
                                          <p:val>
                                            <p:strVal val="#ppt_h"/>
                                          </p:val>
                                        </p:tav>
                                      </p:tavLst>
                                    </p:anim>
                                  </p:childTnLst>
                                </p:cTn>
                              </p:par>
                            </p:childTnLst>
                          </p:cTn>
                        </p:par>
                        <p:par>
                          <p:cTn id="1496" nodeType="afterEffect" fill="hold">
                            <p:stCondLst>
                              <p:cond delay="4675"/>
                            </p:stCondLst>
                            <p:childTnLst>
                              <p:par>
                                <p:cTn id="1497" nodeType="afterEffect" fill="hold" presetClass="entr" presetID="17" presetSubtype="8">
                                  <p:stCondLst>
                                    <p:cond delay="0"/>
                                  </p:stCondLst>
                                  <p:childTnLst>
                                    <p:set>
                                      <p:cBhvr>
                                        <p:cTn id="1498" dur="1" fill="hold">
                                          <p:stCondLst>
                                            <p:cond delay="0"/>
                                          </p:stCondLst>
                                        </p:cTn>
                                        <p:tgtEl>
                                          <p:spTgt spid="694"/>
                                        </p:tgtEl>
                                        <p:attrNameLst>
                                          <p:attrName>style.visibility</p:attrName>
                                        </p:attrNameLst>
                                      </p:cBhvr>
                                      <p:to>
                                        <p:strVal val="visible"/>
                                      </p:to>
                                    </p:set>
                                    <p:anim calcmode="lin" valueType="num">
                                      <p:cBhvr additive="repl">
                                        <p:cTn id="1499" dur="500" fill="hold"/>
                                        <p:tgtEl>
                                          <p:spTgt spid="694"/>
                                        </p:tgtEl>
                                        <p:attrNameLst>
                                          <p:attrName>ppt_x</p:attrName>
                                        </p:attrNameLst>
                                      </p:cBhvr>
                                      <p:tavLst>
                                        <p:tav tm="0">
                                          <p:val>
                                            <p:strVal val="#ppt_x-#ppt_w/2"/>
                                          </p:val>
                                        </p:tav>
                                        <p:tav tm="100000">
                                          <p:val>
                                            <p:strVal val="#ppt_x"/>
                                          </p:val>
                                        </p:tav>
                                      </p:tavLst>
                                    </p:anim>
                                    <p:anim calcmode="lin" valueType="num">
                                      <p:cBhvr additive="repl">
                                        <p:cTn id="1500" dur="500" fill="hold"/>
                                        <p:tgtEl>
                                          <p:spTgt spid="694"/>
                                        </p:tgtEl>
                                        <p:attrNameLst>
                                          <p:attrName>ppt_y</p:attrName>
                                        </p:attrNameLst>
                                      </p:cBhvr>
                                      <p:tavLst>
                                        <p:tav tm="0">
                                          <p:val>
                                            <p:strVal val="#ppt_y"/>
                                          </p:val>
                                        </p:tav>
                                        <p:tav tm="100000">
                                          <p:val>
                                            <p:strVal val="#ppt_y"/>
                                          </p:val>
                                        </p:tav>
                                      </p:tavLst>
                                    </p:anim>
                                    <p:anim calcmode="lin" valueType="num">
                                      <p:cBhvr additive="repl">
                                        <p:cTn id="1501" dur="500" fill="hold"/>
                                        <p:tgtEl>
                                          <p:spTgt spid="694"/>
                                        </p:tgtEl>
                                        <p:attrNameLst>
                                          <p:attrName>ppt_w</p:attrName>
                                        </p:attrNameLst>
                                      </p:cBhvr>
                                      <p:tavLst>
                                        <p:tav tm="0">
                                          <p:val>
                                            <p:fltVal val="0"/>
                                          </p:val>
                                        </p:tav>
                                        <p:tav tm="100000">
                                          <p:val>
                                            <p:strVal val="#ppt_w"/>
                                          </p:val>
                                        </p:tav>
                                      </p:tavLst>
                                    </p:anim>
                                    <p:anim calcmode="lin" valueType="num">
                                      <p:cBhvr additive="repl">
                                        <p:cTn id="1502" dur="500" fill="hold"/>
                                        <p:tgtEl>
                                          <p:spTgt spid="694"/>
                                        </p:tgtEl>
                                        <p:attrNameLst>
                                          <p:attrName>ppt_h</p:attrName>
                                        </p:attrNameLst>
                                      </p:cBhvr>
                                      <p:tavLst>
                                        <p:tav tm="0">
                                          <p:val>
                                            <p:strVal val="#ppt_h"/>
                                          </p:val>
                                        </p:tav>
                                        <p:tav tm="100000">
                                          <p:val>
                                            <p:strVal val="#ppt_h"/>
                                          </p:val>
                                        </p:tav>
                                      </p:tavLst>
                                    </p:anim>
                                  </p:childTnLst>
                                </p:cTn>
                              </p:par>
                            </p:childTnLst>
                          </p:cTn>
                        </p:par>
                        <p:par>
                          <p:cTn id="1503" nodeType="afterEffect" fill="hold">
                            <p:stCondLst>
                              <p:cond delay="5175"/>
                            </p:stCondLst>
                            <p:childTnLst>
                              <p:par>
                                <p:cTn id="1504" nodeType="afterEffect" fill="hold" presetClass="entr" presetID="17" presetSubtype="8">
                                  <p:stCondLst>
                                    <p:cond delay="1000"/>
                                  </p:stCondLst>
                                  <p:childTnLst>
                                    <p:set>
                                      <p:cBhvr>
                                        <p:cTn id="1505" dur="1" fill="hold">
                                          <p:stCondLst>
                                            <p:cond delay="0"/>
                                          </p:stCondLst>
                                        </p:cTn>
                                        <p:tgtEl>
                                          <p:spTgt spid="695"/>
                                        </p:tgtEl>
                                        <p:attrNameLst>
                                          <p:attrName>style.visibility</p:attrName>
                                        </p:attrNameLst>
                                      </p:cBhvr>
                                      <p:to>
                                        <p:strVal val="visible"/>
                                      </p:to>
                                    </p:set>
                                    <p:anim calcmode="lin" valueType="num">
                                      <p:cBhvr additive="repl">
                                        <p:cTn id="1506" dur="500" fill="hold"/>
                                        <p:tgtEl>
                                          <p:spTgt spid="695"/>
                                        </p:tgtEl>
                                        <p:attrNameLst>
                                          <p:attrName>ppt_x</p:attrName>
                                        </p:attrNameLst>
                                      </p:cBhvr>
                                      <p:tavLst>
                                        <p:tav tm="0">
                                          <p:val>
                                            <p:strVal val="#ppt_x-#ppt_w/2"/>
                                          </p:val>
                                        </p:tav>
                                        <p:tav tm="100000">
                                          <p:val>
                                            <p:strVal val="#ppt_x"/>
                                          </p:val>
                                        </p:tav>
                                      </p:tavLst>
                                    </p:anim>
                                    <p:anim calcmode="lin" valueType="num">
                                      <p:cBhvr additive="repl">
                                        <p:cTn id="1507" dur="500" fill="hold"/>
                                        <p:tgtEl>
                                          <p:spTgt spid="695"/>
                                        </p:tgtEl>
                                        <p:attrNameLst>
                                          <p:attrName>ppt_y</p:attrName>
                                        </p:attrNameLst>
                                      </p:cBhvr>
                                      <p:tavLst>
                                        <p:tav tm="0">
                                          <p:val>
                                            <p:strVal val="#ppt_y"/>
                                          </p:val>
                                        </p:tav>
                                        <p:tav tm="100000">
                                          <p:val>
                                            <p:strVal val="#ppt_y"/>
                                          </p:val>
                                        </p:tav>
                                      </p:tavLst>
                                    </p:anim>
                                    <p:anim calcmode="lin" valueType="num">
                                      <p:cBhvr additive="repl">
                                        <p:cTn id="1508" dur="500" fill="hold"/>
                                        <p:tgtEl>
                                          <p:spTgt spid="695"/>
                                        </p:tgtEl>
                                        <p:attrNameLst>
                                          <p:attrName>ppt_w</p:attrName>
                                        </p:attrNameLst>
                                      </p:cBhvr>
                                      <p:tavLst>
                                        <p:tav tm="0">
                                          <p:val>
                                            <p:fltVal val="0"/>
                                          </p:val>
                                        </p:tav>
                                        <p:tav tm="100000">
                                          <p:val>
                                            <p:strVal val="#ppt_w"/>
                                          </p:val>
                                        </p:tav>
                                      </p:tavLst>
                                    </p:anim>
                                    <p:anim calcmode="lin" valueType="num">
                                      <p:cBhvr additive="repl">
                                        <p:cTn id="1509" dur="500" fill="hold"/>
                                        <p:tgtEl>
                                          <p:spTgt spid="695"/>
                                        </p:tgtEl>
                                        <p:attrNameLst>
                                          <p:attrName>ppt_h</p:attrName>
                                        </p:attrNameLst>
                                      </p:cBhvr>
                                      <p:tavLst>
                                        <p:tav tm="0">
                                          <p:val>
                                            <p:strVal val="#ppt_h"/>
                                          </p:val>
                                        </p:tav>
                                        <p:tav tm="100000">
                                          <p:val>
                                            <p:strVal val="#ppt_h"/>
                                          </p:val>
                                        </p:tav>
                                      </p:tavLst>
                                    </p:anim>
                                  </p:childTnLst>
                                </p:cTn>
                              </p:par>
                            </p:childTnLst>
                          </p:cTn>
                        </p:par>
                        <p:par>
                          <p:cTn id="1510" nodeType="afterEffect" fill="hold">
                            <p:stCondLst>
                              <p:cond delay="6675"/>
                            </p:stCondLst>
                            <p:childTnLst>
                              <p:par>
                                <p:cTn id="1511" nodeType="afterEffect" fill="hold" presetClass="entr" presetID="17" presetSubtype="8">
                                  <p:stCondLst>
                                    <p:cond delay="0"/>
                                  </p:stCondLst>
                                  <p:childTnLst>
                                    <p:set>
                                      <p:cBhvr>
                                        <p:cTn id="1512" dur="1" fill="hold">
                                          <p:stCondLst>
                                            <p:cond delay="0"/>
                                          </p:stCondLst>
                                        </p:cTn>
                                        <p:tgtEl>
                                          <p:spTgt spid="696"/>
                                        </p:tgtEl>
                                        <p:attrNameLst>
                                          <p:attrName>style.visibility</p:attrName>
                                        </p:attrNameLst>
                                      </p:cBhvr>
                                      <p:to>
                                        <p:strVal val="visible"/>
                                      </p:to>
                                    </p:set>
                                    <p:anim calcmode="lin" valueType="num">
                                      <p:cBhvr additive="repl">
                                        <p:cTn id="1513" dur="500" fill="hold"/>
                                        <p:tgtEl>
                                          <p:spTgt spid="696"/>
                                        </p:tgtEl>
                                        <p:attrNameLst>
                                          <p:attrName>ppt_x</p:attrName>
                                        </p:attrNameLst>
                                      </p:cBhvr>
                                      <p:tavLst>
                                        <p:tav tm="0">
                                          <p:val>
                                            <p:strVal val="#ppt_x-#ppt_w/2"/>
                                          </p:val>
                                        </p:tav>
                                        <p:tav tm="100000">
                                          <p:val>
                                            <p:strVal val="#ppt_x"/>
                                          </p:val>
                                        </p:tav>
                                      </p:tavLst>
                                    </p:anim>
                                    <p:anim calcmode="lin" valueType="num">
                                      <p:cBhvr additive="repl">
                                        <p:cTn id="1514" dur="500" fill="hold"/>
                                        <p:tgtEl>
                                          <p:spTgt spid="696"/>
                                        </p:tgtEl>
                                        <p:attrNameLst>
                                          <p:attrName>ppt_y</p:attrName>
                                        </p:attrNameLst>
                                      </p:cBhvr>
                                      <p:tavLst>
                                        <p:tav tm="0">
                                          <p:val>
                                            <p:strVal val="#ppt_y"/>
                                          </p:val>
                                        </p:tav>
                                        <p:tav tm="100000">
                                          <p:val>
                                            <p:strVal val="#ppt_y"/>
                                          </p:val>
                                        </p:tav>
                                      </p:tavLst>
                                    </p:anim>
                                    <p:anim calcmode="lin" valueType="num">
                                      <p:cBhvr additive="repl">
                                        <p:cTn id="1515" dur="500" fill="hold"/>
                                        <p:tgtEl>
                                          <p:spTgt spid="696"/>
                                        </p:tgtEl>
                                        <p:attrNameLst>
                                          <p:attrName>ppt_w</p:attrName>
                                        </p:attrNameLst>
                                      </p:cBhvr>
                                      <p:tavLst>
                                        <p:tav tm="0">
                                          <p:val>
                                            <p:fltVal val="0"/>
                                          </p:val>
                                        </p:tav>
                                        <p:tav tm="100000">
                                          <p:val>
                                            <p:strVal val="#ppt_w"/>
                                          </p:val>
                                        </p:tav>
                                      </p:tavLst>
                                    </p:anim>
                                    <p:anim calcmode="lin" valueType="num">
                                      <p:cBhvr additive="repl">
                                        <p:cTn id="1516" dur="500" fill="hold"/>
                                        <p:tgtEl>
                                          <p:spTgt spid="696"/>
                                        </p:tgtEl>
                                        <p:attrNameLst>
                                          <p:attrName>ppt_h</p:attrName>
                                        </p:attrNameLst>
                                      </p:cBhvr>
                                      <p:tavLst>
                                        <p:tav tm="0">
                                          <p:val>
                                            <p:strVal val="#ppt_h"/>
                                          </p:val>
                                        </p:tav>
                                        <p:tav tm="100000">
                                          <p:val>
                                            <p:strVal val="#ppt_h"/>
                                          </p:val>
                                        </p:tav>
                                      </p:tavLst>
                                    </p:anim>
                                  </p:childTnLst>
                                </p:cTn>
                              </p:par>
                            </p:childTnLst>
                          </p:cTn>
                        </p:par>
                        <p:par>
                          <p:cTn id="1517" nodeType="afterEffect" fill="hold">
                            <p:stCondLst>
                              <p:cond delay="7175"/>
                            </p:stCondLst>
                            <p:childTnLst>
                              <p:par>
                                <p:cTn id="1518" nodeType="afterEffect" fill="hold" presetClass="entr" presetID="17" presetSubtype="8">
                                  <p:stCondLst>
                                    <p:cond delay="0"/>
                                  </p:stCondLst>
                                  <p:childTnLst>
                                    <p:set>
                                      <p:cBhvr>
                                        <p:cTn id="1519" dur="1" fill="hold">
                                          <p:stCondLst>
                                            <p:cond delay="0"/>
                                          </p:stCondLst>
                                        </p:cTn>
                                        <p:tgtEl>
                                          <p:spTgt spid="697"/>
                                        </p:tgtEl>
                                        <p:attrNameLst>
                                          <p:attrName>style.visibility</p:attrName>
                                        </p:attrNameLst>
                                      </p:cBhvr>
                                      <p:to>
                                        <p:strVal val="visible"/>
                                      </p:to>
                                    </p:set>
                                    <p:anim calcmode="lin" valueType="num">
                                      <p:cBhvr additive="repl">
                                        <p:cTn id="1520" dur="500" fill="hold"/>
                                        <p:tgtEl>
                                          <p:spTgt spid="697"/>
                                        </p:tgtEl>
                                        <p:attrNameLst>
                                          <p:attrName>ppt_x</p:attrName>
                                        </p:attrNameLst>
                                      </p:cBhvr>
                                      <p:tavLst>
                                        <p:tav tm="0">
                                          <p:val>
                                            <p:strVal val="#ppt_x-#ppt_w/2"/>
                                          </p:val>
                                        </p:tav>
                                        <p:tav tm="100000">
                                          <p:val>
                                            <p:strVal val="#ppt_x"/>
                                          </p:val>
                                        </p:tav>
                                      </p:tavLst>
                                    </p:anim>
                                    <p:anim calcmode="lin" valueType="num">
                                      <p:cBhvr additive="repl">
                                        <p:cTn id="1521" dur="500" fill="hold"/>
                                        <p:tgtEl>
                                          <p:spTgt spid="697"/>
                                        </p:tgtEl>
                                        <p:attrNameLst>
                                          <p:attrName>ppt_y</p:attrName>
                                        </p:attrNameLst>
                                      </p:cBhvr>
                                      <p:tavLst>
                                        <p:tav tm="0">
                                          <p:val>
                                            <p:strVal val="#ppt_y"/>
                                          </p:val>
                                        </p:tav>
                                        <p:tav tm="100000">
                                          <p:val>
                                            <p:strVal val="#ppt_y"/>
                                          </p:val>
                                        </p:tav>
                                      </p:tavLst>
                                    </p:anim>
                                    <p:anim calcmode="lin" valueType="num">
                                      <p:cBhvr additive="repl">
                                        <p:cTn id="1522" dur="500" fill="hold"/>
                                        <p:tgtEl>
                                          <p:spTgt spid="697"/>
                                        </p:tgtEl>
                                        <p:attrNameLst>
                                          <p:attrName>ppt_w</p:attrName>
                                        </p:attrNameLst>
                                      </p:cBhvr>
                                      <p:tavLst>
                                        <p:tav tm="0">
                                          <p:val>
                                            <p:fltVal val="0"/>
                                          </p:val>
                                        </p:tav>
                                        <p:tav tm="100000">
                                          <p:val>
                                            <p:strVal val="#ppt_w"/>
                                          </p:val>
                                        </p:tav>
                                      </p:tavLst>
                                    </p:anim>
                                    <p:anim calcmode="lin" valueType="num">
                                      <p:cBhvr additive="repl">
                                        <p:cTn id="1523" dur="500" fill="hold"/>
                                        <p:tgtEl>
                                          <p:spTgt spid="697"/>
                                        </p:tgtEl>
                                        <p:attrNameLst>
                                          <p:attrName>ppt_h</p:attrName>
                                        </p:attrNameLst>
                                      </p:cBhvr>
                                      <p:tavLst>
                                        <p:tav tm="0">
                                          <p:val>
                                            <p:strVal val="#ppt_h"/>
                                          </p:val>
                                        </p:tav>
                                        <p:tav tm="100000">
                                          <p:val>
                                            <p:strVal val="#ppt_h"/>
                                          </p:val>
                                        </p:tav>
                                      </p:tavLst>
                                    </p:anim>
                                  </p:childTnLst>
                                </p:cTn>
                              </p:par>
                            </p:childTnLst>
                          </p:cTn>
                        </p:par>
                      </p:childTnLst>
                    </p:cTn>
                  </p:par>
                  <p:par>
                    <p:cTn id="1524" nodeType="clickEffect" fill="hold">
                      <p:stCondLst>
                        <p:cond delay="indefinite"/>
                      </p:stCondLst>
                      <p:childTnLst>
                        <p:par>
                          <p:cTn id="1525" nodeType="withEffect" fill="hold">
                            <p:stCondLst>
                              <p:cond delay="0"/>
                            </p:stCondLst>
                            <p:childTnLst>
                              <p:par>
                                <p:cTn id="1526" nodeType="clickEffect" fill="hold" presetClass="entr" presetID="9">
                                  <p:stCondLst>
                                    <p:cond delay="0"/>
                                  </p:stCondLst>
                                  <p:iterate type="lt">
                                    <p:tmAbs val="75"/>
                                  </p:iterate>
                                  <p:childTnLst>
                                    <p:set>
                                      <p:cBhvr>
                                        <p:cTn id="1527" dur="1" fill="hold">
                                          <p:stCondLst>
                                            <p:cond delay="0"/>
                                          </p:stCondLst>
                                        </p:cTn>
                                        <p:tgtEl>
                                          <p:spTgt spid="659"/>
                                        </p:tgtEl>
                                        <p:attrNameLst>
                                          <p:attrName>style.visibility</p:attrName>
                                        </p:attrNameLst>
                                      </p:cBhvr>
                                      <p:to>
                                        <p:strVal val="visible"/>
                                      </p:to>
                                    </p:set>
                                    <p:animEffect filter="dissolve" transition="in">
                                      <p:cBhvr additive="repl">
                                        <p:cTn id="1528" dur="75"/>
                                        <p:tgtEl>
                                          <p:spTgt spid="659"/>
                                        </p:tgtEl>
                                      </p:cBhvr>
                                    </p:animEffect>
                                  </p:childTnLst>
                                </p:cTn>
                              </p:par>
                            </p:childTnLst>
                          </p:cTn>
                        </p:par>
                        <p:par>
                          <p:cTn id="1529" nodeType="afterEffect" fill="hold">
                            <p:stCondLst>
                              <p:cond delay="150"/>
                            </p:stCondLst>
                            <p:childTnLst>
                              <p:par>
                                <p:cTn id="1530" nodeType="afterEffect" fill="hold" presetClass="entr" presetID="9">
                                  <p:stCondLst>
                                    <p:cond delay="1000"/>
                                  </p:stCondLst>
                                  <p:iterate type="lt">
                                    <p:tmAbs val="75"/>
                                  </p:iterate>
                                  <p:childTnLst>
                                    <p:set>
                                      <p:cBhvr>
                                        <p:cTn id="1531" dur="1" fill="hold">
                                          <p:stCondLst>
                                            <p:cond delay="0"/>
                                          </p:stCondLst>
                                        </p:cTn>
                                        <p:tgtEl>
                                          <p:spTgt spid="645"/>
                                        </p:tgtEl>
                                        <p:attrNameLst>
                                          <p:attrName>style.visibility</p:attrName>
                                        </p:attrNameLst>
                                      </p:cBhvr>
                                      <p:to>
                                        <p:strVal val="visible"/>
                                      </p:to>
                                    </p:set>
                                    <p:animEffect filter="dissolve" transition="in">
                                      <p:cBhvr additive="repl">
                                        <p:cTn id="1532" dur="75"/>
                                        <p:tgtEl>
                                          <p:spTgt spid="645"/>
                                        </p:tgtEl>
                                      </p:cBhvr>
                                    </p:animEffect>
                                  </p:childTnLst>
                                </p:cTn>
                              </p:par>
                            </p:childTnLst>
                          </p:cTn>
                        </p:par>
                        <p:par>
                          <p:cTn id="1533" nodeType="afterEffect" fill="hold">
                            <p:stCondLst>
                              <p:cond delay="1375"/>
                            </p:stCondLst>
                            <p:childTnLst>
                              <p:par>
                                <p:cTn id="1534" nodeType="afterEffect" fill="hold" presetClass="entr" presetID="9">
                                  <p:stCondLst>
                                    <p:cond delay="1000"/>
                                  </p:stCondLst>
                                  <p:iterate type="lt">
                                    <p:tmAbs val="75"/>
                                  </p:iterate>
                                  <p:childTnLst>
                                    <p:set>
                                      <p:cBhvr>
                                        <p:cTn id="1535" dur="1" fill="hold">
                                          <p:stCondLst>
                                            <p:cond delay="0"/>
                                          </p:stCondLst>
                                        </p:cTn>
                                        <p:tgtEl>
                                          <p:spTgt spid="647"/>
                                        </p:tgtEl>
                                        <p:attrNameLst>
                                          <p:attrName>style.visibility</p:attrName>
                                        </p:attrNameLst>
                                      </p:cBhvr>
                                      <p:to>
                                        <p:strVal val="visible"/>
                                      </p:to>
                                    </p:set>
                                    <p:animEffect filter="dissolve" transition="in">
                                      <p:cBhvr additive="repl">
                                        <p:cTn id="1536" dur="75"/>
                                        <p:tgtEl>
                                          <p:spTgt spid="647"/>
                                        </p:tgtEl>
                                      </p:cBhvr>
                                    </p:animEffect>
                                  </p:childTnLst>
                                </p:cTn>
                              </p:par>
                            </p:childTnLst>
                          </p:cTn>
                        </p:par>
                        <p:par>
                          <p:cTn id="1537" nodeType="afterEffect" fill="hold">
                            <p:stCondLst>
                              <p:cond delay="2675"/>
                            </p:stCondLst>
                            <p:childTnLst>
                              <p:par>
                                <p:cTn id="1538" nodeType="afterEffect" fill="hold" presetClass="entr" presetID="17" presetSubtype="8">
                                  <p:stCondLst>
                                    <p:cond delay="1000"/>
                                  </p:stCondLst>
                                  <p:childTnLst>
                                    <p:set>
                                      <p:cBhvr>
                                        <p:cTn id="1539" dur="1" fill="hold">
                                          <p:stCondLst>
                                            <p:cond delay="0"/>
                                          </p:stCondLst>
                                        </p:cTn>
                                        <p:tgtEl>
                                          <p:spTgt spid="689"/>
                                        </p:tgtEl>
                                        <p:attrNameLst>
                                          <p:attrName>style.visibility</p:attrName>
                                        </p:attrNameLst>
                                      </p:cBhvr>
                                      <p:to>
                                        <p:strVal val="visible"/>
                                      </p:to>
                                    </p:set>
                                    <p:anim calcmode="lin" valueType="num">
                                      <p:cBhvr additive="repl">
                                        <p:cTn id="1540" dur="500" fill="hold"/>
                                        <p:tgtEl>
                                          <p:spTgt spid="689"/>
                                        </p:tgtEl>
                                        <p:attrNameLst>
                                          <p:attrName>ppt_x</p:attrName>
                                        </p:attrNameLst>
                                      </p:cBhvr>
                                      <p:tavLst>
                                        <p:tav tm="0">
                                          <p:val>
                                            <p:strVal val="#ppt_x-#ppt_w/2"/>
                                          </p:val>
                                        </p:tav>
                                        <p:tav tm="100000">
                                          <p:val>
                                            <p:strVal val="#ppt_x"/>
                                          </p:val>
                                        </p:tav>
                                      </p:tavLst>
                                    </p:anim>
                                    <p:anim calcmode="lin" valueType="num">
                                      <p:cBhvr additive="repl">
                                        <p:cTn id="1541" dur="500" fill="hold"/>
                                        <p:tgtEl>
                                          <p:spTgt spid="689"/>
                                        </p:tgtEl>
                                        <p:attrNameLst>
                                          <p:attrName>ppt_y</p:attrName>
                                        </p:attrNameLst>
                                      </p:cBhvr>
                                      <p:tavLst>
                                        <p:tav tm="0">
                                          <p:val>
                                            <p:strVal val="#ppt_y"/>
                                          </p:val>
                                        </p:tav>
                                        <p:tav tm="100000">
                                          <p:val>
                                            <p:strVal val="#ppt_y"/>
                                          </p:val>
                                        </p:tav>
                                      </p:tavLst>
                                    </p:anim>
                                    <p:anim calcmode="lin" valueType="num">
                                      <p:cBhvr additive="repl">
                                        <p:cTn id="1542" dur="500" fill="hold"/>
                                        <p:tgtEl>
                                          <p:spTgt spid="689"/>
                                        </p:tgtEl>
                                        <p:attrNameLst>
                                          <p:attrName>ppt_w</p:attrName>
                                        </p:attrNameLst>
                                      </p:cBhvr>
                                      <p:tavLst>
                                        <p:tav tm="0">
                                          <p:val>
                                            <p:fltVal val="0"/>
                                          </p:val>
                                        </p:tav>
                                        <p:tav tm="100000">
                                          <p:val>
                                            <p:strVal val="#ppt_w"/>
                                          </p:val>
                                        </p:tav>
                                      </p:tavLst>
                                    </p:anim>
                                    <p:anim calcmode="lin" valueType="num">
                                      <p:cBhvr additive="repl">
                                        <p:cTn id="1543" dur="500" fill="hold"/>
                                        <p:tgtEl>
                                          <p:spTgt spid="689"/>
                                        </p:tgtEl>
                                        <p:attrNameLst>
                                          <p:attrName>ppt_h</p:attrName>
                                        </p:attrNameLst>
                                      </p:cBhvr>
                                      <p:tavLst>
                                        <p:tav tm="0">
                                          <p:val>
                                            <p:strVal val="#ppt_h"/>
                                          </p:val>
                                        </p:tav>
                                        <p:tav tm="100000">
                                          <p:val>
                                            <p:strVal val="#ppt_h"/>
                                          </p:val>
                                        </p:tav>
                                      </p:tavLst>
                                    </p:anim>
                                  </p:childTnLst>
                                </p:cTn>
                              </p:par>
                            </p:childTnLst>
                          </p:cTn>
                        </p:par>
                        <p:par>
                          <p:cTn id="1544" nodeType="afterEffect" fill="hold">
                            <p:stCondLst>
                              <p:cond delay="4175"/>
                            </p:stCondLst>
                            <p:childTnLst>
                              <p:par>
                                <p:cTn id="1545" nodeType="afterEffect" fill="hold" presetClass="entr" presetID="17" presetSubtype="8">
                                  <p:stCondLst>
                                    <p:cond delay="0"/>
                                  </p:stCondLst>
                                  <p:childTnLst>
                                    <p:set>
                                      <p:cBhvr>
                                        <p:cTn id="1546" dur="1" fill="hold">
                                          <p:stCondLst>
                                            <p:cond delay="0"/>
                                          </p:stCondLst>
                                        </p:cTn>
                                        <p:tgtEl>
                                          <p:spTgt spid="690"/>
                                        </p:tgtEl>
                                        <p:attrNameLst>
                                          <p:attrName>style.visibility</p:attrName>
                                        </p:attrNameLst>
                                      </p:cBhvr>
                                      <p:to>
                                        <p:strVal val="visible"/>
                                      </p:to>
                                    </p:set>
                                    <p:anim calcmode="lin" valueType="num">
                                      <p:cBhvr additive="repl">
                                        <p:cTn id="1547" dur="500" fill="hold"/>
                                        <p:tgtEl>
                                          <p:spTgt spid="690"/>
                                        </p:tgtEl>
                                        <p:attrNameLst>
                                          <p:attrName>ppt_x</p:attrName>
                                        </p:attrNameLst>
                                      </p:cBhvr>
                                      <p:tavLst>
                                        <p:tav tm="0">
                                          <p:val>
                                            <p:strVal val="#ppt_x-#ppt_w/2"/>
                                          </p:val>
                                        </p:tav>
                                        <p:tav tm="100000">
                                          <p:val>
                                            <p:strVal val="#ppt_x"/>
                                          </p:val>
                                        </p:tav>
                                      </p:tavLst>
                                    </p:anim>
                                    <p:anim calcmode="lin" valueType="num">
                                      <p:cBhvr additive="repl">
                                        <p:cTn id="1548" dur="500" fill="hold"/>
                                        <p:tgtEl>
                                          <p:spTgt spid="690"/>
                                        </p:tgtEl>
                                        <p:attrNameLst>
                                          <p:attrName>ppt_y</p:attrName>
                                        </p:attrNameLst>
                                      </p:cBhvr>
                                      <p:tavLst>
                                        <p:tav tm="0">
                                          <p:val>
                                            <p:strVal val="#ppt_y"/>
                                          </p:val>
                                        </p:tav>
                                        <p:tav tm="100000">
                                          <p:val>
                                            <p:strVal val="#ppt_y"/>
                                          </p:val>
                                        </p:tav>
                                      </p:tavLst>
                                    </p:anim>
                                    <p:anim calcmode="lin" valueType="num">
                                      <p:cBhvr additive="repl">
                                        <p:cTn id="1549" dur="500" fill="hold"/>
                                        <p:tgtEl>
                                          <p:spTgt spid="690"/>
                                        </p:tgtEl>
                                        <p:attrNameLst>
                                          <p:attrName>ppt_w</p:attrName>
                                        </p:attrNameLst>
                                      </p:cBhvr>
                                      <p:tavLst>
                                        <p:tav tm="0">
                                          <p:val>
                                            <p:fltVal val="0"/>
                                          </p:val>
                                        </p:tav>
                                        <p:tav tm="100000">
                                          <p:val>
                                            <p:strVal val="#ppt_w"/>
                                          </p:val>
                                        </p:tav>
                                      </p:tavLst>
                                    </p:anim>
                                    <p:anim calcmode="lin" valueType="num">
                                      <p:cBhvr additive="repl">
                                        <p:cTn id="1550" dur="500" fill="hold"/>
                                        <p:tgtEl>
                                          <p:spTgt spid="690"/>
                                        </p:tgtEl>
                                        <p:attrNameLst>
                                          <p:attrName>ppt_h</p:attrName>
                                        </p:attrNameLst>
                                      </p:cBhvr>
                                      <p:tavLst>
                                        <p:tav tm="0">
                                          <p:val>
                                            <p:strVal val="#ppt_h"/>
                                          </p:val>
                                        </p:tav>
                                        <p:tav tm="100000">
                                          <p:val>
                                            <p:strVal val="#ppt_h"/>
                                          </p:val>
                                        </p:tav>
                                      </p:tavLst>
                                    </p:anim>
                                  </p:childTnLst>
                                </p:cTn>
                              </p:par>
                            </p:childTnLst>
                          </p:cTn>
                        </p:par>
                        <p:par>
                          <p:cTn id="1551" nodeType="afterEffect" fill="hold">
                            <p:stCondLst>
                              <p:cond delay="4675"/>
                            </p:stCondLst>
                            <p:childTnLst>
                              <p:par>
                                <p:cTn id="1552" nodeType="afterEffect" fill="hold" presetClass="entr" presetID="17" presetSubtype="8">
                                  <p:stCondLst>
                                    <p:cond delay="0"/>
                                  </p:stCondLst>
                                  <p:childTnLst>
                                    <p:set>
                                      <p:cBhvr>
                                        <p:cTn id="1553" dur="1" fill="hold">
                                          <p:stCondLst>
                                            <p:cond delay="0"/>
                                          </p:stCondLst>
                                        </p:cTn>
                                        <p:tgtEl>
                                          <p:spTgt spid="691"/>
                                        </p:tgtEl>
                                        <p:attrNameLst>
                                          <p:attrName>style.visibility</p:attrName>
                                        </p:attrNameLst>
                                      </p:cBhvr>
                                      <p:to>
                                        <p:strVal val="visible"/>
                                      </p:to>
                                    </p:set>
                                    <p:anim calcmode="lin" valueType="num">
                                      <p:cBhvr additive="repl">
                                        <p:cTn id="1554" dur="500" fill="hold"/>
                                        <p:tgtEl>
                                          <p:spTgt spid="691"/>
                                        </p:tgtEl>
                                        <p:attrNameLst>
                                          <p:attrName>ppt_x</p:attrName>
                                        </p:attrNameLst>
                                      </p:cBhvr>
                                      <p:tavLst>
                                        <p:tav tm="0">
                                          <p:val>
                                            <p:strVal val="#ppt_x-#ppt_w/2"/>
                                          </p:val>
                                        </p:tav>
                                        <p:tav tm="100000">
                                          <p:val>
                                            <p:strVal val="#ppt_x"/>
                                          </p:val>
                                        </p:tav>
                                      </p:tavLst>
                                    </p:anim>
                                    <p:anim calcmode="lin" valueType="num">
                                      <p:cBhvr additive="repl">
                                        <p:cTn id="1555" dur="500" fill="hold"/>
                                        <p:tgtEl>
                                          <p:spTgt spid="691"/>
                                        </p:tgtEl>
                                        <p:attrNameLst>
                                          <p:attrName>ppt_y</p:attrName>
                                        </p:attrNameLst>
                                      </p:cBhvr>
                                      <p:tavLst>
                                        <p:tav tm="0">
                                          <p:val>
                                            <p:strVal val="#ppt_y"/>
                                          </p:val>
                                        </p:tav>
                                        <p:tav tm="100000">
                                          <p:val>
                                            <p:strVal val="#ppt_y"/>
                                          </p:val>
                                        </p:tav>
                                      </p:tavLst>
                                    </p:anim>
                                    <p:anim calcmode="lin" valueType="num">
                                      <p:cBhvr additive="repl">
                                        <p:cTn id="1556" dur="500" fill="hold"/>
                                        <p:tgtEl>
                                          <p:spTgt spid="691"/>
                                        </p:tgtEl>
                                        <p:attrNameLst>
                                          <p:attrName>ppt_w</p:attrName>
                                        </p:attrNameLst>
                                      </p:cBhvr>
                                      <p:tavLst>
                                        <p:tav tm="0">
                                          <p:val>
                                            <p:fltVal val="0"/>
                                          </p:val>
                                        </p:tav>
                                        <p:tav tm="100000">
                                          <p:val>
                                            <p:strVal val="#ppt_w"/>
                                          </p:val>
                                        </p:tav>
                                      </p:tavLst>
                                    </p:anim>
                                    <p:anim calcmode="lin" valueType="num">
                                      <p:cBhvr additive="repl">
                                        <p:cTn id="1557" dur="500" fill="hold"/>
                                        <p:tgtEl>
                                          <p:spTgt spid="691"/>
                                        </p:tgtEl>
                                        <p:attrNameLst>
                                          <p:attrName>ppt_h</p:attrName>
                                        </p:attrNameLst>
                                      </p:cBhvr>
                                      <p:tavLst>
                                        <p:tav tm="0">
                                          <p:val>
                                            <p:strVal val="#ppt_h"/>
                                          </p:val>
                                        </p:tav>
                                        <p:tav tm="100000">
                                          <p:val>
                                            <p:strVal val="#ppt_h"/>
                                          </p:val>
                                        </p:tav>
                                      </p:tavLst>
                                    </p:anim>
                                  </p:childTnLst>
                                </p:cTn>
                              </p:par>
                            </p:childTnLst>
                          </p:cTn>
                        </p:par>
                        <p:par>
                          <p:cTn id="1558" nodeType="afterEffect" fill="hold">
                            <p:stCondLst>
                              <p:cond delay="5175"/>
                            </p:stCondLst>
                            <p:childTnLst>
                              <p:par>
                                <p:cTn id="1559" nodeType="afterEffect" fill="hold" presetClass="entr" presetID="17" presetSubtype="8">
                                  <p:stCondLst>
                                    <p:cond delay="1000"/>
                                  </p:stCondLst>
                                  <p:childTnLst>
                                    <p:set>
                                      <p:cBhvr>
                                        <p:cTn id="1560" dur="1" fill="hold">
                                          <p:stCondLst>
                                            <p:cond delay="0"/>
                                          </p:stCondLst>
                                        </p:cTn>
                                        <p:tgtEl>
                                          <p:spTgt spid="676"/>
                                        </p:tgtEl>
                                        <p:attrNameLst>
                                          <p:attrName>style.visibility</p:attrName>
                                        </p:attrNameLst>
                                      </p:cBhvr>
                                      <p:to>
                                        <p:strVal val="visible"/>
                                      </p:to>
                                    </p:set>
                                    <p:anim calcmode="lin" valueType="num">
                                      <p:cBhvr additive="repl">
                                        <p:cTn id="1561" dur="500" fill="hold"/>
                                        <p:tgtEl>
                                          <p:spTgt spid="676"/>
                                        </p:tgtEl>
                                        <p:attrNameLst>
                                          <p:attrName>ppt_x</p:attrName>
                                        </p:attrNameLst>
                                      </p:cBhvr>
                                      <p:tavLst>
                                        <p:tav tm="0">
                                          <p:val>
                                            <p:strVal val="#ppt_x-#ppt_w/2"/>
                                          </p:val>
                                        </p:tav>
                                        <p:tav tm="100000">
                                          <p:val>
                                            <p:strVal val="#ppt_x"/>
                                          </p:val>
                                        </p:tav>
                                      </p:tavLst>
                                    </p:anim>
                                    <p:anim calcmode="lin" valueType="num">
                                      <p:cBhvr additive="repl">
                                        <p:cTn id="1562" dur="500" fill="hold"/>
                                        <p:tgtEl>
                                          <p:spTgt spid="676"/>
                                        </p:tgtEl>
                                        <p:attrNameLst>
                                          <p:attrName>ppt_y</p:attrName>
                                        </p:attrNameLst>
                                      </p:cBhvr>
                                      <p:tavLst>
                                        <p:tav tm="0">
                                          <p:val>
                                            <p:strVal val="#ppt_y"/>
                                          </p:val>
                                        </p:tav>
                                        <p:tav tm="100000">
                                          <p:val>
                                            <p:strVal val="#ppt_y"/>
                                          </p:val>
                                        </p:tav>
                                      </p:tavLst>
                                    </p:anim>
                                    <p:anim calcmode="lin" valueType="num">
                                      <p:cBhvr additive="repl">
                                        <p:cTn id="1563" dur="500" fill="hold"/>
                                        <p:tgtEl>
                                          <p:spTgt spid="676"/>
                                        </p:tgtEl>
                                        <p:attrNameLst>
                                          <p:attrName>ppt_w</p:attrName>
                                        </p:attrNameLst>
                                      </p:cBhvr>
                                      <p:tavLst>
                                        <p:tav tm="0">
                                          <p:val>
                                            <p:fltVal val="0"/>
                                          </p:val>
                                        </p:tav>
                                        <p:tav tm="100000">
                                          <p:val>
                                            <p:strVal val="#ppt_w"/>
                                          </p:val>
                                        </p:tav>
                                      </p:tavLst>
                                    </p:anim>
                                    <p:anim calcmode="lin" valueType="num">
                                      <p:cBhvr additive="repl">
                                        <p:cTn id="1564" dur="500" fill="hold"/>
                                        <p:tgtEl>
                                          <p:spTgt spid="676"/>
                                        </p:tgtEl>
                                        <p:attrNameLst>
                                          <p:attrName>ppt_h</p:attrName>
                                        </p:attrNameLst>
                                      </p:cBhvr>
                                      <p:tavLst>
                                        <p:tav tm="0">
                                          <p:val>
                                            <p:strVal val="#ppt_h"/>
                                          </p:val>
                                        </p:tav>
                                        <p:tav tm="100000">
                                          <p:val>
                                            <p:strVal val="#ppt_h"/>
                                          </p:val>
                                        </p:tav>
                                      </p:tavLst>
                                    </p:anim>
                                  </p:childTnLst>
                                </p:cTn>
                              </p:par>
                            </p:childTnLst>
                          </p:cTn>
                        </p:par>
                        <p:par>
                          <p:cTn id="1565" nodeType="afterEffect" fill="hold">
                            <p:stCondLst>
                              <p:cond delay="6675"/>
                            </p:stCondLst>
                            <p:childTnLst>
                              <p:par>
                                <p:cTn id="1566" nodeType="afterEffect" fill="hold" presetClass="entr" presetID="17" presetSubtype="8">
                                  <p:stCondLst>
                                    <p:cond delay="0"/>
                                  </p:stCondLst>
                                  <p:childTnLst>
                                    <p:set>
                                      <p:cBhvr>
                                        <p:cTn id="1567" dur="1" fill="hold">
                                          <p:stCondLst>
                                            <p:cond delay="0"/>
                                          </p:stCondLst>
                                        </p:cTn>
                                        <p:tgtEl>
                                          <p:spTgt spid="677"/>
                                        </p:tgtEl>
                                        <p:attrNameLst>
                                          <p:attrName>style.visibility</p:attrName>
                                        </p:attrNameLst>
                                      </p:cBhvr>
                                      <p:to>
                                        <p:strVal val="visible"/>
                                      </p:to>
                                    </p:set>
                                    <p:anim calcmode="lin" valueType="num">
                                      <p:cBhvr additive="repl">
                                        <p:cTn id="1568" dur="500" fill="hold"/>
                                        <p:tgtEl>
                                          <p:spTgt spid="677"/>
                                        </p:tgtEl>
                                        <p:attrNameLst>
                                          <p:attrName>ppt_x</p:attrName>
                                        </p:attrNameLst>
                                      </p:cBhvr>
                                      <p:tavLst>
                                        <p:tav tm="0">
                                          <p:val>
                                            <p:strVal val="#ppt_x-#ppt_w/2"/>
                                          </p:val>
                                        </p:tav>
                                        <p:tav tm="100000">
                                          <p:val>
                                            <p:strVal val="#ppt_x"/>
                                          </p:val>
                                        </p:tav>
                                      </p:tavLst>
                                    </p:anim>
                                    <p:anim calcmode="lin" valueType="num">
                                      <p:cBhvr additive="repl">
                                        <p:cTn id="1569" dur="500" fill="hold"/>
                                        <p:tgtEl>
                                          <p:spTgt spid="677"/>
                                        </p:tgtEl>
                                        <p:attrNameLst>
                                          <p:attrName>ppt_y</p:attrName>
                                        </p:attrNameLst>
                                      </p:cBhvr>
                                      <p:tavLst>
                                        <p:tav tm="0">
                                          <p:val>
                                            <p:strVal val="#ppt_y"/>
                                          </p:val>
                                        </p:tav>
                                        <p:tav tm="100000">
                                          <p:val>
                                            <p:strVal val="#ppt_y"/>
                                          </p:val>
                                        </p:tav>
                                      </p:tavLst>
                                    </p:anim>
                                    <p:anim calcmode="lin" valueType="num">
                                      <p:cBhvr additive="repl">
                                        <p:cTn id="1570" dur="500" fill="hold"/>
                                        <p:tgtEl>
                                          <p:spTgt spid="677"/>
                                        </p:tgtEl>
                                        <p:attrNameLst>
                                          <p:attrName>ppt_w</p:attrName>
                                        </p:attrNameLst>
                                      </p:cBhvr>
                                      <p:tavLst>
                                        <p:tav tm="0">
                                          <p:val>
                                            <p:fltVal val="0"/>
                                          </p:val>
                                        </p:tav>
                                        <p:tav tm="100000">
                                          <p:val>
                                            <p:strVal val="#ppt_w"/>
                                          </p:val>
                                        </p:tav>
                                      </p:tavLst>
                                    </p:anim>
                                    <p:anim calcmode="lin" valueType="num">
                                      <p:cBhvr additive="repl">
                                        <p:cTn id="1571" dur="500" fill="hold"/>
                                        <p:tgtEl>
                                          <p:spTgt spid="677"/>
                                        </p:tgtEl>
                                        <p:attrNameLst>
                                          <p:attrName>ppt_h</p:attrName>
                                        </p:attrNameLst>
                                      </p:cBhvr>
                                      <p:tavLst>
                                        <p:tav tm="0">
                                          <p:val>
                                            <p:strVal val="#ppt_h"/>
                                          </p:val>
                                        </p:tav>
                                        <p:tav tm="100000">
                                          <p:val>
                                            <p:strVal val="#ppt_h"/>
                                          </p:val>
                                        </p:tav>
                                      </p:tavLst>
                                    </p:anim>
                                  </p:childTnLst>
                                </p:cTn>
                              </p:par>
                            </p:childTnLst>
                          </p:cTn>
                        </p:par>
                      </p:childTnLst>
                    </p:cTn>
                  </p:par>
                  <p:par>
                    <p:cTn id="1572" nodeType="clickEffect" fill="hold">
                      <p:stCondLst>
                        <p:cond delay="indefinite"/>
                      </p:stCondLst>
                      <p:childTnLst>
                        <p:par>
                          <p:cTn id="1573" nodeType="withEffect" fill="hold">
                            <p:stCondLst>
                              <p:cond delay="0"/>
                            </p:stCondLst>
                            <p:childTnLst>
                              <p:par>
                                <p:cTn id="1574" nodeType="clickEffect" fill="hold" presetClass="entr" presetID="9">
                                  <p:stCondLst>
                                    <p:cond delay="0"/>
                                  </p:stCondLst>
                                  <p:iterate type="lt">
                                    <p:tmAbs val="75"/>
                                  </p:iterate>
                                  <p:childTnLst>
                                    <p:set>
                                      <p:cBhvr>
                                        <p:cTn id="1575" dur="1" fill="hold">
                                          <p:stCondLst>
                                            <p:cond delay="0"/>
                                          </p:stCondLst>
                                        </p:cTn>
                                        <p:tgtEl>
                                          <p:spTgt spid="660"/>
                                        </p:tgtEl>
                                        <p:attrNameLst>
                                          <p:attrName>style.visibility</p:attrName>
                                        </p:attrNameLst>
                                      </p:cBhvr>
                                      <p:to>
                                        <p:strVal val="visible"/>
                                      </p:to>
                                    </p:set>
                                    <p:animEffect filter="dissolve" transition="in">
                                      <p:cBhvr additive="repl">
                                        <p:cTn id="1576" dur="75"/>
                                        <p:tgtEl>
                                          <p:spTgt spid="660"/>
                                        </p:tgtEl>
                                      </p:cBhvr>
                                    </p:animEffect>
                                  </p:childTnLst>
                                </p:cTn>
                              </p:par>
                            </p:childTnLst>
                          </p:cTn>
                        </p:par>
                        <p:par>
                          <p:cTn id="1577" nodeType="afterEffect" fill="hold">
                            <p:stCondLst>
                              <p:cond delay="150"/>
                            </p:stCondLst>
                            <p:childTnLst>
                              <p:par>
                                <p:cTn id="1578" nodeType="afterEffect" fill="hold" presetClass="entr" presetID="9">
                                  <p:stCondLst>
                                    <p:cond delay="1000"/>
                                  </p:stCondLst>
                                  <p:iterate type="lt">
                                    <p:tmAbs val="75"/>
                                  </p:iterate>
                                  <p:childTnLst>
                                    <p:set>
                                      <p:cBhvr>
                                        <p:cTn id="1579" dur="1" fill="hold">
                                          <p:stCondLst>
                                            <p:cond delay="0"/>
                                          </p:stCondLst>
                                        </p:cTn>
                                        <p:tgtEl>
                                          <p:spTgt spid="635"/>
                                        </p:tgtEl>
                                        <p:attrNameLst>
                                          <p:attrName>style.visibility</p:attrName>
                                        </p:attrNameLst>
                                      </p:cBhvr>
                                      <p:to>
                                        <p:strVal val="visible"/>
                                      </p:to>
                                    </p:set>
                                    <p:animEffect filter="dissolve" transition="in">
                                      <p:cBhvr additive="repl">
                                        <p:cTn id="1580" dur="75"/>
                                        <p:tgtEl>
                                          <p:spTgt spid="635"/>
                                        </p:tgtEl>
                                      </p:cBhvr>
                                    </p:animEffect>
                                  </p:childTnLst>
                                </p:cTn>
                              </p:par>
                            </p:childTnLst>
                          </p:cTn>
                        </p:par>
                      </p:childTnLst>
                    </p:cTn>
                  </p:par>
                  <p:par>
                    <p:cTn id="1581" nodeType="clickEffect" fill="hold">
                      <p:stCondLst>
                        <p:cond delay="indefinite"/>
                      </p:stCondLst>
                      <p:childTnLst>
                        <p:par>
                          <p:cTn id="1582" nodeType="withEffect" fill="hold">
                            <p:stCondLst>
                              <p:cond delay="0"/>
                            </p:stCondLst>
                            <p:childTnLst>
                              <p:par>
                                <p:cTn id="1583" nodeType="clickEffect" fill="hold" presetClass="entr" presetID="9">
                                  <p:stCondLst>
                                    <p:cond delay="0"/>
                                  </p:stCondLst>
                                  <p:iterate type="lt">
                                    <p:tmAbs val="75"/>
                                  </p:iterate>
                                  <p:childTnLst>
                                    <p:set>
                                      <p:cBhvr>
                                        <p:cTn id="1584" dur="1" fill="hold">
                                          <p:stCondLst>
                                            <p:cond delay="0"/>
                                          </p:stCondLst>
                                        </p:cTn>
                                        <p:tgtEl>
                                          <p:spTgt spid="709"/>
                                        </p:tgtEl>
                                        <p:attrNameLst>
                                          <p:attrName>style.visibility</p:attrName>
                                        </p:attrNameLst>
                                      </p:cBhvr>
                                      <p:to>
                                        <p:strVal val="visible"/>
                                      </p:to>
                                    </p:set>
                                    <p:animEffect filter="dissolve" transition="in">
                                      <p:cBhvr additive="repl">
                                        <p:cTn id="1585" dur="75"/>
                                        <p:tgtEl>
                                          <p:spTgt spid="709"/>
                                        </p:tgtEl>
                                      </p:cBhvr>
                                    </p:animEffect>
                                  </p:childTnLst>
                                </p:cTn>
                              </p:par>
                            </p:childTnLst>
                          </p:cTn>
                        </p:par>
                        <p:par>
                          <p:cTn id="1586" nodeType="afterEffect" fill="hold">
                            <p:stCondLst>
                              <p:cond delay="75"/>
                            </p:stCondLst>
                            <p:childTnLst>
                              <p:par>
                                <p:cTn id="1587" nodeType="afterEffect" fill="hold" presetClass="entr" presetID="9">
                                  <p:stCondLst>
                                    <p:cond delay="0"/>
                                  </p:stCondLst>
                                  <p:iterate type="lt">
                                    <p:tmAbs val="75"/>
                                  </p:iterate>
                                  <p:childTnLst>
                                    <p:set>
                                      <p:cBhvr>
                                        <p:cTn id="1588" dur="1" fill="hold">
                                          <p:stCondLst>
                                            <p:cond delay="0"/>
                                          </p:stCondLst>
                                        </p:cTn>
                                        <p:tgtEl>
                                          <p:spTgt spid="710"/>
                                        </p:tgtEl>
                                        <p:attrNameLst>
                                          <p:attrName>style.visibility</p:attrName>
                                        </p:attrNameLst>
                                      </p:cBhvr>
                                      <p:to>
                                        <p:strVal val="visible"/>
                                      </p:to>
                                    </p:set>
                                    <p:animEffect filter="dissolve" transition="in">
                                      <p:cBhvr additive="repl">
                                        <p:cTn id="1589" dur="75"/>
                                        <p:tgtEl>
                                          <p:spTgt spid="710"/>
                                        </p:tgtEl>
                                      </p:cBhvr>
                                    </p:animEffect>
                                  </p:childTnLst>
                                </p:cTn>
                              </p:par>
                            </p:childTnLst>
                          </p:cTn>
                        </p:par>
                        <p:par>
                          <p:cTn id="1590" nodeType="afterEffect" fill="hold">
                            <p:stCondLst>
                              <p:cond delay="225"/>
                            </p:stCondLst>
                            <p:childTnLst>
                              <p:par>
                                <p:cTn id="1591" nodeType="afterEffect" fill="hold" presetClass="entr" presetID="9">
                                  <p:stCondLst>
                                    <p:cond delay="0"/>
                                  </p:stCondLst>
                                  <p:iterate type="lt">
                                    <p:tmAbs val="75"/>
                                  </p:iterate>
                                  <p:childTnLst>
                                    <p:set>
                                      <p:cBhvr>
                                        <p:cTn id="1592" dur="1" fill="hold">
                                          <p:stCondLst>
                                            <p:cond delay="0"/>
                                          </p:stCondLst>
                                        </p:cTn>
                                        <p:tgtEl>
                                          <p:spTgt spid="664"/>
                                        </p:tgtEl>
                                        <p:attrNameLst>
                                          <p:attrName>style.visibility</p:attrName>
                                        </p:attrNameLst>
                                      </p:cBhvr>
                                      <p:to>
                                        <p:strVal val="visible"/>
                                      </p:to>
                                    </p:set>
                                    <p:animEffect filter="dissolve" transition="in">
                                      <p:cBhvr additive="repl">
                                        <p:cTn id="1593" dur="75"/>
                                        <p:tgtEl>
                                          <p:spTgt spid="664"/>
                                        </p:tgtEl>
                                      </p:cBhvr>
                                    </p:animEffect>
                                  </p:childTnLst>
                                </p:cTn>
                              </p:par>
                            </p:childTnLst>
                          </p:cTn>
                        </p:par>
                        <p:par>
                          <p:cTn id="1594" nodeType="afterEffect" fill="hold">
                            <p:stCondLst>
                              <p:cond delay="300"/>
                            </p:stCondLst>
                            <p:childTnLst>
                              <p:par>
                                <p:cTn id="1595" nodeType="afterEffect" fill="hold" presetClass="entr" presetID="9">
                                  <p:stCondLst>
                                    <p:cond delay="1000"/>
                                  </p:stCondLst>
                                  <p:iterate type="lt">
                                    <p:tmAbs val="75"/>
                                  </p:iterate>
                                  <p:childTnLst>
                                    <p:set>
                                      <p:cBhvr>
                                        <p:cTn id="1596" dur="1" fill="hold">
                                          <p:stCondLst>
                                            <p:cond delay="0"/>
                                          </p:stCondLst>
                                        </p:cTn>
                                        <p:tgtEl>
                                          <p:spTgt spid="648"/>
                                        </p:tgtEl>
                                        <p:attrNameLst>
                                          <p:attrName>style.visibility</p:attrName>
                                        </p:attrNameLst>
                                      </p:cBhvr>
                                      <p:to>
                                        <p:strVal val="visible"/>
                                      </p:to>
                                    </p:set>
                                    <p:animEffect filter="dissolve" transition="in">
                                      <p:cBhvr additive="repl">
                                        <p:cTn id="1597" dur="75"/>
                                        <p:tgtEl>
                                          <p:spTgt spid="648"/>
                                        </p:tgtEl>
                                      </p:cBhvr>
                                    </p:animEffect>
                                  </p:childTnLst>
                                </p:cTn>
                              </p:par>
                            </p:childTnLst>
                          </p:cTn>
                        </p:par>
                        <p:par>
                          <p:cTn id="1598" nodeType="afterEffect" fill="hold">
                            <p:stCondLst>
                              <p:cond delay="1525"/>
                            </p:stCondLst>
                            <p:childTnLst>
                              <p:par>
                                <p:cTn id="1599" nodeType="afterEffect" fill="hold" presetClass="entr" presetID="9">
                                  <p:stCondLst>
                                    <p:cond delay="1000"/>
                                  </p:stCondLst>
                                  <p:iterate type="lt">
                                    <p:tmAbs val="75"/>
                                  </p:iterate>
                                  <p:childTnLst>
                                    <p:set>
                                      <p:cBhvr>
                                        <p:cTn id="1600" dur="1" fill="hold">
                                          <p:stCondLst>
                                            <p:cond delay="0"/>
                                          </p:stCondLst>
                                        </p:cTn>
                                        <p:tgtEl>
                                          <p:spTgt spid="636"/>
                                        </p:tgtEl>
                                        <p:attrNameLst>
                                          <p:attrName>style.visibility</p:attrName>
                                        </p:attrNameLst>
                                      </p:cBhvr>
                                      <p:to>
                                        <p:strVal val="visible"/>
                                      </p:to>
                                    </p:set>
                                    <p:animEffect filter="dissolve" transition="in">
                                      <p:cBhvr additive="repl">
                                        <p:cTn id="1601" dur="75"/>
                                        <p:tgtEl>
                                          <p:spTgt spid="636"/>
                                        </p:tgtEl>
                                      </p:cBhvr>
                                    </p:animEffect>
                                  </p:childTnLst>
                                </p:cTn>
                              </p:par>
                            </p:childTnLst>
                          </p:cTn>
                        </p:par>
                      </p:childTnLst>
                    </p:cTn>
                  </p:par>
                  <p:par>
                    <p:cTn id="1602" nodeType="clickEffect" fill="hold">
                      <p:stCondLst>
                        <p:cond delay="indefinite"/>
                      </p:stCondLst>
                      <p:childTnLst>
                        <p:par>
                          <p:cTn id="1603" nodeType="withEffect" fill="hold">
                            <p:stCondLst>
                              <p:cond delay="0"/>
                            </p:stCondLst>
                            <p:childTnLst>
                              <p:par>
                                <p:cTn id="1604" nodeType="clickEffect" fill="hold" presetClass="entr" presetID="9">
                                  <p:stCondLst>
                                    <p:cond delay="0"/>
                                  </p:stCondLst>
                                  <p:iterate type="lt">
                                    <p:tmAbs val="75"/>
                                  </p:iterate>
                                  <p:childTnLst>
                                    <p:set>
                                      <p:cBhvr>
                                        <p:cTn id="1605" dur="1" fill="hold">
                                          <p:stCondLst>
                                            <p:cond delay="0"/>
                                          </p:stCondLst>
                                        </p:cTn>
                                        <p:tgtEl>
                                          <p:spTgt spid="662"/>
                                        </p:tgtEl>
                                        <p:attrNameLst>
                                          <p:attrName>style.visibility</p:attrName>
                                        </p:attrNameLst>
                                      </p:cBhvr>
                                      <p:to>
                                        <p:strVal val="visible"/>
                                      </p:to>
                                    </p:set>
                                    <p:animEffect filter="dissolve" transition="in">
                                      <p:cBhvr additive="repl">
                                        <p:cTn id="1606" dur="75"/>
                                        <p:tgtEl>
                                          <p:spTgt spid="662"/>
                                        </p:tgtEl>
                                      </p:cBhvr>
                                    </p:animEffect>
                                  </p:childTnLst>
                                </p:cTn>
                              </p:par>
                            </p:childTnLst>
                          </p:cTn>
                        </p:par>
                        <p:par>
                          <p:cTn id="1607" nodeType="afterEffect" fill="hold">
                            <p:stCondLst>
                              <p:cond delay="75"/>
                            </p:stCondLst>
                            <p:childTnLst>
                              <p:par>
                                <p:cTn id="1608" nodeType="afterEffect" fill="hold" presetClass="entr" presetID="9">
                                  <p:stCondLst>
                                    <p:cond delay="1000"/>
                                  </p:stCondLst>
                                  <p:iterate type="lt">
                                    <p:tmAbs val="75"/>
                                  </p:iterate>
                                  <p:childTnLst>
                                    <p:set>
                                      <p:cBhvr>
                                        <p:cTn id="1609" dur="1" fill="hold">
                                          <p:stCondLst>
                                            <p:cond delay="0"/>
                                          </p:stCondLst>
                                        </p:cTn>
                                        <p:tgtEl>
                                          <p:spTgt spid="654"/>
                                        </p:tgtEl>
                                        <p:attrNameLst>
                                          <p:attrName>style.visibility</p:attrName>
                                        </p:attrNameLst>
                                      </p:cBhvr>
                                      <p:to>
                                        <p:strVal val="visible"/>
                                      </p:to>
                                    </p:set>
                                    <p:animEffect filter="dissolve" transition="in">
                                      <p:cBhvr additive="repl">
                                        <p:cTn id="1610" dur="75"/>
                                        <p:tgtEl>
                                          <p:spTgt spid="654"/>
                                        </p:tgtEl>
                                      </p:cBhvr>
                                    </p:animEffect>
                                  </p:childTnLst>
                                </p:cTn>
                              </p:par>
                            </p:childTnLst>
                          </p:cTn>
                        </p:par>
                        <p:par>
                          <p:cTn id="1611" nodeType="afterEffect" fill="hold">
                            <p:stCondLst>
                              <p:cond delay="1225"/>
                            </p:stCondLst>
                            <p:childTnLst>
                              <p:par>
                                <p:cTn id="1612" nodeType="afterEffect" fill="hold" presetClass="entr" presetID="9">
                                  <p:stCondLst>
                                    <p:cond delay="1000"/>
                                  </p:stCondLst>
                                  <p:iterate type="lt">
                                    <p:tmAbs val="75"/>
                                  </p:iterate>
                                  <p:childTnLst>
                                    <p:set>
                                      <p:cBhvr>
                                        <p:cTn id="1613" dur="1" fill="hold">
                                          <p:stCondLst>
                                            <p:cond delay="0"/>
                                          </p:stCondLst>
                                        </p:cTn>
                                        <p:tgtEl>
                                          <p:spTgt spid="655"/>
                                        </p:tgtEl>
                                        <p:attrNameLst>
                                          <p:attrName>style.visibility</p:attrName>
                                        </p:attrNameLst>
                                      </p:cBhvr>
                                      <p:to>
                                        <p:strVal val="visible"/>
                                      </p:to>
                                    </p:set>
                                    <p:animEffect filter="dissolve" transition="in">
                                      <p:cBhvr additive="repl">
                                        <p:cTn id="1614" dur="75"/>
                                        <p:tgtEl>
                                          <p:spTgt spid="655"/>
                                        </p:tgtEl>
                                      </p:cBhvr>
                                    </p:animEffect>
                                  </p:childTnLst>
                                </p:cTn>
                              </p:par>
                            </p:childTnLst>
                          </p:cTn>
                        </p:par>
                        <p:par>
                          <p:cTn id="1615" nodeType="afterEffect" fill="hold">
                            <p:stCondLst>
                              <p:cond delay="2375"/>
                            </p:stCondLst>
                            <p:childTnLst>
                              <p:par>
                                <p:cTn id="1616" nodeType="afterEffect" fill="hold" presetClass="entr" presetID="9">
                                  <p:stCondLst>
                                    <p:cond delay="1000"/>
                                  </p:stCondLst>
                                  <p:iterate type="lt">
                                    <p:tmAbs val="75"/>
                                  </p:iterate>
                                  <p:childTnLst>
                                    <p:set>
                                      <p:cBhvr>
                                        <p:cTn id="1617" dur="1" fill="hold">
                                          <p:stCondLst>
                                            <p:cond delay="0"/>
                                          </p:stCondLst>
                                        </p:cTn>
                                        <p:tgtEl>
                                          <p:spTgt spid="705"/>
                                        </p:tgtEl>
                                        <p:attrNameLst>
                                          <p:attrName>style.visibility</p:attrName>
                                        </p:attrNameLst>
                                      </p:cBhvr>
                                      <p:to>
                                        <p:strVal val="visible"/>
                                      </p:to>
                                    </p:set>
                                    <p:animEffect filter="dissolve" transition="in">
                                      <p:cBhvr additive="repl">
                                        <p:cTn id="1618" dur="75"/>
                                        <p:tgtEl>
                                          <p:spTgt spid="705"/>
                                        </p:tgtEl>
                                      </p:cBhvr>
                                    </p:animEffect>
                                  </p:childTnLst>
                                </p:cTn>
                              </p:par>
                            </p:childTnLst>
                          </p:cTn>
                        </p:par>
                        <p:par>
                          <p:cTn id="1619" nodeType="afterEffect" fill="hold">
                            <p:stCondLst>
                              <p:cond delay="3600"/>
                            </p:stCondLst>
                            <p:childTnLst>
                              <p:par>
                                <p:cTn id="1620" nodeType="afterEffect" fill="hold" presetClass="entr" presetID="17" presetSubtype="8">
                                  <p:stCondLst>
                                    <p:cond delay="0"/>
                                  </p:stCondLst>
                                  <p:childTnLst>
                                    <p:set>
                                      <p:cBhvr>
                                        <p:cTn id="1621" dur="1" fill="hold">
                                          <p:stCondLst>
                                            <p:cond delay="0"/>
                                          </p:stCondLst>
                                        </p:cTn>
                                        <p:tgtEl>
                                          <p:spTgt spid="706"/>
                                        </p:tgtEl>
                                        <p:attrNameLst>
                                          <p:attrName>style.visibility</p:attrName>
                                        </p:attrNameLst>
                                      </p:cBhvr>
                                      <p:to>
                                        <p:strVal val="visible"/>
                                      </p:to>
                                    </p:set>
                                    <p:anim calcmode="lin" valueType="num">
                                      <p:cBhvr additive="repl">
                                        <p:cTn id="1622" dur="500" fill="hold"/>
                                        <p:tgtEl>
                                          <p:spTgt spid="706"/>
                                        </p:tgtEl>
                                        <p:attrNameLst>
                                          <p:attrName>ppt_x</p:attrName>
                                        </p:attrNameLst>
                                      </p:cBhvr>
                                      <p:tavLst>
                                        <p:tav tm="0">
                                          <p:val>
                                            <p:strVal val="#ppt_x-#ppt_w/2"/>
                                          </p:val>
                                        </p:tav>
                                        <p:tav tm="100000">
                                          <p:val>
                                            <p:strVal val="#ppt_x"/>
                                          </p:val>
                                        </p:tav>
                                      </p:tavLst>
                                    </p:anim>
                                    <p:anim calcmode="lin" valueType="num">
                                      <p:cBhvr additive="repl">
                                        <p:cTn id="1623" dur="500" fill="hold"/>
                                        <p:tgtEl>
                                          <p:spTgt spid="706"/>
                                        </p:tgtEl>
                                        <p:attrNameLst>
                                          <p:attrName>ppt_y</p:attrName>
                                        </p:attrNameLst>
                                      </p:cBhvr>
                                      <p:tavLst>
                                        <p:tav tm="0">
                                          <p:val>
                                            <p:strVal val="#ppt_y"/>
                                          </p:val>
                                        </p:tav>
                                        <p:tav tm="100000">
                                          <p:val>
                                            <p:strVal val="#ppt_y"/>
                                          </p:val>
                                        </p:tav>
                                      </p:tavLst>
                                    </p:anim>
                                    <p:anim calcmode="lin" valueType="num">
                                      <p:cBhvr additive="repl">
                                        <p:cTn id="1624" dur="500" fill="hold"/>
                                        <p:tgtEl>
                                          <p:spTgt spid="706"/>
                                        </p:tgtEl>
                                        <p:attrNameLst>
                                          <p:attrName>ppt_w</p:attrName>
                                        </p:attrNameLst>
                                      </p:cBhvr>
                                      <p:tavLst>
                                        <p:tav tm="0">
                                          <p:val>
                                            <p:fltVal val="0"/>
                                          </p:val>
                                        </p:tav>
                                        <p:tav tm="100000">
                                          <p:val>
                                            <p:strVal val="#ppt_w"/>
                                          </p:val>
                                        </p:tav>
                                      </p:tavLst>
                                    </p:anim>
                                    <p:anim calcmode="lin" valueType="num">
                                      <p:cBhvr additive="repl">
                                        <p:cTn id="1625" dur="500" fill="hold"/>
                                        <p:tgtEl>
                                          <p:spTgt spid="706"/>
                                        </p:tgtEl>
                                        <p:attrNameLst>
                                          <p:attrName>ppt_h</p:attrName>
                                        </p:attrNameLst>
                                      </p:cBhvr>
                                      <p:tavLst>
                                        <p:tav tm="0">
                                          <p:val>
                                            <p:strVal val="#ppt_h"/>
                                          </p:val>
                                        </p:tav>
                                        <p:tav tm="100000">
                                          <p:val>
                                            <p:strVal val="#ppt_h"/>
                                          </p:val>
                                        </p:tav>
                                      </p:tavLst>
                                    </p:anim>
                                  </p:childTnLst>
                                </p:cTn>
                              </p:par>
                            </p:childTnLst>
                          </p:cTn>
                        </p:par>
                        <p:par>
                          <p:cTn id="1626" nodeType="afterEffect" fill="hold">
                            <p:stCondLst>
                              <p:cond delay="4100"/>
                            </p:stCondLst>
                            <p:childTnLst>
                              <p:par>
                                <p:cTn id="1627" nodeType="afterEffect" fill="hold" presetClass="entr" presetID="9">
                                  <p:stCondLst>
                                    <p:cond delay="1000"/>
                                  </p:stCondLst>
                                  <p:iterate type="lt">
                                    <p:tmAbs val="75"/>
                                  </p:iterate>
                                  <p:childTnLst>
                                    <p:set>
                                      <p:cBhvr>
                                        <p:cTn id="1628" dur="1" fill="hold">
                                          <p:stCondLst>
                                            <p:cond delay="0"/>
                                          </p:stCondLst>
                                        </p:cTn>
                                        <p:tgtEl>
                                          <p:spTgt spid="698"/>
                                        </p:tgtEl>
                                        <p:attrNameLst>
                                          <p:attrName>style.visibility</p:attrName>
                                        </p:attrNameLst>
                                      </p:cBhvr>
                                      <p:to>
                                        <p:strVal val="visible"/>
                                      </p:to>
                                    </p:set>
                                    <p:animEffect filter="dissolve" transition="in">
                                      <p:cBhvr additive="repl">
                                        <p:cTn id="1629" dur="75"/>
                                        <p:tgtEl>
                                          <p:spTgt spid="698"/>
                                        </p:tgtEl>
                                      </p:cBhvr>
                                    </p:animEffect>
                                  </p:childTnLst>
                                </p:cTn>
                              </p:par>
                            </p:childTnLst>
                          </p:cTn>
                        </p:par>
                        <p:par>
                          <p:cTn id="1630" nodeType="afterEffect" fill="hold">
                            <p:stCondLst>
                              <p:cond delay="5175"/>
                            </p:stCondLst>
                            <p:childTnLst>
                              <p:par>
                                <p:cTn id="1631" nodeType="afterEffect" fill="hold" presetClass="entr" presetID="17" presetSubtype="8">
                                  <p:stCondLst>
                                    <p:cond delay="0"/>
                                  </p:stCondLst>
                                  <p:childTnLst>
                                    <p:set>
                                      <p:cBhvr>
                                        <p:cTn id="1632" dur="1" fill="hold">
                                          <p:stCondLst>
                                            <p:cond delay="0"/>
                                          </p:stCondLst>
                                        </p:cTn>
                                        <p:tgtEl>
                                          <p:spTgt spid="680"/>
                                        </p:tgtEl>
                                        <p:attrNameLst>
                                          <p:attrName>style.visibility</p:attrName>
                                        </p:attrNameLst>
                                      </p:cBhvr>
                                      <p:to>
                                        <p:strVal val="visible"/>
                                      </p:to>
                                    </p:set>
                                    <p:anim calcmode="lin" valueType="num">
                                      <p:cBhvr additive="repl">
                                        <p:cTn id="1633" dur="500" fill="hold"/>
                                        <p:tgtEl>
                                          <p:spTgt spid="680"/>
                                        </p:tgtEl>
                                        <p:attrNameLst>
                                          <p:attrName>ppt_x</p:attrName>
                                        </p:attrNameLst>
                                      </p:cBhvr>
                                      <p:tavLst>
                                        <p:tav tm="0">
                                          <p:val>
                                            <p:strVal val="#ppt_x-#ppt_w/2"/>
                                          </p:val>
                                        </p:tav>
                                        <p:tav tm="100000">
                                          <p:val>
                                            <p:strVal val="#ppt_x"/>
                                          </p:val>
                                        </p:tav>
                                      </p:tavLst>
                                    </p:anim>
                                    <p:anim calcmode="lin" valueType="num">
                                      <p:cBhvr additive="repl">
                                        <p:cTn id="1634" dur="500" fill="hold"/>
                                        <p:tgtEl>
                                          <p:spTgt spid="680"/>
                                        </p:tgtEl>
                                        <p:attrNameLst>
                                          <p:attrName>ppt_y</p:attrName>
                                        </p:attrNameLst>
                                      </p:cBhvr>
                                      <p:tavLst>
                                        <p:tav tm="0">
                                          <p:val>
                                            <p:strVal val="#ppt_y"/>
                                          </p:val>
                                        </p:tav>
                                        <p:tav tm="100000">
                                          <p:val>
                                            <p:strVal val="#ppt_y"/>
                                          </p:val>
                                        </p:tav>
                                      </p:tavLst>
                                    </p:anim>
                                    <p:anim calcmode="lin" valueType="num">
                                      <p:cBhvr additive="repl">
                                        <p:cTn id="1635" dur="500" fill="hold"/>
                                        <p:tgtEl>
                                          <p:spTgt spid="680"/>
                                        </p:tgtEl>
                                        <p:attrNameLst>
                                          <p:attrName>ppt_w</p:attrName>
                                        </p:attrNameLst>
                                      </p:cBhvr>
                                      <p:tavLst>
                                        <p:tav tm="0">
                                          <p:val>
                                            <p:fltVal val="0"/>
                                          </p:val>
                                        </p:tav>
                                        <p:tav tm="100000">
                                          <p:val>
                                            <p:strVal val="#ppt_w"/>
                                          </p:val>
                                        </p:tav>
                                      </p:tavLst>
                                    </p:anim>
                                    <p:anim calcmode="lin" valueType="num">
                                      <p:cBhvr additive="repl">
                                        <p:cTn id="1636" dur="500" fill="hold"/>
                                        <p:tgtEl>
                                          <p:spTgt spid="680"/>
                                        </p:tgtEl>
                                        <p:attrNameLst>
                                          <p:attrName>ppt_h</p:attrName>
                                        </p:attrNameLst>
                                      </p:cBhvr>
                                      <p:tavLst>
                                        <p:tav tm="0">
                                          <p:val>
                                            <p:strVal val="#ppt_h"/>
                                          </p:val>
                                        </p:tav>
                                        <p:tav tm="100000">
                                          <p:val>
                                            <p:strVal val="#ppt_h"/>
                                          </p:val>
                                        </p:tav>
                                      </p:tavLst>
                                    </p:anim>
                                  </p:childTnLst>
                                </p:cTn>
                              </p:par>
                            </p:childTnLst>
                          </p:cTn>
                        </p:par>
                        <p:par>
                          <p:cTn id="1637" nodeType="afterEffect" fill="hold">
                            <p:stCondLst>
                              <p:cond delay="5675"/>
                            </p:stCondLst>
                            <p:childTnLst>
                              <p:par>
                                <p:cTn id="1638" nodeType="afterEffect" fill="hold" presetClass="entr" presetID="17" presetSubtype="8">
                                  <p:stCondLst>
                                    <p:cond delay="0"/>
                                  </p:stCondLst>
                                  <p:childTnLst>
                                    <p:set>
                                      <p:cBhvr>
                                        <p:cTn id="1639" dur="1" fill="hold">
                                          <p:stCondLst>
                                            <p:cond delay="0"/>
                                          </p:stCondLst>
                                        </p:cTn>
                                        <p:tgtEl>
                                          <p:spTgt spid="681"/>
                                        </p:tgtEl>
                                        <p:attrNameLst>
                                          <p:attrName>style.visibility</p:attrName>
                                        </p:attrNameLst>
                                      </p:cBhvr>
                                      <p:to>
                                        <p:strVal val="visible"/>
                                      </p:to>
                                    </p:set>
                                    <p:anim calcmode="lin" valueType="num">
                                      <p:cBhvr additive="repl">
                                        <p:cTn id="1640" dur="500" fill="hold"/>
                                        <p:tgtEl>
                                          <p:spTgt spid="681"/>
                                        </p:tgtEl>
                                        <p:attrNameLst>
                                          <p:attrName>ppt_x</p:attrName>
                                        </p:attrNameLst>
                                      </p:cBhvr>
                                      <p:tavLst>
                                        <p:tav tm="0">
                                          <p:val>
                                            <p:strVal val="#ppt_x-#ppt_w/2"/>
                                          </p:val>
                                        </p:tav>
                                        <p:tav tm="100000">
                                          <p:val>
                                            <p:strVal val="#ppt_x"/>
                                          </p:val>
                                        </p:tav>
                                      </p:tavLst>
                                    </p:anim>
                                    <p:anim calcmode="lin" valueType="num">
                                      <p:cBhvr additive="repl">
                                        <p:cTn id="1641" dur="500" fill="hold"/>
                                        <p:tgtEl>
                                          <p:spTgt spid="681"/>
                                        </p:tgtEl>
                                        <p:attrNameLst>
                                          <p:attrName>ppt_y</p:attrName>
                                        </p:attrNameLst>
                                      </p:cBhvr>
                                      <p:tavLst>
                                        <p:tav tm="0">
                                          <p:val>
                                            <p:strVal val="#ppt_y"/>
                                          </p:val>
                                        </p:tav>
                                        <p:tav tm="100000">
                                          <p:val>
                                            <p:strVal val="#ppt_y"/>
                                          </p:val>
                                        </p:tav>
                                      </p:tavLst>
                                    </p:anim>
                                    <p:anim calcmode="lin" valueType="num">
                                      <p:cBhvr additive="repl">
                                        <p:cTn id="1642" dur="500" fill="hold"/>
                                        <p:tgtEl>
                                          <p:spTgt spid="681"/>
                                        </p:tgtEl>
                                        <p:attrNameLst>
                                          <p:attrName>ppt_w</p:attrName>
                                        </p:attrNameLst>
                                      </p:cBhvr>
                                      <p:tavLst>
                                        <p:tav tm="0">
                                          <p:val>
                                            <p:fltVal val="0"/>
                                          </p:val>
                                        </p:tav>
                                        <p:tav tm="100000">
                                          <p:val>
                                            <p:strVal val="#ppt_w"/>
                                          </p:val>
                                        </p:tav>
                                      </p:tavLst>
                                    </p:anim>
                                    <p:anim calcmode="lin" valueType="num">
                                      <p:cBhvr additive="repl">
                                        <p:cTn id="1643" dur="500" fill="hold"/>
                                        <p:tgtEl>
                                          <p:spTgt spid="681"/>
                                        </p:tgtEl>
                                        <p:attrNameLst>
                                          <p:attrName>ppt_h</p:attrName>
                                        </p:attrNameLst>
                                      </p:cBhvr>
                                      <p:tavLst>
                                        <p:tav tm="0">
                                          <p:val>
                                            <p:strVal val="#ppt_h"/>
                                          </p:val>
                                        </p:tav>
                                        <p:tav tm="100000">
                                          <p:val>
                                            <p:strVal val="#ppt_h"/>
                                          </p:val>
                                        </p:tav>
                                      </p:tavLst>
                                    </p:anim>
                                  </p:childTnLst>
                                </p:cTn>
                              </p:par>
                            </p:childTnLst>
                          </p:cTn>
                        </p:par>
                      </p:childTnLst>
                    </p:cTn>
                  </p:par>
                  <p:par>
                    <p:cTn id="1644" nodeType="clickEffect" fill="hold">
                      <p:stCondLst>
                        <p:cond delay="indefinite"/>
                      </p:stCondLst>
                      <p:childTnLst>
                        <p:par>
                          <p:cTn id="1645" nodeType="withEffect" fill="hold">
                            <p:stCondLst>
                              <p:cond delay="0"/>
                            </p:stCondLst>
                            <p:childTnLst>
                              <p:par>
                                <p:cTn id="1646" nodeType="clickEffect" fill="hold" presetClass="entr" presetID="9">
                                  <p:stCondLst>
                                    <p:cond delay="0"/>
                                  </p:stCondLst>
                                  <p:iterate type="lt">
                                    <p:tmAbs val="75"/>
                                  </p:iterate>
                                  <p:childTnLst>
                                    <p:set>
                                      <p:cBhvr>
                                        <p:cTn id="1647" dur="1" fill="hold">
                                          <p:stCondLst>
                                            <p:cond delay="0"/>
                                          </p:stCondLst>
                                        </p:cTn>
                                        <p:tgtEl>
                                          <p:spTgt spid="665"/>
                                        </p:tgtEl>
                                        <p:attrNameLst>
                                          <p:attrName>style.visibility</p:attrName>
                                        </p:attrNameLst>
                                      </p:cBhvr>
                                      <p:to>
                                        <p:strVal val="visible"/>
                                      </p:to>
                                    </p:set>
                                    <p:animEffect filter="dissolve" transition="in">
                                      <p:cBhvr additive="repl">
                                        <p:cTn id="1648" dur="75"/>
                                        <p:tgtEl>
                                          <p:spTgt spid="665"/>
                                        </p:tgtEl>
                                      </p:cBhvr>
                                    </p:animEffect>
                                  </p:childTnLst>
                                </p:cTn>
                              </p:par>
                            </p:childTnLst>
                          </p:cTn>
                        </p:par>
                        <p:par>
                          <p:cTn id="1649" nodeType="afterEffect" fill="hold">
                            <p:stCondLst>
                              <p:cond delay="75"/>
                            </p:stCondLst>
                            <p:childTnLst>
                              <p:par>
                                <p:cTn id="1650" nodeType="afterEffect" fill="hold" presetClass="entr" presetID="9">
                                  <p:stCondLst>
                                    <p:cond delay="1000"/>
                                  </p:stCondLst>
                                  <p:iterate type="lt">
                                    <p:tmAbs val="75"/>
                                  </p:iterate>
                                  <p:childTnLst>
                                    <p:set>
                                      <p:cBhvr>
                                        <p:cTn id="1651" dur="1" fill="hold">
                                          <p:stCondLst>
                                            <p:cond delay="0"/>
                                          </p:stCondLst>
                                        </p:cTn>
                                        <p:tgtEl>
                                          <p:spTgt spid="656"/>
                                        </p:tgtEl>
                                        <p:attrNameLst>
                                          <p:attrName>style.visibility</p:attrName>
                                        </p:attrNameLst>
                                      </p:cBhvr>
                                      <p:to>
                                        <p:strVal val="visible"/>
                                      </p:to>
                                    </p:set>
                                    <p:animEffect filter="dissolve" transition="in">
                                      <p:cBhvr additive="repl">
                                        <p:cTn id="1652" dur="75"/>
                                        <p:tgtEl>
                                          <p:spTgt spid="656"/>
                                        </p:tgtEl>
                                      </p:cBhvr>
                                    </p:animEffect>
                                  </p:childTnLst>
                                </p:cTn>
                              </p:par>
                            </p:childTnLst>
                          </p:cTn>
                        </p:par>
                        <p:par>
                          <p:cTn id="1653" nodeType="afterEffect" fill="hold">
                            <p:stCondLst>
                              <p:cond delay="1225"/>
                            </p:stCondLst>
                            <p:childTnLst>
                              <p:par>
                                <p:cTn id="1654" nodeType="afterEffect" fill="hold" presetClass="entr" presetID="9">
                                  <p:stCondLst>
                                    <p:cond delay="1000"/>
                                  </p:stCondLst>
                                  <p:iterate type="lt">
                                    <p:tmAbs val="75"/>
                                  </p:iterate>
                                  <p:childTnLst>
                                    <p:set>
                                      <p:cBhvr>
                                        <p:cTn id="1655" dur="1" fill="hold">
                                          <p:stCondLst>
                                            <p:cond delay="0"/>
                                          </p:stCondLst>
                                        </p:cTn>
                                        <p:tgtEl>
                                          <p:spTgt spid="634"/>
                                        </p:tgtEl>
                                        <p:attrNameLst>
                                          <p:attrName>style.visibility</p:attrName>
                                        </p:attrNameLst>
                                      </p:cBhvr>
                                      <p:to>
                                        <p:strVal val="visible"/>
                                      </p:to>
                                    </p:set>
                                    <p:animEffect filter="dissolve" transition="in">
                                      <p:cBhvr additive="repl">
                                        <p:cTn id="1656" dur="75"/>
                                        <p:tgtEl>
                                          <p:spTgt spid="634"/>
                                        </p:tgtEl>
                                      </p:cBhvr>
                                    </p:animEffect>
                                  </p:childTnLst>
                                </p:cTn>
                              </p:par>
                            </p:childTnLst>
                          </p:cTn>
                        </p:par>
                        <p:par>
                          <p:cTn id="1657" nodeType="afterEffect" fill="hold">
                            <p:stCondLst>
                              <p:cond delay="2525"/>
                            </p:stCondLst>
                            <p:childTnLst>
                              <p:par>
                                <p:cTn id="1658" nodeType="afterEffect" fill="hold" presetClass="entr" presetID="17" presetSubtype="8">
                                  <p:stCondLst>
                                    <p:cond delay="1000"/>
                                  </p:stCondLst>
                                  <p:childTnLst>
                                    <p:set>
                                      <p:cBhvr>
                                        <p:cTn id="1659" dur="1" fill="hold">
                                          <p:stCondLst>
                                            <p:cond delay="0"/>
                                          </p:stCondLst>
                                        </p:cTn>
                                        <p:tgtEl>
                                          <p:spTgt spid="686"/>
                                        </p:tgtEl>
                                        <p:attrNameLst>
                                          <p:attrName>style.visibility</p:attrName>
                                        </p:attrNameLst>
                                      </p:cBhvr>
                                      <p:to>
                                        <p:strVal val="visible"/>
                                      </p:to>
                                    </p:set>
                                    <p:anim calcmode="lin" valueType="num">
                                      <p:cBhvr additive="repl">
                                        <p:cTn id="1660" dur="500" fill="hold"/>
                                        <p:tgtEl>
                                          <p:spTgt spid="686"/>
                                        </p:tgtEl>
                                        <p:attrNameLst>
                                          <p:attrName>ppt_x</p:attrName>
                                        </p:attrNameLst>
                                      </p:cBhvr>
                                      <p:tavLst>
                                        <p:tav tm="0">
                                          <p:val>
                                            <p:strVal val="#ppt_x-#ppt_w/2"/>
                                          </p:val>
                                        </p:tav>
                                        <p:tav tm="100000">
                                          <p:val>
                                            <p:strVal val="#ppt_x"/>
                                          </p:val>
                                        </p:tav>
                                      </p:tavLst>
                                    </p:anim>
                                    <p:anim calcmode="lin" valueType="num">
                                      <p:cBhvr additive="repl">
                                        <p:cTn id="1661" dur="500" fill="hold"/>
                                        <p:tgtEl>
                                          <p:spTgt spid="686"/>
                                        </p:tgtEl>
                                        <p:attrNameLst>
                                          <p:attrName>ppt_y</p:attrName>
                                        </p:attrNameLst>
                                      </p:cBhvr>
                                      <p:tavLst>
                                        <p:tav tm="0">
                                          <p:val>
                                            <p:strVal val="#ppt_y"/>
                                          </p:val>
                                        </p:tav>
                                        <p:tav tm="100000">
                                          <p:val>
                                            <p:strVal val="#ppt_y"/>
                                          </p:val>
                                        </p:tav>
                                      </p:tavLst>
                                    </p:anim>
                                    <p:anim calcmode="lin" valueType="num">
                                      <p:cBhvr additive="repl">
                                        <p:cTn id="1662" dur="500" fill="hold"/>
                                        <p:tgtEl>
                                          <p:spTgt spid="686"/>
                                        </p:tgtEl>
                                        <p:attrNameLst>
                                          <p:attrName>ppt_w</p:attrName>
                                        </p:attrNameLst>
                                      </p:cBhvr>
                                      <p:tavLst>
                                        <p:tav tm="0">
                                          <p:val>
                                            <p:fltVal val="0"/>
                                          </p:val>
                                        </p:tav>
                                        <p:tav tm="100000">
                                          <p:val>
                                            <p:strVal val="#ppt_w"/>
                                          </p:val>
                                        </p:tav>
                                      </p:tavLst>
                                    </p:anim>
                                    <p:anim calcmode="lin" valueType="num">
                                      <p:cBhvr additive="repl">
                                        <p:cTn id="1663" dur="500" fill="hold"/>
                                        <p:tgtEl>
                                          <p:spTgt spid="686"/>
                                        </p:tgtEl>
                                        <p:attrNameLst>
                                          <p:attrName>ppt_h</p:attrName>
                                        </p:attrNameLst>
                                      </p:cBhvr>
                                      <p:tavLst>
                                        <p:tav tm="0">
                                          <p:val>
                                            <p:strVal val="#ppt_h"/>
                                          </p:val>
                                        </p:tav>
                                        <p:tav tm="100000">
                                          <p:val>
                                            <p:strVal val="#ppt_h"/>
                                          </p:val>
                                        </p:tav>
                                      </p:tavLst>
                                    </p:anim>
                                  </p:childTnLst>
                                </p:cTn>
                              </p:par>
                            </p:childTnLst>
                          </p:cTn>
                        </p:par>
                        <p:par>
                          <p:cTn id="1664" nodeType="afterEffect" fill="hold">
                            <p:stCondLst>
                              <p:cond delay="4025"/>
                            </p:stCondLst>
                            <p:childTnLst>
                              <p:par>
                                <p:cTn id="1665" nodeType="afterEffect" fill="hold" presetClass="entr" presetID="17" presetSubtype="8">
                                  <p:stCondLst>
                                    <p:cond delay="0"/>
                                  </p:stCondLst>
                                  <p:childTnLst>
                                    <p:set>
                                      <p:cBhvr>
                                        <p:cTn id="1666" dur="1" fill="hold">
                                          <p:stCondLst>
                                            <p:cond delay="0"/>
                                          </p:stCondLst>
                                        </p:cTn>
                                        <p:tgtEl>
                                          <p:spTgt spid="687"/>
                                        </p:tgtEl>
                                        <p:attrNameLst>
                                          <p:attrName>style.visibility</p:attrName>
                                        </p:attrNameLst>
                                      </p:cBhvr>
                                      <p:to>
                                        <p:strVal val="visible"/>
                                      </p:to>
                                    </p:set>
                                    <p:anim calcmode="lin" valueType="num">
                                      <p:cBhvr additive="repl">
                                        <p:cTn id="1667" dur="500" fill="hold"/>
                                        <p:tgtEl>
                                          <p:spTgt spid="687"/>
                                        </p:tgtEl>
                                        <p:attrNameLst>
                                          <p:attrName>ppt_x</p:attrName>
                                        </p:attrNameLst>
                                      </p:cBhvr>
                                      <p:tavLst>
                                        <p:tav tm="0">
                                          <p:val>
                                            <p:strVal val="#ppt_x-#ppt_w/2"/>
                                          </p:val>
                                        </p:tav>
                                        <p:tav tm="100000">
                                          <p:val>
                                            <p:strVal val="#ppt_x"/>
                                          </p:val>
                                        </p:tav>
                                      </p:tavLst>
                                    </p:anim>
                                    <p:anim calcmode="lin" valueType="num">
                                      <p:cBhvr additive="repl">
                                        <p:cTn id="1668" dur="500" fill="hold"/>
                                        <p:tgtEl>
                                          <p:spTgt spid="687"/>
                                        </p:tgtEl>
                                        <p:attrNameLst>
                                          <p:attrName>ppt_y</p:attrName>
                                        </p:attrNameLst>
                                      </p:cBhvr>
                                      <p:tavLst>
                                        <p:tav tm="0">
                                          <p:val>
                                            <p:strVal val="#ppt_y"/>
                                          </p:val>
                                        </p:tav>
                                        <p:tav tm="100000">
                                          <p:val>
                                            <p:strVal val="#ppt_y"/>
                                          </p:val>
                                        </p:tav>
                                      </p:tavLst>
                                    </p:anim>
                                    <p:anim calcmode="lin" valueType="num">
                                      <p:cBhvr additive="repl">
                                        <p:cTn id="1669" dur="500" fill="hold"/>
                                        <p:tgtEl>
                                          <p:spTgt spid="687"/>
                                        </p:tgtEl>
                                        <p:attrNameLst>
                                          <p:attrName>ppt_w</p:attrName>
                                        </p:attrNameLst>
                                      </p:cBhvr>
                                      <p:tavLst>
                                        <p:tav tm="0">
                                          <p:val>
                                            <p:fltVal val="0"/>
                                          </p:val>
                                        </p:tav>
                                        <p:tav tm="100000">
                                          <p:val>
                                            <p:strVal val="#ppt_w"/>
                                          </p:val>
                                        </p:tav>
                                      </p:tavLst>
                                    </p:anim>
                                    <p:anim calcmode="lin" valueType="num">
                                      <p:cBhvr additive="repl">
                                        <p:cTn id="1670" dur="500" fill="hold"/>
                                        <p:tgtEl>
                                          <p:spTgt spid="687"/>
                                        </p:tgtEl>
                                        <p:attrNameLst>
                                          <p:attrName>ppt_h</p:attrName>
                                        </p:attrNameLst>
                                      </p:cBhvr>
                                      <p:tavLst>
                                        <p:tav tm="0">
                                          <p:val>
                                            <p:strVal val="#ppt_h"/>
                                          </p:val>
                                        </p:tav>
                                        <p:tav tm="100000">
                                          <p:val>
                                            <p:strVal val="#ppt_h"/>
                                          </p:val>
                                        </p:tav>
                                      </p:tavLst>
                                    </p:anim>
                                  </p:childTnLst>
                                </p:cTn>
                              </p:par>
                            </p:childTnLst>
                          </p:cTn>
                        </p:par>
                        <p:par>
                          <p:cTn id="1671" nodeType="afterEffect" fill="hold">
                            <p:stCondLst>
                              <p:cond delay="4525"/>
                            </p:stCondLst>
                            <p:childTnLst>
                              <p:par>
                                <p:cTn id="1672" nodeType="afterEffect" fill="hold" presetClass="entr" presetID="17" presetSubtype="8">
                                  <p:stCondLst>
                                    <p:cond delay="0"/>
                                  </p:stCondLst>
                                  <p:childTnLst>
                                    <p:set>
                                      <p:cBhvr>
                                        <p:cTn id="1673" dur="1" fill="hold">
                                          <p:stCondLst>
                                            <p:cond delay="0"/>
                                          </p:stCondLst>
                                        </p:cTn>
                                        <p:tgtEl>
                                          <p:spTgt spid="688"/>
                                        </p:tgtEl>
                                        <p:attrNameLst>
                                          <p:attrName>style.visibility</p:attrName>
                                        </p:attrNameLst>
                                      </p:cBhvr>
                                      <p:to>
                                        <p:strVal val="visible"/>
                                      </p:to>
                                    </p:set>
                                    <p:anim calcmode="lin" valueType="num">
                                      <p:cBhvr additive="repl">
                                        <p:cTn id="1674" dur="500" fill="hold"/>
                                        <p:tgtEl>
                                          <p:spTgt spid="688"/>
                                        </p:tgtEl>
                                        <p:attrNameLst>
                                          <p:attrName>ppt_x</p:attrName>
                                        </p:attrNameLst>
                                      </p:cBhvr>
                                      <p:tavLst>
                                        <p:tav tm="0">
                                          <p:val>
                                            <p:strVal val="#ppt_x-#ppt_w/2"/>
                                          </p:val>
                                        </p:tav>
                                        <p:tav tm="100000">
                                          <p:val>
                                            <p:strVal val="#ppt_x"/>
                                          </p:val>
                                        </p:tav>
                                      </p:tavLst>
                                    </p:anim>
                                    <p:anim calcmode="lin" valueType="num">
                                      <p:cBhvr additive="repl">
                                        <p:cTn id="1675" dur="500" fill="hold"/>
                                        <p:tgtEl>
                                          <p:spTgt spid="688"/>
                                        </p:tgtEl>
                                        <p:attrNameLst>
                                          <p:attrName>ppt_y</p:attrName>
                                        </p:attrNameLst>
                                      </p:cBhvr>
                                      <p:tavLst>
                                        <p:tav tm="0">
                                          <p:val>
                                            <p:strVal val="#ppt_y"/>
                                          </p:val>
                                        </p:tav>
                                        <p:tav tm="100000">
                                          <p:val>
                                            <p:strVal val="#ppt_y"/>
                                          </p:val>
                                        </p:tav>
                                      </p:tavLst>
                                    </p:anim>
                                    <p:anim calcmode="lin" valueType="num">
                                      <p:cBhvr additive="repl">
                                        <p:cTn id="1676" dur="500" fill="hold"/>
                                        <p:tgtEl>
                                          <p:spTgt spid="688"/>
                                        </p:tgtEl>
                                        <p:attrNameLst>
                                          <p:attrName>ppt_w</p:attrName>
                                        </p:attrNameLst>
                                      </p:cBhvr>
                                      <p:tavLst>
                                        <p:tav tm="0">
                                          <p:val>
                                            <p:fltVal val="0"/>
                                          </p:val>
                                        </p:tav>
                                        <p:tav tm="100000">
                                          <p:val>
                                            <p:strVal val="#ppt_w"/>
                                          </p:val>
                                        </p:tav>
                                      </p:tavLst>
                                    </p:anim>
                                    <p:anim calcmode="lin" valueType="num">
                                      <p:cBhvr additive="repl">
                                        <p:cTn id="1677" dur="500" fill="hold"/>
                                        <p:tgtEl>
                                          <p:spTgt spid="688"/>
                                        </p:tgtEl>
                                        <p:attrNameLst>
                                          <p:attrName>ppt_h</p:attrName>
                                        </p:attrNameLst>
                                      </p:cBhvr>
                                      <p:tavLst>
                                        <p:tav tm="0">
                                          <p:val>
                                            <p:strVal val="#ppt_h"/>
                                          </p:val>
                                        </p:tav>
                                        <p:tav tm="100000">
                                          <p:val>
                                            <p:strVal val="#ppt_h"/>
                                          </p:val>
                                        </p:tav>
                                      </p:tavLst>
                                    </p:anim>
                                  </p:childTnLst>
                                </p:cTn>
                              </p:par>
                            </p:childTnLst>
                          </p:cTn>
                        </p:par>
                        <p:par>
                          <p:cTn id="1678" nodeType="afterEffect" fill="hold">
                            <p:stCondLst>
                              <p:cond delay="5025"/>
                            </p:stCondLst>
                            <p:childTnLst>
                              <p:par>
                                <p:cTn id="1679" nodeType="afterEffect" fill="hold" presetClass="entr" presetID="17" presetSubtype="8">
                                  <p:stCondLst>
                                    <p:cond delay="1000"/>
                                  </p:stCondLst>
                                  <p:childTnLst>
                                    <p:set>
                                      <p:cBhvr>
                                        <p:cTn id="1680" dur="1" fill="hold">
                                          <p:stCondLst>
                                            <p:cond delay="0"/>
                                          </p:stCondLst>
                                        </p:cTn>
                                        <p:tgtEl>
                                          <p:spTgt spid="683"/>
                                        </p:tgtEl>
                                        <p:attrNameLst>
                                          <p:attrName>style.visibility</p:attrName>
                                        </p:attrNameLst>
                                      </p:cBhvr>
                                      <p:to>
                                        <p:strVal val="visible"/>
                                      </p:to>
                                    </p:set>
                                    <p:anim calcmode="lin" valueType="num">
                                      <p:cBhvr additive="repl">
                                        <p:cTn id="1681" dur="500" fill="hold"/>
                                        <p:tgtEl>
                                          <p:spTgt spid="683"/>
                                        </p:tgtEl>
                                        <p:attrNameLst>
                                          <p:attrName>ppt_x</p:attrName>
                                        </p:attrNameLst>
                                      </p:cBhvr>
                                      <p:tavLst>
                                        <p:tav tm="0">
                                          <p:val>
                                            <p:strVal val="#ppt_x-#ppt_w/2"/>
                                          </p:val>
                                        </p:tav>
                                        <p:tav tm="100000">
                                          <p:val>
                                            <p:strVal val="#ppt_x"/>
                                          </p:val>
                                        </p:tav>
                                      </p:tavLst>
                                    </p:anim>
                                    <p:anim calcmode="lin" valueType="num">
                                      <p:cBhvr additive="repl">
                                        <p:cTn id="1682" dur="500" fill="hold"/>
                                        <p:tgtEl>
                                          <p:spTgt spid="683"/>
                                        </p:tgtEl>
                                        <p:attrNameLst>
                                          <p:attrName>ppt_y</p:attrName>
                                        </p:attrNameLst>
                                      </p:cBhvr>
                                      <p:tavLst>
                                        <p:tav tm="0">
                                          <p:val>
                                            <p:strVal val="#ppt_y"/>
                                          </p:val>
                                        </p:tav>
                                        <p:tav tm="100000">
                                          <p:val>
                                            <p:strVal val="#ppt_y"/>
                                          </p:val>
                                        </p:tav>
                                      </p:tavLst>
                                    </p:anim>
                                    <p:anim calcmode="lin" valueType="num">
                                      <p:cBhvr additive="repl">
                                        <p:cTn id="1683" dur="500" fill="hold"/>
                                        <p:tgtEl>
                                          <p:spTgt spid="683"/>
                                        </p:tgtEl>
                                        <p:attrNameLst>
                                          <p:attrName>ppt_w</p:attrName>
                                        </p:attrNameLst>
                                      </p:cBhvr>
                                      <p:tavLst>
                                        <p:tav tm="0">
                                          <p:val>
                                            <p:fltVal val="0"/>
                                          </p:val>
                                        </p:tav>
                                        <p:tav tm="100000">
                                          <p:val>
                                            <p:strVal val="#ppt_w"/>
                                          </p:val>
                                        </p:tav>
                                      </p:tavLst>
                                    </p:anim>
                                    <p:anim calcmode="lin" valueType="num">
                                      <p:cBhvr additive="repl">
                                        <p:cTn id="1684" dur="500" fill="hold"/>
                                        <p:tgtEl>
                                          <p:spTgt spid="683"/>
                                        </p:tgtEl>
                                        <p:attrNameLst>
                                          <p:attrName>ppt_h</p:attrName>
                                        </p:attrNameLst>
                                      </p:cBhvr>
                                      <p:tavLst>
                                        <p:tav tm="0">
                                          <p:val>
                                            <p:strVal val="#ppt_h"/>
                                          </p:val>
                                        </p:tav>
                                        <p:tav tm="100000">
                                          <p:val>
                                            <p:strVal val="#ppt_h"/>
                                          </p:val>
                                        </p:tav>
                                      </p:tavLst>
                                    </p:anim>
                                  </p:childTnLst>
                                </p:cTn>
                              </p:par>
                            </p:childTnLst>
                          </p:cTn>
                        </p:par>
                        <p:par>
                          <p:cTn id="1685" nodeType="afterEffect" fill="hold">
                            <p:stCondLst>
                              <p:cond delay="6525"/>
                            </p:stCondLst>
                            <p:childTnLst>
                              <p:par>
                                <p:cTn id="1686" nodeType="afterEffect" fill="hold" presetClass="entr" presetID="17" presetSubtype="8">
                                  <p:stCondLst>
                                    <p:cond delay="0"/>
                                  </p:stCondLst>
                                  <p:childTnLst>
                                    <p:set>
                                      <p:cBhvr>
                                        <p:cTn id="1687" dur="1" fill="hold">
                                          <p:stCondLst>
                                            <p:cond delay="0"/>
                                          </p:stCondLst>
                                        </p:cTn>
                                        <p:tgtEl>
                                          <p:spTgt spid="684"/>
                                        </p:tgtEl>
                                        <p:attrNameLst>
                                          <p:attrName>style.visibility</p:attrName>
                                        </p:attrNameLst>
                                      </p:cBhvr>
                                      <p:to>
                                        <p:strVal val="visible"/>
                                      </p:to>
                                    </p:set>
                                    <p:anim calcmode="lin" valueType="num">
                                      <p:cBhvr additive="repl">
                                        <p:cTn id="1688" dur="500" fill="hold"/>
                                        <p:tgtEl>
                                          <p:spTgt spid="684"/>
                                        </p:tgtEl>
                                        <p:attrNameLst>
                                          <p:attrName>ppt_x</p:attrName>
                                        </p:attrNameLst>
                                      </p:cBhvr>
                                      <p:tavLst>
                                        <p:tav tm="0">
                                          <p:val>
                                            <p:strVal val="#ppt_x-#ppt_w/2"/>
                                          </p:val>
                                        </p:tav>
                                        <p:tav tm="100000">
                                          <p:val>
                                            <p:strVal val="#ppt_x"/>
                                          </p:val>
                                        </p:tav>
                                      </p:tavLst>
                                    </p:anim>
                                    <p:anim calcmode="lin" valueType="num">
                                      <p:cBhvr additive="repl">
                                        <p:cTn id="1689" dur="500" fill="hold"/>
                                        <p:tgtEl>
                                          <p:spTgt spid="684"/>
                                        </p:tgtEl>
                                        <p:attrNameLst>
                                          <p:attrName>ppt_y</p:attrName>
                                        </p:attrNameLst>
                                      </p:cBhvr>
                                      <p:tavLst>
                                        <p:tav tm="0">
                                          <p:val>
                                            <p:strVal val="#ppt_y"/>
                                          </p:val>
                                        </p:tav>
                                        <p:tav tm="100000">
                                          <p:val>
                                            <p:strVal val="#ppt_y"/>
                                          </p:val>
                                        </p:tav>
                                      </p:tavLst>
                                    </p:anim>
                                    <p:anim calcmode="lin" valueType="num">
                                      <p:cBhvr additive="repl">
                                        <p:cTn id="1690" dur="500" fill="hold"/>
                                        <p:tgtEl>
                                          <p:spTgt spid="684"/>
                                        </p:tgtEl>
                                        <p:attrNameLst>
                                          <p:attrName>ppt_w</p:attrName>
                                        </p:attrNameLst>
                                      </p:cBhvr>
                                      <p:tavLst>
                                        <p:tav tm="0">
                                          <p:val>
                                            <p:fltVal val="0"/>
                                          </p:val>
                                        </p:tav>
                                        <p:tav tm="100000">
                                          <p:val>
                                            <p:strVal val="#ppt_w"/>
                                          </p:val>
                                        </p:tav>
                                      </p:tavLst>
                                    </p:anim>
                                    <p:anim calcmode="lin" valueType="num">
                                      <p:cBhvr additive="repl">
                                        <p:cTn id="1691" dur="500" fill="hold"/>
                                        <p:tgtEl>
                                          <p:spTgt spid="684"/>
                                        </p:tgtEl>
                                        <p:attrNameLst>
                                          <p:attrName>ppt_h</p:attrName>
                                        </p:attrNameLst>
                                      </p:cBhvr>
                                      <p:tavLst>
                                        <p:tav tm="0">
                                          <p:val>
                                            <p:strVal val="#ppt_h"/>
                                          </p:val>
                                        </p:tav>
                                        <p:tav tm="100000">
                                          <p:val>
                                            <p:strVal val="#ppt_h"/>
                                          </p:val>
                                        </p:tav>
                                      </p:tavLst>
                                    </p:anim>
                                  </p:childTnLst>
                                </p:cTn>
                              </p:par>
                            </p:childTnLst>
                          </p:cTn>
                        </p:par>
                        <p:par>
                          <p:cTn id="1692" nodeType="afterEffect" fill="hold">
                            <p:stCondLst>
                              <p:cond delay="7025"/>
                            </p:stCondLst>
                            <p:childTnLst>
                              <p:par>
                                <p:cTn id="1693" nodeType="afterEffect" fill="hold" presetClass="entr" presetID="17" presetSubtype="8">
                                  <p:stCondLst>
                                    <p:cond delay="0"/>
                                  </p:stCondLst>
                                  <p:childTnLst>
                                    <p:set>
                                      <p:cBhvr>
                                        <p:cTn id="1694" dur="1" fill="hold">
                                          <p:stCondLst>
                                            <p:cond delay="0"/>
                                          </p:stCondLst>
                                        </p:cTn>
                                        <p:tgtEl>
                                          <p:spTgt spid="685"/>
                                        </p:tgtEl>
                                        <p:attrNameLst>
                                          <p:attrName>style.visibility</p:attrName>
                                        </p:attrNameLst>
                                      </p:cBhvr>
                                      <p:to>
                                        <p:strVal val="visible"/>
                                      </p:to>
                                    </p:set>
                                    <p:anim calcmode="lin" valueType="num">
                                      <p:cBhvr additive="repl">
                                        <p:cTn id="1695" dur="500" fill="hold"/>
                                        <p:tgtEl>
                                          <p:spTgt spid="685"/>
                                        </p:tgtEl>
                                        <p:attrNameLst>
                                          <p:attrName>ppt_x</p:attrName>
                                        </p:attrNameLst>
                                      </p:cBhvr>
                                      <p:tavLst>
                                        <p:tav tm="0">
                                          <p:val>
                                            <p:strVal val="#ppt_x-#ppt_w/2"/>
                                          </p:val>
                                        </p:tav>
                                        <p:tav tm="100000">
                                          <p:val>
                                            <p:strVal val="#ppt_x"/>
                                          </p:val>
                                        </p:tav>
                                      </p:tavLst>
                                    </p:anim>
                                    <p:anim calcmode="lin" valueType="num">
                                      <p:cBhvr additive="repl">
                                        <p:cTn id="1696" dur="500" fill="hold"/>
                                        <p:tgtEl>
                                          <p:spTgt spid="685"/>
                                        </p:tgtEl>
                                        <p:attrNameLst>
                                          <p:attrName>ppt_y</p:attrName>
                                        </p:attrNameLst>
                                      </p:cBhvr>
                                      <p:tavLst>
                                        <p:tav tm="0">
                                          <p:val>
                                            <p:strVal val="#ppt_y"/>
                                          </p:val>
                                        </p:tav>
                                        <p:tav tm="100000">
                                          <p:val>
                                            <p:strVal val="#ppt_y"/>
                                          </p:val>
                                        </p:tav>
                                      </p:tavLst>
                                    </p:anim>
                                    <p:anim calcmode="lin" valueType="num">
                                      <p:cBhvr additive="repl">
                                        <p:cTn id="1697" dur="500" fill="hold"/>
                                        <p:tgtEl>
                                          <p:spTgt spid="685"/>
                                        </p:tgtEl>
                                        <p:attrNameLst>
                                          <p:attrName>ppt_w</p:attrName>
                                        </p:attrNameLst>
                                      </p:cBhvr>
                                      <p:tavLst>
                                        <p:tav tm="0">
                                          <p:val>
                                            <p:fltVal val="0"/>
                                          </p:val>
                                        </p:tav>
                                        <p:tav tm="100000">
                                          <p:val>
                                            <p:strVal val="#ppt_w"/>
                                          </p:val>
                                        </p:tav>
                                      </p:tavLst>
                                    </p:anim>
                                    <p:anim calcmode="lin" valueType="num">
                                      <p:cBhvr additive="repl">
                                        <p:cTn id="1698" dur="500" fill="hold"/>
                                        <p:tgtEl>
                                          <p:spTgt spid="68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11" name="Picture 3" descr=""/>
          <p:cNvPicPr/>
          <p:nvPr/>
        </p:nvPicPr>
        <p:blipFill>
          <a:blip r:embed="rId1"/>
          <a:srcRect l="0" t="3773" r="5956" b="2513"/>
          <a:stretch/>
        </p:blipFill>
        <p:spPr>
          <a:xfrm>
            <a:off x="380880" y="380880"/>
            <a:ext cx="4343400" cy="6248520"/>
          </a:xfrm>
          <a:prstGeom prst="rect">
            <a:avLst/>
          </a:prstGeom>
          <a:noFill/>
          <a:ln w="0">
            <a:noFill/>
          </a:ln>
        </p:spPr>
      </p:pic>
      <p:sp>
        <p:nvSpPr>
          <p:cNvPr id="712" name="Rectangle 4"/>
          <p:cNvSpPr/>
          <p:nvPr/>
        </p:nvSpPr>
        <p:spPr>
          <a:xfrm>
            <a:off x="380880" y="380880"/>
            <a:ext cx="4343400" cy="6248520"/>
          </a:xfrm>
          <a:prstGeom prst="rect">
            <a:avLst/>
          </a:prstGeom>
          <a:noFill/>
          <a:ln w="50760">
            <a:solidFill>
              <a:srgbClr val="ffffff"/>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713" name="AutoShape 5"/>
          <p:cNvSpPr/>
          <p:nvPr/>
        </p:nvSpPr>
        <p:spPr>
          <a:xfrm>
            <a:off x="5029200" y="304920"/>
            <a:ext cx="3886200" cy="3052800"/>
          </a:xfrm>
          <a:prstGeom prst="wedgeRoundRectCallout">
            <a:avLst>
              <a:gd name="adj1" fmla="val -104657"/>
              <a:gd name="adj2" fmla="val 435"/>
              <a:gd name="adj3" fmla="val 16667"/>
            </a:avLst>
          </a:prstGeom>
          <a:noFill/>
          <a:ln w="28440">
            <a:solidFill>
              <a:srgbClr val="ffffff"/>
            </a:solidFill>
            <a:miter/>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4400" strike="noStrike" u="none">
                <a:solidFill>
                  <a:srgbClr val="ffffff"/>
                </a:solidFill>
                <a:effectLst/>
                <a:uFillTx/>
                <a:latin typeface="Arial"/>
              </a:rPr>
              <a:t>Félicitations et merci pour votre collaboration</a:t>
            </a:r>
            <a:endParaRPr b="0" lang="en-US" sz="4400" strike="noStrike" u="none">
              <a:solidFill>
                <a:srgbClr val="ffff00"/>
              </a:solidFill>
              <a:effectLst/>
              <a:uFillTx/>
              <a:latin typeface="Times New Roman"/>
            </a:endParaRPr>
          </a:p>
        </p:txBody>
      </p:sp>
    </p:spTree>
  </p:cSld>
  <p:transition spd="med">
    <p:zoom dir="out"/>
  </p:transition>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13730</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1999-03-31T07:07:01Z</dcterms:created>
  <dc:creator>Cazorla</dc:creator>
  <dc:description/>
  <dc:language>en-US</dc:language>
  <cp:lastModifiedBy>Georges Caz</cp:lastModifiedBy>
  <cp:lastPrinted>2000-01-30T12:10:06Z</cp:lastPrinted>
  <dcterms:modified xsi:type="dcterms:W3CDTF">2017-08-13T12:56:39Z</dcterms:modified>
  <cp:revision>291</cp:revision>
  <dc:subject/>
  <dc:title>CARACTERISTIQUES ET PLASTICITE DES FACTEURS PHYSIOLOGIQUES DE LA MOTRICITE DE L’ENFANT ET DE L’ADOLESCENT</dc:title>
</cp:coreProperties>
</file>