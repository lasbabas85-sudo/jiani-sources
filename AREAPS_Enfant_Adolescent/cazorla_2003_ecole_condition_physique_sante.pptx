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jpeg" ContentType="image/jpeg"/>
  <Override PartName="/ppt/media/image5.wmf" ContentType="image/x-wmf"/>
  <Override PartName="/ppt/media/image2.jpeg" ContentType="image/jpeg"/>
  <Override PartName="/ppt/media/image4.png" ContentType="image/png"/>
  <Override PartName="/ppt/media/image3.png" ContentType="image/png"/>
  <Override PartName="/ppt/media/image9.jpeg" ContentType="image/jpeg"/>
  <Override PartName="/ppt/media/image6.wmf" ContentType="image/x-wmf"/>
  <Override PartName="/ppt/media/image7.png" ContentType="image/png"/>
  <Override PartName="/ppt/media/image8.wmf" ContentType="image/x-wmf"/>
  <Override PartName="/ppt/media/image10.jpeg" ContentType="image/jpeg"/>
  <Override PartName="/ppt/embeddings/oleObject1.xlsx" ContentType="application/vnd.openxmlformats-officedocument.spreadsheetml.sheet"/>
  <Override PartName="/ppt/embeddings/oleObject2.xlsx" ContentType="application/vnd.openxmlformats-officedocument.spreadsheetml.sheet"/>
  <Override PartName="/ppt/slides/_rels/slide7.xml.rels" ContentType="application/vnd.openxmlformats-package.relationships+xml"/>
  <Override PartName="/ppt/slides/_rels/slide24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8.xml.rels" ContentType="application/vnd.openxmlformats-package.relationships+xml"/>
  <Override PartName="/ppt/slides/_rels/slide25.xml.rels" ContentType="application/vnd.openxmlformats-package.relationships+xml"/>
  <Override PartName="/ppt/slides/_rels/slide10.xml.rels" ContentType="application/vnd.openxmlformats-package.relationships+xml"/>
  <Override PartName="/ppt/slides/_rels/slide34.xml.rels" ContentType="application/vnd.openxmlformats-package.relationships+xml"/>
  <Override PartName="/ppt/slides/_rels/slide33.xml.rels" ContentType="application/vnd.openxmlformats-package.relationships+xml"/>
  <Override PartName="/ppt/slides/_rels/slide32.xml.rels" ContentType="application/vnd.openxmlformats-package.relationships+xml"/>
  <Override PartName="/ppt/slides/_rels/slide22.xml.rels" ContentType="application/vnd.openxmlformats-package.relationships+xml"/>
  <Override PartName="/ppt/slides/_rels/slide5.xml.rels" ContentType="application/vnd.openxmlformats-package.relationships+xml"/>
  <Override PartName="/ppt/slides/_rels/slide31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slides/_rels/slide28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27.xml.rels" ContentType="application/vnd.openxmlformats-package.relationships+xml"/>
  <Override PartName="/ppt/slides/_rels/slide6.xml.rels" ContentType="application/vnd.openxmlformats-package.relationships+xml"/>
  <Override PartName="/ppt/slides/_rels/slide23.xml.rels" ContentType="application/vnd.openxmlformats-package.relationships+xml"/>
  <Override PartName="/ppt/slides/_rels/slide35.xml.rels" ContentType="application/vnd.openxmlformats-package.relationships+xml"/>
  <Override PartName="/ppt/slides/_rels/slide36.xml.rels" ContentType="application/vnd.openxmlformats-package.relationships+xml"/>
  <Override PartName="/ppt/slides/_rels/slide1.xml.rels" ContentType="application/vnd.openxmlformats-package.relationships+xml"/>
  <Override PartName="/ppt/slides/_rels/slide19.xml.rels" ContentType="application/vnd.openxmlformats-package.relationships+xml"/>
  <Override PartName="/ppt/slides/_rels/slide12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18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26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25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13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22.xml" ContentType="application/vnd.openxmlformats-officedocument.presentationml.slide+xml"/>
  <Override PartName="/ppt/slides/slide34.xml" ContentType="application/vnd.openxmlformats-officedocument.presentationml.slide+xml"/>
  <Override PartName="/ppt/slides/slide23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35.xml" ContentType="application/vnd.openxmlformats-officedocument.presentationml.slide+xml"/>
  <Override PartName="/ppt/slides/slide24.xml" ContentType="application/vnd.openxmlformats-officedocument.presentationml.slide+xml"/>
  <Override PartName="/ppt/slides/slide36.xml" ContentType="application/vnd.openxmlformats-officedocument.presentationml.slide+xml"/>
  <Override PartName="/ppt/slides/slide12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notesSlides/_rels/notesSlide11.xml.rels" ContentType="application/vnd.openxmlformats-package.relationships+xml"/>
  <Override PartName="/ppt/notesSlides/notesSlide1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</p:sldIdLst>
  <p:sldSz cx="9144000" cy="6858000"/>
  <p:notesSz cx="6624638" cy="981075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"/>
          <p:cNvSpPr/>
          <p:nvPr/>
        </p:nvSpPr>
        <p:spPr>
          <a:xfrm>
            <a:off x="0" y="0"/>
            <a:ext cx="6624000" cy="9810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1"/>
          <p:cNvSpPr>
            <a:spLocks noGrp="1"/>
          </p:cNvSpPr>
          <p:nvPr>
            <p:ph type="hdr"/>
          </p:nvPr>
        </p:nvSpPr>
        <p:spPr>
          <a:xfrm>
            <a:off x="-360" y="0"/>
            <a:ext cx="289548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dt" idx="4"/>
          </p:nvPr>
        </p:nvSpPr>
        <p:spPr>
          <a:xfrm>
            <a:off x="3733560" y="0"/>
            <a:ext cx="289548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sldImg"/>
          </p:nvPr>
        </p:nvSpPr>
        <p:spPr>
          <a:xfrm>
            <a:off x="837720" y="762120"/>
            <a:ext cx="4876920" cy="365760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Click to move the slide</a:t>
            </a:r>
            <a:endParaRPr b="0" lang="en-US" sz="4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body"/>
          </p:nvPr>
        </p:nvSpPr>
        <p:spPr>
          <a:xfrm>
            <a:off x="914040" y="4648320"/>
            <a:ext cx="4800600" cy="4419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Click to edit the notes format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ftr" idx="5"/>
          </p:nvPr>
        </p:nvSpPr>
        <p:spPr>
          <a:xfrm>
            <a:off x="-360" y="9296280"/>
            <a:ext cx="2895480" cy="533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sldNum" idx="6"/>
          </p:nvPr>
        </p:nvSpPr>
        <p:spPr>
          <a:xfrm>
            <a:off x="3733560" y="9296280"/>
            <a:ext cx="2895480" cy="533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fr-FR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2547DBE-6B21-410F-8BD8-688A8002BA43}" type="slidenum"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Rectangle 7"/>
          <p:cNvSpPr/>
          <p:nvPr/>
        </p:nvSpPr>
        <p:spPr>
          <a:xfrm>
            <a:off x="3733920" y="9296280"/>
            <a:ext cx="2895480" cy="53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928AAF8-9EB7-464A-A7C4-FFE56F334375}" type="slidenum">
              <a:rPr b="0" lang="fr-FR" sz="12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01" name="PlaceHolder 1"/>
          <p:cNvSpPr>
            <a:spLocks noGrp="1"/>
          </p:cNvSpPr>
          <p:nvPr>
            <p:ph type="sldImg"/>
          </p:nvPr>
        </p:nvSpPr>
        <p:spPr>
          <a:xfrm>
            <a:off x="858960" y="735120"/>
            <a:ext cx="4905360" cy="3679560"/>
          </a:xfrm>
          <a:prstGeom prst="rect">
            <a:avLst/>
          </a:prstGeom>
          <a:ln w="0">
            <a:noFill/>
          </a:ln>
        </p:spPr>
      </p:sp>
      <p:sp>
        <p:nvSpPr>
          <p:cNvPr id="402" name="PlaceHolder 2"/>
          <p:cNvSpPr>
            <a:spLocks noGrp="1"/>
          </p:cNvSpPr>
          <p:nvPr>
            <p:ph type="body"/>
          </p:nvPr>
        </p:nvSpPr>
        <p:spPr>
          <a:xfrm>
            <a:off x="882720" y="4659120"/>
            <a:ext cx="4857840" cy="441468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A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DÉRIVATION DES VALEURS DE CETTE DIAPO: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A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0.43%/an*20=8.6% pour 20 ans…..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A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Dans le fichier Excel regroupant toutes les donnée, la moyenne des 82 pays, tous les âges et genres est de 10.5 km/h:  -8.6%=(-X*100)/10.5; alors X=0.9 km/h pour 20 ans 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A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Et l’âge moyen des 6 à 19 ans étant de 12.5 ans,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A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VO2max= 31.025+3.238*10.5-3.248*12.5+0.1536*12.5*10.5=44.58 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A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Et –0.086*44.58=3.84 ml o2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A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Ensuite comme 4 à 22 % représentent 8.6/4=2.15 fois moins et 22//8.6=2.5 fois plus que la moyenne 8.6, les valeurs de 0.9 et 3.84 furent divisées par 2.15 (=0.42 et 1.79) ou multipliées par 2.5 (=2.3 et 9.82)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2603354-C419-46D4-906D-C19FB6AD82D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3333cc"/>
            </a:gs>
            <a:gs pos="100000">
              <a:srgbClr val="000000"/>
            </a:gs>
          </a:gsLst>
          <a:path path="rect">
            <a:fillToRect l="50000" t="50000" r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Click to edit the title text format</a:t>
            </a:r>
            <a:endParaRPr b="0" lang="en-US" sz="4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85800" y="19810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lnSpcReduction="9999"/>
          </a:bodyPr>
          <a:p>
            <a:pPr marL="343080" indent="-343080">
              <a:spcBef>
                <a:spcPts val="799"/>
              </a:spcBef>
              <a:buClr>
                <a:srgbClr val="ffff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Click to edit the outline text format</a:t>
            </a:r>
            <a:endParaRPr b="0" lang="en-US" sz="3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lvl="1" marL="743040" indent="-285840">
              <a:spcBef>
                <a:spcPts val="799"/>
              </a:spcBef>
              <a:buClr>
                <a:srgbClr val="ffff00"/>
              </a:buClr>
              <a:buFont typeface="Times New Roman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Second Outline Level</a:t>
            </a:r>
            <a:endParaRPr b="0" lang="en-US" sz="3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lvl="2" marL="1143000" indent="-228600">
              <a:spcBef>
                <a:spcPts val="799"/>
              </a:spcBef>
              <a:buClr>
                <a:srgbClr val="ffff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Third Outline Level</a:t>
            </a:r>
            <a:endParaRPr b="0" lang="en-US" sz="3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lvl="3" marL="1600200" indent="-228600">
              <a:spcBef>
                <a:spcPts val="799"/>
              </a:spcBef>
              <a:buClr>
                <a:srgbClr val="ffff00"/>
              </a:buClr>
              <a:buFont typeface="Times New Roman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Fourth Outline Level</a:t>
            </a:r>
            <a:endParaRPr b="0" lang="en-US" sz="3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lvl="4" marL="2057400" indent="-228600">
              <a:spcBef>
                <a:spcPts val="799"/>
              </a:spcBef>
              <a:buClr>
                <a:srgbClr val="ffff00"/>
              </a:buClr>
              <a:buFont typeface="Times New Roman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Fifth Outline Level</a:t>
            </a:r>
            <a:endParaRPr b="0" lang="en-US" sz="3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lvl="5" marL="2057400" indent="-228600">
              <a:spcBef>
                <a:spcPts val="799"/>
              </a:spcBef>
              <a:buClr>
                <a:srgbClr val="ffff00"/>
              </a:buClr>
              <a:buFont typeface="Times New Roman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Sixth Outline Level</a:t>
            </a:r>
            <a:endParaRPr b="0" lang="en-US" sz="3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lvl="6" marL="2057400" indent="-228600">
              <a:spcBef>
                <a:spcPts val="799"/>
              </a:spcBef>
              <a:buClr>
                <a:srgbClr val="ffff00"/>
              </a:buClr>
              <a:buFont typeface="Times New Roman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Seventh Outline Level</a:t>
            </a:r>
            <a:endParaRPr b="0" lang="en-US" sz="3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33B496C-9B4B-4ED6-B58E-73BB96F79B37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hyperlink" Target="mailto:areaps33@gmail.com" TargetMode="External"/><Relationship Id="rId5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package" Target="../embeddings/oleObject1.xlsx"/><Relationship Id="rId2" Type="http://schemas.openxmlformats.org/officeDocument/2006/relationships/image" Target="../media/image5.wmf"/><Relationship Id="rId3" Type="http://schemas.openxmlformats.org/officeDocument/2006/relationships/package" Target="../embeddings/oleObject2.xlsx"/><Relationship Id="rId4" Type="http://schemas.openxmlformats.org/officeDocument/2006/relationships/image" Target="../media/image6.wmf"/><Relationship Id="rId5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package" Target="../embeddings/oleObject1.xlsx"/><Relationship Id="rId2" Type="http://schemas.openxmlformats.org/officeDocument/2006/relationships/image" Target="../media/image7.png"/><Relationship Id="rId3" Type="http://schemas.openxmlformats.org/officeDocument/2006/relationships/package" Target="../embeddings/oleObject2.xlsx"/><Relationship Id="rId4" Type="http://schemas.openxmlformats.org/officeDocument/2006/relationships/image" Target="../media/image8.wmf"/><Relationship Id="rId5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 2"/>
          <p:cNvSpPr/>
          <p:nvPr/>
        </p:nvSpPr>
        <p:spPr>
          <a:xfrm>
            <a:off x="2787120" y="1052640"/>
            <a:ext cx="5941440" cy="1848960"/>
          </a:xfrm>
          <a:prstGeom prst="rect">
            <a:avLst/>
          </a:prstGeom>
          <a:noFill/>
          <a:ln w="2844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6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L’ÉCOLE, LA CONDİTİON PHYSİQUE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6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ET LA SANTÉ DE L’ENFANT 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6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ET DE L’ADOLESCENT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Text Box 3"/>
          <p:cNvSpPr/>
          <p:nvPr/>
        </p:nvSpPr>
        <p:spPr>
          <a:xfrm>
            <a:off x="1709640" y="3645000"/>
            <a:ext cx="3134160" cy="94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Georges CAZORLA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sng">
                <a:solidFill>
                  <a:srgbClr val="ffff00"/>
                </a:solidFill>
                <a:effectLst/>
                <a:uFillTx/>
                <a:latin typeface="Bookman Old Style"/>
              </a:rPr>
              <a:t>cazorlageorges@gmail.com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4" name="Picture 4" descr="photo8"/>
          <p:cNvPicPr/>
          <p:nvPr/>
        </p:nvPicPr>
        <p:blipFill>
          <a:blip r:embed="rId1"/>
          <a:srcRect l="0" t="5533" r="0" b="0"/>
          <a:stretch/>
        </p:blipFill>
        <p:spPr>
          <a:xfrm>
            <a:off x="533520" y="457200"/>
            <a:ext cx="2057400" cy="2971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" name="Picture 5" descr="photo6"/>
          <p:cNvPicPr/>
          <p:nvPr/>
        </p:nvPicPr>
        <p:blipFill>
          <a:blip r:embed="rId2"/>
          <a:srcRect l="12843" t="19006" r="21588" b="13100"/>
          <a:stretch/>
        </p:blipFill>
        <p:spPr>
          <a:xfrm>
            <a:off x="6684840" y="3429000"/>
            <a:ext cx="2140200" cy="3276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" name="ZoneTexte 1"/>
          <p:cNvSpPr/>
          <p:nvPr/>
        </p:nvSpPr>
        <p:spPr>
          <a:xfrm>
            <a:off x="3504960" y="333360"/>
            <a:ext cx="450612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fr-FR" sz="2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Conférence Sorbonne Février 2003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7" name="Image 5" descr=""/>
          <p:cNvPicPr/>
          <p:nvPr/>
        </p:nvPicPr>
        <p:blipFill>
          <a:blip r:embed="rId3"/>
          <a:srcRect l="0" t="19565" r="74963" b="63428"/>
          <a:stretch/>
        </p:blipFill>
        <p:spPr>
          <a:xfrm>
            <a:off x="2050920" y="4927680"/>
            <a:ext cx="2157480" cy="823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" name="Rectangle 6"/>
          <p:cNvSpPr/>
          <p:nvPr/>
        </p:nvSpPr>
        <p:spPr>
          <a:xfrm>
            <a:off x="-708840" y="5877720"/>
            <a:ext cx="812232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53118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1400" strike="noStrike" u="none">
                <a:solidFill>
                  <a:srgbClr val="ffffff"/>
                </a:solidFill>
                <a:effectLst/>
                <a:uFillTx/>
                <a:latin typeface="Calibri"/>
                <a:ea typeface="Times New Roman"/>
              </a:rPr>
              <a:t>Association pour la Recherche et l’Évaluation en Activité Physique et en Sport 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53118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400" strike="noStrike" u="sng">
                <a:solidFill>
                  <a:srgbClr val="ccccff"/>
                </a:solidFill>
                <a:effectLst/>
                <a:uFillTx/>
                <a:latin typeface="Calibri"/>
                <a:ea typeface="Times New Roman"/>
                <a:hlinkClick r:id="rId4"/>
              </a:rPr>
              <a:t>areaps33@gmail.com</a:t>
            </a:r>
            <a:r>
              <a:rPr b="1" i="1" lang="fr-FR" sz="1400" strike="noStrike" u="none">
                <a:solidFill>
                  <a:srgbClr val="ffffff"/>
                </a:solidFill>
                <a:effectLst/>
                <a:uFillTx/>
                <a:latin typeface="Calibri"/>
                <a:ea typeface="Times New Roman"/>
              </a:rPr>
              <a:t>    Web : areaps.org 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Box 4"/>
          <p:cNvSpPr/>
          <p:nvPr/>
        </p:nvSpPr>
        <p:spPr>
          <a:xfrm>
            <a:off x="366840" y="1125360"/>
            <a:ext cx="9029520" cy="350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Contrairement à la première conclusion de </a:t>
            </a:r>
            <a:endParaRPr b="0" lang="en-US" sz="2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Molnar et Livingstone (2000) qui affirmaient :</a:t>
            </a:r>
            <a:endParaRPr b="0" lang="en-US" sz="2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« There are no scienttific data to prove a </a:t>
            </a:r>
            <a:endParaRPr b="0" lang="en-US" sz="2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decreasing secular trend in the physical </a:t>
            </a:r>
            <a:endParaRPr b="0" lang="en-US" sz="2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activity children »</a:t>
            </a:r>
            <a:r>
              <a:rPr b="1" lang="fr-FR" sz="28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 </a:t>
            </a:r>
            <a:endParaRPr b="0" lang="en-US" sz="2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nos travaux tendent à démontrer le contraire.</a:t>
            </a:r>
            <a:endParaRPr b="0" lang="en-US" sz="2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nodeType="clickEffect" fill="hold">
                      <p:stCondLst>
                        <p:cond delay="0"/>
                      </p:stCondLst>
                      <p:childTnLst>
                        <p:par>
                          <p:cTn id="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afterEffect" fill="hold" presetClass="entr" presetID="9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Box 2"/>
          <p:cNvSpPr/>
          <p:nvPr/>
        </p:nvSpPr>
        <p:spPr>
          <a:xfrm>
            <a:off x="592200" y="2367000"/>
            <a:ext cx="7983720" cy="173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5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Où en est le niveau d’activité physique (NAP) 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5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des enfants dans le monde (…) et comment a-t-il 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5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évolué au cours des dernières années ?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Box 2"/>
          <p:cNvSpPr/>
          <p:nvPr/>
        </p:nvSpPr>
        <p:spPr>
          <a:xfrm>
            <a:off x="1374120" y="609480"/>
            <a:ext cx="642924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DES DIFFICULTÉS MÉTHOLOGIQUES…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Text Box 3"/>
          <p:cNvSpPr/>
          <p:nvPr/>
        </p:nvSpPr>
        <p:spPr>
          <a:xfrm>
            <a:off x="138600" y="3394080"/>
            <a:ext cx="2454480" cy="82548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Un consensus 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impossible !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Line 4"/>
          <p:cNvSpPr/>
          <p:nvPr/>
        </p:nvSpPr>
        <p:spPr>
          <a:xfrm flipV="1">
            <a:off x="2590920" y="2514240"/>
            <a:ext cx="914400" cy="1219320"/>
          </a:xfrm>
          <a:prstGeom prst="line">
            <a:avLst/>
          </a:prstGeom>
          <a:ln w="2844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Text Box 5"/>
          <p:cNvSpPr/>
          <p:nvPr/>
        </p:nvSpPr>
        <p:spPr>
          <a:xfrm>
            <a:off x="3501000" y="1905120"/>
            <a:ext cx="5179320" cy="100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De nombreux pays, voire des continents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entiers, ont actuellement d’autres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préoccupations prioritaires…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Line 6"/>
          <p:cNvSpPr/>
          <p:nvPr/>
        </p:nvSpPr>
        <p:spPr>
          <a:xfrm flipV="1">
            <a:off x="2590920" y="3505320"/>
            <a:ext cx="914400" cy="304560"/>
          </a:xfrm>
          <a:prstGeom prst="line">
            <a:avLst/>
          </a:prstGeom>
          <a:ln w="2844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Text Box 7"/>
          <p:cNvSpPr/>
          <p:nvPr/>
        </p:nvSpPr>
        <p:spPr>
          <a:xfrm>
            <a:off x="3483360" y="4327560"/>
            <a:ext cx="5452560" cy="131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Nombreuses publications sur les effets de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l’ A.P. sur la santé, sur la prévention du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surpoids et de l’obésité, mais très peu sur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sng">
                <a:solidFill>
                  <a:srgbClr val="ffffff"/>
                </a:solidFill>
                <a:effectLst/>
                <a:uFillTx/>
                <a:latin typeface="Bookman Old Style"/>
              </a:rPr>
              <a:t>l’évolution</a:t>
            </a:r>
            <a:r>
              <a:rPr b="0" lang="fr-FR" sz="2000" strike="noStrike" u="sng">
                <a:solidFill>
                  <a:srgbClr val="ffffff"/>
                </a:solidFill>
                <a:effectLst/>
                <a:uFillTx/>
                <a:latin typeface="Bookman Old Style"/>
              </a:rPr>
              <a:t> du NAP</a:t>
            </a: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Line 8"/>
          <p:cNvSpPr/>
          <p:nvPr/>
        </p:nvSpPr>
        <p:spPr>
          <a:xfrm>
            <a:off x="2590920" y="3886200"/>
            <a:ext cx="914400" cy="2133720"/>
          </a:xfrm>
          <a:prstGeom prst="line">
            <a:avLst/>
          </a:prstGeom>
          <a:ln w="2844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Text Box 9"/>
          <p:cNvSpPr/>
          <p:nvPr/>
        </p:nvSpPr>
        <p:spPr>
          <a:xfrm>
            <a:off x="3483720" y="5851440"/>
            <a:ext cx="5564520" cy="70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Techniques très différentes pour évaluer le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NAP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Line 10"/>
          <p:cNvSpPr/>
          <p:nvPr/>
        </p:nvSpPr>
        <p:spPr>
          <a:xfrm>
            <a:off x="2590920" y="3809880"/>
            <a:ext cx="914400" cy="762120"/>
          </a:xfrm>
          <a:prstGeom prst="line">
            <a:avLst/>
          </a:prstGeom>
          <a:ln w="2844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Text Box 11"/>
          <p:cNvSpPr/>
          <p:nvPr/>
        </p:nvSpPr>
        <p:spPr>
          <a:xfrm>
            <a:off x="3485520" y="3124080"/>
            <a:ext cx="5316840" cy="100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Des confusions au niveau des concepts :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activité physique, exercice physique et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condition physique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Box 2"/>
          <p:cNvSpPr/>
          <p:nvPr/>
        </p:nvSpPr>
        <p:spPr>
          <a:xfrm>
            <a:off x="533520" y="1203480"/>
            <a:ext cx="8456400" cy="131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L’activité physique</a:t>
            </a: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 peut être définie comme : « tout mouvement du corps, produit par les muscles squelettiques et qui entraîne une dépense d’énergie au dessus de la dépense de base »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fr-FR" sz="20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Molnar et Livingstone. Eur J  Pediatr (2000) 159: [Suppl] S45-S55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Text Box 3"/>
          <p:cNvSpPr/>
          <p:nvPr/>
        </p:nvSpPr>
        <p:spPr>
          <a:xfrm>
            <a:off x="533520" y="4479840"/>
            <a:ext cx="7940520" cy="253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La condition physique</a:t>
            </a: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 </a:t>
            </a: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relève habituellement d’un ensemble de qualités dont les unes sont associées à la neuro-motricité : l’agilité, l’équilibre, la coordination, le temps de réaction et la vitesse,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et les autres à la santé : condition cardiorespiratoire, capacité aérobie, souplesse, force, puissance et endurance musculaires </a:t>
            </a:r>
            <a:r>
              <a:rPr b="0" i="1" lang="fr-FR" sz="2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                              </a:t>
            </a:r>
            <a:r>
              <a:rPr b="0" i="1" lang="fr-FR" sz="2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	</a:t>
            </a:r>
            <a:r>
              <a:rPr b="0" i="1" lang="fr-FR" sz="2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	</a:t>
            </a:r>
            <a:r>
              <a:rPr b="0" i="1" lang="fr-FR" sz="2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	</a:t>
            </a:r>
            <a:r>
              <a:rPr b="0" i="1" lang="fr-FR" sz="20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Pate et Shepard, (1989)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Text Box 4"/>
          <p:cNvSpPr/>
          <p:nvPr/>
        </p:nvSpPr>
        <p:spPr>
          <a:xfrm>
            <a:off x="533520" y="2955960"/>
            <a:ext cx="7940520" cy="100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L’exercice</a:t>
            </a: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 </a:t>
            </a: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n’est qu’un des éléments de l’activité physique.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Il peut être planifié, structuré, répété et s’exprime en terme de durée et d’intensité.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Text Box 5"/>
          <p:cNvSpPr/>
          <p:nvPr/>
        </p:nvSpPr>
        <p:spPr>
          <a:xfrm>
            <a:off x="1452960" y="223920"/>
            <a:ext cx="617472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Des définitions qui s’imposent…</a:t>
            </a:r>
            <a:endParaRPr b="0" lang="en-US" sz="2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8" dur="indefinite" restart="never" nodeType="tmRoot">
          <p:childTnLst>
            <p:seq>
              <p:cTn id="9" dur="indefinite" nodeType="mainSeq">
                <p:childTnLst>
                  <p:par>
                    <p:cTn id="10" nodeType="clickEffect" fill="hold">
                      <p:stCondLst>
                        <p:cond delay="0"/>
                      </p:stCondLst>
                      <p:childTnLst>
                        <p:par>
                          <p:cTn id="1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2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nodeType="afterEffect" fill="hold" presetClass="entr" presetID="9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nodeType="clickEffect" fill="hold">
                      <p:stCondLst>
                        <p:cond delay="indefinite"/>
                      </p:stCondLst>
                      <p:childTnLst>
                        <p:par>
                          <p:cTn id="2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1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nodeType="clickEffect" fill="hold">
                      <p:stCondLst>
                        <p:cond delay="indefinite"/>
                      </p:stCondLst>
                      <p:childTnLst>
                        <p:par>
                          <p:cTn id="2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6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Box 2"/>
          <p:cNvSpPr/>
          <p:nvPr/>
        </p:nvSpPr>
        <p:spPr>
          <a:xfrm>
            <a:off x="304920" y="1447920"/>
            <a:ext cx="8762760" cy="518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marL="293760" indent="-29376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1) CHARGES EXTERNES 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293760" indent="-29376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293760" indent="-293760">
              <a:lnSpc>
                <a:spcPct val="100000"/>
              </a:lnSpc>
              <a:buClr>
                <a:srgbClr val="ffffff"/>
              </a:buClr>
              <a:buFont typeface="Arial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Observation directe (crayon-papier… caméscope, logiciels spécifiques,   ordinateur… )</a:t>
            </a:r>
            <a:r>
              <a:rPr b="0" i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293760" indent="-293760">
              <a:lnSpc>
                <a:spcPct val="100000"/>
              </a:lnSpc>
              <a:buClr>
                <a:srgbClr val="ffffff"/>
              </a:buClr>
              <a:buFont typeface="Arial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Capteurs de mouvements</a:t>
            </a:r>
            <a:r>
              <a:rPr b="0" i="1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, </a:t>
            </a: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podomètre, accéléromètre (Caltrac, Tritrac),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293760" indent="-293760">
              <a:lnSpc>
                <a:spcPct val="100000"/>
              </a:lnSpc>
              <a:buClr>
                <a:srgbClr val="ffffff"/>
              </a:buClr>
              <a:buFont typeface="Arial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Questionnaires, enquêtes, auto-évaluations (Aquitaine-Eval, Bien manger, Bien bouger),</a:t>
            </a: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293760" indent="-293760">
              <a:lnSpc>
                <a:spcPct val="100000"/>
              </a:lnSpc>
              <a:buClr>
                <a:srgbClr val="ffffff"/>
              </a:buClr>
              <a:buFont typeface="Arial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Et aujourd’hui GPS…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293760" indent="-29376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293760" indent="-29376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2) CHARGES INTERNES (mesures physiologiques)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293760" indent="-29376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293760" indent="-293760">
              <a:lnSpc>
                <a:spcPct val="100000"/>
              </a:lnSpc>
              <a:buClr>
                <a:srgbClr val="ffffff"/>
              </a:buClr>
              <a:buFont typeface="Arial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Cardio-fréquencemètre, eau doublement marquée</a:t>
            </a: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,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293760" indent="-293760">
              <a:lnSpc>
                <a:spcPct val="100000"/>
              </a:lnSpc>
              <a:buClr>
                <a:srgbClr val="ffffff"/>
              </a:buClr>
              <a:buFont typeface="Arial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293760" indent="-29376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3) VALIDATION INTER-TECHNIQUES : Charges externes-charges internes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293760" indent="-29376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293760" indent="-293760"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(cf. Kohl et al., 2000,Preventive Medicine 31, S54-S76). 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Text Box 3"/>
          <p:cNvSpPr/>
          <p:nvPr/>
        </p:nvSpPr>
        <p:spPr>
          <a:xfrm>
            <a:off x="79200" y="255600"/>
            <a:ext cx="9107640" cy="94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Des disparités dans les techniques pour évaluer </a:t>
            </a:r>
            <a:endParaRPr b="0" lang="en-US" sz="2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le niveau d’activité physique (NAP)…</a:t>
            </a:r>
            <a:endParaRPr b="0" lang="en-US" sz="2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2"/>
          <p:cNvSpPr/>
          <p:nvPr/>
        </p:nvSpPr>
        <p:spPr>
          <a:xfrm>
            <a:off x="376200" y="2349360"/>
            <a:ext cx="8391960" cy="155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5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2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I- EVOLUTION DANS QUELQUES PAYS </a:t>
            </a:r>
            <a:endParaRPr b="0" lang="en-US" sz="3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5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2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A TRAVERS LE MONDE…</a:t>
            </a:r>
            <a:endParaRPr b="0" lang="en-US" sz="3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9" dur="indefinite" restart="never" nodeType="tmRoot">
          <p:childTnLst>
            <p:seq>
              <p:cTn id="30" dur="indefinite" nodeType="mainSeq">
                <p:childTnLst>
                  <p:par>
                    <p:cTn id="31" nodeType="clickEffect" fill="hold">
                      <p:stCondLst>
                        <p:cond delay="indefinite"/>
                      </p:stCondLst>
                      <p:childTnLst>
                        <p:par>
                          <p:cTn id="3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3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Box 2"/>
          <p:cNvSpPr/>
          <p:nvPr/>
        </p:nvSpPr>
        <p:spPr>
          <a:xfrm>
            <a:off x="1066680" y="380880"/>
            <a:ext cx="7391520" cy="155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Et faute d’études traitant de </a:t>
            </a:r>
            <a:r>
              <a:rPr b="1" lang="fr-FR" sz="2400" strike="noStrike" u="sng">
                <a:solidFill>
                  <a:srgbClr val="ffffff"/>
                </a:solidFill>
                <a:effectLst/>
                <a:uFillTx/>
                <a:latin typeface="Bookman Old Style"/>
              </a:rPr>
              <a:t>l’évolution du NAP</a:t>
            </a: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 des enfants…dans le monde, nous avons retenu deux critères qui peuvent témoigner de cette évolution :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Text Box 3"/>
          <p:cNvSpPr/>
          <p:nvPr/>
        </p:nvSpPr>
        <p:spPr>
          <a:xfrm>
            <a:off x="598680" y="2732040"/>
            <a:ext cx="7459560" cy="70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buClr>
                <a:srgbClr val="ffffff"/>
              </a:buClr>
              <a:buFont typeface="Wingdings" charset="2"/>
              <a:buChar char="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  Un critère de performance : courses de distances entre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     400 et 1600m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Text Box 4"/>
          <p:cNvSpPr/>
          <p:nvPr/>
        </p:nvSpPr>
        <p:spPr>
          <a:xfrm>
            <a:off x="603000" y="3875040"/>
            <a:ext cx="6660360" cy="70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buClr>
                <a:srgbClr val="ffffff"/>
              </a:buClr>
              <a:buFont typeface="Wingdings" charset="2"/>
              <a:buChar char="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  et un critère de condition physique lié à la santé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     : </a:t>
            </a: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la capacité aérobie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Line 2"/>
          <p:cNvSpPr/>
          <p:nvPr/>
        </p:nvSpPr>
        <p:spPr>
          <a:xfrm>
            <a:off x="2819520" y="1371600"/>
            <a:ext cx="0" cy="4724280"/>
          </a:xfrm>
          <a:prstGeom prst="line">
            <a:avLst/>
          </a:prstGeom>
          <a:ln w="381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Line 3"/>
          <p:cNvSpPr/>
          <p:nvPr/>
        </p:nvSpPr>
        <p:spPr>
          <a:xfrm>
            <a:off x="2819520" y="6095880"/>
            <a:ext cx="6324480" cy="0"/>
          </a:xfrm>
          <a:prstGeom prst="line">
            <a:avLst/>
          </a:prstGeom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Text Box 4"/>
          <p:cNvSpPr/>
          <p:nvPr/>
        </p:nvSpPr>
        <p:spPr>
          <a:xfrm>
            <a:off x="2713680" y="6019920"/>
            <a:ext cx="637308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                             I                              I                              I                              I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0                      0.5                       1                        1.5                       2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Rectangle 5"/>
          <p:cNvSpPr/>
          <p:nvPr/>
        </p:nvSpPr>
        <p:spPr>
          <a:xfrm>
            <a:off x="2819520" y="1523880"/>
            <a:ext cx="3352680" cy="152640"/>
          </a:xfrm>
          <a:prstGeom prst="rect">
            <a:avLst/>
          </a:prstGeom>
          <a:gradFill rotWithShape="0">
            <a:gsLst>
              <a:gs pos="0">
                <a:srgbClr val="384146"/>
              </a:gs>
              <a:gs pos="50000">
                <a:srgbClr val="ccecff"/>
              </a:gs>
              <a:gs pos="100000">
                <a:srgbClr val="384146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Line 6"/>
          <p:cNvSpPr/>
          <p:nvPr/>
        </p:nvSpPr>
        <p:spPr>
          <a:xfrm flipV="1">
            <a:off x="4343400" y="1447560"/>
            <a:ext cx="0" cy="4647960"/>
          </a:xfrm>
          <a:prstGeom prst="line">
            <a:avLst/>
          </a:prstGeom>
          <a:ln w="9360">
            <a:solidFill>
              <a:srgbClr val="cccc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Line 7"/>
          <p:cNvSpPr/>
          <p:nvPr/>
        </p:nvSpPr>
        <p:spPr>
          <a:xfrm flipV="1">
            <a:off x="5867280" y="1447560"/>
            <a:ext cx="0" cy="4647960"/>
          </a:xfrm>
          <a:prstGeom prst="line">
            <a:avLst/>
          </a:prstGeom>
          <a:ln w="9360">
            <a:solidFill>
              <a:srgbClr val="cccc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Line 8"/>
          <p:cNvSpPr/>
          <p:nvPr/>
        </p:nvSpPr>
        <p:spPr>
          <a:xfrm flipV="1">
            <a:off x="7391520" y="1371240"/>
            <a:ext cx="0" cy="4724280"/>
          </a:xfrm>
          <a:prstGeom prst="line">
            <a:avLst/>
          </a:prstGeom>
          <a:ln w="9360">
            <a:solidFill>
              <a:srgbClr val="cccc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Line 9"/>
          <p:cNvSpPr/>
          <p:nvPr/>
        </p:nvSpPr>
        <p:spPr>
          <a:xfrm flipV="1">
            <a:off x="8915400" y="1371240"/>
            <a:ext cx="0" cy="4724280"/>
          </a:xfrm>
          <a:prstGeom prst="line">
            <a:avLst/>
          </a:prstGeom>
          <a:ln w="9360">
            <a:solidFill>
              <a:srgbClr val="cccc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Rectangle 10"/>
          <p:cNvSpPr/>
          <p:nvPr/>
        </p:nvSpPr>
        <p:spPr>
          <a:xfrm>
            <a:off x="2819520" y="1676520"/>
            <a:ext cx="914400" cy="152280"/>
          </a:xfrm>
          <a:prstGeom prst="rect">
            <a:avLst/>
          </a:prstGeom>
          <a:gradFill rotWithShape="0">
            <a:gsLst>
              <a:gs pos="0">
                <a:srgbClr val="555500"/>
              </a:gs>
              <a:gs pos="50000">
                <a:srgbClr val="ffff00"/>
              </a:gs>
              <a:gs pos="100000">
                <a:srgbClr val="555500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Rectangle 11"/>
          <p:cNvSpPr/>
          <p:nvPr/>
        </p:nvSpPr>
        <p:spPr>
          <a:xfrm>
            <a:off x="2819520" y="1981080"/>
            <a:ext cx="4572000" cy="152640"/>
          </a:xfrm>
          <a:prstGeom prst="rect">
            <a:avLst/>
          </a:prstGeom>
          <a:gradFill rotWithShape="0">
            <a:gsLst>
              <a:gs pos="0">
                <a:srgbClr val="384146"/>
              </a:gs>
              <a:gs pos="50000">
                <a:srgbClr val="ccecff"/>
              </a:gs>
              <a:gs pos="100000">
                <a:srgbClr val="384146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Rectangle 12"/>
          <p:cNvSpPr/>
          <p:nvPr/>
        </p:nvSpPr>
        <p:spPr>
          <a:xfrm>
            <a:off x="2819520" y="2133720"/>
            <a:ext cx="1295280" cy="152280"/>
          </a:xfrm>
          <a:prstGeom prst="rect">
            <a:avLst/>
          </a:prstGeom>
          <a:gradFill rotWithShape="0">
            <a:gsLst>
              <a:gs pos="0">
                <a:srgbClr val="555500"/>
              </a:gs>
              <a:gs pos="50000">
                <a:srgbClr val="ffff00"/>
              </a:gs>
              <a:gs pos="100000">
                <a:srgbClr val="555500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Rectangle 13"/>
          <p:cNvSpPr/>
          <p:nvPr/>
        </p:nvSpPr>
        <p:spPr>
          <a:xfrm>
            <a:off x="2819520" y="2590920"/>
            <a:ext cx="2286000" cy="152280"/>
          </a:xfrm>
          <a:prstGeom prst="rect">
            <a:avLst/>
          </a:prstGeom>
          <a:gradFill rotWithShape="0">
            <a:gsLst>
              <a:gs pos="0">
                <a:srgbClr val="555500"/>
              </a:gs>
              <a:gs pos="50000">
                <a:srgbClr val="ffff00"/>
              </a:gs>
              <a:gs pos="100000">
                <a:srgbClr val="555500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Rectangle 14"/>
          <p:cNvSpPr/>
          <p:nvPr/>
        </p:nvSpPr>
        <p:spPr>
          <a:xfrm>
            <a:off x="2819520" y="2438280"/>
            <a:ext cx="5867280" cy="152640"/>
          </a:xfrm>
          <a:prstGeom prst="rect">
            <a:avLst/>
          </a:prstGeom>
          <a:gradFill rotWithShape="0">
            <a:gsLst>
              <a:gs pos="0">
                <a:srgbClr val="384146"/>
              </a:gs>
              <a:gs pos="50000">
                <a:srgbClr val="ccecff"/>
              </a:gs>
              <a:gs pos="100000">
                <a:srgbClr val="384146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Rectangle 15"/>
          <p:cNvSpPr/>
          <p:nvPr/>
        </p:nvSpPr>
        <p:spPr>
          <a:xfrm>
            <a:off x="2819520" y="2895480"/>
            <a:ext cx="4190760" cy="152640"/>
          </a:xfrm>
          <a:prstGeom prst="rect">
            <a:avLst/>
          </a:prstGeom>
          <a:gradFill rotWithShape="0">
            <a:gsLst>
              <a:gs pos="0">
                <a:srgbClr val="384146"/>
              </a:gs>
              <a:gs pos="50000">
                <a:srgbClr val="ccecff"/>
              </a:gs>
              <a:gs pos="100000">
                <a:srgbClr val="384146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Rectangle 16"/>
          <p:cNvSpPr/>
          <p:nvPr/>
        </p:nvSpPr>
        <p:spPr>
          <a:xfrm>
            <a:off x="2819520" y="3048120"/>
            <a:ext cx="2590560" cy="152280"/>
          </a:xfrm>
          <a:prstGeom prst="rect">
            <a:avLst/>
          </a:prstGeom>
          <a:gradFill rotWithShape="0">
            <a:gsLst>
              <a:gs pos="0">
                <a:srgbClr val="555500"/>
              </a:gs>
              <a:gs pos="50000">
                <a:srgbClr val="ffff00"/>
              </a:gs>
              <a:gs pos="100000">
                <a:srgbClr val="555500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Rectangle 17"/>
          <p:cNvSpPr/>
          <p:nvPr/>
        </p:nvSpPr>
        <p:spPr>
          <a:xfrm>
            <a:off x="2819520" y="3352680"/>
            <a:ext cx="1752480" cy="152640"/>
          </a:xfrm>
          <a:prstGeom prst="rect">
            <a:avLst/>
          </a:prstGeom>
          <a:gradFill rotWithShape="0">
            <a:gsLst>
              <a:gs pos="0">
                <a:srgbClr val="384146"/>
              </a:gs>
              <a:gs pos="50000">
                <a:srgbClr val="ccecff"/>
              </a:gs>
              <a:gs pos="100000">
                <a:srgbClr val="384146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Rectangle 18"/>
          <p:cNvSpPr/>
          <p:nvPr/>
        </p:nvSpPr>
        <p:spPr>
          <a:xfrm>
            <a:off x="2819520" y="3505320"/>
            <a:ext cx="914400" cy="152280"/>
          </a:xfrm>
          <a:prstGeom prst="rect">
            <a:avLst/>
          </a:prstGeom>
          <a:gradFill rotWithShape="0">
            <a:gsLst>
              <a:gs pos="0">
                <a:srgbClr val="555500"/>
              </a:gs>
              <a:gs pos="50000">
                <a:srgbClr val="ffff00"/>
              </a:gs>
              <a:gs pos="100000">
                <a:srgbClr val="555500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Rectangle 19"/>
          <p:cNvSpPr/>
          <p:nvPr/>
        </p:nvSpPr>
        <p:spPr>
          <a:xfrm>
            <a:off x="2819520" y="3809880"/>
            <a:ext cx="609480" cy="152640"/>
          </a:xfrm>
          <a:prstGeom prst="rect">
            <a:avLst/>
          </a:prstGeom>
          <a:gradFill rotWithShape="0">
            <a:gsLst>
              <a:gs pos="0">
                <a:srgbClr val="384146"/>
              </a:gs>
              <a:gs pos="50000">
                <a:srgbClr val="ccecff"/>
              </a:gs>
              <a:gs pos="100000">
                <a:srgbClr val="384146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Rectangle 20"/>
          <p:cNvSpPr/>
          <p:nvPr/>
        </p:nvSpPr>
        <p:spPr>
          <a:xfrm>
            <a:off x="2819520" y="3962520"/>
            <a:ext cx="609480" cy="152280"/>
          </a:xfrm>
          <a:prstGeom prst="rect">
            <a:avLst/>
          </a:prstGeom>
          <a:gradFill rotWithShape="0">
            <a:gsLst>
              <a:gs pos="0">
                <a:srgbClr val="555500"/>
              </a:gs>
              <a:gs pos="50000">
                <a:srgbClr val="ffff00"/>
              </a:gs>
              <a:gs pos="100000">
                <a:srgbClr val="555500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Rectangle 21"/>
          <p:cNvSpPr/>
          <p:nvPr/>
        </p:nvSpPr>
        <p:spPr>
          <a:xfrm>
            <a:off x="2819520" y="4267080"/>
            <a:ext cx="4190760" cy="152640"/>
          </a:xfrm>
          <a:prstGeom prst="rect">
            <a:avLst/>
          </a:prstGeom>
          <a:gradFill rotWithShape="0">
            <a:gsLst>
              <a:gs pos="0">
                <a:srgbClr val="384146"/>
              </a:gs>
              <a:gs pos="50000">
                <a:srgbClr val="ccecff"/>
              </a:gs>
              <a:gs pos="100000">
                <a:srgbClr val="384146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Rectangle 22"/>
          <p:cNvSpPr/>
          <p:nvPr/>
        </p:nvSpPr>
        <p:spPr>
          <a:xfrm>
            <a:off x="2819520" y="4419720"/>
            <a:ext cx="1523880" cy="152280"/>
          </a:xfrm>
          <a:prstGeom prst="rect">
            <a:avLst/>
          </a:prstGeom>
          <a:gradFill rotWithShape="0">
            <a:gsLst>
              <a:gs pos="0">
                <a:srgbClr val="555500"/>
              </a:gs>
              <a:gs pos="50000">
                <a:srgbClr val="ffff00"/>
              </a:gs>
              <a:gs pos="100000">
                <a:srgbClr val="555500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Rectangle 23"/>
          <p:cNvSpPr/>
          <p:nvPr/>
        </p:nvSpPr>
        <p:spPr>
          <a:xfrm>
            <a:off x="2819520" y="4724280"/>
            <a:ext cx="1295280" cy="152640"/>
          </a:xfrm>
          <a:prstGeom prst="rect">
            <a:avLst/>
          </a:prstGeom>
          <a:gradFill rotWithShape="0">
            <a:gsLst>
              <a:gs pos="0">
                <a:srgbClr val="384146"/>
              </a:gs>
              <a:gs pos="50000">
                <a:srgbClr val="ccecff"/>
              </a:gs>
              <a:gs pos="100000">
                <a:srgbClr val="384146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Rectangle 24"/>
          <p:cNvSpPr/>
          <p:nvPr/>
        </p:nvSpPr>
        <p:spPr>
          <a:xfrm>
            <a:off x="2819520" y="4876920"/>
            <a:ext cx="609480" cy="152280"/>
          </a:xfrm>
          <a:prstGeom prst="rect">
            <a:avLst/>
          </a:prstGeom>
          <a:gradFill rotWithShape="0">
            <a:gsLst>
              <a:gs pos="0">
                <a:srgbClr val="555500"/>
              </a:gs>
              <a:gs pos="50000">
                <a:srgbClr val="ffff00"/>
              </a:gs>
              <a:gs pos="100000">
                <a:srgbClr val="555500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Rectangle 25"/>
          <p:cNvSpPr/>
          <p:nvPr/>
        </p:nvSpPr>
        <p:spPr>
          <a:xfrm>
            <a:off x="2819520" y="5181480"/>
            <a:ext cx="2438280" cy="152640"/>
          </a:xfrm>
          <a:prstGeom prst="rect">
            <a:avLst/>
          </a:prstGeom>
          <a:gradFill rotWithShape="0">
            <a:gsLst>
              <a:gs pos="0">
                <a:srgbClr val="384146"/>
              </a:gs>
              <a:gs pos="50000">
                <a:srgbClr val="ccecff"/>
              </a:gs>
              <a:gs pos="100000">
                <a:srgbClr val="384146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Rectangle 26"/>
          <p:cNvSpPr/>
          <p:nvPr/>
        </p:nvSpPr>
        <p:spPr>
          <a:xfrm>
            <a:off x="2819520" y="5334120"/>
            <a:ext cx="1523880" cy="152280"/>
          </a:xfrm>
          <a:prstGeom prst="rect">
            <a:avLst/>
          </a:prstGeom>
          <a:gradFill rotWithShape="0">
            <a:gsLst>
              <a:gs pos="0">
                <a:srgbClr val="555500"/>
              </a:gs>
              <a:gs pos="50000">
                <a:srgbClr val="ffff00"/>
              </a:gs>
              <a:gs pos="100000">
                <a:srgbClr val="555500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Rectangle 27"/>
          <p:cNvSpPr/>
          <p:nvPr/>
        </p:nvSpPr>
        <p:spPr>
          <a:xfrm>
            <a:off x="2819520" y="5638680"/>
            <a:ext cx="3352680" cy="152640"/>
          </a:xfrm>
          <a:prstGeom prst="rect">
            <a:avLst/>
          </a:prstGeom>
          <a:gradFill rotWithShape="0">
            <a:gsLst>
              <a:gs pos="0">
                <a:srgbClr val="202082"/>
              </a:gs>
              <a:gs pos="50000">
                <a:srgbClr val="3333cc"/>
              </a:gs>
              <a:gs pos="100000">
                <a:srgbClr val="202082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Rectangle 28"/>
          <p:cNvSpPr/>
          <p:nvPr/>
        </p:nvSpPr>
        <p:spPr>
          <a:xfrm>
            <a:off x="2819520" y="5791320"/>
            <a:ext cx="838080" cy="228600"/>
          </a:xfrm>
          <a:prstGeom prst="rect">
            <a:avLst/>
          </a:prstGeom>
          <a:gradFill rotWithShape="0">
            <a:gsLst>
              <a:gs pos="0">
                <a:srgbClr val="500000"/>
              </a:gs>
              <a:gs pos="50000">
                <a:srgbClr val="cc0000"/>
              </a:gs>
              <a:gs pos="100000">
                <a:srgbClr val="500000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Text Box 29"/>
          <p:cNvSpPr/>
          <p:nvPr/>
        </p:nvSpPr>
        <p:spPr>
          <a:xfrm>
            <a:off x="-1800" y="1508040"/>
            <a:ext cx="2684880" cy="443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7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Przeweda 1986 &amp; 89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7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7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Buonaccorsi 1981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7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7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Updyke &amp; Willet 1989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7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7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Corée du Sud 1999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7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7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Japon, 1999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7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7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Dawson et al. 1999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7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7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Hamlin 2001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7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7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McNaugthon et al. 96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7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7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Doliman et al. 1999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7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7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Tomkinson et al. 2002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Text Box 30"/>
          <p:cNvSpPr/>
          <p:nvPr/>
        </p:nvSpPr>
        <p:spPr>
          <a:xfrm>
            <a:off x="6157440" y="1355760"/>
            <a:ext cx="111492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Pologne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Text Box 31"/>
          <p:cNvSpPr/>
          <p:nvPr/>
        </p:nvSpPr>
        <p:spPr>
          <a:xfrm>
            <a:off x="7452720" y="1839960"/>
            <a:ext cx="71820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Italie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Text Box 32"/>
          <p:cNvSpPr/>
          <p:nvPr/>
        </p:nvSpPr>
        <p:spPr>
          <a:xfrm>
            <a:off x="7926480" y="2133720"/>
            <a:ext cx="70416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USA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Text Box 33"/>
          <p:cNvSpPr/>
          <p:nvPr/>
        </p:nvSpPr>
        <p:spPr>
          <a:xfrm>
            <a:off x="6994440" y="2743200"/>
            <a:ext cx="175140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Corée du Sud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Text Box 34"/>
          <p:cNvSpPr/>
          <p:nvPr/>
        </p:nvSpPr>
        <p:spPr>
          <a:xfrm>
            <a:off x="4633560" y="3200400"/>
            <a:ext cx="87408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Japon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Text Box 35"/>
          <p:cNvSpPr/>
          <p:nvPr/>
        </p:nvSpPr>
        <p:spPr>
          <a:xfrm>
            <a:off x="3506400" y="3745080"/>
            <a:ext cx="216144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Nouvelle Zélande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Text Box 36"/>
          <p:cNvSpPr/>
          <p:nvPr/>
        </p:nvSpPr>
        <p:spPr>
          <a:xfrm>
            <a:off x="6981480" y="4114800"/>
            <a:ext cx="216144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Nouvelle Zélande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Text Box 37"/>
          <p:cNvSpPr/>
          <p:nvPr/>
        </p:nvSpPr>
        <p:spPr>
          <a:xfrm>
            <a:off x="4110840" y="4572000"/>
            <a:ext cx="129816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Tasmanie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Text Box 38"/>
          <p:cNvSpPr/>
          <p:nvPr/>
        </p:nvSpPr>
        <p:spPr>
          <a:xfrm>
            <a:off x="6234120" y="5527800"/>
            <a:ext cx="140616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11 pays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Text Box 39"/>
          <p:cNvSpPr/>
          <p:nvPr/>
        </p:nvSpPr>
        <p:spPr>
          <a:xfrm>
            <a:off x="3228120" y="6448320"/>
            <a:ext cx="538632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% de baisses annuelles minimale et maximale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Text Box 40"/>
          <p:cNvSpPr/>
          <p:nvPr/>
        </p:nvSpPr>
        <p:spPr>
          <a:xfrm>
            <a:off x="5319000" y="5040360"/>
            <a:ext cx="117108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Australie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Text Box 41"/>
          <p:cNvSpPr/>
          <p:nvPr/>
        </p:nvSpPr>
        <p:spPr>
          <a:xfrm>
            <a:off x="476280" y="87480"/>
            <a:ext cx="8299800" cy="100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Baisse annuelle (mini &amp; maxi, %), des performances à des tests de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course (400 à 1600m) d’enfants et d’adolescents de huit pays.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Grands et petits effectifs, période de 5 à 10 ans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6" dur="indefinite" restart="never" nodeType="tmRoot">
          <p:childTnLst>
            <p:seq>
              <p:cTn id="37" dur="indefinite" nodeType="mainSeq">
                <p:childTnLst>
                  <p:par>
                    <p:cTn id="38" nodeType="clickEffect" fill="hold">
                      <p:stCondLst>
                        <p:cond delay="0"/>
                      </p:stCondLst>
                      <p:childTnLst>
                        <p:par>
                          <p:cTn id="3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0" nodeType="afterEffect" fill="hold" presetClass="entr" presetID="9">
                                  <p:stCondLst>
                                    <p:cond delay="100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2" dur="3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nodeType="clickEffect" fill="hold">
                      <p:stCondLst>
                        <p:cond delay="indefinite"/>
                      </p:stCondLst>
                      <p:childTnLst>
                        <p:par>
                          <p:cTn id="4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5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4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5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nodeType="afterEffect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nodeType="afterEffect" fill="hold">
                            <p:stCondLst>
                              <p:cond delay="1500"/>
                            </p:stCondLst>
                            <p:childTnLst>
                              <p:par>
                                <p:cTn id="57" nodeType="afterEffect" fill="hold" presetClass="entr" presetID="22" presetSubtype="8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5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nodeType="afterEffect" fill="hold">
                            <p:stCondLst>
                              <p:cond delay="3000"/>
                            </p:stCondLst>
                            <p:childTnLst>
                              <p:par>
                                <p:cTn id="61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6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nodeType="afterEffect" fill="hold">
                            <p:stCondLst>
                              <p:cond delay="3500"/>
                            </p:stCondLst>
                            <p:childTnLst>
                              <p:par>
                                <p:cTn id="65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6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nodeType="afterEffect" fill="hold">
                            <p:stCondLst>
                              <p:cond delay="4000"/>
                            </p:stCondLst>
                            <p:childTnLst>
                              <p:par>
                                <p:cTn id="69" nodeType="afterEffect" fill="hold" presetClass="entr" presetID="22" presetSubtype="8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7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nodeType="afterEffect" fill="hold">
                            <p:stCondLst>
                              <p:cond delay="5500"/>
                            </p:stCondLst>
                            <p:childTnLst>
                              <p:par>
                                <p:cTn id="73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7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nodeType="afterEffect" fill="hold">
                            <p:stCondLst>
                              <p:cond delay="6000"/>
                            </p:stCondLst>
                            <p:childTnLst>
                              <p:par>
                                <p:cTn id="77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7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nodeType="afterEffect" fill="hold">
                            <p:stCondLst>
                              <p:cond delay="6500"/>
                            </p:stCondLst>
                            <p:childTnLst>
                              <p:par>
                                <p:cTn id="81" nodeType="afterEffect" fill="hold" presetClass="entr" presetID="22" presetSubtype="8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8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nodeType="afterEffect" fill="hold">
                            <p:stCondLst>
                              <p:cond delay="8000"/>
                            </p:stCondLst>
                            <p:childTnLst>
                              <p:par>
                                <p:cTn id="85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8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nodeType="afterEffect" fill="hold">
                            <p:stCondLst>
                              <p:cond delay="8500"/>
                            </p:stCondLst>
                            <p:childTnLst>
                              <p:par>
                                <p:cTn id="89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9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nodeType="afterEffect" fill="hold">
                            <p:stCondLst>
                              <p:cond delay="9000"/>
                            </p:stCondLst>
                            <p:childTnLst>
                              <p:par>
                                <p:cTn id="93" nodeType="afterEffect" fill="hold" presetClass="entr" presetID="22" presetSubtype="8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9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nodeType="afterEffect" fill="hold">
                            <p:stCondLst>
                              <p:cond delay="10500"/>
                            </p:stCondLst>
                            <p:childTnLst>
                              <p:par>
                                <p:cTn id="97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9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nodeType="afterEffect" fill="hold">
                            <p:stCondLst>
                              <p:cond delay="11000"/>
                            </p:stCondLst>
                            <p:childTnLst>
                              <p:par>
                                <p:cTn id="101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03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nodeType="afterEffect" fill="hold">
                            <p:stCondLst>
                              <p:cond delay="11500"/>
                            </p:stCondLst>
                            <p:childTnLst>
                              <p:par>
                                <p:cTn id="105" nodeType="afterEffect" fill="hold" presetClass="entr" presetID="22" presetSubtype="8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0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nodeType="afterEffect" fill="hold">
                            <p:stCondLst>
                              <p:cond delay="13000"/>
                            </p:stCondLst>
                            <p:childTnLst>
                              <p:par>
                                <p:cTn id="109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1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nodeType="afterEffect" fill="hold">
                            <p:stCondLst>
                              <p:cond delay="13500"/>
                            </p:stCondLst>
                            <p:childTnLst>
                              <p:par>
                                <p:cTn id="113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1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nodeType="afterEffect" fill="hold">
                            <p:stCondLst>
                              <p:cond delay="14000"/>
                            </p:stCondLst>
                            <p:childTnLst>
                              <p:par>
                                <p:cTn id="117" nodeType="afterEffect" fill="hold" presetClass="entr" presetID="22" presetSubtype="8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1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nodeType="afterEffect" fill="hold">
                            <p:stCondLst>
                              <p:cond delay="15500"/>
                            </p:stCondLst>
                            <p:childTnLst>
                              <p:par>
                                <p:cTn id="121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2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nodeType="afterEffect" fill="hold">
                            <p:stCondLst>
                              <p:cond delay="16000"/>
                            </p:stCondLst>
                            <p:childTnLst>
                              <p:par>
                                <p:cTn id="125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2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nodeType="afterEffect" fill="hold">
                            <p:stCondLst>
                              <p:cond delay="16500"/>
                            </p:stCondLst>
                            <p:childTnLst>
                              <p:par>
                                <p:cTn id="129" nodeType="afterEffect" fill="hold" presetClass="entr" presetID="22" presetSubtype="8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3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nodeType="afterEffect" fill="hold">
                            <p:stCondLst>
                              <p:cond delay="18000"/>
                            </p:stCondLst>
                            <p:childTnLst>
                              <p:par>
                                <p:cTn id="133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3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nodeType="afterEffect" fill="hold">
                            <p:stCondLst>
                              <p:cond delay="18500"/>
                            </p:stCondLst>
                            <p:childTnLst>
                              <p:par>
                                <p:cTn id="137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3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nodeType="afterEffect" fill="hold">
                            <p:stCondLst>
                              <p:cond delay="19000"/>
                            </p:stCondLst>
                            <p:childTnLst>
                              <p:par>
                                <p:cTn id="141" nodeType="afterEffect" fill="hold" presetClass="entr" presetID="22" presetSubtype="8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4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nodeType="afterEffect" fill="hold">
                            <p:stCondLst>
                              <p:cond delay="20500"/>
                            </p:stCondLst>
                            <p:childTnLst>
                              <p:par>
                                <p:cTn id="145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4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nodeType="afterEffect" fill="hold">
                            <p:stCondLst>
                              <p:cond delay="21000"/>
                            </p:stCondLst>
                            <p:childTnLst>
                              <p:par>
                                <p:cTn id="149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5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nodeType="afterEffect" fill="hold">
                            <p:stCondLst>
                              <p:cond delay="21500"/>
                            </p:stCondLst>
                            <p:childTnLst>
                              <p:par>
                                <p:cTn id="153" nodeType="afterEffect" fill="hold" presetClass="entr" presetID="22" presetSubtype="8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5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nodeType="afterEffect" fill="hold">
                            <p:stCondLst>
                              <p:cond delay="23000"/>
                            </p:stCondLst>
                            <p:childTnLst>
                              <p:par>
                                <p:cTn id="157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5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nodeType="afterEffect" fill="hold">
                            <p:stCondLst>
                              <p:cond delay="23500"/>
                            </p:stCondLst>
                            <p:childTnLst>
                              <p:par>
                                <p:cTn id="161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63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 Box 2"/>
          <p:cNvSpPr/>
          <p:nvPr/>
        </p:nvSpPr>
        <p:spPr>
          <a:xfrm>
            <a:off x="76320" y="2514600"/>
            <a:ext cx="2971800" cy="131364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Deux des paramètres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les plus souvent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retenus comme critères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condition physique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Line 3"/>
          <p:cNvSpPr/>
          <p:nvPr/>
        </p:nvSpPr>
        <p:spPr>
          <a:xfrm flipV="1">
            <a:off x="3124080" y="2285640"/>
            <a:ext cx="381240" cy="762120"/>
          </a:xfrm>
          <a:prstGeom prst="line">
            <a:avLst/>
          </a:prstGeom>
          <a:ln w="28440">
            <a:solidFill>
              <a:srgbClr val="ffffff"/>
            </a:solidFill>
            <a:miter/>
            <a:headEnd len="med" type="oval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Text Box 4"/>
          <p:cNvSpPr/>
          <p:nvPr/>
        </p:nvSpPr>
        <p:spPr>
          <a:xfrm>
            <a:off x="3581280" y="1066680"/>
            <a:ext cx="2805120" cy="125928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La capacité aérobie :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(endurance et puissance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aérobie maximale: PAM, VAM ou VO</a:t>
            </a:r>
            <a:r>
              <a:rPr b="0" lang="fr-FR" sz="18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2</a:t>
            </a:r>
            <a:r>
              <a:rPr b="0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max)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Line 5"/>
          <p:cNvSpPr/>
          <p:nvPr/>
        </p:nvSpPr>
        <p:spPr>
          <a:xfrm>
            <a:off x="3124080" y="3352680"/>
            <a:ext cx="457200" cy="838440"/>
          </a:xfrm>
          <a:prstGeom prst="line">
            <a:avLst/>
          </a:prstGeom>
          <a:ln w="28440">
            <a:solidFill>
              <a:srgbClr val="ffffff"/>
            </a:solidFill>
            <a:miter/>
            <a:headEnd len="med" type="oval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Text Box 6"/>
          <p:cNvSpPr/>
          <p:nvPr/>
        </p:nvSpPr>
        <p:spPr>
          <a:xfrm>
            <a:off x="3524040" y="4165560"/>
            <a:ext cx="2713320" cy="131364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La masse grasse :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% de graisse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(balance entre apport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et dépense d’énergie)</a:t>
            </a: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Line 7"/>
          <p:cNvSpPr/>
          <p:nvPr/>
        </p:nvSpPr>
        <p:spPr>
          <a:xfrm flipV="1">
            <a:off x="6400800" y="914040"/>
            <a:ext cx="533520" cy="609480"/>
          </a:xfrm>
          <a:prstGeom prst="line">
            <a:avLst/>
          </a:prstGeom>
          <a:ln w="2844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Text Box 8"/>
          <p:cNvSpPr/>
          <p:nvPr/>
        </p:nvSpPr>
        <p:spPr>
          <a:xfrm>
            <a:off x="6925680" y="152280"/>
            <a:ext cx="2090160" cy="39888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Tests de terrain :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Text Box 9"/>
          <p:cNvSpPr/>
          <p:nvPr/>
        </p:nvSpPr>
        <p:spPr>
          <a:xfrm>
            <a:off x="6935760" y="685800"/>
            <a:ext cx="2000520" cy="11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buClr>
                <a:srgbClr val="ffffff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PAM :</a:t>
            </a:r>
            <a:r>
              <a:rPr b="0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navette 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de 20m de Léger 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et al.(1982)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buClr>
                <a:srgbClr val="ffffff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VAM</a:t>
            </a:r>
            <a:r>
              <a:rPr b="0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: Vam-éval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Line 10"/>
          <p:cNvSpPr/>
          <p:nvPr/>
        </p:nvSpPr>
        <p:spPr>
          <a:xfrm>
            <a:off x="6400800" y="1828800"/>
            <a:ext cx="533520" cy="609480"/>
          </a:xfrm>
          <a:prstGeom prst="line">
            <a:avLst/>
          </a:prstGeom>
          <a:ln w="2844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Text Box 11"/>
          <p:cNvSpPr/>
          <p:nvPr/>
        </p:nvSpPr>
        <p:spPr>
          <a:xfrm>
            <a:off x="6874560" y="2286000"/>
            <a:ext cx="2344680" cy="91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buClr>
                <a:srgbClr val="ffffff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Endurance aérobie: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durée limite courue 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à 100% de la VAM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Line 12"/>
          <p:cNvSpPr/>
          <p:nvPr/>
        </p:nvSpPr>
        <p:spPr>
          <a:xfrm flipV="1">
            <a:off x="6248520" y="4267080"/>
            <a:ext cx="761760" cy="457200"/>
          </a:xfrm>
          <a:prstGeom prst="line">
            <a:avLst/>
          </a:prstGeom>
          <a:ln w="2844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Text Box 13"/>
          <p:cNvSpPr/>
          <p:nvPr/>
        </p:nvSpPr>
        <p:spPr>
          <a:xfrm>
            <a:off x="7011360" y="4083120"/>
            <a:ext cx="203904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buClr>
                <a:srgbClr val="ffffff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Somme des plis 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cutanés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Line 14"/>
          <p:cNvSpPr/>
          <p:nvPr/>
        </p:nvSpPr>
        <p:spPr>
          <a:xfrm>
            <a:off x="6248520" y="5029200"/>
            <a:ext cx="838080" cy="533520"/>
          </a:xfrm>
          <a:prstGeom prst="line">
            <a:avLst/>
          </a:prstGeom>
          <a:ln w="2844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Text Box 15"/>
          <p:cNvSpPr/>
          <p:nvPr/>
        </p:nvSpPr>
        <p:spPr>
          <a:xfrm>
            <a:off x="7011720" y="5408640"/>
            <a:ext cx="2124360" cy="91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buClr>
                <a:srgbClr val="ffffff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IMC</a:t>
            </a:r>
            <a:r>
              <a:rPr b="0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(indice de 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masse corporelle) :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Poids / Taille</a:t>
            </a:r>
            <a:r>
              <a:rPr b="0" lang="fr-FR" sz="1800" strike="noStrike" u="none" baseline="30000">
                <a:solidFill>
                  <a:srgbClr val="ffff00"/>
                </a:solidFill>
                <a:effectLst/>
                <a:uFillTx/>
                <a:latin typeface="Arial"/>
              </a:rPr>
              <a:t>2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Text Box 16"/>
          <p:cNvSpPr/>
          <p:nvPr/>
        </p:nvSpPr>
        <p:spPr>
          <a:xfrm rot="20076600">
            <a:off x="-28800" y="833760"/>
            <a:ext cx="3942360" cy="459720"/>
          </a:xfrm>
          <a:prstGeom prst="rect">
            <a:avLst/>
          </a:prstGeom>
          <a:noFill/>
          <a:ln w="126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Condition physique et santé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64" dur="indefinite" restart="never" nodeType="tmRoot">
          <p:childTnLst>
            <p:seq>
              <p:cTn id="165" dur="indefinite" nodeType="mainSeq">
                <p:childTnLst>
                  <p:par>
                    <p:cTn id="166" nodeType="clickEffect" fill="hold">
                      <p:stCondLst>
                        <p:cond delay="0"/>
                      </p:stCondLst>
                      <p:childTnLst>
                        <p:par>
                          <p:cTn id="16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68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70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172" nodeType="afterEffect" fill="hold" presetClass="entr" presetID="17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74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75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76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77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nodeType="afterEffect" fill="hold">
                            <p:stCondLst>
                              <p:cond delay="1000"/>
                            </p:stCondLst>
                            <p:childTnLst>
                              <p:par>
                                <p:cTn id="179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81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2" nodeType="afterEffect" fill="hold">
                            <p:stCondLst>
                              <p:cond delay="1500"/>
                            </p:stCondLst>
                            <p:childTnLst>
                              <p:par>
                                <p:cTn id="183" nodeType="afterEffect" fill="hold" presetClass="entr" presetID="17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85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86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87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88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9" nodeType="afterEffect" fill="hold">
                            <p:stCondLst>
                              <p:cond delay="2000"/>
                            </p:stCondLst>
                            <p:childTnLst>
                              <p:par>
                                <p:cTn id="190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9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nodeType="clickEffect" fill="hold">
                      <p:stCondLst>
                        <p:cond delay="indefinite"/>
                      </p:stCondLst>
                      <p:childTnLst>
                        <p:par>
                          <p:cTn id="19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95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9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8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199" nodeType="afterEffect" fill="hold" presetClass="entr" presetID="17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01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02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03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04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5" nodeType="afterEffect" fill="hold">
                            <p:stCondLst>
                              <p:cond delay="1000"/>
                            </p:stCondLst>
                            <p:childTnLst>
                              <p:par>
                                <p:cTn id="206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08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9" nodeType="afterEffect" fill="hold">
                            <p:stCondLst>
                              <p:cond delay="1500"/>
                            </p:stCondLst>
                            <p:childTnLst>
                              <p:par>
                                <p:cTn id="210" nodeType="afterEffect" fill="hold" presetClass="entr" presetID="17" presetSubtype="1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12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3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4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5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6" nodeType="afterEffect" fill="hold">
                            <p:stCondLst>
                              <p:cond delay="4000"/>
                            </p:stCondLst>
                            <p:childTnLst>
                              <p:par>
                                <p:cTn id="217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19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nodeType="clickEffect" fill="hold">
                      <p:stCondLst>
                        <p:cond delay="indefinite"/>
                      </p:stCondLst>
                      <p:childTnLst>
                        <p:par>
                          <p:cTn id="22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22" nodeType="clickEffect" fill="hold" presetClass="entr" presetID="17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24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25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26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27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8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229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31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2" nodeType="afterEffect" fill="hold">
                            <p:stCondLst>
                              <p:cond delay="1000"/>
                            </p:stCondLst>
                            <p:childTnLst>
                              <p:par>
                                <p:cTn id="233" nodeType="afterEffect" fill="hold" presetClass="entr" presetID="17" presetSubtype="8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35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36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37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38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9" nodeType="afterEffect" fill="hold">
                            <p:stCondLst>
                              <p:cond delay="2500"/>
                            </p:stCondLst>
                            <p:childTnLst>
                              <p:par>
                                <p:cTn id="240" nodeType="afterEffect" fill="hold" presetClass="entr" presetID="9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42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/>
          </p:nvPr>
        </p:nvSpPr>
        <p:spPr>
          <a:xfrm>
            <a:off x="380880" y="4267080"/>
            <a:ext cx="8229600" cy="2286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algn="ctr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CA" sz="24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    BAISSES MOYENNES POUR TOUTES LES TRANCHES AGE/SEXE/PAYS EN 20 ANS: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lvl="1" marL="1052640" indent="-287640">
              <a:lnSpc>
                <a:spcPct val="100000"/>
              </a:lnSpc>
              <a:spcBef>
                <a:spcPts val="601"/>
              </a:spcBef>
              <a:buClr>
                <a:srgbClr val="ffff00"/>
              </a:buClr>
              <a:buFont typeface="Bookman Old Style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CA" sz="24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  0.43 % par an    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lvl="1" marL="1052640" indent="-287640">
              <a:lnSpc>
                <a:spcPct val="100000"/>
              </a:lnSpc>
              <a:spcBef>
                <a:spcPts val="601"/>
              </a:spcBef>
              <a:buClr>
                <a:srgbClr val="ffff00"/>
              </a:buClr>
              <a:buFont typeface="Bookman Old Style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CA" sz="24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  8.6 %  sur 20 ans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lvl="1" marL="1052640" indent="-287640">
              <a:lnSpc>
                <a:spcPct val="100000"/>
              </a:lnSpc>
              <a:spcBef>
                <a:spcPts val="601"/>
              </a:spcBef>
              <a:buClr>
                <a:srgbClr val="ffff00"/>
              </a:buClr>
              <a:buFont typeface="Bookman Old Style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CA" sz="24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 ~ 3.84 ml O</a:t>
            </a:r>
            <a:r>
              <a:rPr b="1" lang="fr-CA" sz="2400" strike="noStrike" u="none" baseline="-25000">
                <a:solidFill>
                  <a:srgbClr val="ffff00"/>
                </a:solidFill>
                <a:effectLst/>
                <a:uFillTx/>
                <a:latin typeface="Bookman Old Style"/>
              </a:rPr>
              <a:t>2</a:t>
            </a:r>
            <a:r>
              <a:rPr b="1" lang="fr-CA" sz="24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 kg</a:t>
            </a:r>
            <a:r>
              <a:rPr b="1" lang="fr-CA" sz="2400" strike="noStrike" u="none" baseline="30000">
                <a:solidFill>
                  <a:srgbClr val="ffff00"/>
                </a:solidFill>
                <a:effectLst/>
                <a:uFillTx/>
                <a:latin typeface="Bookman Old Style"/>
              </a:rPr>
              <a:t>-1</a:t>
            </a:r>
            <a:r>
              <a:rPr b="1" lang="fr-CA" sz="24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 min</a:t>
            </a:r>
            <a:r>
              <a:rPr b="1" lang="fr-CA" sz="2400" strike="noStrike" u="none" baseline="30000">
                <a:solidFill>
                  <a:srgbClr val="ffff00"/>
                </a:solidFill>
                <a:effectLst/>
                <a:uFillTx/>
                <a:latin typeface="Bookman Old Style"/>
              </a:rPr>
              <a:t>-1</a:t>
            </a:r>
            <a:r>
              <a:rPr b="1" lang="fr-CA" sz="24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 sur 20 ans !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Rectangle 5"/>
          <p:cNvSpPr/>
          <p:nvPr/>
        </p:nvSpPr>
        <p:spPr>
          <a:xfrm>
            <a:off x="228600" y="228600"/>
            <a:ext cx="8686800" cy="1066680"/>
          </a:xfrm>
          <a:prstGeom prst="rect">
            <a:avLst/>
          </a:prstGeom>
          <a:noFill/>
          <a:ln w="1908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2160" rIns="92160" tIns="46080" bIns="460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AU" sz="2000" strike="noStrike" u="none">
                <a:solidFill>
                  <a:srgbClr val="ffff00"/>
                </a:solidFill>
                <a:effectLst/>
                <a:uFillTx/>
                <a:latin typeface="Bookman Old Style"/>
                <a:ea typeface="Times New Roman"/>
              </a:rPr>
              <a:t>“Evolution du niveau de la capacité aérobie des enfants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AU" sz="2000" strike="noStrike" u="none">
                <a:solidFill>
                  <a:srgbClr val="ffff00"/>
                </a:solidFill>
                <a:effectLst/>
                <a:uFillTx/>
                <a:latin typeface="Bookman Old Style"/>
                <a:ea typeface="Times New Roman"/>
              </a:rPr>
              <a:t>et des adolescents entre 1981 et 2001, évalué par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AU" sz="2000" strike="noStrike" u="none">
                <a:solidFill>
                  <a:srgbClr val="ffff00"/>
                </a:solidFill>
                <a:effectLst/>
                <a:uFillTx/>
                <a:latin typeface="Bookman Old Style"/>
                <a:ea typeface="Times New Roman"/>
              </a:rPr>
              <a:t>la course navette de 20 m. de Léger et al. (1982)”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Rectangle 6"/>
          <p:cNvSpPr/>
          <p:nvPr/>
        </p:nvSpPr>
        <p:spPr>
          <a:xfrm>
            <a:off x="2057400" y="1905120"/>
            <a:ext cx="5334120" cy="12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rIns="92160" tIns="46080" bIns="46080" anchor="t">
            <a:noAutofit/>
          </a:bodyPr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ffffff"/>
              </a:buClr>
              <a:buSzPct val="75000"/>
              <a:buFont typeface="Monotype Sorts" charset="2"/>
              <a:buChar char="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CA" sz="1600" strike="noStrike" u="none" baseline="30000">
                <a:solidFill>
                  <a:srgbClr val="ffffff"/>
                </a:solidFill>
                <a:effectLst/>
                <a:uFillTx/>
                <a:latin typeface="Bookman Old Style"/>
              </a:rPr>
              <a:t>1</a:t>
            </a:r>
            <a:r>
              <a:rPr b="1" lang="fr-CA" sz="16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University of South Australia,  AUSTRALIE 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ffffff"/>
              </a:buClr>
              <a:buSzPct val="75000"/>
              <a:buFont typeface="Monotype Sorts" charset="2"/>
              <a:buChar char="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CA" sz="1600" strike="noStrike" u="none" baseline="30000">
                <a:solidFill>
                  <a:srgbClr val="ffffff"/>
                </a:solidFill>
                <a:effectLst/>
                <a:uFillTx/>
                <a:latin typeface="Bookman Old Style"/>
              </a:rPr>
              <a:t>2</a:t>
            </a:r>
            <a:r>
              <a:rPr b="1" lang="fr-CA" sz="16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Université de Montréal,  CANADA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700"/>
              </a:spcBef>
              <a:buClr>
                <a:srgbClr val="ffffff"/>
              </a:buClr>
              <a:buSzPct val="75000"/>
              <a:buFont typeface="Monotype Sorts" charset="2"/>
              <a:buChar char="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CA" sz="1600" strike="noStrike" u="none" baseline="30000">
                <a:solidFill>
                  <a:srgbClr val="ffffff"/>
                </a:solidFill>
                <a:effectLst/>
                <a:uFillTx/>
                <a:latin typeface="Bookman Old Style"/>
              </a:rPr>
              <a:t>3</a:t>
            </a:r>
            <a:r>
              <a:rPr b="1" lang="fr-CA" sz="1600" strike="noStrike" u="none">
                <a:solidFill>
                  <a:srgbClr val="ffffff"/>
                </a:solidFill>
                <a:effectLst/>
                <a:uFillTx/>
                <a:latin typeface="Bookman Old Style"/>
                <a:ea typeface="Times New Roman"/>
              </a:rPr>
              <a:t>Université de Bordeaux II,  FRANCE</a:t>
            </a:r>
            <a:r>
              <a:rPr b="1" lang="fr-CA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endParaRPr b="0" lang="en-US" sz="2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Text Box 7"/>
          <p:cNvSpPr/>
          <p:nvPr/>
        </p:nvSpPr>
        <p:spPr>
          <a:xfrm>
            <a:off x="684360" y="1413000"/>
            <a:ext cx="800100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CA" sz="16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Grant R. Tomkinson</a:t>
            </a:r>
            <a:r>
              <a:rPr b="1" lang="fr-CA" sz="1600" strike="noStrike" u="none" baseline="30000">
                <a:solidFill>
                  <a:srgbClr val="ffffff"/>
                </a:solidFill>
                <a:effectLst/>
                <a:uFillTx/>
                <a:latin typeface="Bookman Old Style"/>
              </a:rPr>
              <a:t>1</a:t>
            </a:r>
            <a:r>
              <a:rPr b="1" lang="fr-CA" sz="16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, Tim S. Olds</a:t>
            </a:r>
            <a:r>
              <a:rPr b="1" lang="fr-CA" sz="1600" strike="noStrike" u="none" baseline="30000">
                <a:solidFill>
                  <a:srgbClr val="ffffff"/>
                </a:solidFill>
                <a:effectLst/>
                <a:uFillTx/>
                <a:latin typeface="Bookman Old Style"/>
              </a:rPr>
              <a:t>1</a:t>
            </a:r>
            <a:r>
              <a:rPr b="1" lang="fr-CA" sz="16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, Luc A. Léger</a:t>
            </a:r>
            <a:r>
              <a:rPr b="1" lang="fr-CA" sz="1600" strike="noStrike" u="none" baseline="30000">
                <a:solidFill>
                  <a:srgbClr val="ffffff"/>
                </a:solidFill>
                <a:effectLst/>
                <a:uFillTx/>
                <a:latin typeface="Bookman Old Style"/>
              </a:rPr>
              <a:t>2</a:t>
            </a:r>
            <a:r>
              <a:rPr b="1" lang="fr-CA" sz="16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, Georges Cazorla</a:t>
            </a:r>
            <a:r>
              <a:rPr b="1" lang="fr-CA" sz="1600" strike="noStrike" u="none" baseline="30000">
                <a:solidFill>
                  <a:srgbClr val="ffffff"/>
                </a:solidFill>
                <a:effectLst/>
                <a:uFillTx/>
                <a:latin typeface="Bookman Old Style"/>
              </a:rPr>
              <a:t>3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Text Box 8"/>
          <p:cNvSpPr/>
          <p:nvPr/>
        </p:nvSpPr>
        <p:spPr>
          <a:xfrm>
            <a:off x="1218240" y="3276720"/>
            <a:ext cx="6672600" cy="82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130 000 enfants et adolescents âgés entre 6 et 19 ans 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provenant de 11 pays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43" dur="indefinite" restart="never" nodeType="tmRoot">
          <p:childTnLst>
            <p:seq>
              <p:cTn id="244" dur="indefinite" nodeType="mainSeq">
                <p:childTnLst>
                  <p:par>
                    <p:cTn id="245" nodeType="clickEffect" fill="hold">
                      <p:stCondLst>
                        <p:cond delay="indefinite"/>
                      </p:stCondLst>
                      <p:childTnLst>
                        <p:par>
                          <p:cTn id="24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47" nodeType="clickEffect" fill="hold" presetClass="entr" presetID="9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49" dur="3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Box 3"/>
          <p:cNvSpPr/>
          <p:nvPr/>
        </p:nvSpPr>
        <p:spPr>
          <a:xfrm>
            <a:off x="85320" y="47520"/>
            <a:ext cx="8905320" cy="703800"/>
          </a:xfrm>
          <a:prstGeom prst="rect">
            <a:avLst/>
          </a:prstGeom>
          <a:noFill/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Taux de changement annuel (%)du niveau de condition physique (PMA)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des enfants et des adolescents au cours des 20 dernières années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Line 4"/>
          <p:cNvSpPr/>
          <p:nvPr/>
        </p:nvSpPr>
        <p:spPr>
          <a:xfrm>
            <a:off x="5838840" y="1560600"/>
            <a:ext cx="0" cy="502920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Line 5"/>
          <p:cNvSpPr/>
          <p:nvPr/>
        </p:nvSpPr>
        <p:spPr>
          <a:xfrm>
            <a:off x="504720" y="1560600"/>
            <a:ext cx="7848720" cy="0"/>
          </a:xfrm>
          <a:prstGeom prst="line">
            <a:avLst/>
          </a:prstGeom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Text Box 17"/>
          <p:cNvSpPr/>
          <p:nvPr/>
        </p:nvSpPr>
        <p:spPr>
          <a:xfrm>
            <a:off x="446760" y="1143000"/>
            <a:ext cx="703296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- 2.0       - 1.5        - 1.0        - 0.5        0         + 0.5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Text Box 18"/>
          <p:cNvSpPr/>
          <p:nvPr/>
        </p:nvSpPr>
        <p:spPr>
          <a:xfrm>
            <a:off x="6828840" y="1560600"/>
            <a:ext cx="1935000" cy="52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5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USA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5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Grèce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5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Pologne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5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Pays Bas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5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Canada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5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France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5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Irlande du Nord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5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Australie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5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Espagne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5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Italie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5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Belgique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Line 19"/>
          <p:cNvSpPr/>
          <p:nvPr/>
        </p:nvSpPr>
        <p:spPr>
          <a:xfrm>
            <a:off x="4952880" y="1523880"/>
            <a:ext cx="0" cy="502920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Rectangle 29"/>
          <p:cNvSpPr/>
          <p:nvPr/>
        </p:nvSpPr>
        <p:spPr>
          <a:xfrm>
            <a:off x="3809880" y="3201840"/>
            <a:ext cx="1981440" cy="228600"/>
          </a:xfrm>
          <a:prstGeom prst="rect">
            <a:avLst/>
          </a:prstGeom>
          <a:gradFill rotWithShape="0">
            <a:gsLst>
              <a:gs pos="0">
                <a:srgbClr val="5e5e76"/>
              </a:gs>
              <a:gs pos="50000">
                <a:srgbClr val="ccccff"/>
              </a:gs>
              <a:gs pos="100000">
                <a:srgbClr val="5e5e76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Rectangle 30"/>
          <p:cNvSpPr/>
          <p:nvPr/>
        </p:nvSpPr>
        <p:spPr>
          <a:xfrm>
            <a:off x="2590920" y="2287440"/>
            <a:ext cx="3200400" cy="228600"/>
          </a:xfrm>
          <a:prstGeom prst="rect">
            <a:avLst/>
          </a:prstGeom>
          <a:gradFill rotWithShape="0">
            <a:gsLst>
              <a:gs pos="0">
                <a:srgbClr val="5e5e76"/>
              </a:gs>
              <a:gs pos="50000">
                <a:srgbClr val="ccccff"/>
              </a:gs>
              <a:gs pos="100000">
                <a:srgbClr val="5e5e76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Rectangle 31"/>
          <p:cNvSpPr/>
          <p:nvPr/>
        </p:nvSpPr>
        <p:spPr>
          <a:xfrm>
            <a:off x="1219320" y="1830240"/>
            <a:ext cx="4572000" cy="228600"/>
          </a:xfrm>
          <a:prstGeom prst="rect">
            <a:avLst/>
          </a:prstGeom>
          <a:gradFill rotWithShape="0">
            <a:gsLst>
              <a:gs pos="0">
                <a:srgbClr val="5e5e76"/>
              </a:gs>
              <a:gs pos="50000">
                <a:srgbClr val="ccccff"/>
              </a:gs>
              <a:gs pos="100000">
                <a:srgbClr val="5e5e76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Rectangle 32"/>
          <p:cNvSpPr/>
          <p:nvPr/>
        </p:nvSpPr>
        <p:spPr>
          <a:xfrm>
            <a:off x="3429000" y="2744640"/>
            <a:ext cx="2362320" cy="228600"/>
          </a:xfrm>
          <a:prstGeom prst="rect">
            <a:avLst/>
          </a:prstGeom>
          <a:gradFill rotWithShape="0">
            <a:gsLst>
              <a:gs pos="0">
                <a:srgbClr val="5e5e76"/>
              </a:gs>
              <a:gs pos="50000">
                <a:srgbClr val="ccccff"/>
              </a:gs>
              <a:gs pos="100000">
                <a:srgbClr val="5e5e76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Rectangle 33"/>
          <p:cNvSpPr/>
          <p:nvPr/>
        </p:nvSpPr>
        <p:spPr>
          <a:xfrm>
            <a:off x="4952880" y="4191120"/>
            <a:ext cx="838440" cy="228600"/>
          </a:xfrm>
          <a:prstGeom prst="rect">
            <a:avLst/>
          </a:prstGeom>
          <a:gradFill rotWithShape="0">
            <a:gsLst>
              <a:gs pos="0">
                <a:srgbClr val="767676"/>
              </a:gs>
              <a:gs pos="50000">
                <a:srgbClr val="ffffff"/>
              </a:gs>
              <a:gs pos="100000">
                <a:srgbClr val="767676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Rectangle 34"/>
          <p:cNvSpPr/>
          <p:nvPr/>
        </p:nvSpPr>
        <p:spPr>
          <a:xfrm>
            <a:off x="5105520" y="4649760"/>
            <a:ext cx="685800" cy="228600"/>
          </a:xfrm>
          <a:prstGeom prst="rect">
            <a:avLst/>
          </a:prstGeom>
          <a:gradFill rotWithShape="0">
            <a:gsLst>
              <a:gs pos="0">
                <a:srgbClr val="5e5e76"/>
              </a:gs>
              <a:gs pos="50000">
                <a:srgbClr val="ccccff"/>
              </a:gs>
              <a:gs pos="100000">
                <a:srgbClr val="5e5e76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Rectangle 35"/>
          <p:cNvSpPr/>
          <p:nvPr/>
        </p:nvSpPr>
        <p:spPr>
          <a:xfrm>
            <a:off x="5181480" y="5106960"/>
            <a:ext cx="609840" cy="228600"/>
          </a:xfrm>
          <a:prstGeom prst="rect">
            <a:avLst/>
          </a:prstGeom>
          <a:gradFill rotWithShape="0">
            <a:gsLst>
              <a:gs pos="0">
                <a:srgbClr val="5e5e76"/>
              </a:gs>
              <a:gs pos="50000">
                <a:srgbClr val="ccccff"/>
              </a:gs>
              <a:gs pos="100000">
                <a:srgbClr val="5e5e76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Rectangle 36"/>
          <p:cNvSpPr/>
          <p:nvPr/>
        </p:nvSpPr>
        <p:spPr>
          <a:xfrm>
            <a:off x="4114800" y="3735360"/>
            <a:ext cx="1676520" cy="228600"/>
          </a:xfrm>
          <a:prstGeom prst="rect">
            <a:avLst/>
          </a:prstGeom>
          <a:gradFill rotWithShape="0">
            <a:gsLst>
              <a:gs pos="0">
                <a:srgbClr val="5e5e76"/>
              </a:gs>
              <a:gs pos="50000">
                <a:srgbClr val="ccccff"/>
              </a:gs>
              <a:gs pos="100000">
                <a:srgbClr val="5e5e76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Rectangle 37"/>
          <p:cNvSpPr/>
          <p:nvPr/>
        </p:nvSpPr>
        <p:spPr>
          <a:xfrm>
            <a:off x="5181480" y="5564160"/>
            <a:ext cx="609840" cy="228600"/>
          </a:xfrm>
          <a:prstGeom prst="rect">
            <a:avLst/>
          </a:prstGeom>
          <a:gradFill rotWithShape="0">
            <a:gsLst>
              <a:gs pos="0">
                <a:srgbClr val="5e5e76"/>
              </a:gs>
              <a:gs pos="50000">
                <a:srgbClr val="ccccff"/>
              </a:gs>
              <a:gs pos="100000">
                <a:srgbClr val="5e5e76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Rectangle 38"/>
          <p:cNvSpPr/>
          <p:nvPr/>
        </p:nvSpPr>
        <p:spPr>
          <a:xfrm>
            <a:off x="5334120" y="5945040"/>
            <a:ext cx="457200" cy="228600"/>
          </a:xfrm>
          <a:prstGeom prst="rect">
            <a:avLst/>
          </a:prstGeom>
          <a:gradFill rotWithShape="0">
            <a:gsLst>
              <a:gs pos="0">
                <a:srgbClr val="5e5e76"/>
              </a:gs>
              <a:gs pos="50000">
                <a:srgbClr val="ccccff"/>
              </a:gs>
              <a:gs pos="100000">
                <a:srgbClr val="5e5e76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Rectangle 39"/>
          <p:cNvSpPr/>
          <p:nvPr/>
        </p:nvSpPr>
        <p:spPr>
          <a:xfrm>
            <a:off x="5867280" y="6402240"/>
            <a:ext cx="381240" cy="228600"/>
          </a:xfrm>
          <a:prstGeom prst="rect">
            <a:avLst/>
          </a:prstGeom>
          <a:gradFill rotWithShape="0">
            <a:gsLst>
              <a:gs pos="0">
                <a:srgbClr val="5e5e76"/>
              </a:gs>
              <a:gs pos="50000">
                <a:srgbClr val="ccccff"/>
              </a:gs>
              <a:gs pos="100000">
                <a:srgbClr val="5e5e76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Line 40"/>
          <p:cNvSpPr/>
          <p:nvPr/>
        </p:nvSpPr>
        <p:spPr>
          <a:xfrm>
            <a:off x="5867280" y="1981080"/>
            <a:ext cx="1067040" cy="0"/>
          </a:xfrm>
          <a:prstGeom prst="line">
            <a:avLst/>
          </a:prstGeom>
          <a:ln w="9360">
            <a:solidFill>
              <a:srgbClr val="ffff00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Line 41"/>
          <p:cNvSpPr/>
          <p:nvPr/>
        </p:nvSpPr>
        <p:spPr>
          <a:xfrm>
            <a:off x="5867280" y="2438280"/>
            <a:ext cx="1067040" cy="0"/>
          </a:xfrm>
          <a:prstGeom prst="line">
            <a:avLst/>
          </a:prstGeom>
          <a:ln w="9360">
            <a:solidFill>
              <a:srgbClr val="ffff00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Line 42"/>
          <p:cNvSpPr/>
          <p:nvPr/>
        </p:nvSpPr>
        <p:spPr>
          <a:xfrm>
            <a:off x="5867280" y="2895480"/>
            <a:ext cx="1067040" cy="0"/>
          </a:xfrm>
          <a:prstGeom prst="line">
            <a:avLst/>
          </a:prstGeom>
          <a:ln w="9360">
            <a:solidFill>
              <a:srgbClr val="ffff00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Line 43"/>
          <p:cNvSpPr/>
          <p:nvPr/>
        </p:nvSpPr>
        <p:spPr>
          <a:xfrm>
            <a:off x="5867280" y="3352680"/>
            <a:ext cx="1067040" cy="0"/>
          </a:xfrm>
          <a:prstGeom prst="line">
            <a:avLst/>
          </a:prstGeom>
          <a:ln w="9360">
            <a:solidFill>
              <a:srgbClr val="ffff00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Line 44"/>
          <p:cNvSpPr/>
          <p:nvPr/>
        </p:nvSpPr>
        <p:spPr>
          <a:xfrm>
            <a:off x="5867280" y="3809880"/>
            <a:ext cx="1067040" cy="0"/>
          </a:xfrm>
          <a:prstGeom prst="line">
            <a:avLst/>
          </a:prstGeom>
          <a:ln w="9360">
            <a:solidFill>
              <a:srgbClr val="ffff00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Line 45"/>
          <p:cNvSpPr/>
          <p:nvPr/>
        </p:nvSpPr>
        <p:spPr>
          <a:xfrm>
            <a:off x="5867280" y="4267080"/>
            <a:ext cx="1067040" cy="0"/>
          </a:xfrm>
          <a:prstGeom prst="line">
            <a:avLst/>
          </a:prstGeom>
          <a:ln w="9360">
            <a:solidFill>
              <a:srgbClr val="ffff00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Line 46"/>
          <p:cNvSpPr/>
          <p:nvPr/>
        </p:nvSpPr>
        <p:spPr>
          <a:xfrm>
            <a:off x="5867280" y="4724280"/>
            <a:ext cx="1067040" cy="0"/>
          </a:xfrm>
          <a:prstGeom prst="line">
            <a:avLst/>
          </a:prstGeom>
          <a:ln w="9360">
            <a:solidFill>
              <a:srgbClr val="ffff00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Line 47"/>
          <p:cNvSpPr/>
          <p:nvPr/>
        </p:nvSpPr>
        <p:spPr>
          <a:xfrm>
            <a:off x="5867280" y="5257800"/>
            <a:ext cx="1067040" cy="0"/>
          </a:xfrm>
          <a:prstGeom prst="line">
            <a:avLst/>
          </a:prstGeom>
          <a:ln w="9360">
            <a:solidFill>
              <a:srgbClr val="ffff00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Line 48"/>
          <p:cNvSpPr/>
          <p:nvPr/>
        </p:nvSpPr>
        <p:spPr>
          <a:xfrm>
            <a:off x="5867280" y="5715000"/>
            <a:ext cx="1067040" cy="0"/>
          </a:xfrm>
          <a:prstGeom prst="line">
            <a:avLst/>
          </a:prstGeom>
          <a:ln w="9360">
            <a:solidFill>
              <a:srgbClr val="ffff00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Line 49"/>
          <p:cNvSpPr/>
          <p:nvPr/>
        </p:nvSpPr>
        <p:spPr>
          <a:xfrm>
            <a:off x="5867280" y="6172200"/>
            <a:ext cx="1067040" cy="0"/>
          </a:xfrm>
          <a:prstGeom prst="line">
            <a:avLst/>
          </a:prstGeom>
          <a:ln w="9360">
            <a:solidFill>
              <a:srgbClr val="ffff00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Line 50"/>
          <p:cNvSpPr/>
          <p:nvPr/>
        </p:nvSpPr>
        <p:spPr>
          <a:xfrm>
            <a:off x="6248520" y="6629400"/>
            <a:ext cx="685800" cy="0"/>
          </a:xfrm>
          <a:prstGeom prst="line">
            <a:avLst/>
          </a:prstGeom>
          <a:ln w="9360">
            <a:solidFill>
              <a:srgbClr val="ffff00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Line 51"/>
          <p:cNvSpPr/>
          <p:nvPr/>
        </p:nvSpPr>
        <p:spPr>
          <a:xfrm>
            <a:off x="3581280" y="1600200"/>
            <a:ext cx="0" cy="4876920"/>
          </a:xfrm>
          <a:prstGeom prst="line">
            <a:avLst/>
          </a:prstGeom>
          <a:ln w="9360">
            <a:solidFill>
              <a:srgbClr val="cccc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Line 52"/>
          <p:cNvSpPr/>
          <p:nvPr/>
        </p:nvSpPr>
        <p:spPr>
          <a:xfrm>
            <a:off x="2362320" y="1600200"/>
            <a:ext cx="0" cy="4876920"/>
          </a:xfrm>
          <a:prstGeom prst="line">
            <a:avLst/>
          </a:prstGeom>
          <a:ln w="9360">
            <a:solidFill>
              <a:srgbClr val="cccc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Line 53"/>
          <p:cNvSpPr/>
          <p:nvPr/>
        </p:nvSpPr>
        <p:spPr>
          <a:xfrm>
            <a:off x="1143000" y="1600200"/>
            <a:ext cx="0" cy="4876920"/>
          </a:xfrm>
          <a:prstGeom prst="line">
            <a:avLst/>
          </a:prstGeom>
          <a:ln w="9360">
            <a:solidFill>
              <a:srgbClr val="cccc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Text Box 54"/>
          <p:cNvSpPr/>
          <p:nvPr/>
        </p:nvSpPr>
        <p:spPr>
          <a:xfrm>
            <a:off x="1051560" y="6411960"/>
            <a:ext cx="3873240" cy="398880"/>
          </a:xfrm>
          <a:prstGeom prst="rect">
            <a:avLst/>
          </a:prstGeom>
          <a:noFill/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Taux de changement annuel (%)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Text Box 56"/>
          <p:cNvSpPr/>
          <p:nvPr/>
        </p:nvSpPr>
        <p:spPr>
          <a:xfrm>
            <a:off x="250920" y="3357720"/>
            <a:ext cx="3429000" cy="238068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Étude réalisée avec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130 000 enfants et adolescents âgés entre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6 et 19 ans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provenant de 11 pays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CA" sz="15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Grant R. Tomkinson, Tim S. Olds, Luc A. Léger et  Georges Cazorla</a:t>
            </a:r>
            <a:endParaRPr b="0" lang="en-US" sz="15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Line 60"/>
          <p:cNvSpPr/>
          <p:nvPr/>
        </p:nvSpPr>
        <p:spPr>
          <a:xfrm>
            <a:off x="4876920" y="1600200"/>
            <a:ext cx="0" cy="4876920"/>
          </a:xfrm>
          <a:prstGeom prst="line">
            <a:avLst/>
          </a:prstGeom>
          <a:ln w="9360">
            <a:solidFill>
              <a:srgbClr val="cccc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Text Box 61"/>
          <p:cNvSpPr/>
          <p:nvPr/>
        </p:nvSpPr>
        <p:spPr>
          <a:xfrm>
            <a:off x="539640" y="765000"/>
            <a:ext cx="800100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CA" sz="16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,,, 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50" dur="indefinite" restart="never" nodeType="tmRoot">
          <p:childTnLst>
            <p:seq>
              <p:cTn id="251" dur="indefinite" nodeType="mainSeq">
                <p:childTnLst>
                  <p:par>
                    <p:cTn id="252" nodeType="clickEffect" fill="hold">
                      <p:stCondLst>
                        <p:cond delay="0"/>
                      </p:stCondLst>
                      <p:childTnLst>
                        <p:par>
                          <p:cTn id="25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54" nodeType="afterEffect" fill="hold" presetClass="entr" presetID="9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56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7" nodeType="clickEffect" fill="hold">
                      <p:stCondLst>
                        <p:cond delay="indefinite"/>
                      </p:stCondLst>
                      <p:childTnLst>
                        <p:par>
                          <p:cTn id="25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59" nodeType="clickEffect" fill="hold" presetClass="entr" presetID="17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61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62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63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64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5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266" nodeType="afterEffect" fill="hold" presetClass="entr" presetID="17" presetSubtype="2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68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69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70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71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2" nodeType="afterEffect" fill="hold">
                            <p:stCondLst>
                              <p:cond delay="2000"/>
                            </p:stCondLst>
                            <p:childTnLst>
                              <p:par>
                                <p:cTn id="273" nodeType="afterEffect" fill="hold" presetClass="entr" presetID="17" presetSubtype="2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75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76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77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78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9" nodeType="afterEffect" fill="hold">
                            <p:stCondLst>
                              <p:cond delay="3500"/>
                            </p:stCondLst>
                            <p:childTnLst>
                              <p:par>
                                <p:cTn id="280" nodeType="afterEffect" fill="hold" presetClass="entr" presetID="17" presetSubtype="2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82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83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84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85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6" nodeType="afterEffect" fill="hold">
                            <p:stCondLst>
                              <p:cond delay="5000"/>
                            </p:stCondLst>
                            <p:childTnLst>
                              <p:par>
                                <p:cTn id="287" nodeType="afterEffect" fill="hold" presetClass="entr" presetID="17" presetSubtype="2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89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90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91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92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3" nodeType="afterEffect" fill="hold">
                            <p:stCondLst>
                              <p:cond delay="6500"/>
                            </p:stCondLst>
                            <p:childTnLst>
                              <p:par>
                                <p:cTn id="294" nodeType="afterEffect" fill="hold" presetClass="entr" presetID="17" presetSubtype="2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96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97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98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99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0" nodeType="afterEffect" fill="hold">
                            <p:stCondLst>
                              <p:cond delay="8000"/>
                            </p:stCondLst>
                            <p:childTnLst>
                              <p:par>
                                <p:cTn id="301" nodeType="afterEffect" fill="hold" presetClass="entr" presetID="17" presetSubtype="2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03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04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05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06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7" nodeType="afterEffect" fill="hold">
                            <p:stCondLst>
                              <p:cond delay="9500"/>
                            </p:stCondLst>
                            <p:childTnLst>
                              <p:par>
                                <p:cTn id="308" nodeType="afterEffect" fill="hold" presetClass="entr" presetID="17" presetSubtype="2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10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11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12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13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4" nodeType="afterEffect" fill="hold">
                            <p:stCondLst>
                              <p:cond delay="11000"/>
                            </p:stCondLst>
                            <p:childTnLst>
                              <p:par>
                                <p:cTn id="315" nodeType="afterEffect" fill="hold" presetClass="entr" presetID="17" presetSubtype="2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17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18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19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20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1" nodeType="afterEffect" fill="hold">
                            <p:stCondLst>
                              <p:cond delay="12500"/>
                            </p:stCondLst>
                            <p:childTnLst>
                              <p:par>
                                <p:cTn id="322" nodeType="afterEffect" fill="hold" presetClass="entr" presetID="17" presetSubtype="2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24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25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26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27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8" nodeType="afterEffect" fill="hold">
                            <p:stCondLst>
                              <p:cond delay="14000"/>
                            </p:stCondLst>
                            <p:childTnLst>
                              <p:par>
                                <p:cTn id="329" nodeType="afterEffect" fill="hold" presetClass="entr" presetID="17" presetSubtype="8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31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32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33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34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roup 2"/>
          <p:cNvGrpSpPr/>
          <p:nvPr/>
        </p:nvGrpSpPr>
        <p:grpSpPr>
          <a:xfrm>
            <a:off x="609480" y="98280"/>
            <a:ext cx="7467840" cy="6759360"/>
            <a:chOff x="609480" y="98280"/>
            <a:chExt cx="7467840" cy="6759360"/>
          </a:xfrm>
        </p:grpSpPr>
        <p:pic>
          <p:nvPicPr>
            <p:cNvPr id="137" name="Picture 3" descr=""/>
            <p:cNvPicPr/>
            <p:nvPr/>
          </p:nvPicPr>
          <p:blipFill>
            <a:blip r:embed="rId1"/>
            <a:stretch/>
          </p:blipFill>
          <p:spPr>
            <a:xfrm>
              <a:off x="609480" y="888840"/>
              <a:ext cx="7467840" cy="596880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miter/>
            </a:ln>
          </p:spPr>
        </p:pic>
        <p:sp>
          <p:nvSpPr>
            <p:cNvPr id="138" name="Text Box 4"/>
            <p:cNvSpPr/>
            <p:nvPr/>
          </p:nvSpPr>
          <p:spPr>
            <a:xfrm>
              <a:off x="2088360" y="98280"/>
              <a:ext cx="4424040" cy="70380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CA" sz="20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Taux de changement annuel (%) :  </a:t>
              </a:r>
              <a:endParaRPr b="0" lang="en-US" sz="2000" strike="noStrike" u="none">
                <a:solidFill>
                  <a:srgbClr val="ffff00"/>
                </a:solidFill>
                <a:effectLst/>
                <a:uFillTx/>
                <a:latin typeface="Times New Roman"/>
              </a:endParaRPr>
            </a:p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CA" sz="20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moyenne par tranche d’âge et sexe</a:t>
              </a:r>
              <a:endParaRPr b="0" lang="en-US" sz="2000" strike="noStrike" u="none">
                <a:solidFill>
                  <a:srgbClr val="ffff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9" name="Text Box 5"/>
            <p:cNvSpPr/>
            <p:nvPr/>
          </p:nvSpPr>
          <p:spPr>
            <a:xfrm>
              <a:off x="667440" y="1037160"/>
              <a:ext cx="3673440" cy="36828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CA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Taux de</a:t>
              </a:r>
              <a:r>
                <a:rPr b="1" lang="fr-CA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 </a:t>
              </a:r>
              <a:r>
                <a:rPr b="1" lang="fr-CA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changement</a:t>
              </a:r>
              <a:r>
                <a:rPr b="1" lang="fr-CA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 </a:t>
              </a:r>
              <a:r>
                <a:rPr b="1" lang="fr-CA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annuel (%)</a:t>
              </a:r>
              <a:endParaRPr b="0" lang="en-US" sz="1800" strike="noStrike" u="none">
                <a:solidFill>
                  <a:srgbClr val="ffff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40" name="Text Box 6"/>
            <p:cNvSpPr/>
            <p:nvPr/>
          </p:nvSpPr>
          <p:spPr>
            <a:xfrm>
              <a:off x="2177280" y="6375960"/>
              <a:ext cx="3801600" cy="36828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CA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Âge au dernier anniversaire (ans</a:t>
              </a:r>
              <a:r>
                <a:rPr b="1" lang="fr-CA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)</a:t>
              </a:r>
              <a:endParaRPr b="0" lang="en-US" sz="1800" strike="noStrike" u="none">
                <a:solidFill>
                  <a:srgbClr val="ffff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41" name="Text Box 7"/>
            <p:cNvSpPr/>
            <p:nvPr/>
          </p:nvSpPr>
          <p:spPr>
            <a:xfrm>
              <a:off x="6564960" y="3335400"/>
              <a:ext cx="1108080" cy="36828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CA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Garçons</a:t>
              </a:r>
              <a:endParaRPr b="0" lang="en-US" sz="1800" strike="noStrike" u="none">
                <a:solidFill>
                  <a:srgbClr val="ffff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42" name="Text Box 8"/>
            <p:cNvSpPr/>
            <p:nvPr/>
          </p:nvSpPr>
          <p:spPr>
            <a:xfrm>
              <a:off x="4605120" y="4966920"/>
              <a:ext cx="828720" cy="36828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CA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Filles </a:t>
              </a:r>
              <a:endParaRPr b="0" lang="en-US" sz="1800" strike="noStrike" u="none">
                <a:solidFill>
                  <a:srgbClr val="ffff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43" name="Line 9"/>
            <p:cNvSpPr/>
            <p:nvPr/>
          </p:nvSpPr>
          <p:spPr>
            <a:xfrm flipH="1" flipV="1">
              <a:off x="5361120" y="5263200"/>
              <a:ext cx="1055880" cy="592920"/>
            </a:xfrm>
            <a:prstGeom prst="line">
              <a:avLst/>
            </a:prstGeom>
            <a:ln w="38160">
              <a:solidFill>
                <a:srgbClr val="000000"/>
              </a:solidFill>
              <a:prstDash val="sysDot"/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trike="noStrike" u="none">
                <a:solidFill>
                  <a:srgbClr val="ffff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44" name="Line 10"/>
            <p:cNvSpPr/>
            <p:nvPr/>
          </p:nvSpPr>
          <p:spPr>
            <a:xfrm flipV="1">
              <a:off x="6568200" y="3706200"/>
              <a:ext cx="226080" cy="1037880"/>
            </a:xfrm>
            <a:prstGeom prst="line">
              <a:avLst/>
            </a:prstGeom>
            <a:ln w="38160">
              <a:solidFill>
                <a:srgbClr val="000000"/>
              </a:solidFill>
              <a:prstDash val="sysDot"/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trike="noStrike" u="none">
                <a:solidFill>
                  <a:srgbClr val="ffff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45" name="Rectangle 11"/>
            <p:cNvSpPr/>
            <p:nvPr/>
          </p:nvSpPr>
          <p:spPr>
            <a:xfrm>
              <a:off x="7020720" y="5486040"/>
              <a:ext cx="754200" cy="66708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trike="noStrike" u="none">
                <a:solidFill>
                  <a:srgbClr val="ffff00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146" name="Rectangle 12"/>
          <p:cNvSpPr/>
          <p:nvPr/>
        </p:nvSpPr>
        <p:spPr>
          <a:xfrm>
            <a:off x="7010280" y="5486400"/>
            <a:ext cx="838440" cy="6858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Freeform 13"/>
          <p:cNvSpPr/>
          <p:nvPr/>
        </p:nvSpPr>
        <p:spPr>
          <a:xfrm>
            <a:off x="1905120" y="2133720"/>
            <a:ext cx="5105160" cy="3809880"/>
          </a:xfrm>
          <a:custGeom>
            <a:avLst/>
            <a:gdLst>
              <a:gd name="GluePoint1X" fmla="*/ 0 w 3216"/>
              <a:gd name="GluePoint1Y" fmla="*/ 0 h 2400"/>
              <a:gd name="GluePoint2X" fmla="*/ 604837500 w 3216"/>
              <a:gd name="GluePoint2Y" fmla="*/ 2147483647 h 2400"/>
              <a:gd name="GluePoint3X" fmla="*/ 1209675000 w 3216"/>
              <a:gd name="GluePoint3Y" fmla="*/ 2147483647 h 2400"/>
              <a:gd name="GluePoint4X" fmla="*/ 1814512500 w 3216"/>
              <a:gd name="GluePoint4Y" fmla="*/ 120967500 h 2400"/>
              <a:gd name="GluePoint5X" fmla="*/ 2147483647 w 3216"/>
              <a:gd name="GluePoint5Y" fmla="*/ 2147483647 h 2400"/>
              <a:gd name="GluePoint6X" fmla="*/ 2147483647 w 3216"/>
              <a:gd name="GluePoint6Y" fmla="*/ 2147483647 h 2400"/>
              <a:gd name="GluePoint7X" fmla="*/ 2147483647 w 3216"/>
              <a:gd name="GluePoint7Y" fmla="*/ 1693545000 h 2400"/>
              <a:gd name="GluePoint8X" fmla="*/ 2147483647 w 3216"/>
              <a:gd name="GluePoint8Y" fmla="*/ 2147483647 h 2400"/>
              <a:gd name="GluePoint9X" fmla="*/ 2147483647 w 3216"/>
              <a:gd name="GluePoint9Y" fmla="*/ 2147483647 h 2400"/>
              <a:gd name="GluePoint10X" fmla="*/ 2147483647 w 3216"/>
              <a:gd name="GluePoint10Y" fmla="*/ 2147483647 h 2400"/>
              <a:gd name="GluePoint11X" fmla="*/ 2147483647 w 3216"/>
              <a:gd name="GluePoint11Y" fmla="*/ 2147483647 h 24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</a:cxnLst>
            <a:rect l="l" t="t" r="r" b="b"/>
            <a:pathLst>
              <a:path w="3216" h="2400">
                <a:moveTo>
                  <a:pt x="0" y="0"/>
                </a:moveTo>
                <a:lnTo>
                  <a:pt x="240" y="1296"/>
                </a:lnTo>
                <a:lnTo>
                  <a:pt x="480" y="1248"/>
                </a:lnTo>
                <a:lnTo>
                  <a:pt x="720" y="48"/>
                </a:lnTo>
                <a:lnTo>
                  <a:pt x="960" y="864"/>
                </a:lnTo>
                <a:lnTo>
                  <a:pt x="1200" y="1008"/>
                </a:lnTo>
                <a:lnTo>
                  <a:pt x="1968" y="672"/>
                </a:lnTo>
                <a:lnTo>
                  <a:pt x="2208" y="1056"/>
                </a:lnTo>
                <a:lnTo>
                  <a:pt x="2688" y="1536"/>
                </a:lnTo>
                <a:lnTo>
                  <a:pt x="2976" y="2400"/>
                </a:lnTo>
                <a:lnTo>
                  <a:pt x="3216" y="2400"/>
                </a:lnTo>
              </a:path>
            </a:pathLst>
          </a:custGeom>
          <a:noFill/>
          <a:ln w="5724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1143000" y="609480"/>
            <a:ext cx="6477120" cy="60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CA" sz="32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EXPLICATIONS POSSIBLES :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/>
          </p:nvPr>
        </p:nvSpPr>
        <p:spPr>
          <a:xfrm>
            <a:off x="1143000" y="1980720"/>
            <a:ext cx="7772400" cy="342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lnSpc>
                <a:spcPct val="100000"/>
              </a:lnSpc>
              <a:spcBef>
                <a:spcPts val="700"/>
              </a:spcBef>
              <a:buClr>
                <a:srgbClr val="ffff00"/>
              </a:buClr>
              <a:buFont typeface="Bookman Old Style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Aptitude physique </a:t>
            </a: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Symbol"/>
                <a:ea typeface="Symbol"/>
              </a:rPr>
              <a:t></a:t>
            </a:r>
            <a:r>
              <a:rPr b="1" lang="fr-CA" sz="24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 (</a:t>
            </a:r>
            <a:r>
              <a:rPr b="1" lang="fr-FR" sz="28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presque toutes les études convergent)</a:t>
            </a:r>
            <a:endParaRPr b="0" lang="en-US" sz="2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lvl="1" marL="743040" indent="-285840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	</a:t>
            </a: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 - Activités physiques sportives </a:t>
            </a: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Symbol"/>
                <a:ea typeface="Symbol"/>
              </a:rPr>
              <a:t>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lvl="1" marL="743040" indent="-285840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	</a:t>
            </a: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 - Activités physiques domestiques </a:t>
            </a: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Symbol"/>
                <a:ea typeface="Symbol"/>
              </a:rPr>
              <a:t>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lvl="1" marL="743040" indent="-285840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lvl="1" marL="743040" indent="-285840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	</a:t>
            </a: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 - TV-jeux vidéo-internet </a:t>
            </a: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Symbol"/>
                <a:ea typeface="Symbol"/>
              </a:rPr>
              <a:t>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lvl="1" marL="743040" indent="-285840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	</a:t>
            </a: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 - </a:t>
            </a:r>
            <a:r>
              <a:rPr b="1" lang="fr-CA" sz="24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Transport motorisé</a:t>
            </a: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 </a:t>
            </a: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Symbol"/>
                <a:ea typeface="Symbol"/>
              </a:rPr>
              <a:t>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Rectangle 4"/>
          <p:cNvSpPr/>
          <p:nvPr/>
        </p:nvSpPr>
        <p:spPr>
          <a:xfrm>
            <a:off x="762120" y="5791320"/>
            <a:ext cx="624816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lvl="1" marL="457200">
              <a:lnSpc>
                <a:spcPct val="100000"/>
              </a:lnSpc>
              <a:spcBef>
                <a:spcPts val="601"/>
              </a:spcBef>
              <a:buClr>
                <a:srgbClr val="ffff00"/>
              </a:buClr>
              <a:buFont typeface="Bookman Old Style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  Ingestion alimentaire</a:t>
            </a: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 </a:t>
            </a: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&amp; IMC</a:t>
            </a: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 </a:t>
            </a: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Symbol"/>
                <a:ea typeface="Symbol"/>
              </a:rPr>
              <a:t>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Text Box 5"/>
          <p:cNvSpPr/>
          <p:nvPr/>
        </p:nvSpPr>
        <p:spPr>
          <a:xfrm>
            <a:off x="772920" y="3135240"/>
            <a:ext cx="82260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NAP</a:t>
            </a: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Symbol"/>
                <a:ea typeface="Symbol"/>
              </a:rPr>
              <a:t>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AutoShape 6"/>
          <p:cNvSpPr/>
          <p:nvPr/>
        </p:nvSpPr>
        <p:spPr>
          <a:xfrm>
            <a:off x="1676520" y="2971800"/>
            <a:ext cx="228600" cy="685800"/>
          </a:xfrm>
          <a:custGeom>
            <a:avLst/>
            <a:gdLst>
              <a:gd name="textAreaLeft" fmla="*/ 146160 w 228600"/>
              <a:gd name="textAreaRight" fmla="*/ 228960 w 228600"/>
              <a:gd name="textAreaTop" fmla="*/ 17640 h 685800"/>
              <a:gd name="textAreaBottom" fmla="*/ 668160 h 685800"/>
              <a:gd name="GluePoint1X" fmla="*/ 21600 w 21600"/>
              <a:gd name="GluePoint1Y" fmla="*/ 0 h 21600"/>
              <a:gd name="GluePoint2X" fmla="*/ 0 w 21600"/>
              <a:gd name="GluePoint2Y" fmla="*/ 10800 h 21600"/>
              <a:gd name="GluePoint3X" fmla="*/ 21600 w 21600"/>
              <a:gd name="GluePoint3Y" fmla="*/ 21600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w="21600" h="21600">
                <a:moveTo>
                  <a:pt x="21600" y="0"/>
                </a:moveTo>
                <a:cubicBezTo>
                  <a:pt x="16200" y="0"/>
                  <a:pt x="10800" y="900"/>
                  <a:pt x="10800" y="1800"/>
                </a:cubicBezTo>
                <a:lnTo>
                  <a:pt x="10800" y="9000"/>
                </a:lnTo>
                <a:cubicBezTo>
                  <a:pt x="10800" y="9900"/>
                  <a:pt x="5400" y="10800"/>
                  <a:pt x="0" y="10800"/>
                </a:cubicBezTo>
                <a:cubicBezTo>
                  <a:pt x="5400" y="10800"/>
                  <a:pt x="10800" y="11700"/>
                  <a:pt x="10800" y="12600"/>
                </a:cubicBezTo>
                <a:lnTo>
                  <a:pt x="10800" y="19800"/>
                </a:lnTo>
                <a:cubicBezTo>
                  <a:pt x="10800" y="20700"/>
                  <a:pt x="16200" y="21600"/>
                  <a:pt x="21600" y="21600"/>
                </a:cubicBezTo>
              </a:path>
            </a:pathLst>
          </a:custGeom>
          <a:noFill/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AutoShape 7"/>
          <p:cNvSpPr/>
          <p:nvPr/>
        </p:nvSpPr>
        <p:spPr>
          <a:xfrm>
            <a:off x="1676520" y="4343400"/>
            <a:ext cx="228600" cy="685800"/>
          </a:xfrm>
          <a:custGeom>
            <a:avLst/>
            <a:gdLst>
              <a:gd name="textAreaLeft" fmla="*/ 146160 w 228600"/>
              <a:gd name="textAreaRight" fmla="*/ 228960 w 228600"/>
              <a:gd name="textAreaTop" fmla="*/ 17640 h 685800"/>
              <a:gd name="textAreaBottom" fmla="*/ 668160 h 685800"/>
              <a:gd name="GluePoint1X" fmla="*/ 21600 w 21600"/>
              <a:gd name="GluePoint1Y" fmla="*/ 0 h 21600"/>
              <a:gd name="GluePoint2X" fmla="*/ 0 w 21600"/>
              <a:gd name="GluePoint2Y" fmla="*/ 10800 h 21600"/>
              <a:gd name="GluePoint3X" fmla="*/ 21600 w 21600"/>
              <a:gd name="GluePoint3Y" fmla="*/ 21600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w="21600" h="21600">
                <a:moveTo>
                  <a:pt x="21600" y="0"/>
                </a:moveTo>
                <a:cubicBezTo>
                  <a:pt x="16200" y="0"/>
                  <a:pt x="10800" y="900"/>
                  <a:pt x="10800" y="1800"/>
                </a:cubicBezTo>
                <a:lnTo>
                  <a:pt x="10800" y="9000"/>
                </a:lnTo>
                <a:cubicBezTo>
                  <a:pt x="10800" y="9900"/>
                  <a:pt x="5400" y="10800"/>
                  <a:pt x="0" y="10800"/>
                </a:cubicBezTo>
                <a:cubicBezTo>
                  <a:pt x="5400" y="10800"/>
                  <a:pt x="10800" y="11700"/>
                  <a:pt x="10800" y="12600"/>
                </a:cubicBezTo>
                <a:lnTo>
                  <a:pt x="10800" y="19800"/>
                </a:lnTo>
                <a:cubicBezTo>
                  <a:pt x="10800" y="20700"/>
                  <a:pt x="16200" y="21600"/>
                  <a:pt x="21600" y="21600"/>
                </a:cubicBezTo>
              </a:path>
            </a:pathLst>
          </a:custGeom>
          <a:noFill/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Text Box 8"/>
          <p:cNvSpPr/>
          <p:nvPr/>
        </p:nvSpPr>
        <p:spPr>
          <a:xfrm>
            <a:off x="831240" y="4479840"/>
            <a:ext cx="74268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NIP</a:t>
            </a: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Symbol"/>
                <a:ea typeface="Symbol"/>
              </a:rPr>
              <a:t>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Text Box 2"/>
          <p:cNvSpPr/>
          <p:nvPr/>
        </p:nvSpPr>
        <p:spPr>
          <a:xfrm>
            <a:off x="2820240" y="2286000"/>
            <a:ext cx="346356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6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EN FRANCE…</a:t>
            </a:r>
            <a:endParaRPr b="0" lang="en-US" sz="3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Text Box 3"/>
          <p:cNvSpPr/>
          <p:nvPr/>
        </p:nvSpPr>
        <p:spPr>
          <a:xfrm>
            <a:off x="837360" y="4038480"/>
            <a:ext cx="7573680" cy="137484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L’opération France-Eval 1988</a:t>
            </a:r>
            <a:endParaRPr b="0" lang="en-US" sz="2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N : 6220 scolaires âgés entre 7 et 11ans</a:t>
            </a:r>
            <a:endParaRPr b="0" lang="en-US" sz="2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7" name="Object 2"/>
          <p:cNvGraphicFramePr/>
          <p:nvPr/>
        </p:nvGraphicFramePr>
        <p:xfrm>
          <a:off x="382680" y="2666880"/>
          <a:ext cx="4189320" cy="2274840"/>
        </p:xfrm>
        <a:graphic>
          <a:graphicData uri="http://schemas.openxmlformats.org/presentationml/2006/ole">
            <p:oleObj progId="Excel.Sheet.12" r:id="rId1" spid="">
              <p:embed/>
              <p:pic>
                <p:nvPicPr>
                  <p:cNvPr id="158" name="Object 2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382680" y="2666880"/>
                    <a:ext cx="4189320" cy="227484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graphicFrame>
        <p:nvGraphicFramePr>
          <p:cNvPr id="159" name="Object 3"/>
          <p:cNvGraphicFramePr/>
          <p:nvPr/>
        </p:nvGraphicFramePr>
        <p:xfrm>
          <a:off x="4649760" y="2666880"/>
          <a:ext cx="4189320" cy="2274840"/>
        </p:xfrm>
        <a:graphic>
          <a:graphicData uri="http://schemas.openxmlformats.org/presentationml/2006/ole">
            <p:oleObj progId="Excel.Sheet.12" r:id="rId3" spid="">
              <p:embed/>
              <p:pic>
                <p:nvPicPr>
                  <p:cNvPr id="160" name="Object 3" descr=""/>
                  <p:cNvPicPr/>
                  <p:nvPr/>
                </p:nvPicPr>
                <p:blipFill>
                  <a:blip r:embed="rId4"/>
                  <a:stretch/>
                </p:blipFill>
                <p:spPr>
                  <a:xfrm>
                    <a:off x="4649760" y="2666880"/>
                    <a:ext cx="4189320" cy="227484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161" name="Text Box 4"/>
          <p:cNvSpPr/>
          <p:nvPr/>
        </p:nvSpPr>
        <p:spPr>
          <a:xfrm>
            <a:off x="693720" y="246240"/>
            <a:ext cx="8008920" cy="2434680"/>
          </a:xfrm>
          <a:prstGeom prst="rect">
            <a:avLst/>
          </a:prstGeom>
          <a:noFill/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2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QU’EN EST-IL DES JEUNES FRANÇAIS ? 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2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PREMIERE ETUDE  :</a:t>
            </a: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OPERATION NATIONALE : FRANCE-EVAL (1988)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Pourcentages des enfants (7-11 ans) pratiquant une APS 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en dehors des programmes scolaires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Text Box 5"/>
          <p:cNvSpPr/>
          <p:nvPr/>
        </p:nvSpPr>
        <p:spPr>
          <a:xfrm>
            <a:off x="1243080" y="5303880"/>
            <a:ext cx="2677680" cy="398880"/>
          </a:xfrm>
          <a:prstGeom prst="rect">
            <a:avLst/>
          </a:prstGeom>
          <a:noFill/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GAR</a:t>
            </a:r>
            <a:r>
              <a:rPr b="0" lang="en-US" sz="2000" strike="noStrike" u="none">
                <a:solidFill>
                  <a:srgbClr val="ffff00"/>
                </a:solidFill>
                <a:effectLst/>
                <a:uFillTx/>
                <a:latin typeface="Arial"/>
                <a:ea typeface="Arial"/>
              </a:rPr>
              <a:t>Ç</a:t>
            </a: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ONS : n = 3208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Text Box 6"/>
          <p:cNvSpPr/>
          <p:nvPr/>
        </p:nvSpPr>
        <p:spPr>
          <a:xfrm>
            <a:off x="5857920" y="5334120"/>
            <a:ext cx="2239560" cy="398880"/>
          </a:xfrm>
          <a:prstGeom prst="rect">
            <a:avLst/>
          </a:prstGeom>
          <a:noFill/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FILLES : n = 3012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4" name=""/>
          <p:cNvGraphicFramePr/>
          <p:nvPr/>
        </p:nvGraphicFramePr>
        <p:xfrm>
          <a:off x="0" y="762120"/>
          <a:ext cx="9142560" cy="5699160"/>
        </p:xfrm>
        <a:graphic>
          <a:graphicData uri="http://schemas.openxmlformats.org/drawingml/2006/table">
            <a:tbl>
              <a:tblPr/>
              <a:tblGrid>
                <a:gridCol w="2284560"/>
                <a:gridCol w="1447560"/>
                <a:gridCol w="992160"/>
                <a:gridCol w="1067040"/>
                <a:gridCol w="1676160"/>
                <a:gridCol w="1675080"/>
              </a:tblGrid>
              <a:tr h="697680"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8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TESTS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1368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13680">
                      <a:solidFill>
                        <a:srgbClr val="ffff00"/>
                      </a:solidFill>
                      <a:prstDash val="solid"/>
                    </a:lnT>
                    <a:lnB w="576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8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Sexe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13680">
                      <a:solidFill>
                        <a:srgbClr val="ffff00"/>
                      </a:solidFill>
                      <a:prstDash val="solid"/>
                    </a:lnT>
                    <a:lnB w="576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8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Taille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13680">
                      <a:solidFill>
                        <a:srgbClr val="ffff00"/>
                      </a:solidFill>
                      <a:prstDash val="solid"/>
                    </a:lnT>
                    <a:lnB w="576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8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Poids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13680">
                      <a:solidFill>
                        <a:srgbClr val="ffff00"/>
                      </a:solidFill>
                      <a:prstDash val="solid"/>
                    </a:lnT>
                    <a:lnB w="576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8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Nbre d’heures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8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d’ EPS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13680">
                      <a:solidFill>
                        <a:srgbClr val="ffff00"/>
                      </a:solidFill>
                      <a:prstDash val="solid"/>
                    </a:lnT>
                    <a:lnB w="576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8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Nbre d’heures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8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D ’APS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00"/>
                      </a:solidFill>
                      <a:prstDash val="solid"/>
                    </a:lnL>
                    <a:lnR w="13680">
                      <a:solidFill>
                        <a:srgbClr val="ffff00"/>
                      </a:solidFill>
                      <a:prstDash val="solid"/>
                    </a:lnR>
                    <a:lnT w="13680">
                      <a:solidFill>
                        <a:srgbClr val="ffff00"/>
                      </a:solidFill>
                      <a:prstDash val="solid"/>
                    </a:lnT>
                    <a:lnB w="576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</a:tr>
              <a:tr h="5001480"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4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8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Souplesse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4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8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Equilibre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4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8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Adresse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4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8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Sprint 50m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4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8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Navette 10 x 5m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4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8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Frappe de plaques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4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8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Saut en longueur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4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8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Détente verticale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4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8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Navette aérobie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4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8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Abdo en 30 s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4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8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Durée de suspens.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1368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5760">
                      <a:solidFill>
                        <a:srgbClr val="ffff00"/>
                      </a:solidFill>
                      <a:prstDash val="solid"/>
                    </a:lnT>
                    <a:lnB w="1368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4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800" strike="noStrike" u="sng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S ++ (filles)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4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800" strike="noStrike" u="sng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S ++ (filles)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4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8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S ++ (garç.)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4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8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S ++ (garç.)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4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8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S ++ (garç.)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4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8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NS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4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8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S ++ (garç.)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4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8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S ++ (garç.)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4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8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S ++ (garç.)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4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8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S ++ (garç.)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4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8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S ++ (garç.)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5760">
                      <a:solidFill>
                        <a:srgbClr val="ffff00"/>
                      </a:solidFill>
                      <a:prstDash val="solid"/>
                    </a:lnT>
                    <a:lnB w="1368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4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800" strike="noStrike" u="sng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S –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4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8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S ++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4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8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S ++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4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800" strike="noStrike" u="sng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S - -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4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800" strike="noStrike" u="sng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S - -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4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800" strike="noStrike" u="sng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S - -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4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8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S ++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4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8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S ++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4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8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S ++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4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8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S ++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4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8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S ++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5760">
                      <a:solidFill>
                        <a:srgbClr val="ffff00"/>
                      </a:solidFill>
                      <a:prstDash val="solid"/>
                    </a:lnT>
                    <a:lnB w="1368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4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800" strike="noStrike" u="sng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NS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4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800" strike="noStrike" u="sng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S –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4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8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NS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4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8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S ++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4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8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S ++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4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8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S ++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4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8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S ++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4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8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S ++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4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8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S ++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4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8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S ++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4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8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S ++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5760">
                      <a:solidFill>
                        <a:srgbClr val="ffff00"/>
                      </a:solidFill>
                      <a:prstDash val="solid"/>
                    </a:lnT>
                    <a:lnB w="1368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4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800" strike="noStrike" u="sng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NS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4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8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S ++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4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8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S ++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4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800" strike="noStrike" u="sng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NS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4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8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S ++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4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800" strike="noStrike" u="sng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NS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4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8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S ++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4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8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S ++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4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800" strike="noStrike" u="sng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NS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4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8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S ++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4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800" strike="noStrike" u="sng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NS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5760">
                      <a:solidFill>
                        <a:srgbClr val="ffff00"/>
                      </a:solidFill>
                      <a:prstDash val="solid"/>
                    </a:lnT>
                    <a:lnB w="1368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4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8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S ++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4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8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S ++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4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8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S +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4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800" strike="noStrike" u="sng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S - -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4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8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NS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4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S - -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4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8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NS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4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8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S +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4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8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S ++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4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8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S ++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4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8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S ++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00"/>
                      </a:solidFill>
                      <a:prstDash val="solid"/>
                    </a:lnL>
                    <a:lnR w="13680">
                      <a:solidFill>
                        <a:srgbClr val="ffff00"/>
                      </a:solidFill>
                      <a:prstDash val="solid"/>
                    </a:lnR>
                    <a:lnT w="5760">
                      <a:solidFill>
                        <a:srgbClr val="ffff00"/>
                      </a:solidFill>
                      <a:prstDash val="solid"/>
                    </a:lnT>
                    <a:lnB w="1368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65" name="Oval 25"/>
          <p:cNvSpPr/>
          <p:nvPr/>
        </p:nvSpPr>
        <p:spPr>
          <a:xfrm>
            <a:off x="5943600" y="4952880"/>
            <a:ext cx="3198960" cy="609840"/>
          </a:xfrm>
          <a:prstGeom prst="ellipse">
            <a:avLst/>
          </a:prstGeom>
          <a:noFill/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Text Box 26"/>
          <p:cNvSpPr/>
          <p:nvPr/>
        </p:nvSpPr>
        <p:spPr>
          <a:xfrm>
            <a:off x="-76320" y="6575400"/>
            <a:ext cx="937260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+ significatif P &lt; 0.05;  ++ significatif P &lt; 0.01;  -  r négatif significatif P &lt; 0.05;  - - r négatif significatif P &lt; 0.01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Text Box 27"/>
          <p:cNvSpPr/>
          <p:nvPr/>
        </p:nvSpPr>
        <p:spPr>
          <a:xfrm>
            <a:off x="1474200" y="0"/>
            <a:ext cx="7124400" cy="70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REGRESSION MULTIPLE ENTRE CAPACITES MOTRICES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ET VARIABLES INTRINSEQUES ET EXTRINSEQUES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Text Box 31"/>
          <p:cNvSpPr/>
          <p:nvPr/>
        </p:nvSpPr>
        <p:spPr>
          <a:xfrm>
            <a:off x="109440" y="44280"/>
            <a:ext cx="141300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Opération 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France-Eval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35" dur="indefinite" restart="never" nodeType="tmRoot">
          <p:childTnLst>
            <p:seq>
              <p:cTn id="336" dur="indefinite" nodeType="mainSeq">
                <p:childTnLst>
                  <p:par>
                    <p:cTn id="337" nodeType="clickEffect" fill="hold">
                      <p:stCondLst>
                        <p:cond delay="indefinite"/>
                      </p:stCondLst>
                      <p:childTnLst>
                        <p:par>
                          <p:cTn id="33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39" nodeType="clickEffect" fill="hold" presetClass="entr" presetID="19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41" dur="50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width*sin(2.5*pi*$)" tm="0">
                                          <p:val>
                                            <p:fltVal val="0"/>
                                          </p:val>
                                        </p:tav>
                                        <p:tav fmla="width*sin(2.5*pi*$)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42" dur="50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Text Box 2"/>
          <p:cNvSpPr/>
          <p:nvPr/>
        </p:nvSpPr>
        <p:spPr>
          <a:xfrm>
            <a:off x="990720" y="2286000"/>
            <a:ext cx="740448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6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IV - EN REGION AQUITAINE …</a:t>
            </a:r>
            <a:endParaRPr b="0" lang="en-US" sz="3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Text Box 3"/>
          <p:cNvSpPr/>
          <p:nvPr/>
        </p:nvSpPr>
        <p:spPr>
          <a:xfrm>
            <a:off x="1519920" y="3886200"/>
            <a:ext cx="6103800" cy="174060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Opération Aquitaine-EVAL 1999</a:t>
            </a:r>
            <a:endParaRPr b="0" lang="en-US" sz="2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11 – 18 ans et + ; n = 2617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( filles : n = 1172. Garçons : n = 1445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1" name="Object 2"/>
          <p:cNvGraphicFramePr/>
          <p:nvPr/>
        </p:nvGraphicFramePr>
        <p:xfrm>
          <a:off x="1143000" y="152280"/>
          <a:ext cx="5410080" cy="3124440"/>
        </p:xfrm>
        <a:graphic>
          <a:graphicData uri="http://schemas.openxmlformats.org/presentationml/2006/ole">
            <p:oleObj progId="Excel.Sheet.12" r:id="rId1" spid="">
              <p:embed/>
              <p:pic>
                <p:nvPicPr>
                  <p:cNvPr id="172" name="Object 2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1143000" y="152280"/>
                    <a:ext cx="5410080" cy="312444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173" name="Text Box 3"/>
          <p:cNvSpPr/>
          <p:nvPr/>
        </p:nvSpPr>
        <p:spPr>
          <a:xfrm>
            <a:off x="3962520" y="304920"/>
            <a:ext cx="2332080" cy="612000"/>
          </a:xfrm>
          <a:prstGeom prst="rect">
            <a:avLst/>
          </a:prstGeom>
          <a:solidFill>
            <a:srgbClr val="ccec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000000"/>
                </a:solidFill>
                <a:effectLst/>
                <a:uFillTx/>
                <a:latin typeface="Bookman Old Style"/>
              </a:rPr>
              <a:t>Nombre d’heures 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000000"/>
                </a:solidFill>
                <a:effectLst/>
                <a:uFillTx/>
                <a:latin typeface="Bookman Old Style"/>
              </a:rPr>
              <a:t>d’EPS </a:t>
            </a:r>
            <a:r>
              <a:rPr b="1" lang="fr-FR" sz="1800" strike="noStrike" u="sng">
                <a:solidFill>
                  <a:srgbClr val="000000"/>
                </a:solidFill>
                <a:effectLst/>
                <a:uFillTx/>
                <a:latin typeface="Bookman Old Style"/>
              </a:rPr>
              <a:t>par semaine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174" name="Object 4"/>
          <p:cNvGraphicFramePr/>
          <p:nvPr/>
        </p:nvGraphicFramePr>
        <p:xfrm>
          <a:off x="3276720" y="3286080"/>
          <a:ext cx="5410080" cy="3191040"/>
        </p:xfrm>
        <a:graphic>
          <a:graphicData uri="http://schemas.openxmlformats.org/presentationml/2006/ole">
            <p:oleObj progId="Excel.Sheet.12" r:id="rId3" spid="">
              <p:embed/>
              <p:pic>
                <p:nvPicPr>
                  <p:cNvPr id="175" name="Object 4" descr=""/>
                  <p:cNvPicPr/>
                  <p:nvPr/>
                </p:nvPicPr>
                <p:blipFill>
                  <a:blip r:embed="rId4"/>
                  <a:stretch/>
                </p:blipFill>
                <p:spPr>
                  <a:xfrm>
                    <a:off x="3276720" y="3286080"/>
                    <a:ext cx="5410080" cy="319104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176" name="Text Box 5"/>
          <p:cNvSpPr/>
          <p:nvPr/>
        </p:nvSpPr>
        <p:spPr>
          <a:xfrm rot="16201800">
            <a:off x="1740960" y="4277880"/>
            <a:ext cx="2158920" cy="91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Pourcentages de l’échantillon total 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: n = 2404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Text Box 6"/>
          <p:cNvSpPr/>
          <p:nvPr/>
        </p:nvSpPr>
        <p:spPr>
          <a:xfrm>
            <a:off x="5411520" y="6491160"/>
            <a:ext cx="175608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Heures par jour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Rectangle 7"/>
          <p:cNvSpPr/>
          <p:nvPr/>
        </p:nvSpPr>
        <p:spPr>
          <a:xfrm>
            <a:off x="6418800" y="3429000"/>
            <a:ext cx="2029320" cy="1099440"/>
          </a:xfrm>
          <a:prstGeom prst="rect">
            <a:avLst/>
          </a:prstGeom>
          <a:solidFill>
            <a:srgbClr val="ccec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000000"/>
                </a:solidFill>
                <a:effectLst/>
                <a:uFillTx/>
                <a:latin typeface="Bookman Old Style"/>
              </a:rPr>
              <a:t>Nombre d’heures 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000000"/>
                </a:solidFill>
                <a:effectLst/>
                <a:uFillTx/>
                <a:latin typeface="Bookman Old Style"/>
              </a:rPr>
              <a:t>de télévision et 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000000"/>
                </a:solidFill>
                <a:effectLst/>
                <a:uFillTx/>
                <a:latin typeface="Bookman Old Style"/>
              </a:rPr>
              <a:t>d’ordinateur 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sng">
                <a:solidFill>
                  <a:srgbClr val="000000"/>
                </a:solidFill>
                <a:effectLst/>
                <a:uFillTx/>
                <a:latin typeface="Bookman Old Style"/>
              </a:rPr>
              <a:t>par jour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Text Box 8"/>
          <p:cNvSpPr/>
          <p:nvPr/>
        </p:nvSpPr>
        <p:spPr>
          <a:xfrm rot="16201800">
            <a:off x="-544680" y="1153800"/>
            <a:ext cx="2158920" cy="91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Pourcentages de l’échantillon total 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: n = 2404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0" name=""/>
          <p:cNvGraphicFramePr/>
          <p:nvPr/>
        </p:nvGraphicFramePr>
        <p:xfrm>
          <a:off x="266760" y="817560"/>
          <a:ext cx="8648640" cy="5878440"/>
        </p:xfrm>
        <a:graphic>
          <a:graphicData uri="http://schemas.openxmlformats.org/drawingml/2006/table">
            <a:tbl>
              <a:tblPr/>
              <a:tblGrid>
                <a:gridCol w="2870280"/>
                <a:gridCol w="2869920"/>
                <a:gridCol w="2908440"/>
              </a:tblGrid>
              <a:tr h="737280"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Temps cumulé par jour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télévision + ordinateur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1368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13680">
                      <a:solidFill>
                        <a:srgbClr val="ffff00"/>
                      </a:solidFill>
                      <a:prstDash val="solid"/>
                    </a:lnT>
                    <a:lnB w="576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IMC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13680">
                      <a:solidFill>
                        <a:srgbClr val="ffff00"/>
                      </a:solidFill>
                      <a:prstDash val="solid"/>
                    </a:lnT>
                    <a:lnB w="576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VO</a:t>
                      </a:r>
                      <a:r>
                        <a:rPr b="1" lang="fr-FR" sz="1800" strike="noStrike" u="none" baseline="-25000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2</a:t>
                      </a:r>
                      <a:r>
                        <a:rPr b="1" lang="fr-FR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max extrapolé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ml.min</a:t>
                      </a:r>
                      <a:r>
                        <a:rPr b="1" lang="fr-FR" sz="1800" strike="noStrike" u="none" baseline="30000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-1</a:t>
                      </a:r>
                      <a:r>
                        <a:rPr b="1" lang="fr-FR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.kg</a:t>
                      </a:r>
                      <a:r>
                        <a:rPr b="1" lang="fr-FR" sz="1800" strike="noStrike" u="none" baseline="30000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-1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00"/>
                      </a:solidFill>
                      <a:prstDash val="solid"/>
                    </a:lnL>
                    <a:lnR w="13680">
                      <a:solidFill>
                        <a:srgbClr val="ffff00"/>
                      </a:solidFill>
                      <a:prstDash val="solid"/>
                    </a:lnR>
                    <a:lnT w="13680">
                      <a:solidFill>
                        <a:srgbClr val="ffff00"/>
                      </a:solidFill>
                      <a:prstDash val="solid"/>
                    </a:lnT>
                    <a:lnB w="576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</a:tr>
              <a:tr h="92664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6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                          </a:t>
                      </a:r>
                      <a:r>
                        <a:rPr b="1" lang="fr-FR" sz="16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Moyenne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6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Entre 0 et 2 heures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6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                         Nbre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1368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5760">
                      <a:solidFill>
                        <a:srgbClr val="ffff00"/>
                      </a:solidFill>
                      <a:prstDash val="solid"/>
                    </a:lnT>
                    <a:lnB w="576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6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19.2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6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316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5760">
                      <a:solidFill>
                        <a:srgbClr val="ffff00"/>
                      </a:solidFill>
                      <a:prstDash val="solid"/>
                    </a:lnT>
                    <a:lnB w="576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6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46.8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6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277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00"/>
                      </a:solidFill>
                      <a:prstDash val="solid"/>
                    </a:lnL>
                    <a:lnR w="13680">
                      <a:solidFill>
                        <a:srgbClr val="ffff00"/>
                      </a:solidFill>
                      <a:prstDash val="solid"/>
                    </a:lnR>
                    <a:lnT w="5760">
                      <a:solidFill>
                        <a:srgbClr val="ffff00"/>
                      </a:solidFill>
                      <a:prstDash val="solid"/>
                    </a:lnT>
                    <a:lnB w="576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</a:tr>
              <a:tr h="92664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6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                         Moyenne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6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Entre 2 à 4 heures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6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                         Nbre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1368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5760">
                      <a:solidFill>
                        <a:srgbClr val="ffff00"/>
                      </a:solidFill>
                      <a:prstDash val="solid"/>
                    </a:lnT>
                    <a:lnB w="576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6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19.7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6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1031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5760">
                      <a:solidFill>
                        <a:srgbClr val="ffff00"/>
                      </a:solidFill>
                      <a:prstDash val="solid"/>
                    </a:lnT>
                    <a:lnB w="576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6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47.5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6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921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00"/>
                      </a:solidFill>
                      <a:prstDash val="solid"/>
                    </a:lnL>
                    <a:lnR w="13680">
                      <a:solidFill>
                        <a:srgbClr val="ffff00"/>
                      </a:solidFill>
                      <a:prstDash val="solid"/>
                    </a:lnR>
                    <a:lnT w="5760">
                      <a:solidFill>
                        <a:srgbClr val="ffff00"/>
                      </a:solidFill>
                      <a:prstDash val="solid"/>
                    </a:lnT>
                    <a:lnB w="576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</a:tr>
              <a:tr h="92664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6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                         </a:t>
                      </a:r>
                      <a:r>
                        <a:rPr b="1" lang="fr-FR" sz="16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Moyenne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6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Entre 4 à 6 heures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6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                         Nbre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1368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5760">
                      <a:solidFill>
                        <a:srgbClr val="ffff00"/>
                      </a:solidFill>
                      <a:prstDash val="solid"/>
                    </a:lnT>
                    <a:lnB w="576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6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19.8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6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620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5760">
                      <a:solidFill>
                        <a:srgbClr val="ffff00"/>
                      </a:solidFill>
                      <a:prstDash val="solid"/>
                    </a:lnT>
                    <a:lnB w="576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6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46.9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6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559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00"/>
                      </a:solidFill>
                      <a:prstDash val="solid"/>
                    </a:lnL>
                    <a:lnR w="13680">
                      <a:solidFill>
                        <a:srgbClr val="ffff00"/>
                      </a:solidFill>
                      <a:prstDash val="solid"/>
                    </a:lnR>
                    <a:lnT w="5760">
                      <a:solidFill>
                        <a:srgbClr val="ffff00"/>
                      </a:solidFill>
                      <a:prstDash val="solid"/>
                    </a:lnT>
                    <a:lnB w="576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</a:tr>
              <a:tr h="92664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6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                         </a:t>
                      </a:r>
                      <a:r>
                        <a:rPr b="1" lang="fr-FR" sz="16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Moyenne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6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Entre 6 et 8 heures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6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                         Nbre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1368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5760">
                      <a:solidFill>
                        <a:srgbClr val="ffff00"/>
                      </a:solidFill>
                      <a:prstDash val="solid"/>
                    </a:lnT>
                    <a:lnB w="576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6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19.9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6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195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5760">
                      <a:solidFill>
                        <a:srgbClr val="ffff00"/>
                      </a:solidFill>
                      <a:prstDash val="solid"/>
                    </a:lnT>
                    <a:lnB w="576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6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46.9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6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176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00"/>
                      </a:solidFill>
                      <a:prstDash val="solid"/>
                    </a:lnL>
                    <a:lnR w="13680">
                      <a:solidFill>
                        <a:srgbClr val="ffff00"/>
                      </a:solidFill>
                      <a:prstDash val="solid"/>
                    </a:lnR>
                    <a:lnT w="5760">
                      <a:solidFill>
                        <a:srgbClr val="ffff00"/>
                      </a:solidFill>
                      <a:prstDash val="solid"/>
                    </a:lnT>
                    <a:lnB w="576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</a:tr>
              <a:tr h="92664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6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                         Moyenne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6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8h ou plus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6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                         Nbre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1368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5760">
                      <a:solidFill>
                        <a:srgbClr val="ffff00"/>
                      </a:solidFill>
                      <a:prstDash val="solid"/>
                    </a:lnT>
                    <a:lnB w="576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6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21.1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6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57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5760">
                      <a:solidFill>
                        <a:srgbClr val="ffff00"/>
                      </a:solidFill>
                      <a:prstDash val="solid"/>
                    </a:lnT>
                    <a:lnB w="576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6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45.1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6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52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00"/>
                      </a:solidFill>
                      <a:prstDash val="solid"/>
                    </a:lnL>
                    <a:lnR w="13680">
                      <a:solidFill>
                        <a:srgbClr val="ffff00"/>
                      </a:solidFill>
                      <a:prstDash val="solid"/>
                    </a:lnR>
                    <a:lnT w="5760">
                      <a:solidFill>
                        <a:srgbClr val="ffff00"/>
                      </a:solidFill>
                      <a:prstDash val="solid"/>
                    </a:lnT>
                    <a:lnB w="576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</a:tr>
              <a:tr h="507960"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2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1368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5760">
                      <a:solidFill>
                        <a:srgbClr val="ffff00"/>
                      </a:solidFill>
                      <a:prstDash val="solid"/>
                    </a:lnT>
                    <a:lnB w="1368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6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Significatif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5760">
                      <a:solidFill>
                        <a:srgbClr val="ffff00"/>
                      </a:solidFill>
                      <a:prstDash val="solid"/>
                    </a:lnT>
                    <a:lnB w="1368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6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Non Significatif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00"/>
                      </a:solidFill>
                      <a:prstDash val="solid"/>
                    </a:lnL>
                    <a:lnR w="13680">
                      <a:solidFill>
                        <a:srgbClr val="ffff00"/>
                      </a:solidFill>
                      <a:prstDash val="solid"/>
                    </a:lnR>
                    <a:lnT w="5760">
                      <a:solidFill>
                        <a:srgbClr val="ffff00"/>
                      </a:solidFill>
                      <a:prstDash val="solid"/>
                    </a:lnT>
                    <a:lnB w="1368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81" name="Oval 36"/>
          <p:cNvSpPr/>
          <p:nvPr/>
        </p:nvSpPr>
        <p:spPr>
          <a:xfrm>
            <a:off x="3505320" y="3962520"/>
            <a:ext cx="5257800" cy="2590560"/>
          </a:xfrm>
          <a:prstGeom prst="ellipse">
            <a:avLst/>
          </a:prstGeom>
          <a:noFill/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Text Box 37"/>
          <p:cNvSpPr/>
          <p:nvPr/>
        </p:nvSpPr>
        <p:spPr>
          <a:xfrm>
            <a:off x="1658160" y="76320"/>
            <a:ext cx="582156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CONDITION PHYSIQUE ET </a:t>
            </a: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INACTIVITE PHYSIQUE :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Durées cumulées par jour  = télévision + ordinateur 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43" dur="indefinite" restart="never" nodeType="tmRoot">
          <p:childTnLst>
            <p:seq>
              <p:cTn id="344" dur="indefinite" nodeType="mainSeq">
                <p:childTnLst>
                  <p:par>
                    <p:cTn id="345" nodeType="clickEffect" fill="hold">
                      <p:stCondLst>
                        <p:cond delay="indefinite"/>
                      </p:stCondLst>
                      <p:childTnLst>
                        <p:par>
                          <p:cTn id="34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47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49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3" name=""/>
          <p:cNvGraphicFramePr/>
          <p:nvPr/>
        </p:nvGraphicFramePr>
        <p:xfrm>
          <a:off x="266760" y="969840"/>
          <a:ext cx="8648640" cy="5878800"/>
        </p:xfrm>
        <a:graphic>
          <a:graphicData uri="http://schemas.openxmlformats.org/drawingml/2006/table">
            <a:tbl>
              <a:tblPr/>
              <a:tblGrid>
                <a:gridCol w="2870280"/>
                <a:gridCol w="2869920"/>
                <a:gridCol w="2908440"/>
              </a:tblGrid>
              <a:tr h="737280"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Temps cumulé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d’activité sportive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1368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13680">
                      <a:solidFill>
                        <a:srgbClr val="ffff00"/>
                      </a:solidFill>
                      <a:prstDash val="solid"/>
                    </a:lnT>
                    <a:lnB w="576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IMC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13680">
                      <a:solidFill>
                        <a:srgbClr val="ffff00"/>
                      </a:solidFill>
                      <a:prstDash val="solid"/>
                    </a:lnT>
                    <a:lnB w="576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VO</a:t>
                      </a:r>
                      <a:r>
                        <a:rPr b="1" lang="fr-FR" sz="1800" strike="noStrike" u="none" baseline="-25000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2</a:t>
                      </a:r>
                      <a:r>
                        <a:rPr b="1" lang="fr-FR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max extrapolé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ml.min</a:t>
                      </a:r>
                      <a:r>
                        <a:rPr b="1" lang="fr-FR" sz="1800" strike="noStrike" u="none" baseline="30000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-1</a:t>
                      </a:r>
                      <a:r>
                        <a:rPr b="1" lang="fr-FR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.kg</a:t>
                      </a:r>
                      <a:r>
                        <a:rPr b="1" lang="fr-FR" sz="1800" strike="noStrike" u="none" baseline="30000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-1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00"/>
                      </a:solidFill>
                      <a:prstDash val="solid"/>
                    </a:lnL>
                    <a:lnR w="13680">
                      <a:solidFill>
                        <a:srgbClr val="ffff00"/>
                      </a:solidFill>
                      <a:prstDash val="solid"/>
                    </a:lnR>
                    <a:lnT w="13680">
                      <a:solidFill>
                        <a:srgbClr val="ffff00"/>
                      </a:solidFill>
                      <a:prstDash val="solid"/>
                    </a:lnT>
                    <a:lnB w="576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</a:tr>
              <a:tr h="92664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6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                          </a:t>
                      </a:r>
                      <a:r>
                        <a:rPr b="1" lang="fr-FR" sz="16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Moyenne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6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&lt; 3 heures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6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                         Nbre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1368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5760">
                      <a:solidFill>
                        <a:srgbClr val="ffff00"/>
                      </a:solidFill>
                      <a:prstDash val="solid"/>
                    </a:lnT>
                    <a:lnB w="576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6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20.7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6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179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5760">
                      <a:solidFill>
                        <a:srgbClr val="ffff00"/>
                      </a:solidFill>
                      <a:prstDash val="solid"/>
                    </a:lnT>
                    <a:lnB w="576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6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42.7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6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139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00"/>
                      </a:solidFill>
                      <a:prstDash val="solid"/>
                    </a:lnL>
                    <a:lnR w="13680">
                      <a:solidFill>
                        <a:srgbClr val="ffff00"/>
                      </a:solidFill>
                      <a:prstDash val="solid"/>
                    </a:lnR>
                    <a:lnT w="5760">
                      <a:solidFill>
                        <a:srgbClr val="ffff00"/>
                      </a:solidFill>
                      <a:prstDash val="solid"/>
                    </a:lnT>
                    <a:lnB w="576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</a:tr>
              <a:tr h="92664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6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                         </a:t>
                      </a:r>
                      <a:r>
                        <a:rPr b="1" lang="fr-FR" sz="16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Moyenne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6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 de 3 à 5 heures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6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                         Nbre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1368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5760">
                      <a:solidFill>
                        <a:srgbClr val="ffff00"/>
                      </a:solidFill>
                      <a:prstDash val="solid"/>
                    </a:lnT>
                    <a:lnB w="576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6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19.7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6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481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5760">
                      <a:solidFill>
                        <a:srgbClr val="ffff00"/>
                      </a:solidFill>
                      <a:prstDash val="solid"/>
                    </a:lnT>
                    <a:lnB w="576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6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43.9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6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424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00"/>
                      </a:solidFill>
                      <a:prstDash val="solid"/>
                    </a:lnL>
                    <a:lnR w="13680">
                      <a:solidFill>
                        <a:srgbClr val="ffff00"/>
                      </a:solidFill>
                      <a:prstDash val="solid"/>
                    </a:lnR>
                    <a:lnT w="5760">
                      <a:solidFill>
                        <a:srgbClr val="ffff00"/>
                      </a:solidFill>
                      <a:prstDash val="solid"/>
                    </a:lnT>
                    <a:lnB w="576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</a:tr>
              <a:tr h="92664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6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                         Moyenne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6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De 5 à 10 heures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6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                         Nbre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1368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5760">
                      <a:solidFill>
                        <a:srgbClr val="ffff00"/>
                      </a:solidFill>
                      <a:prstDash val="solid"/>
                    </a:lnT>
                    <a:lnB w="576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6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19.5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6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937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5760">
                      <a:solidFill>
                        <a:srgbClr val="ffff00"/>
                      </a:solidFill>
                      <a:prstDash val="solid"/>
                    </a:lnT>
                    <a:lnB w="576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6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46.9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6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845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00"/>
                      </a:solidFill>
                      <a:prstDash val="solid"/>
                    </a:lnL>
                    <a:lnR w="13680">
                      <a:solidFill>
                        <a:srgbClr val="ffff00"/>
                      </a:solidFill>
                      <a:prstDash val="solid"/>
                    </a:lnR>
                    <a:lnT w="5760">
                      <a:solidFill>
                        <a:srgbClr val="ffff00"/>
                      </a:solidFill>
                      <a:prstDash val="solid"/>
                    </a:lnT>
                    <a:lnB w="576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</a:tr>
              <a:tr h="92664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6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                         </a:t>
                      </a:r>
                      <a:r>
                        <a:rPr b="1" lang="fr-FR" sz="16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Moyenne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6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De 10 à 15 heures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6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                         Nbre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1368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5760">
                      <a:solidFill>
                        <a:srgbClr val="ffff00"/>
                      </a:solidFill>
                      <a:prstDash val="solid"/>
                    </a:lnT>
                    <a:lnB w="576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6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19.4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6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697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5760">
                      <a:solidFill>
                        <a:srgbClr val="ffff00"/>
                      </a:solidFill>
                      <a:prstDash val="solid"/>
                    </a:lnT>
                    <a:lnB w="576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6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49.7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6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636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00"/>
                      </a:solidFill>
                      <a:prstDash val="solid"/>
                    </a:lnL>
                    <a:lnR w="13680">
                      <a:solidFill>
                        <a:srgbClr val="ffff00"/>
                      </a:solidFill>
                      <a:prstDash val="solid"/>
                    </a:lnR>
                    <a:lnT w="5760">
                      <a:solidFill>
                        <a:srgbClr val="ffff00"/>
                      </a:solidFill>
                      <a:prstDash val="solid"/>
                    </a:lnT>
                    <a:lnB w="576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</a:tr>
              <a:tr h="92664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6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                         Moyenne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6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&gt; 15 heures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6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                         Nbre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1368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5760">
                      <a:solidFill>
                        <a:srgbClr val="ffff00"/>
                      </a:solidFill>
                      <a:prstDash val="solid"/>
                    </a:lnT>
                    <a:lnB w="576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6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19.7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6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103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5760">
                      <a:solidFill>
                        <a:srgbClr val="ffff00"/>
                      </a:solidFill>
                      <a:prstDash val="solid"/>
                    </a:lnT>
                    <a:lnB w="576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6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50.5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6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97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00"/>
                      </a:solidFill>
                      <a:prstDash val="solid"/>
                    </a:lnL>
                    <a:lnR w="13680">
                      <a:solidFill>
                        <a:srgbClr val="ffff00"/>
                      </a:solidFill>
                      <a:prstDash val="solid"/>
                    </a:lnR>
                    <a:lnT w="5760">
                      <a:solidFill>
                        <a:srgbClr val="ffff00"/>
                      </a:solidFill>
                      <a:prstDash val="solid"/>
                    </a:lnT>
                    <a:lnB w="576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</a:tr>
              <a:tr h="508320"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2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1368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5760">
                      <a:solidFill>
                        <a:srgbClr val="ffff00"/>
                      </a:solidFill>
                      <a:prstDash val="solid"/>
                    </a:lnT>
                    <a:lnB w="1368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6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Significatif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5760">
                      <a:solidFill>
                        <a:srgbClr val="ffff00"/>
                      </a:solidFill>
                      <a:prstDash val="solid"/>
                    </a:lnT>
                    <a:lnB w="1368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6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Significatif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00"/>
                      </a:solidFill>
                      <a:prstDash val="solid"/>
                    </a:lnL>
                    <a:lnR w="13680">
                      <a:solidFill>
                        <a:srgbClr val="ffff00"/>
                      </a:solidFill>
                      <a:prstDash val="solid"/>
                    </a:lnR>
                    <a:lnT w="5760">
                      <a:solidFill>
                        <a:srgbClr val="ffff00"/>
                      </a:solidFill>
                      <a:prstDash val="solid"/>
                    </a:lnT>
                    <a:lnB w="1368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84" name="Text Box 36"/>
          <p:cNvSpPr/>
          <p:nvPr/>
        </p:nvSpPr>
        <p:spPr>
          <a:xfrm>
            <a:off x="-31680" y="76320"/>
            <a:ext cx="920160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CONDITION PHYSIQUE ET </a:t>
            </a: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ACTIVITE PHYSIQUE :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Durées cumulées hebdomadaires  = classes sportives + A.S. + club + pratique libre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Rectangle 2"/>
          <p:cNvSpPr/>
          <p:nvPr/>
        </p:nvSpPr>
        <p:spPr>
          <a:xfrm>
            <a:off x="0" y="1387440"/>
            <a:ext cx="8610480" cy="451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40000"/>
              </a:lnSpc>
              <a:spcBef>
                <a:spcPts val="174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L ’EPS scolaire et/ou les APS hors scolaires</a:t>
            </a:r>
            <a:r>
              <a:rPr b="1" lang="fr-FR" sz="28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 peuvent-elle contribuer au</a:t>
            </a:r>
            <a:endParaRPr b="0" lang="en-US" sz="2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40000"/>
              </a:lnSpc>
              <a:spcBef>
                <a:spcPts val="174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  développement efficace de la capacité</a:t>
            </a:r>
            <a:endParaRPr b="0" lang="en-US" sz="2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40000"/>
              </a:lnSpc>
              <a:spcBef>
                <a:spcPts val="174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 aérobie (endurance et puissance) et donc </a:t>
            </a:r>
            <a:endParaRPr b="0" lang="en-US" sz="2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60000"/>
              </a:lnSpc>
              <a:spcBef>
                <a:spcPts val="174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au niveau de condition physique et de santé de l’enfant et de l’adolescent ?</a:t>
            </a:r>
            <a:endParaRPr b="0" lang="en-US" sz="2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Text Box 3"/>
          <p:cNvSpPr/>
          <p:nvPr/>
        </p:nvSpPr>
        <p:spPr>
          <a:xfrm>
            <a:off x="3187800" y="372960"/>
            <a:ext cx="251712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QUESTION : </a:t>
            </a:r>
            <a:endParaRPr b="0" lang="en-US" sz="2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Picture 2" descr="photo1"/>
          <p:cNvPicPr/>
          <p:nvPr/>
        </p:nvPicPr>
        <p:blipFill>
          <a:blip r:embed="rId1"/>
          <a:srcRect l="7607" t="13532" r="16306" b="0"/>
          <a:stretch/>
        </p:blipFill>
        <p:spPr>
          <a:xfrm>
            <a:off x="1371600" y="1752480"/>
            <a:ext cx="6324480" cy="496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8" name="Text Box 3"/>
          <p:cNvSpPr/>
          <p:nvPr/>
        </p:nvSpPr>
        <p:spPr>
          <a:xfrm>
            <a:off x="700200" y="0"/>
            <a:ext cx="7477200" cy="167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PREMIERE ETUDE :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ENREGISTREMENT EN CONTINUE DURANT UNE JOURNEE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COMPLETE D’ECOLE DE LA FREQUENCE CARDIAQUE DE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11 ENFANTS PREPUBERES (10.3 ans </a:t>
            </a: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  <a:ea typeface="Times New Roman"/>
              </a:rPr>
              <a:t>± 0.5)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  <a:ea typeface="Times New Roman"/>
              </a:rPr>
              <a:t>Cazorla et Cazaux 1987</a:t>
            </a: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Rectangle 2"/>
          <p:cNvSpPr/>
          <p:nvPr/>
        </p:nvSpPr>
        <p:spPr>
          <a:xfrm>
            <a:off x="1143000" y="762120"/>
            <a:ext cx="7543800" cy="5257800"/>
          </a:xfrm>
          <a:prstGeom prst="rect">
            <a:avLst/>
          </a:prstGeom>
          <a:noFill/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Text Box 3"/>
          <p:cNvSpPr/>
          <p:nvPr/>
        </p:nvSpPr>
        <p:spPr>
          <a:xfrm>
            <a:off x="160560" y="609480"/>
            <a:ext cx="1616040" cy="556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marL="457200" indent="-457200">
              <a:lnSpc>
                <a:spcPct val="105000"/>
              </a:lnSpc>
              <a:buClr>
                <a:srgbClr val="ffff00"/>
              </a:buClr>
              <a:buFont typeface="Arial"/>
              <a:buAutoNum type="arabicPlain" startAt="45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-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105000"/>
              </a:lnSpc>
              <a:buClr>
                <a:srgbClr val="ffff00"/>
              </a:buClr>
              <a:buFont typeface="Arial"/>
              <a:buAutoNum type="arabicPlain" startAt="45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105000"/>
              </a:lnSpc>
              <a:buClr>
                <a:srgbClr val="ffff00"/>
              </a:buClr>
              <a:buFont typeface="Arial"/>
              <a:buAutoNum type="arabicPlain" startAt="40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-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105000"/>
              </a:lnSpc>
              <a:buClr>
                <a:srgbClr val="ffff00"/>
              </a:buClr>
              <a:buFont typeface="Arial"/>
              <a:buAutoNum type="arabicPlain" startAt="40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105000"/>
              </a:lnSpc>
              <a:buClr>
                <a:srgbClr val="ffff00"/>
              </a:buClr>
              <a:buFont typeface="Arial"/>
              <a:buAutoNum type="arabicPlain" startAt="35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-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105000"/>
              </a:lnSpc>
              <a:buClr>
                <a:srgbClr val="ffff00"/>
              </a:buClr>
              <a:buFont typeface="Arial"/>
              <a:buAutoNum type="arabicPlain" startAt="35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105000"/>
              </a:lnSpc>
              <a:buClr>
                <a:srgbClr val="ffff00"/>
              </a:buClr>
              <a:buFont typeface="Arial"/>
              <a:buAutoNum type="arabicPlain" startAt="30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-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105000"/>
              </a:lnSpc>
              <a:buClr>
                <a:srgbClr val="ffff00"/>
              </a:buClr>
              <a:buFont typeface="Arial"/>
              <a:buAutoNum type="arabicPlain" startAt="30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105000"/>
              </a:lnSpc>
              <a:buClr>
                <a:srgbClr val="ffff00"/>
              </a:buClr>
              <a:buFont typeface="Arial"/>
              <a:buAutoNum type="arabicPlain" startAt="25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-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105000"/>
              </a:lnSpc>
              <a:buClr>
                <a:srgbClr val="ffff00"/>
              </a:buClr>
              <a:buFont typeface="Arial"/>
              <a:buAutoNum type="arabicPlain" startAt="25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105000"/>
              </a:lnSpc>
              <a:buClr>
                <a:srgbClr val="ffff00"/>
              </a:buClr>
              <a:buFont typeface="Arial"/>
              <a:buAutoNum type="arabicPlain" startAt="20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-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105000"/>
              </a:lnSpc>
              <a:buClr>
                <a:srgbClr val="ffff00"/>
              </a:buClr>
              <a:buFont typeface="Arial"/>
              <a:buAutoNum type="arabicPlain" startAt="20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105000"/>
              </a:lnSpc>
              <a:buClr>
                <a:srgbClr val="ffff00"/>
              </a:buClr>
              <a:buFont typeface="Arial"/>
              <a:buAutoNum type="arabicPlain" startAt="15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-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105000"/>
              </a:lnSpc>
              <a:buClr>
                <a:srgbClr val="ffff00"/>
              </a:buClr>
              <a:buFont typeface="Arial"/>
              <a:buAutoNum type="arabicPlain" startAt="15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105000"/>
              </a:lnSpc>
              <a:buClr>
                <a:srgbClr val="ffff00"/>
              </a:buClr>
              <a:buFont typeface="Arial"/>
              <a:buAutoNum type="arabicPlain" startAt="10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-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105000"/>
              </a:lnSpc>
              <a:buClr>
                <a:srgbClr val="ffff00"/>
              </a:buClr>
              <a:buFont typeface="Arial"/>
              <a:buAutoNum type="arabicPlain" startAt="10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105000"/>
              </a:lnSpc>
              <a:buClr>
                <a:srgbClr val="ffff00"/>
              </a:buClr>
              <a:buFont typeface="Arial"/>
              <a:buAutoNum type="arabicPlain" startAt="5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-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105000"/>
              </a:lnSpc>
              <a:buClr>
                <a:srgbClr val="ffff00"/>
              </a:buClr>
              <a:buFont typeface="Arial"/>
              <a:buAutoNum type="arabicPlain" startAt="5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10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0     -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Text Box 4"/>
          <p:cNvSpPr/>
          <p:nvPr/>
        </p:nvSpPr>
        <p:spPr>
          <a:xfrm rot="16229400">
            <a:off x="-1063440" y="3276000"/>
            <a:ext cx="289188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% de la durée totale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Text Box 5"/>
          <p:cNvSpPr/>
          <p:nvPr/>
        </p:nvSpPr>
        <p:spPr>
          <a:xfrm>
            <a:off x="1027080" y="5943600"/>
            <a:ext cx="7729200" cy="58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I           I           I           I           I           I          I           I          I          I          I           I 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45        50        55        60         65       70        75        80       85       90       95       100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Line 6"/>
          <p:cNvSpPr/>
          <p:nvPr/>
        </p:nvSpPr>
        <p:spPr>
          <a:xfrm>
            <a:off x="1219320" y="2590920"/>
            <a:ext cx="7391160" cy="0"/>
          </a:xfrm>
          <a:prstGeom prst="line">
            <a:avLst/>
          </a:prstGeom>
          <a:ln cap="rnd" w="3240">
            <a:solidFill>
              <a:srgbClr val="3333cc"/>
            </a:solidFill>
            <a:custDash>
              <a:ds d="100000" sp="1000"/>
            </a:custDash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Line 7"/>
          <p:cNvSpPr/>
          <p:nvPr/>
        </p:nvSpPr>
        <p:spPr>
          <a:xfrm>
            <a:off x="1295280" y="1981080"/>
            <a:ext cx="7315200" cy="0"/>
          </a:xfrm>
          <a:prstGeom prst="line">
            <a:avLst/>
          </a:prstGeom>
          <a:ln cap="rnd" w="3240">
            <a:solidFill>
              <a:srgbClr val="3333cc"/>
            </a:solidFill>
            <a:custDash>
              <a:ds d="100000" sp="1000"/>
            </a:custDash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Line 8"/>
          <p:cNvSpPr/>
          <p:nvPr/>
        </p:nvSpPr>
        <p:spPr>
          <a:xfrm flipV="1">
            <a:off x="1219320" y="1295280"/>
            <a:ext cx="7391160" cy="76320"/>
          </a:xfrm>
          <a:prstGeom prst="line">
            <a:avLst/>
          </a:prstGeom>
          <a:ln cap="rnd" w="3240">
            <a:solidFill>
              <a:srgbClr val="3333cc"/>
            </a:solidFill>
            <a:custDash>
              <a:ds d="100000" sp="1000"/>
            </a:custDash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29520" bIns="2952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Line 9"/>
          <p:cNvSpPr/>
          <p:nvPr/>
        </p:nvSpPr>
        <p:spPr>
          <a:xfrm>
            <a:off x="1295280" y="3124080"/>
            <a:ext cx="7315200" cy="0"/>
          </a:xfrm>
          <a:prstGeom prst="line">
            <a:avLst/>
          </a:prstGeom>
          <a:ln cap="rnd" w="3240">
            <a:solidFill>
              <a:srgbClr val="3333cc"/>
            </a:solidFill>
            <a:custDash>
              <a:ds d="100000" sp="1000"/>
            </a:custDash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Line 10"/>
          <p:cNvSpPr/>
          <p:nvPr/>
        </p:nvSpPr>
        <p:spPr>
          <a:xfrm>
            <a:off x="1295280" y="3733920"/>
            <a:ext cx="7315200" cy="0"/>
          </a:xfrm>
          <a:prstGeom prst="line">
            <a:avLst/>
          </a:prstGeom>
          <a:ln cap="rnd" w="3240">
            <a:solidFill>
              <a:srgbClr val="3333cc"/>
            </a:solidFill>
            <a:custDash>
              <a:ds d="100000" sp="1000"/>
            </a:custDash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Line 11"/>
          <p:cNvSpPr/>
          <p:nvPr/>
        </p:nvSpPr>
        <p:spPr>
          <a:xfrm>
            <a:off x="1219320" y="4267080"/>
            <a:ext cx="7391160" cy="0"/>
          </a:xfrm>
          <a:prstGeom prst="line">
            <a:avLst/>
          </a:prstGeom>
          <a:ln cap="rnd" w="3240">
            <a:solidFill>
              <a:srgbClr val="3333cc"/>
            </a:solidFill>
            <a:custDash>
              <a:ds d="100000" sp="1000"/>
            </a:custDash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Text Box 12"/>
          <p:cNvSpPr/>
          <p:nvPr/>
        </p:nvSpPr>
        <p:spPr>
          <a:xfrm>
            <a:off x="918000" y="0"/>
            <a:ext cx="7887960" cy="70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FREQUENCE CARDIAQUE (% FCmax) DE DA…M.-Laure 10 ans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AU COURS D’UNE JOURNEE DE CLASSE (8 heures)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Text Box 13"/>
          <p:cNvSpPr/>
          <p:nvPr/>
        </p:nvSpPr>
        <p:spPr>
          <a:xfrm>
            <a:off x="2794680" y="6461280"/>
            <a:ext cx="484884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% de la fréquence cardiaque maximale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Line 14"/>
          <p:cNvSpPr/>
          <p:nvPr/>
        </p:nvSpPr>
        <p:spPr>
          <a:xfrm>
            <a:off x="1295280" y="4876920"/>
            <a:ext cx="7315200" cy="0"/>
          </a:xfrm>
          <a:prstGeom prst="line">
            <a:avLst/>
          </a:prstGeom>
          <a:ln cap="rnd" w="3240">
            <a:solidFill>
              <a:srgbClr val="3333cc"/>
            </a:solidFill>
            <a:custDash>
              <a:ds d="100000" sp="1000"/>
            </a:custDash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Text Box 15"/>
          <p:cNvSpPr/>
          <p:nvPr/>
        </p:nvSpPr>
        <p:spPr>
          <a:xfrm>
            <a:off x="5105520" y="5791320"/>
            <a:ext cx="32832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°</a:t>
            </a:r>
            <a:endParaRPr b="0" lang="en-US" sz="2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Text Box 16"/>
          <p:cNvSpPr/>
          <p:nvPr/>
        </p:nvSpPr>
        <p:spPr>
          <a:xfrm>
            <a:off x="4495680" y="5791320"/>
            <a:ext cx="32868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°</a:t>
            </a:r>
            <a:endParaRPr b="0" lang="en-US" sz="2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Text Box 17"/>
          <p:cNvSpPr/>
          <p:nvPr/>
        </p:nvSpPr>
        <p:spPr>
          <a:xfrm>
            <a:off x="3809880" y="5715000"/>
            <a:ext cx="32868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°</a:t>
            </a:r>
            <a:endParaRPr b="0" lang="en-US" sz="2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Text Box 18"/>
          <p:cNvSpPr/>
          <p:nvPr/>
        </p:nvSpPr>
        <p:spPr>
          <a:xfrm>
            <a:off x="3124080" y="5105520"/>
            <a:ext cx="32868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°</a:t>
            </a:r>
            <a:endParaRPr b="0" lang="en-US" sz="2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Text Box 19"/>
          <p:cNvSpPr/>
          <p:nvPr/>
        </p:nvSpPr>
        <p:spPr>
          <a:xfrm>
            <a:off x="2362320" y="2286000"/>
            <a:ext cx="32832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°</a:t>
            </a:r>
            <a:endParaRPr b="0" lang="en-US" sz="2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Text Box 20"/>
          <p:cNvSpPr/>
          <p:nvPr/>
        </p:nvSpPr>
        <p:spPr>
          <a:xfrm>
            <a:off x="1066680" y="3886200"/>
            <a:ext cx="32868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°</a:t>
            </a:r>
            <a:endParaRPr b="0" lang="en-US" sz="2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Text Box 21"/>
          <p:cNvSpPr/>
          <p:nvPr/>
        </p:nvSpPr>
        <p:spPr>
          <a:xfrm>
            <a:off x="1828800" y="990720"/>
            <a:ext cx="32868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°</a:t>
            </a:r>
            <a:endParaRPr b="0" lang="en-US" sz="2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Line 22"/>
          <p:cNvSpPr/>
          <p:nvPr/>
        </p:nvSpPr>
        <p:spPr>
          <a:xfrm>
            <a:off x="1219320" y="5410080"/>
            <a:ext cx="7467480" cy="0"/>
          </a:xfrm>
          <a:prstGeom prst="line">
            <a:avLst/>
          </a:prstGeom>
          <a:ln cap="rnd" w="3240">
            <a:solidFill>
              <a:srgbClr val="3333cc"/>
            </a:solidFill>
            <a:custDash>
              <a:ds d="100000" sp="1000"/>
            </a:custDash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Line 23"/>
          <p:cNvSpPr/>
          <p:nvPr/>
        </p:nvSpPr>
        <p:spPr>
          <a:xfrm flipV="1">
            <a:off x="1219320" y="1142640"/>
            <a:ext cx="761760" cy="289548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Line 24"/>
          <p:cNvSpPr/>
          <p:nvPr/>
        </p:nvSpPr>
        <p:spPr>
          <a:xfrm>
            <a:off x="1981080" y="1143000"/>
            <a:ext cx="533520" cy="129528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Line 25"/>
          <p:cNvSpPr/>
          <p:nvPr/>
        </p:nvSpPr>
        <p:spPr>
          <a:xfrm>
            <a:off x="2514600" y="2514600"/>
            <a:ext cx="762120" cy="274320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Line 26"/>
          <p:cNvSpPr/>
          <p:nvPr/>
        </p:nvSpPr>
        <p:spPr>
          <a:xfrm>
            <a:off x="3276720" y="5257800"/>
            <a:ext cx="685800" cy="60948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Line 27"/>
          <p:cNvSpPr/>
          <p:nvPr/>
        </p:nvSpPr>
        <p:spPr>
          <a:xfrm>
            <a:off x="3962520" y="5867280"/>
            <a:ext cx="685800" cy="7632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29520" bIns="2952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Line 28"/>
          <p:cNvSpPr/>
          <p:nvPr/>
        </p:nvSpPr>
        <p:spPr>
          <a:xfrm>
            <a:off x="4648320" y="5943600"/>
            <a:ext cx="609480" cy="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Text Box 29"/>
          <p:cNvSpPr/>
          <p:nvPr/>
        </p:nvSpPr>
        <p:spPr>
          <a:xfrm>
            <a:off x="6403320" y="4343400"/>
            <a:ext cx="323280" cy="58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32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Tahoma"/>
              </a:rPr>
              <a:t>•</a:t>
            </a:r>
            <a:endParaRPr b="0" lang="en-US" sz="3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Text Box 30"/>
          <p:cNvSpPr/>
          <p:nvPr/>
        </p:nvSpPr>
        <p:spPr>
          <a:xfrm>
            <a:off x="7698600" y="5486400"/>
            <a:ext cx="323280" cy="58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32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Tahoma"/>
              </a:rPr>
              <a:t>•</a:t>
            </a:r>
            <a:endParaRPr b="0" lang="en-US" sz="3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Text Box 31"/>
          <p:cNvSpPr/>
          <p:nvPr/>
        </p:nvSpPr>
        <p:spPr>
          <a:xfrm>
            <a:off x="5031720" y="3686040"/>
            <a:ext cx="323280" cy="58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32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Tahoma"/>
              </a:rPr>
              <a:t>•</a:t>
            </a:r>
            <a:endParaRPr b="0" lang="en-US" sz="3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Text Box 32"/>
          <p:cNvSpPr/>
          <p:nvPr/>
        </p:nvSpPr>
        <p:spPr>
          <a:xfrm>
            <a:off x="4422240" y="3457440"/>
            <a:ext cx="323280" cy="58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32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Tahoma"/>
              </a:rPr>
              <a:t>•</a:t>
            </a:r>
            <a:endParaRPr b="0" lang="en-US" sz="3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Text Box 33"/>
          <p:cNvSpPr/>
          <p:nvPr/>
        </p:nvSpPr>
        <p:spPr>
          <a:xfrm>
            <a:off x="3736440" y="3962520"/>
            <a:ext cx="323280" cy="58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32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Tahoma"/>
              </a:rPr>
              <a:t>•</a:t>
            </a:r>
            <a:endParaRPr b="0" lang="en-US" sz="3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Text Box 34"/>
          <p:cNvSpPr/>
          <p:nvPr/>
        </p:nvSpPr>
        <p:spPr>
          <a:xfrm>
            <a:off x="3126600" y="4829040"/>
            <a:ext cx="323280" cy="58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32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Tahoma"/>
              </a:rPr>
              <a:t>•</a:t>
            </a:r>
            <a:endParaRPr b="0" lang="en-US" sz="3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Text Box 35"/>
          <p:cNvSpPr/>
          <p:nvPr/>
        </p:nvSpPr>
        <p:spPr>
          <a:xfrm>
            <a:off x="2440800" y="4524480"/>
            <a:ext cx="323280" cy="58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32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Tahoma"/>
              </a:rPr>
              <a:t>•</a:t>
            </a:r>
            <a:endParaRPr b="0" lang="en-US" sz="3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Text Box 36"/>
          <p:cNvSpPr/>
          <p:nvPr/>
        </p:nvSpPr>
        <p:spPr>
          <a:xfrm>
            <a:off x="1755000" y="5667480"/>
            <a:ext cx="323280" cy="58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32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Tahoma"/>
              </a:rPr>
              <a:t>•</a:t>
            </a:r>
            <a:endParaRPr b="0" lang="en-US" sz="3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Line 37"/>
          <p:cNvSpPr/>
          <p:nvPr/>
        </p:nvSpPr>
        <p:spPr>
          <a:xfrm flipV="1">
            <a:off x="1905120" y="4800240"/>
            <a:ext cx="685800" cy="1143000"/>
          </a:xfrm>
          <a:prstGeom prst="line">
            <a:avLst/>
          </a:prstGeom>
          <a:ln w="2844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Line 38"/>
          <p:cNvSpPr/>
          <p:nvPr/>
        </p:nvSpPr>
        <p:spPr>
          <a:xfrm>
            <a:off x="2590920" y="4800600"/>
            <a:ext cx="685800" cy="380880"/>
          </a:xfrm>
          <a:prstGeom prst="line">
            <a:avLst/>
          </a:prstGeom>
          <a:ln w="2844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Line 39"/>
          <p:cNvSpPr/>
          <p:nvPr/>
        </p:nvSpPr>
        <p:spPr>
          <a:xfrm flipV="1">
            <a:off x="3276720" y="4266720"/>
            <a:ext cx="609480" cy="838440"/>
          </a:xfrm>
          <a:prstGeom prst="line">
            <a:avLst/>
          </a:prstGeom>
          <a:ln w="2844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Line 40"/>
          <p:cNvSpPr/>
          <p:nvPr/>
        </p:nvSpPr>
        <p:spPr>
          <a:xfrm flipV="1">
            <a:off x="3886200" y="3733560"/>
            <a:ext cx="685800" cy="533160"/>
          </a:xfrm>
          <a:prstGeom prst="line">
            <a:avLst/>
          </a:prstGeom>
          <a:ln w="2844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Line 41"/>
          <p:cNvSpPr/>
          <p:nvPr/>
        </p:nvSpPr>
        <p:spPr>
          <a:xfrm>
            <a:off x="4572000" y="3733920"/>
            <a:ext cx="609480" cy="228600"/>
          </a:xfrm>
          <a:prstGeom prst="line">
            <a:avLst/>
          </a:prstGeom>
          <a:ln w="2844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Text Box 42"/>
          <p:cNvSpPr/>
          <p:nvPr/>
        </p:nvSpPr>
        <p:spPr>
          <a:xfrm>
            <a:off x="7089120" y="5334120"/>
            <a:ext cx="323280" cy="58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32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Tahoma"/>
              </a:rPr>
              <a:t>•</a:t>
            </a:r>
            <a:endParaRPr b="0" lang="en-US" sz="3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Text Box 43"/>
          <p:cNvSpPr/>
          <p:nvPr/>
        </p:nvSpPr>
        <p:spPr>
          <a:xfrm>
            <a:off x="5793840" y="4572000"/>
            <a:ext cx="323280" cy="58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32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Tahoma"/>
              </a:rPr>
              <a:t>•</a:t>
            </a:r>
            <a:endParaRPr b="0" lang="en-US" sz="3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Line 44"/>
          <p:cNvSpPr/>
          <p:nvPr/>
        </p:nvSpPr>
        <p:spPr>
          <a:xfrm>
            <a:off x="5181480" y="3962520"/>
            <a:ext cx="762120" cy="914400"/>
          </a:xfrm>
          <a:prstGeom prst="line">
            <a:avLst/>
          </a:prstGeom>
          <a:ln w="2844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Line 45"/>
          <p:cNvSpPr/>
          <p:nvPr/>
        </p:nvSpPr>
        <p:spPr>
          <a:xfrm flipV="1">
            <a:off x="5943600" y="4647960"/>
            <a:ext cx="609480" cy="228600"/>
          </a:xfrm>
          <a:prstGeom prst="line">
            <a:avLst/>
          </a:prstGeom>
          <a:ln w="2844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Line 46"/>
          <p:cNvSpPr/>
          <p:nvPr/>
        </p:nvSpPr>
        <p:spPr>
          <a:xfrm>
            <a:off x="6553080" y="4648320"/>
            <a:ext cx="685800" cy="990360"/>
          </a:xfrm>
          <a:prstGeom prst="line">
            <a:avLst/>
          </a:prstGeom>
          <a:ln w="2844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Line 47"/>
          <p:cNvSpPr/>
          <p:nvPr/>
        </p:nvSpPr>
        <p:spPr>
          <a:xfrm>
            <a:off x="7238880" y="5638680"/>
            <a:ext cx="609840" cy="152640"/>
          </a:xfrm>
          <a:prstGeom prst="line">
            <a:avLst/>
          </a:prstGeom>
          <a:ln w="2844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Text Box 48"/>
          <p:cNvSpPr/>
          <p:nvPr/>
        </p:nvSpPr>
        <p:spPr>
          <a:xfrm>
            <a:off x="8384400" y="5715000"/>
            <a:ext cx="323280" cy="58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32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Tahoma"/>
              </a:rPr>
              <a:t>•</a:t>
            </a:r>
            <a:endParaRPr b="0" lang="en-US" sz="3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Line 49"/>
          <p:cNvSpPr/>
          <p:nvPr/>
        </p:nvSpPr>
        <p:spPr>
          <a:xfrm>
            <a:off x="7848720" y="5791320"/>
            <a:ext cx="685800" cy="228600"/>
          </a:xfrm>
          <a:prstGeom prst="line">
            <a:avLst/>
          </a:prstGeom>
          <a:ln w="2844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Text Box 50"/>
          <p:cNvSpPr/>
          <p:nvPr/>
        </p:nvSpPr>
        <p:spPr>
          <a:xfrm>
            <a:off x="1802520" y="5867280"/>
            <a:ext cx="23652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200" strike="noStrike" u="none">
                <a:solidFill>
                  <a:srgbClr val="99cc00"/>
                </a:solidFill>
                <a:effectLst/>
                <a:uFillTx/>
                <a:latin typeface="SPSS Marker Set"/>
                <a:ea typeface="SPSS Marker Set"/>
              </a:rPr>
              <a:t></a:t>
            </a: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Text Box 51"/>
          <p:cNvSpPr/>
          <p:nvPr/>
        </p:nvSpPr>
        <p:spPr>
          <a:xfrm>
            <a:off x="2488320" y="5257800"/>
            <a:ext cx="23652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200" strike="noStrike" u="none">
                <a:solidFill>
                  <a:srgbClr val="99cc00"/>
                </a:solidFill>
                <a:effectLst/>
                <a:uFillTx/>
                <a:latin typeface="SPSS Marker Set"/>
                <a:ea typeface="SPSS Marker Set"/>
              </a:rPr>
              <a:t></a:t>
            </a: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Text Box 52"/>
          <p:cNvSpPr/>
          <p:nvPr/>
        </p:nvSpPr>
        <p:spPr>
          <a:xfrm>
            <a:off x="3174120" y="5410080"/>
            <a:ext cx="23652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200" strike="noStrike" u="none">
                <a:solidFill>
                  <a:srgbClr val="99cc00"/>
                </a:solidFill>
                <a:effectLst/>
                <a:uFillTx/>
                <a:latin typeface="SPSS Marker Set"/>
                <a:ea typeface="SPSS Marker Set"/>
              </a:rPr>
              <a:t></a:t>
            </a: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Text Box 53"/>
          <p:cNvSpPr/>
          <p:nvPr/>
        </p:nvSpPr>
        <p:spPr>
          <a:xfrm>
            <a:off x="3783960" y="3962520"/>
            <a:ext cx="23652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200" strike="noStrike" u="none">
                <a:solidFill>
                  <a:srgbClr val="99cc00"/>
                </a:solidFill>
                <a:effectLst/>
                <a:uFillTx/>
                <a:latin typeface="SPSS Marker Set"/>
                <a:ea typeface="SPSS Marker Set"/>
              </a:rPr>
              <a:t></a:t>
            </a: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Text Box 54"/>
          <p:cNvSpPr/>
          <p:nvPr/>
        </p:nvSpPr>
        <p:spPr>
          <a:xfrm>
            <a:off x="4469760" y="3505320"/>
            <a:ext cx="23652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200" strike="noStrike" u="none">
                <a:solidFill>
                  <a:srgbClr val="99cc00"/>
                </a:solidFill>
                <a:effectLst/>
                <a:uFillTx/>
                <a:latin typeface="SPSS Marker Set"/>
                <a:ea typeface="SPSS Marker Set"/>
              </a:rPr>
              <a:t></a:t>
            </a: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Text Box 55"/>
          <p:cNvSpPr/>
          <p:nvPr/>
        </p:nvSpPr>
        <p:spPr>
          <a:xfrm>
            <a:off x="7136640" y="5638680"/>
            <a:ext cx="23652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200" strike="noStrike" u="none">
                <a:solidFill>
                  <a:srgbClr val="99cc00"/>
                </a:solidFill>
                <a:effectLst/>
                <a:uFillTx/>
                <a:latin typeface="SPSS Marker Set"/>
                <a:ea typeface="SPSS Marker Set"/>
              </a:rPr>
              <a:t></a:t>
            </a: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Text Box 56"/>
          <p:cNvSpPr/>
          <p:nvPr/>
        </p:nvSpPr>
        <p:spPr>
          <a:xfrm>
            <a:off x="6450840" y="4800600"/>
            <a:ext cx="23652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200" strike="noStrike" u="none">
                <a:solidFill>
                  <a:srgbClr val="99cc00"/>
                </a:solidFill>
                <a:effectLst/>
                <a:uFillTx/>
                <a:latin typeface="SPSS Marker Set"/>
                <a:ea typeface="SPSS Marker Set"/>
              </a:rPr>
              <a:t></a:t>
            </a: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Text Box 57"/>
          <p:cNvSpPr/>
          <p:nvPr/>
        </p:nvSpPr>
        <p:spPr>
          <a:xfrm>
            <a:off x="5841360" y="4114800"/>
            <a:ext cx="23652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200" strike="noStrike" u="none">
                <a:solidFill>
                  <a:srgbClr val="99cc00"/>
                </a:solidFill>
                <a:effectLst/>
                <a:uFillTx/>
                <a:latin typeface="SPSS Marker Set"/>
                <a:ea typeface="SPSS Marker Set"/>
              </a:rPr>
              <a:t></a:t>
            </a: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Text Box 58"/>
          <p:cNvSpPr/>
          <p:nvPr/>
        </p:nvSpPr>
        <p:spPr>
          <a:xfrm>
            <a:off x="5079240" y="4114800"/>
            <a:ext cx="23652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200" strike="noStrike" u="none">
                <a:solidFill>
                  <a:srgbClr val="99cc00"/>
                </a:solidFill>
                <a:effectLst/>
                <a:uFillTx/>
                <a:latin typeface="SPSS Marker Set"/>
                <a:ea typeface="SPSS Marker Set"/>
              </a:rPr>
              <a:t></a:t>
            </a: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Text Box 59"/>
          <p:cNvSpPr/>
          <p:nvPr/>
        </p:nvSpPr>
        <p:spPr>
          <a:xfrm>
            <a:off x="7746120" y="5486400"/>
            <a:ext cx="23652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200" strike="noStrike" u="none">
                <a:solidFill>
                  <a:srgbClr val="99cc00"/>
                </a:solidFill>
                <a:effectLst/>
                <a:uFillTx/>
                <a:latin typeface="SPSS Marker Set"/>
                <a:ea typeface="SPSS Marker Set"/>
              </a:rPr>
              <a:t></a:t>
            </a: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Line 60"/>
          <p:cNvSpPr/>
          <p:nvPr/>
        </p:nvSpPr>
        <p:spPr>
          <a:xfrm flipV="1">
            <a:off x="1905120" y="5333760"/>
            <a:ext cx="685800" cy="609480"/>
          </a:xfrm>
          <a:prstGeom prst="line">
            <a:avLst/>
          </a:prstGeom>
          <a:ln w="28440">
            <a:solidFill>
              <a:srgbClr val="99cc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Line 61"/>
          <p:cNvSpPr/>
          <p:nvPr/>
        </p:nvSpPr>
        <p:spPr>
          <a:xfrm>
            <a:off x="2590920" y="5334120"/>
            <a:ext cx="685800" cy="152280"/>
          </a:xfrm>
          <a:prstGeom prst="line">
            <a:avLst/>
          </a:prstGeom>
          <a:ln w="28440">
            <a:solidFill>
              <a:srgbClr val="99cc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Line 62"/>
          <p:cNvSpPr/>
          <p:nvPr/>
        </p:nvSpPr>
        <p:spPr>
          <a:xfrm flipV="1">
            <a:off x="3276720" y="4038480"/>
            <a:ext cx="609480" cy="1447920"/>
          </a:xfrm>
          <a:prstGeom prst="line">
            <a:avLst/>
          </a:prstGeom>
          <a:ln w="28440">
            <a:solidFill>
              <a:srgbClr val="99cc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Line 63"/>
          <p:cNvSpPr/>
          <p:nvPr/>
        </p:nvSpPr>
        <p:spPr>
          <a:xfrm flipV="1">
            <a:off x="3886200" y="3581280"/>
            <a:ext cx="685800" cy="457200"/>
          </a:xfrm>
          <a:prstGeom prst="line">
            <a:avLst/>
          </a:prstGeom>
          <a:ln w="28440">
            <a:solidFill>
              <a:srgbClr val="99cc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Line 64"/>
          <p:cNvSpPr/>
          <p:nvPr/>
        </p:nvSpPr>
        <p:spPr>
          <a:xfrm>
            <a:off x="4572000" y="3581280"/>
            <a:ext cx="609480" cy="609840"/>
          </a:xfrm>
          <a:prstGeom prst="line">
            <a:avLst/>
          </a:prstGeom>
          <a:ln w="28440">
            <a:solidFill>
              <a:srgbClr val="99cc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Line 65"/>
          <p:cNvSpPr/>
          <p:nvPr/>
        </p:nvSpPr>
        <p:spPr>
          <a:xfrm>
            <a:off x="5181480" y="4191120"/>
            <a:ext cx="762120" cy="0"/>
          </a:xfrm>
          <a:prstGeom prst="line">
            <a:avLst/>
          </a:prstGeom>
          <a:ln w="28440">
            <a:solidFill>
              <a:srgbClr val="99cc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Line 66"/>
          <p:cNvSpPr/>
          <p:nvPr/>
        </p:nvSpPr>
        <p:spPr>
          <a:xfrm>
            <a:off x="5943600" y="4191120"/>
            <a:ext cx="609480" cy="685800"/>
          </a:xfrm>
          <a:prstGeom prst="line">
            <a:avLst/>
          </a:prstGeom>
          <a:ln w="28440">
            <a:solidFill>
              <a:srgbClr val="99cc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Line 67"/>
          <p:cNvSpPr/>
          <p:nvPr/>
        </p:nvSpPr>
        <p:spPr>
          <a:xfrm>
            <a:off x="6553080" y="4876920"/>
            <a:ext cx="685800" cy="838080"/>
          </a:xfrm>
          <a:prstGeom prst="line">
            <a:avLst/>
          </a:prstGeom>
          <a:ln w="28440">
            <a:solidFill>
              <a:srgbClr val="99cc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Line 68"/>
          <p:cNvSpPr/>
          <p:nvPr/>
        </p:nvSpPr>
        <p:spPr>
          <a:xfrm flipV="1">
            <a:off x="7238880" y="5562360"/>
            <a:ext cx="609840" cy="152280"/>
          </a:xfrm>
          <a:prstGeom prst="line">
            <a:avLst/>
          </a:prstGeom>
          <a:ln w="28440">
            <a:solidFill>
              <a:srgbClr val="99cc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Text Box 69"/>
          <p:cNvSpPr/>
          <p:nvPr/>
        </p:nvSpPr>
        <p:spPr>
          <a:xfrm>
            <a:off x="7678080" y="3886200"/>
            <a:ext cx="24588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400" strike="noStrike" u="none">
                <a:solidFill>
                  <a:srgbClr val="ccccff"/>
                </a:solidFill>
                <a:effectLst/>
                <a:uFillTx/>
                <a:latin typeface="SPSS Marker Set"/>
                <a:ea typeface="SPSS Marker Set"/>
              </a:rPr>
              <a:t>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Text Box 70"/>
          <p:cNvSpPr/>
          <p:nvPr/>
        </p:nvSpPr>
        <p:spPr>
          <a:xfrm>
            <a:off x="7068240" y="4876920"/>
            <a:ext cx="24588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400" strike="noStrike" u="none">
                <a:solidFill>
                  <a:srgbClr val="ccccff"/>
                </a:solidFill>
                <a:effectLst/>
                <a:uFillTx/>
                <a:latin typeface="SPSS Marker Set"/>
                <a:ea typeface="SPSS Marker Set"/>
              </a:rPr>
              <a:t>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Text Box 71"/>
          <p:cNvSpPr/>
          <p:nvPr/>
        </p:nvSpPr>
        <p:spPr>
          <a:xfrm>
            <a:off x="6458760" y="4876920"/>
            <a:ext cx="24588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400" strike="noStrike" u="none">
                <a:solidFill>
                  <a:srgbClr val="ccccff"/>
                </a:solidFill>
                <a:effectLst/>
                <a:uFillTx/>
                <a:latin typeface="SPSS Marker Set"/>
                <a:ea typeface="SPSS Marker Set"/>
              </a:rPr>
              <a:t>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Text Box 72"/>
          <p:cNvSpPr/>
          <p:nvPr/>
        </p:nvSpPr>
        <p:spPr>
          <a:xfrm>
            <a:off x="5849280" y="4191120"/>
            <a:ext cx="24588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400" strike="noStrike" u="none">
                <a:solidFill>
                  <a:srgbClr val="ccccff"/>
                </a:solidFill>
                <a:effectLst/>
                <a:uFillTx/>
                <a:latin typeface="SPSS Marker Set"/>
                <a:ea typeface="SPSS Marker Set"/>
              </a:rPr>
              <a:t>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" name="Text Box 73"/>
          <p:cNvSpPr/>
          <p:nvPr/>
        </p:nvSpPr>
        <p:spPr>
          <a:xfrm>
            <a:off x="5087160" y="3886200"/>
            <a:ext cx="24588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400" strike="noStrike" u="none">
                <a:solidFill>
                  <a:srgbClr val="ccccff"/>
                </a:solidFill>
                <a:effectLst/>
                <a:uFillTx/>
                <a:latin typeface="SPSS Marker Set"/>
                <a:ea typeface="SPSS Marker Set"/>
              </a:rPr>
              <a:t>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" name="Text Box 74"/>
          <p:cNvSpPr/>
          <p:nvPr/>
        </p:nvSpPr>
        <p:spPr>
          <a:xfrm flipV="1">
            <a:off x="4495680" y="5102640"/>
            <a:ext cx="30492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400" strike="noStrike" u="none">
                <a:solidFill>
                  <a:srgbClr val="ccccff"/>
                </a:solidFill>
                <a:effectLst/>
                <a:uFillTx/>
                <a:latin typeface="SPSS Marker Set"/>
                <a:ea typeface="SPSS Marker Set"/>
              </a:rPr>
              <a:t>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Text Box 75"/>
          <p:cNvSpPr/>
          <p:nvPr/>
        </p:nvSpPr>
        <p:spPr>
          <a:xfrm>
            <a:off x="3867840" y="5181480"/>
            <a:ext cx="24588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400" strike="noStrike" u="none">
                <a:solidFill>
                  <a:srgbClr val="ccccff"/>
                </a:solidFill>
                <a:effectLst/>
                <a:uFillTx/>
                <a:latin typeface="SPSS Marker Set"/>
                <a:ea typeface="SPSS Marker Set"/>
              </a:rPr>
              <a:t>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Text Box 76"/>
          <p:cNvSpPr/>
          <p:nvPr/>
        </p:nvSpPr>
        <p:spPr>
          <a:xfrm>
            <a:off x="3182040" y="5638680"/>
            <a:ext cx="24588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400" strike="noStrike" u="none">
                <a:solidFill>
                  <a:srgbClr val="ccccff"/>
                </a:solidFill>
                <a:effectLst/>
                <a:uFillTx/>
                <a:latin typeface="SPSS Marker Set"/>
                <a:ea typeface="SPSS Marker Set"/>
              </a:rPr>
              <a:t>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Text Box 77"/>
          <p:cNvSpPr/>
          <p:nvPr/>
        </p:nvSpPr>
        <p:spPr>
          <a:xfrm>
            <a:off x="2496240" y="5791320"/>
            <a:ext cx="24588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400" strike="noStrike" u="none">
                <a:solidFill>
                  <a:srgbClr val="ccccff"/>
                </a:solidFill>
                <a:effectLst/>
                <a:uFillTx/>
                <a:latin typeface="SPSS Marker Set"/>
                <a:ea typeface="SPSS Marker Set"/>
              </a:rPr>
              <a:t>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Text Box 78"/>
          <p:cNvSpPr/>
          <p:nvPr/>
        </p:nvSpPr>
        <p:spPr>
          <a:xfrm>
            <a:off x="8516160" y="3048120"/>
            <a:ext cx="24588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400" strike="noStrike" u="none">
                <a:solidFill>
                  <a:srgbClr val="ccccff"/>
                </a:solidFill>
                <a:effectLst/>
                <a:uFillTx/>
                <a:latin typeface="SPSS Marker Set"/>
                <a:ea typeface="SPSS Marker Set"/>
              </a:rPr>
              <a:t>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Line 79"/>
          <p:cNvSpPr/>
          <p:nvPr/>
        </p:nvSpPr>
        <p:spPr>
          <a:xfrm flipV="1">
            <a:off x="2590920" y="5790960"/>
            <a:ext cx="761760" cy="152280"/>
          </a:xfrm>
          <a:prstGeom prst="line">
            <a:avLst/>
          </a:prstGeom>
          <a:ln w="28440">
            <a:solidFill>
              <a:srgbClr val="cccc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Line 80"/>
          <p:cNvSpPr/>
          <p:nvPr/>
        </p:nvSpPr>
        <p:spPr>
          <a:xfrm flipV="1">
            <a:off x="3276720" y="5334120"/>
            <a:ext cx="685800" cy="457200"/>
          </a:xfrm>
          <a:prstGeom prst="line">
            <a:avLst/>
          </a:prstGeom>
          <a:ln w="28440">
            <a:solidFill>
              <a:srgbClr val="cccc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Line 81"/>
          <p:cNvSpPr/>
          <p:nvPr/>
        </p:nvSpPr>
        <p:spPr>
          <a:xfrm flipV="1">
            <a:off x="4038480" y="5257800"/>
            <a:ext cx="609840" cy="76320"/>
          </a:xfrm>
          <a:prstGeom prst="line">
            <a:avLst/>
          </a:prstGeom>
          <a:ln w="28440">
            <a:solidFill>
              <a:srgbClr val="cccc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29520" bIns="2952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" name="Line 82"/>
          <p:cNvSpPr/>
          <p:nvPr/>
        </p:nvSpPr>
        <p:spPr>
          <a:xfrm flipV="1">
            <a:off x="4648320" y="4038120"/>
            <a:ext cx="533160" cy="1219320"/>
          </a:xfrm>
          <a:prstGeom prst="line">
            <a:avLst/>
          </a:prstGeom>
          <a:ln w="28440">
            <a:solidFill>
              <a:srgbClr val="cccc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Line 83"/>
          <p:cNvSpPr/>
          <p:nvPr/>
        </p:nvSpPr>
        <p:spPr>
          <a:xfrm>
            <a:off x="5181480" y="4114800"/>
            <a:ext cx="838440" cy="228600"/>
          </a:xfrm>
          <a:prstGeom prst="line">
            <a:avLst/>
          </a:prstGeom>
          <a:ln w="28440">
            <a:solidFill>
              <a:srgbClr val="cccc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" name="Line 84"/>
          <p:cNvSpPr/>
          <p:nvPr/>
        </p:nvSpPr>
        <p:spPr>
          <a:xfrm>
            <a:off x="5943600" y="4343400"/>
            <a:ext cx="609480" cy="685800"/>
          </a:xfrm>
          <a:prstGeom prst="line">
            <a:avLst/>
          </a:prstGeom>
          <a:ln w="28440">
            <a:solidFill>
              <a:srgbClr val="cccc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Line 85"/>
          <p:cNvSpPr/>
          <p:nvPr/>
        </p:nvSpPr>
        <p:spPr>
          <a:xfrm>
            <a:off x="6629400" y="5029200"/>
            <a:ext cx="533520" cy="0"/>
          </a:xfrm>
          <a:prstGeom prst="line">
            <a:avLst/>
          </a:prstGeom>
          <a:ln w="28440">
            <a:solidFill>
              <a:srgbClr val="cccc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Line 86"/>
          <p:cNvSpPr/>
          <p:nvPr/>
        </p:nvSpPr>
        <p:spPr>
          <a:xfrm flipV="1">
            <a:off x="7162920" y="4114800"/>
            <a:ext cx="609480" cy="914400"/>
          </a:xfrm>
          <a:prstGeom prst="line">
            <a:avLst/>
          </a:prstGeom>
          <a:ln w="28440">
            <a:solidFill>
              <a:srgbClr val="cccc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" name="Line 87"/>
          <p:cNvSpPr/>
          <p:nvPr/>
        </p:nvSpPr>
        <p:spPr>
          <a:xfrm flipV="1">
            <a:off x="7848720" y="3276720"/>
            <a:ext cx="761760" cy="761760"/>
          </a:xfrm>
          <a:prstGeom prst="line">
            <a:avLst/>
          </a:prstGeom>
          <a:ln w="28440">
            <a:solidFill>
              <a:srgbClr val="cccc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75" name="Text Box 88"/>
          <p:cNvSpPr/>
          <p:nvPr/>
        </p:nvSpPr>
        <p:spPr>
          <a:xfrm>
            <a:off x="3733920" y="914400"/>
            <a:ext cx="32832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°</a:t>
            </a:r>
            <a:endParaRPr b="0" lang="en-US" sz="2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" name="Line 89"/>
          <p:cNvSpPr/>
          <p:nvPr/>
        </p:nvSpPr>
        <p:spPr>
          <a:xfrm>
            <a:off x="3657600" y="1143000"/>
            <a:ext cx="457200" cy="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Text Box 90"/>
          <p:cNvSpPr/>
          <p:nvPr/>
        </p:nvSpPr>
        <p:spPr>
          <a:xfrm>
            <a:off x="4185000" y="914400"/>
            <a:ext cx="460836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Classe + cantine : 5h 20min + 30min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" name="Text Box 91"/>
          <p:cNvSpPr/>
          <p:nvPr/>
        </p:nvSpPr>
        <p:spPr>
          <a:xfrm>
            <a:off x="3736440" y="1219320"/>
            <a:ext cx="323280" cy="58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32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Tahoma"/>
              </a:rPr>
              <a:t>•</a:t>
            </a:r>
            <a:endParaRPr b="0" lang="en-US" sz="3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Line 92"/>
          <p:cNvSpPr/>
          <p:nvPr/>
        </p:nvSpPr>
        <p:spPr>
          <a:xfrm>
            <a:off x="3657600" y="1523880"/>
            <a:ext cx="457200" cy="0"/>
          </a:xfrm>
          <a:prstGeom prst="line">
            <a:avLst/>
          </a:prstGeom>
          <a:ln w="28440">
            <a:solidFill>
              <a:srgbClr val="cccc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" name="Text Box 93"/>
          <p:cNvSpPr/>
          <p:nvPr/>
        </p:nvSpPr>
        <p:spPr>
          <a:xfrm>
            <a:off x="4186800" y="1295280"/>
            <a:ext cx="382320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ccccff"/>
                </a:solidFill>
                <a:effectLst/>
                <a:uFillTx/>
                <a:latin typeface="Arial"/>
              </a:rPr>
              <a:t>Récréation : 2 x 20min + 1h 30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" name="Text Box 94"/>
          <p:cNvSpPr/>
          <p:nvPr/>
        </p:nvSpPr>
        <p:spPr>
          <a:xfrm>
            <a:off x="3791880" y="1733400"/>
            <a:ext cx="24588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400" strike="noStrike" u="none">
                <a:solidFill>
                  <a:srgbClr val="99cc00"/>
                </a:solidFill>
                <a:effectLst/>
                <a:uFillTx/>
                <a:latin typeface="SPSS Marker Set"/>
                <a:ea typeface="SPSS Marker Set"/>
              </a:rPr>
              <a:t>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" name="Line 95"/>
          <p:cNvSpPr/>
          <p:nvPr/>
        </p:nvSpPr>
        <p:spPr>
          <a:xfrm>
            <a:off x="3657600" y="1828800"/>
            <a:ext cx="457200" cy="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" name="Text Box 96"/>
          <p:cNvSpPr/>
          <p:nvPr/>
        </p:nvSpPr>
        <p:spPr>
          <a:xfrm>
            <a:off x="4174560" y="1611360"/>
            <a:ext cx="356040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Education physique : 55min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" name="Text Box 97"/>
          <p:cNvSpPr/>
          <p:nvPr/>
        </p:nvSpPr>
        <p:spPr>
          <a:xfrm>
            <a:off x="3800160" y="1981080"/>
            <a:ext cx="25488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ccccff"/>
                </a:solidFill>
                <a:effectLst/>
                <a:uFillTx/>
                <a:latin typeface="SPSS Marker Set"/>
                <a:ea typeface="SPSS Marker Set"/>
              </a:rPr>
              <a:t>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85" name="Line 98"/>
          <p:cNvSpPr/>
          <p:nvPr/>
        </p:nvSpPr>
        <p:spPr>
          <a:xfrm>
            <a:off x="3657600" y="2209680"/>
            <a:ext cx="533520" cy="0"/>
          </a:xfrm>
          <a:prstGeom prst="line">
            <a:avLst/>
          </a:prstGeom>
          <a:ln w="28440">
            <a:solidFill>
              <a:srgbClr val="cccc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" name="Text Box 99"/>
          <p:cNvSpPr/>
          <p:nvPr/>
        </p:nvSpPr>
        <p:spPr>
          <a:xfrm>
            <a:off x="4190040" y="1981080"/>
            <a:ext cx="179316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ccccff"/>
                </a:solidFill>
                <a:effectLst/>
                <a:uFillTx/>
                <a:latin typeface="Arial"/>
              </a:rPr>
              <a:t>Jeux : 25min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p:transition spd="med">
    <p:zoom dir="out"/>
  </p:transition>
  <p:timing>
    <p:tnLst>
      <p:par>
        <p:cTn id="350" dur="indefinite" restart="never" nodeType="tmRoot">
          <p:childTnLst>
            <p:seq>
              <p:cTn id="351" dur="indefinite" nodeType="mainSeq">
                <p:childTnLst>
                  <p:par>
                    <p:cTn id="352" nodeType="clickEffect" fill="hold">
                      <p:stCondLst>
                        <p:cond delay="indefinite"/>
                      </p:stCondLst>
                      <p:childTnLst>
                        <p:par>
                          <p:cTn id="35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54" nodeType="clickEffect" fill="hold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56" dur="500" fill="hold"/>
                                        <p:tgtEl>
                                          <p:spTgt spid="2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57" dur="500" fill="hold"/>
                                        <p:tgtEl>
                                          <p:spTgt spid="2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8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359" nodeType="afterEffect" fill="hold" presetClass="entr" presetID="17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61" dur="500" fill="hold"/>
                                        <p:tgtEl>
                                          <p:spTgt spid="2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62" dur="500" fill="hold"/>
                                        <p:tgtEl>
                                          <p:spTgt spid="2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3" nodeType="afterEffect" fill="hold">
                            <p:stCondLst>
                              <p:cond delay="1000"/>
                            </p:stCondLst>
                            <p:childTnLst>
                              <p:par>
                                <p:cTn id="364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66" dur="5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7" nodeType="afterEffect" fill="hold">
                            <p:stCondLst>
                              <p:cond delay="1500"/>
                            </p:stCondLst>
                            <p:childTnLst>
                              <p:par>
                                <p:cTn id="368" nodeType="afterEffect" fill="hold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70" dur="50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71" dur="50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2" nodeType="afterEffect" fill="hold">
                            <p:stCondLst>
                              <p:cond delay="2000"/>
                            </p:stCondLst>
                            <p:childTnLst>
                              <p:par>
                                <p:cTn id="373" nodeType="afterEffect" fill="hold" presetClass="entr" presetID="17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75" dur="500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76" dur="500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77" dur="500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78" dur="500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9" nodeType="afterEffect" fill="hold">
                            <p:stCondLst>
                              <p:cond delay="2500"/>
                            </p:stCondLst>
                            <p:childTnLst>
                              <p:par>
                                <p:cTn id="380" nodeType="afterEffect" fill="hold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82" dur="500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83" dur="500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4" nodeType="afterEffect" fill="hold">
                            <p:stCondLst>
                              <p:cond delay="3000"/>
                            </p:stCondLst>
                            <p:childTnLst>
                              <p:par>
                                <p:cTn id="385" nodeType="afterEffect" fill="hold" presetClass="entr" presetID="17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87" dur="500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88" dur="500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89" dur="500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90" dur="500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1" nodeType="afterEffect" fill="hold">
                            <p:stCondLst>
                              <p:cond delay="3500"/>
                            </p:stCondLst>
                            <p:childTnLst>
                              <p:par>
                                <p:cTn id="392" nodeType="afterEffect" fill="hold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94" dur="500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95" dur="500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6" nodeType="afterEffect" fill="hold">
                            <p:stCondLst>
                              <p:cond delay="4000"/>
                            </p:stCondLst>
                            <p:childTnLst>
                              <p:par>
                                <p:cTn id="397" nodeType="afterEffect" fill="hold" presetClass="entr" presetID="17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99" dur="500" fill="hold"/>
                                        <p:tgtEl>
                                          <p:spTgt spid="2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00" dur="500" fill="hold"/>
                                        <p:tgtEl>
                                          <p:spTgt spid="2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01" dur="500" fill="hold"/>
                                        <p:tgtEl>
                                          <p:spTgt spid="2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02" dur="500" fill="hold"/>
                                        <p:tgtEl>
                                          <p:spTgt spid="2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3" nodeType="afterEffect" fill="hold">
                            <p:stCondLst>
                              <p:cond delay="4500"/>
                            </p:stCondLst>
                            <p:childTnLst>
                              <p:par>
                                <p:cTn id="404" nodeType="afterEffect" fill="hold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06" dur="50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07" dur="50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8" nodeType="afterEffect" fill="hold">
                            <p:stCondLst>
                              <p:cond delay="5000"/>
                            </p:stCondLst>
                            <p:childTnLst>
                              <p:par>
                                <p:cTn id="409" nodeType="afterEffect" fill="hold" presetClass="entr" presetID="17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11" dur="500" fill="hold"/>
                                        <p:tgtEl>
                                          <p:spTgt spid="2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12" dur="500" fill="hold"/>
                                        <p:tgtEl>
                                          <p:spTgt spid="2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13" dur="500" fill="hold"/>
                                        <p:tgtEl>
                                          <p:spTgt spid="2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14" dur="500" fill="hold"/>
                                        <p:tgtEl>
                                          <p:spTgt spid="2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5" nodeType="afterEffect" fill="hold">
                            <p:stCondLst>
                              <p:cond delay="5500"/>
                            </p:stCondLst>
                            <p:childTnLst>
                              <p:par>
                                <p:cTn id="416" nodeType="afterEffect" fill="hold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18" dur="500" fill="hold"/>
                                        <p:tgtEl>
                                          <p:spTgt spid="2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19" dur="500" fill="hold"/>
                                        <p:tgtEl>
                                          <p:spTgt spid="2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0" nodeType="afterEffect" fill="hold">
                            <p:stCondLst>
                              <p:cond delay="6000"/>
                            </p:stCondLst>
                            <p:childTnLst>
                              <p:par>
                                <p:cTn id="421" nodeType="afterEffect" fill="hold" presetClass="entr" presetID="17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23" dur="500" fill="hold"/>
                                        <p:tgtEl>
                                          <p:spTgt spid="2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24" dur="500" fill="hold"/>
                                        <p:tgtEl>
                                          <p:spTgt spid="2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25" dur="500" fill="hold"/>
                                        <p:tgtEl>
                                          <p:spTgt spid="2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26" dur="500" fill="hold"/>
                                        <p:tgtEl>
                                          <p:spTgt spid="2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7" nodeType="afterEffect" fill="hold">
                            <p:stCondLst>
                              <p:cond delay="6500"/>
                            </p:stCondLst>
                            <p:childTnLst>
                              <p:par>
                                <p:cTn id="428" nodeType="afterEffect" fill="hold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30" dur="500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31" dur="500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2" nodeType="afterEffect" fill="hold">
                            <p:stCondLst>
                              <p:cond delay="7000"/>
                            </p:stCondLst>
                            <p:childTnLst>
                              <p:par>
                                <p:cTn id="433" nodeType="afterEffect" fill="hold" presetClass="entr" presetID="17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35" dur="500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36" dur="500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37" dur="500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38" dur="500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9" nodeType="afterEffect" fill="hold">
                            <p:stCondLst>
                              <p:cond delay="7500"/>
                            </p:stCondLst>
                            <p:childTnLst>
                              <p:par>
                                <p:cTn id="440" nodeType="afterEffect" fill="hold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42" dur="50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43" dur="50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4" nodeType="afterEffect" fill="hold">
                            <p:stCondLst>
                              <p:cond delay="8000"/>
                            </p:stCondLst>
                            <p:childTnLst>
                              <p:par>
                                <p:cTn id="445" nodeType="afterEffect" fill="hold" presetClass="entr" presetID="17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47" dur="500" fill="hold"/>
                                        <p:tgtEl>
                                          <p:spTgt spid="2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48" dur="500" fill="hold"/>
                                        <p:tgtEl>
                                          <p:spTgt spid="2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49" dur="500" fill="hold"/>
                                        <p:tgtEl>
                                          <p:spTgt spid="2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50" dur="500" fill="hold"/>
                                        <p:tgtEl>
                                          <p:spTgt spid="2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1" nodeType="afterEffect" fill="hold">
                            <p:stCondLst>
                              <p:cond delay="8500"/>
                            </p:stCondLst>
                            <p:childTnLst>
                              <p:par>
                                <p:cTn id="452" nodeType="afterEffect" fill="hold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54" dur="500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55" dur="500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6" nodeType="afterEffect" fill="hold">
                            <p:stCondLst>
                              <p:cond delay="9000"/>
                            </p:stCondLst>
                            <p:childTnLst>
                              <p:par>
                                <p:cTn id="457" nodeType="afterEffect" fill="hold" presetClass="entr" presetID="17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59" dur="500" fill="hold"/>
                                        <p:tgtEl>
                                          <p:spTgt spid="2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60" dur="500" fill="hold"/>
                                        <p:tgtEl>
                                          <p:spTgt spid="2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61" dur="500" fill="hold"/>
                                        <p:tgtEl>
                                          <p:spTgt spid="2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62" dur="500" fill="hold"/>
                                        <p:tgtEl>
                                          <p:spTgt spid="2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3" nodeType="afterEffect" fill="hold">
                            <p:stCondLst>
                              <p:cond delay="9500"/>
                            </p:stCondLst>
                            <p:childTnLst>
                              <p:par>
                                <p:cTn id="464" nodeType="afterEffect" fill="hold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66" dur="500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67" dur="500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8" nodeType="afterEffect" fill="hold">
                            <p:stCondLst>
                              <p:cond delay="10000"/>
                            </p:stCondLst>
                            <p:childTnLst>
                              <p:par>
                                <p:cTn id="469" nodeType="afterEffect" fill="hold" presetClass="entr" presetID="17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71" dur="500" fill="hold"/>
                                        <p:tgtEl>
                                          <p:spTgt spid="2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72" dur="500" fill="hold"/>
                                        <p:tgtEl>
                                          <p:spTgt spid="2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73" dur="500" fill="hold"/>
                                        <p:tgtEl>
                                          <p:spTgt spid="2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74" dur="500" fill="hold"/>
                                        <p:tgtEl>
                                          <p:spTgt spid="2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5" nodeType="afterEffect" fill="hold">
                            <p:stCondLst>
                              <p:cond delay="10500"/>
                            </p:stCondLst>
                            <p:childTnLst>
                              <p:par>
                                <p:cTn id="476" nodeType="afterEffect" fill="hold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78" dur="500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79" dur="500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Rectangle 2"/>
          <p:cNvSpPr/>
          <p:nvPr/>
        </p:nvSpPr>
        <p:spPr>
          <a:xfrm>
            <a:off x="1238400" y="914400"/>
            <a:ext cx="7904160" cy="5257800"/>
          </a:xfrm>
          <a:prstGeom prst="rect">
            <a:avLst/>
          </a:prstGeom>
          <a:noFill/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" name="Text Box 3"/>
          <p:cNvSpPr/>
          <p:nvPr/>
        </p:nvSpPr>
        <p:spPr>
          <a:xfrm>
            <a:off x="249480" y="795240"/>
            <a:ext cx="1755720" cy="557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marL="457200" indent="-457200">
              <a:lnSpc>
                <a:spcPct val="8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32 -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8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8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8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28 –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8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8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8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24 –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8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8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8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20 –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8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8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8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16 –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8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8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8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12 –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8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8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8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8   –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8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8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8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4   –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8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8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8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0   --   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" name="Text Box 4"/>
          <p:cNvSpPr/>
          <p:nvPr/>
        </p:nvSpPr>
        <p:spPr>
          <a:xfrm rot="16229400">
            <a:off x="-1120320" y="3276000"/>
            <a:ext cx="289188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% de la durée totale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" name="Text Box 5"/>
          <p:cNvSpPr/>
          <p:nvPr/>
        </p:nvSpPr>
        <p:spPr>
          <a:xfrm>
            <a:off x="933840" y="6248520"/>
            <a:ext cx="837288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   40-45  45-50   50-55   55-60    60-65  65-70   70-75   75-80  80-85  85-90  90-95  95-100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" name="Line 6"/>
          <p:cNvSpPr/>
          <p:nvPr/>
        </p:nvSpPr>
        <p:spPr>
          <a:xfrm>
            <a:off x="1314360" y="3581280"/>
            <a:ext cx="7620120" cy="0"/>
          </a:xfrm>
          <a:prstGeom prst="line">
            <a:avLst/>
          </a:prstGeom>
          <a:ln cap="rnd" w="3240">
            <a:solidFill>
              <a:srgbClr val="3333cc"/>
            </a:solidFill>
            <a:custDash>
              <a:ds d="100000" sp="1000"/>
            </a:custDash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Line 7"/>
          <p:cNvSpPr/>
          <p:nvPr/>
        </p:nvSpPr>
        <p:spPr>
          <a:xfrm>
            <a:off x="1295280" y="2971800"/>
            <a:ext cx="7620120" cy="0"/>
          </a:xfrm>
          <a:prstGeom prst="line">
            <a:avLst/>
          </a:prstGeom>
          <a:ln cap="rnd" w="3240">
            <a:solidFill>
              <a:srgbClr val="3333cc"/>
            </a:solidFill>
            <a:custDash>
              <a:ds d="100000" sp="1000"/>
            </a:custDash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" name="Line 8"/>
          <p:cNvSpPr/>
          <p:nvPr/>
        </p:nvSpPr>
        <p:spPr>
          <a:xfrm flipV="1">
            <a:off x="1295280" y="2209680"/>
            <a:ext cx="7620120" cy="76320"/>
          </a:xfrm>
          <a:prstGeom prst="line">
            <a:avLst/>
          </a:prstGeom>
          <a:ln cap="rnd" w="3240">
            <a:solidFill>
              <a:srgbClr val="3333cc"/>
            </a:solidFill>
            <a:custDash>
              <a:ds d="100000" sp="1000"/>
            </a:custDash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29520" bIns="2952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Line 9"/>
          <p:cNvSpPr/>
          <p:nvPr/>
        </p:nvSpPr>
        <p:spPr>
          <a:xfrm>
            <a:off x="1219320" y="4267080"/>
            <a:ext cx="7619760" cy="0"/>
          </a:xfrm>
          <a:prstGeom prst="line">
            <a:avLst/>
          </a:prstGeom>
          <a:ln cap="rnd" w="3240">
            <a:solidFill>
              <a:srgbClr val="3333cc"/>
            </a:solidFill>
            <a:custDash>
              <a:ds d="100000" sp="1000"/>
            </a:custDash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Line 10"/>
          <p:cNvSpPr/>
          <p:nvPr/>
        </p:nvSpPr>
        <p:spPr>
          <a:xfrm>
            <a:off x="1295280" y="4876920"/>
            <a:ext cx="7620120" cy="0"/>
          </a:xfrm>
          <a:prstGeom prst="line">
            <a:avLst/>
          </a:prstGeom>
          <a:ln cap="rnd" w="3240">
            <a:solidFill>
              <a:srgbClr val="3333cc"/>
            </a:solidFill>
            <a:custDash>
              <a:ds d="100000" sp="1000"/>
            </a:custDash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Line 11"/>
          <p:cNvSpPr/>
          <p:nvPr/>
        </p:nvSpPr>
        <p:spPr>
          <a:xfrm>
            <a:off x="1219320" y="5562720"/>
            <a:ext cx="7619760" cy="0"/>
          </a:xfrm>
          <a:prstGeom prst="line">
            <a:avLst/>
          </a:prstGeom>
          <a:ln cap="rnd" w="3240">
            <a:solidFill>
              <a:srgbClr val="3333cc"/>
            </a:solidFill>
            <a:custDash>
              <a:ds d="100000" sp="1000"/>
            </a:custDash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Line 12"/>
          <p:cNvSpPr/>
          <p:nvPr/>
        </p:nvSpPr>
        <p:spPr>
          <a:xfrm flipV="1">
            <a:off x="1219320" y="1523880"/>
            <a:ext cx="7619760" cy="76320"/>
          </a:xfrm>
          <a:prstGeom prst="line">
            <a:avLst/>
          </a:prstGeom>
          <a:ln cap="rnd" w="3240">
            <a:solidFill>
              <a:srgbClr val="3333cc"/>
            </a:solidFill>
            <a:custDash>
              <a:ds d="100000" sp="1000"/>
            </a:custDash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29520" bIns="2952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Rectangle 13"/>
          <p:cNvSpPr/>
          <p:nvPr/>
        </p:nvSpPr>
        <p:spPr>
          <a:xfrm>
            <a:off x="1523880" y="4191120"/>
            <a:ext cx="285840" cy="1981080"/>
          </a:xfrm>
          <a:prstGeom prst="rect">
            <a:avLst/>
          </a:prstGeom>
          <a:solidFill>
            <a:srgbClr val="ffff00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Rectangle 14"/>
          <p:cNvSpPr/>
          <p:nvPr/>
        </p:nvSpPr>
        <p:spPr>
          <a:xfrm>
            <a:off x="1523880" y="2895480"/>
            <a:ext cx="285840" cy="1295640"/>
          </a:xfrm>
          <a:prstGeom prst="rect">
            <a:avLst/>
          </a:prstGeom>
          <a:solidFill>
            <a:srgbClr val="669900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Rectangle 15"/>
          <p:cNvSpPr/>
          <p:nvPr/>
        </p:nvSpPr>
        <p:spPr>
          <a:xfrm>
            <a:off x="2133720" y="1905120"/>
            <a:ext cx="285480" cy="4267080"/>
          </a:xfrm>
          <a:prstGeom prst="rect">
            <a:avLst/>
          </a:prstGeom>
          <a:solidFill>
            <a:srgbClr val="ffff00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Rectangle 16"/>
          <p:cNvSpPr/>
          <p:nvPr/>
        </p:nvSpPr>
        <p:spPr>
          <a:xfrm>
            <a:off x="2133720" y="1066680"/>
            <a:ext cx="285480" cy="838440"/>
          </a:xfrm>
          <a:prstGeom prst="rect">
            <a:avLst/>
          </a:prstGeom>
          <a:solidFill>
            <a:srgbClr val="669900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" name="Rectangle 17"/>
          <p:cNvSpPr/>
          <p:nvPr/>
        </p:nvSpPr>
        <p:spPr>
          <a:xfrm>
            <a:off x="2819520" y="2743200"/>
            <a:ext cx="285480" cy="3429000"/>
          </a:xfrm>
          <a:prstGeom prst="rect">
            <a:avLst/>
          </a:prstGeom>
          <a:solidFill>
            <a:srgbClr val="ffff00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" name="Rectangle 18"/>
          <p:cNvSpPr/>
          <p:nvPr/>
        </p:nvSpPr>
        <p:spPr>
          <a:xfrm>
            <a:off x="2819520" y="1066680"/>
            <a:ext cx="285480" cy="1676520"/>
          </a:xfrm>
          <a:prstGeom prst="rect">
            <a:avLst/>
          </a:prstGeom>
          <a:solidFill>
            <a:srgbClr val="669900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" name="Rectangle 19"/>
          <p:cNvSpPr/>
          <p:nvPr/>
        </p:nvSpPr>
        <p:spPr>
          <a:xfrm>
            <a:off x="3505320" y="4343400"/>
            <a:ext cx="285480" cy="1828800"/>
          </a:xfrm>
          <a:prstGeom prst="rect">
            <a:avLst/>
          </a:prstGeom>
          <a:solidFill>
            <a:srgbClr val="ffff00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" name="Rectangle 20"/>
          <p:cNvSpPr/>
          <p:nvPr/>
        </p:nvSpPr>
        <p:spPr>
          <a:xfrm>
            <a:off x="3505320" y="3048120"/>
            <a:ext cx="285480" cy="1295280"/>
          </a:xfrm>
          <a:prstGeom prst="rect">
            <a:avLst/>
          </a:prstGeom>
          <a:solidFill>
            <a:srgbClr val="669900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" name="Rectangle 21"/>
          <p:cNvSpPr/>
          <p:nvPr/>
        </p:nvSpPr>
        <p:spPr>
          <a:xfrm>
            <a:off x="4191120" y="4800600"/>
            <a:ext cx="304560" cy="1371600"/>
          </a:xfrm>
          <a:prstGeom prst="rect">
            <a:avLst/>
          </a:prstGeom>
          <a:solidFill>
            <a:srgbClr val="ffff00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" name="Rectangle 22"/>
          <p:cNvSpPr/>
          <p:nvPr/>
        </p:nvSpPr>
        <p:spPr>
          <a:xfrm>
            <a:off x="4876920" y="4952880"/>
            <a:ext cx="285480" cy="1219320"/>
          </a:xfrm>
          <a:prstGeom prst="rect">
            <a:avLst/>
          </a:prstGeom>
          <a:solidFill>
            <a:srgbClr val="ffff00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" name="Rectangle 23"/>
          <p:cNvSpPr/>
          <p:nvPr/>
        </p:nvSpPr>
        <p:spPr>
          <a:xfrm>
            <a:off x="4191120" y="3809880"/>
            <a:ext cx="304560" cy="990720"/>
          </a:xfrm>
          <a:prstGeom prst="rect">
            <a:avLst/>
          </a:prstGeom>
          <a:solidFill>
            <a:srgbClr val="669900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" name="Rectangle 24"/>
          <p:cNvSpPr/>
          <p:nvPr/>
        </p:nvSpPr>
        <p:spPr>
          <a:xfrm>
            <a:off x="4876920" y="4343400"/>
            <a:ext cx="285480" cy="609480"/>
          </a:xfrm>
          <a:prstGeom prst="rect">
            <a:avLst/>
          </a:prstGeom>
          <a:solidFill>
            <a:srgbClr val="669900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" name="Rectangle 25"/>
          <p:cNvSpPr/>
          <p:nvPr/>
        </p:nvSpPr>
        <p:spPr>
          <a:xfrm>
            <a:off x="5562720" y="4876920"/>
            <a:ext cx="285480" cy="533160"/>
          </a:xfrm>
          <a:prstGeom prst="rect">
            <a:avLst/>
          </a:prstGeom>
          <a:solidFill>
            <a:srgbClr val="669900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" name="Rectangle 26"/>
          <p:cNvSpPr/>
          <p:nvPr/>
        </p:nvSpPr>
        <p:spPr>
          <a:xfrm>
            <a:off x="5562720" y="5410080"/>
            <a:ext cx="285480" cy="762120"/>
          </a:xfrm>
          <a:prstGeom prst="rect">
            <a:avLst/>
          </a:prstGeom>
          <a:solidFill>
            <a:srgbClr val="ffff00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" name="Rectangle 27"/>
          <p:cNvSpPr/>
          <p:nvPr/>
        </p:nvSpPr>
        <p:spPr>
          <a:xfrm>
            <a:off x="6248520" y="5638680"/>
            <a:ext cx="285480" cy="533520"/>
          </a:xfrm>
          <a:prstGeom prst="rect">
            <a:avLst/>
          </a:prstGeom>
          <a:solidFill>
            <a:srgbClr val="ffff00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" name="Rectangle 28"/>
          <p:cNvSpPr/>
          <p:nvPr/>
        </p:nvSpPr>
        <p:spPr>
          <a:xfrm>
            <a:off x="6248520" y="5334120"/>
            <a:ext cx="285480" cy="304560"/>
          </a:xfrm>
          <a:prstGeom prst="rect">
            <a:avLst/>
          </a:prstGeom>
          <a:solidFill>
            <a:srgbClr val="669900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" name="Rectangle 29"/>
          <p:cNvSpPr/>
          <p:nvPr/>
        </p:nvSpPr>
        <p:spPr>
          <a:xfrm>
            <a:off x="6858000" y="5715000"/>
            <a:ext cx="285840" cy="457200"/>
          </a:xfrm>
          <a:prstGeom prst="rect">
            <a:avLst/>
          </a:prstGeom>
          <a:solidFill>
            <a:srgbClr val="ffff00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" name="Rectangle 30"/>
          <p:cNvSpPr/>
          <p:nvPr/>
        </p:nvSpPr>
        <p:spPr>
          <a:xfrm>
            <a:off x="6858000" y="5486400"/>
            <a:ext cx="285840" cy="228600"/>
          </a:xfrm>
          <a:prstGeom prst="rect">
            <a:avLst/>
          </a:prstGeom>
          <a:solidFill>
            <a:srgbClr val="669900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16" name="Rectangle 31"/>
          <p:cNvSpPr/>
          <p:nvPr/>
        </p:nvSpPr>
        <p:spPr>
          <a:xfrm>
            <a:off x="7467480" y="5867280"/>
            <a:ext cx="285840" cy="304920"/>
          </a:xfrm>
          <a:prstGeom prst="rect">
            <a:avLst/>
          </a:prstGeom>
          <a:solidFill>
            <a:srgbClr val="ffff00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" name="Rectangle 32"/>
          <p:cNvSpPr/>
          <p:nvPr/>
        </p:nvSpPr>
        <p:spPr>
          <a:xfrm>
            <a:off x="7467480" y="5562720"/>
            <a:ext cx="285840" cy="304560"/>
          </a:xfrm>
          <a:prstGeom prst="rect">
            <a:avLst/>
          </a:prstGeom>
          <a:solidFill>
            <a:srgbClr val="669900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" name="Text Box 33"/>
          <p:cNvSpPr/>
          <p:nvPr/>
        </p:nvSpPr>
        <p:spPr>
          <a:xfrm>
            <a:off x="137880" y="0"/>
            <a:ext cx="8880480" cy="82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FREQUENCE CARDIAQUE (% FCmax) AU COURS D’UNE 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JOURNEE DE CLASSE (8 heures; n = 11 enfants de 10-11 ans)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" name="Text Box 34"/>
          <p:cNvSpPr/>
          <p:nvPr/>
        </p:nvSpPr>
        <p:spPr>
          <a:xfrm>
            <a:off x="2737440" y="6461280"/>
            <a:ext cx="484884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% de la fréquence cardiaque maximale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" name="Rectangle 35"/>
          <p:cNvSpPr/>
          <p:nvPr/>
        </p:nvSpPr>
        <p:spPr>
          <a:xfrm>
            <a:off x="8686800" y="6019920"/>
            <a:ext cx="285840" cy="75960"/>
          </a:xfrm>
          <a:prstGeom prst="rect">
            <a:avLst/>
          </a:prstGeom>
          <a:solidFill>
            <a:srgbClr val="669900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29160" bIns="2916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21" name="Rectangle 36"/>
          <p:cNvSpPr/>
          <p:nvPr/>
        </p:nvSpPr>
        <p:spPr>
          <a:xfrm>
            <a:off x="8686800" y="6095880"/>
            <a:ext cx="285840" cy="76320"/>
          </a:xfrm>
          <a:prstGeom prst="rect">
            <a:avLst/>
          </a:prstGeom>
          <a:solidFill>
            <a:srgbClr val="ffff00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29520" bIns="2952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" name="Rectangle 37"/>
          <p:cNvSpPr/>
          <p:nvPr/>
        </p:nvSpPr>
        <p:spPr>
          <a:xfrm>
            <a:off x="8077320" y="6019920"/>
            <a:ext cx="285480" cy="152280"/>
          </a:xfrm>
          <a:prstGeom prst="rect">
            <a:avLst/>
          </a:prstGeom>
          <a:solidFill>
            <a:srgbClr val="ffff00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" name="Rectangle 38"/>
          <p:cNvSpPr/>
          <p:nvPr/>
        </p:nvSpPr>
        <p:spPr>
          <a:xfrm>
            <a:off x="8077320" y="5791320"/>
            <a:ext cx="285480" cy="228600"/>
          </a:xfrm>
          <a:prstGeom prst="rect">
            <a:avLst/>
          </a:prstGeom>
          <a:solidFill>
            <a:srgbClr val="669900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" name="Rectangle 39"/>
          <p:cNvSpPr/>
          <p:nvPr/>
        </p:nvSpPr>
        <p:spPr>
          <a:xfrm>
            <a:off x="7180200" y="1311120"/>
            <a:ext cx="304920" cy="152640"/>
          </a:xfrm>
          <a:prstGeom prst="rect">
            <a:avLst/>
          </a:prstGeom>
          <a:solidFill>
            <a:srgbClr val="669900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25" name="Text Box 40"/>
          <p:cNvSpPr/>
          <p:nvPr/>
        </p:nvSpPr>
        <p:spPr>
          <a:xfrm>
            <a:off x="7471440" y="1219320"/>
            <a:ext cx="127332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Ecart type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" name="Rectangle 41"/>
          <p:cNvSpPr/>
          <p:nvPr/>
        </p:nvSpPr>
        <p:spPr>
          <a:xfrm>
            <a:off x="7180200" y="1616040"/>
            <a:ext cx="304920" cy="152280"/>
          </a:xfrm>
          <a:prstGeom prst="rect">
            <a:avLst/>
          </a:prstGeom>
          <a:solidFill>
            <a:srgbClr val="ffff00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" name="Text Box 42"/>
          <p:cNvSpPr/>
          <p:nvPr/>
        </p:nvSpPr>
        <p:spPr>
          <a:xfrm>
            <a:off x="7487280" y="1539720"/>
            <a:ext cx="117180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Moyenne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AutoShape 43"/>
          <p:cNvSpPr/>
          <p:nvPr/>
        </p:nvSpPr>
        <p:spPr>
          <a:xfrm rot="5376600">
            <a:off x="2515680" y="1596960"/>
            <a:ext cx="225360" cy="2057400"/>
          </a:xfrm>
          <a:custGeom>
            <a:avLst/>
            <a:gdLst>
              <a:gd name="textAreaLeft" fmla="*/ 144000 w 225360"/>
              <a:gd name="textAreaRight" fmla="*/ 225720 w 225360"/>
              <a:gd name="textAreaTop" fmla="*/ 53640 h 2057400"/>
              <a:gd name="textAreaBottom" fmla="*/ 2003760 h 2057400"/>
              <a:gd name="GluePoint1X" fmla="*/ 21600 w 21600"/>
              <a:gd name="GluePoint1Y" fmla="*/ 0 h 21600"/>
              <a:gd name="GluePoint2X" fmla="*/ 0 w 21600"/>
              <a:gd name="GluePoint2Y" fmla="*/ 10800 h 21600"/>
              <a:gd name="GluePoint3X" fmla="*/ 21600 w 21600"/>
              <a:gd name="GluePoint3Y" fmla="*/ 21600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w="21600" h="21600">
                <a:moveTo>
                  <a:pt x="21600" y="0"/>
                </a:moveTo>
                <a:cubicBezTo>
                  <a:pt x="16200" y="0"/>
                  <a:pt x="10800" y="900"/>
                  <a:pt x="10800" y="1800"/>
                </a:cubicBezTo>
                <a:lnTo>
                  <a:pt x="10800" y="8439"/>
                </a:lnTo>
                <a:cubicBezTo>
                  <a:pt x="10800" y="9339"/>
                  <a:pt x="5400" y="10239"/>
                  <a:pt x="0" y="10239"/>
                </a:cubicBezTo>
                <a:cubicBezTo>
                  <a:pt x="5400" y="10239"/>
                  <a:pt x="10800" y="11139"/>
                  <a:pt x="10800" y="12039"/>
                </a:cubicBezTo>
                <a:lnTo>
                  <a:pt x="10800" y="19800"/>
                </a:lnTo>
                <a:cubicBezTo>
                  <a:pt x="10800" y="20700"/>
                  <a:pt x="16200" y="21600"/>
                  <a:pt x="21600" y="21600"/>
                </a:cubicBezTo>
              </a:path>
            </a:pathLst>
          </a:custGeom>
          <a:noFill/>
          <a:ln w="2844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" name="Text Box 44"/>
          <p:cNvSpPr/>
          <p:nvPr/>
        </p:nvSpPr>
        <p:spPr>
          <a:xfrm>
            <a:off x="1779120" y="2052720"/>
            <a:ext cx="1826280" cy="368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classe + cantine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" name="AutoShape 45"/>
          <p:cNvSpPr/>
          <p:nvPr/>
        </p:nvSpPr>
        <p:spPr>
          <a:xfrm rot="5350800">
            <a:off x="5979600" y="334800"/>
            <a:ext cx="303120" cy="4954680"/>
          </a:xfrm>
          <a:custGeom>
            <a:avLst/>
            <a:gdLst>
              <a:gd name="textAreaLeft" fmla="*/ 193680 w 303120"/>
              <a:gd name="textAreaRight" fmla="*/ 303480 w 303120"/>
              <a:gd name="textAreaTop" fmla="*/ 128880 h 4954680"/>
              <a:gd name="textAreaBottom" fmla="*/ 4825800 h 4954680"/>
              <a:gd name="GluePoint1X" fmla="*/ 21600 w 21600"/>
              <a:gd name="GluePoint1Y" fmla="*/ 0 h 21600"/>
              <a:gd name="GluePoint2X" fmla="*/ 0 w 21600"/>
              <a:gd name="GluePoint2Y" fmla="*/ 10800 h 21600"/>
              <a:gd name="GluePoint3X" fmla="*/ 21600 w 21600"/>
              <a:gd name="GluePoint3Y" fmla="*/ 21600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w="21600" h="21600">
                <a:moveTo>
                  <a:pt x="21600" y="0"/>
                </a:moveTo>
                <a:cubicBezTo>
                  <a:pt x="16200" y="0"/>
                  <a:pt x="10800" y="900"/>
                  <a:pt x="10800" y="1800"/>
                </a:cubicBezTo>
                <a:lnTo>
                  <a:pt x="10800" y="8886"/>
                </a:lnTo>
                <a:cubicBezTo>
                  <a:pt x="10800" y="9786"/>
                  <a:pt x="5400" y="10686"/>
                  <a:pt x="0" y="10686"/>
                </a:cubicBezTo>
                <a:cubicBezTo>
                  <a:pt x="5400" y="10686"/>
                  <a:pt x="10800" y="11586"/>
                  <a:pt x="10800" y="12486"/>
                </a:cubicBezTo>
                <a:lnTo>
                  <a:pt x="10800" y="19800"/>
                </a:lnTo>
                <a:cubicBezTo>
                  <a:pt x="10800" y="20700"/>
                  <a:pt x="16200" y="21600"/>
                  <a:pt x="21600" y="21600"/>
                </a:cubicBezTo>
              </a:path>
            </a:pathLst>
          </a:custGeom>
          <a:noFill/>
          <a:ln w="2844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" name="Text Box 46"/>
          <p:cNvSpPr/>
          <p:nvPr/>
        </p:nvSpPr>
        <p:spPr>
          <a:xfrm>
            <a:off x="4404960" y="2093760"/>
            <a:ext cx="2537640" cy="368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cours EPS + récréation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AutoShape 47"/>
          <p:cNvSpPr/>
          <p:nvPr/>
        </p:nvSpPr>
        <p:spPr>
          <a:xfrm rot="16146600">
            <a:off x="8496000" y="4762080"/>
            <a:ext cx="152280" cy="1143000"/>
          </a:xfrm>
          <a:custGeom>
            <a:avLst/>
            <a:gdLst>
              <a:gd name="textAreaLeft" fmla="*/ 0 w 152280"/>
              <a:gd name="textAreaRight" fmla="*/ 55080 w 152280"/>
              <a:gd name="textAreaTop" fmla="*/ 29520 h 1143000"/>
              <a:gd name="textAreaBottom" fmla="*/ 1113480 h 1143000"/>
              <a:gd name="GluePoint1X" fmla="*/ 0 w 21600"/>
              <a:gd name="GluePoint1Y" fmla="*/ 0 h 21600"/>
              <a:gd name="GluePoint2X" fmla="*/ 0 w 21600"/>
              <a:gd name="GluePoint2Y" fmla="*/ 21600 h 21600"/>
              <a:gd name="GluePoint3X" fmla="*/ 21600 w 21600"/>
              <a:gd name="GluePoint3Y" fmla="*/ 10800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w="21600" h="21600">
                <a:moveTo>
                  <a:pt x="0" y="0"/>
                </a:moveTo>
                <a:cubicBezTo>
                  <a:pt x="5400" y="0"/>
                  <a:pt x="10800" y="900"/>
                  <a:pt x="10800" y="1800"/>
                </a:cubicBezTo>
                <a:lnTo>
                  <a:pt x="10800" y="9222"/>
                </a:lnTo>
                <a:cubicBezTo>
                  <a:pt x="10800" y="10122"/>
                  <a:pt x="16200" y="11022"/>
                  <a:pt x="21600" y="11022"/>
                </a:cubicBezTo>
                <a:cubicBezTo>
                  <a:pt x="16200" y="11022"/>
                  <a:pt x="10800" y="11922"/>
                  <a:pt x="10800" y="12822"/>
                </a:cubicBezTo>
                <a:lnTo>
                  <a:pt x="10800" y="19800"/>
                </a:lnTo>
                <a:cubicBezTo>
                  <a:pt x="10800" y="20700"/>
                  <a:pt x="5400" y="21600"/>
                  <a:pt x="0" y="21600"/>
                </a:cubicBezTo>
              </a:path>
            </a:pathLst>
          </a:custGeom>
          <a:noFill/>
          <a:ln w="2844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33" name="Text Box 48"/>
          <p:cNvSpPr/>
          <p:nvPr/>
        </p:nvSpPr>
        <p:spPr>
          <a:xfrm>
            <a:off x="8029440" y="4419720"/>
            <a:ext cx="1108080" cy="642600"/>
          </a:xfrm>
          <a:prstGeom prst="rect">
            <a:avLst/>
          </a:prstGeom>
          <a:solidFill>
            <a:srgbClr val="ffffff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jeux + 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sports co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" name="Line 49"/>
          <p:cNvSpPr/>
          <p:nvPr/>
        </p:nvSpPr>
        <p:spPr>
          <a:xfrm flipV="1">
            <a:off x="7391520" y="2971800"/>
            <a:ext cx="0" cy="3200400"/>
          </a:xfrm>
          <a:prstGeom prst="line">
            <a:avLst/>
          </a:prstGeom>
          <a:ln w="38160">
            <a:solidFill>
              <a:srgbClr val="ffff00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" name="Line 50"/>
          <p:cNvSpPr/>
          <p:nvPr/>
        </p:nvSpPr>
        <p:spPr>
          <a:xfrm flipV="1">
            <a:off x="5943600" y="2971800"/>
            <a:ext cx="0" cy="3200400"/>
          </a:xfrm>
          <a:prstGeom prst="line">
            <a:avLst/>
          </a:prstGeom>
          <a:ln w="38160">
            <a:solidFill>
              <a:srgbClr val="ffff00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" name="Text Box 51"/>
          <p:cNvSpPr/>
          <p:nvPr/>
        </p:nvSpPr>
        <p:spPr>
          <a:xfrm>
            <a:off x="5870160" y="2895480"/>
            <a:ext cx="1623240" cy="106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Permet le 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développement 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de l’endurance 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aérobie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37" name="Text Box 52"/>
          <p:cNvSpPr/>
          <p:nvPr/>
        </p:nvSpPr>
        <p:spPr>
          <a:xfrm>
            <a:off x="7470000" y="2895480"/>
            <a:ext cx="1454040" cy="131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Permet de 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développer la 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puissance 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aérobie 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maximale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p:transition spd="med">
    <p:zoom dir="out"/>
  </p:transition>
  <p:timing>
    <p:tnLst>
      <p:par>
        <p:cTn id="480" dur="indefinite" restart="never" nodeType="tmRoot">
          <p:childTnLst>
            <p:seq>
              <p:cTn id="481" dur="indefinite" nodeType="mainSeq">
                <p:childTnLst>
                  <p:par>
                    <p:cTn id="482" nodeType="clickEffect" fill="hold">
                      <p:stCondLst>
                        <p:cond delay="indefinite"/>
                      </p:stCondLst>
                      <p:childTnLst>
                        <p:par>
                          <p:cTn id="48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84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86" dur="5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7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488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90" dur="5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1" nodeType="afterEffect" fill="hold">
                            <p:stCondLst>
                              <p:cond delay="1000"/>
                            </p:stCondLst>
                            <p:childTnLst>
                              <p:par>
                                <p:cTn id="492" nodeType="afterEffect" fill="hold" presetClass="entr" presetID="9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4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94" dur="5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5" nodeType="afterEffect" fill="hold">
                            <p:stCondLst>
                              <p:cond delay="4500"/>
                            </p:stCondLst>
                            <p:childTnLst>
                              <p:par>
                                <p:cTn id="496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98" dur="50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9" nodeType="afterEffect" fill="hold">
                            <p:stCondLst>
                              <p:cond delay="5000"/>
                            </p:stCondLst>
                            <p:childTnLst>
                              <p:par>
                                <p:cTn id="500" nodeType="afterEffect" fill="hold" presetClass="entr" presetID="9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02" dur="5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3" nodeType="afterEffect" fill="hold">
                            <p:stCondLst>
                              <p:cond delay="8500"/>
                            </p:stCondLst>
                            <p:childTnLst>
                              <p:par>
                                <p:cTn id="504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06" dur="5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7" nodeType="clickEffect" fill="hold">
                      <p:stCondLst>
                        <p:cond delay="indefinite"/>
                      </p:stCondLst>
                      <p:childTnLst>
                        <p:par>
                          <p:cTn id="50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09" nodeType="clickEffect" fill="hold" presetClass="entr" presetID="17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11" dur="500" fill="hold"/>
                                        <p:tgtEl>
                                          <p:spTgt spid="3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12" dur="500" fill="hold"/>
                                        <p:tgtEl>
                                          <p:spTgt spid="3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13" dur="500" fill="hold"/>
                                        <p:tgtEl>
                                          <p:spTgt spid="3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14" dur="500" fill="hold"/>
                                        <p:tgtEl>
                                          <p:spTgt spid="3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5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516" nodeType="afterEffect" fill="hold" presetClass="entr" presetID="17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18" dur="500" fill="hold"/>
                                        <p:tgtEl>
                                          <p:spTgt spid="3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19" dur="500" fill="hold"/>
                                        <p:tgtEl>
                                          <p:spTgt spid="3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20" dur="500" fill="hold"/>
                                        <p:tgtEl>
                                          <p:spTgt spid="3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21" dur="500" fill="hold"/>
                                        <p:tgtEl>
                                          <p:spTgt spid="3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2" nodeType="afterEffect" fill="hold">
                            <p:stCondLst>
                              <p:cond delay="1000"/>
                            </p:stCondLst>
                            <p:childTnLst>
                              <p:par>
                                <p:cTn id="523" nodeType="afterEffect" fill="hold" presetClass="entr" presetID="9">
                                  <p:stCondLst>
                                    <p:cond delay="100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5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25" dur="3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6" nodeType="clickEffect" fill="hold">
                      <p:stCondLst>
                        <p:cond delay="indefinite"/>
                      </p:stCondLst>
                      <p:childTnLst>
                        <p:par>
                          <p:cTn id="52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28" nodeType="clickEffect" fill="hold" presetClass="entr" presetID="9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5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30" dur="3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Rectangle 2"/>
          <p:cNvSpPr/>
          <p:nvPr/>
        </p:nvSpPr>
        <p:spPr>
          <a:xfrm>
            <a:off x="-1440" y="380880"/>
            <a:ext cx="9005760" cy="107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rIns="92160" tIns="46080" bIns="46080" anchor="t">
            <a:spAutoFit/>
          </a:bodyPr>
          <a:p>
            <a:pPr algn="ctr">
              <a:lnSpc>
                <a:spcPct val="12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POURCENTAGES REPRESENTES PAR LE NOMBRE D’HEURES D’EPS ET LA DUREE EFFECTIVE D’ACTIVITE MOTRICE D’UN COLLEGIEN DANS UNE ANNEE CIVILE ET SCOLAIRE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339" name=""/>
          <p:cNvGraphicFramePr/>
          <p:nvPr/>
        </p:nvGraphicFramePr>
        <p:xfrm>
          <a:off x="-1440" y="2054160"/>
          <a:ext cx="9144000" cy="3051360"/>
        </p:xfrm>
        <a:graphic>
          <a:graphicData uri="http://schemas.openxmlformats.org/drawingml/2006/table">
            <a:tbl>
              <a:tblPr/>
              <a:tblGrid>
                <a:gridCol w="2057400"/>
                <a:gridCol w="1752480"/>
                <a:gridCol w="1752480"/>
                <a:gridCol w="1830600"/>
                <a:gridCol w="1751040"/>
              </a:tblGrid>
              <a:tr h="175572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2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1368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13680">
                      <a:solidFill>
                        <a:srgbClr val="ffff00"/>
                      </a:solidFill>
                      <a:prstDash val="solid"/>
                    </a:lnT>
                    <a:lnB w="576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2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13680">
                      <a:solidFill>
                        <a:srgbClr val="ffff00"/>
                      </a:solidFill>
                      <a:prstDash val="solid"/>
                    </a:lnT>
                    <a:lnB w="576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2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13680">
                      <a:solidFill>
                        <a:srgbClr val="ffff00"/>
                      </a:solidFill>
                      <a:prstDash val="solid"/>
                    </a:lnT>
                    <a:lnB w="576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2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13680">
                      <a:solidFill>
                        <a:srgbClr val="ffff00"/>
                      </a:solidFill>
                      <a:prstDash val="solid"/>
                    </a:lnT>
                    <a:lnB w="576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2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00"/>
                      </a:solidFill>
                      <a:prstDash val="solid"/>
                    </a:lnL>
                    <a:lnR w="13680">
                      <a:solidFill>
                        <a:srgbClr val="ffff00"/>
                      </a:solidFill>
                      <a:prstDash val="solid"/>
                    </a:lnR>
                    <a:lnT w="13680">
                      <a:solidFill>
                        <a:srgbClr val="ffff00"/>
                      </a:solidFill>
                      <a:prstDash val="solid"/>
                    </a:lnT>
                    <a:lnB w="576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</a:tr>
              <a:tr h="60984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2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1368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5760">
                      <a:solidFill>
                        <a:srgbClr val="ffff00"/>
                      </a:solidFill>
                      <a:prstDash val="solid"/>
                    </a:lnT>
                    <a:lnB w="576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2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5760">
                      <a:solidFill>
                        <a:srgbClr val="ffff00"/>
                      </a:solidFill>
                      <a:prstDash val="solid"/>
                    </a:lnT>
                    <a:lnB w="576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2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5760">
                      <a:solidFill>
                        <a:srgbClr val="ffff00"/>
                      </a:solidFill>
                      <a:prstDash val="solid"/>
                    </a:lnT>
                    <a:lnB w="576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2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5760">
                      <a:solidFill>
                        <a:srgbClr val="ffff00"/>
                      </a:solidFill>
                      <a:prstDash val="solid"/>
                    </a:lnT>
                    <a:lnB w="576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2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00"/>
                      </a:solidFill>
                      <a:prstDash val="solid"/>
                    </a:lnL>
                    <a:lnR w="13680">
                      <a:solidFill>
                        <a:srgbClr val="ffff00"/>
                      </a:solidFill>
                      <a:prstDash val="solid"/>
                    </a:lnR>
                    <a:lnT w="5760">
                      <a:solidFill>
                        <a:srgbClr val="ffff00"/>
                      </a:solidFill>
                      <a:prstDash val="solid"/>
                    </a:lnT>
                    <a:lnB w="576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</a:tr>
              <a:tr h="68580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2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1368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5760">
                      <a:solidFill>
                        <a:srgbClr val="ffff00"/>
                      </a:solidFill>
                      <a:prstDash val="solid"/>
                    </a:lnT>
                    <a:lnB w="1368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2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5760">
                      <a:solidFill>
                        <a:srgbClr val="ffff00"/>
                      </a:solidFill>
                      <a:prstDash val="solid"/>
                    </a:lnT>
                    <a:lnB w="1368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2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5760">
                      <a:solidFill>
                        <a:srgbClr val="ffff00"/>
                      </a:solidFill>
                      <a:prstDash val="solid"/>
                    </a:lnT>
                    <a:lnB w="1368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2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5760">
                      <a:solidFill>
                        <a:srgbClr val="ffff00"/>
                      </a:solidFill>
                      <a:prstDash val="solid"/>
                    </a:lnT>
                    <a:lnB w="1368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2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00"/>
                      </a:solidFill>
                      <a:prstDash val="solid"/>
                    </a:lnL>
                    <a:lnR w="13680">
                      <a:solidFill>
                        <a:srgbClr val="ffff00"/>
                      </a:solidFill>
                      <a:prstDash val="solid"/>
                    </a:lnR>
                    <a:lnT w="5760">
                      <a:solidFill>
                        <a:srgbClr val="ffff00"/>
                      </a:solidFill>
                      <a:prstDash val="solid"/>
                    </a:lnT>
                    <a:lnB w="1368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40" name="Text Box 29"/>
          <p:cNvSpPr/>
          <p:nvPr/>
        </p:nvSpPr>
        <p:spPr>
          <a:xfrm>
            <a:off x="150840" y="2163600"/>
            <a:ext cx="1828800" cy="131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Nombre d’heures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dans une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année civile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" name="Text Box 30"/>
          <p:cNvSpPr/>
          <p:nvPr/>
        </p:nvSpPr>
        <p:spPr>
          <a:xfrm>
            <a:off x="-3240" y="3840120"/>
            <a:ext cx="201348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365 x 24 = 8736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42" name="Text Box 31"/>
          <p:cNvSpPr/>
          <p:nvPr/>
        </p:nvSpPr>
        <p:spPr>
          <a:xfrm>
            <a:off x="1979640" y="2133720"/>
            <a:ext cx="1906560" cy="131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Nombre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d’heures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dans une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année scolaire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" name="Text Box 32"/>
          <p:cNvSpPr/>
          <p:nvPr/>
        </p:nvSpPr>
        <p:spPr>
          <a:xfrm>
            <a:off x="2438280" y="4572000"/>
            <a:ext cx="97308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69.2 %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44" name="Text Box 33"/>
          <p:cNvSpPr/>
          <p:nvPr/>
        </p:nvSpPr>
        <p:spPr>
          <a:xfrm>
            <a:off x="3808080" y="2087640"/>
            <a:ext cx="1807560" cy="161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Nombre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total d’heures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cours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effectifs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(26h/semaine)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45" name="Text Box 34"/>
          <p:cNvSpPr/>
          <p:nvPr/>
        </p:nvSpPr>
        <p:spPr>
          <a:xfrm>
            <a:off x="5621760" y="2098800"/>
            <a:ext cx="1666080" cy="131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Nombre total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d’heures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d’EPS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(3h/semaine)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" name="Text Box 35"/>
          <p:cNvSpPr/>
          <p:nvPr/>
        </p:nvSpPr>
        <p:spPr>
          <a:xfrm>
            <a:off x="2437560" y="3840120"/>
            <a:ext cx="95904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6048 h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" name="Text Box 36"/>
          <p:cNvSpPr/>
          <p:nvPr/>
        </p:nvSpPr>
        <p:spPr>
          <a:xfrm>
            <a:off x="4266360" y="3840120"/>
            <a:ext cx="81756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936 h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" name="Text Box 37"/>
          <p:cNvSpPr/>
          <p:nvPr/>
        </p:nvSpPr>
        <p:spPr>
          <a:xfrm>
            <a:off x="0" y="4572000"/>
            <a:ext cx="207648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Référence 100%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49" name="Text Box 38"/>
          <p:cNvSpPr/>
          <p:nvPr/>
        </p:nvSpPr>
        <p:spPr>
          <a:xfrm>
            <a:off x="4267080" y="4572000"/>
            <a:ext cx="97308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10.7 %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" name="Text Box 39"/>
          <p:cNvSpPr/>
          <p:nvPr/>
        </p:nvSpPr>
        <p:spPr>
          <a:xfrm>
            <a:off x="5926680" y="3851280"/>
            <a:ext cx="81756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108 h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51" name="Text Box 40"/>
          <p:cNvSpPr/>
          <p:nvPr/>
        </p:nvSpPr>
        <p:spPr>
          <a:xfrm>
            <a:off x="5943600" y="4572000"/>
            <a:ext cx="97308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1.23 %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52" name="Text Box 41"/>
          <p:cNvSpPr/>
          <p:nvPr/>
        </p:nvSpPr>
        <p:spPr>
          <a:xfrm>
            <a:off x="7515360" y="2087640"/>
            <a:ext cx="1690560" cy="167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Durée totale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d’activité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motrice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effective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(11 min / h </a:t>
            </a: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*</a:t>
            </a: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)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53" name="Text Box 42"/>
          <p:cNvSpPr/>
          <p:nvPr/>
        </p:nvSpPr>
        <p:spPr>
          <a:xfrm>
            <a:off x="7390080" y="3840120"/>
            <a:ext cx="151056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19 h 48 min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54" name="Text Box 43"/>
          <p:cNvSpPr/>
          <p:nvPr/>
        </p:nvSpPr>
        <p:spPr>
          <a:xfrm>
            <a:off x="7475400" y="4495680"/>
            <a:ext cx="1503000" cy="520920"/>
          </a:xfrm>
          <a:prstGeom prst="rect">
            <a:avLst/>
          </a:prstGeom>
          <a:noFill/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0.22 % !</a:t>
            </a:r>
            <a:endParaRPr b="0" lang="en-US" sz="2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55" name="Text Box 52"/>
          <p:cNvSpPr/>
          <p:nvPr/>
        </p:nvSpPr>
        <p:spPr>
          <a:xfrm>
            <a:off x="60480" y="5446800"/>
            <a:ext cx="8854920" cy="12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*</a:t>
            </a:r>
            <a:r>
              <a:rPr b="0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Statistique calculée à partir de l’observation magnétoscopée de 32 cours d’EPS :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Les garçons restent actifs : </a:t>
            </a:r>
            <a:r>
              <a:rPr b="0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12 min 14 </a:t>
            </a:r>
            <a:r>
              <a:rPr b="0" lang="fr-FR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± 8 min</a:t>
            </a:r>
            <a:r>
              <a:rPr b="0" lang="fr-FR" sz="1800" strike="noStrike" u="none">
                <a:solidFill>
                  <a:srgbClr val="ffff00"/>
                </a:solidFill>
                <a:effectLst/>
                <a:uFillTx/>
                <a:latin typeface="Arial"/>
                <a:ea typeface="Arial"/>
              </a:rPr>
              <a:t>,  les filles : </a:t>
            </a:r>
            <a:r>
              <a:rPr b="0" lang="fr-FR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 min 23 ± 7min</a:t>
            </a:r>
            <a:r>
              <a:rPr b="0" lang="fr-FR" sz="1800" strike="noStrike" u="none">
                <a:solidFill>
                  <a:srgbClr val="ffff00"/>
                </a:solidFill>
                <a:effectLst/>
                <a:uFillTx/>
                <a:latin typeface="Arial"/>
                <a:ea typeface="Arial"/>
              </a:rPr>
              <a:t> 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ff00"/>
                </a:solidFill>
                <a:effectLst/>
                <a:uFillTx/>
                <a:latin typeface="Arial"/>
                <a:ea typeface="Arial"/>
              </a:rPr>
              <a:t>(données personnelles non publiées)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p:transition spd="med">
    <p:zoom dir="out"/>
  </p:transition>
  <p:timing>
    <p:tnLst>
      <p:par>
        <p:cTn id="531" dur="indefinite" restart="never" nodeType="tmRoot">
          <p:childTnLst>
            <p:seq>
              <p:cTn id="532" dur="indefinite" nodeType="mainSeq">
                <p:childTnLst>
                  <p:par>
                    <p:cTn id="533" nodeType="clickEffect" fill="hold">
                      <p:stCondLst>
                        <p:cond delay="0"/>
                      </p:stCondLst>
                      <p:childTnLst>
                        <p:par>
                          <p:cTn id="53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35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37" dur="5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8" nodeType="clickEffect" fill="hold">
                      <p:stCondLst>
                        <p:cond delay="indefinite"/>
                      </p:stCondLst>
                      <p:childTnLst>
                        <p:par>
                          <p:cTn id="53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40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42" dur="500"/>
                                        <p:tgtEl>
                                          <p:spTgt spid="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3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544" nodeType="afterEffect" fill="hold" presetClass="entr" presetID="9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46" dur="50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7" nodeType="afterEffect" fill="hold">
                            <p:stCondLst>
                              <p:cond delay="2000"/>
                            </p:stCondLst>
                            <p:childTnLst>
                              <p:par>
                                <p:cTn id="548" nodeType="afterEffect" fill="hold" presetClass="entr" presetID="9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50" dur="5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1" nodeType="clickEffect" fill="hold">
                      <p:stCondLst>
                        <p:cond delay="indefinite"/>
                      </p:stCondLst>
                      <p:childTnLst>
                        <p:par>
                          <p:cTn id="55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53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55" dur="500"/>
                                        <p:tgtEl>
                                          <p:spTgt spid="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6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557" nodeType="afterEffect" fill="hold" presetClass="entr" presetID="9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59" dur="5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0" nodeType="afterEffect" fill="hold">
                            <p:stCondLst>
                              <p:cond delay="2000"/>
                            </p:stCondLst>
                            <p:childTnLst>
                              <p:par>
                                <p:cTn id="561" nodeType="afterEffect" fill="hold" presetClass="entr" presetID="9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63" dur="500"/>
                                        <p:tgtEl>
                                          <p:spTgt spid="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4" nodeType="clickEffect" fill="hold">
                      <p:stCondLst>
                        <p:cond delay="indefinite"/>
                      </p:stCondLst>
                      <p:childTnLst>
                        <p:par>
                          <p:cTn id="56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66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68" dur="5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9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570" nodeType="afterEffect" fill="hold" presetClass="entr" presetID="9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72" dur="5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3" nodeType="afterEffect" fill="hold">
                            <p:stCondLst>
                              <p:cond delay="2000"/>
                            </p:stCondLst>
                            <p:childTnLst>
                              <p:par>
                                <p:cTn id="574" nodeType="afterEffect" fill="hold" presetClass="entr" presetID="9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76" dur="5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7" nodeType="clickEffect" fill="hold">
                      <p:stCondLst>
                        <p:cond delay="indefinite"/>
                      </p:stCondLst>
                      <p:childTnLst>
                        <p:par>
                          <p:cTn id="57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79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81" dur="5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2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583" nodeType="afterEffect" fill="hold" presetClass="entr" presetID="9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85" dur="5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6" nodeType="afterEffect" fill="hold">
                            <p:stCondLst>
                              <p:cond delay="2000"/>
                            </p:stCondLst>
                            <p:childTnLst>
                              <p:par>
                                <p:cTn id="587" nodeType="afterEffect" fill="hold" presetClass="entr" presetID="9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89" dur="5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0" nodeType="clickEffect" fill="hold">
                      <p:stCondLst>
                        <p:cond delay="indefinite"/>
                      </p:stCondLst>
                      <p:childTnLst>
                        <p:par>
                          <p:cTn id="59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92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94" dur="5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5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596" nodeType="afterEffect" fill="hold" presetClass="entr" presetID="9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98" dur="500"/>
                                        <p:tgtEl>
                                          <p:spTgt spid="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9" nodeType="afterEffect" fill="hold">
                            <p:stCondLst>
                              <p:cond delay="2000"/>
                            </p:stCondLst>
                            <p:childTnLst>
                              <p:par>
                                <p:cTn id="600" nodeType="afterEffect" fill="hold" presetClass="entr" presetID="9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602" dur="500"/>
                                        <p:tgtEl>
                                          <p:spTgt spid="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3" nodeType="afterEffect" fill="hold">
                            <p:stCondLst>
                              <p:cond delay="3500"/>
                            </p:stCondLst>
                            <p:childTnLst>
                              <p:par>
                                <p:cTn id="604" nodeType="afterEffect" fill="hold" presetClass="entr" presetID="9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606" dur="500"/>
                                        <p:tgtEl>
                                          <p:spTgt spid="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7" nodeType="afterEffect" fill="hold">
                            <p:stCondLst>
                              <p:cond delay="5000"/>
                            </p:stCondLst>
                            <p:childTnLst>
                              <p:par>
                                <p:cTn id="608" nodeType="afterEffect" fill="hold" presetClass="entr" presetID="9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610" dur="500"/>
                                        <p:tgtEl>
                                          <p:spTgt spid="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1" nodeType="clickEffect" fill="hold">
                      <p:stCondLst>
                        <p:cond delay="indefinite"/>
                      </p:stCondLst>
                      <p:childTnLst>
                        <p:par>
                          <p:cTn id="61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13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615" dur="5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6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617" nodeType="afterEffect" fill="hold" presetClass="entr" presetID="23" presetSubtype="32">
                                  <p:stCondLst>
                                    <p:cond delay="100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6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19" dur="75" fill="hold"/>
                                        <p:tgtEl>
                                          <p:spTgt spid="3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20" dur="75" fill="hold"/>
                                        <p:tgtEl>
                                          <p:spTgt spid="3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Text Box 2"/>
          <p:cNvSpPr/>
          <p:nvPr/>
        </p:nvSpPr>
        <p:spPr>
          <a:xfrm>
            <a:off x="0" y="152280"/>
            <a:ext cx="8982000" cy="11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	</a:t>
            </a: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	</a:t>
            </a: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	</a:t>
            </a: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DEUXIEME ETUDE</a:t>
            </a: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: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« Evaluation de l’aptitude aérobie à l’école : évolution avec l’âge, 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le sexe et l’entraînement » </a:t>
            </a: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Berthoin (1995)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57" name="Text Box 3"/>
          <p:cNvSpPr/>
          <p:nvPr/>
        </p:nvSpPr>
        <p:spPr>
          <a:xfrm>
            <a:off x="0" y="1752480"/>
            <a:ext cx="9144000" cy="482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	</a:t>
            </a:r>
            <a:r>
              <a:rPr b="0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	</a:t>
            </a:r>
            <a:r>
              <a:rPr b="0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	</a:t>
            </a:r>
            <a:r>
              <a:rPr b="0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       5 groupes de collégiens :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lvl="1" marL="190440">
              <a:lnSpc>
                <a:spcPct val="100000"/>
              </a:lnSpc>
              <a:buClr>
                <a:srgbClr val="ffff00"/>
              </a:buClr>
              <a:buFont typeface="Arial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1 groupe témoin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lvl="1" marL="19044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lvl="1" marL="190440">
              <a:lnSpc>
                <a:spcPct val="100000"/>
              </a:lnSpc>
              <a:buClr>
                <a:srgbClr val="ffff00"/>
              </a:buClr>
              <a:buFont typeface="Arial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2 groupes soumis à un entraînement de type endurance aérobie 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lvl="1" marL="19044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                    . </a:t>
            </a:r>
            <a:r>
              <a:rPr b="0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l’un non individualisé</a:t>
            </a:r>
            <a:r>
              <a:rPr b="0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(EAni)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lvl="1" marL="19044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                    . </a:t>
            </a:r>
            <a:r>
              <a:rPr b="0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l’autre individualisé</a:t>
            </a:r>
            <a:r>
              <a:rPr b="0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(EAi) % de VAM contrôlés 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lvl="1" marL="19044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lvl="1" marL="190440">
              <a:lnSpc>
                <a:spcPct val="100000"/>
              </a:lnSpc>
              <a:buClr>
                <a:srgbClr val="ffff00"/>
              </a:buClr>
              <a:buFont typeface="Arial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2 groupes soumis à un entraînement de type puissance aérobie maximale (P.A.M.)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lvl="1" marL="19044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	</a:t>
            </a:r>
            <a:r>
              <a:rPr b="0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          . </a:t>
            </a:r>
            <a:r>
              <a:rPr b="0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l’un non individualisé</a:t>
            </a:r>
            <a:r>
              <a:rPr b="0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(EPni) 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lvl="1" marL="19044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	</a:t>
            </a:r>
            <a:r>
              <a:rPr b="0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          . </a:t>
            </a:r>
            <a:r>
              <a:rPr b="0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l’autre individualisé</a:t>
            </a:r>
            <a:r>
              <a:rPr b="0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(EPi)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lvl="1" marL="19044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lvl="1" marL="19044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Tests et re-tests réalisés avant et après 12 séances d’entraînement: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lvl="1" marL="19044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lvl="1" marL="19044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1 : VAMEVAL pour évaluer la P.A.M., 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lvl="1" marL="19044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2 : Temps limite à 100% de VAM (EA</a:t>
            </a:r>
            <a:r>
              <a:rPr b="0" lang="fr-FR" sz="18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100</a:t>
            </a:r>
            <a:r>
              <a:rPr b="0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) pour évaluer l’endurance aérobie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lvl="1" marL="19044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Text Box 2"/>
          <p:cNvSpPr/>
          <p:nvPr/>
        </p:nvSpPr>
        <p:spPr>
          <a:xfrm>
            <a:off x="2441880" y="1066680"/>
            <a:ext cx="374436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SYNTHESE DES RESULTATS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59" name="Text Box 5"/>
          <p:cNvSpPr/>
          <p:nvPr/>
        </p:nvSpPr>
        <p:spPr>
          <a:xfrm>
            <a:off x="316800" y="4113360"/>
            <a:ext cx="8823240" cy="7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Seul le groupe </a:t>
            </a: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puissance aérobie maximale individualisée (EPi)</a:t>
            </a: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augmente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significativement (P &lt; 0.01) sa VAM mais non son endurance aérobie (EA</a:t>
            </a:r>
            <a:r>
              <a:rPr b="0" lang="fr-FR" sz="20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100</a:t>
            </a: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)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60" name="Text Box 6"/>
          <p:cNvSpPr/>
          <p:nvPr/>
        </p:nvSpPr>
        <p:spPr>
          <a:xfrm>
            <a:off x="306000" y="2847960"/>
            <a:ext cx="8556120" cy="105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Seul le groupe </a:t>
            </a: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endurance individualisée</a:t>
            </a: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(EAi)</a:t>
            </a: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augmente significativement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à la fois son temps limite (EA</a:t>
            </a:r>
            <a:r>
              <a:rPr b="0" lang="fr-FR" sz="20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100</a:t>
            </a: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: P&lt;0.01) et de façon moindre sa VAM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(P &lt; 0.05)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61" name="Text Box 7"/>
          <p:cNvSpPr/>
          <p:nvPr/>
        </p:nvSpPr>
        <p:spPr>
          <a:xfrm>
            <a:off x="309600" y="2286000"/>
            <a:ext cx="317988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 l’issue de 12 séances :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21" dur="indefinite" restart="never" nodeType="tmRoot">
          <p:childTnLst>
            <p:seq>
              <p:cTn id="622" dur="indefinite" nodeType="mainSeq">
                <p:childTnLst>
                  <p:par>
                    <p:cTn id="623" nodeType="clickEffect" fill="hold">
                      <p:stCondLst>
                        <p:cond delay="indefinite"/>
                      </p:stCondLst>
                      <p:childTnLst>
                        <p:par>
                          <p:cTn id="62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25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627" dur="5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8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629" nodeType="afterEffect" fill="hold" presetClass="entr" presetID="9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631" dur="50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2" nodeType="afterEffect" fill="hold">
                            <p:stCondLst>
                              <p:cond delay="2000"/>
                            </p:stCondLst>
                            <p:childTnLst>
                              <p:par>
                                <p:cTn id="633" nodeType="afterEffect" fill="hold" presetClass="entr" presetID="9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635" dur="5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Text Box 3"/>
          <p:cNvSpPr/>
          <p:nvPr/>
        </p:nvSpPr>
        <p:spPr>
          <a:xfrm>
            <a:off x="1676520" y="304920"/>
            <a:ext cx="565272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CONCLUSIONS DE L’ETUDE DE BERTHOUIN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63" name="Text Box 4"/>
          <p:cNvSpPr/>
          <p:nvPr/>
        </p:nvSpPr>
        <p:spPr>
          <a:xfrm>
            <a:off x="162360" y="914400"/>
            <a:ext cx="8992800" cy="28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Dans le cadre scolaire il est donc possible de développer la capacité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aérobie à la condition :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1 - d’élaborer des </a:t>
            </a:r>
            <a:r>
              <a:rPr b="1" lang="fr-FR" sz="2000" strike="noStrike" u="sng">
                <a:solidFill>
                  <a:srgbClr val="ffffff"/>
                </a:solidFill>
                <a:effectLst/>
                <a:uFillTx/>
                <a:latin typeface="Arial"/>
              </a:rPr>
              <a:t>séances spécifiques</a:t>
            </a: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pour développer respectivement :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               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	</a:t>
            </a: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   -  l’endurance aérobie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                -  la puissance aérobie maximale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64" name="Text Box 5"/>
          <p:cNvSpPr/>
          <p:nvPr/>
        </p:nvSpPr>
        <p:spPr>
          <a:xfrm>
            <a:off x="352440" y="4114800"/>
            <a:ext cx="617868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2 – </a:t>
            </a:r>
            <a:r>
              <a:rPr b="1" lang="fr-FR" sz="2000" strike="noStrike" u="sng">
                <a:solidFill>
                  <a:srgbClr val="ffffff"/>
                </a:solidFill>
                <a:effectLst/>
                <a:uFillTx/>
                <a:latin typeface="Arial"/>
              </a:rPr>
              <a:t>d’individualiser les contenus</a:t>
            </a: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de ces séances.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65" name="Text Box 6"/>
          <p:cNvSpPr/>
          <p:nvPr/>
        </p:nvSpPr>
        <p:spPr>
          <a:xfrm>
            <a:off x="302760" y="6248520"/>
            <a:ext cx="885168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Dans ce cadre aussi, une pédagogie différenciée s’avère indispensable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66" name="Text Box 7"/>
          <p:cNvSpPr/>
          <p:nvPr/>
        </p:nvSpPr>
        <p:spPr>
          <a:xfrm>
            <a:off x="277560" y="4735440"/>
            <a:ext cx="8695440" cy="131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D’où la nécessité d’évaluer initialement la VAM et l’endurance aérobie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des élèves et de gérer ensuite l’intensité des activités physiques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proposées en utilisant les % des VAM (ou les % de FCmax) obtenues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individuellement (formation de groupes de niveau)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36" dur="indefinite" restart="never" nodeType="tmRoot">
          <p:childTnLst>
            <p:seq>
              <p:cTn id="637" dur="indefinite" nodeType="mainSeq">
                <p:childTnLst>
                  <p:par>
                    <p:cTn id="638" nodeType="clickEffect" fill="hold">
                      <p:stCondLst>
                        <p:cond delay="0"/>
                      </p:stCondLst>
                      <p:childTnLst>
                        <p:par>
                          <p:cTn id="63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40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642" dur="500"/>
                                        <p:tgtEl>
                                          <p:spTgt spid="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3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644" nodeType="afterEffect" fill="hold" presetClass="entr" presetID="9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646" dur="500"/>
                                        <p:tgtEl>
                                          <p:spTgt spid="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7" nodeType="clickEffect" fill="hold">
                      <p:stCondLst>
                        <p:cond delay="indefinite"/>
                      </p:stCondLst>
                      <p:childTnLst>
                        <p:par>
                          <p:cTn id="64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49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651" dur="500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2" nodeType="clickEffect" fill="hold">
                      <p:stCondLst>
                        <p:cond delay="indefinite"/>
                      </p:stCondLst>
                      <p:childTnLst>
                        <p:par>
                          <p:cTn id="65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54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656" dur="50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7" nodeType="clickEffect" fill="hold">
                      <p:stCondLst>
                        <p:cond delay="indefinite"/>
                      </p:stCondLst>
                      <p:childTnLst>
                        <p:par>
                          <p:cTn id="65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59" nodeType="clickEffect" fill="hold" presetClass="entr" presetID="9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6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661" dur="3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Text Box 4"/>
          <p:cNvSpPr/>
          <p:nvPr/>
        </p:nvSpPr>
        <p:spPr>
          <a:xfrm>
            <a:off x="-5760" y="-58680"/>
            <a:ext cx="9073440" cy="12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2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TROISIEME ETUDE: Gouthon P. et Cazorla G. (2001)</a:t>
            </a: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 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2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« Entraînement et capacité aérobie dans une stratégie de </a:t>
            </a: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prévention des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2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risques cardiovasculaires</a:t>
            </a: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chez des adolescents béninois » </a:t>
            </a:r>
            <a:r>
              <a:rPr b="1" lang="fr-FR" sz="1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GOUTHON (2001)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68" name="Text Box 5"/>
          <p:cNvSpPr/>
          <p:nvPr/>
        </p:nvSpPr>
        <p:spPr>
          <a:xfrm>
            <a:off x="228600" y="1447920"/>
            <a:ext cx="8839080" cy="1904400"/>
          </a:xfrm>
          <a:prstGeom prst="rect">
            <a:avLst/>
          </a:prstGeom>
          <a:noFill/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indent="193680">
              <a:lnSpc>
                <a:spcPct val="90000"/>
              </a:lnSpc>
              <a:spcBef>
                <a:spcPts val="451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1 groupe contrôle (sans EPS et sans APS n = 20 ) et 3 groupes expérimentaux :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indent="193680">
              <a:lnSpc>
                <a:spcPct val="90000"/>
              </a:lnSpc>
              <a:spcBef>
                <a:spcPts val="451"/>
              </a:spcBef>
              <a:buClr>
                <a:srgbClr val="ffffff"/>
              </a:buClr>
              <a:buFont typeface="Arial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2h EPS seule (gymnastique au sol, athlétisme: sauts, sports co, n = 20)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indent="193680">
              <a:lnSpc>
                <a:spcPct val="90000"/>
              </a:lnSpc>
              <a:spcBef>
                <a:spcPts val="451"/>
              </a:spcBef>
              <a:buClr>
                <a:srgbClr val="ffff00"/>
              </a:buClr>
              <a:buFont typeface="Arial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2h EPS + 1h « APS endurance aérobie » (n = 15) 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indent="193680">
              <a:lnSpc>
                <a:spcPct val="90000"/>
              </a:lnSpc>
              <a:spcBef>
                <a:spcPts val="451"/>
              </a:spcBef>
              <a:buClr>
                <a:srgbClr val="ffff00"/>
              </a:buClr>
              <a:buFont typeface="Arial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2h EPS + 1h « APS puissance aérobie maximale » (n= 12) 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indent="193680">
              <a:lnSpc>
                <a:spcPct val="90000"/>
              </a:lnSpc>
              <a:spcBef>
                <a:spcPts val="451"/>
              </a:spcBef>
              <a:buClr>
                <a:srgbClr val="ffff00"/>
              </a:buClr>
              <a:buFont typeface="Arial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90000"/>
              </a:lnSpc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Cycle de 12 semaines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69" name="Text Box 6"/>
          <p:cNvSpPr/>
          <p:nvPr/>
        </p:nvSpPr>
        <p:spPr>
          <a:xfrm>
            <a:off x="228600" y="3657600"/>
            <a:ext cx="8915400" cy="308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Mesures et tests retenus avant et après les 12 semaines: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- Vam-éval (puissance aérobie maximale)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451"/>
              </a:spcBef>
              <a:buClr>
                <a:srgbClr val="ffff00"/>
              </a:buClr>
              <a:buFont typeface="Arial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EA</a:t>
            </a:r>
            <a:r>
              <a:rPr b="0" lang="fr-FR" sz="18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100</a:t>
            </a: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(endurance) : </a:t>
            </a:r>
            <a:r>
              <a:rPr b="0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courir à la vitesse de sa vam la plus grande durée possible,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buClr>
                <a:srgbClr val="ffffff"/>
              </a:buClr>
              <a:buFont typeface="Arial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somme de 4 plis cutanés, rapport tour de taille / tour de hanches, indice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masse corporelle, cholestérol sérique total, HDL.C, triglycérides, indice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d’athérogénicité (cholestérol total – HDL.C / HDL.C), ECG, pressions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artérielles diastolique et systolique.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p:transition spd="med">
    <p:split dir="out" orient="vert"/>
  </p:transition>
  <p:timing>
    <p:tnLst>
      <p:par>
        <p:cTn id="662" dur="indefinite" restart="never" nodeType="tmRoot">
          <p:childTnLst>
            <p:seq>
              <p:cTn id="663" dur="indefinite" nodeType="mainSeq">
                <p:childTnLst>
                  <p:par>
                    <p:cTn id="664" nodeType="clickEffect" fill="hold">
                      <p:stCondLst>
                        <p:cond delay="0"/>
                      </p:stCondLst>
                      <p:childTnLst>
                        <p:par>
                          <p:cTn id="66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66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668" dur="500"/>
                                        <p:tgtEl>
                                          <p:spTgt spid="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9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670" nodeType="afterEffect" fill="hold" presetClass="entr" presetID="9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672" dur="500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3" nodeType="afterEffect" fill="hold">
                            <p:stCondLst>
                              <p:cond delay="2000"/>
                            </p:stCondLst>
                            <p:childTnLst>
                              <p:par>
                                <p:cTn id="674" nodeType="afterEffect" fill="hold" presetClass="entr" presetID="9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676" dur="500"/>
                                        <p:tgtEl>
                                          <p:spTgt spid="3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677" dur="1" fill="hold">
                                    <p:stCondLst>
                                      <p:cond delay="1000"/>
                                    </p:stCondLst>
                                  </p:cTn>
                                  <p:tgtEl>
                                    <p:spTgt spid="368"/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ccccff"/>
                                </p:to>
                              </p:animClr>
                            </p:childTnLst>
                          </p:cTn>
                        </p:par>
                        <p:par>
                          <p:cTn id="678" nodeType="afterEffect" fill="hold">
                            <p:stCondLst>
                              <p:cond delay="3500"/>
                            </p:stCondLst>
                            <p:childTnLst>
                              <p:par>
                                <p:cTn id="679" nodeType="afterEffect" fill="hold" presetClass="entr" presetID="9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681" dur="500"/>
                                        <p:tgtEl>
                                          <p:spTgt spid="3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682" dur="1" fill="hold">
                                    <p:stCondLst>
                                      <p:cond delay="1000"/>
                                    </p:stCondLst>
                                  </p:cTn>
                                  <p:tgtEl>
                                    <p:spTgt spid="368">
                                      <p:txEl>
                                        <p:pRg st="0" end="0"/>
                                      </p:txEl>
                                    </p:spTgt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ccccff"/>
                                </p:to>
                              </p:animClr>
                            </p:childTnLst>
                          </p:cTn>
                        </p:par>
                        <p:par>
                          <p:cTn id="683" nodeType="afterEffect" fill="hold">
                            <p:stCondLst>
                              <p:cond delay="5000"/>
                            </p:stCondLst>
                            <p:childTnLst>
                              <p:par>
                                <p:cTn id="684" nodeType="afterEffect" fill="hold" presetClass="entr" presetID="9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686" dur="500"/>
                                        <p:tgtEl>
                                          <p:spTgt spid="3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687" dur="1" fill="hold">
                                    <p:stCondLst>
                                      <p:cond delay="1000"/>
                                    </p:stCondLst>
                                  </p:cTn>
                                  <p:tgtEl>
                                    <p:spTgt spid="368">
                                      <p:txEl>
                                        <p:pRg st="1" end="1"/>
                                      </p:txEl>
                                    </p:spTgt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ccccff"/>
                                </p:to>
                              </p:animClr>
                            </p:childTnLst>
                          </p:cTn>
                        </p:par>
                        <p:par>
                          <p:cTn id="688" nodeType="afterEffect" fill="hold">
                            <p:stCondLst>
                              <p:cond delay="6500"/>
                            </p:stCondLst>
                            <p:childTnLst>
                              <p:par>
                                <p:cTn id="689" nodeType="afterEffect" fill="hold" presetClass="entr" presetID="9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691" dur="500"/>
                                        <p:tgtEl>
                                          <p:spTgt spid="3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692" dur="1" fill="hold">
                                    <p:stCondLst>
                                      <p:cond delay="1000"/>
                                    </p:stCondLst>
                                  </p:cTn>
                                  <p:tgtEl>
                                    <p:spTgt spid="368">
                                      <p:txEl>
                                        <p:pRg st="2" end="2"/>
                                      </p:txEl>
                                    </p:spTgt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ccccff"/>
                                </p:to>
                              </p:animClr>
                            </p:childTnLst>
                          </p:cTn>
                        </p:par>
                        <p:par>
                          <p:cTn id="693" nodeType="afterEffect" fill="hold">
                            <p:stCondLst>
                              <p:cond delay="8000"/>
                            </p:stCondLst>
                            <p:childTnLst>
                              <p:par>
                                <p:cTn id="694" nodeType="afterEffect" fill="hold" presetClass="entr" presetID="9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696" dur="500"/>
                                        <p:tgtEl>
                                          <p:spTgt spid="3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697" dur="1" fill="hold">
                                    <p:stCondLst>
                                      <p:cond delay="1000"/>
                                    </p:stCondLst>
                                  </p:cTn>
                                  <p:tgtEl>
                                    <p:spTgt spid="368">
                                      <p:txEl>
                                        <p:pRg st="3" end="3"/>
                                      </p:txEl>
                                    </p:spTgt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ccccff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  <p:par>
                    <p:cTn id="698" nodeType="clickEffect" fill="hold">
                      <p:stCondLst>
                        <p:cond delay="indefinite"/>
                      </p:stCondLst>
                      <p:childTnLst>
                        <p:par>
                          <p:cTn id="69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700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702" dur="500"/>
                                        <p:tgtEl>
                                          <p:spTgt spid="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70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68">
                                      <p:txEl>
                                        <p:pRg st="5" end="5"/>
                                      </p:txEl>
                                    </p:spTgt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ccccff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Text Box 2"/>
          <p:cNvSpPr/>
          <p:nvPr/>
        </p:nvSpPr>
        <p:spPr>
          <a:xfrm>
            <a:off x="5760" y="4267080"/>
            <a:ext cx="9092880" cy="222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601"/>
              </a:spcBef>
              <a:buClr>
                <a:srgbClr val="ffff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Une heure hebdomadaire supplémentaire d ’activités physiques 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à intensités inframaximales (&lt; 90% FCmax) est moins efficace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pour développer la VAM, mais est plus indiquée pour développer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</a:t>
            </a:r>
            <a:r>
              <a:rPr b="0" lang="fr-FR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 ’endurance aérobie et pour prévenir les risques 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 cardiovasculaires et ce, dès l’adolescence, 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71" name="Rectangle 3"/>
          <p:cNvSpPr/>
          <p:nvPr/>
        </p:nvSpPr>
        <p:spPr>
          <a:xfrm>
            <a:off x="79920" y="1066680"/>
            <a:ext cx="8301240" cy="82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90000"/>
              </a:lnSpc>
              <a:spcBef>
                <a:spcPts val="601"/>
              </a:spcBef>
              <a:buClr>
                <a:srgbClr val="ffff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Deux heures hebdomadaires d ’EPS ne suffisent pas pour 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90000"/>
              </a:lnSpc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développer la capacité aérobie de jeunes adolescents,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72" name="Text Box 4"/>
          <p:cNvSpPr/>
          <p:nvPr/>
        </p:nvSpPr>
        <p:spPr>
          <a:xfrm>
            <a:off x="5760" y="2286000"/>
            <a:ext cx="8991000" cy="155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buClr>
                <a:srgbClr val="ffff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Une heure hebdomadaire supplémentaire d ’activités 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physiques à intensités élevées (entre 85 % et 120 % de VAM ) 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permet de développer </a:t>
            </a:r>
            <a:r>
              <a:rPr b="0" lang="fr-FR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la puissance aérobie maximale</a:t>
            </a: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mais non 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l’endurance aérobie.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73" name="Rectangle 5"/>
          <p:cNvSpPr/>
          <p:nvPr/>
        </p:nvSpPr>
        <p:spPr>
          <a:xfrm>
            <a:off x="304920" y="0"/>
            <a:ext cx="8837640" cy="68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Conclusions de l’étude de Gouthon-Cazorla (2001)</a:t>
            </a:r>
            <a:endParaRPr b="0" lang="en-US" sz="2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p:transition spd="med">
    <p:split dir="out" orient="vert"/>
  </p:transition>
  <p:timing>
    <p:tnLst>
      <p:par>
        <p:cTn id="704" dur="indefinite" restart="never" nodeType="tmRoot">
          <p:childTnLst>
            <p:seq>
              <p:cTn id="705" dur="indefinite" nodeType="mainSeq">
                <p:childTnLst>
                  <p:par>
                    <p:cTn id="706" nodeType="clickEffect" fill="hold">
                      <p:stCondLst>
                        <p:cond delay="0"/>
                      </p:stCondLst>
                      <p:childTnLst>
                        <p:par>
                          <p:cTn id="70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708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710" dur="500"/>
                                        <p:tgtEl>
                                          <p:spTgt spid="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1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712" nodeType="afterEffect" fill="hold" presetClass="entr" presetID="9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714" dur="500"/>
                                        <p:tgtEl>
                                          <p:spTgt spid="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5" nodeType="clickEffect" fill="hold">
                      <p:stCondLst>
                        <p:cond delay="indefinite"/>
                      </p:stCondLst>
                      <p:childTnLst>
                        <p:par>
                          <p:cTn id="71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717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719" dur="500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0" nodeType="clickEffect" fill="hold">
                      <p:stCondLst>
                        <p:cond delay="indefinite"/>
                      </p:stCondLst>
                      <p:childTnLst>
                        <p:par>
                          <p:cTn id="72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722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724" dur="500"/>
                                        <p:tgtEl>
                                          <p:spTgt spid="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Text Box 2"/>
          <p:cNvSpPr/>
          <p:nvPr/>
        </p:nvSpPr>
        <p:spPr>
          <a:xfrm>
            <a:off x="395640" y="457200"/>
            <a:ext cx="8239680" cy="459720"/>
          </a:xfrm>
          <a:prstGeom prst="rect">
            <a:avLst/>
          </a:prstGeom>
          <a:noFill/>
          <a:ln w="2844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CONCLUSION GENERALE ET RECOMMANDATIONS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75" name="Text Box 5"/>
          <p:cNvSpPr/>
          <p:nvPr/>
        </p:nvSpPr>
        <p:spPr>
          <a:xfrm>
            <a:off x="72360" y="2031840"/>
            <a:ext cx="9221760" cy="70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l’école peut contrecarrer la tendance actuelle à la baisse du niveau de condition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physique et de santé constatée chez les enfants et les adolescents,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76" name="Text Box 6"/>
          <p:cNvSpPr/>
          <p:nvPr/>
        </p:nvSpPr>
        <p:spPr>
          <a:xfrm>
            <a:off x="380880" y="5029200"/>
            <a:ext cx="8382240" cy="152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buClr>
                <a:srgbClr val="ffff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 d’augmenter leur temps quotidien et hebdomadaire d’activité motrice,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buClr>
                <a:srgbClr val="ffff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 de diminuer d’autant leur temps d’inactivité physique :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buClr>
                <a:srgbClr val="ffff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	</a:t>
            </a:r>
            <a:r>
              <a:rPr b="0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	</a:t>
            </a:r>
            <a:r>
              <a:rPr b="0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</a:t>
            </a: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« Bien Bouger ou bouger plus… »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	</a:t>
            </a:r>
            <a:r>
              <a:rPr b="0" i="1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	</a:t>
            </a:r>
            <a:r>
              <a:rPr b="0" i="1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              (cf document canadien)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77" name="Text Box 9"/>
          <p:cNvSpPr/>
          <p:nvPr/>
        </p:nvSpPr>
        <p:spPr>
          <a:xfrm>
            <a:off x="3583440" y="2971800"/>
            <a:ext cx="212904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à condition…. 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78" name="Text Box 12"/>
          <p:cNvSpPr/>
          <p:nvPr/>
        </p:nvSpPr>
        <p:spPr>
          <a:xfrm>
            <a:off x="349200" y="3581280"/>
            <a:ext cx="8413920" cy="12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buClr>
                <a:srgbClr val="ffff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de bien les informer sur la nécessité d’une alimentation équilibrée : </a:t>
            </a: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	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	</a:t>
            </a: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	</a:t>
            </a: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                              « Bien manger ou manger mieux… »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	</a:t>
            </a:r>
            <a:r>
              <a:rPr b="0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	</a:t>
            </a:r>
            <a:r>
              <a:rPr b="0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           </a:t>
            </a:r>
            <a:r>
              <a:rPr b="0" i="1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(cf Le document qui sera distribué)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79" name="Text Box 13"/>
          <p:cNvSpPr/>
          <p:nvPr/>
        </p:nvSpPr>
        <p:spPr>
          <a:xfrm>
            <a:off x="3963960" y="1295280"/>
            <a:ext cx="89208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Oui</a:t>
            </a:r>
            <a:endParaRPr b="0" lang="en-US" sz="3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25" dur="indefinite" restart="never" nodeType="tmRoot">
          <p:childTnLst>
            <p:seq>
              <p:cTn id="726" dur="indefinite" nodeType="mainSeq">
                <p:childTnLst>
                  <p:par>
                    <p:cTn id="727" nodeType="clickEffect" fill="hold">
                      <p:stCondLst>
                        <p:cond delay="0"/>
                      </p:stCondLst>
                      <p:childTnLst>
                        <p:par>
                          <p:cTn id="72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729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731" dur="500"/>
                                        <p:tgtEl>
                                          <p:spTgt spid="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2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733" nodeType="afterEffect" fill="hold" presetClass="entr" presetID="23" presetSubtype="16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35" dur="500" fill="hold"/>
                                        <p:tgtEl>
                                          <p:spTgt spid="3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36" dur="500" fill="hold"/>
                                        <p:tgtEl>
                                          <p:spTgt spid="3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7" nodeType="afterEffect" fill="hold">
                            <p:stCondLst>
                              <p:cond delay="2000"/>
                            </p:stCondLst>
                            <p:childTnLst>
                              <p:par>
                                <p:cTn id="738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740" dur="500"/>
                                        <p:tgtEl>
                                          <p:spTgt spid="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1" nodeType="afterEffect" fill="hold">
                            <p:stCondLst>
                              <p:cond delay="2500"/>
                            </p:stCondLst>
                            <p:childTnLst>
                              <p:par>
                                <p:cTn id="742" nodeType="afterEffect" fill="hold" presetClass="entr" presetID="9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744" dur="500"/>
                                        <p:tgtEl>
                                          <p:spTgt spid="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5" nodeType="afterEffect" fill="hold">
                            <p:stCondLst>
                              <p:cond delay="4000"/>
                            </p:stCondLst>
                            <p:childTnLst>
                              <p:par>
                                <p:cTn id="746" nodeType="afterEffect" fill="hold" presetClass="entr" presetID="9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7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748" dur="500"/>
                                        <p:tgtEl>
                                          <p:spTgt spid="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9" nodeType="clickEffect" fill="hold">
                      <p:stCondLst>
                        <p:cond delay="indefinite"/>
                      </p:stCondLst>
                      <p:childTnLst>
                        <p:par>
                          <p:cTn id="75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751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753" dur="500"/>
                                        <p:tgtEl>
                                          <p:spTgt spid="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Text Box 2"/>
          <p:cNvSpPr/>
          <p:nvPr/>
        </p:nvSpPr>
        <p:spPr>
          <a:xfrm>
            <a:off x="-4680" y="-3240"/>
            <a:ext cx="9093240" cy="106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Augmenter les périodes d’activité physique tout le long 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de la journée, par blocs d’au moins 5 à 10 minutes.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D’après le « Guide d’activité physique canadien pour les jeunes et les enfants » (2002) 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81" name="Text Box 3"/>
          <p:cNvSpPr/>
          <p:nvPr/>
        </p:nvSpPr>
        <p:spPr>
          <a:xfrm>
            <a:off x="152280" y="3165480"/>
            <a:ext cx="8931240" cy="398880"/>
          </a:xfrm>
          <a:prstGeom prst="rect">
            <a:avLst/>
          </a:prstGeom>
          <a:solidFill>
            <a:srgbClr val="ccccff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1er mois      au moins 20      +              10            =         30                     30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82" name="Text Box 4"/>
          <p:cNvSpPr/>
          <p:nvPr/>
        </p:nvSpPr>
        <p:spPr>
          <a:xfrm>
            <a:off x="152280" y="3809880"/>
            <a:ext cx="8915400" cy="398880"/>
          </a:xfrm>
          <a:prstGeom prst="rect">
            <a:avLst/>
          </a:prstGeom>
          <a:solidFill>
            <a:srgbClr val="ffff00"/>
          </a:solidFill>
          <a:ln w="9360">
            <a:solidFill>
              <a:srgbClr val="3333c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2ème mois  au moins 30      +              15            =         45                     45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83" name="Text Box 5"/>
          <p:cNvSpPr/>
          <p:nvPr/>
        </p:nvSpPr>
        <p:spPr>
          <a:xfrm>
            <a:off x="152280" y="4419720"/>
            <a:ext cx="8915400" cy="398880"/>
          </a:xfrm>
          <a:prstGeom prst="rect">
            <a:avLst/>
          </a:prstGeom>
          <a:solidFill>
            <a:srgbClr val="ccccff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3ème mois  au moins 40      +              20            =         60                     60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84" name="Text Box 6"/>
          <p:cNvSpPr/>
          <p:nvPr/>
        </p:nvSpPr>
        <p:spPr>
          <a:xfrm>
            <a:off x="152280" y="5029200"/>
            <a:ext cx="8915400" cy="398880"/>
          </a:xfrm>
          <a:prstGeom prst="rect">
            <a:avLst/>
          </a:prstGeom>
          <a:solidFill>
            <a:srgbClr val="ffff00"/>
          </a:solidFill>
          <a:ln w="9360">
            <a:solidFill>
              <a:srgbClr val="3333c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4ème mois  au moins 50      +               25            =         75                     75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85" name="Text Box 7"/>
          <p:cNvSpPr/>
          <p:nvPr/>
        </p:nvSpPr>
        <p:spPr>
          <a:xfrm>
            <a:off x="152280" y="5638680"/>
            <a:ext cx="8915400" cy="398880"/>
          </a:xfrm>
          <a:prstGeom prst="rect">
            <a:avLst/>
          </a:prstGeom>
          <a:solidFill>
            <a:srgbClr val="ccccff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5ème mois  au moins 60      +               30            =         90                     90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386" name=""/>
          <p:cNvGraphicFramePr/>
          <p:nvPr/>
        </p:nvGraphicFramePr>
        <p:xfrm>
          <a:off x="228600" y="1143000"/>
          <a:ext cx="8915400" cy="4952880"/>
        </p:xfrm>
        <a:graphic>
          <a:graphicData uri="http://schemas.openxmlformats.org/drawingml/2006/table">
            <a:tbl>
              <a:tblPr/>
              <a:tblGrid>
                <a:gridCol w="1371600"/>
                <a:gridCol w="1828800"/>
                <a:gridCol w="380880"/>
                <a:gridCol w="1849680"/>
                <a:gridCol w="404640"/>
                <a:gridCol w="1708200"/>
                <a:gridCol w="1371600"/>
              </a:tblGrid>
              <a:tr h="495288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2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1368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13680">
                      <a:solidFill>
                        <a:srgbClr val="ffff00"/>
                      </a:solidFill>
                      <a:prstDash val="solid"/>
                    </a:lnT>
                    <a:lnB w="1368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800" strike="noStrike" u="sng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Augmentation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8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quotidienne du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8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nombre de min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8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consacrées à des exercices modérés (*)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13680">
                      <a:solidFill>
                        <a:srgbClr val="ffff00"/>
                      </a:solidFill>
                      <a:prstDash val="solid"/>
                    </a:lnT>
                    <a:lnB w="1368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2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13680">
                      <a:solidFill>
                        <a:srgbClr val="ffff00"/>
                      </a:solidFill>
                      <a:prstDash val="solid"/>
                    </a:lnT>
                    <a:lnB w="1368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800" strike="noStrike" u="sng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Augmentation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8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quotidienne du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8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nombre de min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8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consacrées à des exercices vigoureux (**) 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13680">
                      <a:solidFill>
                        <a:srgbClr val="ffff00"/>
                      </a:solidFill>
                      <a:prstDash val="solid"/>
                    </a:lnT>
                    <a:lnB w="1368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2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13680">
                      <a:solidFill>
                        <a:srgbClr val="ffff00"/>
                      </a:solidFill>
                      <a:prstDash val="solid"/>
                    </a:lnT>
                    <a:lnB w="1368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8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Total du </a:t>
                      </a:r>
                      <a:r>
                        <a:rPr b="0" lang="fr-FR" sz="1800" strike="noStrike" u="sng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temps supplémen-taire</a:t>
                      </a:r>
                      <a:r>
                        <a:rPr b="0" lang="fr-FR" sz="18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 quotidien consacré à l’activité physique (minutes)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13680">
                      <a:solidFill>
                        <a:srgbClr val="ffff00"/>
                      </a:solidFill>
                      <a:prstDash val="solid"/>
                    </a:lnT>
                    <a:lnB w="1368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800" strike="noStrike" u="sng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Réduction </a:t>
                      </a:r>
                      <a:r>
                        <a:rPr b="0" lang="fr-FR" sz="18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totale du temps d’inactivité physique (minutes)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00"/>
                      </a:solidFill>
                      <a:prstDash val="solid"/>
                    </a:lnL>
                    <a:lnR w="13680">
                      <a:solidFill>
                        <a:srgbClr val="ffff00"/>
                      </a:solidFill>
                      <a:prstDash val="solid"/>
                    </a:lnR>
                    <a:lnT w="13680">
                      <a:solidFill>
                        <a:srgbClr val="ffff00"/>
                      </a:solidFill>
                      <a:prstDash val="solid"/>
                    </a:lnT>
                    <a:lnB w="1368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87" name="Oval 43"/>
          <p:cNvSpPr/>
          <p:nvPr/>
        </p:nvSpPr>
        <p:spPr>
          <a:xfrm>
            <a:off x="152280" y="3124080"/>
            <a:ext cx="1295640" cy="457200"/>
          </a:xfrm>
          <a:prstGeom prst="ellipse">
            <a:avLst/>
          </a:prstGeom>
          <a:noFill/>
          <a:ln w="28440">
            <a:solidFill>
              <a:srgbClr val="3333c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88" name="Oval 44"/>
          <p:cNvSpPr/>
          <p:nvPr/>
        </p:nvSpPr>
        <p:spPr>
          <a:xfrm>
            <a:off x="152280" y="3809880"/>
            <a:ext cx="1371600" cy="457200"/>
          </a:xfrm>
          <a:prstGeom prst="ellipse">
            <a:avLst/>
          </a:prstGeom>
          <a:noFill/>
          <a:ln w="28440">
            <a:solidFill>
              <a:srgbClr val="3333c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89" name="Oval 45"/>
          <p:cNvSpPr/>
          <p:nvPr/>
        </p:nvSpPr>
        <p:spPr>
          <a:xfrm>
            <a:off x="152280" y="4419720"/>
            <a:ext cx="1371600" cy="457200"/>
          </a:xfrm>
          <a:prstGeom prst="ellipse">
            <a:avLst/>
          </a:prstGeom>
          <a:noFill/>
          <a:ln w="28440">
            <a:solidFill>
              <a:srgbClr val="3333c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90" name="Oval 46"/>
          <p:cNvSpPr/>
          <p:nvPr/>
        </p:nvSpPr>
        <p:spPr>
          <a:xfrm>
            <a:off x="152280" y="5029200"/>
            <a:ext cx="1371600" cy="457200"/>
          </a:xfrm>
          <a:prstGeom prst="ellipse">
            <a:avLst/>
          </a:prstGeom>
          <a:noFill/>
          <a:ln w="28440">
            <a:solidFill>
              <a:srgbClr val="3333c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91" name="Oval 47"/>
          <p:cNvSpPr/>
          <p:nvPr/>
        </p:nvSpPr>
        <p:spPr>
          <a:xfrm>
            <a:off x="152280" y="5638680"/>
            <a:ext cx="1371600" cy="457200"/>
          </a:xfrm>
          <a:prstGeom prst="ellipse">
            <a:avLst/>
          </a:prstGeom>
          <a:noFill/>
          <a:ln w="28440">
            <a:solidFill>
              <a:srgbClr val="3333c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92" name="Text Box 48"/>
          <p:cNvSpPr/>
          <p:nvPr/>
        </p:nvSpPr>
        <p:spPr>
          <a:xfrm>
            <a:off x="75960" y="6243480"/>
            <a:ext cx="908748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(*)  Exercices modérés : . Marche vive, patinage, bicyclette, natation, jeux d’extérieurs…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(**) Exercices vigoureux : Course, football, basket-ball, hand-ball…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54" dur="indefinite" restart="never" nodeType="tmRoot">
          <p:childTnLst>
            <p:seq>
              <p:cTn id="755" dur="indefinite" nodeType="mainSeq">
                <p:childTnLst>
                  <p:par>
                    <p:cTn id="756" nodeType="clickEffect" fill="hold">
                      <p:stCondLst>
                        <p:cond delay="0"/>
                      </p:stCondLst>
                      <p:childTnLst>
                        <p:par>
                          <p:cTn id="75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758" nodeType="afterEffect" fill="hold" presetClass="entr" presetID="9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760" dur="500"/>
                                        <p:tgtEl>
                                          <p:spTgt spid="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1" nodeType="clickEffect" fill="hold">
                      <p:stCondLst>
                        <p:cond delay="indefinite"/>
                      </p:stCondLst>
                      <p:childTnLst>
                        <p:par>
                          <p:cTn id="76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763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765" dur="500"/>
                                        <p:tgtEl>
                                          <p:spTgt spid="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6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767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769" dur="500"/>
                                        <p:tgtEl>
                                          <p:spTgt spid="3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0" nodeType="afterEffect" fill="hold">
                            <p:stCondLst>
                              <p:cond delay="1000"/>
                            </p:stCondLst>
                            <p:childTnLst>
                              <p:par>
                                <p:cTn id="771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773" dur="500"/>
                                        <p:tgtEl>
                                          <p:spTgt spid="3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77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92">
                                      <p:txEl>
                                        <p:pRg st="0" end="0"/>
                                      </p:txEl>
                                    </p:spTgt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ccccff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  <p:par>
                    <p:cTn id="775" nodeType="clickEffect" fill="hold">
                      <p:stCondLst>
                        <p:cond delay="indefinite"/>
                      </p:stCondLst>
                      <p:childTnLst>
                        <p:par>
                          <p:cTn id="77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777" nodeType="clickEffect" fill="hold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9" dur="500" fill="hold"/>
                                        <p:tgtEl>
                                          <p:spTgt spid="3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0" dur="500" fill="hold"/>
                                        <p:tgtEl>
                                          <p:spTgt spid="3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animClr clrSpc="rgb">
                                <p:cBhvr>
                                  <p:cTn id="78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92">
                                      <p:txEl>
                                        <p:pRg st="1" end="1"/>
                                      </p:txEl>
                                    </p:spTgt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ccccff"/>
                                </p:to>
                              </p:animClr>
                            </p:childTnLst>
                          </p:cTn>
                        </p:par>
                        <p:par>
                          <p:cTn id="782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783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785" dur="500"/>
                                        <p:tgtEl>
                                          <p:spTgt spid="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6" nodeType="afterEffect" fill="hold">
                            <p:stCondLst>
                              <p:cond delay="1000"/>
                            </p:stCondLst>
                            <p:childTnLst>
                              <p:par>
                                <p:cTn id="787" nodeType="afterEffect" fill="hold" presetClass="entr" presetID="2" presetSubtype="8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9" dur="500" fill="hold"/>
                                        <p:tgtEl>
                                          <p:spTgt spid="3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0" dur="500" fill="hold"/>
                                        <p:tgtEl>
                                          <p:spTgt spid="3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1" nodeType="afterEffect" fill="hold">
                            <p:stCondLst>
                              <p:cond delay="2500"/>
                            </p:stCondLst>
                            <p:childTnLst>
                              <p:par>
                                <p:cTn id="792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794" dur="50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5" nodeType="afterEffect" fill="hold">
                            <p:stCondLst>
                              <p:cond delay="3000"/>
                            </p:stCondLst>
                            <p:childTnLst>
                              <p:par>
                                <p:cTn id="796" nodeType="afterEffect" fill="hold" presetClass="entr" presetID="2" presetSubtype="8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8" dur="500" fill="hold"/>
                                        <p:tgtEl>
                                          <p:spTgt spid="3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9" dur="500" fill="hold"/>
                                        <p:tgtEl>
                                          <p:spTgt spid="3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0" nodeType="afterEffect" fill="hold">
                            <p:stCondLst>
                              <p:cond delay="4500"/>
                            </p:stCondLst>
                            <p:childTnLst>
                              <p:par>
                                <p:cTn id="801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803" dur="500"/>
                                        <p:tgtEl>
                                          <p:spTgt spid="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4" nodeType="afterEffect" fill="hold">
                            <p:stCondLst>
                              <p:cond delay="5000"/>
                            </p:stCondLst>
                            <p:childTnLst>
                              <p:par>
                                <p:cTn id="805" nodeType="afterEffect" fill="hold" presetClass="entr" presetID="2" presetSubtype="8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7" dur="500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8" dur="500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9" nodeType="afterEffect" fill="hold">
                            <p:stCondLst>
                              <p:cond delay="6500"/>
                            </p:stCondLst>
                            <p:childTnLst>
                              <p:par>
                                <p:cTn id="810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812" dur="500"/>
                                        <p:tgtEl>
                                          <p:spTgt spid="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3" nodeType="afterEffect" fill="hold">
                            <p:stCondLst>
                              <p:cond delay="7000"/>
                            </p:stCondLst>
                            <p:childTnLst>
                              <p:par>
                                <p:cTn id="814" nodeType="afterEffect" fill="hold" presetClass="entr" presetID="2" presetSubtype="8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6" dur="500" fill="hold"/>
                                        <p:tgtEl>
                                          <p:spTgt spid="3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7" dur="500" fill="hold"/>
                                        <p:tgtEl>
                                          <p:spTgt spid="3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8" nodeType="afterEffect" fill="hold">
                            <p:stCondLst>
                              <p:cond delay="8500"/>
                            </p:stCondLst>
                            <p:childTnLst>
                              <p:par>
                                <p:cTn id="819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821" dur="500"/>
                                        <p:tgtEl>
                                          <p:spTgt spid="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Text Box 4"/>
          <p:cNvSpPr/>
          <p:nvPr/>
        </p:nvSpPr>
        <p:spPr>
          <a:xfrm>
            <a:off x="79560" y="1955880"/>
            <a:ext cx="9097920" cy="131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00000"/>
              </a:lnSpc>
              <a:buClr>
                <a:srgbClr val="ffff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d’individualiser (groupes de niveau) et de contrôler la durée et l’intensité des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 séances d’EPS donc, d’ajouter un aspect qualitatif : 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« Bouger plus et bouger mieux... »</a:t>
            </a:r>
            <a:r>
              <a:rPr b="0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94" name="Text Box 5"/>
          <p:cNvSpPr/>
          <p:nvPr/>
        </p:nvSpPr>
        <p:spPr>
          <a:xfrm>
            <a:off x="-13680" y="3689280"/>
            <a:ext cx="9171720" cy="237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20000"/>
              </a:lnSpc>
              <a:buClr>
                <a:srgbClr val="ffff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et </a:t>
            </a: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d’ajouter le concept de</a:t>
            </a:r>
            <a:r>
              <a:rPr b="0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fr-FR" sz="2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« santé »</a:t>
            </a:r>
            <a:r>
              <a:rPr b="0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à celui d’« EPS » </a:t>
            </a: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en envisageant</a:t>
            </a:r>
            <a:r>
              <a:rPr b="0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2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</a:t>
            </a: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l’EP-Santé (EP</a:t>
            </a: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</a:t>
            </a: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) par séquences d’une heure ( 3 x 1h plutôt que 1 + 2h), et en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2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introduisant dans chaque séance d’EPS et ce, toute l’année, quelle que soit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2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l’activité physique considérée :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	</a:t>
            </a: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	</a:t>
            </a: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                 « le quart d’heure pour le cœur  </a:t>
            </a: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Symbol"/>
                <a:ea typeface="Symbol"/>
              </a:rPr>
              <a:t></a:t>
            </a: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80 – 90 % de FC max»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95" name="Text Box 6"/>
          <p:cNvSpPr/>
          <p:nvPr/>
        </p:nvSpPr>
        <p:spPr>
          <a:xfrm>
            <a:off x="2727360" y="270000"/>
            <a:ext cx="1839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96" name="Text Box 7"/>
          <p:cNvSpPr/>
          <p:nvPr/>
        </p:nvSpPr>
        <p:spPr>
          <a:xfrm>
            <a:off x="2973600" y="1066680"/>
            <a:ext cx="284868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à condition…. </a:t>
            </a:r>
            <a:r>
              <a:rPr b="0" i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(suite)</a:t>
            </a:r>
            <a:r>
              <a:rPr b="0" lang="fr-FR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822" dur="indefinite" restart="never" nodeType="tmRoot">
          <p:childTnLst>
            <p:seq>
              <p:cTn id="823" dur="indefinite" nodeType="mainSeq">
                <p:childTnLst>
                  <p:par>
                    <p:cTn id="824" nodeType="clickEffect" fill="hold">
                      <p:stCondLst>
                        <p:cond delay="0"/>
                      </p:stCondLst>
                      <p:childTnLst>
                        <p:par>
                          <p:cTn id="82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826" nodeType="afterEffect" fill="hold" presetClass="entr" presetID="9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8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828" dur="300"/>
                                        <p:tgtEl>
                                          <p:spTgt spid="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9" nodeType="afterEffect" fill="hold">
                            <p:stCondLst>
                              <p:cond delay="2100"/>
                            </p:stCondLst>
                            <p:childTnLst>
                              <p:par>
                                <p:cTn id="830" nodeType="afterEffect" fill="hold" presetClass="entr" presetID="9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832" dur="500"/>
                                        <p:tgtEl>
                                          <p:spTgt spid="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3" nodeType="afterEffect" fill="hold">
                            <p:stCondLst>
                              <p:cond delay="3600"/>
                            </p:stCondLst>
                            <p:childTnLst>
                              <p:par>
                                <p:cTn id="834" nodeType="afterEffect" fill="hold" presetClass="entr" presetID="9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8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836" dur="500"/>
                                        <p:tgtEl>
                                          <p:spTgt spid="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Text Box 4"/>
          <p:cNvSpPr/>
          <p:nvPr/>
        </p:nvSpPr>
        <p:spPr>
          <a:xfrm>
            <a:off x="0" y="1752480"/>
            <a:ext cx="9144000" cy="247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5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« Même en se limitant au développement de sa santé, </a:t>
            </a:r>
            <a:r>
              <a:rPr b="1" i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augmenter la quantité</a:t>
            </a:r>
            <a:r>
              <a:rPr b="0" lang="fr-FR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de pratique des activités physiques et du sport de l’enfant </a:t>
            </a:r>
            <a:r>
              <a:rPr b="1" i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à l’école et en dehors de l’école</a:t>
            </a:r>
            <a:r>
              <a:rPr b="0" lang="fr-FR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devient donc une </a:t>
            </a:r>
            <a:r>
              <a:rPr b="1" lang="fr-FR" sz="32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obligation éducative</a:t>
            </a:r>
            <a:r>
              <a:rPr b="0" lang="fr-FR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 ».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837" dur="indefinite" restart="never" nodeType="tmRoot">
          <p:childTnLst>
            <p:seq>
              <p:cTn id="838" dur="indefinite" nodeType="mainSeq">
                <p:childTnLst>
                  <p:par>
                    <p:cTn id="839" nodeType="clickEffect" fill="hold">
                      <p:stCondLst>
                        <p:cond delay="0"/>
                      </p:stCondLst>
                      <p:childTnLst>
                        <p:par>
                          <p:cTn id="84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841" nodeType="afterEffect" fill="hold" presetClass="entr" presetID="9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8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843" dur="300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4" fill="hold">
                      <p:stCondLst>
                        <p:cond delay="indefinite"/>
                      </p:stCondLst>
                      <p:childTnLst>
                        <p:par>
                          <p:cTn id="845" fill="hold">
                            <p:stCondLst>
                              <p:cond delay="0"/>
                            </p:stCondLst>
                            <p:childTnLst>
                              <p:animClr clrSpc="rgb">
                                <p:cBhvr>
                                  <p:cTn id="846" dur="1" fill="hold"/>
                                  <p:tgtEl>
                                    <p:spTgt spid="397"/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ccccff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8" name="Picture 2" descr="photo4"/>
          <p:cNvPicPr/>
          <p:nvPr/>
        </p:nvPicPr>
        <p:blipFill>
          <a:blip r:embed="rId1"/>
          <a:srcRect l="2483" t="4429" r="2504" b="10997"/>
          <a:stretch/>
        </p:blipFill>
        <p:spPr>
          <a:xfrm>
            <a:off x="0" y="609480"/>
            <a:ext cx="9142560" cy="5334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9" name="AutoShape 3"/>
          <p:cNvSpPr/>
          <p:nvPr/>
        </p:nvSpPr>
        <p:spPr>
          <a:xfrm>
            <a:off x="0" y="0"/>
            <a:ext cx="4114800" cy="2057400"/>
          </a:xfrm>
          <a:prstGeom prst="wedgeEllipseCallout">
            <a:avLst>
              <a:gd name="adj1" fmla="val 57175"/>
              <a:gd name="adj2" fmla="val 38425"/>
            </a:avLst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200" strike="noStrike" u="none">
                <a:solidFill>
                  <a:srgbClr val="000000"/>
                </a:solidFill>
                <a:effectLst/>
                <a:uFillTx/>
                <a:latin typeface="Bookman Old Style"/>
              </a:rPr>
              <a:t>MERCI DE VOTRE ATTENTION</a:t>
            </a:r>
            <a:endParaRPr b="0" lang="en-US" sz="3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847" dur="indefinite" restart="never" nodeType="tmRoot">
          <p:childTnLst>
            <p:seq>
              <p:cTn id="848" dur="indefinite" nodeType="mainSeq">
                <p:childTnLst>
                  <p:par>
                    <p:cTn id="849" nodeType="clickEffect" fill="hold">
                      <p:stCondLst>
                        <p:cond delay="indefinite"/>
                      </p:stCondLst>
                      <p:childTnLst>
                        <p:par>
                          <p:cTn id="85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85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3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854" nodeType="afterEffect" fill="hold" presetClass="entr" presetID="9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8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856" dur="300"/>
                                        <p:tgtEl>
                                          <p:spTgt spid="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1649</TotalTime>
  <Application>LibreOffice/25.2.3.2$Linux_X86_64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2003-01-27T14:40:11Z</dcterms:created>
  <dc:creator>CAZORLA</dc:creator>
  <dc:description/>
  <dc:language>en-US</dc:language>
  <cp:lastModifiedBy>Georges Caz</cp:lastModifiedBy>
  <cp:lastPrinted>2003-10-18T06:23:30Z</cp:lastPrinted>
  <dcterms:modified xsi:type="dcterms:W3CDTF">2017-08-09T21:25:16Z</dcterms:modified>
  <cp:revision>19</cp:revision>
  <dc:subject/>
  <dc:title>Présentation PowerPoint</dc:title>
</cp:coreProperties>
</file>