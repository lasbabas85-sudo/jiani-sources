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55.png" ContentType="image/png"/>
  <Override PartName="/ppt/media/image34.jpeg" ContentType="image/jpeg"/>
  <Override PartName="/ppt/media/image54.wmf" ContentType="image/x-wmf"/>
  <Override PartName="/ppt/media/image51.wmf" ContentType="image/x-wmf"/>
  <Override PartName="/ppt/media/image29.png" ContentType="image/png"/>
  <Override PartName="/ppt/media/image48.png" ContentType="image/png"/>
  <Override PartName="/ppt/media/image15.jpeg" ContentType="image/jpeg"/>
  <Override PartName="/ppt/media/image46.png" ContentType="image/png"/>
  <Override PartName="/ppt/media/image45.png" ContentType="image/png"/>
  <Override PartName="/ppt/media/image52.wmf" ContentType="image/x-wmf"/>
  <Override PartName="/ppt/media/image49.png" ContentType="image/png"/>
  <Override PartName="/ppt/media/image44.jpeg" ContentType="image/jpeg"/>
  <Override PartName="/ppt/media/image76.wmf" ContentType="image/x-wmf"/>
  <Override PartName="/ppt/media/image43.png" ContentType="image/png"/>
  <Override PartName="/ppt/media/image41.png" ContentType="image/png"/>
  <Override PartName="/ppt/media/image38.png" ContentType="image/png"/>
  <Override PartName="/ppt/media/image37.png" ContentType="image/png"/>
  <Override PartName="/ppt/media/image36.png" ContentType="image/png"/>
  <Override PartName="/ppt/media/image32.png" ContentType="image/png"/>
  <Override PartName="/ppt/media/image31.jpeg" ContentType="image/jpeg"/>
  <Override PartName="/ppt/media/image25.png" ContentType="image/png"/>
  <Override PartName="/ppt/media/image30.png" ContentType="image/png"/>
  <Override PartName="/ppt/media/image13.jpeg" ContentType="image/jpeg"/>
  <Override PartName="/ppt/media/image19.png" ContentType="image/png"/>
  <Override PartName="/ppt/media/image21.png" ContentType="image/png"/>
  <Override PartName="/ppt/media/image22.png" ContentType="image/png"/>
  <Override PartName="/ppt/media/image59.png" ContentType="image/png"/>
  <Override PartName="/ppt/media/image24.png" ContentType="image/png"/>
  <Override PartName="/ppt/media/image40.png" ContentType="image/png"/>
  <Override PartName="/ppt/media/image4.jpeg" ContentType="image/jpeg"/>
  <Override PartName="/ppt/media/image80.wmf" ContentType="image/x-wmf"/>
  <Override PartName="/ppt/media/image77.png" ContentType="image/png"/>
  <Override PartName="/ppt/media/image58.wmf" ContentType="image/x-wmf"/>
  <Override PartName="/ppt/media/image60.png" ContentType="image/png"/>
  <Override PartName="/ppt/media/image28.jpeg" ContentType="image/jpeg"/>
  <Override PartName="/ppt/media/image63.png" ContentType="image/png"/>
  <Override PartName="/ppt/media/image62.png" ContentType="image/png"/>
  <Override PartName="/ppt/media/image82.wmf" ContentType="image/x-wmf"/>
  <Override PartName="/ppt/media/image23.png" ContentType="image/png"/>
  <Override PartName="/ppt/media/image65.png" ContentType="image/png"/>
  <Override PartName="/ppt/media/image75.wmf" ContentType="image/x-wmf"/>
  <Override PartName="/ppt/media/image3.png" ContentType="image/png"/>
  <Override PartName="/ppt/media/image35.png" ContentType="image/png"/>
  <Override PartName="/ppt/media/image27.png" ContentType="image/png"/>
  <Override PartName="/ppt/media/image64.png" ContentType="image/png"/>
  <Override PartName="/ppt/media/image74.wmf" ContentType="image/x-wmf"/>
  <Override PartName="/ppt/media/image72.wmf" ContentType="image/x-wmf"/>
  <Override PartName="/ppt/media/image69.png" ContentType="image/png"/>
  <Override PartName="/ppt/media/image6.jpeg" ContentType="image/jpeg"/>
  <Override PartName="/ppt/media/image71.png" ContentType="image/png"/>
  <Override PartName="/ppt/media/image70.png" ContentType="image/png"/>
  <Override PartName="/ppt/media/image68.png" ContentType="image/png"/>
  <Override PartName="/ppt/media/image67.png" ContentType="image/png"/>
  <Override PartName="/ppt/media/image66.png" ContentType="image/png"/>
  <Override PartName="/ppt/media/image53.wmf" ContentType="image/x-wmf"/>
  <Override PartName="/ppt/media/image26.jpeg" ContentType="image/jpeg"/>
  <Override PartName="/ppt/media/image2.png" ContentType="image/png"/>
  <Override PartName="/ppt/media/image79.wmf" ContentType="image/x-wmf"/>
  <Override PartName="/ppt/media/image39.png" ContentType="image/png"/>
  <Override PartName="/ppt/media/image42.wmf" ContentType="image/x-wmf"/>
  <Override PartName="/ppt/media/image61.png" ContentType="image/png"/>
  <Override PartName="/ppt/media/image5.jpeg" ContentType="image/jpeg"/>
  <Override PartName="/ppt/media/image50.png" ContentType="image/png"/>
  <Override PartName="/ppt/media/image20.png" ContentType="image/png"/>
  <Override PartName="/ppt/media/image57.png" ContentType="image/png"/>
  <Override PartName="/ppt/media/image73.png" ContentType="image/png"/>
  <Override PartName="/ppt/media/image11.jpeg" ContentType="image/jpeg"/>
  <Override PartName="/ppt/media/image56.wmf" ContentType="image/x-wmf"/>
  <Override PartName="/ppt/media/image81.png" ContentType="image/png"/>
  <Override PartName="/ppt/media/image7.png" ContentType="image/png"/>
  <Override PartName="/ppt/media/image16.png" ContentType="image/png"/>
  <Override PartName="/ppt/media/image18.png" ContentType="image/png"/>
  <Override PartName="/ppt/media/image12.jpeg" ContentType="image/jpeg"/>
  <Override PartName="/ppt/media/image9.png" ContentType="image/png"/>
  <Override PartName="/ppt/media/image17.png" ContentType="image/png"/>
  <Override PartName="/ppt/media/image14.gif" ContentType="image/gif"/>
  <Override PartName="/ppt/media/image8.png" ContentType="image/png"/>
  <Override PartName="/ppt/media/image33.png" ContentType="image/png"/>
  <Override PartName="/ppt/media/image1.png" ContentType="image/png"/>
  <Override PartName="/ppt/media/image78.wmf" ContentType="image/x-wmf"/>
  <Override PartName="/ppt/media/image10.png" ContentType="image/png"/>
  <Override PartName="/ppt/media/image47.png" ContentType="image/png"/>
  <Override PartName="/ppt/embeddings/oleObject1.bin" ContentType="application/vnd.openxmlformats-officedocument.oleObject"/>
  <Override PartName="/ppt/embeddings/oleObject1.docx" ContentType="application/vnd.openxmlformats-officedocument.wordprocessingml.document"/>
  <Override PartName="/ppt/embeddings/oleObject2.docx" ContentType="application/vnd.openxmlformats-officedocument.wordprocessingml.document"/>
  <Override PartName="/ppt/embeddings/oleObject2.bin" ContentType="application/vnd.openxmlformats-officedocument.oleObject"/>
  <Override PartName="/ppt/embeddings/oleObject3.bin" ContentType="application/vnd.openxmlformats-officedocument.oleObject"/>
  <Override PartName="/ppt/slides/_rels/slide14.xml.rels" ContentType="application/vnd.openxmlformats-package.relationships+xml"/>
  <Override PartName="/ppt/slides/_rels/slide82.xml.rels" ContentType="application/vnd.openxmlformats-package.relationships+xml"/>
  <Override PartName="/ppt/slides/_rels/slide12.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_rels/slide83.xml.rels" ContentType="application/vnd.openxmlformats-package.relationships+xml"/>
  <Override PartName="/ppt/slides/_rels/slide46.xml.rels" ContentType="application/vnd.openxmlformats-package.relationships+xml"/>
  <Override PartName="/ppt/slides/_rels/slide13.xml.rels" ContentType="application/vnd.openxmlformats-package.relationships+xml"/>
  <Override PartName="/ppt/slides/_rels/slide81.xml.rels" ContentType="application/vnd.openxmlformats-package.relationships+xml"/>
  <Override PartName="/ppt/slides/_rels/slide16.xml.rels" ContentType="application/vnd.openxmlformats-package.relationships+xml"/>
  <Override PartName="/ppt/slides/_rels/slide84.xml.rels" ContentType="application/vnd.openxmlformats-package.relationships+xml"/>
  <Override PartName="/ppt/slides/_rels/slide47.xml.rels" ContentType="application/vnd.openxmlformats-package.relationships+xml"/>
  <Override PartName="/ppt/slides/_rels/slide160.xml.rels" ContentType="application/vnd.openxmlformats-package.relationships+xml"/>
  <Override PartName="/ppt/slides/_rels/slide9.xml.rels" ContentType="application/vnd.openxmlformats-package.relationships+xml"/>
  <Override PartName="/ppt/slides/_rels/slide96.xml.rels" ContentType="application/vnd.openxmlformats-package.relationships+xml"/>
  <Override PartName="/ppt/slides/_rels/slide28.xml.rels" ContentType="application/vnd.openxmlformats-package.relationships+xml"/>
  <Override PartName="/ppt/slides/_rels/slide141.xml.rels" ContentType="application/vnd.openxmlformats-package.relationships+xml"/>
  <Override PartName="/ppt/slides/_rels/slide3.xml.rels" ContentType="application/vnd.openxmlformats-package.relationships+xml"/>
  <Override PartName="/ppt/slides/_rels/slide199.xml.rels" ContentType="application/vnd.openxmlformats-package.relationships+xml"/>
  <Override PartName="/ppt/slides/_rels/slide201.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161.xml.rels" ContentType="application/vnd.openxmlformats-package.relationships+xml"/>
  <Override PartName="/ppt/slides/_rels/slide20.xml.rels" ContentType="application/vnd.openxmlformats-package.relationships+xml"/>
  <Override PartName="/ppt/slides/_rels/slide93.xml.rels" ContentType="application/vnd.openxmlformats-package.relationships+xml"/>
  <Override PartName="/ppt/slides/_rels/slide25.xml.rels" ContentType="application/vnd.openxmlformats-package.relationships+xml"/>
  <Override PartName="/ppt/slides/_rels/slide171.xml.rels" ContentType="application/vnd.openxmlformats-package.relationships+xml"/>
  <Override PartName="/ppt/slides/_rels/slide103.xml.rels" ContentType="application/vnd.openxmlformats-package.relationships+xml"/>
  <Override PartName="/ppt/slides/_rels/slide58.xml.rels" ContentType="application/vnd.openxmlformats-package.relationships+xml"/>
  <Override PartName="/ppt/slides/_rels/slide6.xml.rels" ContentType="application/vnd.openxmlformats-package.relationships+xml"/>
  <Override PartName="/ppt/slides/_rels/slide99.xml.rels" ContentType="application/vnd.openxmlformats-package.relationships+xml"/>
  <Override PartName="/ppt/slides/_rels/slide144.xml.rels" ContentType="application/vnd.openxmlformats-package.relationships+xml"/>
  <Override PartName="/ppt/slides/_rels/slide4.xml.rels" ContentType="application/vnd.openxmlformats-package.relationships+xml"/>
  <Override PartName="/ppt/slides/_rels/slide49.xml.rels" ContentType="application/vnd.openxmlformats-package.relationships+xml"/>
  <Override PartName="/ppt/slides/_rels/slide162.xml.rels" ContentType="application/vnd.openxmlformats-package.relationships+xml"/>
  <Override PartName="/ppt/slides/_rels/slide21.xml.rels" ContentType="application/vnd.openxmlformats-package.relationships+xml"/>
  <Override PartName="/ppt/slides/_rels/slide91.xml.rels" ContentType="application/vnd.openxmlformats-package.relationships+xml"/>
  <Override PartName="/ppt/slides/_rels/slide23.xml.rels" ContentType="application/vnd.openxmlformats-package.relationships+xml"/>
  <Override PartName="/ppt/slides/_rels/slide104.xml.rels" ContentType="application/vnd.openxmlformats-package.relationships+xml"/>
  <Override PartName="/ppt/slides/_rels/slide172.xml.rels" ContentType="application/vnd.openxmlformats-package.relationships+xml"/>
  <Override PartName="/ppt/slides/_rels/slide59.xml.rels" ContentType="application/vnd.openxmlformats-package.relationships+xml"/>
  <Override PartName="/ppt/slides/_rels/slide1.xml.rels" ContentType="application/vnd.openxmlformats-package.relationships+xml"/>
  <Override PartName="/ppt/slides/_rels/slide197.xml.rels" ContentType="application/vnd.openxmlformats-package.relationships+xml"/>
  <Override PartName="/ppt/slides/_rels/slide129.xml.rels" ContentType="application/vnd.openxmlformats-package.relationships+xml"/>
  <Override PartName="/ppt/slides/_rels/slide98.xml.rels" ContentType="application/vnd.openxmlformats-package.relationships+xml"/>
  <Override PartName="/ppt/slides/_rels/slide143.xml.rels" ContentType="application/vnd.openxmlformats-package.relationships+xml"/>
  <Override PartName="/ppt/slides/_rels/slide5.xml.rels" ContentType="application/vnd.openxmlformats-package.relationships+xml"/>
  <Override PartName="/ppt/slides/_rels/slide90.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198.xml.rels" ContentType="application/vnd.openxmlformats-package.relationships+xml"/>
  <Override PartName="/ppt/slides/_rels/slide200.xml.rels" ContentType="application/vnd.openxmlformats-package.relationships+xml"/>
  <Override PartName="/ppt/slides/_rels/slide173.xml.rels" ContentType="application/vnd.openxmlformats-package.relationships+xml"/>
  <Override PartName="/ppt/slides/_rels/slide105.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150.xml.rels" ContentType="application/vnd.openxmlformats-package.relationships+xml"/>
  <Override PartName="/ppt/slides/_rels/slide38.xml.rels" ContentType="application/vnd.openxmlformats-package.relationships+xml"/>
  <Override PartName="/ppt/slides/_rels/slide151.xml.rels" ContentType="application/vnd.openxmlformats-package.relationships+xml"/>
  <Override PartName="/ppt/slides/_rels/slide39.xml.rels" ContentType="application/vnd.openxmlformats-package.relationships+xml"/>
  <Override PartName="/ppt/slides/_rels/slide152.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5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115.xml.rels" ContentType="application/vnd.openxmlformats-package.relationships+xml"/>
  <Override PartName="/ppt/slides/_rels/slide183.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120.xml.rels" ContentType="application/vnd.openxmlformats-package.relationships+xml"/>
  <Override PartName="/ppt/slides/_rels/slide75.xml.rels" ContentType="application/vnd.openxmlformats-package.relationships+xml"/>
  <Override PartName="/ppt/slides/_rels/slide153.xml.rels" ContentType="application/vnd.openxmlformats-package.relationships+xml"/>
  <Override PartName="/ppt/slides/_rels/slide145.xml.rels" ContentType="application/vnd.openxmlformats-package.relationships+xml"/>
  <Override PartName="/ppt/slides/_rels/slide121.xml.rels" ContentType="application/vnd.openxmlformats-package.relationships+xml"/>
  <Override PartName="/ppt/slides/_rels/slide76.xml.rels" ContentType="application/vnd.openxmlformats-package.relationships+xml"/>
  <Override PartName="/ppt/slides/_rels/slide154.xml.rels" ContentType="application/vnd.openxmlformats-package.relationships+xml"/>
  <Override PartName="/ppt/slides/_rels/slide66.xml.rels" ContentType="application/vnd.openxmlformats-package.relationships+xml"/>
  <Override PartName="/ppt/slides/_rels/slide111.xml.rels" ContentType="application/vnd.openxmlformats-package.relationships+xml"/>
  <Override PartName="/ppt/slides/_rels/slide146.xml.rels" ContentType="application/vnd.openxmlformats-package.relationships+xml"/>
  <Override PartName="/ppt/slides/_rels/slide116.xml.rels" ContentType="application/vnd.openxmlformats-package.relationships+xml"/>
  <Override PartName="/ppt/slides/_rels/slide184.xml.rels" ContentType="application/vnd.openxmlformats-package.relationships+xml"/>
  <Override PartName="/ppt/slides/_rels/slide180.xml.rels" ContentType="application/vnd.openxmlformats-package.relationships+xml"/>
  <Override PartName="/ppt/slides/_rels/slide67.xml.rels" ContentType="application/vnd.openxmlformats-package.relationships+xml"/>
  <Override PartName="/ppt/slides/_rels/slide112.xml.rels" ContentType="application/vnd.openxmlformats-package.relationships+xml"/>
  <Override PartName="/ppt/slides/_rels/slide181.xml.rels" ContentType="application/vnd.openxmlformats-package.relationships+xml"/>
  <Override PartName="/ppt/slides/_rels/slide68.xml.rels" ContentType="application/vnd.openxmlformats-package.relationships+xml"/>
  <Override PartName="/ppt/slides/_rels/slide113.xml.rels" ContentType="application/vnd.openxmlformats-package.relationships+xml"/>
  <Override PartName="/ppt/slides/_rels/slide70.xml.rels" ContentType="application/vnd.openxmlformats-package.relationships+xml"/>
  <Override PartName="/ppt/slides/_rels/slide125.xml.rels" ContentType="application/vnd.openxmlformats-package.relationships+xml"/>
  <Override PartName="/ppt/slides/_rels/slide193.xml.rels" ContentType="application/vnd.openxmlformats-package.relationships+xml"/>
  <Override PartName="/ppt/slides/_rels/slide126.xml.rels" ContentType="application/vnd.openxmlformats-package.relationships+xml"/>
  <Override PartName="/ppt/slides/_rels/slide194.xml.rels" ContentType="application/vnd.openxmlformats-package.relationships+xml"/>
  <Override PartName="/ppt/slides/_rels/slide127.xml.rels" ContentType="application/vnd.openxmlformats-package.relationships+xml"/>
  <Override PartName="/ppt/slides/_rels/slide195.xml.rels" ContentType="application/vnd.openxmlformats-package.relationships+xml"/>
  <Override PartName="/ppt/slides/_rels/slide182.xml.rels" ContentType="application/vnd.openxmlformats-package.relationships+xml"/>
  <Override PartName="/ppt/slides/_rels/slide114.xml.rels" ContentType="application/vnd.openxmlformats-package.relationships+xml"/>
  <Override PartName="/ppt/slides/_rels/slide69.xml.rels" ContentType="application/vnd.openxmlformats-package.relationships+xml"/>
  <Override PartName="/ppt/slides/_rels/slide147.xml.rels" ContentType="application/vnd.openxmlformats-package.relationships+xml"/>
  <Override PartName="/ppt/slides/_rels/slide109.xml.rels" ContentType="application/vnd.openxmlformats-package.relationships+xml"/>
  <Override PartName="/ppt/slides/_rels/slide177.xml.rels" ContentType="application/vnd.openxmlformats-package.relationships+xml"/>
  <Override PartName="/ppt/slides/_rels/slide191.xml.rels" ContentType="application/vnd.openxmlformats-package.relationships+xml"/>
  <Override PartName="/ppt/slides/_rels/slide123.xml.rels" ContentType="application/vnd.openxmlformats-package.relationships+xml"/>
  <Override PartName="/ppt/slides/_rels/slide78.xml.rels" ContentType="application/vnd.openxmlformats-package.relationships+xml"/>
  <Override PartName="/ppt/slides/_rels/slide156.xml.rels" ContentType="application/vnd.openxmlformats-package.relationships+xml"/>
  <Override PartName="/ppt/slides/_rels/slide119.xml.rels" ContentType="application/vnd.openxmlformats-package.relationships+xml"/>
  <Override PartName="/ppt/slides/_rels/slide187.xml.rels" ContentType="application/vnd.openxmlformats-package.relationships+xml"/>
  <Override PartName="/ppt/slides/_rels/slide108.xml.rels" ContentType="application/vnd.openxmlformats-package.relationships+xml"/>
  <Override PartName="/ppt/slides/_rels/slide176.xml.rels" ContentType="application/vnd.openxmlformats-package.relationships+xml"/>
  <Override PartName="/ppt/slides/_rels/slide190.xml.rels" ContentType="application/vnd.openxmlformats-package.relationships+xml"/>
  <Override PartName="/ppt/slides/_rels/slide122.xml.rels" ContentType="application/vnd.openxmlformats-package.relationships+xml"/>
  <Override PartName="/ppt/slides/_rels/slide77.xml.rels" ContentType="application/vnd.openxmlformats-package.relationships+xml"/>
  <Override PartName="/ppt/slides/_rels/slide155.xml.rels" ContentType="application/vnd.openxmlformats-package.relationships+xml"/>
  <Override PartName="/ppt/slides/_rels/slide118.xml.rels" ContentType="application/vnd.openxmlformats-package.relationships+xml"/>
  <Override PartName="/ppt/slides/_rels/slide186.xml.rels" ContentType="application/vnd.openxmlformats-package.relationships+xml"/>
  <Override PartName="/ppt/slides/_rels/slide107.xml.rels" ContentType="application/vnd.openxmlformats-package.relationships+xml"/>
  <Override PartName="/ppt/slides/_rels/slide175.xml.rels" ContentType="application/vnd.openxmlformats-package.relationships+xml"/>
  <Override PartName="/ppt/slides/_rels/slide142.xml.rels" ContentType="application/vnd.openxmlformats-package.relationships+xml"/>
  <Override PartName="/ppt/slides/_rels/slide29.xml.rels" ContentType="application/vnd.openxmlformats-package.relationships+xml"/>
  <Override PartName="/ppt/slides/_rels/slide97.xml.rels" ContentType="application/vnd.openxmlformats-package.relationships+xml"/>
  <Override PartName="/ppt/slides/_rels/slide117.xml.rels" ContentType="application/vnd.openxmlformats-package.relationships+xml"/>
  <Override PartName="/ppt/slides/_rels/slide185.xml.rels" ContentType="application/vnd.openxmlformats-package.relationships+xml"/>
  <Override PartName="/ppt/slides/_rels/slide174.xml.rels" ContentType="application/vnd.openxmlformats-package.relationships+xml"/>
  <Override PartName="/ppt/slides/_rels/slide106.xml.rels" ContentType="application/vnd.openxmlformats-package.relationships+xml"/>
  <Override PartName="/ppt/slides/_rels/slide157.xml.rels" ContentType="application/vnd.openxmlformats-package.relationships+xml"/>
  <Override PartName="/ppt/slides/_rels/slide192.xml.rels" ContentType="application/vnd.openxmlformats-package.relationships+xml"/>
  <Override PartName="/ppt/slides/_rels/slide79.xml.rels" ContentType="application/vnd.openxmlformats-package.relationships+xml"/>
  <Override PartName="/ppt/slides/_rels/slide124.xml.rels" ContentType="application/vnd.openxmlformats-package.relationships+xml"/>
  <Override PartName="/ppt/slides/_rels/slide60.xml.rels" ContentType="application/vnd.openxmlformats-package.relationships+xml"/>
  <Override PartName="/ppt/slides/_rels/slide94.xml.rels" ContentType="application/vnd.openxmlformats-package.relationships+xml"/>
  <Override PartName="/ppt/slides/_rels/slide26.xml.rels" ContentType="application/vnd.openxmlformats-package.relationships+xml"/>
  <Override PartName="/ppt/slides/_rels/slide128.xml.rels" ContentType="application/vnd.openxmlformats-package.relationships+xml"/>
  <Override PartName="/ppt/slides/_rels/slide196.xml.rels" ContentType="application/vnd.openxmlformats-package.relationships+xml"/>
  <Override PartName="/ppt/slides/_rels/slide166.xml.rels" ContentType="application/vnd.openxmlformats-package.relationships+xml"/>
  <Override PartName="/ppt/slides/_rels/slide88.xml.rels" ContentType="application/vnd.openxmlformats-package.relationships+xml"/>
  <Override PartName="/ppt/slides/_rels/slide133.xml.rels" ContentType="application/vnd.openxmlformats-package.relationships+xml"/>
  <Override PartName="/ppt/slides/_rels/slide167.xml.rels" ContentType="application/vnd.openxmlformats-package.relationships+xml"/>
  <Override PartName="/ppt/slides/_rels/slide89.xml.rels" ContentType="application/vnd.openxmlformats-package.relationships+xml"/>
  <Override PartName="/ppt/slides/_rels/slide134.xml.rels" ContentType="application/vnd.openxmlformats-package.relationships+xml"/>
  <Override PartName="/ppt/slides/_rels/slide135.xml.rels" ContentType="application/vnd.openxmlformats-package.relationships+xml"/>
  <Override PartName="/ppt/slides/_rels/slide136.xml.rels" ContentType="application/vnd.openxmlformats-package.relationships+xml"/>
  <Override PartName="/ppt/slides/_rels/slide55.xml.rels" ContentType="application/vnd.openxmlformats-package.relationships+xml"/>
  <Override PartName="/ppt/slides/_rels/slide100.xml.rels" ContentType="application/vnd.openxmlformats-package.relationships+xml"/>
  <Override PartName="/ppt/slides/_rels/slide137.xml.rels" ContentType="application/vnd.openxmlformats-package.relationships+xml"/>
  <Override PartName="/ppt/slides/_rels/slide56.xml.rels" ContentType="application/vnd.openxmlformats-package.relationships+xml"/>
  <Override PartName="/ppt/slides/_rels/slide101.xml.rels" ContentType="application/vnd.openxmlformats-package.relationships+xml"/>
  <Override PartName="/ppt/slides/_rels/slide138.xml.rels" ContentType="application/vnd.openxmlformats-package.relationships+xml"/>
  <Override PartName="/ppt/slides/_rels/slide140.xml.rels" ContentType="application/vnd.openxmlformats-package.relationships+xml"/>
  <Override PartName="/ppt/slides/_rels/slide95.xml.rels" ContentType="application/vnd.openxmlformats-package.relationships+xml"/>
  <Override PartName="/ppt/slides/_rels/slide27.xml.rels" ContentType="application/vnd.openxmlformats-package.relationships+xml"/>
  <Override PartName="/ppt/slides/_rels/slide57.xml.rels" ContentType="application/vnd.openxmlformats-package.relationships+xml"/>
  <Override PartName="/ppt/slides/_rels/slide170.xml.rels" ContentType="application/vnd.openxmlformats-package.relationships+xml"/>
  <Override PartName="/ppt/slides/_rels/slide102.xml.rels" ContentType="application/vnd.openxmlformats-package.relationships+xml"/>
  <Override PartName="/ppt/slides/_rels/slide92.xml.rels" ContentType="application/vnd.openxmlformats-package.relationships+xml"/>
  <Override PartName="/ppt/slides/_rels/slide24.xml.rels" ContentType="application/vnd.openxmlformats-package.relationships+xml"/>
  <Override PartName="/ppt/slides/_rels/slide139.xml.rels" ContentType="application/vnd.openxmlformats-package.relationships+xml"/>
  <Override PartName="/ppt/slides/_rels/slide54.xml.rels" ContentType="application/vnd.openxmlformats-package.relationships+xml"/>
  <Override PartName="/ppt/slides/_rels/slide165.xml.rels" ContentType="application/vnd.openxmlformats-package.relationships+xml"/>
  <Override PartName="/ppt/slides/_rels/slide132.xml.rels" ContentType="application/vnd.openxmlformats-package.relationships+xml"/>
  <Override PartName="/ppt/slides/_rels/slide87.xml.rels" ContentType="application/vnd.openxmlformats-package.relationships+xml"/>
  <Override PartName="/ppt/slides/_rels/slide19.xml.rels" ContentType="application/vnd.openxmlformats-package.relationships+xml"/>
  <Override PartName="/ppt/slides/_rels/slide148.xml.rels" ContentType="application/vnd.openxmlformats-package.relationships+xml"/>
  <Override PartName="/ppt/slides/_rels/slide164.xml.rels" ContentType="application/vnd.openxmlformats-package.relationships+xml"/>
  <Override PartName="/ppt/slides/_rels/slide86.xml.rels" ContentType="application/vnd.openxmlformats-package.relationships+xml"/>
  <Override PartName="/ppt/slides/_rels/slide18.xml.rels" ContentType="application/vnd.openxmlformats-package.relationships+xml"/>
  <Override PartName="/ppt/slides/_rels/slide131.xml.rels" ContentType="application/vnd.openxmlformats-package.relationships+xml"/>
  <Override PartName="/ppt/slides/_rels/slide53.xml.rels" ContentType="application/vnd.openxmlformats-package.relationships+xml"/>
  <Override PartName="/ppt/slides/_rels/slide168.xml.rels" ContentType="application/vnd.openxmlformats-package.relationships+xml"/>
  <Override PartName="/ppt/slides/_rels/slide169.xml.rels" ContentType="application/vnd.openxmlformats-package.relationships+xml"/>
  <Override PartName="/ppt/slides/_rels/slide178.xml.rels" ContentType="application/vnd.openxmlformats-package.relationships+xml"/>
  <Override PartName="/ppt/slides/_rels/slide7.xml.rels" ContentType="application/vnd.openxmlformats-package.relationships+xml"/>
  <Override PartName="/ppt/slides/_rels/slide163.xml.rels" ContentType="application/vnd.openxmlformats-package.relationships+xml"/>
  <Override PartName="/ppt/slides/_rels/slide85.xml.rels" ContentType="application/vnd.openxmlformats-package.relationships+xml"/>
  <Override PartName="/ppt/slides/_rels/slide17.xml.rels" ContentType="application/vnd.openxmlformats-package.relationships+xml"/>
  <Override PartName="/ppt/slides/_rels/slide130.xml.rels" ContentType="application/vnd.openxmlformats-package.relationships+xml"/>
  <Override PartName="/ppt/slides/_rels/slide52.xml.rels" ContentType="application/vnd.openxmlformats-package.relationships+xml"/>
  <Override PartName="/ppt/slides/_rels/slide17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59.xml.rels" ContentType="application/vnd.openxmlformats-package.relationships+xml"/>
  <Override PartName="/ppt/slides/_rels/slide158.xml.rels" ContentType="application/vnd.openxmlformats-package.relationships+xml"/>
  <Override PartName="/ppt/slides/_rels/slide189.xml.rels" ContentType="application/vnd.openxmlformats-package.relationships+xml"/>
  <Override PartName="/ppt/slides/_rels/slide188.xml.rels" ContentType="application/vnd.openxmlformats-package.relationships+xml"/>
  <Override PartName="/ppt/slides/_rels/slide149.xml.rels" ContentType="application/vnd.openxmlformats-package.relationships+xml"/>
  <Override PartName="/ppt/slides/_rels/slide51.xml.rels" ContentType="application/vnd.openxmlformats-package.relationships+xml"/>
  <Override PartName="/ppt/slides/slide127.xml" ContentType="application/vnd.openxmlformats-officedocument.presentationml.slide+xml"/>
  <Override PartName="/ppt/slides/slide195.xml" ContentType="application/vnd.openxmlformats-officedocument.presentationml.slide+xml"/>
  <Override PartName="/ppt/slides/slide126.xml" ContentType="application/vnd.openxmlformats-officedocument.presentationml.slide+xml"/>
  <Override PartName="/ppt/slides/slide194.xml" ContentType="application/vnd.openxmlformats-officedocument.presentationml.slide+xml"/>
  <Override PartName="/ppt/slides/slide119.xml" ContentType="application/vnd.openxmlformats-officedocument.presentationml.slide+xml"/>
  <Override PartName="/ppt/slides/slide187.xml" ContentType="application/vnd.openxmlformats-officedocument.presentationml.slide+xml"/>
  <Override PartName="/ppt/slides/slide118.xml" ContentType="application/vnd.openxmlformats-officedocument.presentationml.slide+xml"/>
  <Override PartName="/ppt/slides/slide186.xml" ContentType="application/vnd.openxmlformats-officedocument.presentationml.slide+xml"/>
  <Override PartName="/ppt/slides/slide117.xml" ContentType="application/vnd.openxmlformats-officedocument.presentationml.slide+xml"/>
  <Override PartName="/ppt/slides/slide185.xml" ContentType="application/vnd.openxmlformats-officedocument.presentationml.slide+xml"/>
  <Override PartName="/ppt/slides/slide116.xml" ContentType="application/vnd.openxmlformats-officedocument.presentationml.slide+xml"/>
  <Override PartName="/ppt/slides/slide184.xml" ContentType="application/vnd.openxmlformats-officedocument.presentationml.slide+xml"/>
  <Override PartName="/ppt/slides/slide109.xml" ContentType="application/vnd.openxmlformats-officedocument.presentationml.slide+xml"/>
  <Override PartName="/ppt/slides/slide177.xml" ContentType="application/vnd.openxmlformats-officedocument.presentationml.slide+xml"/>
  <Override PartName="/ppt/slides/slide108.xml" ContentType="application/vnd.openxmlformats-officedocument.presentationml.slide+xml"/>
  <Override PartName="/ppt/slides/slide176.xml" ContentType="application/vnd.openxmlformats-officedocument.presentationml.slide+xml"/>
  <Override PartName="/ppt/slides/slide107.xml" ContentType="application/vnd.openxmlformats-officedocument.presentationml.slide+xml"/>
  <Override PartName="/ppt/slides/slide175.xml" ContentType="application/vnd.openxmlformats-officedocument.presentationml.slide+xml"/>
  <Override PartName="/ppt/slides/slide106.xml" ContentType="application/vnd.openxmlformats-officedocument.presentationml.slide+xml"/>
  <Override PartName="/ppt/slides/slide174.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125.xml" ContentType="application/vnd.openxmlformats-officedocument.presentationml.slide+xml"/>
  <Override PartName="/ppt/slides/slide193.xml" ContentType="application/vnd.openxmlformats-officedocument.presentationml.slide+xml"/>
  <Override PartName="/ppt/slides/slide79.xml" ContentType="application/vnd.openxmlformats-officedocument.presentationml.slide+xml"/>
  <Override PartName="/ppt/slides/slide124.xml" ContentType="application/vnd.openxmlformats-officedocument.presentationml.slide+xml"/>
  <Override PartName="/ppt/slides/slide192.xml" ContentType="application/vnd.openxmlformats-officedocument.presentationml.slide+xml"/>
  <Override PartName="/ppt/slides/slide78.xml" ContentType="application/vnd.openxmlformats-officedocument.presentationml.slide+xml"/>
  <Override PartName="/ppt/slides/slide123.xml" ContentType="application/vnd.openxmlformats-officedocument.presentationml.slide+xml"/>
  <Override PartName="/ppt/slides/slide191.xml" ContentType="application/vnd.openxmlformats-officedocument.presentationml.slide+xml"/>
  <Override PartName="/ppt/slides/slide77.xml" ContentType="application/vnd.openxmlformats-officedocument.presentationml.slide+xml"/>
  <Override PartName="/ppt/slides/slide122.xml" ContentType="application/vnd.openxmlformats-officedocument.presentationml.slide+xml"/>
  <Override PartName="/ppt/slides/slide190.xml" ContentType="application/vnd.openxmlformats-officedocument.presentationml.slide+xml"/>
  <Override PartName="/ppt/slides/slide76.xml" ContentType="application/vnd.openxmlformats-officedocument.presentationml.slide+xml"/>
  <Override PartName="/ppt/slides/slide121.xml" ContentType="application/vnd.openxmlformats-officedocument.presentationml.slide+xml"/>
  <Override PartName="/ppt/slides/slide75.xml" ContentType="application/vnd.openxmlformats-officedocument.presentationml.slide+xml"/>
  <Override PartName="/ppt/slides/slide120.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115.xml" ContentType="application/vnd.openxmlformats-officedocument.presentationml.slide+xml"/>
  <Override PartName="/ppt/slides/slide183.xml" ContentType="application/vnd.openxmlformats-officedocument.presentationml.slide+xml"/>
  <Override PartName="/ppt/slides/slide69.xml" ContentType="application/vnd.openxmlformats-officedocument.presentationml.slide+xml"/>
  <Override PartName="/ppt/slides/slide114.xml" ContentType="application/vnd.openxmlformats-officedocument.presentationml.slide+xml"/>
  <Override PartName="/ppt/slides/slide182.xml" ContentType="application/vnd.openxmlformats-officedocument.presentationml.slide+xml"/>
  <Override PartName="/ppt/slides/slide68.xml" ContentType="application/vnd.openxmlformats-officedocument.presentationml.slide+xml"/>
  <Override PartName="/ppt/slides/slide113.xml" ContentType="application/vnd.openxmlformats-officedocument.presentationml.slide+xml"/>
  <Override PartName="/ppt/slides/slide181.xml" ContentType="application/vnd.openxmlformats-officedocument.presentationml.slide+xml"/>
  <Override PartName="/ppt/slides/slide67.xml" ContentType="application/vnd.openxmlformats-officedocument.presentationml.slide+xml"/>
  <Override PartName="/ppt/slides/slide112.xml" ContentType="application/vnd.openxmlformats-officedocument.presentationml.slide+xml"/>
  <Override PartName="/ppt/slides/slide180.xml" ContentType="application/vnd.openxmlformats-officedocument.presentationml.slide+xml"/>
  <Override PartName="/ppt/slides/slide66.xml" ContentType="application/vnd.openxmlformats-officedocument.presentationml.slide+xml"/>
  <Override PartName="/ppt/slides/slide111.xml" ContentType="application/vnd.openxmlformats-officedocument.presentationml.slide+xml"/>
  <Override PartName="/ppt/slides/slide65.xml" ContentType="application/vnd.openxmlformats-officedocument.presentationml.slide+xml"/>
  <Override PartName="/ppt/slides/slide110.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94.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97.xml" ContentType="application/vnd.openxmlformats-officedocument.presentationml.slide+xml"/>
  <Override PartName="/ppt/slides/slide59.xml" ContentType="application/vnd.openxmlformats-officedocument.presentationml.slide+xml"/>
  <Override PartName="/ppt/slides/slide54.xml" ContentType="application/vnd.openxmlformats-officedocument.presentationml.slide+xml"/>
  <Override PartName="/ppt/slides/slide100.xml" ContentType="application/vnd.openxmlformats-officedocument.presentationml.slide+xml"/>
  <Override PartName="/ppt/slides/slide128.xml" ContentType="application/vnd.openxmlformats-officedocument.presentationml.slide+xml"/>
  <Override PartName="/ppt/slides/slide196.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01.xml" ContentType="application/vnd.openxmlformats-officedocument.presentationml.slide+xml"/>
  <Override PartName="/ppt/slides/slide55.xml" ContentType="application/vnd.openxmlformats-officedocument.presentationml.slide+xml"/>
  <Override PartName="/ppt/slides/slide138.xml" ContentType="application/vnd.openxmlformats-officedocument.presentationml.slide+xml"/>
  <Override PartName="/ppt/slides/slide170.xml" ContentType="application/vnd.openxmlformats-officedocument.presentationml.slide+xml"/>
  <Override PartName="/ppt/slides/slide102.xml" ContentType="application/vnd.openxmlformats-officedocument.presentationml.slide+xml"/>
  <Override PartName="/ppt/slides/slide56.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3.xml" ContentType="application/vnd.openxmlformats-officedocument.presentationml.slide+xml"/>
  <Override PartName="/ppt/slides/slide2.xml" ContentType="application/vnd.openxmlformats-officedocument.presentationml.slide+xml"/>
  <Override PartName="/ppt/slides/slide144.xml" ContentType="application/vnd.openxmlformats-officedocument.presentationml.slide+xml"/>
  <Override PartName="/ppt/slides/slide3.xml" ContentType="application/vnd.openxmlformats-officedocument.presentationml.slide+xml"/>
  <Override PartName="/ppt/slides/slide98.xml" ContentType="application/vnd.openxmlformats-officedocument.presentationml.slide+xml"/>
  <Override PartName="/ppt/slides/slide145.xml" ContentType="application/vnd.openxmlformats-officedocument.presentationml.slide+xml"/>
  <Override PartName="/ppt/slides/slide4.xml" ContentType="application/vnd.openxmlformats-officedocument.presentationml.slide+xml"/>
  <Override PartName="/ppt/slides/slide99.xml" ContentType="application/vnd.openxmlformats-officedocument.presentationml.slide+xml"/>
  <Override PartName="/ppt/slides/slide146.xml" ContentType="application/vnd.openxmlformats-officedocument.presentationml.slide+xml"/>
  <Override PartName="/ppt/slides/slide5.xml" ContentType="application/vnd.openxmlformats-officedocument.presentationml.slide+xml"/>
  <Override PartName="/ppt/slides/slide147.xml" ContentType="application/vnd.openxmlformats-officedocument.presentationml.slide+xml"/>
  <Override PartName="/ppt/slides/slide6.xml" ContentType="application/vnd.openxmlformats-officedocument.presentationml.slide+xml"/>
  <Override PartName="/ppt/slides/slide148.xml" ContentType="application/vnd.openxmlformats-officedocument.presentationml.slide+xml"/>
  <Override PartName="/ppt/slides/slide7.xml" ContentType="application/vnd.openxmlformats-officedocument.presentationml.slide+xml"/>
  <Override PartName="/ppt/slides/slide131.xml" ContentType="application/vnd.openxmlformats-officedocument.presentationml.slide+xml"/>
  <Override PartName="/ppt/slides/slide168.xml" ContentType="application/vnd.openxmlformats-officedocument.presentationml.slide+xml"/>
  <Override PartName="/ppt/slides/slide11.xml" ContentType="application/vnd.openxmlformats-officedocument.presentationml.slide+xml"/>
  <Override PartName="/ppt/slides/slide132.xml" ContentType="application/vnd.openxmlformats-officedocument.presentationml.slide+xml"/>
  <Override PartName="/ppt/slides/slide169.xml" ContentType="application/vnd.openxmlformats-officedocument.presentationml.slide+xml"/>
  <Override PartName="/ppt/slides/slide166.xml" ContentType="application/vnd.openxmlformats-officedocument.presentationml.slide+xml"/>
  <Override PartName="/ppt/slides/slide141.xml" ContentType="application/vnd.openxmlformats-officedocument.presentationml.slide+xml"/>
  <Override PartName="/ppt/slides/slide178.xml" ContentType="application/vnd.openxmlformats-officedocument.presentationml.slide+xml"/>
  <Override PartName="/ppt/slides/slide21.xml" ContentType="application/vnd.openxmlformats-officedocument.presentationml.slide+xml"/>
  <Override PartName="/ppt/slides/slide130.xml" ContentType="application/vnd.openxmlformats-officedocument.presentationml.slide+xml"/>
  <Override PartName="/ppt/slides/slide167.xml" ContentType="application/vnd.openxmlformats-officedocument.presentationml.slide+xml"/>
  <Override PartName="/ppt/slides/slide10.xml" ContentType="application/vnd.openxmlformats-officedocument.presentationml.slide+xml"/>
  <Override PartName="/ppt/slides/slide142.xml" ContentType="application/vnd.openxmlformats-officedocument.presentationml.slide+xml"/>
  <Override PartName="/ppt/slides/slide1.xml" ContentType="application/vnd.openxmlformats-officedocument.presentationml.slide+xml"/>
  <Override PartName="/ppt/slides/slide179.xml" ContentType="application/vnd.openxmlformats-officedocument.presentationml.slide+xml"/>
  <Override PartName="/ppt/slides/slide165.xml" ContentType="application/vnd.openxmlformats-officedocument.presentationml.slide+xml"/>
  <Override PartName="/ppt/slides/slide164.xml" ContentType="application/vnd.openxmlformats-officedocument.presentationml.slide+xml"/>
  <Override PartName="/ppt/slides/slide154.xml" ContentType="application/vnd.openxmlformats-officedocument.presentationml.slide+xml"/>
  <Override PartName="/ppt/slides/slide163.xml" ContentType="application/vnd.openxmlformats-officedocument.presentationml.slide+xml"/>
  <Override PartName="/ppt/slides/slide153.xml" ContentType="application/vnd.openxmlformats-officedocument.presentationml.slide+xml"/>
  <Override PartName="/ppt/slides/slide201.xml" ContentType="application/vnd.openxmlformats-officedocument.presentationml.slide+xml"/>
  <Override PartName="/ppt/slides/slide199.xml" ContentType="application/vnd.openxmlformats-officedocument.presentationml.slide+xml"/>
  <Override PartName="/ppt/slides/slide42.xml" ContentType="application/vnd.openxmlformats-officedocument.presentationml.slide+xml"/>
  <Override PartName="/ppt/slides/slide162.xml" ContentType="application/vnd.openxmlformats-officedocument.presentationml.slide+xml"/>
  <Override PartName="/ppt/slides/slide200.xml" ContentType="application/vnd.openxmlformats-officedocument.presentationml.slide+xml"/>
  <Override PartName="/ppt/slides/slide198.xml" ContentType="application/vnd.openxmlformats-officedocument.presentationml.slide+xml"/>
  <Override PartName="/ppt/slides/slide41.xml" ContentType="application/vnd.openxmlformats-officedocument.presentationml.slide+xml"/>
  <Override PartName="/ppt/slides/slide161.xml" ContentType="application/vnd.openxmlformats-officedocument.presentationml.slide+xml"/>
  <Override PartName="/ppt/slides/slide159.xml" ContentType="application/vnd.openxmlformats-officedocument.presentationml.slide+xml"/>
  <Override PartName="/ppt/slides/slide129.xml" ContentType="application/vnd.openxmlformats-officedocument.presentationml.slide+xml"/>
  <Override PartName="/ppt/slides/slide197.xml" ContentType="application/vnd.openxmlformats-officedocument.presentationml.slide+xml"/>
  <Override PartName="/ppt/slides/slide40.xml" ContentType="application/vnd.openxmlformats-officedocument.presentationml.slide+xml"/>
  <Override PartName="/ppt/slides/slide160.xml" ContentType="application/vnd.openxmlformats-officedocument.presentationml.slide+xml"/>
  <Override PartName="/ppt/slides/slide49.xml" ContentType="application/vnd.openxmlformats-officedocument.presentationml.slide+xml"/>
  <Override PartName="/ppt/slides/slide158.xml" ContentType="application/vnd.openxmlformats-officedocument.presentationml.slide+xml"/>
  <Override PartName="/ppt/slides/slide157.xml" ContentType="application/vnd.openxmlformats-officedocument.presentationml.slide+xml"/>
  <Override PartName="/ppt/slides/slide156.xml" ContentType="application/vnd.openxmlformats-officedocument.presentationml.slide+xml"/>
  <Override PartName="/ppt/slides/slide155.xml" ContentType="application/vnd.openxmlformats-officedocument.presentationml.slide+xml"/>
  <Override PartName="/ppt/slides/slide189.xml" ContentType="application/vnd.openxmlformats-officedocument.presentationml.slide+xml"/>
  <Override PartName="/ppt/slides/slide32.xml" ContentType="application/vnd.openxmlformats-officedocument.presentationml.slide+xml"/>
  <Override PartName="/ppt/slides/slide152.xml" ContentType="application/vnd.openxmlformats-officedocument.presentationml.slide+xml"/>
  <Override PartName="/ppt/slides/slide188.xml" ContentType="application/vnd.openxmlformats-officedocument.presentationml.slide+xml"/>
  <Override PartName="/ppt/slides/slide31.xml" ContentType="application/vnd.openxmlformats-officedocument.presentationml.slide+xml"/>
  <Override PartName="/ppt/slides/slide151.xml" ContentType="application/vnd.openxmlformats-officedocument.presentationml.slide+xml"/>
  <Override PartName="/ppt/slides/slide149.xml" ContentType="application/vnd.openxmlformats-officedocument.presentationml.slide+xml"/>
  <Override PartName="/ppt/slides/slide8.xml" ContentType="application/vnd.openxmlformats-officedocument.presentationml.slide+xml"/>
  <Override PartName="/ppt/slides/slide150.xml" ContentType="application/vnd.openxmlformats-officedocument.presentationml.slide+xml"/>
  <Override PartName="/ppt/slides/slide39.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0.xml" ContentType="application/vnd.openxmlformats-officedocument.presentationml.slide+xml"/>
  <Override PartName="/ppt/slides/slide105.xml" ContentType="application/vnd.openxmlformats-officedocument.presentationml.slide+xml"/>
  <Override PartName="/ppt/slides/slide173.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172.xml" ContentType="application/vnd.openxmlformats-officedocument.presentationml.slide+xml"/>
  <Override PartName="/ppt/slides/slide57.xml" ContentType="application/vnd.openxmlformats-officedocument.presentationml.slide+xml"/>
  <Override PartName="/ppt/slides/slide103.xml" ContentType="application/vnd.openxmlformats-officedocument.presentationml.slide+xml"/>
  <Override PartName="/ppt/slides/slide171.xml" ContentType="application/vnd.openxmlformats-officedocument.presentationml.slide+xml"/>
  <Override PartName="/ppt/slides/slide20.xml" ContentType="application/vnd.openxmlformats-officedocument.presentationml.slide+xml"/>
  <Override PartName="/ppt/slides/slide48.xml" ContentType="application/vnd.openxmlformats-officedocument.presentationml.slide+xml"/>
  <Override PartName="/ppt/slides/slide9.xml" ContentType="application/vnd.openxmlformats-officedocument.presentationml.slide+xml"/>
  <Override PartName="/ppt/slides/slide47.xml" ContentType="application/vnd.openxmlformats-officedocument.presentationml.slide+xml"/>
  <Override PartName="/ppt/slides/slide84.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13.xml" ContentType="application/vnd.openxmlformats-officedocument.presentationml.slide+xml"/>
  <Override PartName="/ppt/slides/slide46.xml" ContentType="application/vnd.openxmlformats-officedocument.presentationml.slide+xml"/>
  <Override PartName="/ppt/slides/slide83.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93.xml" ContentType="application/vnd.openxmlformats-officedocument.presentationml.slide+xml"/>
  <Override PartName="/ppt/notesSlides/_rels/notesSlide193.xml.rels" ContentType="application/vnd.openxmlformats-package.relationships+xml"/>
  <Override PartName="/ppt/notesSlides/_rels/notesSlide188.xml.rels" ContentType="application/vnd.openxmlformats-package.relationships+xml"/>
  <Override PartName="/ppt/notesSlides/_rels/notesSlide76.xml.rels" ContentType="application/vnd.openxmlformats-package.relationships+xml"/>
  <Override PartName="/ppt/notesSlides/_rels/notesSlide144.xml.rels" ContentType="application/vnd.openxmlformats-package.relationships+xml"/>
  <Override PartName="/ppt/notesSlides/_rels/notesSlide190.xml.rels" ContentType="application/vnd.openxmlformats-package.relationships+xml"/>
  <Override PartName="/ppt/notesSlides/_rels/notesSlide179.xml.rels" ContentType="application/vnd.openxmlformats-package.relationships+xml"/>
  <Override PartName="/ppt/notesSlides/_rels/notesSlide143.xml.rels" ContentType="application/vnd.openxmlformats-package.relationships+xml"/>
  <Override PartName="/ppt/notesSlides/_rels/notesSlide166.xml.rels" ContentType="application/vnd.openxmlformats-package.relationships+xml"/>
  <Override PartName="/ppt/notesSlides/_rels/notesSlide154.xml.rels" ContentType="application/vnd.openxmlformats-package.relationships+xml"/>
  <Override PartName="/ppt/notesSlides/_rels/notesSlide142.xml.rels" ContentType="application/vnd.openxmlformats-package.relationships+xml"/>
  <Override PartName="/ppt/notesSlides/_rels/notesSlide141.xml.rels" ContentType="application/vnd.openxmlformats-package.relationships+xml"/>
  <Override PartName="/ppt/notesSlides/_rels/notesSlide136.xml.rels" ContentType="application/vnd.openxmlformats-package.relationships+xml"/>
  <Override PartName="/ppt/notesSlides/_rels/notesSlide115.xml.rels" ContentType="application/vnd.openxmlformats-package.relationships+xml"/>
  <Override PartName="/ppt/notesSlides/notesSlide193.xml" ContentType="application/vnd.openxmlformats-officedocument.presentationml.notesSlide+xml"/>
  <Override PartName="/ppt/notesSlides/notesSlide188.xml" ContentType="application/vnd.openxmlformats-officedocument.presentationml.notesSlide+xml"/>
  <Override PartName="/ppt/notesSlides/notesSlide190.xml" ContentType="application/vnd.openxmlformats-officedocument.presentationml.notesSlide+xml"/>
  <Override PartName="/ppt/notesSlides/notesSlide144.xml" ContentType="application/vnd.openxmlformats-officedocument.presentationml.notesSlide+xml"/>
  <Override PartName="/ppt/notesSlides/notesSlide179.xml" ContentType="application/vnd.openxmlformats-officedocument.presentationml.notesSlide+xml"/>
  <Override PartName="/ppt/notesSlides/notesSlide143.xml" ContentType="application/vnd.openxmlformats-officedocument.presentationml.notesSlide+xml"/>
  <Override PartName="/ppt/notesSlides/notesSlide166.xml" ContentType="application/vnd.openxmlformats-officedocument.presentationml.notesSlide+xml"/>
  <Override PartName="/ppt/notesSlides/notesSlide154.xml" ContentType="application/vnd.openxmlformats-officedocument.presentationml.notesSlide+xml"/>
  <Override PartName="/ppt/notesSlides/notesSlide142.xml" ContentType="application/vnd.openxmlformats-officedocument.presentationml.notesSlide+xml"/>
  <Override PartName="/ppt/notesSlides/notesSlide141.xml" ContentType="application/vnd.openxmlformats-officedocument.presentationml.notesSlide+xml"/>
  <Override PartName="/ppt/notesSlides/notesSlide136.xml" ContentType="application/vnd.openxmlformats-officedocument.presentationml.notesSlide+xml"/>
  <Override PartName="/ppt/notesSlides/notesSlide115.xml" ContentType="application/vnd.openxmlformats-officedocument.presentationml.notesSlide+xml"/>
  <Override PartName="/ppt/notesSlides/notesSlide76.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slide" Target="slides/slide136.xml"/><Relationship Id="rId140" Type="http://schemas.openxmlformats.org/officeDocument/2006/relationships/slide" Target="slides/slide137.xml"/><Relationship Id="rId141" Type="http://schemas.openxmlformats.org/officeDocument/2006/relationships/slide" Target="slides/slide138.xml"/><Relationship Id="rId142" Type="http://schemas.openxmlformats.org/officeDocument/2006/relationships/slide" Target="slides/slide139.xml"/><Relationship Id="rId143" Type="http://schemas.openxmlformats.org/officeDocument/2006/relationships/slide" Target="slides/slide140.xml"/><Relationship Id="rId144" Type="http://schemas.openxmlformats.org/officeDocument/2006/relationships/slide" Target="slides/slide141.xml"/><Relationship Id="rId145" Type="http://schemas.openxmlformats.org/officeDocument/2006/relationships/slide" Target="slides/slide142.xml"/><Relationship Id="rId146" Type="http://schemas.openxmlformats.org/officeDocument/2006/relationships/slide" Target="slides/slide143.xml"/><Relationship Id="rId147" Type="http://schemas.openxmlformats.org/officeDocument/2006/relationships/slide" Target="slides/slide144.xml"/><Relationship Id="rId148" Type="http://schemas.openxmlformats.org/officeDocument/2006/relationships/slide" Target="slides/slide145.xml"/><Relationship Id="rId149" Type="http://schemas.openxmlformats.org/officeDocument/2006/relationships/slide" Target="slides/slide146.xml"/><Relationship Id="rId150" Type="http://schemas.openxmlformats.org/officeDocument/2006/relationships/slide" Target="slides/slide147.xml"/><Relationship Id="rId151" Type="http://schemas.openxmlformats.org/officeDocument/2006/relationships/slide" Target="slides/slide148.xml"/><Relationship Id="rId152" Type="http://schemas.openxmlformats.org/officeDocument/2006/relationships/slide" Target="slides/slide149.xml"/><Relationship Id="rId153" Type="http://schemas.openxmlformats.org/officeDocument/2006/relationships/slide" Target="slides/slide150.xml"/><Relationship Id="rId154" Type="http://schemas.openxmlformats.org/officeDocument/2006/relationships/slide" Target="slides/slide151.xml"/><Relationship Id="rId155" Type="http://schemas.openxmlformats.org/officeDocument/2006/relationships/slide" Target="slides/slide152.xml"/><Relationship Id="rId156" Type="http://schemas.openxmlformats.org/officeDocument/2006/relationships/slide" Target="slides/slide153.xml"/><Relationship Id="rId157" Type="http://schemas.openxmlformats.org/officeDocument/2006/relationships/slide" Target="slides/slide154.xml"/><Relationship Id="rId158" Type="http://schemas.openxmlformats.org/officeDocument/2006/relationships/slide" Target="slides/slide155.xml"/><Relationship Id="rId159" Type="http://schemas.openxmlformats.org/officeDocument/2006/relationships/slide" Target="slides/slide156.xml"/><Relationship Id="rId160" Type="http://schemas.openxmlformats.org/officeDocument/2006/relationships/slide" Target="slides/slide157.xml"/><Relationship Id="rId161" Type="http://schemas.openxmlformats.org/officeDocument/2006/relationships/slide" Target="slides/slide158.xml"/><Relationship Id="rId162" Type="http://schemas.openxmlformats.org/officeDocument/2006/relationships/slide" Target="slides/slide159.xml"/><Relationship Id="rId163" Type="http://schemas.openxmlformats.org/officeDocument/2006/relationships/slide" Target="slides/slide160.xml"/><Relationship Id="rId164" Type="http://schemas.openxmlformats.org/officeDocument/2006/relationships/slide" Target="slides/slide161.xml"/><Relationship Id="rId165" Type="http://schemas.openxmlformats.org/officeDocument/2006/relationships/slide" Target="slides/slide162.xml"/><Relationship Id="rId166" Type="http://schemas.openxmlformats.org/officeDocument/2006/relationships/slide" Target="slides/slide163.xml"/><Relationship Id="rId167" Type="http://schemas.openxmlformats.org/officeDocument/2006/relationships/slide" Target="slides/slide164.xml"/><Relationship Id="rId168" Type="http://schemas.openxmlformats.org/officeDocument/2006/relationships/slide" Target="slides/slide165.xml"/><Relationship Id="rId169" Type="http://schemas.openxmlformats.org/officeDocument/2006/relationships/slide" Target="slides/slide166.xml"/><Relationship Id="rId170" Type="http://schemas.openxmlformats.org/officeDocument/2006/relationships/slide" Target="slides/slide167.xml"/><Relationship Id="rId171" Type="http://schemas.openxmlformats.org/officeDocument/2006/relationships/slide" Target="slides/slide168.xml"/><Relationship Id="rId172" Type="http://schemas.openxmlformats.org/officeDocument/2006/relationships/slide" Target="slides/slide169.xml"/><Relationship Id="rId173" Type="http://schemas.openxmlformats.org/officeDocument/2006/relationships/slide" Target="slides/slide170.xml"/><Relationship Id="rId174" Type="http://schemas.openxmlformats.org/officeDocument/2006/relationships/slide" Target="slides/slide171.xml"/><Relationship Id="rId175" Type="http://schemas.openxmlformats.org/officeDocument/2006/relationships/slide" Target="slides/slide172.xml"/><Relationship Id="rId176" Type="http://schemas.openxmlformats.org/officeDocument/2006/relationships/slide" Target="slides/slide173.xml"/><Relationship Id="rId177" Type="http://schemas.openxmlformats.org/officeDocument/2006/relationships/slide" Target="slides/slide174.xml"/><Relationship Id="rId178" Type="http://schemas.openxmlformats.org/officeDocument/2006/relationships/slide" Target="slides/slide175.xml"/><Relationship Id="rId179" Type="http://schemas.openxmlformats.org/officeDocument/2006/relationships/slide" Target="slides/slide176.xml"/><Relationship Id="rId180" Type="http://schemas.openxmlformats.org/officeDocument/2006/relationships/slide" Target="slides/slide177.xml"/><Relationship Id="rId181" Type="http://schemas.openxmlformats.org/officeDocument/2006/relationships/slide" Target="slides/slide178.xml"/><Relationship Id="rId182" Type="http://schemas.openxmlformats.org/officeDocument/2006/relationships/slide" Target="slides/slide179.xml"/><Relationship Id="rId183" Type="http://schemas.openxmlformats.org/officeDocument/2006/relationships/slide" Target="slides/slide180.xml"/><Relationship Id="rId184" Type="http://schemas.openxmlformats.org/officeDocument/2006/relationships/slide" Target="slides/slide181.xml"/><Relationship Id="rId185" Type="http://schemas.openxmlformats.org/officeDocument/2006/relationships/slide" Target="slides/slide182.xml"/><Relationship Id="rId186" Type="http://schemas.openxmlformats.org/officeDocument/2006/relationships/slide" Target="slides/slide183.xml"/><Relationship Id="rId187" Type="http://schemas.openxmlformats.org/officeDocument/2006/relationships/slide" Target="slides/slide184.xml"/><Relationship Id="rId188" Type="http://schemas.openxmlformats.org/officeDocument/2006/relationships/slide" Target="slides/slide185.xml"/><Relationship Id="rId189" Type="http://schemas.openxmlformats.org/officeDocument/2006/relationships/slide" Target="slides/slide186.xml"/><Relationship Id="rId190" Type="http://schemas.openxmlformats.org/officeDocument/2006/relationships/slide" Target="slides/slide187.xml"/><Relationship Id="rId191" Type="http://schemas.openxmlformats.org/officeDocument/2006/relationships/slide" Target="slides/slide188.xml"/><Relationship Id="rId192" Type="http://schemas.openxmlformats.org/officeDocument/2006/relationships/slide" Target="slides/slide189.xml"/><Relationship Id="rId193" Type="http://schemas.openxmlformats.org/officeDocument/2006/relationships/slide" Target="slides/slide190.xml"/><Relationship Id="rId194" Type="http://schemas.openxmlformats.org/officeDocument/2006/relationships/slide" Target="slides/slide191.xml"/><Relationship Id="rId195" Type="http://schemas.openxmlformats.org/officeDocument/2006/relationships/slide" Target="slides/slide192.xml"/><Relationship Id="rId196" Type="http://schemas.openxmlformats.org/officeDocument/2006/relationships/slide" Target="slides/slide193.xml"/><Relationship Id="rId197" Type="http://schemas.openxmlformats.org/officeDocument/2006/relationships/slide" Target="slides/slide194.xml"/><Relationship Id="rId198" Type="http://schemas.openxmlformats.org/officeDocument/2006/relationships/slide" Target="slides/slide195.xml"/><Relationship Id="rId199" Type="http://schemas.openxmlformats.org/officeDocument/2006/relationships/slide" Target="slides/slide196.xml"/><Relationship Id="rId200" Type="http://schemas.openxmlformats.org/officeDocument/2006/relationships/slide" Target="slides/slide197.xml"/><Relationship Id="rId201" Type="http://schemas.openxmlformats.org/officeDocument/2006/relationships/slide" Target="slides/slide198.xml"/><Relationship Id="rId202" Type="http://schemas.openxmlformats.org/officeDocument/2006/relationships/slide" Target="slides/slide199.xml"/><Relationship Id="rId203" Type="http://schemas.openxmlformats.org/officeDocument/2006/relationships/slide" Target="slides/slide200.xml"/><Relationship Id="rId204" Type="http://schemas.openxmlformats.org/officeDocument/2006/relationships/slide" Target="slides/slide201.xml"/><Relationship Id="rId20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2400" strike="noStrike" u="none">
              <a:solidFill>
                <a:srgbClr val="ffff00"/>
              </a:solidFill>
              <a:effectLst/>
              <a:uFillTx/>
              <a:latin typeface="Times New Roman"/>
            </a:endParaRPr>
          </a:p>
        </p:txBody>
      </p:sp>
      <p:sp>
        <p:nvSpPr>
          <p:cNvPr id="6"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 name="PlaceHolder 2"/>
          <p:cNvSpPr>
            <a:spLocks noGrp="1"/>
          </p:cNvSpPr>
          <p:nvPr>
            <p:ph type="dt" idx="4"/>
          </p:nvPr>
        </p:nvSpPr>
        <p:spPr>
          <a:xfrm>
            <a:off x="388584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8"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Click to move the slide</a:t>
            </a:r>
            <a:endParaRPr b="0" lang="en-US" sz="4400" strike="noStrike" u="none">
              <a:solidFill>
                <a:srgbClr val="ffffff"/>
              </a:solidFill>
              <a:effectLst/>
              <a:uFillTx/>
              <a:latin typeface="Times New Roman"/>
            </a:endParaRPr>
          </a:p>
        </p:txBody>
      </p:sp>
      <p:sp>
        <p:nvSpPr>
          <p:cNvPr id="9" name="PlaceHolder 4"/>
          <p:cNvSpPr>
            <a:spLocks noGrp="1"/>
          </p:cNvSpPr>
          <p:nvPr>
            <p:ph type="body"/>
          </p:nvPr>
        </p:nvSpPr>
        <p:spPr>
          <a:xfrm>
            <a:off x="914400" y="4343400"/>
            <a:ext cx="50292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Times New Roman"/>
              </a:rPr>
              <a:t>Click to edit the notes format</a:t>
            </a:r>
            <a:endParaRPr b="0" lang="en-US" sz="1200" strike="noStrike" u="none">
              <a:solidFill>
                <a:srgbClr val="000000"/>
              </a:solidFill>
              <a:effectLst/>
              <a:uFillTx/>
              <a:latin typeface="Times New Roman"/>
            </a:endParaRPr>
          </a:p>
        </p:txBody>
      </p:sp>
      <p:sp>
        <p:nvSpPr>
          <p:cNvPr id="10" name="PlaceHolder 5"/>
          <p:cNvSpPr>
            <a:spLocks noGrp="1"/>
          </p:cNvSpPr>
          <p:nvPr>
            <p:ph type="ftr" idx="5"/>
          </p:nvPr>
        </p:nvSpPr>
        <p:spPr>
          <a:xfrm>
            <a:off x="-360" y="8686800"/>
            <a:ext cx="2971800" cy="4572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1" name="PlaceHolder 6"/>
          <p:cNvSpPr>
            <a:spLocks noGrp="1"/>
          </p:cNvSpPr>
          <p:nvPr>
            <p:ph type="sldNum" idx="6"/>
          </p:nvPr>
        </p:nvSpPr>
        <p:spPr>
          <a:xfrm>
            <a:off x="3885840" y="8686800"/>
            <a:ext cx="2971800" cy="45720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0000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0483D06-CC4C-4E17-987D-1E26C9AC83DD}" type="slidenum">
              <a:rPr b="0" lang="fr-FR"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3.xml.rels><?xml version="1.0" encoding="UTF-8"?>
<Relationships xmlns="http://schemas.openxmlformats.org/package/2006/relationships"><Relationship Id="rId1" Type="http://schemas.openxmlformats.org/officeDocument/2006/relationships/slide" Target="../slides/slide193.xml"/><Relationship Id="rId2" Type="http://schemas.openxmlformats.org/officeDocument/2006/relationships/notesMaster" Target="../notesMasters/notesMaster1.xml"/>
</Relationship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8" name="PlaceHolder 1"/>
          <p:cNvSpPr>
            <a:spLocks noGrp="1"/>
          </p:cNvSpPr>
          <p:nvPr>
            <p:ph type="sldImg"/>
          </p:nvPr>
        </p:nvSpPr>
        <p:spPr>
          <a:xfrm>
            <a:off x="1143000" y="685800"/>
            <a:ext cx="4572000" cy="3429000"/>
          </a:xfrm>
          <a:prstGeom prst="rect">
            <a:avLst/>
          </a:prstGeom>
          <a:ln w="0">
            <a:noFill/>
          </a:ln>
        </p:spPr>
      </p:sp>
      <p:sp>
        <p:nvSpPr>
          <p:cNvPr id="3209"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3210" name="Espace réservé du numéro de diapositive 3"/>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46D8D8A-7981-4AD7-870C-3B0BB70DCEF2}"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1"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05245F-8794-4A83-9ED9-F18F49E3F9C6}"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12" name="PlaceHolder 1"/>
          <p:cNvSpPr>
            <a:spLocks noGrp="1"/>
          </p:cNvSpPr>
          <p:nvPr>
            <p:ph type="body"/>
          </p:nvPr>
        </p:nvSpPr>
        <p:spPr>
          <a:xfrm>
            <a:off x="914400" y="4356000"/>
            <a:ext cx="5029200" cy="4135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
        <p:nvSpPr>
          <p:cNvPr id="3213" name="PlaceHolder 2"/>
          <p:cNvSpPr>
            <a:spLocks noGrp="1"/>
          </p:cNvSpPr>
          <p:nvPr>
            <p:ph type="sldImg"/>
          </p:nvPr>
        </p:nvSpPr>
        <p:spPr>
          <a:xfrm>
            <a:off x="1298520" y="798480"/>
            <a:ext cx="4260960" cy="3195720"/>
          </a:xfrm>
          <a:prstGeom prst="rect">
            <a:avLst/>
          </a:prstGeom>
          <a:ln w="0">
            <a:noFill/>
          </a:ln>
        </p:spPr>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4"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876E604-250A-4666-BE23-119AB32E5717}"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15" name="PlaceHolder 1"/>
          <p:cNvSpPr>
            <a:spLocks noGrp="1"/>
          </p:cNvSpPr>
          <p:nvPr>
            <p:ph type="sldImg"/>
          </p:nvPr>
        </p:nvSpPr>
        <p:spPr>
          <a:xfrm>
            <a:off x="1144440" y="687240"/>
            <a:ext cx="4569120" cy="3426120"/>
          </a:xfrm>
          <a:prstGeom prst="rect">
            <a:avLst/>
          </a:prstGeom>
          <a:ln w="0">
            <a:noFill/>
          </a:ln>
        </p:spPr>
      </p:sp>
      <p:sp>
        <p:nvSpPr>
          <p:cNvPr id="3216"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7"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A18BB6-10D5-47C2-BF89-B93A36527555}"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18" name="PlaceHolder 1"/>
          <p:cNvSpPr>
            <a:spLocks noGrp="1"/>
          </p:cNvSpPr>
          <p:nvPr>
            <p:ph type="sldImg"/>
          </p:nvPr>
        </p:nvSpPr>
        <p:spPr>
          <a:xfrm>
            <a:off x="1144440" y="687240"/>
            <a:ext cx="4569120" cy="3426120"/>
          </a:xfrm>
          <a:prstGeom prst="rect">
            <a:avLst/>
          </a:prstGeom>
          <a:ln w="0">
            <a:noFill/>
          </a:ln>
        </p:spPr>
      </p:sp>
      <p:sp>
        <p:nvSpPr>
          <p:cNvPr id="3219"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0"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51FD08D-4E8D-43CE-A71C-B63D78B61CCA}"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21" name="PlaceHolder 1"/>
          <p:cNvSpPr>
            <a:spLocks noGrp="1"/>
          </p:cNvSpPr>
          <p:nvPr>
            <p:ph type="sldImg"/>
          </p:nvPr>
        </p:nvSpPr>
        <p:spPr>
          <a:xfrm>
            <a:off x="1144440" y="687240"/>
            <a:ext cx="4569120" cy="3426120"/>
          </a:xfrm>
          <a:prstGeom prst="rect">
            <a:avLst/>
          </a:prstGeom>
          <a:ln w="0">
            <a:noFill/>
          </a:ln>
        </p:spPr>
      </p:sp>
      <p:sp>
        <p:nvSpPr>
          <p:cNvPr id="3222"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3"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A7940A-EC45-4D51-9BFA-7608D6180820}"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24" name="PlaceHolder 1"/>
          <p:cNvSpPr>
            <a:spLocks noGrp="1"/>
          </p:cNvSpPr>
          <p:nvPr>
            <p:ph type="sldImg"/>
          </p:nvPr>
        </p:nvSpPr>
        <p:spPr>
          <a:xfrm>
            <a:off x="1144440" y="687240"/>
            <a:ext cx="4569120" cy="3426120"/>
          </a:xfrm>
          <a:prstGeom prst="rect">
            <a:avLst/>
          </a:prstGeom>
          <a:ln w="0">
            <a:noFill/>
          </a:ln>
        </p:spPr>
      </p:sp>
      <p:sp>
        <p:nvSpPr>
          <p:cNvPr id="3225"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6"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5F7D13C-A66D-4440-9E0D-3459CD498917}"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27" name="PlaceHolder 1"/>
          <p:cNvSpPr>
            <a:spLocks noGrp="1"/>
          </p:cNvSpPr>
          <p:nvPr>
            <p:ph type="sldImg"/>
          </p:nvPr>
        </p:nvSpPr>
        <p:spPr>
          <a:xfrm>
            <a:off x="1144440" y="687240"/>
            <a:ext cx="4569120" cy="3426120"/>
          </a:xfrm>
          <a:prstGeom prst="rect">
            <a:avLst/>
          </a:prstGeom>
          <a:ln w="0">
            <a:noFill/>
          </a:ln>
        </p:spPr>
      </p:sp>
      <p:sp>
        <p:nvSpPr>
          <p:cNvPr id="3228"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9"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21542C-8A70-462D-8909-3FCA77435154}"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30" name="PlaceHolder 1"/>
          <p:cNvSpPr>
            <a:spLocks noGrp="1"/>
          </p:cNvSpPr>
          <p:nvPr>
            <p:ph type="sldImg"/>
          </p:nvPr>
        </p:nvSpPr>
        <p:spPr>
          <a:xfrm>
            <a:off x="1143000" y="685800"/>
            <a:ext cx="4572000" cy="3429000"/>
          </a:xfrm>
          <a:prstGeom prst="rect">
            <a:avLst/>
          </a:prstGeom>
          <a:ln w="0">
            <a:noFill/>
          </a:ln>
        </p:spPr>
      </p:sp>
      <p:sp>
        <p:nvSpPr>
          <p:cNvPr id="3231"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2"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D45BCF-F481-456E-AB10-A602C92744DC}"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33" name="PlaceHolder 1"/>
          <p:cNvSpPr>
            <a:spLocks noGrp="1"/>
          </p:cNvSpPr>
          <p:nvPr>
            <p:ph type="sldImg"/>
          </p:nvPr>
        </p:nvSpPr>
        <p:spPr>
          <a:xfrm>
            <a:off x="1143000" y="685800"/>
            <a:ext cx="4572000" cy="3429000"/>
          </a:xfrm>
          <a:prstGeom prst="rect">
            <a:avLst/>
          </a:prstGeom>
          <a:ln w="0">
            <a:noFill/>
          </a:ln>
        </p:spPr>
      </p:sp>
      <p:sp>
        <p:nvSpPr>
          <p:cNvPr id="3234"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5"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4626D5-5F0E-4485-B928-96A4DBB123AA}"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36" name="PlaceHolder 1"/>
          <p:cNvSpPr>
            <a:spLocks noGrp="1"/>
          </p:cNvSpPr>
          <p:nvPr>
            <p:ph type="sldImg"/>
          </p:nvPr>
        </p:nvSpPr>
        <p:spPr>
          <a:xfrm>
            <a:off x="1143000" y="685800"/>
            <a:ext cx="4572000" cy="3429000"/>
          </a:xfrm>
          <a:prstGeom prst="rect">
            <a:avLst/>
          </a:prstGeom>
          <a:ln w="0">
            <a:noFill/>
          </a:ln>
        </p:spPr>
      </p:sp>
      <p:sp>
        <p:nvSpPr>
          <p:cNvPr id="3237"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8"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CE42370-CBAF-4F29-A5CB-D8F99F64F8FA}"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39" name="PlaceHolder 1"/>
          <p:cNvSpPr>
            <a:spLocks noGrp="1"/>
          </p:cNvSpPr>
          <p:nvPr>
            <p:ph type="sldImg"/>
          </p:nvPr>
        </p:nvSpPr>
        <p:spPr>
          <a:xfrm>
            <a:off x="1143000" y="685800"/>
            <a:ext cx="4572000" cy="3429000"/>
          </a:xfrm>
          <a:prstGeom prst="rect">
            <a:avLst/>
          </a:prstGeom>
          <a:ln w="0">
            <a:noFill/>
          </a:ln>
        </p:spPr>
      </p:sp>
      <p:sp>
        <p:nvSpPr>
          <p:cNvPr id="3240"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1"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263E9E-CFB4-4D57-8416-5B399F7E9BC3}"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Tree>
  </p:cSld>
</p:notes>
</file>

<file path=ppt/notesSlides/notesSlide1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2" name="Rectangle 7"/>
          <p:cNvSpPr/>
          <p:nvPr/>
        </p:nvSpPr>
        <p:spPr>
          <a:xfrm>
            <a:off x="3886200" y="868680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87622D-7893-469C-820E-20561D12AA2F}" type="slidenum">
              <a:rPr b="0" lang="fr-FR" sz="1200" strike="noStrike" u="none">
                <a:solidFill>
                  <a:srgbClr val="ffff00"/>
                </a:solidFill>
                <a:effectLst/>
                <a:uFillTx/>
                <a:latin typeface="Times New Roman"/>
              </a:rPr>
              <a:t>&lt;number&gt;</a:t>
            </a:fld>
            <a:endParaRPr b="0" lang="en-US" sz="1200" strike="noStrike" u="none">
              <a:solidFill>
                <a:srgbClr val="ffff00"/>
              </a:solidFill>
              <a:effectLst/>
              <a:uFillTx/>
              <a:latin typeface="Times New Roman"/>
            </a:endParaRPr>
          </a:p>
        </p:txBody>
      </p:sp>
      <p:sp>
        <p:nvSpPr>
          <p:cNvPr id="3243" name="PlaceHolder 1"/>
          <p:cNvSpPr>
            <a:spLocks noGrp="1"/>
          </p:cNvSpPr>
          <p:nvPr>
            <p:ph type="sldImg"/>
          </p:nvPr>
        </p:nvSpPr>
        <p:spPr>
          <a:xfrm>
            <a:off x="1144440" y="687240"/>
            <a:ext cx="4569120" cy="3426120"/>
          </a:xfrm>
          <a:prstGeom prst="rect">
            <a:avLst/>
          </a:prstGeom>
          <a:ln w="0">
            <a:noFill/>
          </a:ln>
        </p:spPr>
      </p:sp>
      <p:sp>
        <p:nvSpPr>
          <p:cNvPr id="3244" name="PlaceHolder 2"/>
          <p:cNvSpPr>
            <a:spLocks noGrp="1"/>
          </p:cNvSpPr>
          <p:nvPr>
            <p:ph type="body"/>
          </p:nvPr>
        </p:nvSpPr>
        <p:spPr>
          <a:xfrm>
            <a:off x="914400" y="4343400"/>
            <a:ext cx="50292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AA352E4-BD6C-4FF6-8998-7366BA2D97DA}"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333cc"/>
            </a:gs>
            <a:gs pos="100000">
              <a:srgbClr val="090925"/>
            </a:gs>
          </a:gsLst>
          <a:path path="rect">
            <a:fillToRect l="50000" t="50000" r="50000" b="50000"/>
          </a:path>
        </a:gra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60912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imes New Roman"/>
              </a:rPr>
              <a:t>Click to edit the title text format</a:t>
            </a:r>
            <a:endParaRPr b="0" lang="en-US" sz="4400" strike="noStrike" u="none">
              <a:solidFill>
                <a:srgbClr val="ffffff"/>
              </a:solidFill>
              <a:effectLst/>
              <a:uFillTx/>
              <a:latin typeface="Times New Roman"/>
            </a:endParaRPr>
          </a:p>
        </p:txBody>
      </p:sp>
      <p:sp>
        <p:nvSpPr>
          <p:cNvPr id="1" name="PlaceHolder 2"/>
          <p:cNvSpPr>
            <a:spLocks noGrp="1"/>
          </p:cNvSpPr>
          <p:nvPr>
            <p:ph type="body"/>
          </p:nvPr>
        </p:nvSpPr>
        <p:spPr>
          <a:xfrm>
            <a:off x="685800" y="1981080"/>
            <a:ext cx="7772400" cy="4114800"/>
          </a:xfrm>
          <a:prstGeom prst="rect">
            <a:avLst/>
          </a:prstGeom>
          <a:noFill/>
          <a:ln w="0">
            <a:noFill/>
          </a:ln>
        </p:spPr>
        <p:txBody>
          <a:bodyPr lIns="90000" rIns="90000" tIns="46800" bIns="46800" anchor="t">
            <a:normAutofit lnSpcReduction="9999"/>
          </a:bodyPr>
          <a:p>
            <a:pPr marL="343080" indent="-34308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Click to edit the outline text format</a:t>
            </a:r>
            <a:endParaRPr b="0" lang="en-US" sz="3200" strike="noStrike" u="none">
              <a:solidFill>
                <a:srgbClr val="ffff00"/>
              </a:solidFill>
              <a:effectLst/>
              <a:uFillTx/>
              <a:latin typeface="Times New Roman"/>
            </a:endParaRPr>
          </a:p>
          <a:p>
            <a:pPr lvl="1" marL="743040" indent="-28584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Second Outline Level</a:t>
            </a:r>
            <a:endParaRPr b="0" lang="en-US" sz="3200" strike="noStrike" u="none">
              <a:solidFill>
                <a:srgbClr val="ffff00"/>
              </a:solidFill>
              <a:effectLst/>
              <a:uFillTx/>
              <a:latin typeface="Times New Roman"/>
            </a:endParaRPr>
          </a:p>
          <a:p>
            <a:pPr lvl="2" marL="11430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Third Outline Level</a:t>
            </a:r>
            <a:endParaRPr b="0" lang="en-US" sz="3200" strike="noStrike" u="none">
              <a:solidFill>
                <a:srgbClr val="ffff00"/>
              </a:solidFill>
              <a:effectLst/>
              <a:uFillTx/>
              <a:latin typeface="Times New Roman"/>
            </a:endParaRPr>
          </a:p>
          <a:p>
            <a:pPr lvl="3" marL="16002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Fourth Outline Level</a:t>
            </a:r>
            <a:endParaRPr b="0" lang="en-US" sz="3200" strike="noStrike" u="none">
              <a:solidFill>
                <a:srgbClr val="ffff00"/>
              </a:solidFill>
              <a:effectLst/>
              <a:uFillTx/>
              <a:latin typeface="Times New Roman"/>
            </a:endParaRPr>
          </a:p>
          <a:p>
            <a:pPr lvl="4"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Fifth Outline Level</a:t>
            </a:r>
            <a:endParaRPr b="0" lang="en-US" sz="3200" strike="noStrike" u="none">
              <a:solidFill>
                <a:srgbClr val="ffff00"/>
              </a:solidFill>
              <a:effectLst/>
              <a:uFillTx/>
              <a:latin typeface="Times New Roman"/>
            </a:endParaRPr>
          </a:p>
          <a:p>
            <a:pPr lvl="5"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Sixth Outline Level</a:t>
            </a:r>
            <a:endParaRPr b="0" lang="en-US" sz="3200" strike="noStrike" u="none">
              <a:solidFill>
                <a:srgbClr val="ffff00"/>
              </a:solidFill>
              <a:effectLst/>
              <a:uFillTx/>
              <a:latin typeface="Times New Roman"/>
            </a:endParaRPr>
          </a:p>
          <a:p>
            <a:pPr lvl="6" marL="2057400" indent="-228600">
              <a:spcBef>
                <a:spcPts val="799"/>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00"/>
                </a:solidFill>
                <a:effectLst/>
                <a:uFillTx/>
                <a:latin typeface="Times New Roman"/>
              </a:rPr>
              <a:t>Seventh Outline Level</a:t>
            </a:r>
            <a:endParaRPr b="0" lang="en-US" sz="3200" strike="noStrike" u="none">
              <a:solidFill>
                <a:srgbClr val="ffff00"/>
              </a:solidFill>
              <a:effectLst/>
              <a:uFillTx/>
              <a:latin typeface="Times New Roman"/>
            </a:endParaRPr>
          </a:p>
        </p:txBody>
      </p:sp>
      <p:sp>
        <p:nvSpPr>
          <p:cNvPr id="2" name="PlaceHolder 3"/>
          <p:cNvSpPr>
            <a:spLocks noGrp="1"/>
          </p:cNvSpPr>
          <p:nvPr>
            <p:ph type="dt" idx="1"/>
          </p:nvPr>
        </p:nvSpPr>
        <p:spPr>
          <a:xfrm>
            <a:off x="685800" y="6248520"/>
            <a:ext cx="190512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4" name="PlaceHolder 5"/>
          <p:cNvSpPr>
            <a:spLocks noGrp="1"/>
          </p:cNvSpPr>
          <p:nvPr>
            <p:ph type="sldNum" idx="3"/>
          </p:nvPr>
        </p:nvSpPr>
        <p:spPr>
          <a:xfrm>
            <a:off x="655308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400" strike="noStrike" u="none">
                <a:solidFill>
                  <a:srgbClr val="ffff00"/>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42A8FB-0459-4494-ACDF-16437402B8C0}" type="slidenum">
              <a:rPr b="0" lang="fr-FR" sz="1400" strike="noStrike" u="none">
                <a:solidFill>
                  <a:srgbClr val="ffff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mailto:areaps33@gmail.com" TargetMode="External"/><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jpeg"/><Relationship Id="rId4"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gif"/><Relationship Id="rId3" Type="http://schemas.openxmlformats.org/officeDocument/2006/relationships/image" Target="../media/image15.jpeg"/><Relationship Id="rId4"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4.gif"/><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9.png"/><Relationship Id="rId3"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9.png"/><Relationship Id="rId3"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9.png"/><Relationship Id="rId3"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14.gif"/><Relationship Id="rId4"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xml"/><Relationship Id="rId4"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8.png"/><Relationship Id="rId3" Type="http://schemas.openxmlformats.org/officeDocument/2006/relationships/slideLayout" Target="../slideLayouts/slideLayout1.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9.png"/><Relationship Id="rId3" Type="http://schemas.openxmlformats.org/officeDocument/2006/relationships/slideLayout" Target="../slideLayouts/slideLayout1.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0.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1.xml"/>
</Relationships>
</file>

<file path=ppt/slides/_rels/slide111.xml.rels><?xml version="1.0" encoding="UTF-8"?>
<Relationships xmlns="http://schemas.openxmlformats.org/package/2006/relationships"><Relationship Id="rId1" Type="http://schemas.openxmlformats.org/officeDocument/2006/relationships/image" Target="../media/image42.wmf"/><Relationship Id="rId2" Type="http://schemas.openxmlformats.org/officeDocument/2006/relationships/slideLayout" Target="../slideLayouts/slideLayout1.xml"/>
</Relationships>
</file>

<file path=ppt/slides/_rels/slide112.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4.xml.rels><?xml version="1.0" encoding="UTF-8"?>
<Relationships xmlns="http://schemas.openxmlformats.org/package/2006/relationships"><Relationship Id="rId1" Type="http://schemas.openxmlformats.org/officeDocument/2006/relationships/image" Target="../media/image44.jpeg"/><Relationship Id="rId2" Type="http://schemas.openxmlformats.org/officeDocument/2006/relationships/image" Target="../media/image45.png"/><Relationship Id="rId3" Type="http://schemas.openxmlformats.org/officeDocument/2006/relationships/slideLayout" Target="../slideLayouts/slideLayout1.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2.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6.png"/><Relationship Id="rId3" Type="http://schemas.openxmlformats.org/officeDocument/2006/relationships/image" Target="../media/image46.png"/><Relationship Id="rId4" Type="http://schemas.openxmlformats.org/officeDocument/2006/relationships/image" Target="../media/image46.png"/><Relationship Id="rId5" Type="http://schemas.openxmlformats.org/officeDocument/2006/relationships/image" Target="../media/image46.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slideLayout" Target="../slideLayouts/slideLayout1.xml"/>
</Relationships>
</file>

<file path=ppt/slides/_rels/slide123.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47.png"/><Relationship Id="rId3" Type="http://schemas.openxmlformats.org/officeDocument/2006/relationships/slideLayout" Target="../slideLayouts/slideLayout1.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8.png"/><Relationship Id="rId3" Type="http://schemas.openxmlformats.org/officeDocument/2006/relationships/slideLayout" Target="../slideLayouts/slideLayout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9.png"/><Relationship Id="rId3" Type="http://schemas.openxmlformats.org/officeDocument/2006/relationships/slideLayout" Target="../slideLayouts/slideLayout1.xml"/>
</Relationships>
</file>

<file path=ppt/slides/_rels/slide135.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1.wmf"/><Relationship Id="rId3" Type="http://schemas.openxmlformats.org/officeDocument/2006/relationships/package" Target="../embeddings/oleObject2.docx"/><Relationship Id="rId4" Type="http://schemas.openxmlformats.org/officeDocument/2006/relationships/image" Target="../media/image52.wmf"/><Relationship Id="rId5" Type="http://schemas.openxmlformats.org/officeDocument/2006/relationships/slideLayout" Target="../slideLayouts/slideLayout1.xml"/><Relationship Id="rId6"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53.wmf"/><Relationship Id="rId3" Type="http://schemas.openxmlformats.org/officeDocument/2006/relationships/slideLayout" Target="../slideLayouts/slideLayout1.xml"/><Relationship Id="rId4"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54.wmf"/><Relationship Id="rId3" Type="http://schemas.openxmlformats.org/officeDocument/2006/relationships/slideLayout" Target="../slideLayouts/slideLayout1.xml"/><Relationship Id="rId4"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5.png"/><Relationship Id="rId3" Type="http://schemas.openxmlformats.org/officeDocument/2006/relationships/slideLayout" Target="../slideLayouts/slideLayout1.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6.wmf"/><Relationship Id="rId3" Type="http://schemas.openxmlformats.org/officeDocument/2006/relationships/image" Target="../media/image57.png"/><Relationship Id="rId4" Type="http://schemas.openxmlformats.org/officeDocument/2006/relationships/oleObject" Target="../embeddings/oleObject2.bin"/><Relationship Id="rId5" Type="http://schemas.openxmlformats.org/officeDocument/2006/relationships/image" Target="../media/image58.wmf"/><Relationship Id="rId6" Type="http://schemas.openxmlformats.org/officeDocument/2006/relationships/slideLayout" Target="../slideLayouts/slideLayout1.xml"/><Relationship Id="rId7"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0.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slideLayout" Target="../slideLayouts/slideLayout1.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6.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xml"/><Relationship Id="rId3"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9.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image" Target="../media/image68.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8.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67.png"/><Relationship Id="rId11" Type="http://schemas.openxmlformats.org/officeDocument/2006/relationships/image" Target="../media/image68.png"/><Relationship Id="rId12" Type="http://schemas.openxmlformats.org/officeDocument/2006/relationships/image" Target="../media/image67.png"/><Relationship Id="rId13" Type="http://schemas.openxmlformats.org/officeDocument/2006/relationships/image" Target="../media/image67.png"/><Relationship Id="rId14" Type="http://schemas.openxmlformats.org/officeDocument/2006/relationships/image" Target="../media/image68.png"/><Relationship Id="rId15" Type="http://schemas.openxmlformats.org/officeDocument/2006/relationships/slideLayout" Target="../slideLayouts/slideLayout1.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69.png"/><Relationship Id="rId3" Type="http://schemas.openxmlformats.org/officeDocument/2006/relationships/oleObject" Target="../embeddings/oleObject2.bin"/><Relationship Id="rId4" Type="http://schemas.openxmlformats.org/officeDocument/2006/relationships/image" Target="../media/image70.png"/><Relationship Id="rId5" Type="http://schemas.openxmlformats.org/officeDocument/2006/relationships/slideLayout" Target="../slideLayouts/slideLayout1.xml"/>
</Relationships>
</file>

<file path=ppt/slides/_rels/slide172.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1.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8.xml.rels><?xml version="1.0" encoding="UTF-8"?>
<Relationships xmlns="http://schemas.openxmlformats.org/package/2006/relationships"><Relationship Id="rId1" Type="http://schemas.openxmlformats.org/officeDocument/2006/relationships/image" Target="../media/image72.wmf"/><Relationship Id="rId2" Type="http://schemas.openxmlformats.org/officeDocument/2006/relationships/slideLayout" Target="../slideLayouts/slideLayout1.xml"/>
</Relationships>
</file>

<file path=ppt/slides/_rels/slide179.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xml"/><Relationship Id="rId3"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3.xml.rels><?xml version="1.0" encoding="UTF-8"?>
<Relationships xmlns="http://schemas.openxmlformats.org/package/2006/relationships"><Relationship Id="rId1" Type="http://schemas.openxmlformats.org/officeDocument/2006/relationships/image" Target="../media/image74.wmf"/><Relationship Id="rId2" Type="http://schemas.openxmlformats.org/officeDocument/2006/relationships/image" Target="../media/image75.wmf"/><Relationship Id="rId3" Type="http://schemas.openxmlformats.org/officeDocument/2006/relationships/slideLayout" Target="../slideLayouts/slideLayout1.xml"/>
</Relationships>
</file>

<file path=ppt/slides/_rels/slide184.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76.wmf"/><Relationship Id="rId3" Type="http://schemas.openxmlformats.org/officeDocument/2006/relationships/slideLayout" Target="../slideLayouts/slideLayout1.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8.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1.xml"/><Relationship Id="rId3"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78.wmf"/><Relationship Id="rId3" Type="http://schemas.openxmlformats.org/officeDocument/2006/relationships/oleObject" Target="../embeddings/oleObject2.bin"/><Relationship Id="rId4" Type="http://schemas.openxmlformats.org/officeDocument/2006/relationships/image" Target="../media/image79.wmf"/><Relationship Id="rId5" Type="http://schemas.openxmlformats.org/officeDocument/2006/relationships/oleObject" Target="../embeddings/oleObject3.bin"/><Relationship Id="rId6" Type="http://schemas.openxmlformats.org/officeDocument/2006/relationships/image" Target="../media/image80.wmf"/><Relationship Id="rId7" Type="http://schemas.openxmlformats.org/officeDocument/2006/relationships/slideLayout" Target="../slideLayouts/slideLayout1.xml"/><Relationship Id="rId8"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
</Relationships>
</file>

<file path=ppt/slides/_rels/slide19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0.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81.png"/><Relationship Id="rId3" Type="http://schemas.openxmlformats.org/officeDocument/2006/relationships/slideLayout" Target="../slideLayouts/slideLayout1.xml"/>
</Relationships>
</file>

<file path=ppt/slides/_rels/slide201.xml.rels><?xml version="1.0" encoding="UTF-8"?>
<Relationships xmlns="http://schemas.openxmlformats.org/package/2006/relationships"><Relationship Id="rId1" Type="http://schemas.openxmlformats.org/officeDocument/2006/relationships/image" Target="../media/image82.wmf"/><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title"/>
          </p:nvPr>
        </p:nvSpPr>
        <p:spPr>
          <a:xfrm>
            <a:off x="178920" y="404280"/>
            <a:ext cx="8458200" cy="2133720"/>
          </a:xfrm>
          <a:prstGeom prst="rect">
            <a:avLst/>
          </a:prstGeom>
          <a:noFill/>
          <a:ln w="9360">
            <a:solidFill>
              <a:srgbClr val="ffff00"/>
            </a:solidFill>
            <a:miter/>
          </a:ln>
        </p:spPr>
        <p:txBody>
          <a:bodyPr lIns="91440" rIns="91440" tIns="45720" bIns="45720" anchor="ctr">
            <a:noAutofit/>
          </a:bodyPr>
          <a:p>
            <a:pPr indent="0" algn="ctr">
              <a:lnSpc>
                <a:spcPct val="12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Calibri"/>
              </a:rPr>
              <a:t>BIOLOGIE DU DEVELOPPEMENT, DE LA CROISSANCE, DE LA MATURATION ET PERFORMANCE MOTRICE</a:t>
            </a:r>
            <a:endParaRPr b="0" lang="en-US" sz="3200" strike="noStrike" u="none">
              <a:solidFill>
                <a:srgbClr val="ffffff"/>
              </a:solidFill>
              <a:effectLst/>
              <a:uFillTx/>
              <a:latin typeface="Times New Roman"/>
            </a:endParaRPr>
          </a:p>
        </p:txBody>
      </p:sp>
      <p:sp>
        <p:nvSpPr>
          <p:cNvPr id="13" name="PlaceHolder 2"/>
          <p:cNvSpPr>
            <a:spLocks noGrp="1"/>
          </p:cNvSpPr>
          <p:nvPr>
            <p:ph type="subTitle"/>
          </p:nvPr>
        </p:nvSpPr>
        <p:spPr>
          <a:xfrm>
            <a:off x="1403280" y="2707920"/>
            <a:ext cx="6400800" cy="1219320"/>
          </a:xfrm>
          <a:prstGeom prst="rect">
            <a:avLst/>
          </a:prstGeom>
          <a:noFill/>
          <a:ln w="0">
            <a:noFill/>
          </a:ln>
        </p:spPr>
        <p:txBody>
          <a:bodyPr lIns="91440" rIns="91440" tIns="45720" bIns="45720" anchor="t">
            <a:noAutofit/>
          </a:bodyPr>
          <a:p>
            <a:pPr indent="0" algn="ctr">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Georges CAZORLA</a:t>
            </a:r>
            <a:endParaRPr b="0" lang="en-US" sz="2400" strike="noStrike" u="none">
              <a:solidFill>
                <a:srgbClr val="ffff00"/>
              </a:solidFill>
              <a:effectLst/>
              <a:uFillTx/>
              <a:latin typeface="Times New Roman"/>
            </a:endParaRPr>
          </a:p>
          <a:p>
            <a:pPr indent="0" algn="ctr">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Cours Préparateurs Physiques FFF </a:t>
            </a:r>
            <a:endParaRPr b="0" lang="en-US" sz="2400" strike="noStrike" u="none">
              <a:solidFill>
                <a:srgbClr val="ffff00"/>
              </a:solidFill>
              <a:effectLst/>
              <a:uFillTx/>
              <a:latin typeface="Times New Roman"/>
            </a:endParaRPr>
          </a:p>
          <a:p>
            <a:pPr indent="0" algn="ctr">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Clairefontaine 06 février : </a:t>
            </a:r>
            <a:r>
              <a:rPr b="1" lang="fr-FR" sz="2400" strike="noStrike" u="none">
                <a:solidFill>
                  <a:srgbClr val="ffffff"/>
                </a:solidFill>
                <a:effectLst/>
                <a:uFillTx/>
                <a:latin typeface="Arial"/>
              </a:rPr>
              <a:t>2012</a:t>
            </a:r>
            <a:endParaRPr b="0" lang="en-US" sz="2400" strike="noStrike" u="none">
              <a:solidFill>
                <a:srgbClr val="ffff00"/>
              </a:solidFill>
              <a:effectLst/>
              <a:uFillTx/>
              <a:latin typeface="Times New Roman"/>
            </a:endParaRPr>
          </a:p>
        </p:txBody>
      </p:sp>
      <p:pic>
        <p:nvPicPr>
          <p:cNvPr id="14" name="Image 30720" descr=""/>
          <p:cNvPicPr/>
          <p:nvPr/>
        </p:nvPicPr>
        <p:blipFill>
          <a:blip r:embed="rId1"/>
          <a:srcRect l="0" t="19565" r="74963" b="63428"/>
          <a:stretch/>
        </p:blipFill>
        <p:spPr>
          <a:xfrm>
            <a:off x="3348000" y="5157720"/>
            <a:ext cx="2157480" cy="824040"/>
          </a:xfrm>
          <a:prstGeom prst="rect">
            <a:avLst/>
          </a:prstGeom>
          <a:noFill/>
          <a:ln w="0">
            <a:noFill/>
          </a:ln>
        </p:spPr>
      </p:pic>
      <p:sp>
        <p:nvSpPr>
          <p:cNvPr id="15" name="Rectangle 3"/>
          <p:cNvSpPr/>
          <p:nvPr/>
        </p:nvSpPr>
        <p:spPr>
          <a:xfrm>
            <a:off x="587880" y="6107760"/>
            <a:ext cx="8122320" cy="52092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5311800"/>
                <a:tab algn="l" pos="5486400"/>
                <a:tab algn="l" pos="6400800"/>
                <a:tab algn="l" pos="7315200"/>
                <a:tab algn="l" pos="8229600"/>
                <a:tab algn="l" pos="9144000"/>
                <a:tab algn="l" pos="10058400"/>
              </a:tabLst>
            </a:pPr>
            <a:r>
              <a:rPr b="1" i="1" lang="fr-FR" sz="1400" strike="noStrike" u="none">
                <a:solidFill>
                  <a:srgbClr val="ffffff"/>
                </a:solidFill>
                <a:effectLst/>
                <a:uFillTx/>
                <a:latin typeface="Calibri"/>
                <a:ea typeface="Times New Roman"/>
              </a:rPr>
              <a:t>Association pour la Recherche et l’Évaluation en Activité Physique et en Sport </a:t>
            </a:r>
            <a:endParaRPr b="0" lang="en-US" sz="1400" strike="noStrike" u="none">
              <a:solidFill>
                <a:srgbClr val="ffff00"/>
              </a:solidFill>
              <a:effectLst/>
              <a:uFillTx/>
              <a:latin typeface="Times New Roman"/>
            </a:endParaRPr>
          </a:p>
          <a:p>
            <a:pPr algn="ctr">
              <a:lnSpc>
                <a:spcPct val="100000"/>
              </a:lnSpc>
              <a:tabLst>
                <a:tab algn="l" pos="0"/>
                <a:tab algn="l" pos="5311800"/>
                <a:tab algn="l" pos="5486400"/>
                <a:tab algn="l" pos="6400800"/>
                <a:tab algn="l" pos="7315200"/>
                <a:tab algn="l" pos="8229600"/>
                <a:tab algn="l" pos="9144000"/>
                <a:tab algn="l" pos="10058400"/>
              </a:tabLst>
            </a:pPr>
            <a:r>
              <a:rPr b="0" lang="fr-FR" sz="1400" strike="noStrike" u="sng">
                <a:solidFill>
                  <a:srgbClr val="ccccff"/>
                </a:solidFill>
                <a:effectLst/>
                <a:uFillTx/>
                <a:latin typeface="Calibri"/>
                <a:ea typeface="Calibri"/>
                <a:hlinkClick r:id="rId2"/>
              </a:rPr>
              <a:t>areaps33@gmail.com</a:t>
            </a:r>
            <a:r>
              <a:rPr b="1" i="1" lang="fr-FR" sz="1400" strike="noStrike" u="none">
                <a:solidFill>
                  <a:srgbClr val="ffffff"/>
                </a:solidFill>
                <a:effectLst/>
                <a:uFillTx/>
                <a:latin typeface="Calibri"/>
                <a:ea typeface="Calibri"/>
              </a:rPr>
              <a:t>    Web : areaps.org </a:t>
            </a:r>
            <a:endParaRPr b="0" lang="en-US" sz="1400" strike="noStrike" u="none">
              <a:solidFill>
                <a:srgbClr val="ffff00"/>
              </a:solidFill>
              <a:effectLst/>
              <a:uFillTx/>
              <a:latin typeface="Times New Roman"/>
            </a:endParaRPr>
          </a:p>
        </p:txBody>
      </p:sp>
    </p:spTree>
  </p:cSld>
  <p:transition spd="med">
    <p:zoom dir="out"/>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0" y="-360"/>
            <a:ext cx="7772400" cy="68580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Calibri"/>
                <a:ea typeface="Calibri"/>
              </a:rPr>
              <a:t>SOMMAIRE</a:t>
            </a:r>
            <a:endParaRPr b="0" lang="en-US" sz="2400" strike="noStrike" u="none">
              <a:solidFill>
                <a:srgbClr val="ffffff"/>
              </a:solidFill>
              <a:effectLst/>
              <a:uFillTx/>
              <a:latin typeface="Times New Roman"/>
            </a:endParaRPr>
          </a:p>
        </p:txBody>
      </p:sp>
      <p:sp>
        <p:nvSpPr>
          <p:cNvPr id="17" name="PlaceHolder 2"/>
          <p:cNvSpPr>
            <a:spLocks noGrp="1"/>
          </p:cNvSpPr>
          <p:nvPr>
            <p:ph/>
          </p:nvPr>
        </p:nvSpPr>
        <p:spPr>
          <a:xfrm>
            <a:off x="0" y="685440"/>
            <a:ext cx="9144000" cy="5715000"/>
          </a:xfrm>
          <a:prstGeom prst="rect">
            <a:avLst/>
          </a:prstGeom>
          <a:noFill/>
          <a:ln w="0">
            <a:noFill/>
          </a:ln>
        </p:spPr>
        <p:txBody>
          <a:bodyPr lIns="91440" rIns="91440" tIns="45720" bIns="45720" anchor="t">
            <a:normAutofit fontScale="92500" lnSpcReduction="9999"/>
          </a:bodyPr>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800" strike="noStrike" u="none">
                <a:solidFill>
                  <a:srgbClr val="ffff00"/>
                </a:solidFill>
                <a:effectLst/>
                <a:uFillTx/>
                <a:latin typeface="Calibri"/>
                <a:ea typeface="Calibri"/>
              </a:rPr>
              <a:t>1 - Identification des facteurs étudiés :</a:t>
            </a:r>
            <a:endParaRPr b="0" lang="en-US" sz="2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Caractéristiques de la performance motrice (produit et processus).</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Schéma synoptique des facteurs physiologiques de la motricité (processus).</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Quelques définitions préalables…</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Croissance maturation et développement des différents tissus. </a:t>
            </a:r>
            <a:endParaRPr b="0" lang="en-US" sz="1800" strike="noStrike" u="none">
              <a:solidFill>
                <a:srgbClr val="ffff00"/>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Conséquences sur la pratique sportive.</a:t>
            </a:r>
            <a:r>
              <a:rPr b="0" lang="es-CL" sz="2000" strike="noStrike" u="none">
                <a:solidFill>
                  <a:srgbClr val="ffff00"/>
                </a:solidFill>
                <a:effectLst/>
                <a:uFillTx/>
                <a:latin typeface="Calibri"/>
                <a:ea typeface="Calibri"/>
              </a:rPr>
              <a:t> </a:t>
            </a:r>
            <a:endParaRPr b="0" lang="en-US" sz="2000" strike="noStrike" u="none">
              <a:solidFill>
                <a:srgbClr val="ffff00"/>
              </a:solidFill>
              <a:effectLst/>
              <a:uFillTx/>
              <a:latin typeface="Times New Roman"/>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800" strike="noStrike" u="none">
                <a:solidFill>
                  <a:srgbClr val="ffff00"/>
                </a:solidFill>
                <a:effectLst/>
                <a:uFillTx/>
                <a:latin typeface="Calibri"/>
                <a:ea typeface="Calibri"/>
              </a:rPr>
              <a:t>2 - Différences enfant - adolescent - adulte :</a:t>
            </a:r>
            <a:endParaRPr b="0" lang="en-US" sz="2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Evolution des performances motrices en fonction de l’âge (produit).</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Souplesse,</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Force,</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Puissance,</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Endurance musculaire</a:t>
            </a:r>
            <a:endParaRPr b="0" lang="en-US" sz="1800" strike="noStrike" u="none">
              <a:solidFill>
                <a:srgbClr val="ffff00"/>
              </a:solidFill>
              <a:effectLst/>
              <a:uFillTx/>
              <a:latin typeface="Times New Roman"/>
            </a:endParaRPr>
          </a:p>
          <a:p>
            <a:pPr marL="343080" indent="-343080">
              <a:lnSpc>
                <a:spcPct val="12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Capacités anaérobies : alactique et lactique</a:t>
            </a:r>
            <a:endParaRPr b="0" lang="en-US" sz="1800" strike="noStrike" u="none">
              <a:solidFill>
                <a:srgbClr val="ffff00"/>
              </a:solidFill>
              <a:effectLst/>
              <a:uFillTx/>
              <a:latin typeface="Times New Roman"/>
            </a:endParaRPr>
          </a:p>
          <a:p>
            <a:pPr marL="343080" indent="-343080">
              <a:lnSpc>
                <a:spcPct val="13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Calibri"/>
                <a:ea typeface="Calibri"/>
              </a:rPr>
              <a:t>	</a:t>
            </a:r>
            <a:r>
              <a:rPr b="0" lang="es-CL" sz="1800" strike="noStrike" u="none">
                <a:solidFill>
                  <a:srgbClr val="ffff00"/>
                </a:solidFill>
                <a:effectLst/>
                <a:uFillTx/>
                <a:latin typeface="Calibri"/>
                <a:ea typeface="Calibri"/>
              </a:rPr>
              <a:t>Capacité aérobie : VO</a:t>
            </a:r>
            <a:r>
              <a:rPr b="0" lang="es-CL" sz="2400" strike="noStrike" u="none" baseline="-25000">
                <a:solidFill>
                  <a:srgbClr val="ffff00"/>
                </a:solidFill>
                <a:effectLst/>
                <a:uFillTx/>
                <a:latin typeface="Calibri"/>
                <a:ea typeface="Calibri"/>
              </a:rPr>
              <a:t>2</a:t>
            </a:r>
            <a:r>
              <a:rPr b="0" lang="es-CL" sz="1800" strike="noStrike" u="none">
                <a:solidFill>
                  <a:srgbClr val="ffff00"/>
                </a:solidFill>
                <a:effectLst/>
                <a:uFillTx/>
                <a:latin typeface="Calibri"/>
                <a:ea typeface="Calibri"/>
              </a:rPr>
              <a:t> max, vitesse aérobie max, endurance, économie de locomotion.</a:t>
            </a:r>
            <a:endParaRPr b="0" lang="en-US" sz="1800" strike="noStrike" u="none">
              <a:solidFill>
                <a:srgbClr val="ffff00"/>
              </a:solidFill>
              <a:effectLst/>
              <a:uFillTx/>
              <a:latin typeface="Times New Roman"/>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Tree>
  </p:cSld>
  <p:transition spd="med">
    <p:zoom dir="out"/>
  </p:transition>
  <p:timing>
    <p:tnLst>
      <p:par>
        <p:cTn id="1" dur="indefinite" restart="never" nodeType="tmRoot">
          <p:childTnLst>
            <p:seq>
              <p:cTn id="2" dur="indefinite" nodeType="mainSeq">
                <p:childTnLst>
                  <p:par>
                    <p:cTn id="3" nodeType="clickEffect" fill="hold">
                      <p:stCondLst>
                        <p:cond delay="0"/>
                      </p:stCondLst>
                      <p:childTnLst>
                        <p:par>
                          <p:cTn id="4" nodeType="withEffect" fill="hold">
                            <p:stCondLst>
                              <p:cond delay="0"/>
                            </p:stCondLst>
                            <p:childTnLst>
                              <p:par>
                                <p:cTn id="5" nodeType="afterEffect" fill="hold" presetClass="entr" presetID="9">
                                  <p:stCondLst>
                                    <p:cond delay="0"/>
                                  </p:stCondLst>
                                  <p:iterate type="lt">
                                    <p:tmAbs val="75"/>
                                  </p:iterate>
                                  <p:childTnLst>
                                    <p:set>
                                      <p:cBhvr>
                                        <p:cTn id="6" dur="1" fill="hold">
                                          <p:stCondLst>
                                            <p:cond delay="0"/>
                                          </p:stCondLst>
                                        </p:cTn>
                                        <p:tgtEl>
                                          <p:spTgt spid="17">
                                            <p:txEl>
                                              <p:pRg st="0" end="0"/>
                                            </p:txEl>
                                          </p:spTgt>
                                        </p:tgtEl>
                                        <p:attrNameLst>
                                          <p:attrName>style.visibility</p:attrName>
                                        </p:attrNameLst>
                                      </p:cBhvr>
                                      <p:to>
                                        <p:strVal val="visible"/>
                                      </p:to>
                                    </p:set>
                                    <p:animEffect filter="dissolve" transition="in">
                                      <p:cBhvr additive="repl">
                                        <p:cTn id="7" dur="75"/>
                                        <p:tgtEl>
                                          <p:spTgt spid="17">
                                            <p:txEl>
                                              <p:pRg st="0" end="0"/>
                                            </p:txEl>
                                          </p:spTgt>
                                        </p:tgtEl>
                                      </p:cBhvr>
                                    </p:animEffect>
                                  </p:childTnLst>
                                </p:cTn>
                              </p:par>
                            </p:childTnLst>
                          </p:cTn>
                        </p:par>
                        <p:par>
                          <p:cTn id="8" nodeType="afterEffect" fill="hold">
                            <p:stCondLst>
                              <p:cond delay="2625"/>
                            </p:stCondLst>
                            <p:childTnLst>
                              <p:par>
                                <p:cTn id="9" nodeType="afterEffect" fill="hold" presetClass="entr" presetID="9">
                                  <p:stCondLst>
                                    <p:cond delay="0"/>
                                  </p:stCondLst>
                                  <p:iterate type="lt">
                                    <p:tmAbs val="75"/>
                                  </p:iterate>
                                  <p:childTnLst>
                                    <p:set>
                                      <p:cBhvr>
                                        <p:cTn id="10" dur="1" fill="hold">
                                          <p:stCondLst>
                                            <p:cond delay="0"/>
                                          </p:stCondLst>
                                        </p:cTn>
                                        <p:tgtEl>
                                          <p:spTgt spid="17">
                                            <p:txEl>
                                              <p:pRg st="1" end="1"/>
                                            </p:txEl>
                                          </p:spTgt>
                                        </p:tgtEl>
                                        <p:attrNameLst>
                                          <p:attrName>style.visibility</p:attrName>
                                        </p:attrNameLst>
                                      </p:cBhvr>
                                      <p:to>
                                        <p:strVal val="visible"/>
                                      </p:to>
                                    </p:set>
                                    <p:animEffect filter="dissolve" transition="in">
                                      <p:cBhvr additive="repl">
                                        <p:cTn id="11" dur="75"/>
                                        <p:tgtEl>
                                          <p:spTgt spid="17">
                                            <p:txEl>
                                              <p:pRg st="1" end="1"/>
                                            </p:txEl>
                                          </p:spTgt>
                                        </p:tgtEl>
                                      </p:cBhvr>
                                    </p:animEffect>
                                  </p:childTnLst>
                                </p:cTn>
                              </p:par>
                            </p:childTnLst>
                          </p:cTn>
                        </p:par>
                        <p:par>
                          <p:cTn id="12" nodeType="afterEffect" fill="hold">
                            <p:stCondLst>
                              <p:cond delay="7050"/>
                            </p:stCondLst>
                            <p:childTnLst>
                              <p:par>
                                <p:cTn id="13" nodeType="afterEffect" fill="hold" presetClass="entr" presetID="9">
                                  <p:stCondLst>
                                    <p:cond delay="0"/>
                                  </p:stCondLst>
                                  <p:iterate type="lt">
                                    <p:tmAbs val="75"/>
                                  </p:iterate>
                                  <p:childTnLst>
                                    <p:set>
                                      <p:cBhvr>
                                        <p:cTn id="14" dur="1" fill="hold">
                                          <p:stCondLst>
                                            <p:cond delay="0"/>
                                          </p:stCondLst>
                                        </p:cTn>
                                        <p:tgtEl>
                                          <p:spTgt spid="17">
                                            <p:txEl>
                                              <p:pRg st="2" end="2"/>
                                            </p:txEl>
                                          </p:spTgt>
                                        </p:tgtEl>
                                        <p:attrNameLst>
                                          <p:attrName>style.visibility</p:attrName>
                                        </p:attrNameLst>
                                      </p:cBhvr>
                                      <p:to>
                                        <p:strVal val="visible"/>
                                      </p:to>
                                    </p:set>
                                    <p:animEffect filter="dissolve" transition="in">
                                      <p:cBhvr additive="repl">
                                        <p:cTn id="15" dur="75"/>
                                        <p:tgtEl>
                                          <p:spTgt spid="17">
                                            <p:txEl>
                                              <p:pRg st="2" end="2"/>
                                            </p:txEl>
                                          </p:spTgt>
                                        </p:tgtEl>
                                      </p:cBhvr>
                                    </p:animEffect>
                                  </p:childTnLst>
                                </p:cTn>
                              </p:par>
                            </p:childTnLst>
                          </p:cTn>
                        </p:par>
                        <p:par>
                          <p:cTn id="16" nodeType="afterEffect" fill="hold">
                            <p:stCondLst>
                              <p:cond delay="12000"/>
                            </p:stCondLst>
                            <p:childTnLst>
                              <p:par>
                                <p:cTn id="17" nodeType="afterEffect" fill="hold" presetClass="entr" presetID="9">
                                  <p:stCondLst>
                                    <p:cond delay="0"/>
                                  </p:stCondLst>
                                  <p:iterate type="lt">
                                    <p:tmAbs val="75"/>
                                  </p:iterate>
                                  <p:childTnLst>
                                    <p:set>
                                      <p:cBhvr>
                                        <p:cTn id="18" dur="1" fill="hold">
                                          <p:stCondLst>
                                            <p:cond delay="0"/>
                                          </p:stCondLst>
                                        </p:cTn>
                                        <p:tgtEl>
                                          <p:spTgt spid="17">
                                            <p:txEl>
                                              <p:pRg st="3" end="3"/>
                                            </p:txEl>
                                          </p:spTgt>
                                        </p:tgtEl>
                                        <p:attrNameLst>
                                          <p:attrName>style.visibility</p:attrName>
                                        </p:attrNameLst>
                                      </p:cBhvr>
                                      <p:to>
                                        <p:strVal val="visible"/>
                                      </p:to>
                                    </p:set>
                                    <p:animEffect filter="dissolve" transition="in">
                                      <p:cBhvr additive="repl">
                                        <p:cTn id="19" dur="75"/>
                                        <p:tgtEl>
                                          <p:spTgt spid="17">
                                            <p:txEl>
                                              <p:pRg st="3" end="3"/>
                                            </p:txEl>
                                          </p:spTgt>
                                        </p:tgtEl>
                                      </p:cBhvr>
                                    </p:animEffect>
                                  </p:childTnLst>
                                </p:cTn>
                              </p:par>
                            </p:childTnLst>
                          </p:cTn>
                        </p:par>
                        <p:par>
                          <p:cTn id="20" nodeType="afterEffect" fill="hold">
                            <p:stCondLst>
                              <p:cond delay="14250"/>
                            </p:stCondLst>
                            <p:childTnLst>
                              <p:par>
                                <p:cTn id="21" nodeType="afterEffect" fill="hold" presetClass="entr" presetID="9">
                                  <p:stCondLst>
                                    <p:cond delay="0"/>
                                  </p:stCondLst>
                                  <p:iterate type="lt">
                                    <p:tmAbs val="75"/>
                                  </p:iterate>
                                  <p:childTnLst>
                                    <p:set>
                                      <p:cBhvr>
                                        <p:cTn id="22" dur="1" fill="hold">
                                          <p:stCondLst>
                                            <p:cond delay="0"/>
                                          </p:stCondLst>
                                        </p:cTn>
                                        <p:tgtEl>
                                          <p:spTgt spid="17">
                                            <p:txEl>
                                              <p:pRg st="4" end="4"/>
                                            </p:txEl>
                                          </p:spTgt>
                                        </p:tgtEl>
                                        <p:attrNameLst>
                                          <p:attrName>style.visibility</p:attrName>
                                        </p:attrNameLst>
                                      </p:cBhvr>
                                      <p:to>
                                        <p:strVal val="visible"/>
                                      </p:to>
                                    </p:set>
                                    <p:animEffect filter="dissolve" transition="in">
                                      <p:cBhvr additive="repl">
                                        <p:cTn id="23" dur="75"/>
                                        <p:tgtEl>
                                          <p:spTgt spid="17">
                                            <p:txEl>
                                              <p:pRg st="4" end="4"/>
                                            </p:txEl>
                                          </p:spTgt>
                                        </p:tgtEl>
                                      </p:cBhvr>
                                    </p:animEffect>
                                  </p:childTnLst>
                                </p:cTn>
                              </p:par>
                            </p:childTnLst>
                          </p:cTn>
                        </p:par>
                        <p:par>
                          <p:cTn id="24" nodeType="afterEffect" fill="hold">
                            <p:stCondLst>
                              <p:cond delay="18375"/>
                            </p:stCondLst>
                            <p:childTnLst>
                              <p:par>
                                <p:cTn id="25" nodeType="afterEffect" fill="hold" presetClass="entr" presetID="9">
                                  <p:stCondLst>
                                    <p:cond delay="0"/>
                                  </p:stCondLst>
                                  <p:iterate type="lt">
                                    <p:tmAbs val="75"/>
                                  </p:iterate>
                                  <p:childTnLst>
                                    <p:set>
                                      <p:cBhvr>
                                        <p:cTn id="26" dur="1" fill="hold">
                                          <p:stCondLst>
                                            <p:cond delay="0"/>
                                          </p:stCondLst>
                                        </p:cTn>
                                        <p:tgtEl>
                                          <p:spTgt spid="17">
                                            <p:txEl>
                                              <p:pRg st="5" end="5"/>
                                            </p:txEl>
                                          </p:spTgt>
                                        </p:tgtEl>
                                        <p:attrNameLst>
                                          <p:attrName>style.visibility</p:attrName>
                                        </p:attrNameLst>
                                      </p:cBhvr>
                                      <p:to>
                                        <p:strVal val="visible"/>
                                      </p:to>
                                    </p:set>
                                    <p:animEffect filter="dissolve" transition="in">
                                      <p:cBhvr additive="repl">
                                        <p:cTn id="27" dur="75"/>
                                        <p:tgtEl>
                                          <p:spTgt spid="17">
                                            <p:txEl>
                                              <p:pRg st="5" end="5"/>
                                            </p:txEl>
                                          </p:spTgt>
                                        </p:tgtEl>
                                      </p:cBhvr>
                                    </p:animEffect>
                                  </p:childTnLst>
                                </p:cTn>
                              </p:par>
                            </p:childTnLst>
                          </p:cTn>
                        </p:par>
                        <p:par>
                          <p:cTn id="28" nodeType="afterEffect" fill="hold">
                            <p:stCondLst>
                              <p:cond delay="20925"/>
                            </p:stCondLst>
                            <p:childTnLst>
                              <p:par>
                                <p:cTn id="29" nodeType="afterEffect" fill="hold" presetClass="entr" presetID="9">
                                  <p:stCondLst>
                                    <p:cond delay="0"/>
                                  </p:stCondLst>
                                  <p:iterate type="lt">
                                    <p:tmAbs val="75"/>
                                  </p:iterate>
                                  <p:childTnLst>
                                    <p:set>
                                      <p:cBhvr>
                                        <p:cTn id="30" dur="1" fill="hold">
                                          <p:stCondLst>
                                            <p:cond delay="0"/>
                                          </p:stCondLst>
                                        </p:cTn>
                                        <p:tgtEl>
                                          <p:spTgt spid="17">
                                            <p:txEl>
                                              <p:pRg st="7" end="7"/>
                                            </p:txEl>
                                          </p:spTgt>
                                        </p:tgtEl>
                                        <p:attrNameLst>
                                          <p:attrName>style.visibility</p:attrName>
                                        </p:attrNameLst>
                                      </p:cBhvr>
                                      <p:to>
                                        <p:strVal val="visible"/>
                                      </p:to>
                                    </p:set>
                                    <p:animEffect filter="dissolve" transition="in">
                                      <p:cBhvr additive="repl">
                                        <p:cTn id="31" dur="75"/>
                                        <p:tgtEl>
                                          <p:spTgt spid="17">
                                            <p:txEl>
                                              <p:pRg st="7" end="7"/>
                                            </p:txEl>
                                          </p:spTgt>
                                        </p:tgtEl>
                                      </p:cBhvr>
                                    </p:animEffect>
                                  </p:childTnLst>
                                </p:cTn>
                              </p:par>
                            </p:childTnLst>
                          </p:cTn>
                        </p:par>
                        <p:par>
                          <p:cTn id="32" nodeType="afterEffect" fill="hold">
                            <p:stCondLst>
                              <p:cond delay="23775"/>
                            </p:stCondLst>
                            <p:childTnLst>
                              <p:par>
                                <p:cTn id="33" nodeType="afterEffect" fill="hold" presetClass="entr" presetID="9">
                                  <p:stCondLst>
                                    <p:cond delay="0"/>
                                  </p:stCondLst>
                                  <p:iterate type="lt">
                                    <p:tmAbs val="75"/>
                                  </p:iterate>
                                  <p:childTnLst>
                                    <p:set>
                                      <p:cBhvr>
                                        <p:cTn id="34" dur="1" fill="hold">
                                          <p:stCondLst>
                                            <p:cond delay="0"/>
                                          </p:stCondLst>
                                        </p:cTn>
                                        <p:tgtEl>
                                          <p:spTgt spid="17">
                                            <p:txEl>
                                              <p:pRg st="8" end="8"/>
                                            </p:txEl>
                                          </p:spTgt>
                                        </p:tgtEl>
                                        <p:attrNameLst>
                                          <p:attrName>style.visibility</p:attrName>
                                        </p:attrNameLst>
                                      </p:cBhvr>
                                      <p:to>
                                        <p:strVal val="visible"/>
                                      </p:to>
                                    </p:set>
                                    <p:animEffect filter="dissolve" transition="in">
                                      <p:cBhvr additive="repl">
                                        <p:cTn id="35" dur="75"/>
                                        <p:tgtEl>
                                          <p:spTgt spid="17">
                                            <p:txEl>
                                              <p:pRg st="8" end="8"/>
                                            </p:txEl>
                                          </p:spTgt>
                                        </p:tgtEl>
                                      </p:cBhvr>
                                    </p:animEffect>
                                  </p:childTnLst>
                                </p:cTn>
                              </p:par>
                            </p:childTnLst>
                          </p:cTn>
                        </p:par>
                        <p:par>
                          <p:cTn id="36" nodeType="afterEffect" fill="hold">
                            <p:stCondLst>
                              <p:cond delay="28200"/>
                            </p:stCondLst>
                            <p:childTnLst>
                              <p:par>
                                <p:cTn id="37" nodeType="afterEffect" fill="hold" presetClass="entr" presetID="9">
                                  <p:stCondLst>
                                    <p:cond delay="0"/>
                                  </p:stCondLst>
                                  <p:iterate type="lt">
                                    <p:tmAbs val="75"/>
                                  </p:iterate>
                                  <p:childTnLst>
                                    <p:set>
                                      <p:cBhvr>
                                        <p:cTn id="38" dur="1" fill="hold">
                                          <p:stCondLst>
                                            <p:cond delay="0"/>
                                          </p:stCondLst>
                                        </p:cTn>
                                        <p:tgtEl>
                                          <p:spTgt spid="17">
                                            <p:txEl>
                                              <p:pRg st="9" end="9"/>
                                            </p:txEl>
                                          </p:spTgt>
                                        </p:tgtEl>
                                        <p:attrNameLst>
                                          <p:attrName>style.visibility</p:attrName>
                                        </p:attrNameLst>
                                      </p:cBhvr>
                                      <p:to>
                                        <p:strVal val="visible"/>
                                      </p:to>
                                    </p:set>
                                    <p:animEffect filter="dissolve" transition="in">
                                      <p:cBhvr additive="repl">
                                        <p:cTn id="39" dur="75"/>
                                        <p:tgtEl>
                                          <p:spTgt spid="17">
                                            <p:txEl>
                                              <p:pRg st="9" end="9"/>
                                            </p:txEl>
                                          </p:spTgt>
                                        </p:tgtEl>
                                      </p:cBhvr>
                                    </p:animEffect>
                                  </p:childTnLst>
                                </p:cTn>
                              </p:par>
                            </p:childTnLst>
                          </p:cTn>
                        </p:par>
                        <p:par>
                          <p:cTn id="40" nodeType="afterEffect" fill="hold">
                            <p:stCondLst>
                              <p:cond delay="28950"/>
                            </p:stCondLst>
                            <p:childTnLst>
                              <p:par>
                                <p:cTn id="41" nodeType="afterEffect" fill="hold" presetClass="entr" presetID="9">
                                  <p:stCondLst>
                                    <p:cond delay="0"/>
                                  </p:stCondLst>
                                  <p:iterate type="lt">
                                    <p:tmAbs val="75"/>
                                  </p:iterate>
                                  <p:childTnLst>
                                    <p:set>
                                      <p:cBhvr>
                                        <p:cTn id="42" dur="1" fill="hold">
                                          <p:stCondLst>
                                            <p:cond delay="0"/>
                                          </p:stCondLst>
                                        </p:cTn>
                                        <p:tgtEl>
                                          <p:spTgt spid="17">
                                            <p:txEl>
                                              <p:pRg st="10" end="10"/>
                                            </p:txEl>
                                          </p:spTgt>
                                        </p:tgtEl>
                                        <p:attrNameLst>
                                          <p:attrName>style.visibility</p:attrName>
                                        </p:attrNameLst>
                                      </p:cBhvr>
                                      <p:to>
                                        <p:strVal val="visible"/>
                                      </p:to>
                                    </p:set>
                                    <p:animEffect filter="dissolve" transition="in">
                                      <p:cBhvr additive="repl">
                                        <p:cTn id="43" dur="75"/>
                                        <p:tgtEl>
                                          <p:spTgt spid="17">
                                            <p:txEl>
                                              <p:pRg st="10" end="10"/>
                                            </p:txEl>
                                          </p:spTgt>
                                        </p:tgtEl>
                                      </p:cBhvr>
                                    </p:animEffect>
                                  </p:childTnLst>
                                </p:cTn>
                              </p:par>
                            </p:childTnLst>
                          </p:cTn>
                        </p:par>
                        <p:par>
                          <p:cTn id="44" nodeType="afterEffect" fill="hold">
                            <p:stCondLst>
                              <p:cond delay="29400"/>
                            </p:stCondLst>
                            <p:childTnLst>
                              <p:par>
                                <p:cTn id="45" nodeType="afterEffect" fill="hold" presetClass="entr" presetID="9">
                                  <p:stCondLst>
                                    <p:cond delay="0"/>
                                  </p:stCondLst>
                                  <p:iterate type="lt">
                                    <p:tmAbs val="75"/>
                                  </p:iterate>
                                  <p:childTnLst>
                                    <p:set>
                                      <p:cBhvr>
                                        <p:cTn id="46" dur="1" fill="hold">
                                          <p:stCondLst>
                                            <p:cond delay="0"/>
                                          </p:stCondLst>
                                        </p:cTn>
                                        <p:tgtEl>
                                          <p:spTgt spid="17">
                                            <p:txEl>
                                              <p:pRg st="11" end="11"/>
                                            </p:txEl>
                                          </p:spTgt>
                                        </p:tgtEl>
                                        <p:attrNameLst>
                                          <p:attrName>style.visibility</p:attrName>
                                        </p:attrNameLst>
                                      </p:cBhvr>
                                      <p:to>
                                        <p:strVal val="visible"/>
                                      </p:to>
                                    </p:set>
                                    <p:animEffect filter="dissolve" transition="in">
                                      <p:cBhvr additive="repl">
                                        <p:cTn id="47" dur="75"/>
                                        <p:tgtEl>
                                          <p:spTgt spid="17">
                                            <p:txEl>
                                              <p:pRg st="11" end="11"/>
                                            </p:txEl>
                                          </p:spTgt>
                                        </p:tgtEl>
                                      </p:cBhvr>
                                    </p:animEffect>
                                  </p:childTnLst>
                                </p:cTn>
                              </p:par>
                            </p:childTnLst>
                          </p:cTn>
                        </p:par>
                        <p:par>
                          <p:cTn id="48" nodeType="afterEffect" fill="hold">
                            <p:stCondLst>
                              <p:cond delay="30150"/>
                            </p:stCondLst>
                            <p:childTnLst>
                              <p:par>
                                <p:cTn id="49" nodeType="afterEffect" fill="hold" presetClass="entr" presetID="9">
                                  <p:stCondLst>
                                    <p:cond delay="0"/>
                                  </p:stCondLst>
                                  <p:iterate type="lt">
                                    <p:tmAbs val="75"/>
                                  </p:iterate>
                                  <p:childTnLst>
                                    <p:set>
                                      <p:cBhvr>
                                        <p:cTn id="50" dur="1" fill="hold">
                                          <p:stCondLst>
                                            <p:cond delay="0"/>
                                          </p:stCondLst>
                                        </p:cTn>
                                        <p:tgtEl>
                                          <p:spTgt spid="17">
                                            <p:txEl>
                                              <p:pRg st="12" end="12"/>
                                            </p:txEl>
                                          </p:spTgt>
                                        </p:tgtEl>
                                        <p:attrNameLst>
                                          <p:attrName>style.visibility</p:attrName>
                                        </p:attrNameLst>
                                      </p:cBhvr>
                                      <p:to>
                                        <p:strVal val="visible"/>
                                      </p:to>
                                    </p:set>
                                    <p:animEffect filter="dissolve" transition="in">
                                      <p:cBhvr additive="repl">
                                        <p:cTn id="51" dur="75"/>
                                        <p:tgtEl>
                                          <p:spTgt spid="17">
                                            <p:txEl>
                                              <p:pRg st="12" end="12"/>
                                            </p:txEl>
                                          </p:spTgt>
                                        </p:tgtEl>
                                      </p:cBhvr>
                                    </p:animEffect>
                                  </p:childTnLst>
                                </p:cTn>
                              </p:par>
                            </p:childTnLst>
                          </p:cTn>
                        </p:par>
                        <p:par>
                          <p:cTn id="52" nodeType="afterEffect" fill="hold">
                            <p:stCondLst>
                              <p:cond delay="31575"/>
                            </p:stCondLst>
                            <p:childTnLst>
                              <p:par>
                                <p:cTn id="53" nodeType="afterEffect" fill="hold" presetClass="entr" presetID="9">
                                  <p:stCondLst>
                                    <p:cond delay="0"/>
                                  </p:stCondLst>
                                  <p:iterate type="lt">
                                    <p:tmAbs val="75"/>
                                  </p:iterate>
                                  <p:childTnLst>
                                    <p:set>
                                      <p:cBhvr>
                                        <p:cTn id="54" dur="1" fill="hold">
                                          <p:stCondLst>
                                            <p:cond delay="0"/>
                                          </p:stCondLst>
                                        </p:cTn>
                                        <p:tgtEl>
                                          <p:spTgt spid="17">
                                            <p:txEl>
                                              <p:pRg st="13" end="13"/>
                                            </p:txEl>
                                          </p:spTgt>
                                        </p:tgtEl>
                                        <p:attrNameLst>
                                          <p:attrName>style.visibility</p:attrName>
                                        </p:attrNameLst>
                                      </p:cBhvr>
                                      <p:to>
                                        <p:strVal val="visible"/>
                                      </p:to>
                                    </p:set>
                                    <p:animEffect filter="dissolve" transition="in">
                                      <p:cBhvr additive="repl">
                                        <p:cTn id="55" dur="75"/>
                                        <p:tgtEl>
                                          <p:spTgt spid="17">
                                            <p:txEl>
                                              <p:pRg st="13" end="13"/>
                                            </p:txEl>
                                          </p:spTgt>
                                        </p:tgtEl>
                                      </p:cBhvr>
                                    </p:animEffect>
                                  </p:childTnLst>
                                </p:cTn>
                              </p:par>
                            </p:childTnLst>
                          </p:cTn>
                        </p:par>
                        <p:par>
                          <p:cTn id="56" nodeType="afterEffect" fill="hold">
                            <p:stCondLst>
                              <p:cond delay="34500"/>
                            </p:stCondLst>
                            <p:childTnLst>
                              <p:par>
                                <p:cTn id="57" nodeType="afterEffect" fill="hold" presetClass="entr" presetID="9">
                                  <p:stCondLst>
                                    <p:cond delay="0"/>
                                  </p:stCondLst>
                                  <p:iterate type="lt">
                                    <p:tmAbs val="75"/>
                                  </p:iterate>
                                  <p:childTnLst>
                                    <p:set>
                                      <p:cBhvr>
                                        <p:cTn id="58" dur="1" fill="hold">
                                          <p:stCondLst>
                                            <p:cond delay="0"/>
                                          </p:stCondLst>
                                        </p:cTn>
                                        <p:tgtEl>
                                          <p:spTgt spid="17">
                                            <p:txEl>
                                              <p:pRg st="14" end="14"/>
                                            </p:txEl>
                                          </p:spTgt>
                                        </p:tgtEl>
                                        <p:attrNameLst>
                                          <p:attrName>style.visibility</p:attrName>
                                        </p:attrNameLst>
                                      </p:cBhvr>
                                      <p:to>
                                        <p:strVal val="visible"/>
                                      </p:to>
                                    </p:set>
                                    <p:animEffect filter="dissolve" transition="in">
                                      <p:cBhvr additive="repl">
                                        <p:cTn id="59" dur="75"/>
                                        <p:tgtEl>
                                          <p:spTgt spid="17">
                                            <p:txEl>
                                              <p:pRg st="14" end="14"/>
                                            </p:txEl>
                                          </p:spTgt>
                                        </p:tgtEl>
                                      </p:cBhvr>
                                    </p:animEffect>
                                  </p:childTnLst>
                                </p:cTn>
                              </p:par>
                            </p:childTnLst>
                          </p:cTn>
                        </p:par>
                        <p:par>
                          <p:cTn id="60" nodeType="afterEffect" fill="hold">
                            <p:stCondLst>
                              <p:cond delay="39900"/>
                            </p:stCondLst>
                            <p:childTnLst>
                              <p:par>
                                <p:cTn id="61" nodeType="afterEffect" fill="hold" presetClass="entr" presetID="9">
                                  <p:stCondLst>
                                    <p:cond delay="0"/>
                                  </p:stCondLst>
                                  <p:iterate type="lt">
                                    <p:tmAbs val="75"/>
                                  </p:iterate>
                                  <p:childTnLst>
                                    <p:set>
                                      <p:cBhvr>
                                        <p:cTn id="62" dur="1" fill="hold">
                                          <p:stCondLst>
                                            <p:cond delay="0"/>
                                          </p:stCondLst>
                                        </p:cTn>
                                        <p:tgtEl>
                                          <p:spTgt spid="17">
                                            <p:txEl>
                                              <p:pRg st="15" end="15"/>
                                            </p:txEl>
                                          </p:spTgt>
                                        </p:tgtEl>
                                        <p:attrNameLst>
                                          <p:attrName>style.visibility</p:attrName>
                                        </p:attrNameLst>
                                      </p:cBhvr>
                                      <p:to>
                                        <p:strVal val="visible"/>
                                      </p:to>
                                    </p:set>
                                    <p:animEffect filter="dissolve" transition="in">
                                      <p:cBhvr additive="repl">
                                        <p:cTn id="63" dur="75"/>
                                        <p:tgtEl>
                                          <p:spTgt spid="17">
                                            <p:txEl>
                                              <p:pRg st="15" end="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Rectangle 2"/>
          <p:cNvSpPr/>
          <p:nvPr/>
        </p:nvSpPr>
        <p:spPr>
          <a:xfrm>
            <a:off x="380880" y="2300400"/>
            <a:ext cx="1524240" cy="99036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CAPITAL</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 GENETIQUE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400" strike="noStrike" u="none">
                <a:solidFill>
                  <a:srgbClr val="ffff00"/>
                </a:solidFill>
                <a:effectLst/>
                <a:uFillTx/>
                <a:latin typeface="Arial"/>
              </a:rPr>
              <a:t>(APTITUDE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400" strike="noStrike" u="none">
                <a:solidFill>
                  <a:srgbClr val="ffff00"/>
                </a:solidFill>
                <a:effectLst/>
                <a:uFillTx/>
                <a:latin typeface="Arial"/>
              </a:rPr>
              <a:t>MOTRICE)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19" name="Rectangle 3"/>
          <p:cNvSpPr/>
          <p:nvPr/>
        </p:nvSpPr>
        <p:spPr>
          <a:xfrm>
            <a:off x="304920" y="3664080"/>
            <a:ext cx="220968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NIVEAU D’ACTIVITE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ET D’ENTRAINEMENT</a:t>
            </a:r>
            <a:endParaRPr b="0" lang="en-US" sz="1400" strike="noStrike" u="none">
              <a:solidFill>
                <a:srgbClr val="ffff00"/>
              </a:solidFill>
              <a:effectLst/>
              <a:uFillTx/>
              <a:latin typeface="Times New Roman"/>
            </a:endParaRPr>
          </a:p>
        </p:txBody>
      </p:sp>
      <p:sp>
        <p:nvSpPr>
          <p:cNvPr id="20" name="Rectangle 4"/>
          <p:cNvSpPr/>
          <p:nvPr/>
        </p:nvSpPr>
        <p:spPr>
          <a:xfrm>
            <a:off x="457200" y="4967280"/>
            <a:ext cx="160020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ETAT DE SANTE</a:t>
            </a:r>
            <a:endParaRPr b="0" lang="en-US" sz="1400" strike="noStrike" u="none">
              <a:solidFill>
                <a:srgbClr val="ffff00"/>
              </a:solidFill>
              <a:effectLst/>
              <a:uFillTx/>
              <a:latin typeface="Times New Roman"/>
            </a:endParaRPr>
          </a:p>
        </p:txBody>
      </p:sp>
      <p:sp>
        <p:nvSpPr>
          <p:cNvPr id="21" name="Line 5"/>
          <p:cNvSpPr/>
          <p:nvPr/>
        </p:nvSpPr>
        <p:spPr>
          <a:xfrm>
            <a:off x="1905120" y="2681280"/>
            <a:ext cx="2057400" cy="113832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 name="Line 6"/>
          <p:cNvSpPr/>
          <p:nvPr/>
        </p:nvSpPr>
        <p:spPr>
          <a:xfrm>
            <a:off x="2514600" y="3984480"/>
            <a:ext cx="1447920" cy="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 name="Line 7"/>
          <p:cNvSpPr/>
          <p:nvPr/>
        </p:nvSpPr>
        <p:spPr>
          <a:xfrm flipV="1">
            <a:off x="2057400" y="4128840"/>
            <a:ext cx="1905120" cy="114300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4" name="Rectangle 8"/>
          <p:cNvSpPr/>
          <p:nvPr/>
        </p:nvSpPr>
        <p:spPr>
          <a:xfrm>
            <a:off x="4114800" y="3819600"/>
            <a:ext cx="1523880" cy="3808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INTEGRATEUR</a:t>
            </a:r>
            <a:endParaRPr b="0" lang="en-US" sz="1400" strike="noStrike" u="none">
              <a:solidFill>
                <a:srgbClr val="ffff00"/>
              </a:solidFill>
              <a:effectLst/>
              <a:uFillTx/>
              <a:latin typeface="Times New Roman"/>
            </a:endParaRPr>
          </a:p>
        </p:txBody>
      </p:sp>
      <p:sp>
        <p:nvSpPr>
          <p:cNvPr id="25" name="Line 9"/>
          <p:cNvSpPr/>
          <p:nvPr/>
        </p:nvSpPr>
        <p:spPr>
          <a:xfrm flipV="1">
            <a:off x="5715000" y="3214440"/>
            <a:ext cx="762120" cy="68580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 name="Rectangle 10"/>
          <p:cNvSpPr/>
          <p:nvPr/>
        </p:nvSpPr>
        <p:spPr>
          <a:xfrm>
            <a:off x="6477120" y="2681280"/>
            <a:ext cx="160020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CAPACITE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MOTRICE</a:t>
            </a:r>
            <a:endParaRPr b="0" lang="en-US" sz="1400" strike="noStrike" u="none">
              <a:solidFill>
                <a:srgbClr val="ffff00"/>
              </a:solidFill>
              <a:effectLst/>
              <a:uFillTx/>
              <a:latin typeface="Times New Roman"/>
            </a:endParaRPr>
          </a:p>
        </p:txBody>
      </p:sp>
      <p:sp>
        <p:nvSpPr>
          <p:cNvPr id="27" name="Text Box 11"/>
          <p:cNvSpPr/>
          <p:nvPr/>
        </p:nvSpPr>
        <p:spPr>
          <a:xfrm>
            <a:off x="3445200" y="4879800"/>
            <a:ext cx="1557720" cy="947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 DIETETIQUE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 FATIGUE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 MEDICAMENTS</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 BLESSURES</a:t>
            </a:r>
            <a:endParaRPr b="0" lang="en-US" sz="1400" strike="noStrike" u="none">
              <a:solidFill>
                <a:srgbClr val="ffff00"/>
              </a:solidFill>
              <a:effectLst/>
              <a:uFillTx/>
              <a:latin typeface="Times New Roman"/>
            </a:endParaRPr>
          </a:p>
        </p:txBody>
      </p:sp>
      <p:sp>
        <p:nvSpPr>
          <p:cNvPr id="28" name="Line 12"/>
          <p:cNvSpPr/>
          <p:nvPr/>
        </p:nvSpPr>
        <p:spPr>
          <a:xfrm>
            <a:off x="3124080" y="4967280"/>
            <a:ext cx="0" cy="83808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 name="Line 13"/>
          <p:cNvSpPr/>
          <p:nvPr/>
        </p:nvSpPr>
        <p:spPr>
          <a:xfrm flipH="1">
            <a:off x="2209680" y="5272200"/>
            <a:ext cx="914400" cy="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0" name="Text Box 14"/>
          <p:cNvSpPr/>
          <p:nvPr/>
        </p:nvSpPr>
        <p:spPr>
          <a:xfrm>
            <a:off x="3962520" y="1484280"/>
            <a:ext cx="1693800" cy="947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PSYCHOLOGIE PHYSIOLOGIE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BIOLOGIE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BIOMECANIQUE</a:t>
            </a:r>
            <a:endParaRPr b="0" lang="en-US" sz="1400" strike="noStrike" u="none">
              <a:solidFill>
                <a:srgbClr val="ffff00"/>
              </a:solidFill>
              <a:effectLst/>
              <a:uFillTx/>
              <a:latin typeface="Times New Roman"/>
            </a:endParaRPr>
          </a:p>
        </p:txBody>
      </p:sp>
      <p:sp>
        <p:nvSpPr>
          <p:cNvPr id="31" name="Line 15"/>
          <p:cNvSpPr/>
          <p:nvPr/>
        </p:nvSpPr>
        <p:spPr>
          <a:xfrm>
            <a:off x="3962520" y="2492280"/>
            <a:ext cx="17524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2" name="Line 16"/>
          <p:cNvSpPr/>
          <p:nvPr/>
        </p:nvSpPr>
        <p:spPr>
          <a:xfrm>
            <a:off x="4800600" y="2492280"/>
            <a:ext cx="7920" cy="13320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3" name="Text Box 17"/>
          <p:cNvSpPr/>
          <p:nvPr/>
        </p:nvSpPr>
        <p:spPr>
          <a:xfrm>
            <a:off x="379440" y="1536840"/>
            <a:ext cx="175572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AGE BIOLOGIQUE</a:t>
            </a:r>
            <a:endParaRPr b="0" lang="en-US" sz="1400" strike="noStrike" u="none">
              <a:solidFill>
                <a:srgbClr val="ffff00"/>
              </a:solidFill>
              <a:effectLst/>
              <a:uFillTx/>
              <a:latin typeface="Times New Roman"/>
            </a:endParaRPr>
          </a:p>
        </p:txBody>
      </p:sp>
      <p:sp>
        <p:nvSpPr>
          <p:cNvPr id="34" name="Line 18"/>
          <p:cNvSpPr/>
          <p:nvPr/>
        </p:nvSpPr>
        <p:spPr>
          <a:xfrm>
            <a:off x="762120" y="1919160"/>
            <a:ext cx="53316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5" name="Line 19"/>
          <p:cNvSpPr/>
          <p:nvPr/>
        </p:nvSpPr>
        <p:spPr>
          <a:xfrm>
            <a:off x="990720" y="1919160"/>
            <a:ext cx="0" cy="3049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6" name="Text Box 20"/>
          <p:cNvSpPr/>
          <p:nvPr/>
        </p:nvSpPr>
        <p:spPr>
          <a:xfrm>
            <a:off x="6699960" y="264960"/>
            <a:ext cx="13258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PRODUIT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37" name="Text Box 21"/>
          <p:cNvSpPr/>
          <p:nvPr/>
        </p:nvSpPr>
        <p:spPr>
          <a:xfrm>
            <a:off x="3892320" y="274680"/>
            <a:ext cx="230040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   PROCESSUS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600" strike="noStrike" u="none">
                <a:solidFill>
                  <a:srgbClr val="ffff00"/>
                </a:solidFill>
                <a:effectLst/>
                <a:uFillTx/>
                <a:latin typeface="Arial"/>
              </a:rPr>
              <a:t>(FONCTIONNEMENT)</a:t>
            </a:r>
            <a:r>
              <a:rPr b="0" lang="es-CL"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
        <p:nvSpPr>
          <p:cNvPr id="38" name="Text Box 22"/>
          <p:cNvSpPr/>
          <p:nvPr/>
        </p:nvSpPr>
        <p:spPr>
          <a:xfrm>
            <a:off x="214200" y="270000"/>
            <a:ext cx="245268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DETERMINANTS</a:t>
            </a:r>
            <a:endParaRPr b="0" lang="en-US" sz="2000" strike="noStrike" u="none">
              <a:solidFill>
                <a:srgbClr val="ffff00"/>
              </a:solidFill>
              <a:effectLst/>
              <a:uFillTx/>
              <a:latin typeface="Times New Roman"/>
            </a:endParaRPr>
          </a:p>
        </p:txBody>
      </p:sp>
      <p:sp>
        <p:nvSpPr>
          <p:cNvPr id="39" name="Text Box 24"/>
          <p:cNvSpPr/>
          <p:nvPr/>
        </p:nvSpPr>
        <p:spPr>
          <a:xfrm>
            <a:off x="6248520" y="4815000"/>
            <a:ext cx="2117520" cy="520920"/>
          </a:xfrm>
          <a:prstGeom prst="rect">
            <a:avLst/>
          </a:prstGeom>
          <a:noFill/>
          <a:ln w="9360">
            <a:solidFill>
              <a:srgbClr val="ffff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PERFORMANCE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MOTRICE</a:t>
            </a:r>
            <a:endParaRPr b="0" lang="en-US" sz="1400" strike="noStrike" u="none">
              <a:solidFill>
                <a:srgbClr val="ffff00"/>
              </a:solidFill>
              <a:effectLst/>
              <a:uFillTx/>
              <a:latin typeface="Times New Roman"/>
            </a:endParaRPr>
          </a:p>
        </p:txBody>
      </p:sp>
      <p:sp>
        <p:nvSpPr>
          <p:cNvPr id="40" name="Line 25"/>
          <p:cNvSpPr/>
          <p:nvPr/>
        </p:nvSpPr>
        <p:spPr>
          <a:xfrm>
            <a:off x="5715000" y="4129200"/>
            <a:ext cx="762120" cy="60948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1" name="Line 26"/>
          <p:cNvSpPr/>
          <p:nvPr/>
        </p:nvSpPr>
        <p:spPr>
          <a:xfrm>
            <a:off x="7238880" y="3290760"/>
            <a:ext cx="0" cy="1447920"/>
          </a:xfrm>
          <a:prstGeom prst="line">
            <a:avLst/>
          </a:prstGeom>
          <a:ln w="28440">
            <a:solidFill>
              <a:srgbClr val="ffff00"/>
            </a:solidFill>
            <a:prstDash val="sysDot"/>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2" name="ZoneTexte 1"/>
          <p:cNvSpPr/>
          <p:nvPr/>
        </p:nvSpPr>
        <p:spPr>
          <a:xfrm>
            <a:off x="3492000" y="2832120"/>
            <a:ext cx="2711160" cy="779760"/>
          </a:xfrm>
          <a:prstGeom prst="rect">
            <a:avLst/>
          </a:prstGeom>
          <a:solidFill>
            <a:srgbClr val="7030a0"/>
          </a:solidFill>
          <a:ln w="0">
            <a:noFill/>
          </a:ln>
        </p:spPr>
        <p:style>
          <a:lnRef idx="0"/>
          <a:fillRef idx="0"/>
          <a:effectRef idx="0"/>
          <a:fontRef idx="minor"/>
        </p:style>
        <p:txBody>
          <a:bodyPr wrap="none" lIns="90000" rIns="90000" tIns="46800" bIns="46800" anchor="t">
            <a:spAutoFit/>
          </a:bodyPr>
          <a:p>
            <a:pPr algn="ctr">
              <a:lnSpc>
                <a:spcPts val="18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fffff"/>
                </a:solidFill>
                <a:effectLst/>
                <a:uFillTx/>
                <a:latin typeface="Calibri"/>
                <a:ea typeface="Calibri"/>
              </a:rPr>
              <a:t>Apprentissages et </a:t>
            </a:r>
            <a:endParaRPr b="0" lang="en-US" sz="1800" strike="noStrike" u="none">
              <a:solidFill>
                <a:srgbClr val="ffff00"/>
              </a:solidFill>
              <a:effectLst/>
              <a:uFillTx/>
              <a:latin typeface="Times New Roman"/>
            </a:endParaRPr>
          </a:p>
          <a:p>
            <a:pPr algn="ctr">
              <a:lnSpc>
                <a:spcPts val="18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fffff"/>
                </a:solidFill>
                <a:effectLst/>
                <a:uFillTx/>
                <a:latin typeface="Calibri"/>
                <a:ea typeface="Calibri"/>
              </a:rPr>
              <a:t>expériences motrices </a:t>
            </a:r>
            <a:endParaRPr b="0" lang="en-US" sz="1800" strike="noStrike" u="none">
              <a:solidFill>
                <a:srgbClr val="ffff00"/>
              </a:solidFill>
              <a:effectLst/>
              <a:uFillTx/>
              <a:latin typeface="Times New Roman"/>
            </a:endParaRPr>
          </a:p>
          <a:p>
            <a:pPr algn="ctr">
              <a:lnSpc>
                <a:spcPts val="18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fffff"/>
                </a:solidFill>
                <a:effectLst/>
                <a:uFillTx/>
                <a:latin typeface="Calibri"/>
                <a:ea typeface="Calibri"/>
              </a:rPr>
              <a:t>antérieures</a:t>
            </a:r>
            <a:endParaRPr b="0" lang="en-US" sz="1800" strike="noStrike" u="none">
              <a:solidFill>
                <a:srgbClr val="ffff00"/>
              </a:solidFill>
              <a:effectLst/>
              <a:uFillTx/>
              <a:latin typeface="Times New Roman"/>
            </a:endParaRPr>
          </a:p>
        </p:txBody>
      </p:sp>
    </p:spTree>
  </p:cSld>
  <p:transition spd="med">
    <p:zoom dir="out"/>
  </p:transition>
  <p:timing>
    <p:tnLst>
      <p:par>
        <p:cTn id="64" dur="indefinite" restart="never" nodeType="tmRoot">
          <p:childTnLst>
            <p:seq>
              <p:cTn id="65" dur="indefinite" nodeType="mainSeq">
                <p:childTnLst>
                  <p:par>
                    <p:cTn id="66" nodeType="clickEffect" fill="hold">
                      <p:stCondLst>
                        <p:cond delay="indefinite"/>
                      </p:stCondLst>
                      <p:childTnLst>
                        <p:par>
                          <p:cTn id="67" nodeType="withEffect" fill="hold">
                            <p:stCondLst>
                              <p:cond delay="0"/>
                            </p:stCondLst>
                            <p:childTnLst>
                              <p:par>
                                <p:cTn id="68" nodeType="clickEffect" fill="hold" presetClass="entr" presetID="2" presetSubtype="1">
                                  <p:stCondLst>
                                    <p:cond delay="0"/>
                                  </p:stCondLst>
                                  <p:iterate type="wd">
                                    <p:tmAbs val="300"/>
                                  </p:iterate>
                                  <p:childTnLst>
                                    <p:set>
                                      <p:cBhvr>
                                        <p:cTn id="69" dur="1" fill="hold">
                                          <p:stCondLst>
                                            <p:cond delay="0"/>
                                          </p:stCondLst>
                                        </p:cTn>
                                        <p:tgtEl>
                                          <p:spTgt spid="33"/>
                                        </p:tgtEl>
                                        <p:attrNameLst>
                                          <p:attrName>style.visibility</p:attrName>
                                        </p:attrNameLst>
                                      </p:cBhvr>
                                      <p:to>
                                        <p:strVal val="visible"/>
                                      </p:to>
                                    </p:set>
                                    <p:anim calcmode="lin" valueType="num">
                                      <p:cBhvr additive="base">
                                        <p:cTn id="70" dur="300" fill="hold"/>
                                        <p:tgtEl>
                                          <p:spTgt spid="33"/>
                                        </p:tgtEl>
                                        <p:attrNameLst>
                                          <p:attrName>ppt_x</p:attrName>
                                        </p:attrNameLst>
                                      </p:cBhvr>
                                      <p:tavLst>
                                        <p:tav tm="0">
                                          <p:val>
                                            <p:strVal val="#ppt_x"/>
                                          </p:val>
                                        </p:tav>
                                        <p:tav tm="100000">
                                          <p:val>
                                            <p:strVal val="#ppt_x"/>
                                          </p:val>
                                        </p:tav>
                                      </p:tavLst>
                                    </p:anim>
                                    <p:anim calcmode="lin" valueType="num">
                                      <p:cBhvr additive="base">
                                        <p:cTn id="71" dur="300" fill="hold"/>
                                        <p:tgtEl>
                                          <p:spTgt spid="33"/>
                                        </p:tgtEl>
                                        <p:attrNameLst>
                                          <p:attrName>ppt_y</p:attrName>
                                        </p:attrNameLst>
                                      </p:cBhvr>
                                      <p:tavLst>
                                        <p:tav tm="0">
                                          <p:val>
                                            <p:strVal val="0-#ppt_h/2"/>
                                          </p:val>
                                        </p:tav>
                                        <p:tav tm="100000">
                                          <p:val>
                                            <p:strVal val="#ppt_y"/>
                                          </p:val>
                                        </p:tav>
                                      </p:tavLst>
                                    </p:anim>
                                  </p:childTnLst>
                                </p:cTn>
                              </p:par>
                            </p:childTnLst>
                          </p:cTn>
                        </p:par>
                        <p:par>
                          <p:cTn id="72" nodeType="afterEffect" fill="hold">
                            <p:stCondLst>
                              <p:cond delay="600"/>
                            </p:stCondLst>
                            <p:childTnLst>
                              <p:par>
                                <p:cTn id="73" nodeType="afterEffect" fill="hold" presetClass="entr" presetID="1">
                                  <p:stCondLst>
                                    <p:cond delay="0"/>
                                  </p:stCondLst>
                                  <p:childTnLst>
                                    <p:set>
                                      <p:cBhvr>
                                        <p:cTn id="74" dur="1" fill="hold">
                                          <p:stCondLst>
                                            <p:cond delay="499"/>
                                          </p:stCondLst>
                                        </p:cTn>
                                        <p:tgtEl>
                                          <p:spTgt spid="34"/>
                                        </p:tgtEl>
                                        <p:attrNameLst>
                                          <p:attrName>style.visibility</p:attrName>
                                        </p:attrNameLst>
                                      </p:cBhvr>
                                      <p:to>
                                        <p:strVal val="visible"/>
                                      </p:to>
                                    </p:set>
                                  </p:childTnLst>
                                </p:cTn>
                              </p:par>
                            </p:childTnLst>
                          </p:cTn>
                        </p:par>
                        <p:par>
                          <p:cTn id="75" nodeType="afterEffect" fill="hold">
                            <p:stCondLst>
                              <p:cond delay="1100"/>
                            </p:stCondLst>
                            <p:childTnLst>
                              <p:par>
                                <p:cTn id="76" nodeType="afterEffect" fill="hold" presetClass="entr" presetID="9">
                                  <p:stCondLst>
                                    <p:cond delay="0"/>
                                  </p:stCondLst>
                                  <p:childTnLst>
                                    <p:set>
                                      <p:cBhvr>
                                        <p:cTn id="77" dur="1" fill="hold">
                                          <p:stCondLst>
                                            <p:cond delay="0"/>
                                          </p:stCondLst>
                                        </p:cTn>
                                        <p:tgtEl>
                                          <p:spTgt spid="35"/>
                                        </p:tgtEl>
                                        <p:attrNameLst>
                                          <p:attrName>style.visibility</p:attrName>
                                        </p:attrNameLst>
                                      </p:cBhvr>
                                      <p:to>
                                        <p:strVal val="visible"/>
                                      </p:to>
                                    </p:set>
                                    <p:animEffect filter="dissolve" transition="in">
                                      <p:cBhvr additive="repl">
                                        <p:cTn id="78" dur="500"/>
                                        <p:tgtEl>
                                          <p:spTgt spid="35"/>
                                        </p:tgtEl>
                                      </p:cBhvr>
                                    </p:animEffect>
                                  </p:childTnLst>
                                </p:cTn>
                              </p:par>
                            </p:childTnLst>
                          </p:cTn>
                        </p:par>
                        <p:par>
                          <p:cTn id="79" nodeType="afterEffect" fill="hold">
                            <p:stCondLst>
                              <p:cond delay="1600"/>
                            </p:stCondLst>
                            <p:childTnLst>
                              <p:par>
                                <p:cTn id="80" nodeType="afterEffect" fill="hold" presetClass="entr" presetID="9">
                                  <p:stCondLst>
                                    <p:cond delay="0"/>
                                  </p:stCondLst>
                                  <p:iterate type="wd">
                                    <p:tmAbs val="300"/>
                                  </p:iterate>
                                  <p:childTnLst>
                                    <p:set>
                                      <p:cBhvr>
                                        <p:cTn id="81" dur="1" fill="hold">
                                          <p:stCondLst>
                                            <p:cond delay="0"/>
                                          </p:stCondLst>
                                        </p:cTn>
                                        <p:tgtEl>
                                          <p:spTgt spid="18"/>
                                        </p:tgtEl>
                                        <p:attrNameLst>
                                          <p:attrName>style.visibility</p:attrName>
                                        </p:attrNameLst>
                                      </p:cBhvr>
                                      <p:to>
                                        <p:strVal val="visible"/>
                                      </p:to>
                                    </p:set>
                                    <p:animEffect filter="dissolve" transition="in">
                                      <p:cBhvr additive="repl">
                                        <p:cTn id="82" dur="300"/>
                                        <p:tgtEl>
                                          <p:spTgt spid="18"/>
                                        </p:tgtEl>
                                      </p:cBhvr>
                                    </p:animEffect>
                                  </p:childTnLst>
                                </p:cTn>
                              </p:par>
                            </p:childTnLst>
                          </p:cTn>
                        </p:par>
                        <p:par>
                          <p:cTn id="83" nodeType="afterEffect" fill="hold">
                            <p:stCondLst>
                              <p:cond delay="3700"/>
                            </p:stCondLst>
                            <p:childTnLst>
                              <p:par>
                                <p:cTn id="84" nodeType="afterEffect" fill="hold" presetClass="entr" presetID="9">
                                  <p:stCondLst>
                                    <p:cond delay="0"/>
                                  </p:stCondLst>
                                  <p:iterate type="wd">
                                    <p:tmAbs val="300"/>
                                  </p:iterate>
                                  <p:childTnLst>
                                    <p:set>
                                      <p:cBhvr>
                                        <p:cTn id="85" dur="1" fill="hold">
                                          <p:stCondLst>
                                            <p:cond delay="0"/>
                                          </p:stCondLst>
                                        </p:cTn>
                                        <p:tgtEl>
                                          <p:spTgt spid="19"/>
                                        </p:tgtEl>
                                        <p:attrNameLst>
                                          <p:attrName>style.visibility</p:attrName>
                                        </p:attrNameLst>
                                      </p:cBhvr>
                                      <p:to>
                                        <p:strVal val="visible"/>
                                      </p:to>
                                    </p:set>
                                    <p:animEffect filter="dissolve" transition="in">
                                      <p:cBhvr additive="repl">
                                        <p:cTn id="86" dur="300"/>
                                        <p:tgtEl>
                                          <p:spTgt spid="19"/>
                                        </p:tgtEl>
                                      </p:cBhvr>
                                    </p:animEffect>
                                  </p:childTnLst>
                                </p:cTn>
                              </p:par>
                            </p:childTnLst>
                          </p:cTn>
                        </p:par>
                        <p:par>
                          <p:cTn id="87" nodeType="afterEffect" fill="hold">
                            <p:stCondLst>
                              <p:cond delay="4900"/>
                            </p:stCondLst>
                            <p:childTnLst>
                              <p:par>
                                <p:cTn id="88" nodeType="afterEffect" fill="hold" presetClass="entr" presetID="9">
                                  <p:stCondLst>
                                    <p:cond delay="0"/>
                                  </p:stCondLst>
                                  <p:iterate type="lt">
                                    <p:tmAbs val="75"/>
                                  </p:iterate>
                                  <p:childTnLst>
                                    <p:set>
                                      <p:cBhvr>
                                        <p:cTn id="89" dur="1" fill="hold">
                                          <p:stCondLst>
                                            <p:cond delay="0"/>
                                          </p:stCondLst>
                                        </p:cTn>
                                        <p:tgtEl>
                                          <p:spTgt spid="20"/>
                                        </p:tgtEl>
                                        <p:attrNameLst>
                                          <p:attrName>style.visibility</p:attrName>
                                        </p:attrNameLst>
                                      </p:cBhvr>
                                      <p:to>
                                        <p:strVal val="visible"/>
                                      </p:to>
                                    </p:set>
                                    <p:animEffect filter="dissolve" transition="in">
                                      <p:cBhvr additive="repl">
                                        <p:cTn id="90" dur="75"/>
                                        <p:tgtEl>
                                          <p:spTgt spid="20"/>
                                        </p:tgtEl>
                                      </p:cBhvr>
                                    </p:animEffect>
                                  </p:childTnLst>
                                </p:cTn>
                              </p:par>
                            </p:childTnLst>
                          </p:cTn>
                        </p:par>
                        <p:par>
                          <p:cTn id="91" nodeType="afterEffect" fill="hold">
                            <p:stCondLst>
                              <p:cond delay="5725"/>
                            </p:stCondLst>
                            <p:childTnLst>
                              <p:par>
                                <p:cTn id="92" nodeType="afterEffect" fill="hold" presetClass="entr" presetID="9">
                                  <p:stCondLst>
                                    <p:cond delay="0"/>
                                  </p:stCondLst>
                                  <p:iterate type="wd">
                                    <p:tmAbs val="300"/>
                                  </p:iterate>
                                  <p:childTnLst>
                                    <p:set>
                                      <p:cBhvr>
                                        <p:cTn id="93" dur="1" fill="hold">
                                          <p:stCondLst>
                                            <p:cond delay="0"/>
                                          </p:stCondLst>
                                        </p:cTn>
                                        <p:tgtEl>
                                          <p:spTgt spid="27"/>
                                        </p:tgtEl>
                                        <p:attrNameLst>
                                          <p:attrName>style.visibility</p:attrName>
                                        </p:attrNameLst>
                                      </p:cBhvr>
                                      <p:to>
                                        <p:strVal val="visible"/>
                                      </p:to>
                                    </p:set>
                                    <p:animEffect filter="dissolve" transition="in">
                                      <p:cBhvr additive="repl">
                                        <p:cTn id="94" dur="300"/>
                                        <p:tgtEl>
                                          <p:spTgt spid="27"/>
                                        </p:tgtEl>
                                      </p:cBhvr>
                                    </p:animEffect>
                                  </p:childTnLst>
                                </p:cTn>
                              </p:par>
                            </p:childTnLst>
                          </p:cTn>
                        </p:par>
                        <p:par>
                          <p:cTn id="95" nodeType="afterEffect" fill="hold">
                            <p:stCondLst>
                              <p:cond delay="8125"/>
                            </p:stCondLst>
                            <p:childTnLst>
                              <p:par>
                                <p:cTn id="96" nodeType="afterEffect" fill="hold" presetClass="entr" presetID="1">
                                  <p:stCondLst>
                                    <p:cond delay="0"/>
                                  </p:stCondLst>
                                  <p:childTnLst>
                                    <p:set>
                                      <p:cBhvr>
                                        <p:cTn id="97" dur="1" fill="hold">
                                          <p:stCondLst>
                                            <p:cond delay="499"/>
                                          </p:stCondLst>
                                        </p:cTn>
                                        <p:tgtEl>
                                          <p:spTgt spid="28"/>
                                        </p:tgtEl>
                                        <p:attrNameLst>
                                          <p:attrName>style.visibility</p:attrName>
                                        </p:attrNameLst>
                                      </p:cBhvr>
                                      <p:to>
                                        <p:strVal val="visible"/>
                                      </p:to>
                                    </p:set>
                                  </p:childTnLst>
                                </p:cTn>
                              </p:par>
                            </p:childTnLst>
                          </p:cTn>
                        </p:par>
                        <p:par>
                          <p:cTn id="98" nodeType="afterEffect" fill="hold">
                            <p:stCondLst>
                              <p:cond delay="8625"/>
                            </p:stCondLst>
                            <p:childTnLst>
                              <p:par>
                                <p:cTn id="99" nodeType="afterEffect" fill="hold" presetClass="entr" presetID="9">
                                  <p:stCondLst>
                                    <p:cond delay="0"/>
                                  </p:stCondLst>
                                  <p:childTnLst>
                                    <p:set>
                                      <p:cBhvr>
                                        <p:cTn id="100" dur="1" fill="hold">
                                          <p:stCondLst>
                                            <p:cond delay="0"/>
                                          </p:stCondLst>
                                        </p:cTn>
                                        <p:tgtEl>
                                          <p:spTgt spid="29"/>
                                        </p:tgtEl>
                                        <p:attrNameLst>
                                          <p:attrName>style.visibility</p:attrName>
                                        </p:attrNameLst>
                                      </p:cBhvr>
                                      <p:to>
                                        <p:strVal val="visible"/>
                                      </p:to>
                                    </p:set>
                                    <p:animEffect filter="dissolve" transition="in">
                                      <p:cBhvr additive="repl">
                                        <p:cTn id="101" dur="500"/>
                                        <p:tgtEl>
                                          <p:spTgt spid="29"/>
                                        </p:tgtEl>
                                      </p:cBhvr>
                                    </p:animEffect>
                                  </p:childTnLst>
                                </p:cTn>
                              </p:par>
                            </p:childTnLst>
                          </p:cTn>
                        </p:par>
                      </p:childTnLst>
                    </p:cTn>
                  </p:par>
                  <p:par>
                    <p:cTn id="102" nodeType="clickEffect" fill="hold">
                      <p:stCondLst>
                        <p:cond delay="indefinite"/>
                      </p:stCondLst>
                      <p:childTnLst>
                        <p:par>
                          <p:cTn id="103" nodeType="withEffect" fill="hold">
                            <p:stCondLst>
                              <p:cond delay="0"/>
                            </p:stCondLst>
                            <p:childTnLst>
                              <p:par>
                                <p:cTn id="104" nodeType="clickEffect" fill="hold" presetClass="entr" presetID="9">
                                  <p:stCondLst>
                                    <p:cond delay="0"/>
                                  </p:stCondLst>
                                  <p:childTnLst>
                                    <p:set>
                                      <p:cBhvr>
                                        <p:cTn id="105" dur="1" fill="hold">
                                          <p:stCondLst>
                                            <p:cond delay="0"/>
                                          </p:stCondLst>
                                        </p:cTn>
                                        <p:tgtEl>
                                          <p:spTgt spid="21"/>
                                        </p:tgtEl>
                                        <p:attrNameLst>
                                          <p:attrName>style.visibility</p:attrName>
                                        </p:attrNameLst>
                                      </p:cBhvr>
                                      <p:to>
                                        <p:strVal val="visible"/>
                                      </p:to>
                                    </p:set>
                                    <p:animEffect filter="dissolve" transition="in">
                                      <p:cBhvr additive="repl">
                                        <p:cTn id="106" dur="500"/>
                                        <p:tgtEl>
                                          <p:spTgt spid="21"/>
                                        </p:tgtEl>
                                      </p:cBhvr>
                                    </p:animEffect>
                                  </p:childTnLst>
                                </p:cTn>
                              </p:par>
                              <p:par>
                                <p:cTn id="107" nodeType="withEffect" fill="hold" presetClass="entr" presetID="9">
                                  <p:stCondLst>
                                    <p:cond delay="0"/>
                                  </p:stCondLst>
                                  <p:childTnLst>
                                    <p:set>
                                      <p:cBhvr>
                                        <p:cTn id="108" dur="1" fill="hold">
                                          <p:stCondLst>
                                            <p:cond delay="0"/>
                                          </p:stCondLst>
                                        </p:cTn>
                                        <p:tgtEl>
                                          <p:spTgt spid="22"/>
                                        </p:tgtEl>
                                        <p:attrNameLst>
                                          <p:attrName>style.visibility</p:attrName>
                                        </p:attrNameLst>
                                      </p:cBhvr>
                                      <p:to>
                                        <p:strVal val="visible"/>
                                      </p:to>
                                    </p:set>
                                    <p:animEffect filter="dissolve" transition="in">
                                      <p:cBhvr additive="repl">
                                        <p:cTn id="109" dur="500"/>
                                        <p:tgtEl>
                                          <p:spTgt spid="22"/>
                                        </p:tgtEl>
                                      </p:cBhvr>
                                    </p:animEffect>
                                  </p:childTnLst>
                                </p:cTn>
                              </p:par>
                              <p:par>
                                <p:cTn id="110" nodeType="withEffect" fill="hold" presetClass="entr" presetID="9">
                                  <p:stCondLst>
                                    <p:cond delay="0"/>
                                  </p:stCondLst>
                                  <p:childTnLst>
                                    <p:set>
                                      <p:cBhvr>
                                        <p:cTn id="111" dur="1" fill="hold">
                                          <p:stCondLst>
                                            <p:cond delay="0"/>
                                          </p:stCondLst>
                                        </p:cTn>
                                        <p:tgtEl>
                                          <p:spTgt spid="23"/>
                                        </p:tgtEl>
                                        <p:attrNameLst>
                                          <p:attrName>style.visibility</p:attrName>
                                        </p:attrNameLst>
                                      </p:cBhvr>
                                      <p:to>
                                        <p:strVal val="visible"/>
                                      </p:to>
                                    </p:set>
                                    <p:animEffect filter="dissolve" transition="in">
                                      <p:cBhvr additive="repl">
                                        <p:cTn id="112" dur="500"/>
                                        <p:tgtEl>
                                          <p:spTgt spid="23"/>
                                        </p:tgtEl>
                                      </p:cBhvr>
                                    </p:animEffect>
                                  </p:childTnLst>
                                </p:cTn>
                              </p:par>
                            </p:childTnLst>
                          </p:cTn>
                        </p:par>
                        <p:par>
                          <p:cTn id="113" nodeType="afterEffect" fill="hold">
                            <p:stCondLst>
                              <p:cond delay="500"/>
                            </p:stCondLst>
                            <p:childTnLst>
                              <p:par>
                                <p:cTn id="114" nodeType="afterEffect" fill="hold" presetClass="entr" presetID="2" presetSubtype="1">
                                  <p:stCondLst>
                                    <p:cond delay="0"/>
                                  </p:stCondLst>
                                  <p:iterate type="lt">
                                    <p:tmAbs val="75"/>
                                  </p:iterate>
                                  <p:childTnLst>
                                    <p:set>
                                      <p:cBhvr>
                                        <p:cTn id="115" dur="1" fill="hold">
                                          <p:stCondLst>
                                            <p:cond delay="0"/>
                                          </p:stCondLst>
                                        </p:cTn>
                                        <p:tgtEl>
                                          <p:spTgt spid="24"/>
                                        </p:tgtEl>
                                        <p:attrNameLst>
                                          <p:attrName>style.visibility</p:attrName>
                                        </p:attrNameLst>
                                      </p:cBhvr>
                                      <p:to>
                                        <p:strVal val="visible"/>
                                      </p:to>
                                    </p:set>
                                    <p:anim calcmode="lin" valueType="num">
                                      <p:cBhvr additive="base">
                                        <p:cTn id="116" dur="75" fill="hold"/>
                                        <p:tgtEl>
                                          <p:spTgt spid="24"/>
                                        </p:tgtEl>
                                        <p:attrNameLst>
                                          <p:attrName>ppt_x</p:attrName>
                                        </p:attrNameLst>
                                      </p:cBhvr>
                                      <p:tavLst>
                                        <p:tav tm="0">
                                          <p:val>
                                            <p:strVal val="#ppt_x"/>
                                          </p:val>
                                        </p:tav>
                                        <p:tav tm="100000">
                                          <p:val>
                                            <p:strVal val="#ppt_x"/>
                                          </p:val>
                                        </p:tav>
                                      </p:tavLst>
                                    </p:anim>
                                    <p:anim calcmode="lin" valueType="num">
                                      <p:cBhvr additive="base">
                                        <p:cTn id="117" dur="75"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118" nodeType="clickEffect" fill="hold">
                      <p:stCondLst>
                        <p:cond delay="indefinite"/>
                      </p:stCondLst>
                      <p:childTnLst>
                        <p:par>
                          <p:cTn id="119" nodeType="withEffect" fill="hold">
                            <p:stCondLst>
                              <p:cond delay="0"/>
                            </p:stCondLst>
                            <p:childTnLst>
                              <p:par>
                                <p:cTn id="120" nodeType="clickEffect" fill="hold" presetClass="entr" presetID="9">
                                  <p:stCondLst>
                                    <p:cond delay="0"/>
                                  </p:stCondLst>
                                  <p:childTnLst>
                                    <p:set>
                                      <p:cBhvr>
                                        <p:cTn id="121" dur="1" fill="hold">
                                          <p:stCondLst>
                                            <p:cond delay="0"/>
                                          </p:stCondLst>
                                        </p:cTn>
                                        <p:tgtEl>
                                          <p:spTgt spid="30"/>
                                        </p:tgtEl>
                                        <p:attrNameLst>
                                          <p:attrName>style.visibility</p:attrName>
                                        </p:attrNameLst>
                                      </p:cBhvr>
                                      <p:to>
                                        <p:strVal val="visible"/>
                                      </p:to>
                                    </p:set>
                                    <p:animEffect filter="dissolve" transition="in">
                                      <p:cBhvr additive="repl">
                                        <p:cTn id="122" dur="500"/>
                                        <p:tgtEl>
                                          <p:spTgt spid="30"/>
                                        </p:tgtEl>
                                      </p:cBhvr>
                                    </p:animEffect>
                                  </p:childTnLst>
                                </p:cTn>
                              </p:par>
                            </p:childTnLst>
                          </p:cTn>
                        </p:par>
                        <p:par>
                          <p:cTn id="123" nodeType="afterEffect" fill="hold">
                            <p:stCondLst>
                              <p:cond delay="500"/>
                            </p:stCondLst>
                            <p:childTnLst>
                              <p:par>
                                <p:cTn id="124" nodeType="afterEffect" fill="hold" presetClass="entr" presetID="1">
                                  <p:stCondLst>
                                    <p:cond delay="0"/>
                                  </p:stCondLst>
                                  <p:childTnLst>
                                    <p:set>
                                      <p:cBhvr>
                                        <p:cTn id="125" dur="1" fill="hold">
                                          <p:stCondLst>
                                            <p:cond delay="499"/>
                                          </p:stCondLst>
                                        </p:cTn>
                                        <p:tgtEl>
                                          <p:spTgt spid="31"/>
                                        </p:tgtEl>
                                        <p:attrNameLst>
                                          <p:attrName>style.visibility</p:attrName>
                                        </p:attrNameLst>
                                      </p:cBhvr>
                                      <p:to>
                                        <p:strVal val="visible"/>
                                      </p:to>
                                    </p:set>
                                  </p:childTnLst>
                                </p:cTn>
                              </p:par>
                            </p:childTnLst>
                          </p:cTn>
                        </p:par>
                        <p:par>
                          <p:cTn id="126" nodeType="afterEffect" fill="hold">
                            <p:stCondLst>
                              <p:cond delay="1000"/>
                            </p:stCondLst>
                            <p:childTnLst>
                              <p:par>
                                <p:cTn id="127" nodeType="afterEffect" fill="hold" presetClass="entr" presetID="9">
                                  <p:stCondLst>
                                    <p:cond delay="0"/>
                                  </p:stCondLst>
                                  <p:childTnLst>
                                    <p:set>
                                      <p:cBhvr>
                                        <p:cTn id="128" dur="1" fill="hold">
                                          <p:stCondLst>
                                            <p:cond delay="0"/>
                                          </p:stCondLst>
                                        </p:cTn>
                                        <p:tgtEl>
                                          <p:spTgt spid="32"/>
                                        </p:tgtEl>
                                        <p:attrNameLst>
                                          <p:attrName>style.visibility</p:attrName>
                                        </p:attrNameLst>
                                      </p:cBhvr>
                                      <p:to>
                                        <p:strVal val="visible"/>
                                      </p:to>
                                    </p:set>
                                    <p:animEffect filter="dissolve" transition="in">
                                      <p:cBhvr additive="repl">
                                        <p:cTn id="129" dur="500"/>
                                        <p:tgtEl>
                                          <p:spTgt spid="32"/>
                                        </p:tgtEl>
                                      </p:cBhvr>
                                    </p:animEffect>
                                  </p:childTnLst>
                                </p:cTn>
                              </p:par>
                            </p:childTnLst>
                          </p:cTn>
                        </p:par>
                      </p:childTnLst>
                    </p:cTn>
                  </p:par>
                  <p:par>
                    <p:cTn id="130" nodeType="clickEffect" fill="hold">
                      <p:stCondLst>
                        <p:cond delay="indefinite"/>
                      </p:stCondLst>
                      <p:childTnLst>
                        <p:par>
                          <p:cTn id="131" nodeType="withEffect" fill="hold">
                            <p:stCondLst>
                              <p:cond delay="0"/>
                            </p:stCondLst>
                            <p:childTnLst>
                              <p:par>
                                <p:cTn id="132" nodeType="clickEffect" fill="hold" presetClass="entr" presetID="53" presetSubtype="16">
                                  <p:stCondLst>
                                    <p:cond delay="0"/>
                                  </p:stCondLst>
                                  <p:childTnLst>
                                    <p:set>
                                      <p:cBhvr>
                                        <p:cTn id="133" dur="1" fill="hold">
                                          <p:stCondLst>
                                            <p:cond delay="0"/>
                                          </p:stCondLst>
                                        </p:cTn>
                                        <p:tgtEl>
                                          <p:spTgt spid="42"/>
                                        </p:tgtEl>
                                        <p:attrNameLst>
                                          <p:attrName>style.visibility</p:attrName>
                                        </p:attrNameLst>
                                      </p:cBhvr>
                                      <p:to>
                                        <p:strVal val="visible"/>
                                      </p:to>
                                    </p:set>
                                    <p:anim calcmode="lin" valueType="num">
                                      <p:cBhvr additive="repl">
                                        <p:cTn id="134" dur="500" fill="hold"/>
                                        <p:tgtEl>
                                          <p:spTgt spid="42"/>
                                        </p:tgtEl>
                                        <p:attrNameLst>
                                          <p:attrName>ppt_w</p:attrName>
                                        </p:attrNameLst>
                                      </p:cBhvr>
                                      <p:tavLst>
                                        <p:tav tm="0">
                                          <p:val>
                                            <p:fltVal val="0"/>
                                          </p:val>
                                        </p:tav>
                                        <p:tav tm="100000">
                                          <p:val>
                                            <p:strVal val="#ppt_w"/>
                                          </p:val>
                                        </p:tav>
                                      </p:tavLst>
                                    </p:anim>
                                    <p:anim calcmode="lin" valueType="num">
                                      <p:cBhvr additive="repl">
                                        <p:cTn id="135" dur="500" fill="hold"/>
                                        <p:tgtEl>
                                          <p:spTgt spid="42"/>
                                        </p:tgtEl>
                                        <p:attrNameLst>
                                          <p:attrName>ppt_h</p:attrName>
                                        </p:attrNameLst>
                                      </p:cBhvr>
                                      <p:tavLst>
                                        <p:tav tm="0">
                                          <p:val>
                                            <p:fltVal val="0"/>
                                          </p:val>
                                        </p:tav>
                                        <p:tav tm="100000">
                                          <p:val>
                                            <p:strVal val="#ppt_h"/>
                                          </p:val>
                                        </p:tav>
                                      </p:tavLst>
                                    </p:anim>
                                    <p:animEffect filter="fade" transition="in">
                                      <p:cBhvr additive="repl">
                                        <p:cTn id="136" dur="500"/>
                                        <p:tgtEl>
                                          <p:spTgt spid="42"/>
                                        </p:tgtEl>
                                      </p:cBhvr>
                                    </p:animEffect>
                                  </p:childTnLst>
                                </p:cTn>
                              </p:par>
                            </p:childTnLst>
                          </p:cTn>
                        </p:par>
                      </p:childTnLst>
                    </p:cTn>
                  </p:par>
                  <p:par>
                    <p:cTn id="137" nodeType="clickEffect" fill="hold">
                      <p:stCondLst>
                        <p:cond delay="indefinite"/>
                      </p:stCondLst>
                      <p:childTnLst>
                        <p:par>
                          <p:cTn id="138" nodeType="withEffect" fill="hold">
                            <p:stCondLst>
                              <p:cond delay="0"/>
                            </p:stCondLst>
                            <p:childTnLst>
                              <p:par>
                                <p:cTn id="139" nodeType="clickEffect" fill="hold" presetClass="entr" presetID="9">
                                  <p:stCondLst>
                                    <p:cond delay="0"/>
                                  </p:stCondLst>
                                  <p:childTnLst>
                                    <p:set>
                                      <p:cBhvr>
                                        <p:cTn id="140" dur="1" fill="hold">
                                          <p:stCondLst>
                                            <p:cond delay="0"/>
                                          </p:stCondLst>
                                        </p:cTn>
                                        <p:tgtEl>
                                          <p:spTgt spid="25"/>
                                        </p:tgtEl>
                                        <p:attrNameLst>
                                          <p:attrName>style.visibility</p:attrName>
                                        </p:attrNameLst>
                                      </p:cBhvr>
                                      <p:to>
                                        <p:strVal val="visible"/>
                                      </p:to>
                                    </p:set>
                                    <p:animEffect filter="dissolve" transition="in">
                                      <p:cBhvr additive="repl">
                                        <p:cTn id="141" dur="500"/>
                                        <p:tgtEl>
                                          <p:spTgt spid="25"/>
                                        </p:tgtEl>
                                      </p:cBhvr>
                                    </p:animEffect>
                                  </p:childTnLst>
                                </p:cTn>
                              </p:par>
                            </p:childTnLst>
                          </p:cTn>
                        </p:par>
                        <p:par>
                          <p:cTn id="142" nodeType="afterEffect" fill="hold">
                            <p:stCondLst>
                              <p:cond delay="500"/>
                            </p:stCondLst>
                            <p:childTnLst>
                              <p:par>
                                <p:cTn id="143" nodeType="afterEffect" fill="hold" presetClass="entr" presetID="9">
                                  <p:stCondLst>
                                    <p:cond delay="0"/>
                                  </p:stCondLst>
                                  <p:iterate type="lt">
                                    <p:tmAbs val="75"/>
                                  </p:iterate>
                                  <p:childTnLst>
                                    <p:set>
                                      <p:cBhvr>
                                        <p:cTn id="144" dur="1" fill="hold">
                                          <p:stCondLst>
                                            <p:cond delay="0"/>
                                          </p:stCondLst>
                                        </p:cTn>
                                        <p:tgtEl>
                                          <p:spTgt spid="26"/>
                                        </p:tgtEl>
                                        <p:attrNameLst>
                                          <p:attrName>style.visibility</p:attrName>
                                        </p:attrNameLst>
                                      </p:cBhvr>
                                      <p:to>
                                        <p:strVal val="visible"/>
                                      </p:to>
                                    </p:set>
                                    <p:animEffect filter="dissolve" transition="in">
                                      <p:cBhvr additive="repl">
                                        <p:cTn id="145" dur="75"/>
                                        <p:tgtEl>
                                          <p:spTgt spid="26"/>
                                        </p:tgtEl>
                                      </p:cBhvr>
                                    </p:animEffect>
                                  </p:childTnLst>
                                </p:cTn>
                              </p:par>
                            </p:childTnLst>
                          </p:cTn>
                        </p:par>
                      </p:childTnLst>
                    </p:cTn>
                  </p:par>
                  <p:par>
                    <p:cTn id="146" nodeType="clickEffect" fill="hold">
                      <p:stCondLst>
                        <p:cond delay="indefinite"/>
                      </p:stCondLst>
                      <p:childTnLst>
                        <p:par>
                          <p:cTn id="147" nodeType="withEffect" fill="hold">
                            <p:stCondLst>
                              <p:cond delay="0"/>
                            </p:stCondLst>
                            <p:childTnLst>
                              <p:par>
                                <p:cTn id="148" nodeType="clickEffect" fill="hold" presetClass="entr" presetID="22" presetSubtype="1">
                                  <p:stCondLst>
                                    <p:cond delay="0"/>
                                  </p:stCondLst>
                                  <p:childTnLst>
                                    <p:set>
                                      <p:cBhvr>
                                        <p:cTn id="149" dur="1" fill="hold">
                                          <p:stCondLst>
                                            <p:cond delay="0"/>
                                          </p:stCondLst>
                                        </p:cTn>
                                        <p:tgtEl>
                                          <p:spTgt spid="41"/>
                                        </p:tgtEl>
                                        <p:attrNameLst>
                                          <p:attrName>style.visibility</p:attrName>
                                        </p:attrNameLst>
                                      </p:cBhvr>
                                      <p:to>
                                        <p:strVal val="visible"/>
                                      </p:to>
                                    </p:set>
                                    <p:animEffect filter="wipe(up)" transition="in">
                                      <p:cBhvr additive="repl">
                                        <p:cTn id="150" dur="500"/>
                                        <p:tgtEl>
                                          <p:spTgt spid="41"/>
                                        </p:tgtEl>
                                      </p:cBhvr>
                                    </p:animEffect>
                                  </p:childTnLst>
                                </p:cTn>
                              </p:par>
                              <p:par>
                                <p:cTn id="151" nodeType="withEffect" fill="hold" presetClass="entr" presetID="22" presetSubtype="8">
                                  <p:stCondLst>
                                    <p:cond delay="0"/>
                                  </p:stCondLst>
                                  <p:childTnLst>
                                    <p:set>
                                      <p:cBhvr>
                                        <p:cTn id="152" dur="1" fill="hold">
                                          <p:stCondLst>
                                            <p:cond delay="0"/>
                                          </p:stCondLst>
                                        </p:cTn>
                                        <p:tgtEl>
                                          <p:spTgt spid="40"/>
                                        </p:tgtEl>
                                        <p:attrNameLst>
                                          <p:attrName>style.visibility</p:attrName>
                                        </p:attrNameLst>
                                      </p:cBhvr>
                                      <p:to>
                                        <p:strVal val="visible"/>
                                      </p:to>
                                    </p:set>
                                    <p:animEffect filter="wipe(left)" transition="in">
                                      <p:cBhvr additive="repl">
                                        <p:cTn id="153" dur="500"/>
                                        <p:tgtEl>
                                          <p:spTgt spid="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Rectangle 2"/>
          <p:cNvSpPr/>
          <p:nvPr/>
        </p:nvSpPr>
        <p:spPr>
          <a:xfrm>
            <a:off x="228600" y="380880"/>
            <a:ext cx="1600200" cy="609840"/>
          </a:xfrm>
          <a:prstGeom prst="rect">
            <a:avLst/>
          </a:prstGeom>
          <a:solidFill>
            <a:srgbClr val="ffccff"/>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600" strike="noStrike" u="none">
                <a:solidFill>
                  <a:srgbClr val="000000"/>
                </a:solidFill>
                <a:effectLst/>
                <a:uFillTx/>
                <a:latin typeface="Arial"/>
              </a:rPr>
              <a:t>SYSTEME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600" strike="noStrike" u="none">
                <a:solidFill>
                  <a:srgbClr val="000000"/>
                </a:solidFill>
                <a:effectLst/>
                <a:uFillTx/>
                <a:latin typeface="Arial"/>
              </a:rPr>
              <a:t>NERVEUX</a:t>
            </a:r>
            <a:endParaRPr b="0" lang="en-US" sz="1600" strike="noStrike" u="none">
              <a:solidFill>
                <a:srgbClr val="ffff00"/>
              </a:solidFill>
              <a:effectLst/>
              <a:uFillTx/>
              <a:latin typeface="Times New Roman"/>
            </a:endParaRPr>
          </a:p>
        </p:txBody>
      </p:sp>
      <p:sp>
        <p:nvSpPr>
          <p:cNvPr id="44" name="Line 3"/>
          <p:cNvSpPr/>
          <p:nvPr/>
        </p:nvSpPr>
        <p:spPr>
          <a:xfrm>
            <a:off x="914400" y="1066680"/>
            <a:ext cx="0" cy="11430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5" name="Text Box 4"/>
          <p:cNvSpPr/>
          <p:nvPr/>
        </p:nvSpPr>
        <p:spPr>
          <a:xfrm>
            <a:off x="228240" y="2362320"/>
            <a:ext cx="182520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UNITES MOTRICES</a:t>
            </a:r>
            <a:endParaRPr b="0" lang="en-US" sz="1400" strike="noStrike" u="none">
              <a:solidFill>
                <a:srgbClr val="ffff00"/>
              </a:solidFill>
              <a:effectLst/>
              <a:uFillTx/>
              <a:latin typeface="Times New Roman"/>
            </a:endParaRPr>
          </a:p>
        </p:txBody>
      </p:sp>
      <p:sp>
        <p:nvSpPr>
          <p:cNvPr id="46" name="Rectangle 5"/>
          <p:cNvSpPr/>
          <p:nvPr/>
        </p:nvSpPr>
        <p:spPr>
          <a:xfrm>
            <a:off x="228600" y="2286000"/>
            <a:ext cx="1752480" cy="3808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47" name="Line 6"/>
          <p:cNvSpPr/>
          <p:nvPr/>
        </p:nvSpPr>
        <p:spPr>
          <a:xfrm>
            <a:off x="3429000" y="2133720"/>
            <a:ext cx="0" cy="838080"/>
          </a:xfrm>
          <a:prstGeom prst="line">
            <a:avLst/>
          </a:prstGeom>
          <a:ln w="936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8" name="Line 7"/>
          <p:cNvSpPr/>
          <p:nvPr/>
        </p:nvSpPr>
        <p:spPr>
          <a:xfrm>
            <a:off x="3429000" y="2590920"/>
            <a:ext cx="152280" cy="0"/>
          </a:xfrm>
          <a:prstGeom prst="line">
            <a:avLst/>
          </a:prstGeom>
          <a:ln w="9360">
            <a:solidFill>
              <a:srgbClr val="ffffff"/>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49" name="Rectangle 8"/>
          <p:cNvSpPr/>
          <p:nvPr/>
        </p:nvSpPr>
        <p:spPr>
          <a:xfrm>
            <a:off x="3581280" y="2209680"/>
            <a:ext cx="1676520" cy="685800"/>
          </a:xfrm>
          <a:prstGeom prst="rect">
            <a:avLst/>
          </a:prstGeom>
          <a:solidFill>
            <a:srgbClr val="ffccff"/>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000000"/>
                </a:solidFill>
                <a:effectLst/>
                <a:uFillTx/>
                <a:latin typeface="Arial"/>
              </a:rPr>
              <a:t>SYSTEME</a:t>
            </a:r>
            <a:br>
              <a:rPr sz="1400"/>
            </a:br>
            <a:r>
              <a:rPr b="1" lang="es-CL" sz="1400" strike="noStrike" u="none">
                <a:solidFill>
                  <a:srgbClr val="000000"/>
                </a:solidFill>
                <a:effectLst/>
                <a:uFillTx/>
                <a:latin typeface="Arial"/>
              </a:rPr>
              <a:t>NEURO-</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000000"/>
                </a:solidFill>
                <a:effectLst/>
                <a:uFillTx/>
                <a:latin typeface="Arial"/>
              </a:rPr>
              <a:t>MUSCULAIRE</a:t>
            </a:r>
            <a:endParaRPr b="0" lang="en-US" sz="1400" strike="noStrike" u="none">
              <a:solidFill>
                <a:srgbClr val="ffff00"/>
              </a:solidFill>
              <a:effectLst/>
              <a:uFillTx/>
              <a:latin typeface="Times New Roman"/>
            </a:endParaRPr>
          </a:p>
        </p:txBody>
      </p:sp>
      <p:sp>
        <p:nvSpPr>
          <p:cNvPr id="50" name="Rectangle 9"/>
          <p:cNvSpPr/>
          <p:nvPr/>
        </p:nvSpPr>
        <p:spPr>
          <a:xfrm>
            <a:off x="3505320" y="4191120"/>
            <a:ext cx="1676160" cy="609480"/>
          </a:xfrm>
          <a:prstGeom prst="rect">
            <a:avLst/>
          </a:prstGeom>
          <a:solidFill>
            <a:srgbClr val="ffccff"/>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000000"/>
                </a:solidFill>
                <a:effectLst/>
                <a:uFillTx/>
                <a:latin typeface="Arial"/>
              </a:rPr>
              <a:t>SYSTEME</a:t>
            </a:r>
            <a:br>
              <a:rPr sz="1400"/>
            </a:br>
            <a:r>
              <a:rPr b="1" lang="es-CL" sz="1400" strike="noStrike" u="none">
                <a:solidFill>
                  <a:srgbClr val="000000"/>
                </a:solidFill>
                <a:effectLst/>
                <a:uFillTx/>
                <a:latin typeface="Arial"/>
              </a:rPr>
              <a:t>ENERGETIQUE</a:t>
            </a:r>
            <a:endParaRPr b="0" lang="en-US" sz="1400" strike="noStrike" u="none">
              <a:solidFill>
                <a:srgbClr val="ffff00"/>
              </a:solidFill>
              <a:effectLst/>
              <a:uFillTx/>
              <a:latin typeface="Times New Roman"/>
            </a:endParaRPr>
          </a:p>
        </p:txBody>
      </p:sp>
      <p:sp>
        <p:nvSpPr>
          <p:cNvPr id="51" name="Line 10"/>
          <p:cNvSpPr/>
          <p:nvPr/>
        </p:nvSpPr>
        <p:spPr>
          <a:xfrm>
            <a:off x="1981080" y="2514600"/>
            <a:ext cx="76320" cy="0"/>
          </a:xfrm>
          <a:prstGeom prst="line">
            <a:avLst/>
          </a:prstGeom>
          <a:ln w="936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2" name="Text Box 11"/>
          <p:cNvSpPr/>
          <p:nvPr/>
        </p:nvSpPr>
        <p:spPr>
          <a:xfrm>
            <a:off x="533520" y="4038480"/>
            <a:ext cx="2455920" cy="947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ANAEROBIE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AEROBIE</a:t>
            </a:r>
            <a:endParaRPr b="0" lang="en-US" sz="1400" strike="noStrike" u="none">
              <a:solidFill>
                <a:srgbClr val="ffff00"/>
              </a:solidFill>
              <a:effectLst/>
              <a:uFillTx/>
              <a:latin typeface="Times New Roman"/>
            </a:endParaRPr>
          </a:p>
        </p:txBody>
      </p:sp>
      <p:sp>
        <p:nvSpPr>
          <p:cNvPr id="53" name="Line 12"/>
          <p:cNvSpPr/>
          <p:nvPr/>
        </p:nvSpPr>
        <p:spPr>
          <a:xfrm flipV="1">
            <a:off x="1752480" y="4190760"/>
            <a:ext cx="304920" cy="2286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4" name="Text Box 13"/>
          <p:cNvSpPr/>
          <p:nvPr/>
        </p:nvSpPr>
        <p:spPr>
          <a:xfrm>
            <a:off x="2042280" y="4049640"/>
            <a:ext cx="12207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ALACTIQUE</a:t>
            </a:r>
            <a:endParaRPr b="0" lang="en-US" sz="1400" strike="noStrike" u="none">
              <a:solidFill>
                <a:srgbClr val="ffff00"/>
              </a:solidFill>
              <a:effectLst/>
              <a:uFillTx/>
              <a:latin typeface="Times New Roman"/>
            </a:endParaRPr>
          </a:p>
        </p:txBody>
      </p:sp>
      <p:sp>
        <p:nvSpPr>
          <p:cNvPr id="55" name="Line 14"/>
          <p:cNvSpPr/>
          <p:nvPr/>
        </p:nvSpPr>
        <p:spPr>
          <a:xfrm>
            <a:off x="1752480" y="4419720"/>
            <a:ext cx="304920" cy="1522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6" name="Text Box 15"/>
          <p:cNvSpPr/>
          <p:nvPr/>
        </p:nvSpPr>
        <p:spPr>
          <a:xfrm>
            <a:off x="2057400" y="4419720"/>
            <a:ext cx="11541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LACTIQUE</a:t>
            </a:r>
            <a:endParaRPr b="0" lang="en-US" sz="1400" strike="noStrike" u="none">
              <a:solidFill>
                <a:srgbClr val="ffff00"/>
              </a:solidFill>
              <a:effectLst/>
              <a:uFillTx/>
              <a:latin typeface="Times New Roman"/>
            </a:endParaRPr>
          </a:p>
        </p:txBody>
      </p:sp>
      <p:sp>
        <p:nvSpPr>
          <p:cNvPr id="57" name="Line 16"/>
          <p:cNvSpPr/>
          <p:nvPr/>
        </p:nvSpPr>
        <p:spPr>
          <a:xfrm>
            <a:off x="3124080" y="4191120"/>
            <a:ext cx="15264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8" name="Line 17"/>
          <p:cNvSpPr/>
          <p:nvPr/>
        </p:nvSpPr>
        <p:spPr>
          <a:xfrm>
            <a:off x="3048120" y="4572000"/>
            <a:ext cx="2286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59" name="Line 18"/>
          <p:cNvSpPr/>
          <p:nvPr/>
        </p:nvSpPr>
        <p:spPr>
          <a:xfrm>
            <a:off x="1523880" y="4876920"/>
            <a:ext cx="175284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0" name="Line 19"/>
          <p:cNvSpPr/>
          <p:nvPr/>
        </p:nvSpPr>
        <p:spPr>
          <a:xfrm>
            <a:off x="3276720" y="4191120"/>
            <a:ext cx="0" cy="68580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1" name="Line 20"/>
          <p:cNvSpPr/>
          <p:nvPr/>
        </p:nvSpPr>
        <p:spPr>
          <a:xfrm>
            <a:off x="3276720" y="4572000"/>
            <a:ext cx="22860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2" name="Line 21"/>
          <p:cNvSpPr/>
          <p:nvPr/>
        </p:nvSpPr>
        <p:spPr>
          <a:xfrm>
            <a:off x="5257800" y="2590920"/>
            <a:ext cx="2286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3" name="Line 23"/>
          <p:cNvSpPr/>
          <p:nvPr/>
        </p:nvSpPr>
        <p:spPr>
          <a:xfrm>
            <a:off x="5486400" y="2590920"/>
            <a:ext cx="0" cy="198108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4" name="Rectangle 25"/>
          <p:cNvSpPr/>
          <p:nvPr/>
        </p:nvSpPr>
        <p:spPr>
          <a:xfrm>
            <a:off x="5867280" y="1295280"/>
            <a:ext cx="2210040" cy="457200"/>
          </a:xfrm>
          <a:prstGeom prst="rect">
            <a:avLst/>
          </a:prstGeom>
          <a:solidFill>
            <a:srgbClr val="ffccff"/>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000000"/>
                </a:solidFill>
                <a:effectLst/>
                <a:uFillTx/>
                <a:latin typeface="Arial"/>
              </a:rPr>
              <a:t>PERFORMANCE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000000"/>
                </a:solidFill>
                <a:effectLst/>
                <a:uFillTx/>
                <a:latin typeface="Arial"/>
              </a:rPr>
              <a:t>MOTRICE ENFANT ADO</a:t>
            </a:r>
            <a:endParaRPr b="0" lang="en-US" sz="1400" strike="noStrike" u="none">
              <a:solidFill>
                <a:srgbClr val="ffff00"/>
              </a:solidFill>
              <a:effectLst/>
              <a:uFillTx/>
              <a:latin typeface="Times New Roman"/>
            </a:endParaRPr>
          </a:p>
        </p:txBody>
      </p:sp>
      <p:sp>
        <p:nvSpPr>
          <p:cNvPr id="65" name="Text Box 26"/>
          <p:cNvSpPr/>
          <p:nvPr/>
        </p:nvSpPr>
        <p:spPr>
          <a:xfrm>
            <a:off x="6019920" y="2362320"/>
            <a:ext cx="2743200" cy="7344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-Vitesse         -Coordination</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-Force            - Puissance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-Souplesse    -Endurance ...</a:t>
            </a:r>
            <a:endParaRPr b="0" lang="en-US" sz="1400" strike="noStrike" u="none">
              <a:solidFill>
                <a:srgbClr val="ffff00"/>
              </a:solidFill>
              <a:effectLst/>
              <a:uFillTx/>
              <a:latin typeface="Times New Roman"/>
            </a:endParaRPr>
          </a:p>
        </p:txBody>
      </p:sp>
      <p:sp>
        <p:nvSpPr>
          <p:cNvPr id="66" name="Text Box 27"/>
          <p:cNvSpPr/>
          <p:nvPr/>
        </p:nvSpPr>
        <p:spPr>
          <a:xfrm>
            <a:off x="3429000" y="368280"/>
            <a:ext cx="3022560" cy="1374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Maturation</a:t>
            </a:r>
            <a:r>
              <a:rPr b="1" lang="fr-FR" sz="1400" strike="noStrike" u="none">
                <a:solidFill>
                  <a:srgbClr val="ffff00"/>
                </a:solidFill>
                <a:effectLst/>
                <a:uFillTx/>
                <a:latin typeface="Arial"/>
              </a:rPr>
              <a:t>,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Expériences motrices antérieures</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Environnement: affectif, social,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matériel…</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Motivation</a:t>
            </a:r>
            <a:r>
              <a:rPr b="1" lang="fr-FR" sz="1400" strike="noStrike" u="none">
                <a:solidFill>
                  <a:srgbClr val="ffff00"/>
                </a:solidFill>
                <a:effectLst/>
                <a:uFillTx/>
                <a:latin typeface="Arial"/>
              </a:rPr>
              <a:t>….</a:t>
            </a:r>
            <a:r>
              <a:rPr b="1" lang="es-CL" sz="1400" strike="noStrike" u="none">
                <a:solidFill>
                  <a:srgbClr val="ffff00"/>
                </a:solidFill>
                <a:effectLst/>
                <a:uFillTx/>
                <a:latin typeface="Arial"/>
              </a:rPr>
              <a:t> </a:t>
            </a:r>
            <a:r>
              <a:rPr b="1" lang="fr-FR" sz="1400" strike="noStrike" u="none">
                <a:solidFill>
                  <a:srgbClr val="ffff00"/>
                </a:solidFill>
                <a:effectLst/>
                <a:uFillTx/>
                <a:latin typeface="Arial"/>
              </a:rPr>
              <a:t>pédagogie</a:t>
            </a:r>
            <a:endParaRPr b="0" lang="en-US" sz="1400" strike="noStrike" u="none">
              <a:solidFill>
                <a:srgbClr val="ffff00"/>
              </a:solidFill>
              <a:effectLst/>
              <a:uFillTx/>
              <a:latin typeface="Times New Roman"/>
            </a:endParaRPr>
          </a:p>
        </p:txBody>
      </p:sp>
      <p:sp>
        <p:nvSpPr>
          <p:cNvPr id="67" name="Line 28"/>
          <p:cNvSpPr/>
          <p:nvPr/>
        </p:nvSpPr>
        <p:spPr>
          <a:xfrm>
            <a:off x="3352680" y="304920"/>
            <a:ext cx="0" cy="114300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8" name="Line 29"/>
          <p:cNvSpPr/>
          <p:nvPr/>
        </p:nvSpPr>
        <p:spPr>
          <a:xfrm flipH="1">
            <a:off x="3123720" y="838080"/>
            <a:ext cx="22860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69" name="Text Box 30"/>
          <p:cNvSpPr/>
          <p:nvPr/>
        </p:nvSpPr>
        <p:spPr>
          <a:xfrm>
            <a:off x="440640" y="5421240"/>
            <a:ext cx="1706400" cy="11613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SYSTEMES :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Cardio-vasculaire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Ventilatoire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Thermorégulateur</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Endocrinien</a:t>
            </a:r>
            <a:endParaRPr b="0" lang="en-US" sz="1400" strike="noStrike" u="none">
              <a:solidFill>
                <a:srgbClr val="ffff00"/>
              </a:solidFill>
              <a:effectLst/>
              <a:uFillTx/>
              <a:latin typeface="Times New Roman"/>
            </a:endParaRPr>
          </a:p>
        </p:txBody>
      </p:sp>
      <p:sp>
        <p:nvSpPr>
          <p:cNvPr id="70" name="Line 31"/>
          <p:cNvSpPr/>
          <p:nvPr/>
        </p:nvSpPr>
        <p:spPr>
          <a:xfrm>
            <a:off x="2209680" y="5486400"/>
            <a:ext cx="0" cy="121932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1" name="Rectangle 32"/>
          <p:cNvSpPr/>
          <p:nvPr/>
        </p:nvSpPr>
        <p:spPr>
          <a:xfrm>
            <a:off x="2971800" y="5791320"/>
            <a:ext cx="1676520" cy="76176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HYGIENE DE VIE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DIETETIQUE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ENTRAINEMENT</a:t>
            </a:r>
            <a:endParaRPr b="0" lang="en-US" sz="1400" strike="noStrike" u="none">
              <a:solidFill>
                <a:srgbClr val="ffff00"/>
              </a:solidFill>
              <a:effectLst/>
              <a:uFillTx/>
              <a:latin typeface="Times New Roman"/>
            </a:endParaRPr>
          </a:p>
        </p:txBody>
      </p:sp>
      <p:sp>
        <p:nvSpPr>
          <p:cNvPr id="72" name="Line 33"/>
          <p:cNvSpPr/>
          <p:nvPr/>
        </p:nvSpPr>
        <p:spPr>
          <a:xfrm flipH="1">
            <a:off x="2209320" y="6172200"/>
            <a:ext cx="76212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3" name="Line 34"/>
          <p:cNvSpPr/>
          <p:nvPr/>
        </p:nvSpPr>
        <p:spPr>
          <a:xfrm flipH="1" flipV="1">
            <a:off x="1676520" y="5028840"/>
            <a:ext cx="1295280" cy="7621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4" name="Line 35"/>
          <p:cNvSpPr/>
          <p:nvPr/>
        </p:nvSpPr>
        <p:spPr>
          <a:xfrm>
            <a:off x="609480" y="5410080"/>
            <a:ext cx="13716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5" name="Line 36"/>
          <p:cNvSpPr/>
          <p:nvPr/>
        </p:nvSpPr>
        <p:spPr>
          <a:xfrm flipV="1">
            <a:off x="914400" y="5029200"/>
            <a:ext cx="0" cy="3808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6" name="Rectangle 37"/>
          <p:cNvSpPr/>
          <p:nvPr/>
        </p:nvSpPr>
        <p:spPr>
          <a:xfrm>
            <a:off x="6019920" y="2286000"/>
            <a:ext cx="2514600" cy="8380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77" name="Line 38"/>
          <p:cNvSpPr/>
          <p:nvPr/>
        </p:nvSpPr>
        <p:spPr>
          <a:xfrm flipV="1">
            <a:off x="7238880" y="2133360"/>
            <a:ext cx="0" cy="152280"/>
          </a:xfrm>
          <a:prstGeom prst="line">
            <a:avLst/>
          </a:prstGeom>
          <a:ln w="1260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8" name="Line 39"/>
          <p:cNvSpPr/>
          <p:nvPr/>
        </p:nvSpPr>
        <p:spPr>
          <a:xfrm>
            <a:off x="8077320" y="1676520"/>
            <a:ext cx="3808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79" name="Line 40"/>
          <p:cNvSpPr/>
          <p:nvPr/>
        </p:nvSpPr>
        <p:spPr>
          <a:xfrm flipV="1">
            <a:off x="8458200" y="1066680"/>
            <a:ext cx="0" cy="60984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80" name="Oval 41"/>
          <p:cNvSpPr/>
          <p:nvPr/>
        </p:nvSpPr>
        <p:spPr>
          <a:xfrm>
            <a:off x="5410080" y="0"/>
            <a:ext cx="304920" cy="304920"/>
          </a:xfrm>
          <a:prstGeom prst="ellipse">
            <a:avLst/>
          </a:prstGeom>
          <a:gradFill rotWithShape="0">
            <a:gsLst>
              <a:gs pos="0">
                <a:srgbClr val="3333cc"/>
              </a:gs>
              <a:gs pos="100000">
                <a:srgbClr val="020206"/>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1</a:t>
            </a:r>
            <a:endParaRPr b="0" lang="en-US" sz="1400" strike="noStrike" u="none">
              <a:solidFill>
                <a:srgbClr val="ffff00"/>
              </a:solidFill>
              <a:effectLst/>
              <a:uFillTx/>
              <a:latin typeface="Times New Roman"/>
            </a:endParaRPr>
          </a:p>
        </p:txBody>
      </p:sp>
      <p:sp>
        <p:nvSpPr>
          <p:cNvPr id="81" name="Oval 42"/>
          <p:cNvSpPr/>
          <p:nvPr/>
        </p:nvSpPr>
        <p:spPr>
          <a:xfrm>
            <a:off x="76320" y="1371600"/>
            <a:ext cx="304560" cy="304920"/>
          </a:xfrm>
          <a:prstGeom prst="ellipse">
            <a:avLst/>
          </a:prstGeom>
          <a:gradFill rotWithShape="0">
            <a:gsLst>
              <a:gs pos="0">
                <a:srgbClr val="3333cc"/>
              </a:gs>
              <a:gs pos="100000">
                <a:srgbClr val="000000"/>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2</a:t>
            </a:r>
            <a:endParaRPr b="0" lang="en-US" sz="1400" strike="noStrike" u="none">
              <a:solidFill>
                <a:srgbClr val="ffff00"/>
              </a:solidFill>
              <a:effectLst/>
              <a:uFillTx/>
              <a:latin typeface="Times New Roman"/>
            </a:endParaRPr>
          </a:p>
        </p:txBody>
      </p:sp>
      <p:sp>
        <p:nvSpPr>
          <p:cNvPr id="82" name="Text Box 43"/>
          <p:cNvSpPr/>
          <p:nvPr/>
        </p:nvSpPr>
        <p:spPr>
          <a:xfrm>
            <a:off x="456840" y="1295280"/>
            <a:ext cx="1151640" cy="520920"/>
          </a:xfrm>
          <a:prstGeom prst="rect">
            <a:avLst/>
          </a:prstGeom>
          <a:gradFill rotWithShape="0">
            <a:gsLst>
              <a:gs pos="0">
                <a:srgbClr val="000000"/>
              </a:gs>
              <a:gs pos="100000">
                <a:srgbClr val="3333cc"/>
              </a:gs>
            </a:gsLst>
            <a:lin ang="0"/>
          </a:grad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Commande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motrice</a:t>
            </a:r>
            <a:endParaRPr b="0" lang="en-US" sz="1400" strike="noStrike" u="none">
              <a:solidFill>
                <a:srgbClr val="ffff00"/>
              </a:solidFill>
              <a:effectLst/>
              <a:uFillTx/>
              <a:latin typeface="Times New Roman"/>
            </a:endParaRPr>
          </a:p>
        </p:txBody>
      </p:sp>
      <p:sp>
        <p:nvSpPr>
          <p:cNvPr id="83" name="Oval 44"/>
          <p:cNvSpPr/>
          <p:nvPr/>
        </p:nvSpPr>
        <p:spPr>
          <a:xfrm>
            <a:off x="2514600" y="1676520"/>
            <a:ext cx="304920" cy="304560"/>
          </a:xfrm>
          <a:prstGeom prst="ellipse">
            <a:avLst/>
          </a:prstGeom>
          <a:gradFill rotWithShape="0">
            <a:gsLst>
              <a:gs pos="0">
                <a:srgbClr val="3333cc"/>
              </a:gs>
              <a:gs pos="100000">
                <a:srgbClr val="000000"/>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3</a:t>
            </a:r>
            <a:endParaRPr b="0" lang="en-US" sz="1400" strike="noStrike" u="none">
              <a:solidFill>
                <a:srgbClr val="ffff00"/>
              </a:solidFill>
              <a:effectLst/>
              <a:uFillTx/>
              <a:latin typeface="Times New Roman"/>
            </a:endParaRPr>
          </a:p>
        </p:txBody>
      </p:sp>
      <p:sp>
        <p:nvSpPr>
          <p:cNvPr id="84" name="Oval 45"/>
          <p:cNvSpPr/>
          <p:nvPr/>
        </p:nvSpPr>
        <p:spPr>
          <a:xfrm>
            <a:off x="5791320" y="4724280"/>
            <a:ext cx="304560" cy="304920"/>
          </a:xfrm>
          <a:prstGeom prst="ellipse">
            <a:avLst/>
          </a:prstGeom>
          <a:gradFill rotWithShape="0">
            <a:gsLst>
              <a:gs pos="0">
                <a:srgbClr val="3333cc"/>
              </a:gs>
              <a:gs pos="100000">
                <a:srgbClr val="000000"/>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5</a:t>
            </a:r>
            <a:endParaRPr b="0" lang="en-US" sz="1400" strike="noStrike" u="none">
              <a:solidFill>
                <a:srgbClr val="ffff00"/>
              </a:solidFill>
              <a:effectLst/>
              <a:uFillTx/>
              <a:latin typeface="Times New Roman"/>
            </a:endParaRPr>
          </a:p>
        </p:txBody>
      </p:sp>
      <p:sp>
        <p:nvSpPr>
          <p:cNvPr id="85" name="Oval 46"/>
          <p:cNvSpPr/>
          <p:nvPr/>
        </p:nvSpPr>
        <p:spPr>
          <a:xfrm>
            <a:off x="914400" y="3886200"/>
            <a:ext cx="304920" cy="304920"/>
          </a:xfrm>
          <a:prstGeom prst="ellipse">
            <a:avLst/>
          </a:prstGeom>
          <a:gradFill rotWithShape="0">
            <a:gsLst>
              <a:gs pos="0">
                <a:srgbClr val="3333cc"/>
              </a:gs>
              <a:gs pos="100000">
                <a:srgbClr val="000000"/>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200" strike="noStrike" u="none">
                <a:solidFill>
                  <a:srgbClr val="ffffff"/>
                </a:solidFill>
                <a:effectLst/>
                <a:uFillTx/>
                <a:latin typeface="Arial"/>
              </a:rPr>
              <a:t>4</a:t>
            </a:r>
            <a:endParaRPr b="0" lang="en-US" sz="1200" strike="noStrike" u="none">
              <a:solidFill>
                <a:srgbClr val="ffff00"/>
              </a:solidFill>
              <a:effectLst/>
              <a:uFillTx/>
              <a:latin typeface="Times New Roman"/>
            </a:endParaRPr>
          </a:p>
        </p:txBody>
      </p:sp>
      <p:sp>
        <p:nvSpPr>
          <p:cNvPr id="86" name="Oval 47"/>
          <p:cNvSpPr/>
          <p:nvPr/>
        </p:nvSpPr>
        <p:spPr>
          <a:xfrm>
            <a:off x="5410080" y="1900080"/>
            <a:ext cx="304920" cy="304920"/>
          </a:xfrm>
          <a:prstGeom prst="ellipse">
            <a:avLst/>
          </a:prstGeom>
          <a:gradFill rotWithShape="0">
            <a:gsLst>
              <a:gs pos="0">
                <a:srgbClr val="3333cc"/>
              </a:gs>
              <a:gs pos="100000">
                <a:srgbClr val="000000"/>
              </a:gs>
            </a:gsLst>
            <a:path path="rect">
              <a:fillToRect l="50000" t="50000" r="50000" b="50000"/>
            </a:path>
          </a:gradFill>
          <a:ln w="936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6</a:t>
            </a:r>
            <a:endParaRPr b="0" lang="en-US" sz="1400" strike="noStrike" u="none">
              <a:solidFill>
                <a:srgbClr val="ffff00"/>
              </a:solidFill>
              <a:effectLst/>
              <a:uFillTx/>
              <a:latin typeface="Times New Roman"/>
            </a:endParaRPr>
          </a:p>
        </p:txBody>
      </p:sp>
      <p:sp>
        <p:nvSpPr>
          <p:cNvPr id="87" name="Oval 48"/>
          <p:cNvSpPr/>
          <p:nvPr/>
        </p:nvSpPr>
        <p:spPr>
          <a:xfrm>
            <a:off x="8413920" y="1700280"/>
            <a:ext cx="304560" cy="304560"/>
          </a:xfrm>
          <a:prstGeom prst="ellipse">
            <a:avLst/>
          </a:prstGeom>
          <a:gradFill rotWithShape="0">
            <a:gsLst>
              <a:gs pos="0">
                <a:srgbClr val="3333cc"/>
              </a:gs>
              <a:gs pos="100000">
                <a:srgbClr val="000000"/>
              </a:gs>
            </a:gsLst>
            <a:path path="rect">
              <a:fillToRect l="50000" t="50000" r="50000" b="50000"/>
            </a:path>
          </a:gra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7</a:t>
            </a:r>
            <a:endParaRPr b="0" lang="en-US" sz="1400" strike="noStrike" u="none">
              <a:solidFill>
                <a:srgbClr val="ffff00"/>
              </a:solidFill>
              <a:effectLst/>
              <a:uFillTx/>
              <a:latin typeface="Times New Roman"/>
            </a:endParaRPr>
          </a:p>
        </p:txBody>
      </p:sp>
      <p:sp>
        <p:nvSpPr>
          <p:cNvPr id="88" name="Text Box 49"/>
          <p:cNvSpPr/>
          <p:nvPr/>
        </p:nvSpPr>
        <p:spPr>
          <a:xfrm>
            <a:off x="8103240" y="1928880"/>
            <a:ext cx="100332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Feedback</a:t>
            </a:r>
            <a:endParaRPr b="0" lang="en-US" sz="1400" strike="noStrike" u="none">
              <a:solidFill>
                <a:srgbClr val="ffff00"/>
              </a:solidFill>
              <a:effectLst/>
              <a:uFillTx/>
              <a:latin typeface="Times New Roman"/>
            </a:endParaRPr>
          </a:p>
        </p:txBody>
      </p:sp>
      <p:sp>
        <p:nvSpPr>
          <p:cNvPr id="89" name="Rectangle 50"/>
          <p:cNvSpPr/>
          <p:nvPr/>
        </p:nvSpPr>
        <p:spPr>
          <a:xfrm>
            <a:off x="5867280" y="1828800"/>
            <a:ext cx="2210040" cy="304920"/>
          </a:xfrm>
          <a:prstGeom prst="rect">
            <a:avLst/>
          </a:prstGeom>
          <a:solidFill>
            <a:srgbClr val="ffccff"/>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000000"/>
                </a:solidFill>
                <a:effectLst/>
                <a:uFillTx/>
                <a:latin typeface="Arial"/>
              </a:rPr>
              <a:t>RENDEMENT</a:t>
            </a:r>
            <a:endParaRPr b="0" lang="en-US" sz="1400" strike="noStrike" u="none">
              <a:solidFill>
                <a:srgbClr val="ffff00"/>
              </a:solidFill>
              <a:effectLst/>
              <a:uFillTx/>
              <a:latin typeface="Times New Roman"/>
            </a:endParaRPr>
          </a:p>
        </p:txBody>
      </p:sp>
      <p:sp>
        <p:nvSpPr>
          <p:cNvPr id="90" name="Line 51"/>
          <p:cNvSpPr/>
          <p:nvPr/>
        </p:nvSpPr>
        <p:spPr>
          <a:xfrm flipV="1">
            <a:off x="7238880" y="1752480"/>
            <a:ext cx="0" cy="76320"/>
          </a:xfrm>
          <a:prstGeom prst="line">
            <a:avLst/>
          </a:prstGeom>
          <a:ln w="12600">
            <a:solidFill>
              <a:srgbClr val="ffff00"/>
            </a:solidFill>
            <a:miter/>
            <a:tailEnd len="med" type="triangle" w="med"/>
          </a:ln>
        </p:spPr>
        <p:style>
          <a:lnRef idx="0"/>
          <a:fillRef idx="0"/>
          <a:effectRef idx="0"/>
          <a:fontRef idx="minor"/>
        </p:style>
        <p:txBody>
          <a:bodyPr lIns="90000" rIns="90000" tIns="29520" bIns="29520" anchor="ctr">
            <a:noAutofit/>
          </a:bodyPr>
          <a:p>
            <a:endParaRPr b="0" lang="en-US" sz="2400" strike="noStrike" u="none">
              <a:solidFill>
                <a:srgbClr val="ffff00"/>
              </a:solidFill>
              <a:effectLst/>
              <a:uFillTx/>
              <a:latin typeface="Times New Roman"/>
            </a:endParaRPr>
          </a:p>
        </p:txBody>
      </p:sp>
      <p:pic>
        <p:nvPicPr>
          <p:cNvPr id="91" name="Picture 52" descr="Cerveau1"/>
          <p:cNvPicPr/>
          <p:nvPr/>
        </p:nvPicPr>
        <p:blipFill>
          <a:blip r:embed="rId1"/>
          <a:stretch/>
        </p:blipFill>
        <p:spPr>
          <a:xfrm>
            <a:off x="1905120" y="228600"/>
            <a:ext cx="1143000" cy="957240"/>
          </a:xfrm>
          <a:prstGeom prst="rect">
            <a:avLst/>
          </a:prstGeom>
          <a:noFill/>
          <a:ln w="0">
            <a:noFill/>
          </a:ln>
        </p:spPr>
      </p:pic>
      <p:pic>
        <p:nvPicPr>
          <p:cNvPr id="92" name="Picture 53" descr="Muscle coupe"/>
          <p:cNvPicPr/>
          <p:nvPr/>
        </p:nvPicPr>
        <p:blipFill>
          <a:blip r:embed="rId2"/>
          <a:stretch/>
        </p:blipFill>
        <p:spPr>
          <a:xfrm>
            <a:off x="6477120" y="4267080"/>
            <a:ext cx="1643040" cy="1676520"/>
          </a:xfrm>
          <a:prstGeom prst="rect">
            <a:avLst/>
          </a:prstGeom>
          <a:noFill/>
          <a:ln w="0">
            <a:noFill/>
          </a:ln>
        </p:spPr>
      </p:pic>
      <p:sp>
        <p:nvSpPr>
          <p:cNvPr id="93" name="Text Box 54"/>
          <p:cNvSpPr/>
          <p:nvPr/>
        </p:nvSpPr>
        <p:spPr>
          <a:xfrm>
            <a:off x="6858000" y="352440"/>
            <a:ext cx="2438280" cy="15883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10008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Prise et traitement des                                                                                                                             informations (Extéro,pro- </a:t>
            </a:r>
            <a:endParaRPr b="0" lang="en-US" sz="1400" strike="noStrike" u="none">
              <a:solidFill>
                <a:srgbClr val="ffff00"/>
              </a:solidFill>
              <a:effectLst/>
              <a:uFillTx/>
              <a:latin typeface="Times New Roman"/>
            </a:endParaRPr>
          </a:p>
          <a:p>
            <a:pPr>
              <a:lnSpc>
                <a:spcPct val="100000"/>
              </a:lnSpc>
              <a:tabLst>
                <a:tab algn="l" pos="0"/>
                <a:tab algn="l" pos="10008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prio et intéroceptives)ou  image mentale. </a:t>
            </a:r>
            <a:endParaRPr b="0" lang="en-US" sz="1400" strike="noStrike" u="none">
              <a:solidFill>
                <a:srgbClr val="ffff00"/>
              </a:solidFill>
              <a:effectLst/>
              <a:uFillTx/>
              <a:latin typeface="Times New Roman"/>
            </a:endParaRPr>
          </a:p>
        </p:txBody>
      </p:sp>
      <p:sp>
        <p:nvSpPr>
          <p:cNvPr id="94" name="Text Box 55"/>
          <p:cNvSpPr/>
          <p:nvPr/>
        </p:nvSpPr>
        <p:spPr>
          <a:xfrm>
            <a:off x="5800320" y="0"/>
            <a:ext cx="1926360" cy="337680"/>
          </a:xfrm>
          <a:prstGeom prst="rect">
            <a:avLst/>
          </a:prstGeom>
          <a:gradFill rotWithShape="0">
            <a:gsLst>
              <a:gs pos="0">
                <a:srgbClr val="000000"/>
              </a:gs>
              <a:gs pos="100000">
                <a:srgbClr val="3333cc"/>
              </a:gs>
            </a:gsLst>
            <a:lin ang="0"/>
          </a:gradFill>
          <a:ln w="9360">
            <a:solidFill>
              <a:srgbClr val="ccec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rPr>
              <a:t>Facteurs cognitifs</a:t>
            </a:r>
            <a:endParaRPr b="0" lang="en-US" sz="1600" strike="noStrike" u="none">
              <a:solidFill>
                <a:srgbClr val="ffff00"/>
              </a:solidFill>
              <a:effectLst/>
              <a:uFillTx/>
              <a:latin typeface="Times New Roman"/>
            </a:endParaRPr>
          </a:p>
        </p:txBody>
      </p:sp>
      <p:sp>
        <p:nvSpPr>
          <p:cNvPr id="95" name="Line 56"/>
          <p:cNvSpPr/>
          <p:nvPr/>
        </p:nvSpPr>
        <p:spPr>
          <a:xfrm>
            <a:off x="6858000" y="380880"/>
            <a:ext cx="0" cy="83844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96" name="Line 57"/>
          <p:cNvSpPr/>
          <p:nvPr/>
        </p:nvSpPr>
        <p:spPr>
          <a:xfrm flipH="1">
            <a:off x="6629040" y="762120"/>
            <a:ext cx="22860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97" name="Text Box 58"/>
          <p:cNvSpPr/>
          <p:nvPr/>
        </p:nvSpPr>
        <p:spPr>
          <a:xfrm>
            <a:off x="2057400" y="2133720"/>
            <a:ext cx="1371600" cy="947880"/>
          </a:xfrm>
          <a:prstGeom prst="rect">
            <a:avLst/>
          </a:prstGeom>
          <a:gradFill rotWithShape="0">
            <a:gsLst>
              <a:gs pos="0">
                <a:srgbClr val="000000"/>
              </a:gs>
              <a:gs pos="100000">
                <a:srgbClr val="3333cc"/>
              </a:gs>
            </a:gsLst>
            <a:lin ang="0"/>
          </a:gradFill>
          <a:ln w="936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Recrutement</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  - Spacial</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  - Temporel</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ff"/>
                </a:solidFill>
                <a:effectLst/>
                <a:uFillTx/>
                <a:latin typeface="Arial"/>
              </a:rPr>
              <a:t>  - Synchrone</a:t>
            </a:r>
            <a:endParaRPr b="0" lang="en-US" sz="1400" strike="noStrike" u="none">
              <a:solidFill>
                <a:srgbClr val="ffff00"/>
              </a:solidFill>
              <a:effectLst/>
              <a:uFillTx/>
              <a:latin typeface="Times New Roman"/>
            </a:endParaRPr>
          </a:p>
        </p:txBody>
      </p:sp>
      <p:sp>
        <p:nvSpPr>
          <p:cNvPr id="98" name="Rectangle 61"/>
          <p:cNvSpPr/>
          <p:nvPr/>
        </p:nvSpPr>
        <p:spPr>
          <a:xfrm>
            <a:off x="5791320" y="3505320"/>
            <a:ext cx="1447560" cy="609480"/>
          </a:xfrm>
          <a:prstGeom prst="rect">
            <a:avLst/>
          </a:prstGeom>
          <a:noFill/>
          <a:ln w="9360">
            <a:solidFill>
              <a:srgbClr val="ffffff"/>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600" strike="noStrike" u="none">
                <a:solidFill>
                  <a:srgbClr val="ffffff"/>
                </a:solidFill>
                <a:effectLst/>
                <a:uFillTx/>
                <a:latin typeface="Arial"/>
              </a:rPr>
              <a:t>SYSTEME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600" strike="noStrike" u="none">
                <a:solidFill>
                  <a:srgbClr val="ffffff"/>
                </a:solidFill>
                <a:effectLst/>
                <a:uFillTx/>
                <a:latin typeface="Arial"/>
              </a:rPr>
              <a:t>MUSCULAIRE</a:t>
            </a:r>
            <a:endParaRPr b="0" lang="en-US" sz="1600" strike="noStrike" u="none">
              <a:solidFill>
                <a:srgbClr val="ffff00"/>
              </a:solidFill>
              <a:effectLst/>
              <a:uFillTx/>
              <a:latin typeface="Times New Roman"/>
            </a:endParaRPr>
          </a:p>
        </p:txBody>
      </p:sp>
      <p:sp>
        <p:nvSpPr>
          <p:cNvPr id="99" name="Line 62"/>
          <p:cNvSpPr/>
          <p:nvPr/>
        </p:nvSpPr>
        <p:spPr>
          <a:xfrm>
            <a:off x="7238880" y="3809880"/>
            <a:ext cx="22860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0" name="Rectangle 63"/>
          <p:cNvSpPr/>
          <p:nvPr/>
        </p:nvSpPr>
        <p:spPr>
          <a:xfrm>
            <a:off x="7467480" y="3505320"/>
            <a:ext cx="1524240" cy="609480"/>
          </a:xfrm>
          <a:prstGeom prst="rect">
            <a:avLst/>
          </a:prstGeom>
          <a:noFill/>
          <a:ln w="9360">
            <a:solidFill>
              <a:srgbClr val="ffffff"/>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600" strike="noStrike" u="none">
                <a:solidFill>
                  <a:srgbClr val="ffffff"/>
                </a:solidFill>
                <a:effectLst/>
                <a:uFillTx/>
                <a:latin typeface="Arial"/>
              </a:rPr>
              <a:t>SYTEME BIO-</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600" strike="noStrike" u="none">
                <a:solidFill>
                  <a:srgbClr val="ffffff"/>
                </a:solidFill>
                <a:effectLst/>
                <a:uFillTx/>
                <a:latin typeface="Arial"/>
              </a:rPr>
              <a:t>MECANIQUE</a:t>
            </a:r>
            <a:endParaRPr b="0" lang="en-US" sz="1600" strike="noStrike" u="none">
              <a:solidFill>
                <a:srgbClr val="ffff00"/>
              </a:solidFill>
              <a:effectLst/>
              <a:uFillTx/>
              <a:latin typeface="Times New Roman"/>
            </a:endParaRPr>
          </a:p>
        </p:txBody>
      </p:sp>
      <p:sp>
        <p:nvSpPr>
          <p:cNvPr id="101" name="Line 64"/>
          <p:cNvSpPr/>
          <p:nvPr/>
        </p:nvSpPr>
        <p:spPr>
          <a:xfrm>
            <a:off x="6477120" y="3276720"/>
            <a:ext cx="0" cy="22860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2" name="Line 65"/>
          <p:cNvSpPr/>
          <p:nvPr/>
        </p:nvSpPr>
        <p:spPr>
          <a:xfrm>
            <a:off x="8229600" y="3276720"/>
            <a:ext cx="0" cy="22860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3" name="Line 66"/>
          <p:cNvSpPr/>
          <p:nvPr/>
        </p:nvSpPr>
        <p:spPr>
          <a:xfrm>
            <a:off x="6477120" y="3276720"/>
            <a:ext cx="17524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4" name="Line 67"/>
          <p:cNvSpPr/>
          <p:nvPr/>
        </p:nvSpPr>
        <p:spPr>
          <a:xfrm flipV="1">
            <a:off x="7315200" y="3124080"/>
            <a:ext cx="0" cy="15264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5" name="Connecteur droit 2"/>
          <p:cNvSpPr/>
          <p:nvPr/>
        </p:nvSpPr>
        <p:spPr>
          <a:xfrm>
            <a:off x="5486400" y="3809880"/>
            <a:ext cx="304920" cy="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6" name="Connecteur droit 4"/>
          <p:cNvSpPr/>
          <p:nvPr/>
        </p:nvSpPr>
        <p:spPr>
          <a:xfrm flipH="1">
            <a:off x="5181120" y="4572000"/>
            <a:ext cx="30492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pic>
        <p:nvPicPr>
          <p:cNvPr id="107" name="Picture 2" descr="(4)"/>
          <p:cNvPicPr/>
          <p:nvPr/>
        </p:nvPicPr>
        <p:blipFill>
          <a:blip r:embed="rId3">
            <a:lum contrast="6000"/>
          </a:blip>
          <a:srcRect l="3232" t="0" r="3232" b="5154"/>
          <a:stretch/>
        </p:blipFill>
        <p:spPr>
          <a:xfrm>
            <a:off x="430200" y="2727360"/>
            <a:ext cx="1273320" cy="1098360"/>
          </a:xfrm>
          <a:prstGeom prst="rect">
            <a:avLst/>
          </a:prstGeom>
          <a:noFill/>
          <a:ln w="0">
            <a:noFill/>
          </a:ln>
        </p:spPr>
      </p:pic>
    </p:spTree>
  </p:cSld>
  <p:transition spd="slow">
    <p:split dir="out" orient="horz"/>
  </p:transition>
  <p:timing>
    <p:tnLst>
      <p:par>
        <p:cTn id="154" dur="indefinite" restart="never" nodeType="tmRoot">
          <p:childTnLst>
            <p:seq>
              <p:cTn id="155" dur="indefinite" nodeType="mainSeq">
                <p:childTnLst>
                  <p:par>
                    <p:cTn id="156" nodeType="clickEffect" fill="hold">
                      <p:stCondLst>
                        <p:cond delay="indefinite"/>
                      </p:stCondLst>
                      <p:childTnLst>
                        <p:par>
                          <p:cTn id="157" nodeType="withEffect" fill="hold">
                            <p:stCondLst>
                              <p:cond delay="0"/>
                            </p:stCondLst>
                            <p:childTnLst>
                              <p:par>
                                <p:cTn id="158" nodeType="clickEffect" fill="hold" presetClass="entr" presetID="53" presetSubtype="16" repeatCount="1000">
                                  <p:stCondLst>
                                    <p:cond delay="0"/>
                                  </p:stCondLst>
                                  <p:childTnLst>
                                    <p:set>
                                      <p:cBhvr>
                                        <p:cTn id="159" dur="1" fill="hold">
                                          <p:stCondLst>
                                            <p:cond delay="0"/>
                                          </p:stCondLst>
                                        </p:cTn>
                                        <p:tgtEl>
                                          <p:spTgt spid="64"/>
                                        </p:tgtEl>
                                        <p:attrNameLst>
                                          <p:attrName>style.visibility</p:attrName>
                                        </p:attrNameLst>
                                      </p:cBhvr>
                                      <p:to>
                                        <p:strVal val="visible"/>
                                      </p:to>
                                    </p:set>
                                    <p:anim calcmode="lin" valueType="num">
                                      <p:cBhvr additive="repl">
                                        <p:cTn id="160" dur="1000" fill="hold"/>
                                        <p:tgtEl>
                                          <p:spTgt spid="64"/>
                                        </p:tgtEl>
                                        <p:attrNameLst>
                                          <p:attrName>ppt_w</p:attrName>
                                        </p:attrNameLst>
                                      </p:cBhvr>
                                      <p:tavLst>
                                        <p:tav tm="0">
                                          <p:val>
                                            <p:fltVal val="0"/>
                                          </p:val>
                                        </p:tav>
                                        <p:tav tm="100000">
                                          <p:val>
                                            <p:strVal val="#ppt_w"/>
                                          </p:val>
                                        </p:tav>
                                      </p:tavLst>
                                    </p:anim>
                                    <p:anim calcmode="lin" valueType="num">
                                      <p:cBhvr additive="repl">
                                        <p:cTn id="161" dur="1000" fill="hold"/>
                                        <p:tgtEl>
                                          <p:spTgt spid="64"/>
                                        </p:tgtEl>
                                        <p:attrNameLst>
                                          <p:attrName>ppt_h</p:attrName>
                                        </p:attrNameLst>
                                      </p:cBhvr>
                                      <p:tavLst>
                                        <p:tav tm="0">
                                          <p:val>
                                            <p:fltVal val="0"/>
                                          </p:val>
                                        </p:tav>
                                        <p:tav tm="100000">
                                          <p:val>
                                            <p:strVal val="#ppt_h"/>
                                          </p:val>
                                        </p:tav>
                                      </p:tavLst>
                                    </p:anim>
                                    <p:animEffect filter="fade" transition="in">
                                      <p:cBhvr additive="repl">
                                        <p:cTn id="162" dur="1000"/>
                                        <p:tgtEl>
                                          <p:spTgt spid="64"/>
                                        </p:tgtEl>
                                      </p:cBhvr>
                                    </p:animEffect>
                                  </p:childTnLst>
                                </p:cTn>
                              </p:par>
                            </p:childTnLst>
                          </p:cTn>
                        </p:par>
                        <p:par>
                          <p:cTn id="163" nodeType="afterEffect" fill="hold">
                            <p:stCondLst>
                              <p:cond delay="1000"/>
                            </p:stCondLst>
                            <p:childTnLst>
                              <p:par>
                                <p:cTn id="164" nodeType="afterEffect" fill="hold" presetClass="entr" presetID="22" presetSubtype="8">
                                  <p:stCondLst>
                                    <p:cond delay="0"/>
                                  </p:stCondLst>
                                  <p:childTnLst>
                                    <p:set>
                                      <p:cBhvr>
                                        <p:cTn id="165" dur="1" fill="hold">
                                          <p:stCondLst>
                                            <p:cond delay="0"/>
                                          </p:stCondLst>
                                        </p:cTn>
                                        <p:tgtEl>
                                          <p:spTgt spid="78"/>
                                        </p:tgtEl>
                                        <p:attrNameLst>
                                          <p:attrName>style.visibility</p:attrName>
                                        </p:attrNameLst>
                                      </p:cBhvr>
                                      <p:to>
                                        <p:strVal val="visible"/>
                                      </p:to>
                                    </p:set>
                                    <p:animEffect filter="wipe(left)" transition="in">
                                      <p:cBhvr additive="repl">
                                        <p:cTn id="166" dur="500"/>
                                        <p:tgtEl>
                                          <p:spTgt spid="78"/>
                                        </p:tgtEl>
                                      </p:cBhvr>
                                    </p:animEffect>
                                  </p:childTnLst>
                                </p:cTn>
                              </p:par>
                            </p:childTnLst>
                          </p:cTn>
                        </p:par>
                        <p:par>
                          <p:cTn id="167" nodeType="afterEffect" fill="hold">
                            <p:stCondLst>
                              <p:cond delay="1500"/>
                            </p:stCondLst>
                            <p:childTnLst>
                              <p:par>
                                <p:cTn id="168" nodeType="afterEffect" fill="hold" presetClass="entr" presetID="22" presetSubtype="4">
                                  <p:stCondLst>
                                    <p:cond delay="0"/>
                                  </p:stCondLst>
                                  <p:childTnLst>
                                    <p:set>
                                      <p:cBhvr>
                                        <p:cTn id="169" dur="1" fill="hold">
                                          <p:stCondLst>
                                            <p:cond delay="0"/>
                                          </p:stCondLst>
                                        </p:cTn>
                                        <p:tgtEl>
                                          <p:spTgt spid="79"/>
                                        </p:tgtEl>
                                        <p:attrNameLst>
                                          <p:attrName>style.visibility</p:attrName>
                                        </p:attrNameLst>
                                      </p:cBhvr>
                                      <p:to>
                                        <p:strVal val="visible"/>
                                      </p:to>
                                    </p:set>
                                    <p:animEffect filter="wipe(down)" transition="in">
                                      <p:cBhvr additive="repl">
                                        <p:cTn id="170" dur="500"/>
                                        <p:tgtEl>
                                          <p:spTgt spid="79"/>
                                        </p:tgtEl>
                                      </p:cBhvr>
                                    </p:animEffect>
                                  </p:childTnLst>
                                </p:cTn>
                              </p:par>
                            </p:childTnLst>
                          </p:cTn>
                        </p:par>
                        <p:par>
                          <p:cTn id="171" nodeType="afterEffect" fill="hold">
                            <p:stCondLst>
                              <p:cond delay="2000"/>
                            </p:stCondLst>
                            <p:childTnLst>
                              <p:par>
                                <p:cTn id="172" nodeType="afterEffect" fill="hold" presetClass="entr" presetID="53" presetSubtype="16">
                                  <p:stCondLst>
                                    <p:cond delay="0"/>
                                  </p:stCondLst>
                                  <p:childTnLst>
                                    <p:set>
                                      <p:cBhvr>
                                        <p:cTn id="173" dur="1" fill="hold">
                                          <p:stCondLst>
                                            <p:cond delay="0"/>
                                          </p:stCondLst>
                                        </p:cTn>
                                        <p:tgtEl>
                                          <p:spTgt spid="80"/>
                                        </p:tgtEl>
                                        <p:attrNameLst>
                                          <p:attrName>style.visibility</p:attrName>
                                        </p:attrNameLst>
                                      </p:cBhvr>
                                      <p:to>
                                        <p:strVal val="visible"/>
                                      </p:to>
                                    </p:set>
                                    <p:anim calcmode="lin" valueType="num">
                                      <p:cBhvr additive="repl">
                                        <p:cTn id="174" dur="500" fill="hold"/>
                                        <p:tgtEl>
                                          <p:spTgt spid="80"/>
                                        </p:tgtEl>
                                        <p:attrNameLst>
                                          <p:attrName>ppt_w</p:attrName>
                                        </p:attrNameLst>
                                      </p:cBhvr>
                                      <p:tavLst>
                                        <p:tav tm="0">
                                          <p:val>
                                            <p:fltVal val="0"/>
                                          </p:val>
                                        </p:tav>
                                        <p:tav tm="100000">
                                          <p:val>
                                            <p:strVal val="#ppt_w"/>
                                          </p:val>
                                        </p:tav>
                                      </p:tavLst>
                                    </p:anim>
                                    <p:anim calcmode="lin" valueType="num">
                                      <p:cBhvr additive="repl">
                                        <p:cTn id="175" dur="500" fill="hold"/>
                                        <p:tgtEl>
                                          <p:spTgt spid="80"/>
                                        </p:tgtEl>
                                        <p:attrNameLst>
                                          <p:attrName>ppt_h</p:attrName>
                                        </p:attrNameLst>
                                      </p:cBhvr>
                                      <p:tavLst>
                                        <p:tav tm="0">
                                          <p:val>
                                            <p:fltVal val="0"/>
                                          </p:val>
                                        </p:tav>
                                        <p:tav tm="100000">
                                          <p:val>
                                            <p:strVal val="#ppt_h"/>
                                          </p:val>
                                        </p:tav>
                                      </p:tavLst>
                                    </p:anim>
                                    <p:animEffect filter="fade" transition="in">
                                      <p:cBhvr additive="repl">
                                        <p:cTn id="176" dur="500"/>
                                        <p:tgtEl>
                                          <p:spTgt spid="80"/>
                                        </p:tgtEl>
                                      </p:cBhvr>
                                    </p:animEffect>
                                  </p:childTnLst>
                                </p:cTn>
                              </p:par>
                            </p:childTnLst>
                          </p:cTn>
                        </p:par>
                        <p:par>
                          <p:cTn id="177" nodeType="afterEffect" fill="hold">
                            <p:stCondLst>
                              <p:cond delay="2500"/>
                            </p:stCondLst>
                            <p:childTnLst>
                              <p:par>
                                <p:cTn id="178" nodeType="afterEffect" fill="hold" presetClass="entr" presetID="53" presetSubtype="16">
                                  <p:stCondLst>
                                    <p:cond delay="0"/>
                                  </p:stCondLst>
                                  <p:childTnLst>
                                    <p:set>
                                      <p:cBhvr>
                                        <p:cTn id="179" dur="1" fill="hold">
                                          <p:stCondLst>
                                            <p:cond delay="0"/>
                                          </p:stCondLst>
                                        </p:cTn>
                                        <p:tgtEl>
                                          <p:spTgt spid="94"/>
                                        </p:tgtEl>
                                        <p:attrNameLst>
                                          <p:attrName>style.visibility</p:attrName>
                                        </p:attrNameLst>
                                      </p:cBhvr>
                                      <p:to>
                                        <p:strVal val="visible"/>
                                      </p:to>
                                    </p:set>
                                    <p:anim calcmode="lin" valueType="num">
                                      <p:cBhvr additive="repl">
                                        <p:cTn id="180" dur="500" fill="hold"/>
                                        <p:tgtEl>
                                          <p:spTgt spid="94"/>
                                        </p:tgtEl>
                                        <p:attrNameLst>
                                          <p:attrName>ppt_w</p:attrName>
                                        </p:attrNameLst>
                                      </p:cBhvr>
                                      <p:tavLst>
                                        <p:tav tm="0">
                                          <p:val>
                                            <p:fltVal val="0"/>
                                          </p:val>
                                        </p:tav>
                                        <p:tav tm="100000">
                                          <p:val>
                                            <p:strVal val="#ppt_w"/>
                                          </p:val>
                                        </p:tav>
                                      </p:tavLst>
                                    </p:anim>
                                    <p:anim calcmode="lin" valueType="num">
                                      <p:cBhvr additive="repl">
                                        <p:cTn id="181" dur="500" fill="hold"/>
                                        <p:tgtEl>
                                          <p:spTgt spid="94"/>
                                        </p:tgtEl>
                                        <p:attrNameLst>
                                          <p:attrName>ppt_h</p:attrName>
                                        </p:attrNameLst>
                                      </p:cBhvr>
                                      <p:tavLst>
                                        <p:tav tm="0">
                                          <p:val>
                                            <p:fltVal val="0"/>
                                          </p:val>
                                        </p:tav>
                                        <p:tav tm="100000">
                                          <p:val>
                                            <p:strVal val="#ppt_h"/>
                                          </p:val>
                                        </p:tav>
                                      </p:tavLst>
                                    </p:anim>
                                    <p:animEffect filter="fade" transition="in">
                                      <p:cBhvr additive="repl">
                                        <p:cTn id="182" dur="500"/>
                                        <p:tgtEl>
                                          <p:spTgt spid="94"/>
                                        </p:tgtEl>
                                      </p:cBhvr>
                                    </p:animEffect>
                                  </p:childTnLst>
                                </p:cTn>
                              </p:par>
                            </p:childTnLst>
                          </p:cTn>
                        </p:par>
                        <p:par>
                          <p:cTn id="183" nodeType="afterEffect" fill="hold">
                            <p:stCondLst>
                              <p:cond delay="3000"/>
                            </p:stCondLst>
                            <p:childTnLst>
                              <p:par>
                                <p:cTn id="184" nodeType="afterEffect" fill="hold" presetClass="entr" presetID="1">
                                  <p:stCondLst>
                                    <p:cond delay="0"/>
                                  </p:stCondLst>
                                  <p:childTnLst>
                                    <p:set>
                                      <p:cBhvr>
                                        <p:cTn id="185" dur="1" fill="hold">
                                          <p:stCondLst>
                                            <p:cond delay="0"/>
                                          </p:stCondLst>
                                        </p:cTn>
                                        <p:tgtEl>
                                          <p:spTgt spid="93"/>
                                        </p:tgtEl>
                                        <p:attrNameLst>
                                          <p:attrName>style.visibility</p:attrName>
                                        </p:attrNameLst>
                                      </p:cBhvr>
                                      <p:to>
                                        <p:strVal val="visible"/>
                                      </p:to>
                                    </p:set>
                                  </p:childTnLst>
                                </p:cTn>
                              </p:par>
                            </p:childTnLst>
                          </p:cTn>
                        </p:par>
                      </p:childTnLst>
                    </p:cTn>
                  </p:par>
                  <p:par>
                    <p:cTn id="186" nodeType="clickEffect" fill="hold">
                      <p:stCondLst>
                        <p:cond delay="indefinite"/>
                      </p:stCondLst>
                      <p:childTnLst>
                        <p:par>
                          <p:cTn id="187" nodeType="withEffect" fill="hold">
                            <p:stCondLst>
                              <p:cond delay="0"/>
                            </p:stCondLst>
                            <p:childTnLst>
                              <p:par>
                                <p:cTn id="188" nodeType="clickEffect" fill="hold" presetClass="entr" presetID="22" presetSubtype="4">
                                  <p:stCondLst>
                                    <p:cond delay="0"/>
                                  </p:stCondLst>
                                  <p:childTnLst>
                                    <p:set>
                                      <p:cBhvr>
                                        <p:cTn id="189" dur="1" fill="hold">
                                          <p:stCondLst>
                                            <p:cond delay="0"/>
                                          </p:stCondLst>
                                        </p:cTn>
                                        <p:tgtEl>
                                          <p:spTgt spid="95"/>
                                        </p:tgtEl>
                                        <p:attrNameLst>
                                          <p:attrName>style.visibility</p:attrName>
                                        </p:attrNameLst>
                                      </p:cBhvr>
                                      <p:to>
                                        <p:strVal val="visible"/>
                                      </p:to>
                                    </p:set>
                                    <p:animEffect filter="wipe(down)" transition="in">
                                      <p:cBhvr additive="repl">
                                        <p:cTn id="190" dur="500"/>
                                        <p:tgtEl>
                                          <p:spTgt spid="95"/>
                                        </p:tgtEl>
                                      </p:cBhvr>
                                    </p:animEffect>
                                  </p:childTnLst>
                                </p:cTn>
                              </p:par>
                            </p:childTnLst>
                          </p:cTn>
                        </p:par>
                        <p:par>
                          <p:cTn id="191" nodeType="afterEffect" fill="hold">
                            <p:stCondLst>
                              <p:cond delay="500"/>
                            </p:stCondLst>
                            <p:childTnLst>
                              <p:par>
                                <p:cTn id="192" nodeType="afterEffect" fill="hold" presetClass="entr" presetID="22" presetSubtype="2">
                                  <p:stCondLst>
                                    <p:cond delay="0"/>
                                  </p:stCondLst>
                                  <p:childTnLst>
                                    <p:set>
                                      <p:cBhvr>
                                        <p:cTn id="193" dur="1" fill="hold">
                                          <p:stCondLst>
                                            <p:cond delay="0"/>
                                          </p:stCondLst>
                                        </p:cTn>
                                        <p:tgtEl>
                                          <p:spTgt spid="96"/>
                                        </p:tgtEl>
                                        <p:attrNameLst>
                                          <p:attrName>style.visibility</p:attrName>
                                        </p:attrNameLst>
                                      </p:cBhvr>
                                      <p:to>
                                        <p:strVal val="visible"/>
                                      </p:to>
                                    </p:set>
                                    <p:animEffect filter="wipe(right)" transition="in">
                                      <p:cBhvr additive="repl">
                                        <p:cTn id="194" dur="500"/>
                                        <p:tgtEl>
                                          <p:spTgt spid="96"/>
                                        </p:tgtEl>
                                      </p:cBhvr>
                                    </p:animEffect>
                                  </p:childTnLst>
                                </p:cTn>
                              </p:par>
                            </p:childTnLst>
                          </p:cTn>
                        </p:par>
                        <p:par>
                          <p:cTn id="195" nodeType="afterEffect" fill="hold">
                            <p:stCondLst>
                              <p:cond delay="1000"/>
                            </p:stCondLst>
                            <p:childTnLst>
                              <p:par>
                                <p:cTn id="196" nodeType="afterEffect" fill="hold" presetClass="entr" presetID="53" presetSubtype="16">
                                  <p:stCondLst>
                                    <p:cond delay="0"/>
                                  </p:stCondLst>
                                  <p:childTnLst>
                                    <p:set>
                                      <p:cBhvr>
                                        <p:cTn id="197" dur="1" fill="hold">
                                          <p:stCondLst>
                                            <p:cond delay="0"/>
                                          </p:stCondLst>
                                        </p:cTn>
                                        <p:tgtEl>
                                          <p:spTgt spid="66"/>
                                        </p:tgtEl>
                                        <p:attrNameLst>
                                          <p:attrName>style.visibility</p:attrName>
                                        </p:attrNameLst>
                                      </p:cBhvr>
                                      <p:to>
                                        <p:strVal val="visible"/>
                                      </p:to>
                                    </p:set>
                                    <p:anim calcmode="lin" valueType="num">
                                      <p:cBhvr additive="repl">
                                        <p:cTn id="198" dur="500" fill="hold"/>
                                        <p:tgtEl>
                                          <p:spTgt spid="66"/>
                                        </p:tgtEl>
                                        <p:attrNameLst>
                                          <p:attrName>ppt_w</p:attrName>
                                        </p:attrNameLst>
                                      </p:cBhvr>
                                      <p:tavLst>
                                        <p:tav tm="0">
                                          <p:val>
                                            <p:fltVal val="0"/>
                                          </p:val>
                                        </p:tav>
                                        <p:tav tm="100000">
                                          <p:val>
                                            <p:strVal val="#ppt_w"/>
                                          </p:val>
                                        </p:tav>
                                      </p:tavLst>
                                    </p:anim>
                                    <p:anim calcmode="lin" valueType="num">
                                      <p:cBhvr additive="repl">
                                        <p:cTn id="199" dur="500" fill="hold"/>
                                        <p:tgtEl>
                                          <p:spTgt spid="66"/>
                                        </p:tgtEl>
                                        <p:attrNameLst>
                                          <p:attrName>ppt_h</p:attrName>
                                        </p:attrNameLst>
                                      </p:cBhvr>
                                      <p:tavLst>
                                        <p:tav tm="0">
                                          <p:val>
                                            <p:fltVal val="0"/>
                                          </p:val>
                                        </p:tav>
                                        <p:tav tm="100000">
                                          <p:val>
                                            <p:strVal val="#ppt_h"/>
                                          </p:val>
                                        </p:tav>
                                      </p:tavLst>
                                    </p:anim>
                                    <p:animEffect filter="fade" transition="in">
                                      <p:cBhvr additive="repl">
                                        <p:cTn id="200" dur="500"/>
                                        <p:tgtEl>
                                          <p:spTgt spid="66"/>
                                        </p:tgtEl>
                                      </p:cBhvr>
                                    </p:animEffect>
                                  </p:childTnLst>
                                </p:cTn>
                              </p:par>
                            </p:childTnLst>
                          </p:cTn>
                        </p:par>
                      </p:childTnLst>
                    </p:cTn>
                  </p:par>
                  <p:par>
                    <p:cTn id="201" nodeType="clickEffect" fill="hold">
                      <p:stCondLst>
                        <p:cond delay="indefinite"/>
                      </p:stCondLst>
                      <p:childTnLst>
                        <p:par>
                          <p:cTn id="202" nodeType="withEffect" fill="hold">
                            <p:stCondLst>
                              <p:cond delay="0"/>
                            </p:stCondLst>
                            <p:childTnLst>
                              <p:par>
                                <p:cTn id="203" nodeType="clickEffect" fill="hold" presetClass="entr" presetID="22" presetSubtype="4">
                                  <p:stCondLst>
                                    <p:cond delay="0"/>
                                  </p:stCondLst>
                                  <p:childTnLst>
                                    <p:set>
                                      <p:cBhvr>
                                        <p:cTn id="204" dur="1" fill="hold">
                                          <p:stCondLst>
                                            <p:cond delay="0"/>
                                          </p:stCondLst>
                                        </p:cTn>
                                        <p:tgtEl>
                                          <p:spTgt spid="67"/>
                                        </p:tgtEl>
                                        <p:attrNameLst>
                                          <p:attrName>style.visibility</p:attrName>
                                        </p:attrNameLst>
                                      </p:cBhvr>
                                      <p:to>
                                        <p:strVal val="visible"/>
                                      </p:to>
                                    </p:set>
                                    <p:animEffect filter="wipe(down)" transition="in">
                                      <p:cBhvr additive="repl">
                                        <p:cTn id="205" dur="500"/>
                                        <p:tgtEl>
                                          <p:spTgt spid="67"/>
                                        </p:tgtEl>
                                      </p:cBhvr>
                                    </p:animEffect>
                                  </p:childTnLst>
                                </p:cTn>
                              </p:par>
                            </p:childTnLst>
                          </p:cTn>
                        </p:par>
                        <p:par>
                          <p:cTn id="206" nodeType="afterEffect" fill="hold">
                            <p:stCondLst>
                              <p:cond delay="500"/>
                            </p:stCondLst>
                            <p:childTnLst>
                              <p:par>
                                <p:cTn id="207" nodeType="afterEffect" fill="hold" presetClass="entr" presetID="22" presetSubtype="2">
                                  <p:stCondLst>
                                    <p:cond delay="0"/>
                                  </p:stCondLst>
                                  <p:childTnLst>
                                    <p:set>
                                      <p:cBhvr>
                                        <p:cTn id="208" dur="1" fill="hold">
                                          <p:stCondLst>
                                            <p:cond delay="0"/>
                                          </p:stCondLst>
                                        </p:cTn>
                                        <p:tgtEl>
                                          <p:spTgt spid="68"/>
                                        </p:tgtEl>
                                        <p:attrNameLst>
                                          <p:attrName>style.visibility</p:attrName>
                                        </p:attrNameLst>
                                      </p:cBhvr>
                                      <p:to>
                                        <p:strVal val="visible"/>
                                      </p:to>
                                    </p:set>
                                    <p:animEffect filter="wipe(right)" transition="in">
                                      <p:cBhvr additive="repl">
                                        <p:cTn id="209" dur="500"/>
                                        <p:tgtEl>
                                          <p:spTgt spid="68"/>
                                        </p:tgtEl>
                                      </p:cBhvr>
                                    </p:animEffect>
                                  </p:childTnLst>
                                </p:cTn>
                              </p:par>
                            </p:childTnLst>
                          </p:cTn>
                        </p:par>
                        <p:par>
                          <p:cTn id="210" nodeType="afterEffect" fill="hold">
                            <p:stCondLst>
                              <p:cond delay="1000"/>
                            </p:stCondLst>
                            <p:childTnLst>
                              <p:par>
                                <p:cTn id="211" nodeType="afterEffect" fill="hold" presetClass="entr" presetID="53" presetSubtype="16">
                                  <p:stCondLst>
                                    <p:cond delay="0"/>
                                  </p:stCondLst>
                                  <p:childTnLst>
                                    <p:set>
                                      <p:cBhvr>
                                        <p:cTn id="212" dur="1" fill="hold">
                                          <p:stCondLst>
                                            <p:cond delay="0"/>
                                          </p:stCondLst>
                                        </p:cTn>
                                        <p:tgtEl>
                                          <p:spTgt spid="91"/>
                                        </p:tgtEl>
                                        <p:attrNameLst>
                                          <p:attrName>style.visibility</p:attrName>
                                        </p:attrNameLst>
                                      </p:cBhvr>
                                      <p:to>
                                        <p:strVal val="visible"/>
                                      </p:to>
                                    </p:set>
                                    <p:anim calcmode="lin" valueType="num">
                                      <p:cBhvr additive="repl">
                                        <p:cTn id="213" dur="500" fill="hold"/>
                                        <p:tgtEl>
                                          <p:spTgt spid="91"/>
                                        </p:tgtEl>
                                        <p:attrNameLst>
                                          <p:attrName>ppt_w</p:attrName>
                                        </p:attrNameLst>
                                      </p:cBhvr>
                                      <p:tavLst>
                                        <p:tav tm="0">
                                          <p:val>
                                            <p:fltVal val="0"/>
                                          </p:val>
                                        </p:tav>
                                        <p:tav tm="100000">
                                          <p:val>
                                            <p:strVal val="#ppt_w"/>
                                          </p:val>
                                        </p:tav>
                                      </p:tavLst>
                                    </p:anim>
                                    <p:anim calcmode="lin" valueType="num">
                                      <p:cBhvr additive="repl">
                                        <p:cTn id="214" dur="500" fill="hold"/>
                                        <p:tgtEl>
                                          <p:spTgt spid="91"/>
                                        </p:tgtEl>
                                        <p:attrNameLst>
                                          <p:attrName>ppt_h</p:attrName>
                                        </p:attrNameLst>
                                      </p:cBhvr>
                                      <p:tavLst>
                                        <p:tav tm="0">
                                          <p:val>
                                            <p:fltVal val="0"/>
                                          </p:val>
                                        </p:tav>
                                        <p:tav tm="100000">
                                          <p:val>
                                            <p:strVal val="#ppt_h"/>
                                          </p:val>
                                        </p:tav>
                                      </p:tavLst>
                                    </p:anim>
                                    <p:animEffect filter="fade" transition="in">
                                      <p:cBhvr additive="repl">
                                        <p:cTn id="215" dur="500"/>
                                        <p:tgtEl>
                                          <p:spTgt spid="91"/>
                                        </p:tgtEl>
                                      </p:cBhvr>
                                    </p:animEffect>
                                  </p:childTnLst>
                                </p:cTn>
                              </p:par>
                            </p:childTnLst>
                          </p:cTn>
                        </p:par>
                        <p:par>
                          <p:cTn id="216" nodeType="afterEffect" fill="hold">
                            <p:stCondLst>
                              <p:cond delay="1500"/>
                            </p:stCondLst>
                            <p:childTnLst>
                              <p:par>
                                <p:cTn id="217" nodeType="afterEffect" fill="hold" presetClass="entr" presetID="53" presetSubtype="16">
                                  <p:stCondLst>
                                    <p:cond delay="0"/>
                                  </p:stCondLst>
                                  <p:childTnLst>
                                    <p:set>
                                      <p:cBhvr>
                                        <p:cTn id="218" dur="1" fill="hold">
                                          <p:stCondLst>
                                            <p:cond delay="0"/>
                                          </p:stCondLst>
                                        </p:cTn>
                                        <p:tgtEl>
                                          <p:spTgt spid="43"/>
                                        </p:tgtEl>
                                        <p:attrNameLst>
                                          <p:attrName>style.visibility</p:attrName>
                                        </p:attrNameLst>
                                      </p:cBhvr>
                                      <p:to>
                                        <p:strVal val="visible"/>
                                      </p:to>
                                    </p:set>
                                    <p:anim calcmode="lin" valueType="num">
                                      <p:cBhvr additive="repl">
                                        <p:cTn id="219" dur="500" fill="hold"/>
                                        <p:tgtEl>
                                          <p:spTgt spid="43"/>
                                        </p:tgtEl>
                                        <p:attrNameLst>
                                          <p:attrName>ppt_w</p:attrName>
                                        </p:attrNameLst>
                                      </p:cBhvr>
                                      <p:tavLst>
                                        <p:tav tm="0">
                                          <p:val>
                                            <p:fltVal val="0"/>
                                          </p:val>
                                        </p:tav>
                                        <p:tav tm="100000">
                                          <p:val>
                                            <p:strVal val="#ppt_w"/>
                                          </p:val>
                                        </p:tav>
                                      </p:tavLst>
                                    </p:anim>
                                    <p:anim calcmode="lin" valueType="num">
                                      <p:cBhvr additive="repl">
                                        <p:cTn id="220" dur="500" fill="hold"/>
                                        <p:tgtEl>
                                          <p:spTgt spid="43"/>
                                        </p:tgtEl>
                                        <p:attrNameLst>
                                          <p:attrName>ppt_h</p:attrName>
                                        </p:attrNameLst>
                                      </p:cBhvr>
                                      <p:tavLst>
                                        <p:tav tm="0">
                                          <p:val>
                                            <p:fltVal val="0"/>
                                          </p:val>
                                        </p:tav>
                                        <p:tav tm="100000">
                                          <p:val>
                                            <p:strVal val="#ppt_h"/>
                                          </p:val>
                                        </p:tav>
                                      </p:tavLst>
                                    </p:anim>
                                    <p:animEffect filter="fade" transition="in">
                                      <p:cBhvr additive="repl">
                                        <p:cTn id="221" dur="500"/>
                                        <p:tgtEl>
                                          <p:spTgt spid="43"/>
                                        </p:tgtEl>
                                      </p:cBhvr>
                                    </p:animEffect>
                                  </p:childTnLst>
                                </p:cTn>
                              </p:par>
                            </p:childTnLst>
                          </p:cTn>
                        </p:par>
                        <p:par>
                          <p:cTn id="222" nodeType="afterEffect" fill="hold">
                            <p:stCondLst>
                              <p:cond delay="2000"/>
                            </p:stCondLst>
                            <p:childTnLst>
                              <p:par>
                                <p:cTn id="223" nodeType="afterEffect" fill="hold" presetClass="entr" presetID="53" presetSubtype="16">
                                  <p:stCondLst>
                                    <p:cond delay="0"/>
                                  </p:stCondLst>
                                  <p:childTnLst>
                                    <p:set>
                                      <p:cBhvr>
                                        <p:cTn id="224" dur="1" fill="hold">
                                          <p:stCondLst>
                                            <p:cond delay="0"/>
                                          </p:stCondLst>
                                        </p:cTn>
                                        <p:tgtEl>
                                          <p:spTgt spid="81"/>
                                        </p:tgtEl>
                                        <p:attrNameLst>
                                          <p:attrName>style.visibility</p:attrName>
                                        </p:attrNameLst>
                                      </p:cBhvr>
                                      <p:to>
                                        <p:strVal val="visible"/>
                                      </p:to>
                                    </p:set>
                                    <p:anim calcmode="lin" valueType="num">
                                      <p:cBhvr additive="repl">
                                        <p:cTn id="225" dur="500" fill="hold"/>
                                        <p:tgtEl>
                                          <p:spTgt spid="81"/>
                                        </p:tgtEl>
                                        <p:attrNameLst>
                                          <p:attrName>ppt_w</p:attrName>
                                        </p:attrNameLst>
                                      </p:cBhvr>
                                      <p:tavLst>
                                        <p:tav tm="0">
                                          <p:val>
                                            <p:fltVal val="0"/>
                                          </p:val>
                                        </p:tav>
                                        <p:tav tm="100000">
                                          <p:val>
                                            <p:strVal val="#ppt_w"/>
                                          </p:val>
                                        </p:tav>
                                      </p:tavLst>
                                    </p:anim>
                                    <p:anim calcmode="lin" valueType="num">
                                      <p:cBhvr additive="repl">
                                        <p:cTn id="226" dur="500" fill="hold"/>
                                        <p:tgtEl>
                                          <p:spTgt spid="81"/>
                                        </p:tgtEl>
                                        <p:attrNameLst>
                                          <p:attrName>ppt_h</p:attrName>
                                        </p:attrNameLst>
                                      </p:cBhvr>
                                      <p:tavLst>
                                        <p:tav tm="0">
                                          <p:val>
                                            <p:fltVal val="0"/>
                                          </p:val>
                                        </p:tav>
                                        <p:tav tm="100000">
                                          <p:val>
                                            <p:strVal val="#ppt_h"/>
                                          </p:val>
                                        </p:tav>
                                      </p:tavLst>
                                    </p:anim>
                                    <p:animEffect filter="fade" transition="in">
                                      <p:cBhvr additive="repl">
                                        <p:cTn id="227" dur="500"/>
                                        <p:tgtEl>
                                          <p:spTgt spid="81"/>
                                        </p:tgtEl>
                                      </p:cBhvr>
                                    </p:animEffect>
                                  </p:childTnLst>
                                </p:cTn>
                              </p:par>
                            </p:childTnLst>
                          </p:cTn>
                        </p:par>
                        <p:par>
                          <p:cTn id="228" nodeType="afterEffect" fill="hold">
                            <p:stCondLst>
                              <p:cond delay="2500"/>
                            </p:stCondLst>
                            <p:childTnLst>
                              <p:par>
                                <p:cTn id="229" nodeType="afterEffect" fill="hold" presetClass="entr" presetID="53" presetSubtype="16">
                                  <p:stCondLst>
                                    <p:cond delay="0"/>
                                  </p:stCondLst>
                                  <p:childTnLst>
                                    <p:set>
                                      <p:cBhvr>
                                        <p:cTn id="230" dur="1" fill="hold">
                                          <p:stCondLst>
                                            <p:cond delay="0"/>
                                          </p:stCondLst>
                                        </p:cTn>
                                        <p:tgtEl>
                                          <p:spTgt spid="82"/>
                                        </p:tgtEl>
                                        <p:attrNameLst>
                                          <p:attrName>style.visibility</p:attrName>
                                        </p:attrNameLst>
                                      </p:cBhvr>
                                      <p:to>
                                        <p:strVal val="visible"/>
                                      </p:to>
                                    </p:set>
                                    <p:anim calcmode="lin" valueType="num">
                                      <p:cBhvr additive="repl">
                                        <p:cTn id="231" dur="500" fill="hold"/>
                                        <p:tgtEl>
                                          <p:spTgt spid="82"/>
                                        </p:tgtEl>
                                        <p:attrNameLst>
                                          <p:attrName>ppt_w</p:attrName>
                                        </p:attrNameLst>
                                      </p:cBhvr>
                                      <p:tavLst>
                                        <p:tav tm="0">
                                          <p:val>
                                            <p:fltVal val="0"/>
                                          </p:val>
                                        </p:tav>
                                        <p:tav tm="100000">
                                          <p:val>
                                            <p:strVal val="#ppt_w"/>
                                          </p:val>
                                        </p:tav>
                                      </p:tavLst>
                                    </p:anim>
                                    <p:anim calcmode="lin" valueType="num">
                                      <p:cBhvr additive="repl">
                                        <p:cTn id="232" dur="500" fill="hold"/>
                                        <p:tgtEl>
                                          <p:spTgt spid="82"/>
                                        </p:tgtEl>
                                        <p:attrNameLst>
                                          <p:attrName>ppt_h</p:attrName>
                                        </p:attrNameLst>
                                      </p:cBhvr>
                                      <p:tavLst>
                                        <p:tav tm="0">
                                          <p:val>
                                            <p:fltVal val="0"/>
                                          </p:val>
                                        </p:tav>
                                        <p:tav tm="100000">
                                          <p:val>
                                            <p:strVal val="#ppt_h"/>
                                          </p:val>
                                        </p:tav>
                                      </p:tavLst>
                                    </p:anim>
                                    <p:animEffect filter="fade" transition="in">
                                      <p:cBhvr additive="repl">
                                        <p:cTn id="233" dur="500"/>
                                        <p:tgtEl>
                                          <p:spTgt spid="82"/>
                                        </p:tgtEl>
                                      </p:cBhvr>
                                    </p:animEffect>
                                  </p:childTnLst>
                                </p:cTn>
                              </p:par>
                            </p:childTnLst>
                          </p:cTn>
                        </p:par>
                      </p:childTnLst>
                    </p:cTn>
                  </p:par>
                  <p:par>
                    <p:cTn id="234" nodeType="clickEffect" fill="hold">
                      <p:stCondLst>
                        <p:cond delay="indefinite"/>
                      </p:stCondLst>
                      <p:childTnLst>
                        <p:par>
                          <p:cTn id="235" nodeType="withEffect" fill="hold">
                            <p:stCondLst>
                              <p:cond delay="0"/>
                            </p:stCondLst>
                            <p:childTnLst>
                              <p:par>
                                <p:cTn id="236" nodeType="clickEffect" fill="hold" presetClass="entr" presetID="22" presetSubtype="1">
                                  <p:stCondLst>
                                    <p:cond delay="0"/>
                                  </p:stCondLst>
                                  <p:childTnLst>
                                    <p:set>
                                      <p:cBhvr>
                                        <p:cTn id="237" dur="1" fill="hold">
                                          <p:stCondLst>
                                            <p:cond delay="0"/>
                                          </p:stCondLst>
                                        </p:cTn>
                                        <p:tgtEl>
                                          <p:spTgt spid="44"/>
                                        </p:tgtEl>
                                        <p:attrNameLst>
                                          <p:attrName>style.visibility</p:attrName>
                                        </p:attrNameLst>
                                      </p:cBhvr>
                                      <p:to>
                                        <p:strVal val="visible"/>
                                      </p:to>
                                    </p:set>
                                    <p:animEffect filter="wipe(up)" transition="in">
                                      <p:cBhvr additive="repl">
                                        <p:cTn id="238" dur="500"/>
                                        <p:tgtEl>
                                          <p:spTgt spid="44"/>
                                        </p:tgtEl>
                                      </p:cBhvr>
                                    </p:animEffect>
                                  </p:childTnLst>
                                </p:cTn>
                              </p:par>
                            </p:childTnLst>
                          </p:cTn>
                        </p:par>
                        <p:par>
                          <p:cTn id="239" nodeType="afterEffect" fill="hold">
                            <p:stCondLst>
                              <p:cond delay="500"/>
                            </p:stCondLst>
                            <p:childTnLst>
                              <p:par>
                                <p:cTn id="240" nodeType="afterEffect" fill="hold" presetClass="entr" presetID="53" presetSubtype="16">
                                  <p:stCondLst>
                                    <p:cond delay="0"/>
                                  </p:stCondLst>
                                  <p:childTnLst>
                                    <p:set>
                                      <p:cBhvr>
                                        <p:cTn id="241" dur="1" fill="hold">
                                          <p:stCondLst>
                                            <p:cond delay="0"/>
                                          </p:stCondLst>
                                        </p:cTn>
                                        <p:tgtEl>
                                          <p:spTgt spid="83"/>
                                        </p:tgtEl>
                                        <p:attrNameLst>
                                          <p:attrName>style.visibility</p:attrName>
                                        </p:attrNameLst>
                                      </p:cBhvr>
                                      <p:to>
                                        <p:strVal val="visible"/>
                                      </p:to>
                                    </p:set>
                                    <p:anim calcmode="lin" valueType="num">
                                      <p:cBhvr additive="repl">
                                        <p:cTn id="242" dur="500" fill="hold"/>
                                        <p:tgtEl>
                                          <p:spTgt spid="83"/>
                                        </p:tgtEl>
                                        <p:attrNameLst>
                                          <p:attrName>ppt_w</p:attrName>
                                        </p:attrNameLst>
                                      </p:cBhvr>
                                      <p:tavLst>
                                        <p:tav tm="0">
                                          <p:val>
                                            <p:fltVal val="0"/>
                                          </p:val>
                                        </p:tav>
                                        <p:tav tm="100000">
                                          <p:val>
                                            <p:strVal val="#ppt_w"/>
                                          </p:val>
                                        </p:tav>
                                      </p:tavLst>
                                    </p:anim>
                                    <p:anim calcmode="lin" valueType="num">
                                      <p:cBhvr additive="repl">
                                        <p:cTn id="243" dur="500" fill="hold"/>
                                        <p:tgtEl>
                                          <p:spTgt spid="83"/>
                                        </p:tgtEl>
                                        <p:attrNameLst>
                                          <p:attrName>ppt_h</p:attrName>
                                        </p:attrNameLst>
                                      </p:cBhvr>
                                      <p:tavLst>
                                        <p:tav tm="0">
                                          <p:val>
                                            <p:fltVal val="0"/>
                                          </p:val>
                                        </p:tav>
                                        <p:tav tm="100000">
                                          <p:val>
                                            <p:strVal val="#ppt_h"/>
                                          </p:val>
                                        </p:tav>
                                      </p:tavLst>
                                    </p:anim>
                                    <p:animEffect filter="fade" transition="in">
                                      <p:cBhvr additive="repl">
                                        <p:cTn id="244" dur="500"/>
                                        <p:tgtEl>
                                          <p:spTgt spid="83"/>
                                        </p:tgtEl>
                                      </p:cBhvr>
                                    </p:animEffect>
                                  </p:childTnLst>
                                </p:cTn>
                              </p:par>
                            </p:childTnLst>
                          </p:cTn>
                        </p:par>
                        <p:par>
                          <p:cTn id="245" nodeType="afterEffect" fill="hold">
                            <p:stCondLst>
                              <p:cond delay="1000"/>
                            </p:stCondLst>
                            <p:childTnLst>
                              <p:par>
                                <p:cTn id="246" nodeType="afterEffect" fill="hold" presetClass="entr" presetID="53" presetSubtype="16">
                                  <p:stCondLst>
                                    <p:cond delay="0"/>
                                  </p:stCondLst>
                                  <p:childTnLst>
                                    <p:set>
                                      <p:cBhvr>
                                        <p:cTn id="247" dur="1" fill="hold">
                                          <p:stCondLst>
                                            <p:cond delay="0"/>
                                          </p:stCondLst>
                                        </p:cTn>
                                        <p:tgtEl>
                                          <p:spTgt spid="46"/>
                                        </p:tgtEl>
                                        <p:attrNameLst>
                                          <p:attrName>style.visibility</p:attrName>
                                        </p:attrNameLst>
                                      </p:cBhvr>
                                      <p:to>
                                        <p:strVal val="visible"/>
                                      </p:to>
                                    </p:set>
                                    <p:anim calcmode="lin" valueType="num">
                                      <p:cBhvr additive="repl">
                                        <p:cTn id="248" dur="500" fill="hold"/>
                                        <p:tgtEl>
                                          <p:spTgt spid="46"/>
                                        </p:tgtEl>
                                        <p:attrNameLst>
                                          <p:attrName>ppt_w</p:attrName>
                                        </p:attrNameLst>
                                      </p:cBhvr>
                                      <p:tavLst>
                                        <p:tav tm="0">
                                          <p:val>
                                            <p:fltVal val="0"/>
                                          </p:val>
                                        </p:tav>
                                        <p:tav tm="100000">
                                          <p:val>
                                            <p:strVal val="#ppt_w"/>
                                          </p:val>
                                        </p:tav>
                                      </p:tavLst>
                                    </p:anim>
                                    <p:anim calcmode="lin" valueType="num">
                                      <p:cBhvr additive="repl">
                                        <p:cTn id="249" dur="500" fill="hold"/>
                                        <p:tgtEl>
                                          <p:spTgt spid="46"/>
                                        </p:tgtEl>
                                        <p:attrNameLst>
                                          <p:attrName>ppt_h</p:attrName>
                                        </p:attrNameLst>
                                      </p:cBhvr>
                                      <p:tavLst>
                                        <p:tav tm="0">
                                          <p:val>
                                            <p:fltVal val="0"/>
                                          </p:val>
                                        </p:tav>
                                        <p:tav tm="100000">
                                          <p:val>
                                            <p:strVal val="#ppt_h"/>
                                          </p:val>
                                        </p:tav>
                                      </p:tavLst>
                                    </p:anim>
                                    <p:animEffect filter="fade" transition="in">
                                      <p:cBhvr additive="repl">
                                        <p:cTn id="250" dur="500"/>
                                        <p:tgtEl>
                                          <p:spTgt spid="46"/>
                                        </p:tgtEl>
                                      </p:cBhvr>
                                    </p:animEffect>
                                  </p:childTnLst>
                                </p:cTn>
                              </p:par>
                              <p:par>
                                <p:cTn id="251" nodeType="withEffect" fill="hold" presetClass="entr" presetID="53" presetSubtype="16">
                                  <p:stCondLst>
                                    <p:cond delay="0"/>
                                  </p:stCondLst>
                                  <p:childTnLst>
                                    <p:set>
                                      <p:cBhvr>
                                        <p:cTn id="252" dur="1" fill="hold">
                                          <p:stCondLst>
                                            <p:cond delay="0"/>
                                          </p:stCondLst>
                                        </p:cTn>
                                        <p:tgtEl>
                                          <p:spTgt spid="45">
                                            <p:txEl>
                                              <p:pRg st="0" end="0"/>
                                            </p:txEl>
                                          </p:spTgt>
                                        </p:tgtEl>
                                        <p:attrNameLst>
                                          <p:attrName>style.visibility</p:attrName>
                                        </p:attrNameLst>
                                      </p:cBhvr>
                                      <p:to>
                                        <p:strVal val="visible"/>
                                      </p:to>
                                    </p:set>
                                    <p:anim calcmode="lin" valueType="num">
                                      <p:cBhvr additive="repl">
                                        <p:cTn id="253" dur="500" fill="hold"/>
                                        <p:tgtEl>
                                          <p:spTgt spid="45">
                                            <p:txEl>
                                              <p:pRg st="0" end="0"/>
                                            </p:txEl>
                                          </p:spTgt>
                                        </p:tgtEl>
                                        <p:attrNameLst>
                                          <p:attrName>ppt_w</p:attrName>
                                        </p:attrNameLst>
                                      </p:cBhvr>
                                      <p:tavLst>
                                        <p:tav tm="0">
                                          <p:val>
                                            <p:fltVal val="0"/>
                                          </p:val>
                                        </p:tav>
                                        <p:tav tm="100000">
                                          <p:val>
                                            <p:strVal val="#ppt_w"/>
                                          </p:val>
                                        </p:tav>
                                      </p:tavLst>
                                    </p:anim>
                                    <p:anim calcmode="lin" valueType="num">
                                      <p:cBhvr additive="repl">
                                        <p:cTn id="254" dur="500" fill="hold"/>
                                        <p:tgtEl>
                                          <p:spTgt spid="45">
                                            <p:txEl>
                                              <p:pRg st="0" end="0"/>
                                            </p:txEl>
                                          </p:spTgt>
                                        </p:tgtEl>
                                        <p:attrNameLst>
                                          <p:attrName>ppt_h</p:attrName>
                                        </p:attrNameLst>
                                      </p:cBhvr>
                                      <p:tavLst>
                                        <p:tav tm="0">
                                          <p:val>
                                            <p:fltVal val="0"/>
                                          </p:val>
                                        </p:tav>
                                        <p:tav tm="100000">
                                          <p:val>
                                            <p:strVal val="#ppt_h"/>
                                          </p:val>
                                        </p:tav>
                                      </p:tavLst>
                                    </p:anim>
                                    <p:animEffect filter="fade" transition="in">
                                      <p:cBhvr additive="repl">
                                        <p:cTn id="255" dur="500"/>
                                        <p:tgtEl>
                                          <p:spTgt spid="45">
                                            <p:txEl>
                                              <p:pRg st="0" end="0"/>
                                            </p:txEl>
                                          </p:spTgt>
                                        </p:tgtEl>
                                      </p:cBhvr>
                                    </p:animEffect>
                                  </p:childTnLst>
                                </p:cTn>
                              </p:par>
                            </p:childTnLst>
                          </p:cTn>
                        </p:par>
                        <p:par>
                          <p:cTn id="256" nodeType="afterEffect" fill="hold">
                            <p:stCondLst>
                              <p:cond delay="1500"/>
                            </p:stCondLst>
                            <p:childTnLst>
                              <p:par>
                                <p:cTn id="257" nodeType="afterEffect" fill="hold" presetClass="entr" presetID="53" presetSubtype="16">
                                  <p:stCondLst>
                                    <p:cond delay="0"/>
                                  </p:stCondLst>
                                  <p:childTnLst>
                                    <p:set>
                                      <p:cBhvr>
                                        <p:cTn id="258" dur="1" fill="hold">
                                          <p:stCondLst>
                                            <p:cond delay="0"/>
                                          </p:stCondLst>
                                        </p:cTn>
                                        <p:tgtEl>
                                          <p:spTgt spid="107"/>
                                        </p:tgtEl>
                                        <p:attrNameLst>
                                          <p:attrName>style.visibility</p:attrName>
                                        </p:attrNameLst>
                                      </p:cBhvr>
                                      <p:to>
                                        <p:strVal val="visible"/>
                                      </p:to>
                                    </p:set>
                                    <p:anim calcmode="lin" valueType="num">
                                      <p:cBhvr additive="repl">
                                        <p:cTn id="259" dur="500" fill="hold"/>
                                        <p:tgtEl>
                                          <p:spTgt spid="107"/>
                                        </p:tgtEl>
                                        <p:attrNameLst>
                                          <p:attrName>ppt_w</p:attrName>
                                        </p:attrNameLst>
                                      </p:cBhvr>
                                      <p:tavLst>
                                        <p:tav tm="0">
                                          <p:val>
                                            <p:fltVal val="0"/>
                                          </p:val>
                                        </p:tav>
                                        <p:tav tm="100000">
                                          <p:val>
                                            <p:strVal val="#ppt_w"/>
                                          </p:val>
                                        </p:tav>
                                      </p:tavLst>
                                    </p:anim>
                                    <p:anim calcmode="lin" valueType="num">
                                      <p:cBhvr additive="repl">
                                        <p:cTn id="260" dur="500" fill="hold"/>
                                        <p:tgtEl>
                                          <p:spTgt spid="107"/>
                                        </p:tgtEl>
                                        <p:attrNameLst>
                                          <p:attrName>ppt_h</p:attrName>
                                        </p:attrNameLst>
                                      </p:cBhvr>
                                      <p:tavLst>
                                        <p:tav tm="0">
                                          <p:val>
                                            <p:fltVal val="0"/>
                                          </p:val>
                                        </p:tav>
                                        <p:tav tm="100000">
                                          <p:val>
                                            <p:strVal val="#ppt_h"/>
                                          </p:val>
                                        </p:tav>
                                      </p:tavLst>
                                    </p:anim>
                                    <p:animEffect filter="fade" transition="in">
                                      <p:cBhvr additive="repl">
                                        <p:cTn id="261" dur="500"/>
                                        <p:tgtEl>
                                          <p:spTgt spid="107"/>
                                        </p:tgtEl>
                                      </p:cBhvr>
                                    </p:animEffect>
                                  </p:childTnLst>
                                </p:cTn>
                              </p:par>
                            </p:childTnLst>
                          </p:cTn>
                        </p:par>
                        <p:par>
                          <p:cTn id="262" nodeType="afterEffect" fill="hold">
                            <p:stCondLst>
                              <p:cond delay="2000"/>
                            </p:stCondLst>
                            <p:childTnLst>
                              <p:par>
                                <p:cTn id="263" nodeType="afterEffect" fill="hold" presetClass="entr" presetID="53" presetSubtype="16">
                                  <p:stCondLst>
                                    <p:cond delay="0"/>
                                  </p:stCondLst>
                                  <p:childTnLst>
                                    <p:set>
                                      <p:cBhvr>
                                        <p:cTn id="264" dur="1" fill="hold">
                                          <p:stCondLst>
                                            <p:cond delay="0"/>
                                          </p:stCondLst>
                                        </p:cTn>
                                        <p:tgtEl>
                                          <p:spTgt spid="97"/>
                                        </p:tgtEl>
                                        <p:attrNameLst>
                                          <p:attrName>style.visibility</p:attrName>
                                        </p:attrNameLst>
                                      </p:cBhvr>
                                      <p:to>
                                        <p:strVal val="visible"/>
                                      </p:to>
                                    </p:set>
                                    <p:anim calcmode="lin" valueType="num">
                                      <p:cBhvr additive="repl">
                                        <p:cTn id="265" dur="500" fill="hold"/>
                                        <p:tgtEl>
                                          <p:spTgt spid="97"/>
                                        </p:tgtEl>
                                        <p:attrNameLst>
                                          <p:attrName>ppt_w</p:attrName>
                                        </p:attrNameLst>
                                      </p:cBhvr>
                                      <p:tavLst>
                                        <p:tav tm="0">
                                          <p:val>
                                            <p:fltVal val="0"/>
                                          </p:val>
                                        </p:tav>
                                        <p:tav tm="100000">
                                          <p:val>
                                            <p:strVal val="#ppt_w"/>
                                          </p:val>
                                        </p:tav>
                                      </p:tavLst>
                                    </p:anim>
                                    <p:anim calcmode="lin" valueType="num">
                                      <p:cBhvr additive="repl">
                                        <p:cTn id="266" dur="500" fill="hold"/>
                                        <p:tgtEl>
                                          <p:spTgt spid="97"/>
                                        </p:tgtEl>
                                        <p:attrNameLst>
                                          <p:attrName>ppt_h</p:attrName>
                                        </p:attrNameLst>
                                      </p:cBhvr>
                                      <p:tavLst>
                                        <p:tav tm="0">
                                          <p:val>
                                            <p:fltVal val="0"/>
                                          </p:val>
                                        </p:tav>
                                        <p:tav tm="100000">
                                          <p:val>
                                            <p:strVal val="#ppt_h"/>
                                          </p:val>
                                        </p:tav>
                                      </p:tavLst>
                                    </p:anim>
                                    <p:animEffect filter="fade" transition="in">
                                      <p:cBhvr additive="repl">
                                        <p:cTn id="267" dur="500"/>
                                        <p:tgtEl>
                                          <p:spTgt spid="97"/>
                                        </p:tgtEl>
                                      </p:cBhvr>
                                    </p:animEffect>
                                  </p:childTnLst>
                                </p:cTn>
                              </p:par>
                            </p:childTnLst>
                          </p:cTn>
                        </p:par>
                      </p:childTnLst>
                    </p:cTn>
                  </p:par>
                  <p:par>
                    <p:cTn id="268" nodeType="clickEffect" fill="hold">
                      <p:stCondLst>
                        <p:cond delay="indefinite"/>
                      </p:stCondLst>
                      <p:childTnLst>
                        <p:par>
                          <p:cTn id="269" nodeType="withEffect" fill="hold">
                            <p:stCondLst>
                              <p:cond delay="0"/>
                            </p:stCondLst>
                            <p:childTnLst>
                              <p:par>
                                <p:cTn id="270" nodeType="clickEffect" fill="hold" presetClass="entr" presetID="53" presetSubtype="16">
                                  <p:stCondLst>
                                    <p:cond delay="0"/>
                                  </p:stCondLst>
                                  <p:childTnLst>
                                    <p:set>
                                      <p:cBhvr>
                                        <p:cTn id="271" dur="1" fill="hold">
                                          <p:stCondLst>
                                            <p:cond delay="0"/>
                                          </p:stCondLst>
                                        </p:cTn>
                                        <p:tgtEl>
                                          <p:spTgt spid="47"/>
                                        </p:tgtEl>
                                        <p:attrNameLst>
                                          <p:attrName>style.visibility</p:attrName>
                                        </p:attrNameLst>
                                      </p:cBhvr>
                                      <p:to>
                                        <p:strVal val="visible"/>
                                      </p:to>
                                    </p:set>
                                    <p:anim calcmode="lin" valueType="num">
                                      <p:cBhvr additive="repl">
                                        <p:cTn id="272" dur="500" fill="hold"/>
                                        <p:tgtEl>
                                          <p:spTgt spid="47"/>
                                        </p:tgtEl>
                                        <p:attrNameLst>
                                          <p:attrName>ppt_w</p:attrName>
                                        </p:attrNameLst>
                                      </p:cBhvr>
                                      <p:tavLst>
                                        <p:tav tm="0">
                                          <p:val>
                                            <p:fltVal val="0"/>
                                          </p:val>
                                        </p:tav>
                                        <p:tav tm="100000">
                                          <p:val>
                                            <p:strVal val="#ppt_w"/>
                                          </p:val>
                                        </p:tav>
                                      </p:tavLst>
                                    </p:anim>
                                    <p:anim calcmode="lin" valueType="num">
                                      <p:cBhvr additive="repl">
                                        <p:cTn id="273" dur="500" fill="hold"/>
                                        <p:tgtEl>
                                          <p:spTgt spid="47"/>
                                        </p:tgtEl>
                                        <p:attrNameLst>
                                          <p:attrName>ppt_h</p:attrName>
                                        </p:attrNameLst>
                                      </p:cBhvr>
                                      <p:tavLst>
                                        <p:tav tm="0">
                                          <p:val>
                                            <p:fltVal val="0"/>
                                          </p:val>
                                        </p:tav>
                                        <p:tav tm="100000">
                                          <p:val>
                                            <p:strVal val="#ppt_h"/>
                                          </p:val>
                                        </p:tav>
                                      </p:tavLst>
                                    </p:anim>
                                    <p:animEffect filter="fade" transition="in">
                                      <p:cBhvr additive="repl">
                                        <p:cTn id="274" dur="500"/>
                                        <p:tgtEl>
                                          <p:spTgt spid="47"/>
                                        </p:tgtEl>
                                      </p:cBhvr>
                                    </p:animEffect>
                                  </p:childTnLst>
                                </p:cTn>
                              </p:par>
                            </p:childTnLst>
                          </p:cTn>
                        </p:par>
                        <p:par>
                          <p:cTn id="275" nodeType="afterEffect" fill="hold">
                            <p:stCondLst>
                              <p:cond delay="500"/>
                            </p:stCondLst>
                            <p:childTnLst>
                              <p:par>
                                <p:cTn id="276" nodeType="afterEffect" fill="hold" presetClass="entr" presetID="53" presetSubtype="16">
                                  <p:stCondLst>
                                    <p:cond delay="0"/>
                                  </p:stCondLst>
                                  <p:childTnLst>
                                    <p:set>
                                      <p:cBhvr>
                                        <p:cTn id="277" dur="1" fill="hold">
                                          <p:stCondLst>
                                            <p:cond delay="0"/>
                                          </p:stCondLst>
                                        </p:cTn>
                                        <p:tgtEl>
                                          <p:spTgt spid="48"/>
                                        </p:tgtEl>
                                        <p:attrNameLst>
                                          <p:attrName>style.visibility</p:attrName>
                                        </p:attrNameLst>
                                      </p:cBhvr>
                                      <p:to>
                                        <p:strVal val="visible"/>
                                      </p:to>
                                    </p:set>
                                    <p:anim calcmode="lin" valueType="num">
                                      <p:cBhvr additive="repl">
                                        <p:cTn id="278" dur="500" fill="hold"/>
                                        <p:tgtEl>
                                          <p:spTgt spid="48"/>
                                        </p:tgtEl>
                                        <p:attrNameLst>
                                          <p:attrName>ppt_w</p:attrName>
                                        </p:attrNameLst>
                                      </p:cBhvr>
                                      <p:tavLst>
                                        <p:tav tm="0">
                                          <p:val>
                                            <p:fltVal val="0"/>
                                          </p:val>
                                        </p:tav>
                                        <p:tav tm="100000">
                                          <p:val>
                                            <p:strVal val="#ppt_w"/>
                                          </p:val>
                                        </p:tav>
                                      </p:tavLst>
                                    </p:anim>
                                    <p:anim calcmode="lin" valueType="num">
                                      <p:cBhvr additive="repl">
                                        <p:cTn id="279" dur="500" fill="hold"/>
                                        <p:tgtEl>
                                          <p:spTgt spid="48"/>
                                        </p:tgtEl>
                                        <p:attrNameLst>
                                          <p:attrName>ppt_h</p:attrName>
                                        </p:attrNameLst>
                                      </p:cBhvr>
                                      <p:tavLst>
                                        <p:tav tm="0">
                                          <p:val>
                                            <p:fltVal val="0"/>
                                          </p:val>
                                        </p:tav>
                                        <p:tav tm="100000">
                                          <p:val>
                                            <p:strVal val="#ppt_h"/>
                                          </p:val>
                                        </p:tav>
                                      </p:tavLst>
                                    </p:anim>
                                    <p:animEffect filter="fade" transition="in">
                                      <p:cBhvr additive="repl">
                                        <p:cTn id="280" dur="500"/>
                                        <p:tgtEl>
                                          <p:spTgt spid="48"/>
                                        </p:tgtEl>
                                      </p:cBhvr>
                                    </p:animEffect>
                                  </p:childTnLst>
                                </p:cTn>
                              </p:par>
                            </p:childTnLst>
                          </p:cTn>
                        </p:par>
                        <p:par>
                          <p:cTn id="281" nodeType="afterEffect" fill="hold">
                            <p:stCondLst>
                              <p:cond delay="1000"/>
                            </p:stCondLst>
                            <p:childTnLst>
                              <p:par>
                                <p:cTn id="282" nodeType="afterEffect" fill="hold" presetClass="entr" presetID="53" presetSubtype="16">
                                  <p:stCondLst>
                                    <p:cond delay="0"/>
                                  </p:stCondLst>
                                  <p:childTnLst>
                                    <p:set>
                                      <p:cBhvr>
                                        <p:cTn id="283" dur="1" fill="hold">
                                          <p:stCondLst>
                                            <p:cond delay="0"/>
                                          </p:stCondLst>
                                        </p:cTn>
                                        <p:tgtEl>
                                          <p:spTgt spid="51"/>
                                        </p:tgtEl>
                                        <p:attrNameLst>
                                          <p:attrName>style.visibility</p:attrName>
                                        </p:attrNameLst>
                                      </p:cBhvr>
                                      <p:to>
                                        <p:strVal val="visible"/>
                                      </p:to>
                                    </p:set>
                                    <p:anim calcmode="lin" valueType="num">
                                      <p:cBhvr additive="repl">
                                        <p:cTn id="284" dur="500" fill="hold"/>
                                        <p:tgtEl>
                                          <p:spTgt spid="51"/>
                                        </p:tgtEl>
                                        <p:attrNameLst>
                                          <p:attrName>ppt_w</p:attrName>
                                        </p:attrNameLst>
                                      </p:cBhvr>
                                      <p:tavLst>
                                        <p:tav tm="0">
                                          <p:val>
                                            <p:fltVal val="0"/>
                                          </p:val>
                                        </p:tav>
                                        <p:tav tm="100000">
                                          <p:val>
                                            <p:strVal val="#ppt_w"/>
                                          </p:val>
                                        </p:tav>
                                      </p:tavLst>
                                    </p:anim>
                                    <p:anim calcmode="lin" valueType="num">
                                      <p:cBhvr additive="repl">
                                        <p:cTn id="285" dur="500" fill="hold"/>
                                        <p:tgtEl>
                                          <p:spTgt spid="51"/>
                                        </p:tgtEl>
                                        <p:attrNameLst>
                                          <p:attrName>ppt_h</p:attrName>
                                        </p:attrNameLst>
                                      </p:cBhvr>
                                      <p:tavLst>
                                        <p:tav tm="0">
                                          <p:val>
                                            <p:fltVal val="0"/>
                                          </p:val>
                                        </p:tav>
                                        <p:tav tm="100000">
                                          <p:val>
                                            <p:strVal val="#ppt_h"/>
                                          </p:val>
                                        </p:tav>
                                      </p:tavLst>
                                    </p:anim>
                                    <p:animEffect filter="fade" transition="in">
                                      <p:cBhvr additive="repl">
                                        <p:cTn id="286" dur="500"/>
                                        <p:tgtEl>
                                          <p:spTgt spid="51"/>
                                        </p:tgtEl>
                                      </p:cBhvr>
                                    </p:animEffect>
                                  </p:childTnLst>
                                </p:cTn>
                              </p:par>
                            </p:childTnLst>
                          </p:cTn>
                        </p:par>
                        <p:par>
                          <p:cTn id="287" nodeType="afterEffect" fill="hold">
                            <p:stCondLst>
                              <p:cond delay="1500"/>
                            </p:stCondLst>
                            <p:childTnLst>
                              <p:par>
                                <p:cTn id="288" nodeType="afterEffect" fill="hold" presetClass="entr" presetID="22" presetSubtype="4">
                                  <p:stCondLst>
                                    <p:cond delay="0"/>
                                  </p:stCondLst>
                                  <p:childTnLst>
                                    <p:set>
                                      <p:cBhvr>
                                        <p:cTn id="289" dur="1" fill="hold">
                                          <p:stCondLst>
                                            <p:cond delay="0"/>
                                          </p:stCondLst>
                                        </p:cTn>
                                        <p:tgtEl>
                                          <p:spTgt spid="51"/>
                                        </p:tgtEl>
                                        <p:attrNameLst>
                                          <p:attrName>style.visibility</p:attrName>
                                        </p:attrNameLst>
                                      </p:cBhvr>
                                      <p:to>
                                        <p:strVal val="visible"/>
                                      </p:to>
                                    </p:set>
                                    <p:animEffect filter="wipe(down)" transition="in">
                                      <p:cBhvr additive="repl">
                                        <p:cTn id="290" dur="500"/>
                                        <p:tgtEl>
                                          <p:spTgt spid="51"/>
                                        </p:tgtEl>
                                      </p:cBhvr>
                                    </p:animEffect>
                                  </p:childTnLst>
                                </p:cTn>
                              </p:par>
                            </p:childTnLst>
                          </p:cTn>
                        </p:par>
                        <p:par>
                          <p:cTn id="291" nodeType="afterEffect" fill="hold">
                            <p:stCondLst>
                              <p:cond delay="2000"/>
                            </p:stCondLst>
                            <p:childTnLst>
                              <p:par>
                                <p:cTn id="292" nodeType="afterEffect" fill="hold" presetClass="entr" presetID="22" presetSubtype="8">
                                  <p:stCondLst>
                                    <p:cond delay="0"/>
                                  </p:stCondLst>
                                  <p:childTnLst>
                                    <p:set>
                                      <p:cBhvr>
                                        <p:cTn id="293" dur="1" fill="hold">
                                          <p:stCondLst>
                                            <p:cond delay="0"/>
                                          </p:stCondLst>
                                        </p:cTn>
                                        <p:tgtEl>
                                          <p:spTgt spid="48"/>
                                        </p:tgtEl>
                                        <p:attrNameLst>
                                          <p:attrName>style.visibility</p:attrName>
                                        </p:attrNameLst>
                                      </p:cBhvr>
                                      <p:to>
                                        <p:strVal val="visible"/>
                                      </p:to>
                                    </p:set>
                                    <p:animEffect filter="wipe(left)" transition="in">
                                      <p:cBhvr additive="repl">
                                        <p:cTn id="294" dur="500"/>
                                        <p:tgtEl>
                                          <p:spTgt spid="48"/>
                                        </p:tgtEl>
                                      </p:cBhvr>
                                    </p:animEffect>
                                  </p:childTnLst>
                                </p:cTn>
                              </p:par>
                            </p:childTnLst>
                          </p:cTn>
                        </p:par>
                        <p:par>
                          <p:cTn id="295" nodeType="afterEffect" fill="hold">
                            <p:stCondLst>
                              <p:cond delay="2500"/>
                            </p:stCondLst>
                            <p:childTnLst>
                              <p:par>
                                <p:cTn id="296" nodeType="afterEffect" fill="hold" presetClass="entr" presetID="53" presetSubtype="16">
                                  <p:stCondLst>
                                    <p:cond delay="0"/>
                                  </p:stCondLst>
                                  <p:childTnLst>
                                    <p:set>
                                      <p:cBhvr>
                                        <p:cTn id="297" dur="1" fill="hold">
                                          <p:stCondLst>
                                            <p:cond delay="0"/>
                                          </p:stCondLst>
                                        </p:cTn>
                                        <p:tgtEl>
                                          <p:spTgt spid="49"/>
                                        </p:tgtEl>
                                        <p:attrNameLst>
                                          <p:attrName>style.visibility</p:attrName>
                                        </p:attrNameLst>
                                      </p:cBhvr>
                                      <p:to>
                                        <p:strVal val="visible"/>
                                      </p:to>
                                    </p:set>
                                    <p:anim calcmode="lin" valueType="num">
                                      <p:cBhvr additive="repl">
                                        <p:cTn id="298" dur="500" fill="hold"/>
                                        <p:tgtEl>
                                          <p:spTgt spid="49"/>
                                        </p:tgtEl>
                                        <p:attrNameLst>
                                          <p:attrName>ppt_w</p:attrName>
                                        </p:attrNameLst>
                                      </p:cBhvr>
                                      <p:tavLst>
                                        <p:tav tm="0">
                                          <p:val>
                                            <p:fltVal val="0"/>
                                          </p:val>
                                        </p:tav>
                                        <p:tav tm="100000">
                                          <p:val>
                                            <p:strVal val="#ppt_w"/>
                                          </p:val>
                                        </p:tav>
                                      </p:tavLst>
                                    </p:anim>
                                    <p:anim calcmode="lin" valueType="num">
                                      <p:cBhvr additive="repl">
                                        <p:cTn id="299" dur="500" fill="hold"/>
                                        <p:tgtEl>
                                          <p:spTgt spid="49"/>
                                        </p:tgtEl>
                                        <p:attrNameLst>
                                          <p:attrName>ppt_h</p:attrName>
                                        </p:attrNameLst>
                                      </p:cBhvr>
                                      <p:tavLst>
                                        <p:tav tm="0">
                                          <p:val>
                                            <p:fltVal val="0"/>
                                          </p:val>
                                        </p:tav>
                                        <p:tav tm="100000">
                                          <p:val>
                                            <p:strVal val="#ppt_h"/>
                                          </p:val>
                                        </p:tav>
                                      </p:tavLst>
                                    </p:anim>
                                    <p:animEffect filter="fade" transition="in">
                                      <p:cBhvr additive="repl">
                                        <p:cTn id="300" dur="500"/>
                                        <p:tgtEl>
                                          <p:spTgt spid="49"/>
                                        </p:tgtEl>
                                      </p:cBhvr>
                                    </p:animEffect>
                                  </p:childTnLst>
                                </p:cTn>
                              </p:par>
                            </p:childTnLst>
                          </p:cTn>
                        </p:par>
                      </p:childTnLst>
                    </p:cTn>
                  </p:par>
                  <p:par>
                    <p:cTn id="301" nodeType="clickEffect" fill="hold">
                      <p:stCondLst>
                        <p:cond delay="indefinite"/>
                      </p:stCondLst>
                      <p:childTnLst>
                        <p:par>
                          <p:cTn id="302" nodeType="withEffect" fill="hold">
                            <p:stCondLst>
                              <p:cond delay="0"/>
                            </p:stCondLst>
                            <p:childTnLst>
                              <p:par>
                                <p:cTn id="303" nodeType="clickEffect" fill="hold" presetClass="entr" presetID="22" presetSubtype="8">
                                  <p:stCondLst>
                                    <p:cond delay="0"/>
                                  </p:stCondLst>
                                  <p:childTnLst>
                                    <p:set>
                                      <p:cBhvr>
                                        <p:cTn id="304" dur="1" fill="hold">
                                          <p:stCondLst>
                                            <p:cond delay="0"/>
                                          </p:stCondLst>
                                        </p:cTn>
                                        <p:tgtEl>
                                          <p:spTgt spid="62"/>
                                        </p:tgtEl>
                                        <p:attrNameLst>
                                          <p:attrName>style.visibility</p:attrName>
                                        </p:attrNameLst>
                                      </p:cBhvr>
                                      <p:to>
                                        <p:strVal val="visible"/>
                                      </p:to>
                                    </p:set>
                                    <p:animEffect filter="wipe(left)" transition="in">
                                      <p:cBhvr additive="repl">
                                        <p:cTn id="305" dur="500"/>
                                        <p:tgtEl>
                                          <p:spTgt spid="62"/>
                                        </p:tgtEl>
                                      </p:cBhvr>
                                    </p:animEffect>
                                  </p:childTnLst>
                                </p:cTn>
                              </p:par>
                            </p:childTnLst>
                          </p:cTn>
                        </p:par>
                        <p:par>
                          <p:cTn id="306" nodeType="afterEffect" fill="hold">
                            <p:stCondLst>
                              <p:cond delay="500"/>
                            </p:stCondLst>
                            <p:childTnLst>
                              <p:par>
                                <p:cTn id="307" nodeType="afterEffect" fill="hold" presetClass="entr" presetID="22" presetSubtype="1">
                                  <p:stCondLst>
                                    <p:cond delay="0"/>
                                  </p:stCondLst>
                                  <p:childTnLst>
                                    <p:set>
                                      <p:cBhvr>
                                        <p:cTn id="308" dur="1" fill="hold">
                                          <p:stCondLst>
                                            <p:cond delay="0"/>
                                          </p:stCondLst>
                                        </p:cTn>
                                        <p:tgtEl>
                                          <p:spTgt spid="63"/>
                                        </p:tgtEl>
                                        <p:attrNameLst>
                                          <p:attrName>style.visibility</p:attrName>
                                        </p:attrNameLst>
                                      </p:cBhvr>
                                      <p:to>
                                        <p:strVal val="visible"/>
                                      </p:to>
                                    </p:set>
                                    <p:animEffect filter="wipe(up)" transition="in">
                                      <p:cBhvr additive="repl">
                                        <p:cTn id="309" dur="500"/>
                                        <p:tgtEl>
                                          <p:spTgt spid="63"/>
                                        </p:tgtEl>
                                      </p:cBhvr>
                                    </p:animEffect>
                                  </p:childTnLst>
                                </p:cTn>
                              </p:par>
                              <p:par>
                                <p:cTn id="310" nodeType="withEffect" fill="hold" presetClass="entr" presetID="22" presetSubtype="2">
                                  <p:stCondLst>
                                    <p:cond delay="0"/>
                                  </p:stCondLst>
                                  <p:childTnLst>
                                    <p:set>
                                      <p:cBhvr>
                                        <p:cTn id="311" dur="1" fill="hold">
                                          <p:stCondLst>
                                            <p:cond delay="0"/>
                                          </p:stCondLst>
                                        </p:cTn>
                                        <p:tgtEl>
                                          <p:spTgt spid="106"/>
                                        </p:tgtEl>
                                        <p:attrNameLst>
                                          <p:attrName>style.visibility</p:attrName>
                                        </p:attrNameLst>
                                      </p:cBhvr>
                                      <p:to>
                                        <p:strVal val="visible"/>
                                      </p:to>
                                    </p:set>
                                    <p:animEffect filter="wipe(right)" transition="in">
                                      <p:cBhvr additive="repl">
                                        <p:cTn id="312" dur="500"/>
                                        <p:tgtEl>
                                          <p:spTgt spid="106"/>
                                        </p:tgtEl>
                                      </p:cBhvr>
                                    </p:animEffect>
                                  </p:childTnLst>
                                </p:cTn>
                              </p:par>
                            </p:childTnLst>
                          </p:cTn>
                        </p:par>
                        <p:par>
                          <p:cTn id="313" nodeType="afterEffect" fill="hold">
                            <p:stCondLst>
                              <p:cond delay="1000"/>
                            </p:stCondLst>
                            <p:childTnLst>
                              <p:par>
                                <p:cTn id="314" nodeType="afterEffect" fill="hold" presetClass="entr" presetID="53" presetSubtype="16">
                                  <p:stCondLst>
                                    <p:cond delay="0"/>
                                  </p:stCondLst>
                                  <p:childTnLst>
                                    <p:set>
                                      <p:cBhvr>
                                        <p:cTn id="315" dur="1" fill="hold">
                                          <p:stCondLst>
                                            <p:cond delay="0"/>
                                          </p:stCondLst>
                                        </p:cTn>
                                        <p:tgtEl>
                                          <p:spTgt spid="50"/>
                                        </p:tgtEl>
                                        <p:attrNameLst>
                                          <p:attrName>style.visibility</p:attrName>
                                        </p:attrNameLst>
                                      </p:cBhvr>
                                      <p:to>
                                        <p:strVal val="visible"/>
                                      </p:to>
                                    </p:set>
                                    <p:anim calcmode="lin" valueType="num">
                                      <p:cBhvr additive="repl">
                                        <p:cTn id="316" dur="500" fill="hold"/>
                                        <p:tgtEl>
                                          <p:spTgt spid="50"/>
                                        </p:tgtEl>
                                        <p:attrNameLst>
                                          <p:attrName>ppt_w</p:attrName>
                                        </p:attrNameLst>
                                      </p:cBhvr>
                                      <p:tavLst>
                                        <p:tav tm="0">
                                          <p:val>
                                            <p:fltVal val="0"/>
                                          </p:val>
                                        </p:tav>
                                        <p:tav tm="100000">
                                          <p:val>
                                            <p:strVal val="#ppt_w"/>
                                          </p:val>
                                        </p:tav>
                                      </p:tavLst>
                                    </p:anim>
                                    <p:anim calcmode="lin" valueType="num">
                                      <p:cBhvr additive="repl">
                                        <p:cTn id="317" dur="500" fill="hold"/>
                                        <p:tgtEl>
                                          <p:spTgt spid="50"/>
                                        </p:tgtEl>
                                        <p:attrNameLst>
                                          <p:attrName>ppt_h</p:attrName>
                                        </p:attrNameLst>
                                      </p:cBhvr>
                                      <p:tavLst>
                                        <p:tav tm="0">
                                          <p:val>
                                            <p:fltVal val="0"/>
                                          </p:val>
                                        </p:tav>
                                        <p:tav tm="100000">
                                          <p:val>
                                            <p:strVal val="#ppt_h"/>
                                          </p:val>
                                        </p:tav>
                                      </p:tavLst>
                                    </p:anim>
                                    <p:animEffect filter="fade" transition="in">
                                      <p:cBhvr additive="repl">
                                        <p:cTn id="318" dur="500"/>
                                        <p:tgtEl>
                                          <p:spTgt spid="50"/>
                                        </p:tgtEl>
                                      </p:cBhvr>
                                    </p:animEffect>
                                  </p:childTnLst>
                                </p:cTn>
                              </p:par>
                            </p:childTnLst>
                          </p:cTn>
                        </p:par>
                        <p:par>
                          <p:cTn id="319" nodeType="afterEffect" fill="hold">
                            <p:stCondLst>
                              <p:cond delay="1500"/>
                            </p:stCondLst>
                            <p:childTnLst>
                              <p:par>
                                <p:cTn id="320" nodeType="afterEffect" fill="hold" presetClass="entr" presetID="53" presetSubtype="16">
                                  <p:stCondLst>
                                    <p:cond delay="0"/>
                                  </p:stCondLst>
                                  <p:childTnLst>
                                    <p:set>
                                      <p:cBhvr>
                                        <p:cTn id="321" dur="1" fill="hold">
                                          <p:stCondLst>
                                            <p:cond delay="0"/>
                                          </p:stCondLst>
                                        </p:cTn>
                                        <p:tgtEl>
                                          <p:spTgt spid="52"/>
                                        </p:tgtEl>
                                        <p:attrNameLst>
                                          <p:attrName>style.visibility</p:attrName>
                                        </p:attrNameLst>
                                      </p:cBhvr>
                                      <p:to>
                                        <p:strVal val="visible"/>
                                      </p:to>
                                    </p:set>
                                    <p:anim calcmode="lin" valueType="num">
                                      <p:cBhvr additive="repl">
                                        <p:cTn id="322" dur="500" fill="hold"/>
                                        <p:tgtEl>
                                          <p:spTgt spid="52"/>
                                        </p:tgtEl>
                                        <p:attrNameLst>
                                          <p:attrName>ppt_w</p:attrName>
                                        </p:attrNameLst>
                                      </p:cBhvr>
                                      <p:tavLst>
                                        <p:tav tm="0">
                                          <p:val>
                                            <p:fltVal val="0"/>
                                          </p:val>
                                        </p:tav>
                                        <p:tav tm="100000">
                                          <p:val>
                                            <p:strVal val="#ppt_w"/>
                                          </p:val>
                                        </p:tav>
                                      </p:tavLst>
                                    </p:anim>
                                    <p:anim calcmode="lin" valueType="num">
                                      <p:cBhvr additive="repl">
                                        <p:cTn id="323" dur="500" fill="hold"/>
                                        <p:tgtEl>
                                          <p:spTgt spid="52"/>
                                        </p:tgtEl>
                                        <p:attrNameLst>
                                          <p:attrName>ppt_h</p:attrName>
                                        </p:attrNameLst>
                                      </p:cBhvr>
                                      <p:tavLst>
                                        <p:tav tm="0">
                                          <p:val>
                                            <p:fltVal val="0"/>
                                          </p:val>
                                        </p:tav>
                                        <p:tav tm="100000">
                                          <p:val>
                                            <p:strVal val="#ppt_h"/>
                                          </p:val>
                                        </p:tav>
                                      </p:tavLst>
                                    </p:anim>
                                    <p:animEffect filter="fade" transition="in">
                                      <p:cBhvr additive="repl">
                                        <p:cTn id="324" dur="500"/>
                                        <p:tgtEl>
                                          <p:spTgt spid="52"/>
                                        </p:tgtEl>
                                      </p:cBhvr>
                                    </p:animEffect>
                                  </p:childTnLst>
                                </p:cTn>
                              </p:par>
                            </p:childTnLst>
                          </p:cTn>
                        </p:par>
                        <p:par>
                          <p:cTn id="325" nodeType="afterEffect" fill="hold">
                            <p:stCondLst>
                              <p:cond delay="2000"/>
                            </p:stCondLst>
                            <p:childTnLst>
                              <p:par>
                                <p:cTn id="326" nodeType="afterEffect" fill="hold" presetClass="entr" presetID="53" presetSubtype="16">
                                  <p:stCondLst>
                                    <p:cond delay="0"/>
                                  </p:stCondLst>
                                  <p:childTnLst>
                                    <p:set>
                                      <p:cBhvr>
                                        <p:cTn id="327" dur="1" fill="hold">
                                          <p:stCondLst>
                                            <p:cond delay="0"/>
                                          </p:stCondLst>
                                        </p:cTn>
                                        <p:tgtEl>
                                          <p:spTgt spid="53"/>
                                        </p:tgtEl>
                                        <p:attrNameLst>
                                          <p:attrName>style.visibility</p:attrName>
                                        </p:attrNameLst>
                                      </p:cBhvr>
                                      <p:to>
                                        <p:strVal val="visible"/>
                                      </p:to>
                                    </p:set>
                                    <p:anim calcmode="lin" valueType="num">
                                      <p:cBhvr additive="repl">
                                        <p:cTn id="328" dur="500" fill="hold"/>
                                        <p:tgtEl>
                                          <p:spTgt spid="53"/>
                                        </p:tgtEl>
                                        <p:attrNameLst>
                                          <p:attrName>ppt_w</p:attrName>
                                        </p:attrNameLst>
                                      </p:cBhvr>
                                      <p:tavLst>
                                        <p:tav tm="0">
                                          <p:val>
                                            <p:fltVal val="0"/>
                                          </p:val>
                                        </p:tav>
                                        <p:tav tm="100000">
                                          <p:val>
                                            <p:strVal val="#ppt_w"/>
                                          </p:val>
                                        </p:tav>
                                      </p:tavLst>
                                    </p:anim>
                                    <p:anim calcmode="lin" valueType="num">
                                      <p:cBhvr additive="repl">
                                        <p:cTn id="329" dur="500" fill="hold"/>
                                        <p:tgtEl>
                                          <p:spTgt spid="53"/>
                                        </p:tgtEl>
                                        <p:attrNameLst>
                                          <p:attrName>ppt_h</p:attrName>
                                        </p:attrNameLst>
                                      </p:cBhvr>
                                      <p:tavLst>
                                        <p:tav tm="0">
                                          <p:val>
                                            <p:fltVal val="0"/>
                                          </p:val>
                                        </p:tav>
                                        <p:tav tm="100000">
                                          <p:val>
                                            <p:strVal val="#ppt_h"/>
                                          </p:val>
                                        </p:tav>
                                      </p:tavLst>
                                    </p:anim>
                                    <p:animEffect filter="fade" transition="in">
                                      <p:cBhvr additive="repl">
                                        <p:cTn id="330" dur="500"/>
                                        <p:tgtEl>
                                          <p:spTgt spid="53"/>
                                        </p:tgtEl>
                                      </p:cBhvr>
                                    </p:animEffect>
                                  </p:childTnLst>
                                </p:cTn>
                              </p:par>
                            </p:childTnLst>
                          </p:cTn>
                        </p:par>
                        <p:par>
                          <p:cTn id="331" nodeType="afterEffect" fill="hold">
                            <p:stCondLst>
                              <p:cond delay="2500"/>
                            </p:stCondLst>
                            <p:childTnLst>
                              <p:par>
                                <p:cTn id="332" nodeType="afterEffect" fill="hold" presetClass="entr" presetID="53" presetSubtype="16">
                                  <p:stCondLst>
                                    <p:cond delay="0"/>
                                  </p:stCondLst>
                                  <p:childTnLst>
                                    <p:set>
                                      <p:cBhvr>
                                        <p:cTn id="333" dur="1" fill="hold">
                                          <p:stCondLst>
                                            <p:cond delay="0"/>
                                          </p:stCondLst>
                                        </p:cTn>
                                        <p:tgtEl>
                                          <p:spTgt spid="54"/>
                                        </p:tgtEl>
                                        <p:attrNameLst>
                                          <p:attrName>style.visibility</p:attrName>
                                        </p:attrNameLst>
                                      </p:cBhvr>
                                      <p:to>
                                        <p:strVal val="visible"/>
                                      </p:to>
                                    </p:set>
                                    <p:anim calcmode="lin" valueType="num">
                                      <p:cBhvr additive="repl">
                                        <p:cTn id="334" dur="500" fill="hold"/>
                                        <p:tgtEl>
                                          <p:spTgt spid="54"/>
                                        </p:tgtEl>
                                        <p:attrNameLst>
                                          <p:attrName>ppt_w</p:attrName>
                                        </p:attrNameLst>
                                      </p:cBhvr>
                                      <p:tavLst>
                                        <p:tav tm="0">
                                          <p:val>
                                            <p:fltVal val="0"/>
                                          </p:val>
                                        </p:tav>
                                        <p:tav tm="100000">
                                          <p:val>
                                            <p:strVal val="#ppt_w"/>
                                          </p:val>
                                        </p:tav>
                                      </p:tavLst>
                                    </p:anim>
                                    <p:anim calcmode="lin" valueType="num">
                                      <p:cBhvr additive="repl">
                                        <p:cTn id="335" dur="500" fill="hold"/>
                                        <p:tgtEl>
                                          <p:spTgt spid="54"/>
                                        </p:tgtEl>
                                        <p:attrNameLst>
                                          <p:attrName>ppt_h</p:attrName>
                                        </p:attrNameLst>
                                      </p:cBhvr>
                                      <p:tavLst>
                                        <p:tav tm="0">
                                          <p:val>
                                            <p:fltVal val="0"/>
                                          </p:val>
                                        </p:tav>
                                        <p:tav tm="100000">
                                          <p:val>
                                            <p:strVal val="#ppt_h"/>
                                          </p:val>
                                        </p:tav>
                                      </p:tavLst>
                                    </p:anim>
                                    <p:animEffect filter="fade" transition="in">
                                      <p:cBhvr additive="repl">
                                        <p:cTn id="336" dur="500"/>
                                        <p:tgtEl>
                                          <p:spTgt spid="54"/>
                                        </p:tgtEl>
                                      </p:cBhvr>
                                    </p:animEffect>
                                  </p:childTnLst>
                                </p:cTn>
                              </p:par>
                            </p:childTnLst>
                          </p:cTn>
                        </p:par>
                        <p:par>
                          <p:cTn id="337" nodeType="afterEffect" fill="hold">
                            <p:stCondLst>
                              <p:cond delay="3000"/>
                            </p:stCondLst>
                            <p:childTnLst>
                              <p:par>
                                <p:cTn id="338" nodeType="afterEffect" fill="hold" presetClass="entr" presetID="53" presetSubtype="16">
                                  <p:stCondLst>
                                    <p:cond delay="0"/>
                                  </p:stCondLst>
                                  <p:childTnLst>
                                    <p:set>
                                      <p:cBhvr>
                                        <p:cTn id="339" dur="1" fill="hold">
                                          <p:stCondLst>
                                            <p:cond delay="0"/>
                                          </p:stCondLst>
                                        </p:cTn>
                                        <p:tgtEl>
                                          <p:spTgt spid="55"/>
                                        </p:tgtEl>
                                        <p:attrNameLst>
                                          <p:attrName>style.visibility</p:attrName>
                                        </p:attrNameLst>
                                      </p:cBhvr>
                                      <p:to>
                                        <p:strVal val="visible"/>
                                      </p:to>
                                    </p:set>
                                    <p:anim calcmode="lin" valueType="num">
                                      <p:cBhvr additive="repl">
                                        <p:cTn id="340" dur="500" fill="hold"/>
                                        <p:tgtEl>
                                          <p:spTgt spid="55"/>
                                        </p:tgtEl>
                                        <p:attrNameLst>
                                          <p:attrName>ppt_w</p:attrName>
                                        </p:attrNameLst>
                                      </p:cBhvr>
                                      <p:tavLst>
                                        <p:tav tm="0">
                                          <p:val>
                                            <p:fltVal val="0"/>
                                          </p:val>
                                        </p:tav>
                                        <p:tav tm="100000">
                                          <p:val>
                                            <p:strVal val="#ppt_w"/>
                                          </p:val>
                                        </p:tav>
                                      </p:tavLst>
                                    </p:anim>
                                    <p:anim calcmode="lin" valueType="num">
                                      <p:cBhvr additive="repl">
                                        <p:cTn id="341" dur="500" fill="hold"/>
                                        <p:tgtEl>
                                          <p:spTgt spid="55"/>
                                        </p:tgtEl>
                                        <p:attrNameLst>
                                          <p:attrName>ppt_h</p:attrName>
                                        </p:attrNameLst>
                                      </p:cBhvr>
                                      <p:tavLst>
                                        <p:tav tm="0">
                                          <p:val>
                                            <p:fltVal val="0"/>
                                          </p:val>
                                        </p:tav>
                                        <p:tav tm="100000">
                                          <p:val>
                                            <p:strVal val="#ppt_h"/>
                                          </p:val>
                                        </p:tav>
                                      </p:tavLst>
                                    </p:anim>
                                    <p:animEffect filter="fade" transition="in">
                                      <p:cBhvr additive="repl">
                                        <p:cTn id="342" dur="500"/>
                                        <p:tgtEl>
                                          <p:spTgt spid="55"/>
                                        </p:tgtEl>
                                      </p:cBhvr>
                                    </p:animEffect>
                                  </p:childTnLst>
                                </p:cTn>
                              </p:par>
                            </p:childTnLst>
                          </p:cTn>
                        </p:par>
                        <p:par>
                          <p:cTn id="343" nodeType="afterEffect" fill="hold">
                            <p:stCondLst>
                              <p:cond delay="3500"/>
                            </p:stCondLst>
                            <p:childTnLst>
                              <p:par>
                                <p:cTn id="344" nodeType="afterEffect" fill="hold" presetClass="entr" presetID="53" presetSubtype="16">
                                  <p:stCondLst>
                                    <p:cond delay="0"/>
                                  </p:stCondLst>
                                  <p:childTnLst>
                                    <p:set>
                                      <p:cBhvr>
                                        <p:cTn id="345" dur="1" fill="hold">
                                          <p:stCondLst>
                                            <p:cond delay="0"/>
                                          </p:stCondLst>
                                        </p:cTn>
                                        <p:tgtEl>
                                          <p:spTgt spid="56"/>
                                        </p:tgtEl>
                                        <p:attrNameLst>
                                          <p:attrName>style.visibility</p:attrName>
                                        </p:attrNameLst>
                                      </p:cBhvr>
                                      <p:to>
                                        <p:strVal val="visible"/>
                                      </p:to>
                                    </p:set>
                                    <p:anim calcmode="lin" valueType="num">
                                      <p:cBhvr additive="repl">
                                        <p:cTn id="346" dur="500" fill="hold"/>
                                        <p:tgtEl>
                                          <p:spTgt spid="56"/>
                                        </p:tgtEl>
                                        <p:attrNameLst>
                                          <p:attrName>ppt_w</p:attrName>
                                        </p:attrNameLst>
                                      </p:cBhvr>
                                      <p:tavLst>
                                        <p:tav tm="0">
                                          <p:val>
                                            <p:fltVal val="0"/>
                                          </p:val>
                                        </p:tav>
                                        <p:tav tm="100000">
                                          <p:val>
                                            <p:strVal val="#ppt_w"/>
                                          </p:val>
                                        </p:tav>
                                      </p:tavLst>
                                    </p:anim>
                                    <p:anim calcmode="lin" valueType="num">
                                      <p:cBhvr additive="repl">
                                        <p:cTn id="347" dur="500" fill="hold"/>
                                        <p:tgtEl>
                                          <p:spTgt spid="56"/>
                                        </p:tgtEl>
                                        <p:attrNameLst>
                                          <p:attrName>ppt_h</p:attrName>
                                        </p:attrNameLst>
                                      </p:cBhvr>
                                      <p:tavLst>
                                        <p:tav tm="0">
                                          <p:val>
                                            <p:fltVal val="0"/>
                                          </p:val>
                                        </p:tav>
                                        <p:tav tm="100000">
                                          <p:val>
                                            <p:strVal val="#ppt_h"/>
                                          </p:val>
                                        </p:tav>
                                      </p:tavLst>
                                    </p:anim>
                                    <p:animEffect filter="fade" transition="in">
                                      <p:cBhvr additive="repl">
                                        <p:cTn id="348" dur="500"/>
                                        <p:tgtEl>
                                          <p:spTgt spid="56"/>
                                        </p:tgtEl>
                                      </p:cBhvr>
                                    </p:animEffect>
                                  </p:childTnLst>
                                </p:cTn>
                              </p:par>
                            </p:childTnLst>
                          </p:cTn>
                        </p:par>
                        <p:par>
                          <p:cTn id="349" nodeType="afterEffect" fill="hold">
                            <p:stCondLst>
                              <p:cond delay="4000"/>
                            </p:stCondLst>
                            <p:childTnLst>
                              <p:par>
                                <p:cTn id="350" nodeType="afterEffect" fill="hold" presetClass="entr" presetID="53" presetSubtype="16">
                                  <p:stCondLst>
                                    <p:cond delay="0"/>
                                  </p:stCondLst>
                                  <p:childTnLst>
                                    <p:set>
                                      <p:cBhvr>
                                        <p:cTn id="351" dur="1" fill="hold">
                                          <p:stCondLst>
                                            <p:cond delay="0"/>
                                          </p:stCondLst>
                                        </p:cTn>
                                        <p:tgtEl>
                                          <p:spTgt spid="57"/>
                                        </p:tgtEl>
                                        <p:attrNameLst>
                                          <p:attrName>style.visibility</p:attrName>
                                        </p:attrNameLst>
                                      </p:cBhvr>
                                      <p:to>
                                        <p:strVal val="visible"/>
                                      </p:to>
                                    </p:set>
                                    <p:anim calcmode="lin" valueType="num">
                                      <p:cBhvr additive="repl">
                                        <p:cTn id="352" dur="500" fill="hold"/>
                                        <p:tgtEl>
                                          <p:spTgt spid="57"/>
                                        </p:tgtEl>
                                        <p:attrNameLst>
                                          <p:attrName>ppt_w</p:attrName>
                                        </p:attrNameLst>
                                      </p:cBhvr>
                                      <p:tavLst>
                                        <p:tav tm="0">
                                          <p:val>
                                            <p:fltVal val="0"/>
                                          </p:val>
                                        </p:tav>
                                        <p:tav tm="100000">
                                          <p:val>
                                            <p:strVal val="#ppt_w"/>
                                          </p:val>
                                        </p:tav>
                                      </p:tavLst>
                                    </p:anim>
                                    <p:anim calcmode="lin" valueType="num">
                                      <p:cBhvr additive="repl">
                                        <p:cTn id="353" dur="500" fill="hold"/>
                                        <p:tgtEl>
                                          <p:spTgt spid="57"/>
                                        </p:tgtEl>
                                        <p:attrNameLst>
                                          <p:attrName>ppt_h</p:attrName>
                                        </p:attrNameLst>
                                      </p:cBhvr>
                                      <p:tavLst>
                                        <p:tav tm="0">
                                          <p:val>
                                            <p:fltVal val="0"/>
                                          </p:val>
                                        </p:tav>
                                        <p:tav tm="100000">
                                          <p:val>
                                            <p:strVal val="#ppt_h"/>
                                          </p:val>
                                        </p:tav>
                                      </p:tavLst>
                                    </p:anim>
                                    <p:animEffect filter="fade" transition="in">
                                      <p:cBhvr additive="repl">
                                        <p:cTn id="354" dur="500"/>
                                        <p:tgtEl>
                                          <p:spTgt spid="57"/>
                                        </p:tgtEl>
                                      </p:cBhvr>
                                    </p:animEffect>
                                  </p:childTnLst>
                                </p:cTn>
                              </p:par>
                            </p:childTnLst>
                          </p:cTn>
                        </p:par>
                        <p:par>
                          <p:cTn id="355" nodeType="afterEffect" fill="hold">
                            <p:stCondLst>
                              <p:cond delay="4500"/>
                            </p:stCondLst>
                            <p:childTnLst>
                              <p:par>
                                <p:cTn id="356" nodeType="afterEffect" fill="hold" presetClass="entr" presetID="53" presetSubtype="16">
                                  <p:stCondLst>
                                    <p:cond delay="0"/>
                                  </p:stCondLst>
                                  <p:childTnLst>
                                    <p:set>
                                      <p:cBhvr>
                                        <p:cTn id="357" dur="1" fill="hold">
                                          <p:stCondLst>
                                            <p:cond delay="0"/>
                                          </p:stCondLst>
                                        </p:cTn>
                                        <p:tgtEl>
                                          <p:spTgt spid="58"/>
                                        </p:tgtEl>
                                        <p:attrNameLst>
                                          <p:attrName>style.visibility</p:attrName>
                                        </p:attrNameLst>
                                      </p:cBhvr>
                                      <p:to>
                                        <p:strVal val="visible"/>
                                      </p:to>
                                    </p:set>
                                    <p:anim calcmode="lin" valueType="num">
                                      <p:cBhvr additive="repl">
                                        <p:cTn id="358" dur="500" fill="hold"/>
                                        <p:tgtEl>
                                          <p:spTgt spid="58"/>
                                        </p:tgtEl>
                                        <p:attrNameLst>
                                          <p:attrName>ppt_w</p:attrName>
                                        </p:attrNameLst>
                                      </p:cBhvr>
                                      <p:tavLst>
                                        <p:tav tm="0">
                                          <p:val>
                                            <p:fltVal val="0"/>
                                          </p:val>
                                        </p:tav>
                                        <p:tav tm="100000">
                                          <p:val>
                                            <p:strVal val="#ppt_w"/>
                                          </p:val>
                                        </p:tav>
                                      </p:tavLst>
                                    </p:anim>
                                    <p:anim calcmode="lin" valueType="num">
                                      <p:cBhvr additive="repl">
                                        <p:cTn id="359" dur="500" fill="hold"/>
                                        <p:tgtEl>
                                          <p:spTgt spid="58"/>
                                        </p:tgtEl>
                                        <p:attrNameLst>
                                          <p:attrName>ppt_h</p:attrName>
                                        </p:attrNameLst>
                                      </p:cBhvr>
                                      <p:tavLst>
                                        <p:tav tm="0">
                                          <p:val>
                                            <p:fltVal val="0"/>
                                          </p:val>
                                        </p:tav>
                                        <p:tav tm="100000">
                                          <p:val>
                                            <p:strVal val="#ppt_h"/>
                                          </p:val>
                                        </p:tav>
                                      </p:tavLst>
                                    </p:anim>
                                    <p:animEffect filter="fade" transition="in">
                                      <p:cBhvr additive="repl">
                                        <p:cTn id="360" dur="500"/>
                                        <p:tgtEl>
                                          <p:spTgt spid="58"/>
                                        </p:tgtEl>
                                      </p:cBhvr>
                                    </p:animEffect>
                                  </p:childTnLst>
                                </p:cTn>
                              </p:par>
                            </p:childTnLst>
                          </p:cTn>
                        </p:par>
                        <p:par>
                          <p:cTn id="361" nodeType="afterEffect" fill="hold">
                            <p:stCondLst>
                              <p:cond delay="5000"/>
                            </p:stCondLst>
                            <p:childTnLst>
                              <p:par>
                                <p:cTn id="362" nodeType="afterEffect" fill="hold" presetClass="entr" presetID="53" presetSubtype="16">
                                  <p:stCondLst>
                                    <p:cond delay="0"/>
                                  </p:stCondLst>
                                  <p:childTnLst>
                                    <p:set>
                                      <p:cBhvr>
                                        <p:cTn id="363" dur="1" fill="hold">
                                          <p:stCondLst>
                                            <p:cond delay="0"/>
                                          </p:stCondLst>
                                        </p:cTn>
                                        <p:tgtEl>
                                          <p:spTgt spid="59"/>
                                        </p:tgtEl>
                                        <p:attrNameLst>
                                          <p:attrName>style.visibility</p:attrName>
                                        </p:attrNameLst>
                                      </p:cBhvr>
                                      <p:to>
                                        <p:strVal val="visible"/>
                                      </p:to>
                                    </p:set>
                                    <p:anim calcmode="lin" valueType="num">
                                      <p:cBhvr additive="repl">
                                        <p:cTn id="364" dur="500" fill="hold"/>
                                        <p:tgtEl>
                                          <p:spTgt spid="59"/>
                                        </p:tgtEl>
                                        <p:attrNameLst>
                                          <p:attrName>ppt_w</p:attrName>
                                        </p:attrNameLst>
                                      </p:cBhvr>
                                      <p:tavLst>
                                        <p:tav tm="0">
                                          <p:val>
                                            <p:fltVal val="0"/>
                                          </p:val>
                                        </p:tav>
                                        <p:tav tm="100000">
                                          <p:val>
                                            <p:strVal val="#ppt_w"/>
                                          </p:val>
                                        </p:tav>
                                      </p:tavLst>
                                    </p:anim>
                                    <p:anim calcmode="lin" valueType="num">
                                      <p:cBhvr additive="repl">
                                        <p:cTn id="365" dur="500" fill="hold"/>
                                        <p:tgtEl>
                                          <p:spTgt spid="59"/>
                                        </p:tgtEl>
                                        <p:attrNameLst>
                                          <p:attrName>ppt_h</p:attrName>
                                        </p:attrNameLst>
                                      </p:cBhvr>
                                      <p:tavLst>
                                        <p:tav tm="0">
                                          <p:val>
                                            <p:fltVal val="0"/>
                                          </p:val>
                                        </p:tav>
                                        <p:tav tm="100000">
                                          <p:val>
                                            <p:strVal val="#ppt_h"/>
                                          </p:val>
                                        </p:tav>
                                      </p:tavLst>
                                    </p:anim>
                                    <p:animEffect filter="fade" transition="in">
                                      <p:cBhvr additive="repl">
                                        <p:cTn id="366" dur="500"/>
                                        <p:tgtEl>
                                          <p:spTgt spid="59"/>
                                        </p:tgtEl>
                                      </p:cBhvr>
                                    </p:animEffect>
                                  </p:childTnLst>
                                </p:cTn>
                              </p:par>
                            </p:childTnLst>
                          </p:cTn>
                        </p:par>
                        <p:par>
                          <p:cTn id="367" nodeType="afterEffect" fill="hold">
                            <p:stCondLst>
                              <p:cond delay="5500"/>
                            </p:stCondLst>
                            <p:childTnLst>
                              <p:par>
                                <p:cTn id="368" nodeType="afterEffect" fill="hold" presetClass="entr" presetID="53" presetSubtype="16">
                                  <p:stCondLst>
                                    <p:cond delay="0"/>
                                  </p:stCondLst>
                                  <p:childTnLst>
                                    <p:set>
                                      <p:cBhvr>
                                        <p:cTn id="369" dur="1" fill="hold">
                                          <p:stCondLst>
                                            <p:cond delay="0"/>
                                          </p:stCondLst>
                                        </p:cTn>
                                        <p:tgtEl>
                                          <p:spTgt spid="60"/>
                                        </p:tgtEl>
                                        <p:attrNameLst>
                                          <p:attrName>style.visibility</p:attrName>
                                        </p:attrNameLst>
                                      </p:cBhvr>
                                      <p:to>
                                        <p:strVal val="visible"/>
                                      </p:to>
                                    </p:set>
                                    <p:anim calcmode="lin" valueType="num">
                                      <p:cBhvr additive="repl">
                                        <p:cTn id="370" dur="500" fill="hold"/>
                                        <p:tgtEl>
                                          <p:spTgt spid="60"/>
                                        </p:tgtEl>
                                        <p:attrNameLst>
                                          <p:attrName>ppt_w</p:attrName>
                                        </p:attrNameLst>
                                      </p:cBhvr>
                                      <p:tavLst>
                                        <p:tav tm="0">
                                          <p:val>
                                            <p:fltVal val="0"/>
                                          </p:val>
                                        </p:tav>
                                        <p:tav tm="100000">
                                          <p:val>
                                            <p:strVal val="#ppt_w"/>
                                          </p:val>
                                        </p:tav>
                                      </p:tavLst>
                                    </p:anim>
                                    <p:anim calcmode="lin" valueType="num">
                                      <p:cBhvr additive="repl">
                                        <p:cTn id="371" dur="500" fill="hold"/>
                                        <p:tgtEl>
                                          <p:spTgt spid="60"/>
                                        </p:tgtEl>
                                        <p:attrNameLst>
                                          <p:attrName>ppt_h</p:attrName>
                                        </p:attrNameLst>
                                      </p:cBhvr>
                                      <p:tavLst>
                                        <p:tav tm="0">
                                          <p:val>
                                            <p:fltVal val="0"/>
                                          </p:val>
                                        </p:tav>
                                        <p:tav tm="100000">
                                          <p:val>
                                            <p:strVal val="#ppt_h"/>
                                          </p:val>
                                        </p:tav>
                                      </p:tavLst>
                                    </p:anim>
                                    <p:animEffect filter="fade" transition="in">
                                      <p:cBhvr additive="repl">
                                        <p:cTn id="372" dur="500"/>
                                        <p:tgtEl>
                                          <p:spTgt spid="60"/>
                                        </p:tgtEl>
                                      </p:cBhvr>
                                    </p:animEffect>
                                  </p:childTnLst>
                                </p:cTn>
                              </p:par>
                            </p:childTnLst>
                          </p:cTn>
                        </p:par>
                        <p:par>
                          <p:cTn id="373" nodeType="afterEffect" fill="hold">
                            <p:stCondLst>
                              <p:cond delay="6000"/>
                            </p:stCondLst>
                            <p:childTnLst>
                              <p:par>
                                <p:cTn id="374" nodeType="afterEffect" fill="hold" presetClass="entr" presetID="53" presetSubtype="16">
                                  <p:stCondLst>
                                    <p:cond delay="0"/>
                                  </p:stCondLst>
                                  <p:childTnLst>
                                    <p:set>
                                      <p:cBhvr>
                                        <p:cTn id="375" dur="1" fill="hold">
                                          <p:stCondLst>
                                            <p:cond delay="0"/>
                                          </p:stCondLst>
                                        </p:cTn>
                                        <p:tgtEl>
                                          <p:spTgt spid="61"/>
                                        </p:tgtEl>
                                        <p:attrNameLst>
                                          <p:attrName>style.visibility</p:attrName>
                                        </p:attrNameLst>
                                      </p:cBhvr>
                                      <p:to>
                                        <p:strVal val="visible"/>
                                      </p:to>
                                    </p:set>
                                    <p:anim calcmode="lin" valueType="num">
                                      <p:cBhvr additive="repl">
                                        <p:cTn id="376" dur="500" fill="hold"/>
                                        <p:tgtEl>
                                          <p:spTgt spid="61"/>
                                        </p:tgtEl>
                                        <p:attrNameLst>
                                          <p:attrName>ppt_w</p:attrName>
                                        </p:attrNameLst>
                                      </p:cBhvr>
                                      <p:tavLst>
                                        <p:tav tm="0">
                                          <p:val>
                                            <p:fltVal val="0"/>
                                          </p:val>
                                        </p:tav>
                                        <p:tav tm="100000">
                                          <p:val>
                                            <p:strVal val="#ppt_w"/>
                                          </p:val>
                                        </p:tav>
                                      </p:tavLst>
                                    </p:anim>
                                    <p:anim calcmode="lin" valueType="num">
                                      <p:cBhvr additive="repl">
                                        <p:cTn id="377" dur="500" fill="hold"/>
                                        <p:tgtEl>
                                          <p:spTgt spid="61"/>
                                        </p:tgtEl>
                                        <p:attrNameLst>
                                          <p:attrName>ppt_h</p:attrName>
                                        </p:attrNameLst>
                                      </p:cBhvr>
                                      <p:tavLst>
                                        <p:tav tm="0">
                                          <p:val>
                                            <p:fltVal val="0"/>
                                          </p:val>
                                        </p:tav>
                                        <p:tav tm="100000">
                                          <p:val>
                                            <p:strVal val="#ppt_h"/>
                                          </p:val>
                                        </p:tav>
                                      </p:tavLst>
                                    </p:anim>
                                    <p:animEffect filter="fade" transition="in">
                                      <p:cBhvr additive="repl">
                                        <p:cTn id="378" dur="500"/>
                                        <p:tgtEl>
                                          <p:spTgt spid="61"/>
                                        </p:tgtEl>
                                      </p:cBhvr>
                                    </p:animEffect>
                                  </p:childTnLst>
                                </p:cTn>
                              </p:par>
                            </p:childTnLst>
                          </p:cTn>
                        </p:par>
                        <p:par>
                          <p:cTn id="379" nodeType="afterEffect" fill="hold">
                            <p:stCondLst>
                              <p:cond delay="6500"/>
                            </p:stCondLst>
                            <p:childTnLst>
                              <p:par>
                                <p:cTn id="380" nodeType="afterEffect" fill="hold" presetClass="entr" presetID="53" presetSubtype="16">
                                  <p:stCondLst>
                                    <p:cond delay="0"/>
                                  </p:stCondLst>
                                  <p:childTnLst>
                                    <p:set>
                                      <p:cBhvr>
                                        <p:cTn id="381" dur="1" fill="hold">
                                          <p:stCondLst>
                                            <p:cond delay="0"/>
                                          </p:stCondLst>
                                        </p:cTn>
                                        <p:tgtEl>
                                          <p:spTgt spid="85"/>
                                        </p:tgtEl>
                                        <p:attrNameLst>
                                          <p:attrName>style.visibility</p:attrName>
                                        </p:attrNameLst>
                                      </p:cBhvr>
                                      <p:to>
                                        <p:strVal val="visible"/>
                                      </p:to>
                                    </p:set>
                                    <p:anim calcmode="lin" valueType="num">
                                      <p:cBhvr additive="repl">
                                        <p:cTn id="382" dur="500" fill="hold"/>
                                        <p:tgtEl>
                                          <p:spTgt spid="85"/>
                                        </p:tgtEl>
                                        <p:attrNameLst>
                                          <p:attrName>ppt_w</p:attrName>
                                        </p:attrNameLst>
                                      </p:cBhvr>
                                      <p:tavLst>
                                        <p:tav tm="0">
                                          <p:val>
                                            <p:fltVal val="0"/>
                                          </p:val>
                                        </p:tav>
                                        <p:tav tm="100000">
                                          <p:val>
                                            <p:strVal val="#ppt_w"/>
                                          </p:val>
                                        </p:tav>
                                      </p:tavLst>
                                    </p:anim>
                                    <p:anim calcmode="lin" valueType="num">
                                      <p:cBhvr additive="repl">
                                        <p:cTn id="383" dur="500" fill="hold"/>
                                        <p:tgtEl>
                                          <p:spTgt spid="85"/>
                                        </p:tgtEl>
                                        <p:attrNameLst>
                                          <p:attrName>ppt_h</p:attrName>
                                        </p:attrNameLst>
                                      </p:cBhvr>
                                      <p:tavLst>
                                        <p:tav tm="0">
                                          <p:val>
                                            <p:fltVal val="0"/>
                                          </p:val>
                                        </p:tav>
                                        <p:tav tm="100000">
                                          <p:val>
                                            <p:strVal val="#ppt_h"/>
                                          </p:val>
                                        </p:tav>
                                      </p:tavLst>
                                    </p:anim>
                                    <p:animEffect filter="fade" transition="in">
                                      <p:cBhvr additive="repl">
                                        <p:cTn id="384" dur="500"/>
                                        <p:tgtEl>
                                          <p:spTgt spid="85"/>
                                        </p:tgtEl>
                                      </p:cBhvr>
                                    </p:animEffect>
                                  </p:childTnLst>
                                </p:cTn>
                              </p:par>
                            </p:childTnLst>
                          </p:cTn>
                        </p:par>
                      </p:childTnLst>
                    </p:cTn>
                  </p:par>
                  <p:par>
                    <p:cTn id="385" nodeType="clickEffect" fill="hold">
                      <p:stCondLst>
                        <p:cond delay="indefinite"/>
                      </p:stCondLst>
                      <p:childTnLst>
                        <p:par>
                          <p:cTn id="386" nodeType="withEffect" fill="hold">
                            <p:stCondLst>
                              <p:cond delay="0"/>
                            </p:stCondLst>
                            <p:childTnLst>
                              <p:par>
                                <p:cTn id="387" nodeType="clickEffect" fill="hold" presetClass="entr" presetID="53" presetSubtype="16">
                                  <p:stCondLst>
                                    <p:cond delay="0"/>
                                  </p:stCondLst>
                                  <p:childTnLst>
                                    <p:set>
                                      <p:cBhvr>
                                        <p:cTn id="388" dur="1" fill="hold">
                                          <p:stCondLst>
                                            <p:cond delay="0"/>
                                          </p:stCondLst>
                                        </p:cTn>
                                        <p:tgtEl>
                                          <p:spTgt spid="69"/>
                                        </p:tgtEl>
                                        <p:attrNameLst>
                                          <p:attrName>style.visibility</p:attrName>
                                        </p:attrNameLst>
                                      </p:cBhvr>
                                      <p:to>
                                        <p:strVal val="visible"/>
                                      </p:to>
                                    </p:set>
                                    <p:anim calcmode="lin" valueType="num">
                                      <p:cBhvr additive="repl">
                                        <p:cTn id="389" dur="500" fill="hold"/>
                                        <p:tgtEl>
                                          <p:spTgt spid="69"/>
                                        </p:tgtEl>
                                        <p:attrNameLst>
                                          <p:attrName>ppt_w</p:attrName>
                                        </p:attrNameLst>
                                      </p:cBhvr>
                                      <p:tavLst>
                                        <p:tav tm="0">
                                          <p:val>
                                            <p:fltVal val="0"/>
                                          </p:val>
                                        </p:tav>
                                        <p:tav tm="100000">
                                          <p:val>
                                            <p:strVal val="#ppt_w"/>
                                          </p:val>
                                        </p:tav>
                                      </p:tavLst>
                                    </p:anim>
                                    <p:anim calcmode="lin" valueType="num">
                                      <p:cBhvr additive="repl">
                                        <p:cTn id="390" dur="500" fill="hold"/>
                                        <p:tgtEl>
                                          <p:spTgt spid="69"/>
                                        </p:tgtEl>
                                        <p:attrNameLst>
                                          <p:attrName>ppt_h</p:attrName>
                                        </p:attrNameLst>
                                      </p:cBhvr>
                                      <p:tavLst>
                                        <p:tav tm="0">
                                          <p:val>
                                            <p:fltVal val="0"/>
                                          </p:val>
                                        </p:tav>
                                        <p:tav tm="100000">
                                          <p:val>
                                            <p:strVal val="#ppt_h"/>
                                          </p:val>
                                        </p:tav>
                                      </p:tavLst>
                                    </p:anim>
                                    <p:animEffect filter="fade" transition="in">
                                      <p:cBhvr additive="repl">
                                        <p:cTn id="391" dur="500"/>
                                        <p:tgtEl>
                                          <p:spTgt spid="69"/>
                                        </p:tgtEl>
                                      </p:cBhvr>
                                    </p:animEffect>
                                  </p:childTnLst>
                                </p:cTn>
                              </p:par>
                            </p:childTnLst>
                          </p:cTn>
                        </p:par>
                        <p:par>
                          <p:cTn id="392" nodeType="afterEffect" fill="hold">
                            <p:stCondLst>
                              <p:cond delay="500"/>
                            </p:stCondLst>
                            <p:childTnLst>
                              <p:par>
                                <p:cTn id="393" nodeType="afterEffect" fill="hold" presetClass="entr" presetID="22" presetSubtype="8">
                                  <p:stCondLst>
                                    <p:cond delay="0"/>
                                  </p:stCondLst>
                                  <p:childTnLst>
                                    <p:set>
                                      <p:cBhvr>
                                        <p:cTn id="394" dur="1" fill="hold">
                                          <p:stCondLst>
                                            <p:cond delay="0"/>
                                          </p:stCondLst>
                                        </p:cTn>
                                        <p:tgtEl>
                                          <p:spTgt spid="74"/>
                                        </p:tgtEl>
                                        <p:attrNameLst>
                                          <p:attrName>style.visibility</p:attrName>
                                        </p:attrNameLst>
                                      </p:cBhvr>
                                      <p:to>
                                        <p:strVal val="visible"/>
                                      </p:to>
                                    </p:set>
                                    <p:animEffect filter="wipe(left)" transition="in">
                                      <p:cBhvr additive="repl">
                                        <p:cTn id="395" dur="500"/>
                                        <p:tgtEl>
                                          <p:spTgt spid="74"/>
                                        </p:tgtEl>
                                      </p:cBhvr>
                                    </p:animEffect>
                                  </p:childTnLst>
                                </p:cTn>
                              </p:par>
                            </p:childTnLst>
                          </p:cTn>
                        </p:par>
                        <p:par>
                          <p:cTn id="396" nodeType="afterEffect" fill="hold">
                            <p:stCondLst>
                              <p:cond delay="1000"/>
                            </p:stCondLst>
                            <p:childTnLst>
                              <p:par>
                                <p:cTn id="397" nodeType="afterEffect" fill="hold" presetClass="entr" presetID="22" presetSubtype="4">
                                  <p:stCondLst>
                                    <p:cond delay="0"/>
                                  </p:stCondLst>
                                  <p:childTnLst>
                                    <p:set>
                                      <p:cBhvr>
                                        <p:cTn id="398" dur="1" fill="hold">
                                          <p:stCondLst>
                                            <p:cond delay="0"/>
                                          </p:stCondLst>
                                        </p:cTn>
                                        <p:tgtEl>
                                          <p:spTgt spid="75"/>
                                        </p:tgtEl>
                                        <p:attrNameLst>
                                          <p:attrName>style.visibility</p:attrName>
                                        </p:attrNameLst>
                                      </p:cBhvr>
                                      <p:to>
                                        <p:strVal val="visible"/>
                                      </p:to>
                                    </p:set>
                                    <p:animEffect filter="wipe(down)" transition="in">
                                      <p:cBhvr additive="repl">
                                        <p:cTn id="399" dur="500"/>
                                        <p:tgtEl>
                                          <p:spTgt spid="75"/>
                                        </p:tgtEl>
                                      </p:cBhvr>
                                    </p:animEffect>
                                  </p:childTnLst>
                                </p:cTn>
                              </p:par>
                            </p:childTnLst>
                          </p:cTn>
                        </p:par>
                      </p:childTnLst>
                    </p:cTn>
                  </p:par>
                  <p:par>
                    <p:cTn id="400" nodeType="clickEffect" fill="hold">
                      <p:stCondLst>
                        <p:cond delay="indefinite"/>
                      </p:stCondLst>
                      <p:childTnLst>
                        <p:par>
                          <p:cTn id="401" nodeType="withEffect" fill="hold">
                            <p:stCondLst>
                              <p:cond delay="0"/>
                            </p:stCondLst>
                            <p:childTnLst>
                              <p:par>
                                <p:cTn id="402" nodeType="clickEffect" fill="hold" presetClass="entr" presetID="53" presetSubtype="16">
                                  <p:stCondLst>
                                    <p:cond delay="0"/>
                                  </p:stCondLst>
                                  <p:childTnLst>
                                    <p:set>
                                      <p:cBhvr>
                                        <p:cTn id="403" dur="1" fill="hold">
                                          <p:stCondLst>
                                            <p:cond delay="0"/>
                                          </p:stCondLst>
                                        </p:cTn>
                                        <p:tgtEl>
                                          <p:spTgt spid="70"/>
                                        </p:tgtEl>
                                        <p:attrNameLst>
                                          <p:attrName>style.visibility</p:attrName>
                                        </p:attrNameLst>
                                      </p:cBhvr>
                                      <p:to>
                                        <p:strVal val="visible"/>
                                      </p:to>
                                    </p:set>
                                    <p:anim calcmode="lin" valueType="num">
                                      <p:cBhvr additive="repl">
                                        <p:cTn id="404" dur="500" fill="hold"/>
                                        <p:tgtEl>
                                          <p:spTgt spid="70"/>
                                        </p:tgtEl>
                                        <p:attrNameLst>
                                          <p:attrName>ppt_w</p:attrName>
                                        </p:attrNameLst>
                                      </p:cBhvr>
                                      <p:tavLst>
                                        <p:tav tm="0">
                                          <p:val>
                                            <p:fltVal val="0"/>
                                          </p:val>
                                        </p:tav>
                                        <p:tav tm="100000">
                                          <p:val>
                                            <p:strVal val="#ppt_w"/>
                                          </p:val>
                                        </p:tav>
                                      </p:tavLst>
                                    </p:anim>
                                    <p:anim calcmode="lin" valueType="num">
                                      <p:cBhvr additive="repl">
                                        <p:cTn id="405" dur="500" fill="hold"/>
                                        <p:tgtEl>
                                          <p:spTgt spid="70"/>
                                        </p:tgtEl>
                                        <p:attrNameLst>
                                          <p:attrName>ppt_h</p:attrName>
                                        </p:attrNameLst>
                                      </p:cBhvr>
                                      <p:tavLst>
                                        <p:tav tm="0">
                                          <p:val>
                                            <p:fltVal val="0"/>
                                          </p:val>
                                        </p:tav>
                                        <p:tav tm="100000">
                                          <p:val>
                                            <p:strVal val="#ppt_h"/>
                                          </p:val>
                                        </p:tav>
                                      </p:tavLst>
                                    </p:anim>
                                    <p:animEffect filter="fade" transition="in">
                                      <p:cBhvr additive="repl">
                                        <p:cTn id="406" dur="500"/>
                                        <p:tgtEl>
                                          <p:spTgt spid="70"/>
                                        </p:tgtEl>
                                      </p:cBhvr>
                                    </p:animEffect>
                                  </p:childTnLst>
                                </p:cTn>
                              </p:par>
                            </p:childTnLst>
                          </p:cTn>
                        </p:par>
                        <p:par>
                          <p:cTn id="407" nodeType="afterEffect" fill="hold">
                            <p:stCondLst>
                              <p:cond delay="500"/>
                            </p:stCondLst>
                            <p:childTnLst>
                              <p:par>
                                <p:cTn id="408" nodeType="afterEffect" fill="hold" presetClass="entr" presetID="53" presetSubtype="16">
                                  <p:stCondLst>
                                    <p:cond delay="0"/>
                                  </p:stCondLst>
                                  <p:childTnLst>
                                    <p:set>
                                      <p:cBhvr>
                                        <p:cTn id="409" dur="1" fill="hold">
                                          <p:stCondLst>
                                            <p:cond delay="0"/>
                                          </p:stCondLst>
                                        </p:cTn>
                                        <p:tgtEl>
                                          <p:spTgt spid="71"/>
                                        </p:tgtEl>
                                        <p:attrNameLst>
                                          <p:attrName>style.visibility</p:attrName>
                                        </p:attrNameLst>
                                      </p:cBhvr>
                                      <p:to>
                                        <p:strVal val="visible"/>
                                      </p:to>
                                    </p:set>
                                    <p:anim calcmode="lin" valueType="num">
                                      <p:cBhvr additive="repl">
                                        <p:cTn id="410" dur="500" fill="hold"/>
                                        <p:tgtEl>
                                          <p:spTgt spid="71"/>
                                        </p:tgtEl>
                                        <p:attrNameLst>
                                          <p:attrName>ppt_w</p:attrName>
                                        </p:attrNameLst>
                                      </p:cBhvr>
                                      <p:tavLst>
                                        <p:tav tm="0">
                                          <p:val>
                                            <p:fltVal val="0"/>
                                          </p:val>
                                        </p:tav>
                                        <p:tav tm="100000">
                                          <p:val>
                                            <p:strVal val="#ppt_w"/>
                                          </p:val>
                                        </p:tav>
                                      </p:tavLst>
                                    </p:anim>
                                    <p:anim calcmode="lin" valueType="num">
                                      <p:cBhvr additive="repl">
                                        <p:cTn id="411" dur="500" fill="hold"/>
                                        <p:tgtEl>
                                          <p:spTgt spid="71"/>
                                        </p:tgtEl>
                                        <p:attrNameLst>
                                          <p:attrName>ppt_h</p:attrName>
                                        </p:attrNameLst>
                                      </p:cBhvr>
                                      <p:tavLst>
                                        <p:tav tm="0">
                                          <p:val>
                                            <p:fltVal val="0"/>
                                          </p:val>
                                        </p:tav>
                                        <p:tav tm="100000">
                                          <p:val>
                                            <p:strVal val="#ppt_h"/>
                                          </p:val>
                                        </p:tav>
                                      </p:tavLst>
                                    </p:anim>
                                    <p:animEffect filter="fade" transition="in">
                                      <p:cBhvr additive="repl">
                                        <p:cTn id="412" dur="500"/>
                                        <p:tgtEl>
                                          <p:spTgt spid="71"/>
                                        </p:tgtEl>
                                      </p:cBhvr>
                                    </p:animEffect>
                                  </p:childTnLst>
                                </p:cTn>
                              </p:par>
                            </p:childTnLst>
                          </p:cTn>
                        </p:par>
                        <p:par>
                          <p:cTn id="413" nodeType="afterEffect" fill="hold">
                            <p:stCondLst>
                              <p:cond delay="1000"/>
                            </p:stCondLst>
                            <p:childTnLst>
                              <p:par>
                                <p:cTn id="414" nodeType="afterEffect" fill="hold" presetClass="entr" presetID="53" presetSubtype="16">
                                  <p:stCondLst>
                                    <p:cond delay="0"/>
                                  </p:stCondLst>
                                  <p:childTnLst>
                                    <p:set>
                                      <p:cBhvr>
                                        <p:cTn id="415" dur="1" fill="hold">
                                          <p:stCondLst>
                                            <p:cond delay="0"/>
                                          </p:stCondLst>
                                        </p:cTn>
                                        <p:tgtEl>
                                          <p:spTgt spid="72"/>
                                        </p:tgtEl>
                                        <p:attrNameLst>
                                          <p:attrName>style.visibility</p:attrName>
                                        </p:attrNameLst>
                                      </p:cBhvr>
                                      <p:to>
                                        <p:strVal val="visible"/>
                                      </p:to>
                                    </p:set>
                                    <p:anim calcmode="lin" valueType="num">
                                      <p:cBhvr additive="repl">
                                        <p:cTn id="416" dur="500" fill="hold"/>
                                        <p:tgtEl>
                                          <p:spTgt spid="72"/>
                                        </p:tgtEl>
                                        <p:attrNameLst>
                                          <p:attrName>ppt_w</p:attrName>
                                        </p:attrNameLst>
                                      </p:cBhvr>
                                      <p:tavLst>
                                        <p:tav tm="0">
                                          <p:val>
                                            <p:fltVal val="0"/>
                                          </p:val>
                                        </p:tav>
                                        <p:tav tm="100000">
                                          <p:val>
                                            <p:strVal val="#ppt_w"/>
                                          </p:val>
                                        </p:tav>
                                      </p:tavLst>
                                    </p:anim>
                                    <p:anim calcmode="lin" valueType="num">
                                      <p:cBhvr additive="repl">
                                        <p:cTn id="417" dur="500" fill="hold"/>
                                        <p:tgtEl>
                                          <p:spTgt spid="72"/>
                                        </p:tgtEl>
                                        <p:attrNameLst>
                                          <p:attrName>ppt_h</p:attrName>
                                        </p:attrNameLst>
                                      </p:cBhvr>
                                      <p:tavLst>
                                        <p:tav tm="0">
                                          <p:val>
                                            <p:fltVal val="0"/>
                                          </p:val>
                                        </p:tav>
                                        <p:tav tm="100000">
                                          <p:val>
                                            <p:strVal val="#ppt_h"/>
                                          </p:val>
                                        </p:tav>
                                      </p:tavLst>
                                    </p:anim>
                                    <p:animEffect filter="fade" transition="in">
                                      <p:cBhvr additive="repl">
                                        <p:cTn id="418" dur="500"/>
                                        <p:tgtEl>
                                          <p:spTgt spid="72"/>
                                        </p:tgtEl>
                                      </p:cBhvr>
                                    </p:animEffect>
                                  </p:childTnLst>
                                </p:cTn>
                              </p:par>
                            </p:childTnLst>
                          </p:cTn>
                        </p:par>
                        <p:par>
                          <p:cTn id="419" nodeType="afterEffect" fill="hold">
                            <p:stCondLst>
                              <p:cond delay="1500"/>
                            </p:stCondLst>
                            <p:childTnLst>
                              <p:par>
                                <p:cTn id="420" nodeType="afterEffect" fill="hold" presetClass="entr" presetID="53" presetSubtype="16">
                                  <p:stCondLst>
                                    <p:cond delay="0"/>
                                  </p:stCondLst>
                                  <p:childTnLst>
                                    <p:set>
                                      <p:cBhvr>
                                        <p:cTn id="421" dur="1" fill="hold">
                                          <p:stCondLst>
                                            <p:cond delay="0"/>
                                          </p:stCondLst>
                                        </p:cTn>
                                        <p:tgtEl>
                                          <p:spTgt spid="73"/>
                                        </p:tgtEl>
                                        <p:attrNameLst>
                                          <p:attrName>style.visibility</p:attrName>
                                        </p:attrNameLst>
                                      </p:cBhvr>
                                      <p:to>
                                        <p:strVal val="visible"/>
                                      </p:to>
                                    </p:set>
                                    <p:anim calcmode="lin" valueType="num">
                                      <p:cBhvr additive="repl">
                                        <p:cTn id="422" dur="500" fill="hold"/>
                                        <p:tgtEl>
                                          <p:spTgt spid="73"/>
                                        </p:tgtEl>
                                        <p:attrNameLst>
                                          <p:attrName>ppt_w</p:attrName>
                                        </p:attrNameLst>
                                      </p:cBhvr>
                                      <p:tavLst>
                                        <p:tav tm="0">
                                          <p:val>
                                            <p:fltVal val="0"/>
                                          </p:val>
                                        </p:tav>
                                        <p:tav tm="100000">
                                          <p:val>
                                            <p:strVal val="#ppt_w"/>
                                          </p:val>
                                        </p:tav>
                                      </p:tavLst>
                                    </p:anim>
                                    <p:anim calcmode="lin" valueType="num">
                                      <p:cBhvr additive="repl">
                                        <p:cTn id="423" dur="500" fill="hold"/>
                                        <p:tgtEl>
                                          <p:spTgt spid="73"/>
                                        </p:tgtEl>
                                        <p:attrNameLst>
                                          <p:attrName>ppt_h</p:attrName>
                                        </p:attrNameLst>
                                      </p:cBhvr>
                                      <p:tavLst>
                                        <p:tav tm="0">
                                          <p:val>
                                            <p:fltVal val="0"/>
                                          </p:val>
                                        </p:tav>
                                        <p:tav tm="100000">
                                          <p:val>
                                            <p:strVal val="#ppt_h"/>
                                          </p:val>
                                        </p:tav>
                                      </p:tavLst>
                                    </p:anim>
                                    <p:animEffect filter="fade" transition="in">
                                      <p:cBhvr additive="repl">
                                        <p:cTn id="424" dur="500"/>
                                        <p:tgtEl>
                                          <p:spTgt spid="73"/>
                                        </p:tgtEl>
                                      </p:cBhvr>
                                    </p:animEffect>
                                  </p:childTnLst>
                                </p:cTn>
                              </p:par>
                            </p:childTnLst>
                          </p:cTn>
                        </p:par>
                      </p:childTnLst>
                    </p:cTn>
                  </p:par>
                  <p:par>
                    <p:cTn id="425" nodeType="clickEffect" fill="hold">
                      <p:stCondLst>
                        <p:cond delay="indefinite"/>
                      </p:stCondLst>
                      <p:childTnLst>
                        <p:par>
                          <p:cTn id="426" nodeType="withEffect" fill="hold">
                            <p:stCondLst>
                              <p:cond delay="0"/>
                            </p:stCondLst>
                            <p:childTnLst>
                              <p:par>
                                <p:cTn id="427" nodeType="clickEffect" fill="hold" presetClass="entr" presetID="22" presetSubtype="8">
                                  <p:stCondLst>
                                    <p:cond delay="0"/>
                                  </p:stCondLst>
                                  <p:childTnLst>
                                    <p:set>
                                      <p:cBhvr>
                                        <p:cTn id="428" dur="1" fill="hold">
                                          <p:stCondLst>
                                            <p:cond delay="0"/>
                                          </p:stCondLst>
                                        </p:cTn>
                                        <p:tgtEl>
                                          <p:spTgt spid="105"/>
                                        </p:tgtEl>
                                        <p:attrNameLst>
                                          <p:attrName>style.visibility</p:attrName>
                                        </p:attrNameLst>
                                      </p:cBhvr>
                                      <p:to>
                                        <p:strVal val="visible"/>
                                      </p:to>
                                    </p:set>
                                    <p:animEffect filter="wipe(left)" transition="in">
                                      <p:cBhvr additive="repl">
                                        <p:cTn id="429" dur="500"/>
                                        <p:tgtEl>
                                          <p:spTgt spid="105"/>
                                        </p:tgtEl>
                                      </p:cBhvr>
                                    </p:animEffect>
                                  </p:childTnLst>
                                </p:cTn>
                              </p:par>
                            </p:childTnLst>
                          </p:cTn>
                        </p:par>
                        <p:par>
                          <p:cTn id="430" nodeType="afterEffect" fill="hold">
                            <p:stCondLst>
                              <p:cond delay="500"/>
                            </p:stCondLst>
                            <p:childTnLst>
                              <p:par>
                                <p:cTn id="431" nodeType="afterEffect" fill="hold" presetClass="entr" presetID="53" presetSubtype="16">
                                  <p:stCondLst>
                                    <p:cond delay="0"/>
                                  </p:stCondLst>
                                  <p:childTnLst>
                                    <p:set>
                                      <p:cBhvr>
                                        <p:cTn id="432" dur="1" fill="hold">
                                          <p:stCondLst>
                                            <p:cond delay="0"/>
                                          </p:stCondLst>
                                        </p:cTn>
                                        <p:tgtEl>
                                          <p:spTgt spid="84"/>
                                        </p:tgtEl>
                                        <p:attrNameLst>
                                          <p:attrName>style.visibility</p:attrName>
                                        </p:attrNameLst>
                                      </p:cBhvr>
                                      <p:to>
                                        <p:strVal val="visible"/>
                                      </p:to>
                                    </p:set>
                                    <p:anim calcmode="lin" valueType="num">
                                      <p:cBhvr additive="repl">
                                        <p:cTn id="433" dur="500" fill="hold"/>
                                        <p:tgtEl>
                                          <p:spTgt spid="84"/>
                                        </p:tgtEl>
                                        <p:attrNameLst>
                                          <p:attrName>ppt_w</p:attrName>
                                        </p:attrNameLst>
                                      </p:cBhvr>
                                      <p:tavLst>
                                        <p:tav tm="0">
                                          <p:val>
                                            <p:fltVal val="0"/>
                                          </p:val>
                                        </p:tav>
                                        <p:tav tm="100000">
                                          <p:val>
                                            <p:strVal val="#ppt_w"/>
                                          </p:val>
                                        </p:tav>
                                      </p:tavLst>
                                    </p:anim>
                                    <p:anim calcmode="lin" valueType="num">
                                      <p:cBhvr additive="repl">
                                        <p:cTn id="434" dur="500" fill="hold"/>
                                        <p:tgtEl>
                                          <p:spTgt spid="84"/>
                                        </p:tgtEl>
                                        <p:attrNameLst>
                                          <p:attrName>ppt_h</p:attrName>
                                        </p:attrNameLst>
                                      </p:cBhvr>
                                      <p:tavLst>
                                        <p:tav tm="0">
                                          <p:val>
                                            <p:fltVal val="0"/>
                                          </p:val>
                                        </p:tav>
                                        <p:tav tm="100000">
                                          <p:val>
                                            <p:strVal val="#ppt_h"/>
                                          </p:val>
                                        </p:tav>
                                      </p:tavLst>
                                    </p:anim>
                                    <p:animEffect filter="fade" transition="in">
                                      <p:cBhvr additive="repl">
                                        <p:cTn id="435" dur="500"/>
                                        <p:tgtEl>
                                          <p:spTgt spid="84"/>
                                        </p:tgtEl>
                                      </p:cBhvr>
                                    </p:animEffect>
                                  </p:childTnLst>
                                </p:cTn>
                              </p:par>
                            </p:childTnLst>
                          </p:cTn>
                        </p:par>
                        <p:par>
                          <p:cTn id="436" nodeType="afterEffect" fill="hold">
                            <p:stCondLst>
                              <p:cond delay="1000"/>
                            </p:stCondLst>
                            <p:childTnLst>
                              <p:par>
                                <p:cTn id="437" nodeType="afterEffect" fill="hold" presetClass="entr" presetID="53" presetSubtype="16">
                                  <p:stCondLst>
                                    <p:cond delay="0"/>
                                  </p:stCondLst>
                                  <p:childTnLst>
                                    <p:set>
                                      <p:cBhvr>
                                        <p:cTn id="438" dur="1" fill="hold">
                                          <p:stCondLst>
                                            <p:cond delay="0"/>
                                          </p:stCondLst>
                                        </p:cTn>
                                        <p:tgtEl>
                                          <p:spTgt spid="92"/>
                                        </p:tgtEl>
                                        <p:attrNameLst>
                                          <p:attrName>style.visibility</p:attrName>
                                        </p:attrNameLst>
                                      </p:cBhvr>
                                      <p:to>
                                        <p:strVal val="visible"/>
                                      </p:to>
                                    </p:set>
                                    <p:anim calcmode="lin" valueType="num">
                                      <p:cBhvr additive="repl">
                                        <p:cTn id="439" dur="500" fill="hold"/>
                                        <p:tgtEl>
                                          <p:spTgt spid="92"/>
                                        </p:tgtEl>
                                        <p:attrNameLst>
                                          <p:attrName>ppt_w</p:attrName>
                                        </p:attrNameLst>
                                      </p:cBhvr>
                                      <p:tavLst>
                                        <p:tav tm="0">
                                          <p:val>
                                            <p:fltVal val="0"/>
                                          </p:val>
                                        </p:tav>
                                        <p:tav tm="100000">
                                          <p:val>
                                            <p:strVal val="#ppt_w"/>
                                          </p:val>
                                        </p:tav>
                                      </p:tavLst>
                                    </p:anim>
                                    <p:anim calcmode="lin" valueType="num">
                                      <p:cBhvr additive="repl">
                                        <p:cTn id="440" dur="500" fill="hold"/>
                                        <p:tgtEl>
                                          <p:spTgt spid="92"/>
                                        </p:tgtEl>
                                        <p:attrNameLst>
                                          <p:attrName>ppt_h</p:attrName>
                                        </p:attrNameLst>
                                      </p:cBhvr>
                                      <p:tavLst>
                                        <p:tav tm="0">
                                          <p:val>
                                            <p:fltVal val="0"/>
                                          </p:val>
                                        </p:tav>
                                        <p:tav tm="100000">
                                          <p:val>
                                            <p:strVal val="#ppt_h"/>
                                          </p:val>
                                        </p:tav>
                                      </p:tavLst>
                                    </p:anim>
                                    <p:animEffect filter="fade" transition="in">
                                      <p:cBhvr additive="repl">
                                        <p:cTn id="441" dur="500"/>
                                        <p:tgtEl>
                                          <p:spTgt spid="92"/>
                                        </p:tgtEl>
                                      </p:cBhvr>
                                    </p:animEffect>
                                  </p:childTnLst>
                                </p:cTn>
                              </p:par>
                            </p:childTnLst>
                          </p:cTn>
                        </p:par>
                        <p:par>
                          <p:cTn id="442" nodeType="afterEffect" fill="hold">
                            <p:stCondLst>
                              <p:cond delay="1500"/>
                            </p:stCondLst>
                            <p:childTnLst>
                              <p:par>
                                <p:cTn id="443" nodeType="afterEffect" fill="hold" presetClass="entr" presetID="53" presetSubtype="16">
                                  <p:stCondLst>
                                    <p:cond delay="0"/>
                                  </p:stCondLst>
                                  <p:childTnLst>
                                    <p:set>
                                      <p:cBhvr>
                                        <p:cTn id="444" dur="1" fill="hold">
                                          <p:stCondLst>
                                            <p:cond delay="0"/>
                                          </p:stCondLst>
                                        </p:cTn>
                                        <p:tgtEl>
                                          <p:spTgt spid="98"/>
                                        </p:tgtEl>
                                        <p:attrNameLst>
                                          <p:attrName>style.visibility</p:attrName>
                                        </p:attrNameLst>
                                      </p:cBhvr>
                                      <p:to>
                                        <p:strVal val="visible"/>
                                      </p:to>
                                    </p:set>
                                    <p:anim calcmode="lin" valueType="num">
                                      <p:cBhvr additive="repl">
                                        <p:cTn id="445" dur="500" fill="hold"/>
                                        <p:tgtEl>
                                          <p:spTgt spid="98"/>
                                        </p:tgtEl>
                                        <p:attrNameLst>
                                          <p:attrName>ppt_w</p:attrName>
                                        </p:attrNameLst>
                                      </p:cBhvr>
                                      <p:tavLst>
                                        <p:tav tm="0">
                                          <p:val>
                                            <p:fltVal val="0"/>
                                          </p:val>
                                        </p:tav>
                                        <p:tav tm="100000">
                                          <p:val>
                                            <p:strVal val="#ppt_w"/>
                                          </p:val>
                                        </p:tav>
                                      </p:tavLst>
                                    </p:anim>
                                    <p:anim calcmode="lin" valueType="num">
                                      <p:cBhvr additive="repl">
                                        <p:cTn id="446" dur="500" fill="hold"/>
                                        <p:tgtEl>
                                          <p:spTgt spid="98"/>
                                        </p:tgtEl>
                                        <p:attrNameLst>
                                          <p:attrName>ppt_h</p:attrName>
                                        </p:attrNameLst>
                                      </p:cBhvr>
                                      <p:tavLst>
                                        <p:tav tm="0">
                                          <p:val>
                                            <p:fltVal val="0"/>
                                          </p:val>
                                        </p:tav>
                                        <p:tav tm="100000">
                                          <p:val>
                                            <p:strVal val="#ppt_h"/>
                                          </p:val>
                                        </p:tav>
                                      </p:tavLst>
                                    </p:anim>
                                    <p:animEffect filter="fade" transition="in">
                                      <p:cBhvr additive="repl">
                                        <p:cTn id="447" dur="500"/>
                                        <p:tgtEl>
                                          <p:spTgt spid="98"/>
                                        </p:tgtEl>
                                      </p:cBhvr>
                                    </p:animEffect>
                                  </p:childTnLst>
                                </p:cTn>
                              </p:par>
                            </p:childTnLst>
                          </p:cTn>
                        </p:par>
                        <p:par>
                          <p:cTn id="448" nodeType="afterEffect" fill="hold">
                            <p:stCondLst>
                              <p:cond delay="2000"/>
                            </p:stCondLst>
                            <p:childTnLst>
                              <p:par>
                                <p:cTn id="449" nodeType="afterEffect" fill="hold" presetClass="entr" presetID="53" presetSubtype="16">
                                  <p:stCondLst>
                                    <p:cond delay="0"/>
                                  </p:stCondLst>
                                  <p:childTnLst>
                                    <p:set>
                                      <p:cBhvr>
                                        <p:cTn id="450" dur="1" fill="hold">
                                          <p:stCondLst>
                                            <p:cond delay="0"/>
                                          </p:stCondLst>
                                        </p:cTn>
                                        <p:tgtEl>
                                          <p:spTgt spid="99"/>
                                        </p:tgtEl>
                                        <p:attrNameLst>
                                          <p:attrName>style.visibility</p:attrName>
                                        </p:attrNameLst>
                                      </p:cBhvr>
                                      <p:to>
                                        <p:strVal val="visible"/>
                                      </p:to>
                                    </p:set>
                                    <p:anim calcmode="lin" valueType="num">
                                      <p:cBhvr additive="repl">
                                        <p:cTn id="451" dur="500" fill="hold"/>
                                        <p:tgtEl>
                                          <p:spTgt spid="99"/>
                                        </p:tgtEl>
                                        <p:attrNameLst>
                                          <p:attrName>ppt_w</p:attrName>
                                        </p:attrNameLst>
                                      </p:cBhvr>
                                      <p:tavLst>
                                        <p:tav tm="0">
                                          <p:val>
                                            <p:fltVal val="0"/>
                                          </p:val>
                                        </p:tav>
                                        <p:tav tm="100000">
                                          <p:val>
                                            <p:strVal val="#ppt_w"/>
                                          </p:val>
                                        </p:tav>
                                      </p:tavLst>
                                    </p:anim>
                                    <p:anim calcmode="lin" valueType="num">
                                      <p:cBhvr additive="repl">
                                        <p:cTn id="452" dur="500" fill="hold"/>
                                        <p:tgtEl>
                                          <p:spTgt spid="99"/>
                                        </p:tgtEl>
                                        <p:attrNameLst>
                                          <p:attrName>ppt_h</p:attrName>
                                        </p:attrNameLst>
                                      </p:cBhvr>
                                      <p:tavLst>
                                        <p:tav tm="0">
                                          <p:val>
                                            <p:fltVal val="0"/>
                                          </p:val>
                                        </p:tav>
                                        <p:tav tm="100000">
                                          <p:val>
                                            <p:strVal val="#ppt_h"/>
                                          </p:val>
                                        </p:tav>
                                      </p:tavLst>
                                    </p:anim>
                                    <p:animEffect filter="fade" transition="in">
                                      <p:cBhvr additive="repl">
                                        <p:cTn id="453" dur="500"/>
                                        <p:tgtEl>
                                          <p:spTgt spid="99"/>
                                        </p:tgtEl>
                                      </p:cBhvr>
                                    </p:animEffect>
                                  </p:childTnLst>
                                </p:cTn>
                              </p:par>
                            </p:childTnLst>
                          </p:cTn>
                        </p:par>
                        <p:par>
                          <p:cTn id="454" nodeType="afterEffect" fill="hold">
                            <p:stCondLst>
                              <p:cond delay="2500"/>
                            </p:stCondLst>
                            <p:childTnLst>
                              <p:par>
                                <p:cTn id="455" nodeType="afterEffect" fill="hold" presetClass="entr" presetID="53" presetSubtype="16">
                                  <p:stCondLst>
                                    <p:cond delay="0"/>
                                  </p:stCondLst>
                                  <p:childTnLst>
                                    <p:set>
                                      <p:cBhvr>
                                        <p:cTn id="456" dur="1" fill="hold">
                                          <p:stCondLst>
                                            <p:cond delay="0"/>
                                          </p:stCondLst>
                                        </p:cTn>
                                        <p:tgtEl>
                                          <p:spTgt spid="100"/>
                                        </p:tgtEl>
                                        <p:attrNameLst>
                                          <p:attrName>style.visibility</p:attrName>
                                        </p:attrNameLst>
                                      </p:cBhvr>
                                      <p:to>
                                        <p:strVal val="visible"/>
                                      </p:to>
                                    </p:set>
                                    <p:anim calcmode="lin" valueType="num">
                                      <p:cBhvr additive="repl">
                                        <p:cTn id="457" dur="500" fill="hold"/>
                                        <p:tgtEl>
                                          <p:spTgt spid="100"/>
                                        </p:tgtEl>
                                        <p:attrNameLst>
                                          <p:attrName>ppt_w</p:attrName>
                                        </p:attrNameLst>
                                      </p:cBhvr>
                                      <p:tavLst>
                                        <p:tav tm="0">
                                          <p:val>
                                            <p:fltVal val="0"/>
                                          </p:val>
                                        </p:tav>
                                        <p:tav tm="100000">
                                          <p:val>
                                            <p:strVal val="#ppt_w"/>
                                          </p:val>
                                        </p:tav>
                                      </p:tavLst>
                                    </p:anim>
                                    <p:anim calcmode="lin" valueType="num">
                                      <p:cBhvr additive="repl">
                                        <p:cTn id="458" dur="500" fill="hold"/>
                                        <p:tgtEl>
                                          <p:spTgt spid="100"/>
                                        </p:tgtEl>
                                        <p:attrNameLst>
                                          <p:attrName>ppt_h</p:attrName>
                                        </p:attrNameLst>
                                      </p:cBhvr>
                                      <p:tavLst>
                                        <p:tav tm="0">
                                          <p:val>
                                            <p:fltVal val="0"/>
                                          </p:val>
                                        </p:tav>
                                        <p:tav tm="100000">
                                          <p:val>
                                            <p:strVal val="#ppt_h"/>
                                          </p:val>
                                        </p:tav>
                                      </p:tavLst>
                                    </p:anim>
                                    <p:animEffect filter="fade" transition="in">
                                      <p:cBhvr additive="repl">
                                        <p:cTn id="459" dur="500"/>
                                        <p:tgtEl>
                                          <p:spTgt spid="100"/>
                                        </p:tgtEl>
                                      </p:cBhvr>
                                    </p:animEffect>
                                  </p:childTnLst>
                                </p:cTn>
                              </p:par>
                            </p:childTnLst>
                          </p:cTn>
                        </p:par>
                      </p:childTnLst>
                    </p:cTn>
                  </p:par>
                  <p:par>
                    <p:cTn id="460" nodeType="clickEffect" fill="hold">
                      <p:stCondLst>
                        <p:cond delay="indefinite"/>
                      </p:stCondLst>
                      <p:childTnLst>
                        <p:par>
                          <p:cTn id="461" nodeType="withEffect" fill="hold">
                            <p:stCondLst>
                              <p:cond delay="0"/>
                            </p:stCondLst>
                            <p:childTnLst>
                              <p:par>
                                <p:cTn id="462" nodeType="clickEffect" fill="hold" presetClass="entr" presetID="22" presetSubtype="4">
                                  <p:stCondLst>
                                    <p:cond delay="0"/>
                                  </p:stCondLst>
                                  <p:childTnLst>
                                    <p:set>
                                      <p:cBhvr>
                                        <p:cTn id="463" dur="1" fill="hold">
                                          <p:stCondLst>
                                            <p:cond delay="0"/>
                                          </p:stCondLst>
                                        </p:cTn>
                                        <p:tgtEl>
                                          <p:spTgt spid="101"/>
                                        </p:tgtEl>
                                        <p:attrNameLst>
                                          <p:attrName>style.visibility</p:attrName>
                                        </p:attrNameLst>
                                      </p:cBhvr>
                                      <p:to>
                                        <p:strVal val="visible"/>
                                      </p:to>
                                    </p:set>
                                    <p:animEffect filter="wipe(down)" transition="in">
                                      <p:cBhvr additive="repl">
                                        <p:cTn id="464" dur="500"/>
                                        <p:tgtEl>
                                          <p:spTgt spid="101"/>
                                        </p:tgtEl>
                                      </p:cBhvr>
                                    </p:animEffect>
                                  </p:childTnLst>
                                </p:cTn>
                              </p:par>
                            </p:childTnLst>
                          </p:cTn>
                        </p:par>
                        <p:par>
                          <p:cTn id="465" nodeType="afterEffect" fill="hold">
                            <p:stCondLst>
                              <p:cond delay="500"/>
                            </p:stCondLst>
                            <p:childTnLst>
                              <p:par>
                                <p:cTn id="466" nodeType="afterEffect" fill="hold" presetClass="entr" presetID="22" presetSubtype="4">
                                  <p:stCondLst>
                                    <p:cond delay="0"/>
                                  </p:stCondLst>
                                  <p:childTnLst>
                                    <p:set>
                                      <p:cBhvr>
                                        <p:cTn id="467" dur="1" fill="hold">
                                          <p:stCondLst>
                                            <p:cond delay="0"/>
                                          </p:stCondLst>
                                        </p:cTn>
                                        <p:tgtEl>
                                          <p:spTgt spid="102"/>
                                        </p:tgtEl>
                                        <p:attrNameLst>
                                          <p:attrName>style.visibility</p:attrName>
                                        </p:attrNameLst>
                                      </p:cBhvr>
                                      <p:to>
                                        <p:strVal val="visible"/>
                                      </p:to>
                                    </p:set>
                                    <p:animEffect filter="wipe(down)" transition="in">
                                      <p:cBhvr additive="repl">
                                        <p:cTn id="468" dur="500"/>
                                        <p:tgtEl>
                                          <p:spTgt spid="102"/>
                                        </p:tgtEl>
                                      </p:cBhvr>
                                    </p:animEffect>
                                  </p:childTnLst>
                                </p:cTn>
                              </p:par>
                            </p:childTnLst>
                          </p:cTn>
                        </p:par>
                        <p:par>
                          <p:cTn id="469" nodeType="afterEffect" fill="hold">
                            <p:stCondLst>
                              <p:cond delay="1000"/>
                            </p:stCondLst>
                            <p:childTnLst>
                              <p:par>
                                <p:cTn id="470" nodeType="afterEffect" fill="hold" presetClass="entr" presetID="22" presetSubtype="4">
                                  <p:stCondLst>
                                    <p:cond delay="0"/>
                                  </p:stCondLst>
                                  <p:childTnLst>
                                    <p:set>
                                      <p:cBhvr>
                                        <p:cTn id="471" dur="1" fill="hold">
                                          <p:stCondLst>
                                            <p:cond delay="0"/>
                                          </p:stCondLst>
                                        </p:cTn>
                                        <p:tgtEl>
                                          <p:spTgt spid="103"/>
                                        </p:tgtEl>
                                        <p:attrNameLst>
                                          <p:attrName>style.visibility</p:attrName>
                                        </p:attrNameLst>
                                      </p:cBhvr>
                                      <p:to>
                                        <p:strVal val="visible"/>
                                      </p:to>
                                    </p:set>
                                    <p:animEffect filter="wipe(down)" transition="in">
                                      <p:cBhvr additive="repl">
                                        <p:cTn id="472" dur="500"/>
                                        <p:tgtEl>
                                          <p:spTgt spid="103"/>
                                        </p:tgtEl>
                                      </p:cBhvr>
                                    </p:animEffect>
                                  </p:childTnLst>
                                </p:cTn>
                              </p:par>
                            </p:childTnLst>
                          </p:cTn>
                        </p:par>
                      </p:childTnLst>
                    </p:cTn>
                  </p:par>
                  <p:par>
                    <p:cTn id="473" nodeType="clickEffect" fill="hold">
                      <p:stCondLst>
                        <p:cond delay="indefinite"/>
                      </p:stCondLst>
                      <p:childTnLst>
                        <p:par>
                          <p:cTn id="474" nodeType="withEffect" fill="hold">
                            <p:stCondLst>
                              <p:cond delay="0"/>
                            </p:stCondLst>
                            <p:childTnLst>
                              <p:par>
                                <p:cTn id="475" nodeType="clickEffect" fill="hold" presetClass="entr" presetID="22" presetSubtype="4">
                                  <p:stCondLst>
                                    <p:cond delay="0"/>
                                  </p:stCondLst>
                                  <p:childTnLst>
                                    <p:set>
                                      <p:cBhvr>
                                        <p:cTn id="476" dur="1" fill="hold">
                                          <p:stCondLst>
                                            <p:cond delay="0"/>
                                          </p:stCondLst>
                                        </p:cTn>
                                        <p:tgtEl>
                                          <p:spTgt spid="104"/>
                                        </p:tgtEl>
                                        <p:attrNameLst>
                                          <p:attrName>style.visibility</p:attrName>
                                        </p:attrNameLst>
                                      </p:cBhvr>
                                      <p:to>
                                        <p:strVal val="visible"/>
                                      </p:to>
                                    </p:set>
                                    <p:animEffect filter="wipe(down)" transition="in">
                                      <p:cBhvr additive="repl">
                                        <p:cTn id="477" dur="500"/>
                                        <p:tgtEl>
                                          <p:spTgt spid="104"/>
                                        </p:tgtEl>
                                      </p:cBhvr>
                                    </p:animEffect>
                                  </p:childTnLst>
                                </p:cTn>
                              </p:par>
                            </p:childTnLst>
                          </p:cTn>
                        </p:par>
                        <p:par>
                          <p:cTn id="478" nodeType="afterEffect" fill="hold">
                            <p:stCondLst>
                              <p:cond delay="500"/>
                            </p:stCondLst>
                            <p:childTnLst>
                              <p:par>
                                <p:cTn id="479" nodeType="afterEffect" fill="hold" presetClass="entr" presetID="53" presetSubtype="16">
                                  <p:stCondLst>
                                    <p:cond delay="0"/>
                                  </p:stCondLst>
                                  <p:childTnLst>
                                    <p:set>
                                      <p:cBhvr>
                                        <p:cTn id="480" dur="1" fill="hold">
                                          <p:stCondLst>
                                            <p:cond delay="0"/>
                                          </p:stCondLst>
                                        </p:cTn>
                                        <p:tgtEl>
                                          <p:spTgt spid="65"/>
                                        </p:tgtEl>
                                        <p:attrNameLst>
                                          <p:attrName>style.visibility</p:attrName>
                                        </p:attrNameLst>
                                      </p:cBhvr>
                                      <p:to>
                                        <p:strVal val="visible"/>
                                      </p:to>
                                    </p:set>
                                    <p:anim calcmode="lin" valueType="num">
                                      <p:cBhvr additive="repl">
                                        <p:cTn id="481" dur="500" fill="hold"/>
                                        <p:tgtEl>
                                          <p:spTgt spid="65"/>
                                        </p:tgtEl>
                                        <p:attrNameLst>
                                          <p:attrName>ppt_w</p:attrName>
                                        </p:attrNameLst>
                                      </p:cBhvr>
                                      <p:tavLst>
                                        <p:tav tm="0">
                                          <p:val>
                                            <p:fltVal val="0"/>
                                          </p:val>
                                        </p:tav>
                                        <p:tav tm="100000">
                                          <p:val>
                                            <p:strVal val="#ppt_w"/>
                                          </p:val>
                                        </p:tav>
                                      </p:tavLst>
                                    </p:anim>
                                    <p:anim calcmode="lin" valueType="num">
                                      <p:cBhvr additive="repl">
                                        <p:cTn id="482" dur="500" fill="hold"/>
                                        <p:tgtEl>
                                          <p:spTgt spid="65"/>
                                        </p:tgtEl>
                                        <p:attrNameLst>
                                          <p:attrName>ppt_h</p:attrName>
                                        </p:attrNameLst>
                                      </p:cBhvr>
                                      <p:tavLst>
                                        <p:tav tm="0">
                                          <p:val>
                                            <p:fltVal val="0"/>
                                          </p:val>
                                        </p:tav>
                                        <p:tav tm="100000">
                                          <p:val>
                                            <p:strVal val="#ppt_h"/>
                                          </p:val>
                                        </p:tav>
                                      </p:tavLst>
                                    </p:anim>
                                    <p:animEffect filter="fade" transition="in">
                                      <p:cBhvr additive="repl">
                                        <p:cTn id="483" dur="500"/>
                                        <p:tgtEl>
                                          <p:spTgt spid="65"/>
                                        </p:tgtEl>
                                      </p:cBhvr>
                                    </p:animEffect>
                                  </p:childTnLst>
                                </p:cTn>
                              </p:par>
                            </p:childTnLst>
                          </p:cTn>
                        </p:par>
                        <p:par>
                          <p:cTn id="484" nodeType="afterEffect" fill="hold">
                            <p:stCondLst>
                              <p:cond delay="1000"/>
                            </p:stCondLst>
                            <p:childTnLst>
                              <p:par>
                                <p:cTn id="485" nodeType="afterEffect" fill="hold" presetClass="entr" presetID="53" presetSubtype="16">
                                  <p:stCondLst>
                                    <p:cond delay="0"/>
                                  </p:stCondLst>
                                  <p:childTnLst>
                                    <p:set>
                                      <p:cBhvr>
                                        <p:cTn id="486" dur="1" fill="hold">
                                          <p:stCondLst>
                                            <p:cond delay="0"/>
                                          </p:stCondLst>
                                        </p:cTn>
                                        <p:tgtEl>
                                          <p:spTgt spid="76"/>
                                        </p:tgtEl>
                                        <p:attrNameLst>
                                          <p:attrName>style.visibility</p:attrName>
                                        </p:attrNameLst>
                                      </p:cBhvr>
                                      <p:to>
                                        <p:strVal val="visible"/>
                                      </p:to>
                                    </p:set>
                                    <p:anim calcmode="lin" valueType="num">
                                      <p:cBhvr additive="repl">
                                        <p:cTn id="487" dur="500" fill="hold"/>
                                        <p:tgtEl>
                                          <p:spTgt spid="76"/>
                                        </p:tgtEl>
                                        <p:attrNameLst>
                                          <p:attrName>ppt_w</p:attrName>
                                        </p:attrNameLst>
                                      </p:cBhvr>
                                      <p:tavLst>
                                        <p:tav tm="0">
                                          <p:val>
                                            <p:fltVal val="0"/>
                                          </p:val>
                                        </p:tav>
                                        <p:tav tm="100000">
                                          <p:val>
                                            <p:strVal val="#ppt_w"/>
                                          </p:val>
                                        </p:tav>
                                      </p:tavLst>
                                    </p:anim>
                                    <p:anim calcmode="lin" valueType="num">
                                      <p:cBhvr additive="repl">
                                        <p:cTn id="488" dur="500" fill="hold"/>
                                        <p:tgtEl>
                                          <p:spTgt spid="76"/>
                                        </p:tgtEl>
                                        <p:attrNameLst>
                                          <p:attrName>ppt_h</p:attrName>
                                        </p:attrNameLst>
                                      </p:cBhvr>
                                      <p:tavLst>
                                        <p:tav tm="0">
                                          <p:val>
                                            <p:fltVal val="0"/>
                                          </p:val>
                                        </p:tav>
                                        <p:tav tm="100000">
                                          <p:val>
                                            <p:strVal val="#ppt_h"/>
                                          </p:val>
                                        </p:tav>
                                      </p:tavLst>
                                    </p:anim>
                                    <p:animEffect filter="fade" transition="in">
                                      <p:cBhvr additive="repl">
                                        <p:cTn id="489" dur="500"/>
                                        <p:tgtEl>
                                          <p:spTgt spid="76"/>
                                        </p:tgtEl>
                                      </p:cBhvr>
                                    </p:animEffect>
                                  </p:childTnLst>
                                </p:cTn>
                              </p:par>
                            </p:childTnLst>
                          </p:cTn>
                        </p:par>
                        <p:par>
                          <p:cTn id="490" nodeType="afterEffect" fill="hold">
                            <p:stCondLst>
                              <p:cond delay="1500"/>
                            </p:stCondLst>
                            <p:childTnLst>
                              <p:par>
                                <p:cTn id="491" nodeType="afterEffect" fill="hold" presetClass="entr" presetID="53" presetSubtype="16">
                                  <p:stCondLst>
                                    <p:cond delay="0"/>
                                  </p:stCondLst>
                                  <p:childTnLst>
                                    <p:set>
                                      <p:cBhvr>
                                        <p:cTn id="492" dur="1" fill="hold">
                                          <p:stCondLst>
                                            <p:cond delay="0"/>
                                          </p:stCondLst>
                                        </p:cTn>
                                        <p:tgtEl>
                                          <p:spTgt spid="77"/>
                                        </p:tgtEl>
                                        <p:attrNameLst>
                                          <p:attrName>style.visibility</p:attrName>
                                        </p:attrNameLst>
                                      </p:cBhvr>
                                      <p:to>
                                        <p:strVal val="visible"/>
                                      </p:to>
                                    </p:set>
                                    <p:anim calcmode="lin" valueType="num">
                                      <p:cBhvr additive="repl">
                                        <p:cTn id="493" dur="500" fill="hold"/>
                                        <p:tgtEl>
                                          <p:spTgt spid="77"/>
                                        </p:tgtEl>
                                        <p:attrNameLst>
                                          <p:attrName>ppt_w</p:attrName>
                                        </p:attrNameLst>
                                      </p:cBhvr>
                                      <p:tavLst>
                                        <p:tav tm="0">
                                          <p:val>
                                            <p:fltVal val="0"/>
                                          </p:val>
                                        </p:tav>
                                        <p:tav tm="100000">
                                          <p:val>
                                            <p:strVal val="#ppt_w"/>
                                          </p:val>
                                        </p:tav>
                                      </p:tavLst>
                                    </p:anim>
                                    <p:anim calcmode="lin" valueType="num">
                                      <p:cBhvr additive="repl">
                                        <p:cTn id="494" dur="500" fill="hold"/>
                                        <p:tgtEl>
                                          <p:spTgt spid="77"/>
                                        </p:tgtEl>
                                        <p:attrNameLst>
                                          <p:attrName>ppt_h</p:attrName>
                                        </p:attrNameLst>
                                      </p:cBhvr>
                                      <p:tavLst>
                                        <p:tav tm="0">
                                          <p:val>
                                            <p:fltVal val="0"/>
                                          </p:val>
                                        </p:tav>
                                        <p:tav tm="100000">
                                          <p:val>
                                            <p:strVal val="#ppt_h"/>
                                          </p:val>
                                        </p:tav>
                                      </p:tavLst>
                                    </p:anim>
                                    <p:animEffect filter="fade" transition="in">
                                      <p:cBhvr additive="repl">
                                        <p:cTn id="495" dur="500"/>
                                        <p:tgtEl>
                                          <p:spTgt spid="77"/>
                                        </p:tgtEl>
                                      </p:cBhvr>
                                    </p:animEffect>
                                  </p:childTnLst>
                                </p:cTn>
                              </p:par>
                            </p:childTnLst>
                          </p:cTn>
                        </p:par>
                      </p:childTnLst>
                    </p:cTn>
                  </p:par>
                  <p:par>
                    <p:cTn id="496" nodeType="clickEffect" fill="hold">
                      <p:stCondLst>
                        <p:cond delay="indefinite"/>
                      </p:stCondLst>
                      <p:childTnLst>
                        <p:par>
                          <p:cTn id="497" nodeType="withEffect" fill="hold">
                            <p:stCondLst>
                              <p:cond delay="0"/>
                            </p:stCondLst>
                            <p:childTnLst>
                              <p:par>
                                <p:cTn id="498" nodeType="clickEffect" fill="hold" presetClass="entr" presetID="53" presetSubtype="16">
                                  <p:stCondLst>
                                    <p:cond delay="0"/>
                                  </p:stCondLst>
                                  <p:childTnLst>
                                    <p:set>
                                      <p:cBhvr>
                                        <p:cTn id="499" dur="1" fill="hold">
                                          <p:stCondLst>
                                            <p:cond delay="0"/>
                                          </p:stCondLst>
                                        </p:cTn>
                                        <p:tgtEl>
                                          <p:spTgt spid="86"/>
                                        </p:tgtEl>
                                        <p:attrNameLst>
                                          <p:attrName>style.visibility</p:attrName>
                                        </p:attrNameLst>
                                      </p:cBhvr>
                                      <p:to>
                                        <p:strVal val="visible"/>
                                      </p:to>
                                    </p:set>
                                    <p:anim calcmode="lin" valueType="num">
                                      <p:cBhvr additive="repl">
                                        <p:cTn id="500" dur="500" fill="hold"/>
                                        <p:tgtEl>
                                          <p:spTgt spid="86"/>
                                        </p:tgtEl>
                                        <p:attrNameLst>
                                          <p:attrName>ppt_w</p:attrName>
                                        </p:attrNameLst>
                                      </p:cBhvr>
                                      <p:tavLst>
                                        <p:tav tm="0">
                                          <p:val>
                                            <p:fltVal val="0"/>
                                          </p:val>
                                        </p:tav>
                                        <p:tav tm="100000">
                                          <p:val>
                                            <p:strVal val="#ppt_w"/>
                                          </p:val>
                                        </p:tav>
                                      </p:tavLst>
                                    </p:anim>
                                    <p:anim calcmode="lin" valueType="num">
                                      <p:cBhvr additive="repl">
                                        <p:cTn id="501" dur="500" fill="hold"/>
                                        <p:tgtEl>
                                          <p:spTgt spid="86"/>
                                        </p:tgtEl>
                                        <p:attrNameLst>
                                          <p:attrName>ppt_h</p:attrName>
                                        </p:attrNameLst>
                                      </p:cBhvr>
                                      <p:tavLst>
                                        <p:tav tm="0">
                                          <p:val>
                                            <p:fltVal val="0"/>
                                          </p:val>
                                        </p:tav>
                                        <p:tav tm="100000">
                                          <p:val>
                                            <p:strVal val="#ppt_h"/>
                                          </p:val>
                                        </p:tav>
                                      </p:tavLst>
                                    </p:anim>
                                    <p:animEffect filter="fade" transition="in">
                                      <p:cBhvr additive="repl">
                                        <p:cTn id="502" dur="500"/>
                                        <p:tgtEl>
                                          <p:spTgt spid="86"/>
                                        </p:tgtEl>
                                      </p:cBhvr>
                                    </p:animEffect>
                                  </p:childTnLst>
                                </p:cTn>
                              </p:par>
                            </p:childTnLst>
                          </p:cTn>
                        </p:par>
                        <p:par>
                          <p:cTn id="503" nodeType="afterEffect" fill="hold">
                            <p:stCondLst>
                              <p:cond delay="500"/>
                            </p:stCondLst>
                            <p:childTnLst>
                              <p:par>
                                <p:cTn id="504" nodeType="afterEffect" fill="hold" presetClass="entr" presetID="53" presetSubtype="16">
                                  <p:stCondLst>
                                    <p:cond delay="0"/>
                                  </p:stCondLst>
                                  <p:childTnLst>
                                    <p:set>
                                      <p:cBhvr>
                                        <p:cTn id="505" dur="1" fill="hold">
                                          <p:stCondLst>
                                            <p:cond delay="0"/>
                                          </p:stCondLst>
                                        </p:cTn>
                                        <p:tgtEl>
                                          <p:spTgt spid="89"/>
                                        </p:tgtEl>
                                        <p:attrNameLst>
                                          <p:attrName>style.visibility</p:attrName>
                                        </p:attrNameLst>
                                      </p:cBhvr>
                                      <p:to>
                                        <p:strVal val="visible"/>
                                      </p:to>
                                    </p:set>
                                    <p:anim calcmode="lin" valueType="num">
                                      <p:cBhvr additive="repl">
                                        <p:cTn id="506" dur="500" fill="hold"/>
                                        <p:tgtEl>
                                          <p:spTgt spid="89"/>
                                        </p:tgtEl>
                                        <p:attrNameLst>
                                          <p:attrName>ppt_w</p:attrName>
                                        </p:attrNameLst>
                                      </p:cBhvr>
                                      <p:tavLst>
                                        <p:tav tm="0">
                                          <p:val>
                                            <p:fltVal val="0"/>
                                          </p:val>
                                        </p:tav>
                                        <p:tav tm="100000">
                                          <p:val>
                                            <p:strVal val="#ppt_w"/>
                                          </p:val>
                                        </p:tav>
                                      </p:tavLst>
                                    </p:anim>
                                    <p:anim calcmode="lin" valueType="num">
                                      <p:cBhvr additive="repl">
                                        <p:cTn id="507" dur="500" fill="hold"/>
                                        <p:tgtEl>
                                          <p:spTgt spid="89"/>
                                        </p:tgtEl>
                                        <p:attrNameLst>
                                          <p:attrName>ppt_h</p:attrName>
                                        </p:attrNameLst>
                                      </p:cBhvr>
                                      <p:tavLst>
                                        <p:tav tm="0">
                                          <p:val>
                                            <p:fltVal val="0"/>
                                          </p:val>
                                        </p:tav>
                                        <p:tav tm="100000">
                                          <p:val>
                                            <p:strVal val="#ppt_h"/>
                                          </p:val>
                                        </p:tav>
                                      </p:tavLst>
                                    </p:anim>
                                    <p:animEffect filter="fade" transition="in">
                                      <p:cBhvr additive="repl">
                                        <p:cTn id="508" dur="500"/>
                                        <p:tgtEl>
                                          <p:spTgt spid="89"/>
                                        </p:tgtEl>
                                      </p:cBhvr>
                                    </p:animEffect>
                                  </p:childTnLst>
                                </p:cTn>
                              </p:par>
                            </p:childTnLst>
                          </p:cTn>
                        </p:par>
                      </p:childTnLst>
                    </p:cTn>
                  </p:par>
                  <p:par>
                    <p:cTn id="509" nodeType="clickEffect" fill="hold">
                      <p:stCondLst>
                        <p:cond delay="indefinite"/>
                      </p:stCondLst>
                      <p:childTnLst>
                        <p:par>
                          <p:cTn id="510" nodeType="withEffect" fill="hold">
                            <p:stCondLst>
                              <p:cond delay="0"/>
                            </p:stCondLst>
                            <p:childTnLst>
                              <p:par>
                                <p:cTn id="511" nodeType="clickEffect" fill="hold" presetClass="entr" presetID="22" presetSubtype="4">
                                  <p:stCondLst>
                                    <p:cond delay="0"/>
                                  </p:stCondLst>
                                  <p:childTnLst>
                                    <p:set>
                                      <p:cBhvr>
                                        <p:cTn id="512" dur="1" fill="hold">
                                          <p:stCondLst>
                                            <p:cond delay="0"/>
                                          </p:stCondLst>
                                        </p:cTn>
                                        <p:tgtEl>
                                          <p:spTgt spid="90"/>
                                        </p:tgtEl>
                                        <p:attrNameLst>
                                          <p:attrName>style.visibility</p:attrName>
                                        </p:attrNameLst>
                                      </p:cBhvr>
                                      <p:to>
                                        <p:strVal val="visible"/>
                                      </p:to>
                                    </p:set>
                                    <p:animEffect filter="wipe(down)" transition="in">
                                      <p:cBhvr additive="repl">
                                        <p:cTn id="513" dur="500"/>
                                        <p:tgtEl>
                                          <p:spTgt spid="90"/>
                                        </p:tgtEl>
                                      </p:cBhvr>
                                    </p:animEffect>
                                  </p:childTnLst>
                                </p:cTn>
                              </p:par>
                            </p:childTnLst>
                          </p:cTn>
                        </p:par>
                      </p:childTnLst>
                    </p:cTn>
                  </p:par>
                  <p:par>
                    <p:cTn id="514" nodeType="clickEffect" fill="hold">
                      <p:stCondLst>
                        <p:cond delay="indefinite"/>
                      </p:stCondLst>
                      <p:childTnLst>
                        <p:par>
                          <p:cTn id="515" nodeType="withEffect" fill="hold">
                            <p:stCondLst>
                              <p:cond delay="0"/>
                            </p:stCondLst>
                            <p:childTnLst>
                              <p:par>
                                <p:cTn id="516" nodeType="clickEffect" fill="hold" presetClass="entr" presetID="53" presetSubtype="16">
                                  <p:stCondLst>
                                    <p:cond delay="0"/>
                                  </p:stCondLst>
                                  <p:childTnLst>
                                    <p:set>
                                      <p:cBhvr>
                                        <p:cTn id="517" dur="1" fill="hold">
                                          <p:stCondLst>
                                            <p:cond delay="0"/>
                                          </p:stCondLst>
                                        </p:cTn>
                                        <p:tgtEl>
                                          <p:spTgt spid="87"/>
                                        </p:tgtEl>
                                        <p:attrNameLst>
                                          <p:attrName>style.visibility</p:attrName>
                                        </p:attrNameLst>
                                      </p:cBhvr>
                                      <p:to>
                                        <p:strVal val="visible"/>
                                      </p:to>
                                    </p:set>
                                    <p:anim calcmode="lin" valueType="num">
                                      <p:cBhvr additive="repl">
                                        <p:cTn id="518" dur="500" fill="hold"/>
                                        <p:tgtEl>
                                          <p:spTgt spid="87"/>
                                        </p:tgtEl>
                                        <p:attrNameLst>
                                          <p:attrName>ppt_w</p:attrName>
                                        </p:attrNameLst>
                                      </p:cBhvr>
                                      <p:tavLst>
                                        <p:tav tm="0">
                                          <p:val>
                                            <p:fltVal val="0"/>
                                          </p:val>
                                        </p:tav>
                                        <p:tav tm="100000">
                                          <p:val>
                                            <p:strVal val="#ppt_w"/>
                                          </p:val>
                                        </p:tav>
                                      </p:tavLst>
                                    </p:anim>
                                    <p:anim calcmode="lin" valueType="num">
                                      <p:cBhvr additive="repl">
                                        <p:cTn id="519" dur="500" fill="hold"/>
                                        <p:tgtEl>
                                          <p:spTgt spid="87"/>
                                        </p:tgtEl>
                                        <p:attrNameLst>
                                          <p:attrName>ppt_h</p:attrName>
                                        </p:attrNameLst>
                                      </p:cBhvr>
                                      <p:tavLst>
                                        <p:tav tm="0">
                                          <p:val>
                                            <p:fltVal val="0"/>
                                          </p:val>
                                        </p:tav>
                                        <p:tav tm="100000">
                                          <p:val>
                                            <p:strVal val="#ppt_h"/>
                                          </p:val>
                                        </p:tav>
                                      </p:tavLst>
                                    </p:anim>
                                    <p:animEffect filter="fade" transition="in">
                                      <p:cBhvr additive="repl">
                                        <p:cTn id="520" dur="500"/>
                                        <p:tgtEl>
                                          <p:spTgt spid="87"/>
                                        </p:tgtEl>
                                      </p:cBhvr>
                                    </p:animEffect>
                                  </p:childTnLst>
                                </p:cTn>
                              </p:par>
                            </p:childTnLst>
                          </p:cTn>
                        </p:par>
                        <p:par>
                          <p:cTn id="521" nodeType="afterEffect" fill="hold">
                            <p:stCondLst>
                              <p:cond delay="500"/>
                            </p:stCondLst>
                            <p:childTnLst>
                              <p:par>
                                <p:cTn id="522" nodeType="afterEffect" fill="hold" presetClass="entr" presetID="1">
                                  <p:stCondLst>
                                    <p:cond delay="0"/>
                                  </p:stCondLst>
                                  <p:childTnLst>
                                    <p:set>
                                      <p:cBhvr>
                                        <p:cTn id="523" dur="1" fill="hold">
                                          <p:stCondLst>
                                            <p:cond delay="0"/>
                                          </p:stCondLst>
                                        </p:cTn>
                                        <p:tgtEl>
                                          <p:spTgt spid="71"/>
                                        </p:tgtEl>
                                        <p:attrNameLst>
                                          <p:attrName>style.visibility</p:attrName>
                                        </p:attrNameLst>
                                      </p:cBhvr>
                                      <p:to>
                                        <p:strVal val="visible"/>
                                      </p:to>
                                    </p:set>
                                  </p:childTnLst>
                                </p:cTn>
                              </p:par>
                            </p:childTnLst>
                          </p:cTn>
                        </p:par>
                        <p:par>
                          <p:cTn id="524" nodeType="afterEffect" fill="hold">
                            <p:stCondLst>
                              <p:cond delay="500"/>
                            </p:stCondLst>
                            <p:childTnLst>
                              <p:par>
                                <p:cTn id="525" nodeType="afterEffect" fill="hold" presetClass="entr" presetID="1">
                                  <p:stCondLst>
                                    <p:cond delay="0"/>
                                  </p:stCondLst>
                                  <p:childTnLst>
                                    <p:set>
                                      <p:cBhvr>
                                        <p:cTn id="526" dur="1" fill="hold">
                                          <p:stCondLst>
                                            <p:cond delay="0"/>
                                          </p:stCondLst>
                                        </p:cTn>
                                        <p:tgtEl>
                                          <p:spTgt spid="73"/>
                                        </p:tgtEl>
                                        <p:attrNameLst>
                                          <p:attrName>style.visibility</p:attrName>
                                        </p:attrNameLst>
                                      </p:cBhvr>
                                      <p:to>
                                        <p:strVal val="visible"/>
                                      </p:to>
                                    </p:set>
                                  </p:childTnLst>
                                </p:cTn>
                              </p:par>
                            </p:childTnLst>
                          </p:cTn>
                        </p:par>
                        <p:par>
                          <p:cTn id="527" nodeType="afterEffect" fill="hold">
                            <p:stCondLst>
                              <p:cond delay="500"/>
                            </p:stCondLst>
                            <p:childTnLst>
                              <p:par>
                                <p:cTn id="528" nodeType="afterEffect" fill="hold" presetClass="entr" presetID="1">
                                  <p:stCondLst>
                                    <p:cond delay="0"/>
                                  </p:stCondLst>
                                  <p:childTnLst>
                                    <p:set>
                                      <p:cBhvr>
                                        <p:cTn id="529" dur="1" fill="hold">
                                          <p:stCondLst>
                                            <p:cond delay="0"/>
                                          </p:stCondLst>
                                        </p:cTn>
                                        <p:tgtEl>
                                          <p:spTgt spid="72"/>
                                        </p:tgtEl>
                                        <p:attrNameLst>
                                          <p:attrName>style.visibility</p:attrName>
                                        </p:attrNameLst>
                                      </p:cBhvr>
                                      <p:to>
                                        <p:strVal val="visible"/>
                                      </p:to>
                                    </p:set>
                                  </p:childTnLst>
                                </p:cTn>
                              </p:par>
                            </p:childTnLst>
                          </p:cTn>
                        </p:par>
                        <p:par>
                          <p:cTn id="530" nodeType="afterEffect" fill="hold">
                            <p:stCondLst>
                              <p:cond delay="500"/>
                            </p:stCondLst>
                            <p:childTnLst>
                              <p:par>
                                <p:cTn id="531" nodeType="afterEffect" fill="hold" presetClass="entr" presetID="1">
                                  <p:stCondLst>
                                    <p:cond delay="0"/>
                                  </p:stCondLst>
                                  <p:childTnLst>
                                    <p:set>
                                      <p:cBhvr>
                                        <p:cTn id="532" dur="1" fill="hold">
                                          <p:stCondLst>
                                            <p:cond delay="0"/>
                                          </p:stCondLst>
                                        </p:cTn>
                                        <p:tgtEl>
                                          <p:spTgt spid="70"/>
                                        </p:tgtEl>
                                        <p:attrNameLst>
                                          <p:attrName>style.visibility</p:attrName>
                                        </p:attrNameLst>
                                      </p:cBhvr>
                                      <p:to>
                                        <p:strVal val="visible"/>
                                      </p:to>
                                    </p:set>
                                  </p:childTnLst>
                                </p:cTn>
                              </p:par>
                            </p:childTnLst>
                          </p:cTn>
                        </p:par>
                      </p:childTnLst>
                    </p:cTn>
                  </p:par>
                  <p:par>
                    <p:cTn id="533" nodeType="clickEffect" fill="hold">
                      <p:stCondLst>
                        <p:cond delay="indefinite"/>
                      </p:stCondLst>
                      <p:childTnLst>
                        <p:par>
                          <p:cTn id="534" nodeType="withEffect" fill="hold">
                            <p:stCondLst>
                              <p:cond delay="0"/>
                            </p:stCondLst>
                            <p:childTnLst>
                              <p:par>
                                <p:cTn id="535" nodeType="clickEffect" fill="hold" presetClass="entr" presetID="1">
                                  <p:stCondLst>
                                    <p:cond delay="0"/>
                                  </p:stCondLst>
                                  <p:childTnLst>
                                    <p:set>
                                      <p:cBhvr>
                                        <p:cTn id="536" dur="1" fill="hold">
                                          <p:stCondLst>
                                            <p:cond delay="0"/>
                                          </p:stCondLst>
                                        </p:cTn>
                                        <p:tgtEl>
                                          <p:spTgt spid="69"/>
                                        </p:tgtEl>
                                        <p:attrNameLst>
                                          <p:attrName>style.visibility</p:attrName>
                                        </p:attrNameLst>
                                      </p:cBhvr>
                                      <p:to>
                                        <p:strVal val="visible"/>
                                      </p:to>
                                    </p:set>
                                  </p:childTnLst>
                                </p:cTn>
                              </p:par>
                            </p:childTnLst>
                          </p:cTn>
                        </p:par>
                        <p:par>
                          <p:cTn id="537" nodeType="afterEffect" fill="hold">
                            <p:stCondLst>
                              <p:cond delay="0"/>
                            </p:stCondLst>
                            <p:childTnLst>
                              <p:par>
                                <p:cTn id="538" nodeType="afterEffect" fill="hold" presetClass="entr" presetID="53" presetSubtype="16">
                                  <p:stCondLst>
                                    <p:cond delay="0"/>
                                  </p:stCondLst>
                                  <p:childTnLst>
                                    <p:set>
                                      <p:cBhvr>
                                        <p:cTn id="539" dur="1" fill="hold">
                                          <p:stCondLst>
                                            <p:cond delay="0"/>
                                          </p:stCondLst>
                                        </p:cTn>
                                        <p:tgtEl>
                                          <p:spTgt spid="88"/>
                                        </p:tgtEl>
                                        <p:attrNameLst>
                                          <p:attrName>style.visibility</p:attrName>
                                        </p:attrNameLst>
                                      </p:cBhvr>
                                      <p:to>
                                        <p:strVal val="visible"/>
                                      </p:to>
                                    </p:set>
                                    <p:anim calcmode="lin" valueType="num">
                                      <p:cBhvr additive="repl">
                                        <p:cTn id="540" dur="500" fill="hold"/>
                                        <p:tgtEl>
                                          <p:spTgt spid="88"/>
                                        </p:tgtEl>
                                        <p:attrNameLst>
                                          <p:attrName>ppt_w</p:attrName>
                                        </p:attrNameLst>
                                      </p:cBhvr>
                                      <p:tavLst>
                                        <p:tav tm="0">
                                          <p:val>
                                            <p:fltVal val="0"/>
                                          </p:val>
                                        </p:tav>
                                        <p:tav tm="100000">
                                          <p:val>
                                            <p:strVal val="#ppt_w"/>
                                          </p:val>
                                        </p:tav>
                                      </p:tavLst>
                                    </p:anim>
                                    <p:anim calcmode="lin" valueType="num">
                                      <p:cBhvr additive="repl">
                                        <p:cTn id="541" dur="500" fill="hold"/>
                                        <p:tgtEl>
                                          <p:spTgt spid="88"/>
                                        </p:tgtEl>
                                        <p:attrNameLst>
                                          <p:attrName>ppt_h</p:attrName>
                                        </p:attrNameLst>
                                      </p:cBhvr>
                                      <p:tavLst>
                                        <p:tav tm="0">
                                          <p:val>
                                            <p:fltVal val="0"/>
                                          </p:val>
                                        </p:tav>
                                        <p:tav tm="100000">
                                          <p:val>
                                            <p:strVal val="#ppt_h"/>
                                          </p:val>
                                        </p:tav>
                                      </p:tavLst>
                                    </p:anim>
                                    <p:animEffect filter="fade" transition="in">
                                      <p:cBhvr additive="repl">
                                        <p:cTn id="542" dur="5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1"/>
          <p:cNvSpPr/>
          <p:nvPr/>
        </p:nvSpPr>
        <p:spPr>
          <a:xfrm>
            <a:off x="0" y="981000"/>
            <a:ext cx="9144000" cy="74091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Le verbe latin </a:t>
            </a:r>
            <a:r>
              <a:rPr b="1" i="1" lang="fr-FR" sz="2000" strike="noStrike" u="none">
                <a:solidFill>
                  <a:srgbClr val="ffffff"/>
                </a:solidFill>
                <a:effectLst/>
                <a:uFillTx/>
                <a:latin typeface="Calibri"/>
                <a:ea typeface="Calibri"/>
              </a:rPr>
              <a:t>volvere</a:t>
            </a:r>
            <a:r>
              <a:rPr b="0" lang="fr-FR" sz="2000" strike="noStrike" u="none">
                <a:solidFill>
                  <a:srgbClr val="ffff00"/>
                </a:solidFill>
                <a:effectLst/>
                <a:uFillTx/>
                <a:latin typeface="Calibri"/>
                <a:ea typeface="Calibri"/>
              </a:rPr>
              <a:t> (dans sa forme active faire rouler, faire avancer ; dans sa forme neutre, tourner) a engendré </a:t>
            </a:r>
            <a:r>
              <a:rPr b="0" i="1" lang="fr-FR" sz="2000" strike="noStrike" u="none">
                <a:solidFill>
                  <a:srgbClr val="ffff00"/>
                </a:solidFill>
                <a:effectLst/>
                <a:uFillTx/>
                <a:latin typeface="Calibri"/>
                <a:ea typeface="Calibri"/>
              </a:rPr>
              <a:t>voloper</a:t>
            </a:r>
            <a:r>
              <a:rPr b="0" lang="fr-FR" sz="2000" strike="noStrike" u="none">
                <a:solidFill>
                  <a:srgbClr val="ffff00"/>
                </a:solidFill>
                <a:effectLst/>
                <a:uFillTx/>
                <a:latin typeface="Calibri"/>
                <a:ea typeface="Calibri"/>
              </a:rPr>
              <a:t> en vieux français. Dès le xii</a:t>
            </a:r>
            <a:r>
              <a:rPr b="0" lang="fr-FR" sz="2000" strike="noStrike" u="none" baseline="30000">
                <a:solidFill>
                  <a:srgbClr val="ffff00"/>
                </a:solidFill>
                <a:effectLst/>
                <a:uFillTx/>
                <a:latin typeface="Calibri"/>
                <a:ea typeface="Calibri"/>
              </a:rPr>
              <a:t>e</a:t>
            </a:r>
            <a:r>
              <a:rPr b="0" lang="fr-FR" sz="2000" strike="noStrike" u="none">
                <a:solidFill>
                  <a:srgbClr val="ffff00"/>
                </a:solidFill>
                <a:effectLst/>
                <a:uFillTx/>
                <a:latin typeface="Calibri"/>
                <a:ea typeface="Calibri"/>
              </a:rPr>
              <a:t> siècle, on oppose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déjà envelopper (enrouler) et développer (dérouler). Au xv</a:t>
            </a:r>
            <a:r>
              <a:rPr b="0" lang="fr-FR" sz="2000" strike="noStrike" u="none" baseline="30000">
                <a:solidFill>
                  <a:srgbClr val="ffff00"/>
                </a:solidFill>
                <a:effectLst/>
                <a:uFillTx/>
                <a:latin typeface="Calibri"/>
                <a:ea typeface="Calibri"/>
              </a:rPr>
              <a:t>e</a:t>
            </a:r>
            <a:r>
              <a:rPr b="0" lang="fr-FR" sz="2000" strike="noStrike" u="none">
                <a:solidFill>
                  <a:srgbClr val="ffff00"/>
                </a:solidFill>
                <a:effectLst/>
                <a:uFillTx/>
                <a:latin typeface="Calibri"/>
                <a:ea typeface="Calibri"/>
              </a:rPr>
              <a:t> siècle le substantif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développement » apparaît, utilisé indifféremment pour évoquer le bourgeon ou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la fleur qui s'ouvrent, ou l'animal qui naît et grandit.</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Le développement fait intervenir l'ensemble des mécanismes qui, à partir d'unités élémentaires, édifient au sein de l'individu des ensembles de plus en plus complexes agissant en relation les uns avec les autres. Les interactions ainsi que la dépendance étroite de ces mécanismes tant à l'égard du programme génétique qu'à l'égard de l'environnement rendent compte de cette complexité.</a:t>
            </a:r>
            <a:endParaRPr b="0" lang="en-US" sz="2000" strike="noStrike" u="none">
              <a:solidFill>
                <a:srgbClr val="ffff00"/>
              </a:solidFill>
              <a:effectLst/>
              <a:uFillTx/>
              <a:latin typeface="Times New Roman"/>
            </a:endParaRPr>
          </a:p>
        </p:txBody>
      </p:sp>
      <p:sp>
        <p:nvSpPr>
          <p:cNvPr id="109" name="ZoneTexte 2"/>
          <p:cNvSpPr/>
          <p:nvPr/>
        </p:nvSpPr>
        <p:spPr>
          <a:xfrm>
            <a:off x="2627280" y="333360"/>
            <a:ext cx="31687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DEVELOPPEMENT</a:t>
            </a:r>
            <a:endParaRPr b="0" lang="en-US" sz="2400" strike="noStrike" u="none">
              <a:solidFill>
                <a:srgbClr val="ffff00"/>
              </a:solidFill>
              <a:effectLst/>
              <a:uFillTx/>
              <a:latin typeface="Times New Roman"/>
            </a:endParaRPr>
          </a:p>
        </p:txBody>
      </p:sp>
    </p:spTree>
  </p:cSld>
  <p:transition spd="med">
    <p:zoom dir="out"/>
  </p:transition>
  <p:timing>
    <p:tnLst>
      <p:par>
        <p:cTn id="543" dur="indefinite" restart="never" nodeType="tmRoot">
          <p:childTnLst>
            <p:seq>
              <p:cTn id="544" dur="indefinite" nodeType="mainSeq">
                <p:childTnLst>
                  <p:par>
                    <p:cTn id="545" nodeType="clickEffect" fill="hold">
                      <p:stCondLst>
                        <p:cond delay="indefinite"/>
                      </p:stCondLst>
                      <p:childTnLst>
                        <p:par>
                          <p:cTn id="546" nodeType="withEffect" fill="hold">
                            <p:stCondLst>
                              <p:cond delay="0"/>
                            </p:stCondLst>
                            <p:childTnLst>
                              <p:par>
                                <p:cTn id="547" nodeType="clickEffect" fill="hold" presetClass="entr" presetID="22" presetSubtype="8" repeatCount="1000">
                                  <p:stCondLst>
                                    <p:cond delay="0"/>
                                  </p:stCondLst>
                                  <p:childTnLst>
                                    <p:set>
                                      <p:cBhvr>
                                        <p:cTn id="548" dur="1" fill="hold">
                                          <p:stCondLst>
                                            <p:cond delay="0"/>
                                          </p:stCondLst>
                                        </p:cTn>
                                        <p:tgtEl>
                                          <p:spTgt spid="108">
                                            <p:txEl>
                                              <p:pRg st="5" end="5"/>
                                            </p:txEl>
                                          </p:spTgt>
                                        </p:tgtEl>
                                        <p:attrNameLst>
                                          <p:attrName>style.visibility</p:attrName>
                                        </p:attrNameLst>
                                      </p:cBhvr>
                                      <p:to>
                                        <p:strVal val="visible"/>
                                      </p:to>
                                    </p:set>
                                    <p:animEffect filter="wipe(left)" transition="in">
                                      <p:cBhvr additive="repl">
                                        <p:cTn id="549" dur="2500"/>
                                        <p:tgtEl>
                                          <p:spTgt spid="10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ZoneTexte 1"/>
          <p:cNvSpPr/>
          <p:nvPr/>
        </p:nvSpPr>
        <p:spPr>
          <a:xfrm>
            <a:off x="-1156320" y="3429000"/>
            <a:ext cx="11611080" cy="3569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Croissance : </a:t>
            </a:r>
            <a:r>
              <a:rPr b="0" lang="fr-FR" sz="2400" strike="noStrike" u="none">
                <a:solidFill>
                  <a:srgbClr val="ffff00"/>
                </a:solidFill>
                <a:effectLst/>
                <a:uFillTx/>
                <a:latin typeface="Calibri"/>
                <a:ea typeface="Calibri"/>
              </a:rPr>
              <a:t>Augmentation des dimensions corporelles : taille, poids,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masse grasse, masse maigre, masse musculaire, dimensions des organes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(cerveau, cœur, poumons…)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Maturation : </a:t>
            </a:r>
            <a:r>
              <a:rPr b="0" lang="fr-FR" sz="2400" strike="noStrike" u="none">
                <a:solidFill>
                  <a:srgbClr val="ffff00"/>
                </a:solidFill>
                <a:effectLst/>
                <a:uFillTx/>
                <a:latin typeface="Calibri"/>
                <a:ea typeface="Calibri"/>
              </a:rPr>
              <a:t>Ensemble des changements qui se manifestent depuis la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conception et ensuite à travers l’enfance, la puberté et l’adolescence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pour atteindre l’âge adulte ou</a:t>
            </a:r>
            <a:r>
              <a:rPr b="1" lang="fr-FR" sz="2800" strike="noStrike" u="none">
                <a:solidFill>
                  <a:srgbClr val="ffffff"/>
                </a:solidFill>
                <a:effectLst/>
                <a:uFillTx/>
                <a:latin typeface="Calibri"/>
                <a:ea typeface="Calibri"/>
              </a:rPr>
              <a:t> maturité. </a:t>
            </a:r>
            <a:endParaRPr b="0" lang="en-US" sz="2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 , </a:t>
            </a:r>
            <a:endParaRPr b="0" lang="en-US" sz="2400" strike="noStrike" u="none">
              <a:solidFill>
                <a:srgbClr val="ffff00"/>
              </a:solidFill>
              <a:effectLst/>
              <a:uFillTx/>
              <a:latin typeface="Times New Roman"/>
            </a:endParaRPr>
          </a:p>
        </p:txBody>
      </p:sp>
      <p:sp>
        <p:nvSpPr>
          <p:cNvPr id="111" name="ZoneTexte 1"/>
          <p:cNvSpPr/>
          <p:nvPr/>
        </p:nvSpPr>
        <p:spPr>
          <a:xfrm>
            <a:off x="1307520" y="317520"/>
            <a:ext cx="59403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Quelques définitions préalables…</a:t>
            </a:r>
            <a:endParaRPr b="0" lang="en-US" sz="2400" strike="noStrike" u="none">
              <a:solidFill>
                <a:srgbClr val="ffff00"/>
              </a:solidFill>
              <a:effectLst/>
              <a:uFillTx/>
              <a:latin typeface="Times New Roman"/>
            </a:endParaRPr>
          </a:p>
        </p:txBody>
      </p:sp>
      <p:sp>
        <p:nvSpPr>
          <p:cNvPr id="112" name="ZoneTexte 2"/>
          <p:cNvSpPr/>
          <p:nvPr/>
        </p:nvSpPr>
        <p:spPr>
          <a:xfrm>
            <a:off x="2748960" y="1127160"/>
            <a:ext cx="33368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Développement</a:t>
            </a:r>
            <a:endParaRPr b="0" lang="en-US" sz="2800" strike="noStrike" u="none">
              <a:solidFill>
                <a:srgbClr val="ffff00"/>
              </a:solidFill>
              <a:effectLst/>
              <a:uFillTx/>
              <a:latin typeface="Times New Roman"/>
            </a:endParaRPr>
          </a:p>
        </p:txBody>
      </p:sp>
      <p:sp>
        <p:nvSpPr>
          <p:cNvPr id="113" name="Connecteur droit 4"/>
          <p:cNvSpPr/>
          <p:nvPr/>
        </p:nvSpPr>
        <p:spPr>
          <a:xfrm flipH="1">
            <a:off x="2411280" y="1649520"/>
            <a:ext cx="1440000" cy="77148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4" name="ZoneTexte 5"/>
          <p:cNvSpPr/>
          <p:nvPr/>
        </p:nvSpPr>
        <p:spPr>
          <a:xfrm>
            <a:off x="1387080" y="2414520"/>
            <a:ext cx="23486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Croissance</a:t>
            </a:r>
            <a:endParaRPr b="0" lang="en-US" sz="2800" strike="noStrike" u="none">
              <a:solidFill>
                <a:srgbClr val="ffff00"/>
              </a:solidFill>
              <a:effectLst/>
              <a:uFillTx/>
              <a:latin typeface="Times New Roman"/>
            </a:endParaRPr>
          </a:p>
        </p:txBody>
      </p:sp>
      <p:sp>
        <p:nvSpPr>
          <p:cNvPr id="115" name="Connecteur droit 7"/>
          <p:cNvSpPr/>
          <p:nvPr/>
        </p:nvSpPr>
        <p:spPr>
          <a:xfrm>
            <a:off x="4788000" y="1649520"/>
            <a:ext cx="1368360" cy="76500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16" name="ZoneTexte 8"/>
          <p:cNvSpPr/>
          <p:nvPr/>
        </p:nvSpPr>
        <p:spPr>
          <a:xfrm>
            <a:off x="4962600" y="2421000"/>
            <a:ext cx="23990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Maturation</a:t>
            </a:r>
            <a:endParaRPr b="0" lang="en-US" sz="2800" strike="noStrike" u="none">
              <a:solidFill>
                <a:srgbClr val="ffff00"/>
              </a:solidFill>
              <a:effectLst/>
              <a:uFillTx/>
              <a:latin typeface="Times New Roman"/>
            </a:endParaRPr>
          </a:p>
        </p:txBody>
      </p:sp>
      <p:sp>
        <p:nvSpPr>
          <p:cNvPr id="117" name="Connecteur droit 10"/>
          <p:cNvSpPr/>
          <p:nvPr/>
        </p:nvSpPr>
        <p:spPr>
          <a:xfrm>
            <a:off x="3444840" y="2676600"/>
            <a:ext cx="1774800" cy="6120"/>
          </a:xfrm>
          <a:prstGeom prst="line">
            <a:avLst/>
          </a:prstGeom>
          <a:ln w="38160">
            <a:solidFill>
              <a:srgbClr val="ffff00"/>
            </a:solidFill>
            <a:miter/>
            <a:headEnd len="med" type="triangle" w="med"/>
            <a:tailEnd len="med" type="triangle" w="med"/>
          </a:ln>
        </p:spPr>
        <p:style>
          <a:lnRef idx="0"/>
          <a:fillRef idx="0"/>
          <a:effectRef idx="0"/>
          <a:fontRef idx="minor"/>
        </p:style>
        <p:txBody>
          <a:bodyPr lIns="90000" rIns="90000" tIns="-40680" bIns="-40680" anchor="t">
            <a:noAutofit/>
          </a:bodyPr>
          <a:p>
            <a:endParaRPr b="0" lang="en-US" sz="2400" strike="noStrike" u="none">
              <a:solidFill>
                <a:srgbClr val="ffff00"/>
              </a:solidFill>
              <a:effectLst/>
              <a:uFillTx/>
              <a:latin typeface="Times New Roman"/>
            </a:endParaRPr>
          </a:p>
        </p:txBody>
      </p:sp>
    </p:spTree>
  </p:cSld>
  <p:transition spd="med">
    <p:zoom dir="out"/>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ZoneTexte 1"/>
          <p:cNvSpPr/>
          <p:nvPr/>
        </p:nvSpPr>
        <p:spPr>
          <a:xfrm>
            <a:off x="2751840" y="907920"/>
            <a:ext cx="2860920" cy="520920"/>
          </a:xfrm>
          <a:prstGeom prst="rect">
            <a:avLst/>
          </a:prstGeom>
          <a:noFill/>
          <a:ln w="1908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MATURATION</a:t>
            </a:r>
            <a:endParaRPr b="0" lang="en-US" sz="2800" strike="noStrike" u="none">
              <a:solidFill>
                <a:srgbClr val="ffff00"/>
              </a:solidFill>
              <a:effectLst/>
              <a:uFillTx/>
              <a:latin typeface="Times New Roman"/>
            </a:endParaRPr>
          </a:p>
        </p:txBody>
      </p:sp>
      <p:sp>
        <p:nvSpPr>
          <p:cNvPr id="119" name="ZoneTexte 2"/>
          <p:cNvSpPr/>
          <p:nvPr/>
        </p:nvSpPr>
        <p:spPr>
          <a:xfrm>
            <a:off x="217440" y="1989000"/>
            <a:ext cx="8910720" cy="5214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 maturation s’étudie selon deux approches : le </a:t>
            </a:r>
            <a:r>
              <a:rPr b="1" i="1" lang="fr-FR" sz="2400" strike="noStrike" u="none">
                <a:solidFill>
                  <a:srgbClr val="ffffff"/>
                </a:solidFill>
                <a:effectLst/>
                <a:uFillTx/>
                <a:latin typeface="Calibri"/>
                <a:ea typeface="Calibri"/>
              </a:rPr>
              <a:t>TIMING</a:t>
            </a:r>
            <a:r>
              <a:rPr b="1" lang="fr-FR" sz="2400" strike="noStrike" u="none">
                <a:solidFill>
                  <a:srgbClr val="ffffff"/>
                </a:solidFill>
                <a:effectLst/>
                <a:uFillTx/>
                <a:latin typeface="Calibri"/>
                <a:ea typeface="Calibri"/>
              </a:rPr>
              <a:t> </a:t>
            </a:r>
            <a:r>
              <a:rPr b="0" lang="fr-FR" sz="2400" strike="noStrike" u="none">
                <a:solidFill>
                  <a:srgbClr val="ffff00"/>
                </a:solidFill>
                <a:effectLst/>
                <a:uFillTx/>
                <a:latin typeface="Calibri"/>
                <a:ea typeface="Calibri"/>
              </a:rPr>
              <a:t>et le </a:t>
            </a:r>
            <a:r>
              <a:rPr b="1" i="1" lang="fr-FR" sz="2400" strike="noStrike" u="none">
                <a:solidFill>
                  <a:srgbClr val="ffffff"/>
                </a:solidFill>
                <a:effectLst/>
                <a:uFillTx/>
                <a:latin typeface="Calibri"/>
                <a:ea typeface="Calibri"/>
              </a:rPr>
              <a:t>TEMPO</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Le timing :</a:t>
            </a:r>
            <a:r>
              <a:rPr b="0" lang="fr-FR" sz="2400" strike="noStrike" u="none">
                <a:solidFill>
                  <a:srgbClr val="ffffff"/>
                </a:solidFill>
                <a:effectLst/>
                <a:uFillTx/>
                <a:latin typeface="Calibri"/>
                <a:ea typeface="Calibri"/>
              </a:rPr>
              <a:t> </a:t>
            </a:r>
            <a:r>
              <a:rPr b="0" lang="fr-FR" sz="2400" strike="noStrike" u="none">
                <a:solidFill>
                  <a:srgbClr val="ffff00"/>
                </a:solidFill>
                <a:effectLst/>
                <a:uFillTx/>
                <a:latin typeface="Calibri"/>
                <a:ea typeface="Calibri"/>
              </a:rPr>
              <a:t>fait référence à l’apparition de caractéristiques liées à la</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maturation. Il permet de marquer un évènement par rapport à l’évolution générale, il est donc utilisé pour établir des normes.  Ex. : date de l’apparition des poils pubiens, de l’atteinte du pic de croissance…</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Le tempo : </a:t>
            </a:r>
            <a:r>
              <a:rPr b="0" lang="fr-FR" sz="2400" strike="noStrike" u="none">
                <a:solidFill>
                  <a:srgbClr val="ffff00"/>
                </a:solidFill>
                <a:effectLst/>
                <a:uFillTx/>
                <a:latin typeface="Calibri"/>
                <a:ea typeface="Calibri"/>
              </a:rPr>
              <a:t>correspond à la vitesse de progression de la maturation. Il s’inscrit dans les études longitudinales. Ex : la vitesse d’augmentation de la taille au cours de l’enfance, de la puberté et de l’adolescence.</a:t>
            </a:r>
            <a:endParaRPr b="0" lang="en-US" sz="2400" strike="noStrike" u="none">
              <a:solidFill>
                <a:srgbClr val="ffff00"/>
              </a:solidFill>
              <a:effectLst/>
              <a:uFillTx/>
              <a:latin typeface="Times New Roman"/>
            </a:endParaRPr>
          </a:p>
        </p:txBody>
      </p:sp>
    </p:spTree>
  </p:cSld>
  <p:transition spd="med">
    <p:zoom dir="out"/>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p:nvPr>
        </p:nvSpPr>
        <p:spPr>
          <a:xfrm>
            <a:off x="2362320" y="1600200"/>
            <a:ext cx="4952880" cy="533520"/>
          </a:xfrm>
          <a:prstGeom prst="rect">
            <a:avLst/>
          </a:prstGeom>
          <a:noFill/>
          <a:ln w="0">
            <a:noFill/>
          </a:ln>
        </p:spPr>
        <p:txBody>
          <a:bodyPr lIns="91440" rIns="91440" tIns="45720" bIns="45720" anchor="t">
            <a:normAutofit/>
          </a:bodyPr>
          <a:p>
            <a:pPr marL="343080" indent="-343080">
              <a:lnSpc>
                <a:spcPct val="10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800" strike="noStrike" u="none">
                <a:solidFill>
                  <a:srgbClr val="ffffff"/>
                </a:solidFill>
                <a:effectLst/>
                <a:uFillTx/>
                <a:latin typeface="Bookman Old Style"/>
              </a:rPr>
              <a:t>Croissance et maturation</a:t>
            </a:r>
            <a:endParaRPr b="0" lang="en-US" sz="2800" strike="noStrike" u="none">
              <a:solidFill>
                <a:srgbClr val="ffff00"/>
              </a:solidFill>
              <a:effectLst/>
              <a:uFillTx/>
              <a:latin typeface="Times New Roman"/>
            </a:endParaRPr>
          </a:p>
        </p:txBody>
      </p:sp>
      <p:sp>
        <p:nvSpPr>
          <p:cNvPr id="121" name="Text Box 4"/>
          <p:cNvSpPr/>
          <p:nvPr/>
        </p:nvSpPr>
        <p:spPr>
          <a:xfrm>
            <a:off x="368640" y="3200400"/>
            <a:ext cx="8710200" cy="7671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La croissance et la maturation des filles sont en avance de 2 à 2.5 ans </a:t>
            </a:r>
            <a:endParaRPr b="0" lang="en-US" sz="2000" strike="noStrike" u="none">
              <a:solidFill>
                <a:srgbClr val="ffff00"/>
              </a:solidFill>
              <a:effectLst/>
              <a:uFillTx/>
              <a:latin typeface="Times New Roman"/>
            </a:endParaRPr>
          </a:p>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sur celles des garçons</a:t>
            </a:r>
            <a:r>
              <a:rPr b="0" lang="es-CL"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
        <p:nvSpPr>
          <p:cNvPr id="122" name="Text Box 5"/>
          <p:cNvSpPr/>
          <p:nvPr/>
        </p:nvSpPr>
        <p:spPr>
          <a:xfrm>
            <a:off x="370800" y="4267080"/>
            <a:ext cx="8002080" cy="1043640"/>
          </a:xfrm>
          <a:prstGeom prst="rect">
            <a:avLst/>
          </a:prstGeom>
          <a:noFill/>
          <a:ln w="0">
            <a:noFill/>
          </a:ln>
        </p:spPr>
        <p:style>
          <a:lnRef idx="0"/>
          <a:fillRef idx="0"/>
          <a:effectRef idx="0"/>
          <a:fontRef idx="minor"/>
        </p:style>
        <p:txBody>
          <a:bodyPr wrap="none" lIns="90000" rIns="90000" tIns="46800" bIns="46800" anchor="t">
            <a:spAutoFit/>
          </a:bodyPr>
          <a:p>
            <a:pPr>
              <a:lnSpc>
                <a:spcPct val="9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La croissance comme les performances motrices devraient être </a:t>
            </a:r>
            <a:endParaRPr b="0" lang="en-US" sz="2000" strike="noStrike" u="none">
              <a:solidFill>
                <a:srgbClr val="ffff00"/>
              </a:solidFill>
              <a:effectLst/>
              <a:uFillTx/>
              <a:latin typeface="Times New Roman"/>
            </a:endParaRPr>
          </a:p>
          <a:p>
            <a:pPr>
              <a:lnSpc>
                <a:spcPct val="9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ramenées à l’âge biologique et non aux catégories …benjamins, </a:t>
            </a:r>
            <a:endParaRPr b="0" lang="en-US" sz="2000" strike="noStrike" u="none">
              <a:solidFill>
                <a:srgbClr val="ffff00"/>
              </a:solidFill>
              <a:effectLst/>
              <a:uFillTx/>
              <a:latin typeface="Times New Roman"/>
            </a:endParaRPr>
          </a:p>
          <a:p>
            <a:pPr>
              <a:lnSpc>
                <a:spcPct val="9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minimes, cadets…</a:t>
            </a:r>
            <a:endParaRPr b="0" lang="en-US" sz="2000" strike="noStrike" u="none">
              <a:solidFill>
                <a:srgbClr val="ffff00"/>
              </a:solidFill>
              <a:effectLst/>
              <a:uFillTx/>
              <a:latin typeface="Times New Roman"/>
            </a:endParaRPr>
          </a:p>
        </p:txBody>
      </p:sp>
    </p:spTree>
  </p:cSld>
  <p:transition spd="med">
    <p:zoom dir="out"/>
  </p:transition>
  <p:timing>
    <p:tnLst>
      <p:par>
        <p:cTn id="550" dur="indefinite" restart="never" nodeType="tmRoot">
          <p:childTnLst>
            <p:seq>
              <p:cTn id="551" dur="indefinite" nodeType="mainSeq">
                <p:childTnLst>
                  <p:par>
                    <p:cTn id="552" nodeType="clickEffect" fill="hold">
                      <p:stCondLst>
                        <p:cond delay="0"/>
                      </p:stCondLst>
                      <p:childTnLst>
                        <p:par>
                          <p:cTn id="553" nodeType="withEffect" fill="hold">
                            <p:stCondLst>
                              <p:cond delay="0"/>
                            </p:stCondLst>
                            <p:childTnLst>
                              <p:par>
                                <p:cTn id="554" nodeType="afterEffect" fill="hold" presetClass="entr" presetID="9">
                                  <p:stCondLst>
                                    <p:cond delay="0"/>
                                  </p:stCondLst>
                                  <p:childTnLst>
                                    <p:set>
                                      <p:cBhvr>
                                        <p:cTn id="555" dur="1" fill="hold">
                                          <p:stCondLst>
                                            <p:cond delay="0"/>
                                          </p:stCondLst>
                                        </p:cTn>
                                        <p:tgtEl>
                                          <p:spTgt spid="120">
                                            <p:txEl>
                                              <p:pRg st="0" end="0"/>
                                            </p:txEl>
                                          </p:spTgt>
                                        </p:tgtEl>
                                        <p:attrNameLst>
                                          <p:attrName>style.visibility</p:attrName>
                                        </p:attrNameLst>
                                      </p:cBhvr>
                                      <p:to>
                                        <p:strVal val="visible"/>
                                      </p:to>
                                    </p:set>
                                    <p:animEffect filter="dissolve" transition="in">
                                      <p:cBhvr additive="repl">
                                        <p:cTn id="556" dur="500"/>
                                        <p:tgtEl>
                                          <p:spTgt spid="120">
                                            <p:txEl>
                                              <p:pRg st="0" end="0"/>
                                            </p:txEl>
                                          </p:spTgt>
                                        </p:tgtEl>
                                      </p:cBhvr>
                                    </p:animEffect>
                                  </p:childTnLst>
                                </p:cTn>
                              </p:par>
                            </p:childTnLst>
                          </p:cTn>
                        </p:par>
                      </p:childTnLst>
                    </p:cTn>
                  </p:par>
                  <p:par>
                    <p:cTn id="557" nodeType="clickEffect" fill="hold">
                      <p:stCondLst>
                        <p:cond delay="indefinite"/>
                      </p:stCondLst>
                      <p:childTnLst>
                        <p:par>
                          <p:cTn id="558" nodeType="withEffect" fill="hold">
                            <p:stCondLst>
                              <p:cond delay="0"/>
                            </p:stCondLst>
                            <p:childTnLst>
                              <p:par>
                                <p:cTn id="559" nodeType="clickEffect" fill="hold" presetClass="entr" presetID="16" presetSubtype="37">
                                  <p:stCondLst>
                                    <p:cond delay="0"/>
                                  </p:stCondLst>
                                  <p:childTnLst>
                                    <p:set>
                                      <p:cBhvr>
                                        <p:cTn id="560" dur="1" fill="hold">
                                          <p:stCondLst>
                                            <p:cond delay="0"/>
                                          </p:stCondLst>
                                        </p:cTn>
                                        <p:tgtEl>
                                          <p:spTgt spid="121"/>
                                        </p:tgtEl>
                                        <p:attrNameLst>
                                          <p:attrName>style.visibility</p:attrName>
                                        </p:attrNameLst>
                                      </p:cBhvr>
                                      <p:to>
                                        <p:strVal val="visible"/>
                                      </p:to>
                                    </p:set>
                                    <p:animEffect filter="barn(outVertical)" transition="in">
                                      <p:cBhvr additive="repl">
                                        <p:cTn id="561" dur="500"/>
                                        <p:tgtEl>
                                          <p:spTgt spid="121"/>
                                        </p:tgtEl>
                                      </p:cBhvr>
                                    </p:animEffect>
                                  </p:childTnLst>
                                </p:cTn>
                              </p:par>
                            </p:childTnLst>
                          </p:cTn>
                        </p:par>
                      </p:childTnLst>
                    </p:cTn>
                  </p:par>
                  <p:par>
                    <p:cTn id="562" nodeType="clickEffect" fill="hold">
                      <p:stCondLst>
                        <p:cond delay="indefinite"/>
                      </p:stCondLst>
                      <p:childTnLst>
                        <p:par>
                          <p:cTn id="563" nodeType="withEffect" fill="hold">
                            <p:stCondLst>
                              <p:cond delay="0"/>
                            </p:stCondLst>
                            <p:childTnLst>
                              <p:par>
                                <p:cTn id="564" nodeType="clickEffect" fill="hold" presetClass="entr" presetID="16" presetSubtype="42">
                                  <p:stCondLst>
                                    <p:cond delay="0"/>
                                  </p:stCondLst>
                                  <p:childTnLst>
                                    <p:set>
                                      <p:cBhvr>
                                        <p:cTn id="565" dur="1" fill="hold">
                                          <p:stCondLst>
                                            <p:cond delay="0"/>
                                          </p:stCondLst>
                                        </p:cTn>
                                        <p:tgtEl>
                                          <p:spTgt spid="122"/>
                                        </p:tgtEl>
                                        <p:attrNameLst>
                                          <p:attrName>style.visibility</p:attrName>
                                        </p:attrNameLst>
                                      </p:cBhvr>
                                      <p:to>
                                        <p:strVal val="visible"/>
                                      </p:to>
                                    </p:set>
                                    <p:animEffect filter="barn(outHorizontal)" transition="in">
                                      <p:cBhvr additive="repl">
                                        <p:cTn id="566" dur="5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2" descr="DSC00028"/>
          <p:cNvPicPr/>
          <p:nvPr/>
        </p:nvPicPr>
        <p:blipFill>
          <a:blip r:embed="rId1"/>
          <a:srcRect l="0" t="0" r="0" b="7238"/>
          <a:stretch/>
        </p:blipFill>
        <p:spPr>
          <a:xfrm>
            <a:off x="952560" y="541440"/>
            <a:ext cx="3022560" cy="4944960"/>
          </a:xfrm>
          <a:prstGeom prst="rect">
            <a:avLst/>
          </a:prstGeom>
          <a:noFill/>
          <a:ln w="0">
            <a:noFill/>
          </a:ln>
        </p:spPr>
      </p:pic>
      <p:pic>
        <p:nvPicPr>
          <p:cNvPr id="124" name="Picture 3" descr="DSC00029"/>
          <p:cNvPicPr/>
          <p:nvPr/>
        </p:nvPicPr>
        <p:blipFill>
          <a:blip r:embed="rId2"/>
          <a:srcRect l="3524" t="1194" r="6641" b="2390"/>
          <a:stretch/>
        </p:blipFill>
        <p:spPr>
          <a:xfrm>
            <a:off x="4470480" y="560520"/>
            <a:ext cx="3278160" cy="4925880"/>
          </a:xfrm>
          <a:prstGeom prst="rect">
            <a:avLst/>
          </a:prstGeom>
          <a:noFill/>
          <a:ln w="0">
            <a:noFill/>
          </a:ln>
        </p:spPr>
      </p:pic>
      <p:sp>
        <p:nvSpPr>
          <p:cNvPr id="125" name="Text Box 4"/>
          <p:cNvSpPr/>
          <p:nvPr/>
        </p:nvSpPr>
        <p:spPr>
          <a:xfrm>
            <a:off x="752040" y="47520"/>
            <a:ext cx="83278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Radiographies de la main de deux enfants âgés de 11 ans et 9 mois</a:t>
            </a:r>
            <a:endParaRPr b="0" lang="en-US" sz="2000" strike="noStrike" u="none">
              <a:solidFill>
                <a:srgbClr val="ffff00"/>
              </a:solidFill>
              <a:effectLst/>
              <a:uFillTx/>
              <a:latin typeface="Times New Roman"/>
            </a:endParaRPr>
          </a:p>
        </p:txBody>
      </p:sp>
      <p:sp>
        <p:nvSpPr>
          <p:cNvPr id="126" name="Text Box 5"/>
          <p:cNvSpPr/>
          <p:nvPr/>
        </p:nvSpPr>
        <p:spPr>
          <a:xfrm>
            <a:off x="610920" y="1143000"/>
            <a:ext cx="16801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Âge osseux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9 ans 10 mois</a:t>
            </a:r>
            <a:endParaRPr b="0" lang="en-US" sz="1800" strike="noStrike" u="none">
              <a:solidFill>
                <a:srgbClr val="ffff00"/>
              </a:solidFill>
              <a:effectLst/>
              <a:uFillTx/>
              <a:latin typeface="Times New Roman"/>
            </a:endParaRPr>
          </a:p>
        </p:txBody>
      </p:sp>
      <p:sp>
        <p:nvSpPr>
          <p:cNvPr id="127" name="Text Box 6"/>
          <p:cNvSpPr/>
          <p:nvPr/>
        </p:nvSpPr>
        <p:spPr>
          <a:xfrm>
            <a:off x="7081560" y="1295280"/>
            <a:ext cx="16801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Âge osseux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13 ans 6 mois</a:t>
            </a:r>
            <a:endParaRPr b="0" lang="en-US" sz="1800" strike="noStrike" u="none">
              <a:solidFill>
                <a:srgbClr val="ffff00"/>
              </a:solidFill>
              <a:effectLst/>
              <a:uFillTx/>
              <a:latin typeface="Times New Roman"/>
            </a:endParaRPr>
          </a:p>
        </p:txBody>
      </p:sp>
      <p:sp>
        <p:nvSpPr>
          <p:cNvPr id="128" name="Rectangle 7"/>
          <p:cNvSpPr/>
          <p:nvPr/>
        </p:nvSpPr>
        <p:spPr>
          <a:xfrm>
            <a:off x="1295280" y="3276720"/>
            <a:ext cx="381240" cy="380880"/>
          </a:xfrm>
          <a:prstGeom prst="rect">
            <a:avLst/>
          </a:prstGeom>
          <a:solidFill>
            <a:srgbClr val="292929"/>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29" name="Rectangle 8"/>
          <p:cNvSpPr/>
          <p:nvPr/>
        </p:nvSpPr>
        <p:spPr>
          <a:xfrm>
            <a:off x="6705720" y="609480"/>
            <a:ext cx="685800" cy="533520"/>
          </a:xfrm>
          <a:prstGeom prst="rect">
            <a:avLst/>
          </a:prstGeom>
          <a:solidFill>
            <a:srgbClr val="00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30" name="Rectangle 9"/>
          <p:cNvSpPr/>
          <p:nvPr/>
        </p:nvSpPr>
        <p:spPr>
          <a:xfrm>
            <a:off x="133200" y="5533920"/>
            <a:ext cx="8858520" cy="1008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En utilisant les techniques d’analyse des radiographies du poignet et de la main, pour un même âge calendaire nous avons trouvé jusqu’à quatre ans de différence d’âge biologique !</a:t>
            </a:r>
            <a:endParaRPr b="0" lang="en-US" sz="2000" strike="noStrike" u="none">
              <a:solidFill>
                <a:srgbClr val="ffff00"/>
              </a:solidFill>
              <a:effectLst/>
              <a:uFillTx/>
              <a:latin typeface="Times New Roman"/>
            </a:endParaRPr>
          </a:p>
        </p:txBody>
      </p:sp>
    </p:spTree>
  </p:cSld>
  <p:transition spd="slow">
    <p:split dir="out" orient="vert"/>
  </p:transition>
  <p:timing>
    <p:tnLst>
      <p:par>
        <p:cTn id="567" dur="indefinite" restart="never" nodeType="tmRoot">
          <p:childTnLst>
            <p:seq>
              <p:cTn id="568" dur="indefinite" nodeType="mainSeq">
                <p:childTnLst>
                  <p:par>
                    <p:cTn id="569" nodeType="clickEffect" fill="hold">
                      <p:stCondLst>
                        <p:cond delay="0"/>
                      </p:stCondLst>
                      <p:childTnLst>
                        <p:par>
                          <p:cTn id="570" nodeType="withEffect" fill="hold">
                            <p:stCondLst>
                              <p:cond delay="0"/>
                            </p:stCondLst>
                            <p:childTnLst>
                              <p:par>
                                <p:cTn id="571" nodeType="afterEffect" fill="hold" presetClass="entr" presetID="9">
                                  <p:stCondLst>
                                    <p:cond delay="0"/>
                                  </p:stCondLst>
                                  <p:childTnLst>
                                    <p:set>
                                      <p:cBhvr>
                                        <p:cTn id="572" dur="1" fill="hold">
                                          <p:stCondLst>
                                            <p:cond delay="0"/>
                                          </p:stCondLst>
                                        </p:cTn>
                                        <p:tgtEl>
                                          <p:spTgt spid="125"/>
                                        </p:tgtEl>
                                        <p:attrNameLst>
                                          <p:attrName>style.visibility</p:attrName>
                                        </p:attrNameLst>
                                      </p:cBhvr>
                                      <p:to>
                                        <p:strVal val="visible"/>
                                      </p:to>
                                    </p:set>
                                    <p:animEffect filter="dissolve" transition="in">
                                      <p:cBhvr additive="repl">
                                        <p:cTn id="573" dur="500"/>
                                        <p:tgtEl>
                                          <p:spTgt spid="125"/>
                                        </p:tgtEl>
                                      </p:cBhvr>
                                    </p:animEffect>
                                  </p:childTnLst>
                                </p:cTn>
                              </p:par>
                            </p:childTnLst>
                          </p:cTn>
                        </p:par>
                        <p:par>
                          <p:cTn id="574" nodeType="afterEffect" fill="hold">
                            <p:stCondLst>
                              <p:cond delay="500"/>
                            </p:stCondLst>
                            <p:childTnLst>
                              <p:par>
                                <p:cTn id="575" nodeType="afterEffect" fill="hold" presetClass="entr" presetID="5" presetSubtype="5">
                                  <p:stCondLst>
                                    <p:cond delay="0"/>
                                  </p:stCondLst>
                                  <p:childTnLst>
                                    <p:set>
                                      <p:cBhvr>
                                        <p:cTn id="576" dur="1" fill="hold">
                                          <p:stCondLst>
                                            <p:cond delay="0"/>
                                          </p:stCondLst>
                                        </p:cTn>
                                        <p:tgtEl>
                                          <p:spTgt spid="123"/>
                                        </p:tgtEl>
                                        <p:attrNameLst>
                                          <p:attrName>style.visibility</p:attrName>
                                        </p:attrNameLst>
                                      </p:cBhvr>
                                      <p:to>
                                        <p:strVal val="visible"/>
                                      </p:to>
                                    </p:set>
                                    <p:animEffect filter="checkerboard(down)" transition="in">
                                      <p:cBhvr additive="repl">
                                        <p:cTn id="577" dur="500"/>
                                        <p:tgtEl>
                                          <p:spTgt spid="123"/>
                                        </p:tgtEl>
                                      </p:cBhvr>
                                    </p:animEffect>
                                  </p:childTnLst>
                                </p:cTn>
                              </p:par>
                            </p:childTnLst>
                          </p:cTn>
                        </p:par>
                        <p:par>
                          <p:cTn id="578" nodeType="afterEffect" fill="hold">
                            <p:stCondLst>
                              <p:cond delay="1000"/>
                            </p:stCondLst>
                            <p:childTnLst>
                              <p:par>
                                <p:cTn id="579" nodeType="afterEffect" fill="hold" presetClass="entr" presetID="4" presetSubtype="16">
                                  <p:stCondLst>
                                    <p:cond delay="0"/>
                                  </p:stCondLst>
                                  <p:childTnLst>
                                    <p:set>
                                      <p:cBhvr>
                                        <p:cTn id="580" dur="1" fill="hold">
                                          <p:stCondLst>
                                            <p:cond delay="0"/>
                                          </p:stCondLst>
                                        </p:cTn>
                                        <p:tgtEl>
                                          <p:spTgt spid="128"/>
                                        </p:tgtEl>
                                        <p:attrNameLst>
                                          <p:attrName>style.visibility</p:attrName>
                                        </p:attrNameLst>
                                      </p:cBhvr>
                                      <p:to>
                                        <p:strVal val="visible"/>
                                      </p:to>
                                    </p:set>
                                    <p:animEffect filter="box(in)" transition="in">
                                      <p:cBhvr additive="repl">
                                        <p:cTn id="581" dur="500"/>
                                        <p:tgtEl>
                                          <p:spTgt spid="128"/>
                                        </p:tgtEl>
                                      </p:cBhvr>
                                    </p:animEffect>
                                  </p:childTnLst>
                                </p:cTn>
                              </p:par>
                            </p:childTnLst>
                          </p:cTn>
                        </p:par>
                        <p:par>
                          <p:cTn id="582" nodeType="afterEffect" fill="hold">
                            <p:stCondLst>
                              <p:cond delay="1500"/>
                            </p:stCondLst>
                            <p:childTnLst>
                              <p:par>
                                <p:cTn id="583" nodeType="afterEffect" fill="hold" presetClass="entr" presetID="9">
                                  <p:stCondLst>
                                    <p:cond delay="1000"/>
                                  </p:stCondLst>
                                  <p:childTnLst>
                                    <p:set>
                                      <p:cBhvr>
                                        <p:cTn id="584" dur="1" fill="hold">
                                          <p:stCondLst>
                                            <p:cond delay="0"/>
                                          </p:stCondLst>
                                        </p:cTn>
                                        <p:tgtEl>
                                          <p:spTgt spid="126"/>
                                        </p:tgtEl>
                                        <p:attrNameLst>
                                          <p:attrName>style.visibility</p:attrName>
                                        </p:attrNameLst>
                                      </p:cBhvr>
                                      <p:to>
                                        <p:strVal val="visible"/>
                                      </p:to>
                                    </p:set>
                                    <p:animEffect filter="dissolve" transition="in">
                                      <p:cBhvr additive="repl">
                                        <p:cTn id="585" dur="500"/>
                                        <p:tgtEl>
                                          <p:spTgt spid="126"/>
                                        </p:tgtEl>
                                      </p:cBhvr>
                                    </p:animEffect>
                                  </p:childTnLst>
                                </p:cTn>
                              </p:par>
                            </p:childTnLst>
                          </p:cTn>
                        </p:par>
                        <p:par>
                          <p:cTn id="586" nodeType="afterEffect" fill="hold">
                            <p:stCondLst>
                              <p:cond delay="3000"/>
                            </p:stCondLst>
                            <p:childTnLst>
                              <p:par>
                                <p:cTn id="587" nodeType="afterEffect" fill="hold" presetClass="entr" presetID="5" presetSubtype="5">
                                  <p:stCondLst>
                                    <p:cond delay="2000"/>
                                  </p:stCondLst>
                                  <p:childTnLst>
                                    <p:set>
                                      <p:cBhvr>
                                        <p:cTn id="588" dur="1" fill="hold">
                                          <p:stCondLst>
                                            <p:cond delay="0"/>
                                          </p:stCondLst>
                                        </p:cTn>
                                        <p:tgtEl>
                                          <p:spTgt spid="124"/>
                                        </p:tgtEl>
                                        <p:attrNameLst>
                                          <p:attrName>style.visibility</p:attrName>
                                        </p:attrNameLst>
                                      </p:cBhvr>
                                      <p:to>
                                        <p:strVal val="visible"/>
                                      </p:to>
                                    </p:set>
                                    <p:animEffect filter="checkerboard(down)" transition="in">
                                      <p:cBhvr additive="repl">
                                        <p:cTn id="589" dur="500"/>
                                        <p:tgtEl>
                                          <p:spTgt spid="124"/>
                                        </p:tgtEl>
                                      </p:cBhvr>
                                    </p:animEffect>
                                  </p:childTnLst>
                                </p:cTn>
                              </p:par>
                            </p:childTnLst>
                          </p:cTn>
                        </p:par>
                        <p:par>
                          <p:cTn id="590" nodeType="afterEffect" fill="hold">
                            <p:stCondLst>
                              <p:cond delay="5500"/>
                            </p:stCondLst>
                            <p:childTnLst>
                              <p:par>
                                <p:cTn id="591" nodeType="afterEffect" fill="hold" presetClass="entr" presetID="9">
                                  <p:stCondLst>
                                    <p:cond delay="1000"/>
                                  </p:stCondLst>
                                  <p:childTnLst>
                                    <p:set>
                                      <p:cBhvr>
                                        <p:cTn id="592" dur="1" fill="hold">
                                          <p:stCondLst>
                                            <p:cond delay="0"/>
                                          </p:stCondLst>
                                        </p:cTn>
                                        <p:tgtEl>
                                          <p:spTgt spid="127"/>
                                        </p:tgtEl>
                                        <p:attrNameLst>
                                          <p:attrName>style.visibility</p:attrName>
                                        </p:attrNameLst>
                                      </p:cBhvr>
                                      <p:to>
                                        <p:strVal val="visible"/>
                                      </p:to>
                                    </p:set>
                                    <p:animEffect filter="dissolve" transition="in">
                                      <p:cBhvr additive="repl">
                                        <p:cTn id="593" dur="500"/>
                                        <p:tgtEl>
                                          <p:spTgt spid="127"/>
                                        </p:tgtEl>
                                      </p:cBhvr>
                                    </p:animEffect>
                                  </p:childTnLst>
                                </p:cTn>
                              </p:par>
                            </p:childTnLst>
                          </p:cTn>
                        </p:par>
                        <p:par>
                          <p:cTn id="594" nodeType="afterEffect" fill="hold">
                            <p:stCondLst>
                              <p:cond delay="7000"/>
                            </p:stCondLst>
                            <p:childTnLst>
                              <p:par>
                                <p:cTn id="595" nodeType="afterEffect" fill="hold" presetClass="entr" presetID="9">
                                  <p:stCondLst>
                                    <p:cond delay="2000"/>
                                  </p:stCondLst>
                                  <p:childTnLst>
                                    <p:set>
                                      <p:cBhvr>
                                        <p:cTn id="596" dur="1" fill="hold">
                                          <p:stCondLst>
                                            <p:cond delay="0"/>
                                          </p:stCondLst>
                                        </p:cTn>
                                        <p:tgtEl>
                                          <p:spTgt spid="130"/>
                                        </p:tgtEl>
                                        <p:attrNameLst>
                                          <p:attrName>style.visibility</p:attrName>
                                        </p:attrNameLst>
                                      </p:cBhvr>
                                      <p:to>
                                        <p:strVal val="visible"/>
                                      </p:to>
                                    </p:set>
                                    <p:animEffect filter="dissolve" transition="in">
                                      <p:cBhvr additive="repl">
                                        <p:cTn id="597"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1" name="Image 1" descr=""/>
          <p:cNvPicPr/>
          <p:nvPr/>
        </p:nvPicPr>
        <p:blipFill>
          <a:blip r:embed="rId1"/>
          <a:srcRect l="857" t="47222" r="0" b="2716"/>
          <a:stretch/>
        </p:blipFill>
        <p:spPr>
          <a:xfrm>
            <a:off x="0" y="15840"/>
            <a:ext cx="9144000" cy="5950080"/>
          </a:xfrm>
          <a:prstGeom prst="rect">
            <a:avLst/>
          </a:prstGeom>
          <a:noFill/>
          <a:ln w="9360">
            <a:solidFill>
              <a:srgbClr val="ffff00"/>
            </a:solidFill>
            <a:miter/>
          </a:ln>
          <a:effectLst>
            <a:outerShdw dist="17819" dir="2700000" blurRad="0" rotWithShape="0">
              <a:srgbClr val="ffffff"/>
            </a:outerShdw>
          </a:effectLst>
        </p:spPr>
      </p:pic>
      <p:pic>
        <p:nvPicPr>
          <p:cNvPr id="132" name="Image 2" descr=""/>
          <p:cNvPicPr/>
          <p:nvPr/>
        </p:nvPicPr>
        <p:blipFill>
          <a:blip r:embed="rId2"/>
          <a:srcRect l="27769" t="53706" r="28864" b="32381"/>
          <a:stretch/>
        </p:blipFill>
        <p:spPr>
          <a:xfrm>
            <a:off x="826920" y="6043680"/>
            <a:ext cx="7075800" cy="809640"/>
          </a:xfrm>
          <a:prstGeom prst="rect">
            <a:avLst/>
          </a:prstGeom>
          <a:noFill/>
          <a:ln w="0">
            <a:noFill/>
          </a:ln>
        </p:spPr>
      </p:pic>
    </p:spTree>
  </p:cSld>
  <p:transition spd="med">
    <p:zoom dir="out"/>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3" name="Image 4" descr=""/>
          <p:cNvPicPr/>
          <p:nvPr/>
        </p:nvPicPr>
        <p:blipFill>
          <a:blip r:embed="rId1"/>
          <a:srcRect l="10495" t="19580" r="7180" b="8902"/>
          <a:stretch/>
        </p:blipFill>
        <p:spPr>
          <a:xfrm>
            <a:off x="6480" y="0"/>
            <a:ext cx="9137520" cy="6858000"/>
          </a:xfrm>
          <a:prstGeom prst="rect">
            <a:avLst/>
          </a:prstGeom>
          <a:noFill/>
          <a:ln w="0">
            <a:noFill/>
          </a:ln>
        </p:spPr>
      </p:pic>
    </p:spTree>
  </p:cSld>
  <p:transition spd="med">
    <p:zoom dir="out"/>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4" name="Image 1" descr=""/>
          <p:cNvPicPr/>
          <p:nvPr/>
        </p:nvPicPr>
        <p:blipFill>
          <a:blip r:embed="rId1"/>
          <a:srcRect l="857" t="0" r="0" b="52438"/>
          <a:stretch/>
        </p:blipFill>
        <p:spPr>
          <a:xfrm>
            <a:off x="0" y="404640"/>
            <a:ext cx="9121680" cy="5670720"/>
          </a:xfrm>
          <a:prstGeom prst="rect">
            <a:avLst/>
          </a:prstGeom>
          <a:noFill/>
          <a:ln w="9360">
            <a:solidFill>
              <a:srgbClr val="000000"/>
            </a:solidFill>
            <a:miter/>
          </a:ln>
          <a:effectLst>
            <a:outerShdw dist="17819" dir="2700000" blurRad="0" rotWithShape="0">
              <a:srgbClr val="ffffff"/>
            </a:outerShdw>
          </a:effectLst>
        </p:spPr>
      </p:pic>
    </p:spTree>
  </p:cSld>
  <p:transition spd="med">
    <p:zoom dir="out"/>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5" name="Image 3" descr=""/>
          <p:cNvPicPr/>
          <p:nvPr/>
        </p:nvPicPr>
        <p:blipFill>
          <a:blip r:embed="rId1"/>
          <a:srcRect l="10394" t="19027" r="7081" b="7702"/>
          <a:stretch/>
        </p:blipFill>
        <p:spPr>
          <a:xfrm>
            <a:off x="0" y="-100080"/>
            <a:ext cx="9144000" cy="6842160"/>
          </a:xfrm>
          <a:prstGeom prst="rect">
            <a:avLst/>
          </a:prstGeom>
          <a:noFill/>
          <a:ln w="0">
            <a:noFill/>
          </a:ln>
        </p:spPr>
      </p:pic>
    </p:spTree>
  </p:cSld>
  <p:transition spd="med">
    <p:zoom dir="out"/>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6" name=""/>
          <p:cNvGraphicFramePr/>
          <p:nvPr/>
        </p:nvGraphicFramePr>
        <p:xfrm>
          <a:off x="228600" y="0"/>
          <a:ext cx="8686800" cy="3054240"/>
        </p:xfrm>
        <a:graphic>
          <a:graphicData uri="http://schemas.openxmlformats.org/drawingml/2006/table">
            <a:tbl>
              <a:tblPr/>
              <a:tblGrid>
                <a:gridCol w="1219320"/>
                <a:gridCol w="2209680"/>
                <a:gridCol w="1676520"/>
                <a:gridCol w="1846080"/>
                <a:gridCol w="1735200"/>
              </a:tblGrid>
              <a:tr h="36612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A1</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A2</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A3</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A4</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5760">
                      <a:solidFill>
                        <a:srgbClr val="ffff00"/>
                      </a:solidFill>
                      <a:prstDash val="solid"/>
                    </a:lnB>
                    <a:noFill/>
                  </a:tcPr>
                </a:tc>
              </a:tr>
              <a:tr h="146016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Pilosité axillaire</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Pas de poil</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IMPUBERE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Duvet sous l’aisselle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DEBUT DE LA PUBERTE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Début des poils</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PUBERTE EN COURS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Poils abondants</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122796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Pilosité du visage et mue de la voie</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Duvet et voix douce</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IMPUBERE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Duvet et voix qui mue</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PREPUBERE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Moustache et voix </a:t>
                      </a:r>
                      <a:r>
                        <a:rPr b="0" lang="fr-FR" sz="1800" strike="noStrike" u="none">
                          <a:solidFill>
                            <a:srgbClr val="ffff00"/>
                          </a:solidFill>
                          <a:effectLst/>
                          <a:uFillTx/>
                          <a:latin typeface="Arial"/>
                          <a:ea typeface="Arial"/>
                        </a:rPr>
                        <a:t>± grave</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ea typeface="Arial"/>
                        </a:rPr>
                        <a:t>PARAPUBERE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Voix grave</a:t>
                      </a:r>
                      <a:endParaRPr b="0" lang="en-US" sz="1800" strike="noStrike" u="none">
                        <a:solidFill>
                          <a:srgbClr val="ffff00"/>
                        </a:solidFill>
                        <a:effectLst/>
                        <a:uFillTx/>
                        <a:latin typeface="Times New Roman"/>
                      </a:endParaRPr>
                    </a:p>
                    <a:p>
                      <a:pPr>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13680">
                      <a:solidFill>
                        <a:srgbClr val="ffff00"/>
                      </a:solidFill>
                      <a:prstDash val="solid"/>
                    </a:lnB>
                    <a:noFill/>
                  </a:tcPr>
                </a:tc>
              </a:tr>
            </a:tbl>
          </a:graphicData>
        </a:graphic>
      </p:graphicFrame>
      <p:graphicFrame>
        <p:nvGraphicFramePr>
          <p:cNvPr id="137" name=""/>
          <p:cNvGraphicFramePr/>
          <p:nvPr/>
        </p:nvGraphicFramePr>
        <p:xfrm>
          <a:off x="228600" y="3429000"/>
          <a:ext cx="8686800" cy="3052800"/>
        </p:xfrm>
        <a:graphic>
          <a:graphicData uri="http://schemas.openxmlformats.org/drawingml/2006/table">
            <a:tbl>
              <a:tblPr/>
              <a:tblGrid>
                <a:gridCol w="1219320"/>
                <a:gridCol w="2209680"/>
                <a:gridCol w="1676520"/>
                <a:gridCol w="1846080"/>
                <a:gridCol w="1735200"/>
              </a:tblGrid>
              <a:tr h="36612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A1</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A2</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A3</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A4</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5760">
                      <a:solidFill>
                        <a:srgbClr val="ffff00"/>
                      </a:solidFill>
                      <a:prstDash val="solid"/>
                    </a:lnB>
                    <a:noFill/>
                  </a:tcPr>
                </a:tc>
              </a:tr>
              <a:tr h="138312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Pilosité axillaire</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Pas de poil</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IMPUBERE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Duvet sous l’aisselle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DEBUT DE LA PUBERTE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Début des poils</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PUBERTE EN COURS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Poils abondants</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130356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Dévelop-</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pement des seins</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0 de Sempé</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IMPUBERE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Duvet et voix qui mue</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Stades 1 et 2</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 Sempé</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3 de Sempé</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Stade 4 de Sempé</a:t>
                      </a:r>
                      <a:endParaRPr b="0" lang="en-US" sz="1800" strike="noStrike" u="none">
                        <a:solidFill>
                          <a:srgbClr val="ffff00"/>
                        </a:solidFill>
                        <a:effectLst/>
                        <a:uFillTx/>
                        <a:latin typeface="Times New Roman"/>
                      </a:endParaRPr>
                    </a:p>
                    <a:p>
                      <a:pPr algn="ctr">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8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PUBERE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13680">
                      <a:solidFill>
                        <a:srgbClr val="ffff00"/>
                      </a:solidFill>
                      <a:prstDash val="solid"/>
                    </a:lnB>
                    <a:noFill/>
                  </a:tcPr>
                </a:tc>
              </a:tr>
            </a:tbl>
          </a:graphicData>
        </a:graphic>
      </p:graphicFrame>
      <p:sp>
        <p:nvSpPr>
          <p:cNvPr id="138" name="Text Box 66"/>
          <p:cNvSpPr/>
          <p:nvPr/>
        </p:nvSpPr>
        <p:spPr>
          <a:xfrm>
            <a:off x="285840" y="2982960"/>
            <a:ext cx="4297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Stades pubertaires chez les garçons</a:t>
            </a:r>
            <a:endParaRPr b="0" lang="en-US" sz="2000" strike="noStrike" u="none">
              <a:solidFill>
                <a:srgbClr val="ffff00"/>
              </a:solidFill>
              <a:effectLst/>
              <a:uFillTx/>
              <a:latin typeface="Times New Roman"/>
            </a:endParaRPr>
          </a:p>
        </p:txBody>
      </p:sp>
      <p:sp>
        <p:nvSpPr>
          <p:cNvPr id="139" name="Text Box 67"/>
          <p:cNvSpPr/>
          <p:nvPr/>
        </p:nvSpPr>
        <p:spPr>
          <a:xfrm>
            <a:off x="303120" y="6446880"/>
            <a:ext cx="39013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Stades pubertaires chez les filles</a:t>
            </a:r>
            <a:endParaRPr b="0" lang="en-US" sz="2000" strike="noStrike" u="none">
              <a:solidFill>
                <a:srgbClr val="ffff00"/>
              </a:solidFill>
              <a:effectLst/>
              <a:uFillTx/>
              <a:latin typeface="Times New Roman"/>
            </a:endParaRPr>
          </a:p>
        </p:txBody>
      </p:sp>
    </p:spTree>
  </p:cSld>
  <p:transition spd="med">
    <p:zoom dir="out"/>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40" name=""/>
          <p:cNvGraphicFramePr/>
          <p:nvPr/>
        </p:nvGraphicFramePr>
        <p:xfrm>
          <a:off x="108000" y="981000"/>
          <a:ext cx="8856720" cy="5438880"/>
        </p:xfrm>
        <a:graphic>
          <a:graphicData uri="http://schemas.openxmlformats.org/drawingml/2006/table">
            <a:tbl>
              <a:tblPr/>
              <a:tblGrid>
                <a:gridCol w="8856720"/>
              </a:tblGrid>
              <a:tr h="6068160">
                <a:tc>
                  <a:txBody>
                    <a:bodyPr lIns="68400" rIns="68400" tIns="0" bIns="0" anchor="t">
                      <a:no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Adrénarche : </a:t>
                      </a:r>
                      <a:r>
                        <a:rPr b="1" lang="fr-FR" sz="2000" strike="noStrike" u="none">
                          <a:solidFill>
                            <a:srgbClr val="ffffff"/>
                          </a:solidFill>
                          <a:effectLst/>
                          <a:uFillTx/>
                          <a:latin typeface="Calibri"/>
                          <a:ea typeface="Calibri"/>
                        </a:rPr>
                        <a:t>du latin </a:t>
                      </a:r>
                      <a:r>
                        <a:rPr b="1" i="1" lang="fr-FR" sz="2000" strike="noStrike" u="none">
                          <a:solidFill>
                            <a:srgbClr val="ffff00"/>
                          </a:solidFill>
                          <a:effectLst/>
                          <a:uFillTx/>
                          <a:latin typeface="Calibri"/>
                          <a:ea typeface="Calibri"/>
                        </a:rPr>
                        <a:t>ad </a:t>
                      </a:r>
                      <a:r>
                        <a:rPr b="1" lang="fr-FR" sz="2000" strike="noStrike" u="none">
                          <a:solidFill>
                            <a:srgbClr val="ffffff"/>
                          </a:solidFill>
                          <a:effectLst/>
                          <a:uFillTx/>
                          <a:latin typeface="Calibri"/>
                          <a:ea typeface="Calibri"/>
                        </a:rPr>
                        <a:t>et </a:t>
                      </a:r>
                      <a:r>
                        <a:rPr b="1" i="1" lang="fr-FR" sz="2000" strike="noStrike" u="none">
                          <a:solidFill>
                            <a:srgbClr val="ffff00"/>
                          </a:solidFill>
                          <a:effectLst/>
                          <a:uFillTx/>
                          <a:latin typeface="Calibri"/>
                          <a:ea typeface="Calibri"/>
                        </a:rPr>
                        <a:t>ren</a:t>
                      </a:r>
                      <a:r>
                        <a:rPr b="1" lang="fr-FR" sz="2000" strike="noStrike" u="none">
                          <a:solidFill>
                            <a:srgbClr val="ffffff"/>
                          </a:solidFill>
                          <a:effectLst/>
                          <a:uFillTx/>
                          <a:latin typeface="Calibri"/>
                          <a:ea typeface="Calibri"/>
                        </a:rPr>
                        <a:t> qui signifient respectivement « près » et « rein » et du grecque </a:t>
                      </a:r>
                      <a:r>
                        <a:rPr b="1" i="1" lang="fr-FR" sz="2000" strike="noStrike" u="none">
                          <a:solidFill>
                            <a:srgbClr val="ffff00"/>
                          </a:solidFill>
                          <a:effectLst/>
                          <a:uFillTx/>
                          <a:latin typeface="Calibri"/>
                          <a:ea typeface="Calibri"/>
                        </a:rPr>
                        <a:t>arkhê</a:t>
                      </a:r>
                      <a:r>
                        <a:rPr b="1" lang="fr-FR" sz="2000" strike="noStrike" u="none">
                          <a:solidFill>
                            <a:srgbClr val="ffffff"/>
                          </a:solidFill>
                          <a:effectLst/>
                          <a:uFillTx/>
                          <a:latin typeface="Calibri"/>
                          <a:ea typeface="Calibri"/>
                        </a:rPr>
                        <a:t> qui signifie « commencement » : Augmentation des sécrétions cortico-surrénaliennes se produisant quelques années avant le début de la puberté gonadique et qui s’accompagne d’une première apparition de poils pubiens.</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Gonadarche :</a:t>
                      </a:r>
                      <a:r>
                        <a:rPr b="1" lang="fr-FR" sz="2000" strike="noStrike" u="none">
                          <a:solidFill>
                            <a:srgbClr val="ffffff"/>
                          </a:solidFill>
                          <a:effectLst/>
                          <a:uFillTx/>
                          <a:latin typeface="Calibri"/>
                          <a:ea typeface="Calibri"/>
                        </a:rPr>
                        <a:t> du grecque </a:t>
                      </a:r>
                      <a:r>
                        <a:rPr b="1" i="1" lang="fr-FR" sz="2000" strike="noStrike" u="none">
                          <a:solidFill>
                            <a:srgbClr val="ffff00"/>
                          </a:solidFill>
                          <a:effectLst/>
                          <a:uFillTx/>
                          <a:latin typeface="Calibri"/>
                          <a:ea typeface="Calibri"/>
                        </a:rPr>
                        <a:t>gonè</a:t>
                      </a:r>
                      <a:r>
                        <a:rPr b="1" lang="fr-FR" sz="2000" strike="noStrike" u="none">
                          <a:solidFill>
                            <a:srgbClr val="ffffff"/>
                          </a:solidFill>
                          <a:effectLst/>
                          <a:uFillTx/>
                          <a:latin typeface="Calibri"/>
                          <a:ea typeface="Calibri"/>
                        </a:rPr>
                        <a:t> qui signifie « semence » : Début de la puberté se traduisant par une modification des gonades (testicules et ovaires).</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Thélarche : </a:t>
                      </a:r>
                      <a:r>
                        <a:rPr b="1" lang="fr-FR" sz="2000" strike="noStrike" u="none">
                          <a:solidFill>
                            <a:srgbClr val="ffffff"/>
                          </a:solidFill>
                          <a:effectLst/>
                          <a:uFillTx/>
                          <a:latin typeface="Calibri"/>
                          <a:ea typeface="Calibri"/>
                        </a:rPr>
                        <a:t>du grecque </a:t>
                      </a:r>
                      <a:r>
                        <a:rPr b="1" i="1" lang="fr-FR" sz="2000" strike="noStrike" u="none">
                          <a:solidFill>
                            <a:srgbClr val="ffff00"/>
                          </a:solidFill>
                          <a:effectLst/>
                          <a:uFillTx/>
                          <a:latin typeface="Calibri"/>
                          <a:ea typeface="Calibri"/>
                        </a:rPr>
                        <a:t>thêlê</a:t>
                      </a:r>
                      <a:r>
                        <a:rPr b="1" lang="fr-FR" sz="2000" strike="noStrike" u="none">
                          <a:solidFill>
                            <a:srgbClr val="ffffff"/>
                          </a:solidFill>
                          <a:effectLst/>
                          <a:uFillTx/>
                          <a:latin typeface="Calibri"/>
                          <a:ea typeface="Calibri"/>
                        </a:rPr>
                        <a:t> qui signifie « mamelon » : Début du développement mammaire.</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Pubarche : </a:t>
                      </a:r>
                      <a:r>
                        <a:rPr b="1" lang="fr-FR" sz="2000" strike="noStrike" u="none">
                          <a:solidFill>
                            <a:srgbClr val="ffffff"/>
                          </a:solidFill>
                          <a:effectLst/>
                          <a:uFillTx/>
                          <a:latin typeface="Calibri"/>
                          <a:ea typeface="Calibri"/>
                        </a:rPr>
                        <a:t>du latin </a:t>
                      </a:r>
                      <a:r>
                        <a:rPr b="1" i="1" lang="fr-FR" sz="2000" strike="noStrike" u="none">
                          <a:solidFill>
                            <a:srgbClr val="ffff00"/>
                          </a:solidFill>
                          <a:effectLst/>
                          <a:uFillTx/>
                          <a:latin typeface="Calibri"/>
                          <a:ea typeface="Calibri"/>
                        </a:rPr>
                        <a:t>pubes</a:t>
                      </a:r>
                      <a:r>
                        <a:rPr b="1" lang="fr-FR" sz="2000" strike="noStrike" u="none">
                          <a:solidFill>
                            <a:srgbClr val="ffffff"/>
                          </a:solidFill>
                          <a:effectLst/>
                          <a:uFillTx/>
                          <a:latin typeface="Calibri"/>
                          <a:ea typeface="Calibri"/>
                        </a:rPr>
                        <a:t> qui signifie « poil pubien » : Apparition de la pilosité pubienne.</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a:t>
                      </a:r>
                      <a:endParaRPr b="0" lang="en-US" sz="2000" strike="noStrike" u="none">
                        <a:solidFill>
                          <a:srgbClr val="ffff00"/>
                        </a:solidFill>
                        <a:effectLst/>
                        <a:uFillTx/>
                        <a:latin typeface="Times New Roman"/>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Ménarche :</a:t>
                      </a:r>
                      <a:r>
                        <a:rPr b="1" lang="fr-FR" sz="2000" strike="noStrike" u="none">
                          <a:solidFill>
                            <a:srgbClr val="ffffff"/>
                          </a:solidFill>
                          <a:effectLst/>
                          <a:uFillTx/>
                          <a:latin typeface="Calibri"/>
                          <a:ea typeface="Calibri"/>
                        </a:rPr>
                        <a:t> du grecque</a:t>
                      </a:r>
                      <a:r>
                        <a:rPr b="1" i="1" lang="fr-FR" sz="2000" strike="noStrike" u="none">
                          <a:solidFill>
                            <a:srgbClr val="ffff00"/>
                          </a:solidFill>
                          <a:effectLst/>
                          <a:uFillTx/>
                          <a:latin typeface="Calibri"/>
                          <a:ea typeface="Calibri"/>
                        </a:rPr>
                        <a:t> mên </a:t>
                      </a:r>
                      <a:r>
                        <a:rPr b="1" lang="fr-FR" sz="2000" strike="noStrike" u="none">
                          <a:solidFill>
                            <a:srgbClr val="ffffff"/>
                          </a:solidFill>
                          <a:effectLst/>
                          <a:uFillTx/>
                          <a:latin typeface="Calibri"/>
                          <a:ea typeface="Calibri"/>
                        </a:rPr>
                        <a:t>« mois ») : Apparition des premières règles.</a:t>
                      </a:r>
                      <a:endParaRPr b="0" lang="en-US" sz="2000" strike="noStrike" u="none">
                        <a:solidFill>
                          <a:srgbClr val="ffff00"/>
                        </a:solidFill>
                        <a:effectLst/>
                        <a:uFillTx/>
                        <a:latin typeface="Times New Roman"/>
                      </a:endParaRPr>
                    </a:p>
                    <a:p>
                      <a:pPr algn="jus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Times New Roman"/>
                        </a:rPr>
                        <a:t> </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solidFill>
                      <a:srgbClr val="3333cc"/>
                    </a:solidFill>
                  </a:tcPr>
                </a:tc>
              </a:tr>
            </a:tbl>
          </a:graphicData>
        </a:graphic>
      </p:graphicFrame>
    </p:spTree>
  </p:cSld>
  <p:transition spd="med">
    <p:zoom dir="out"/>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AutoShape 2"/>
          <p:cNvSpPr/>
          <p:nvPr/>
        </p:nvSpPr>
        <p:spPr>
          <a:xfrm>
            <a:off x="228600" y="2073240"/>
            <a:ext cx="1676520" cy="304920"/>
          </a:xfrm>
          <a:prstGeom prst="rightArrow">
            <a:avLst>
              <a:gd name="adj1" fmla="val 50000"/>
              <a:gd name="adj2" fmla="val 137456"/>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2" name="Text Box 3"/>
          <p:cNvSpPr/>
          <p:nvPr/>
        </p:nvSpPr>
        <p:spPr>
          <a:xfrm>
            <a:off x="211680" y="1703520"/>
            <a:ext cx="15530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0 à 1-2 ans,</a:t>
            </a:r>
            <a:endParaRPr b="0" lang="en-US" sz="2000" strike="noStrike" u="none">
              <a:solidFill>
                <a:srgbClr val="ffff00"/>
              </a:solidFill>
              <a:effectLst/>
              <a:uFillTx/>
              <a:latin typeface="Times New Roman"/>
            </a:endParaRPr>
          </a:p>
        </p:txBody>
      </p:sp>
      <p:sp>
        <p:nvSpPr>
          <p:cNvPr id="143" name="Text Box 4"/>
          <p:cNvSpPr/>
          <p:nvPr/>
        </p:nvSpPr>
        <p:spPr>
          <a:xfrm>
            <a:off x="1440" y="2454120"/>
            <a:ext cx="17305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Petite enfance</a:t>
            </a:r>
            <a:endParaRPr b="0" lang="en-US" sz="1800" strike="noStrike" u="none">
              <a:solidFill>
                <a:srgbClr val="ffff00"/>
              </a:solidFill>
              <a:effectLst/>
              <a:uFillTx/>
              <a:latin typeface="Times New Roman"/>
            </a:endParaRPr>
          </a:p>
        </p:txBody>
      </p:sp>
      <p:sp>
        <p:nvSpPr>
          <p:cNvPr id="144" name="AutoShape 5"/>
          <p:cNvSpPr/>
          <p:nvPr/>
        </p:nvSpPr>
        <p:spPr>
          <a:xfrm>
            <a:off x="1905120" y="2073240"/>
            <a:ext cx="2743200" cy="304920"/>
          </a:xfrm>
          <a:prstGeom prst="rightArrow">
            <a:avLst>
              <a:gd name="adj1" fmla="val 50000"/>
              <a:gd name="adj2" fmla="val 224911"/>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5" name="Text Box 6"/>
          <p:cNvSpPr/>
          <p:nvPr/>
        </p:nvSpPr>
        <p:spPr>
          <a:xfrm>
            <a:off x="1752480" y="1692360"/>
            <a:ext cx="320040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 1-2 ans à 12–14 ans,   </a:t>
            </a:r>
            <a:endParaRPr b="0" lang="en-US" sz="2000" strike="noStrike" u="none">
              <a:solidFill>
                <a:srgbClr val="ffff00"/>
              </a:solidFill>
              <a:effectLst/>
              <a:uFillTx/>
              <a:latin typeface="Times New Roman"/>
            </a:endParaRPr>
          </a:p>
        </p:txBody>
      </p:sp>
      <p:sp>
        <p:nvSpPr>
          <p:cNvPr id="146" name="Text Box 7"/>
          <p:cNvSpPr/>
          <p:nvPr/>
        </p:nvSpPr>
        <p:spPr>
          <a:xfrm>
            <a:off x="2439720" y="2454120"/>
            <a:ext cx="10699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Enfance</a:t>
            </a:r>
            <a:endParaRPr b="0" lang="en-US" sz="1800" strike="noStrike" u="none">
              <a:solidFill>
                <a:srgbClr val="ffff00"/>
              </a:solidFill>
              <a:effectLst/>
              <a:uFillTx/>
              <a:latin typeface="Times New Roman"/>
            </a:endParaRPr>
          </a:p>
        </p:txBody>
      </p:sp>
      <p:sp>
        <p:nvSpPr>
          <p:cNvPr id="147" name="AutoShape 8"/>
          <p:cNvSpPr/>
          <p:nvPr/>
        </p:nvSpPr>
        <p:spPr>
          <a:xfrm>
            <a:off x="6019920" y="2073240"/>
            <a:ext cx="1981080" cy="304920"/>
          </a:xfrm>
          <a:prstGeom prst="rightArrow">
            <a:avLst>
              <a:gd name="adj1" fmla="val 50000"/>
              <a:gd name="adj2" fmla="val 162426"/>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8" name="Rectangle 10"/>
          <p:cNvSpPr/>
          <p:nvPr/>
        </p:nvSpPr>
        <p:spPr>
          <a:xfrm>
            <a:off x="5638680" y="2149560"/>
            <a:ext cx="228600" cy="152280"/>
          </a:xfrm>
          <a:prstGeom prst="rect">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9" name="Rectangle 11"/>
          <p:cNvSpPr/>
          <p:nvPr/>
        </p:nvSpPr>
        <p:spPr>
          <a:xfrm>
            <a:off x="5334120" y="2149560"/>
            <a:ext cx="228600" cy="152280"/>
          </a:xfrm>
          <a:prstGeom prst="rect">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0" name="Rectangle 12"/>
          <p:cNvSpPr/>
          <p:nvPr/>
        </p:nvSpPr>
        <p:spPr>
          <a:xfrm>
            <a:off x="5029200" y="2149560"/>
            <a:ext cx="228600" cy="152280"/>
          </a:xfrm>
          <a:prstGeom prst="rect">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1" name="Rectangle 13"/>
          <p:cNvSpPr/>
          <p:nvPr/>
        </p:nvSpPr>
        <p:spPr>
          <a:xfrm>
            <a:off x="4724280" y="2149560"/>
            <a:ext cx="228600" cy="152280"/>
          </a:xfrm>
          <a:prstGeom prst="rect">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2" name="Text Box 14"/>
          <p:cNvSpPr/>
          <p:nvPr/>
        </p:nvSpPr>
        <p:spPr>
          <a:xfrm>
            <a:off x="5944680" y="2378160"/>
            <a:ext cx="1591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Adolescence</a:t>
            </a:r>
            <a:endParaRPr b="0" lang="en-US" sz="1800" strike="noStrike" u="none">
              <a:solidFill>
                <a:srgbClr val="ffff00"/>
              </a:solidFill>
              <a:effectLst/>
              <a:uFillTx/>
              <a:latin typeface="Times New Roman"/>
            </a:endParaRPr>
          </a:p>
        </p:txBody>
      </p:sp>
      <p:sp>
        <p:nvSpPr>
          <p:cNvPr id="153" name="Rectangle 16"/>
          <p:cNvSpPr/>
          <p:nvPr/>
        </p:nvSpPr>
        <p:spPr>
          <a:xfrm>
            <a:off x="8077320" y="2149560"/>
            <a:ext cx="1066680" cy="152280"/>
          </a:xfrm>
          <a:prstGeom prst="rect">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4" name="Text Box 17"/>
          <p:cNvSpPr/>
          <p:nvPr/>
        </p:nvSpPr>
        <p:spPr>
          <a:xfrm>
            <a:off x="8063280" y="2414520"/>
            <a:ext cx="8917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Adulte</a:t>
            </a:r>
            <a:endParaRPr b="0" lang="en-US" sz="1800" strike="noStrike" u="none">
              <a:solidFill>
                <a:srgbClr val="ffff00"/>
              </a:solidFill>
              <a:effectLst/>
              <a:uFillTx/>
              <a:latin typeface="Times New Roman"/>
            </a:endParaRPr>
          </a:p>
        </p:txBody>
      </p:sp>
      <p:sp>
        <p:nvSpPr>
          <p:cNvPr id="155" name="Text Box 18"/>
          <p:cNvSpPr/>
          <p:nvPr/>
        </p:nvSpPr>
        <p:spPr>
          <a:xfrm>
            <a:off x="4966920" y="1692360"/>
            <a:ext cx="42343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12-14 ans à 16-18 ans  18 ans et +</a:t>
            </a:r>
            <a:endParaRPr b="0" lang="en-US" sz="2000" strike="noStrike" u="none">
              <a:solidFill>
                <a:srgbClr val="ffff00"/>
              </a:solidFill>
              <a:effectLst/>
              <a:uFillTx/>
              <a:latin typeface="Times New Roman"/>
            </a:endParaRPr>
          </a:p>
        </p:txBody>
      </p:sp>
      <p:sp>
        <p:nvSpPr>
          <p:cNvPr id="156" name="Text Box 19"/>
          <p:cNvSpPr/>
          <p:nvPr/>
        </p:nvSpPr>
        <p:spPr>
          <a:xfrm>
            <a:off x="4725360" y="2378160"/>
            <a:ext cx="1128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Puberté</a:t>
            </a:r>
            <a:endParaRPr b="0" lang="en-US" sz="2000" strike="noStrike" u="none">
              <a:solidFill>
                <a:srgbClr val="ffff00"/>
              </a:solidFill>
              <a:effectLst/>
              <a:uFillTx/>
              <a:latin typeface="Times New Roman"/>
            </a:endParaRPr>
          </a:p>
        </p:txBody>
      </p:sp>
      <p:sp>
        <p:nvSpPr>
          <p:cNvPr id="157" name="Flèche vers le bas 1"/>
          <p:cNvSpPr/>
          <p:nvPr/>
        </p:nvSpPr>
        <p:spPr>
          <a:xfrm>
            <a:off x="4648320" y="1166760"/>
            <a:ext cx="95040" cy="906480"/>
          </a:xfrm>
          <a:prstGeom prst="downArrow">
            <a:avLst>
              <a:gd name="adj1" fmla="val 50000"/>
              <a:gd name="adj2" fmla="val 50118"/>
            </a:avLst>
          </a:prstGeom>
          <a:solidFill>
            <a:srgbClr val="00cc99"/>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58" name="ZoneTexte 2"/>
          <p:cNvSpPr/>
          <p:nvPr/>
        </p:nvSpPr>
        <p:spPr>
          <a:xfrm>
            <a:off x="3144240" y="692280"/>
            <a:ext cx="37699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Début de l’adolescence ?</a:t>
            </a:r>
            <a:endParaRPr b="0" lang="en-US" sz="2000" strike="noStrike" u="none">
              <a:solidFill>
                <a:srgbClr val="ffff00"/>
              </a:solidFill>
              <a:effectLst/>
              <a:uFillTx/>
              <a:latin typeface="Times New Roman"/>
            </a:endParaRPr>
          </a:p>
        </p:txBody>
      </p:sp>
      <p:sp>
        <p:nvSpPr>
          <p:cNvPr id="159" name="Flèche vers le haut 3"/>
          <p:cNvSpPr/>
          <p:nvPr/>
        </p:nvSpPr>
        <p:spPr>
          <a:xfrm>
            <a:off x="7956720" y="2598840"/>
            <a:ext cx="120600" cy="1117440"/>
          </a:xfrm>
          <a:prstGeom prst="upArrow">
            <a:avLst>
              <a:gd name="adj1" fmla="val 50000"/>
              <a:gd name="adj2" fmla="val 49975"/>
            </a:avLst>
          </a:prstGeom>
          <a:solidFill>
            <a:srgbClr val="ffffff"/>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0" name="ZoneTexte 1"/>
          <p:cNvSpPr/>
          <p:nvPr/>
        </p:nvSpPr>
        <p:spPr>
          <a:xfrm>
            <a:off x="7692480" y="3716280"/>
            <a:ext cx="14155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Maturité</a:t>
            </a:r>
            <a:endParaRPr b="0" lang="en-US" sz="2000" strike="noStrike" u="none">
              <a:solidFill>
                <a:srgbClr val="ffff00"/>
              </a:solidFill>
              <a:effectLst/>
              <a:uFillTx/>
              <a:latin typeface="Times New Roman"/>
            </a:endParaRPr>
          </a:p>
        </p:txBody>
      </p:sp>
      <p:sp>
        <p:nvSpPr>
          <p:cNvPr id="161" name="Accolade fermante 3"/>
          <p:cNvSpPr/>
          <p:nvPr/>
        </p:nvSpPr>
        <p:spPr>
          <a:xfrm rot="5400000">
            <a:off x="3766680" y="-228600"/>
            <a:ext cx="419400" cy="7527960"/>
          </a:xfrm>
          <a:custGeom>
            <a:avLst/>
            <a:gdLst>
              <a:gd name="textAreaLeft" fmla="*/ 0 w 419400"/>
              <a:gd name="textAreaRight" fmla="*/ 151560 w 419400"/>
              <a:gd name="textAreaTop" fmla="*/ 10800 h 7527960"/>
              <a:gd name="textAreaBottom" fmla="*/ 7517160 h 752796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50"/>
                  <a:pt x="10800" y="100"/>
                </a:cubicBezTo>
                <a:lnTo>
                  <a:pt x="10800" y="10700"/>
                </a:lnTo>
                <a:cubicBezTo>
                  <a:pt x="10800" y="10750"/>
                  <a:pt x="16200" y="10800"/>
                  <a:pt x="21600" y="10800"/>
                </a:cubicBezTo>
                <a:cubicBezTo>
                  <a:pt x="16200" y="10800"/>
                  <a:pt x="10800" y="10850"/>
                  <a:pt x="10800" y="10900"/>
                </a:cubicBezTo>
                <a:lnTo>
                  <a:pt x="10800" y="21500"/>
                </a:lnTo>
                <a:cubicBezTo>
                  <a:pt x="10800" y="21550"/>
                  <a:pt x="5400" y="21600"/>
                  <a:pt x="0" y="21600"/>
                </a:cubicBezTo>
              </a:path>
            </a:pathLst>
          </a:custGeom>
          <a:noFill/>
          <a:ln w="1908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2" name="ZoneTexte 4"/>
          <p:cNvSpPr/>
          <p:nvPr/>
        </p:nvSpPr>
        <p:spPr>
          <a:xfrm>
            <a:off x="3133440" y="3716280"/>
            <a:ext cx="17708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Maturation</a:t>
            </a:r>
            <a:endParaRPr b="0" lang="en-US" sz="2000" strike="noStrike" u="none">
              <a:solidFill>
                <a:srgbClr val="ffff00"/>
              </a:solidFill>
              <a:effectLst/>
              <a:uFillTx/>
              <a:latin typeface="Times New Roman"/>
            </a:endParaRPr>
          </a:p>
        </p:txBody>
      </p:sp>
      <p:sp>
        <p:nvSpPr>
          <p:cNvPr id="163" name="Text Box 19"/>
          <p:cNvSpPr/>
          <p:nvPr/>
        </p:nvSpPr>
        <p:spPr>
          <a:xfrm>
            <a:off x="3526920" y="4437000"/>
            <a:ext cx="1128240" cy="3988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Puberté</a:t>
            </a:r>
            <a:endParaRPr b="0" lang="en-US" sz="2000" strike="noStrike" u="none">
              <a:solidFill>
                <a:srgbClr val="ffff00"/>
              </a:solidFill>
              <a:effectLst/>
              <a:uFillTx/>
              <a:latin typeface="Times New Roman"/>
            </a:endParaRPr>
          </a:p>
        </p:txBody>
      </p:sp>
      <p:sp>
        <p:nvSpPr>
          <p:cNvPr id="164" name="ZoneTexte 5"/>
          <p:cNvSpPr/>
          <p:nvPr/>
        </p:nvSpPr>
        <p:spPr>
          <a:xfrm>
            <a:off x="104040" y="5307120"/>
            <a:ext cx="83088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Stades :  prépubertaire,   pubertaire  et  post pubertaire</a:t>
            </a:r>
            <a:endParaRPr b="0" lang="en-US" sz="2000" strike="noStrike" u="none">
              <a:solidFill>
                <a:srgbClr val="ffff00"/>
              </a:solidFill>
              <a:effectLst/>
              <a:uFillTx/>
              <a:latin typeface="Times New Roman"/>
            </a:endParaRPr>
          </a:p>
        </p:txBody>
      </p:sp>
      <p:sp>
        <p:nvSpPr>
          <p:cNvPr id="165" name="Accolade fermante 6"/>
          <p:cNvSpPr/>
          <p:nvPr/>
        </p:nvSpPr>
        <p:spPr>
          <a:xfrm rot="16200000">
            <a:off x="3970080" y="2150640"/>
            <a:ext cx="335160" cy="5913360"/>
          </a:xfrm>
          <a:custGeom>
            <a:avLst/>
            <a:gdLst>
              <a:gd name="textAreaLeft" fmla="*/ 0 w 335160"/>
              <a:gd name="textAreaRight" fmla="*/ 120960 w 335160"/>
              <a:gd name="textAreaTop" fmla="*/ 0 h 5913360"/>
              <a:gd name="textAreaBottom" fmla="*/ 5913720 h 591336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0"/>
                  <a:pt x="10800" y="0"/>
                </a:cubicBezTo>
                <a:lnTo>
                  <a:pt x="10800" y="10800"/>
                </a:lnTo>
                <a:cubicBezTo>
                  <a:pt x="10800" y="10800"/>
                  <a:pt x="16200" y="10800"/>
                  <a:pt x="21600" y="10800"/>
                </a:cubicBezTo>
                <a:cubicBezTo>
                  <a:pt x="16200" y="10800"/>
                  <a:pt x="10800" y="10800"/>
                  <a:pt x="10800" y="10800"/>
                </a:cubicBezTo>
                <a:lnTo>
                  <a:pt x="10800" y="21600"/>
                </a:lnTo>
                <a:cubicBezTo>
                  <a:pt x="10800" y="21600"/>
                  <a:pt x="5400" y="21600"/>
                  <a:pt x="0" y="21600"/>
                </a:cubicBezTo>
              </a:path>
            </a:pathLst>
          </a:custGeom>
          <a:noFill/>
          <a:ln w="28440">
            <a:solidFill>
              <a:srgbClr val="ffffff"/>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spd="med">
    <p:zoom dir="out"/>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ZoneTexte 1"/>
          <p:cNvSpPr/>
          <p:nvPr/>
        </p:nvSpPr>
        <p:spPr>
          <a:xfrm>
            <a:off x="-894240" y="2563920"/>
            <a:ext cx="11004120" cy="642600"/>
          </a:xfrm>
          <a:prstGeom prst="rect">
            <a:avLst/>
          </a:prstGeom>
          <a:noFill/>
          <a:ln w="1908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00"/>
                </a:solidFill>
                <a:effectLst/>
                <a:uFillTx/>
                <a:latin typeface="Calibri"/>
                <a:ea typeface="Calibri"/>
              </a:rPr>
              <a:t>CROISSANCE, MATURATION ET MOTRICITÉ</a:t>
            </a:r>
            <a:endParaRPr b="0" lang="en-US" sz="3600" strike="noStrike" u="none">
              <a:solidFill>
                <a:srgbClr val="ffff00"/>
              </a:solidFill>
              <a:effectLst/>
              <a:uFillTx/>
              <a:latin typeface="Times New Roman"/>
            </a:endParaRPr>
          </a:p>
        </p:txBody>
      </p:sp>
    </p:spTree>
  </p:cSld>
  <p:transition spd="med">
    <p:zoom dir="out"/>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Text Box 2"/>
          <p:cNvSpPr/>
          <p:nvPr/>
        </p:nvSpPr>
        <p:spPr>
          <a:xfrm>
            <a:off x="1435680" y="380880"/>
            <a:ext cx="21960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CROISSANCE</a:t>
            </a:r>
            <a:endParaRPr b="0" lang="en-US" sz="2400" strike="noStrike" u="none">
              <a:solidFill>
                <a:srgbClr val="ffff00"/>
              </a:solidFill>
              <a:effectLst/>
              <a:uFillTx/>
              <a:latin typeface="Times New Roman"/>
            </a:endParaRPr>
          </a:p>
        </p:txBody>
      </p:sp>
      <p:sp>
        <p:nvSpPr>
          <p:cNvPr id="168" name="Text Box 3"/>
          <p:cNvSpPr/>
          <p:nvPr/>
        </p:nvSpPr>
        <p:spPr>
          <a:xfrm>
            <a:off x="3882600" y="304920"/>
            <a:ext cx="4183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200" strike="noStrike" u="none">
                <a:solidFill>
                  <a:srgbClr val="ffff00"/>
                </a:solidFill>
                <a:effectLst/>
                <a:uFillTx/>
                <a:latin typeface="Arial"/>
              </a:rPr>
              <a:t>+</a:t>
            </a:r>
            <a:endParaRPr b="0" lang="en-US" sz="3200" strike="noStrike" u="none">
              <a:solidFill>
                <a:srgbClr val="ffff00"/>
              </a:solidFill>
              <a:effectLst/>
              <a:uFillTx/>
              <a:latin typeface="Times New Roman"/>
            </a:endParaRPr>
          </a:p>
        </p:txBody>
      </p:sp>
      <p:sp>
        <p:nvSpPr>
          <p:cNvPr id="169" name="Text Box 4"/>
          <p:cNvSpPr/>
          <p:nvPr/>
        </p:nvSpPr>
        <p:spPr>
          <a:xfrm>
            <a:off x="5244840" y="380880"/>
            <a:ext cx="21956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MATURATION</a:t>
            </a:r>
            <a:endParaRPr b="0" lang="en-US" sz="2400" strike="noStrike" u="none">
              <a:solidFill>
                <a:srgbClr val="ffff00"/>
              </a:solidFill>
              <a:effectLst/>
              <a:uFillTx/>
              <a:latin typeface="Times New Roman"/>
            </a:endParaRPr>
          </a:p>
        </p:txBody>
      </p:sp>
      <p:sp>
        <p:nvSpPr>
          <p:cNvPr id="170" name="Text Box 5"/>
          <p:cNvSpPr/>
          <p:nvPr/>
        </p:nvSpPr>
        <p:spPr>
          <a:xfrm>
            <a:off x="609480" y="990720"/>
            <a:ext cx="3119400" cy="14950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00"/>
                </a:solidFill>
                <a:effectLst/>
                <a:uFillTx/>
                <a:latin typeface="Arial"/>
              </a:rPr>
              <a:t>    </a:t>
            </a:r>
            <a:r>
              <a:rPr b="0" lang="es-CL" sz="1800" strike="noStrike" u="none">
                <a:solidFill>
                  <a:srgbClr val="ffff00"/>
                </a:solidFill>
                <a:effectLst/>
                <a:uFillTx/>
                <a:latin typeface="Arial"/>
              </a:rPr>
              <a:t>Mesures biométriques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standardisées</a:t>
            </a:r>
            <a:endParaRPr b="0" lang="en-US" sz="18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600" strike="noStrike" u="none">
                <a:solidFill>
                  <a:srgbClr val="ffffff"/>
                </a:solidFill>
                <a:effectLst/>
                <a:uFillTx/>
                <a:latin typeface="Arial"/>
              </a:rPr>
              <a:t>EVALUATION  NORMATIVE</a:t>
            </a:r>
            <a:endParaRPr b="0" lang="en-US" sz="1600" strike="noStrike" u="none">
              <a:solidFill>
                <a:srgbClr val="ffff00"/>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600" strike="noStrike" u="none">
                <a:solidFill>
                  <a:srgbClr val="ffffff"/>
                </a:solidFill>
                <a:effectLst/>
                <a:uFillTx/>
                <a:latin typeface="Arial"/>
              </a:rPr>
              <a:t>(tempo)</a:t>
            </a:r>
            <a:r>
              <a:rPr b="0" i="1" lang="es-CL" sz="1600" strike="noStrike" u="none">
                <a:solidFill>
                  <a:srgbClr val="ffffff"/>
                </a:solidFill>
                <a:effectLst/>
                <a:uFillTx/>
                <a:latin typeface="Arial"/>
              </a:rPr>
              <a:t> </a:t>
            </a:r>
            <a:endParaRPr b="0" lang="en-US" sz="1600" strike="noStrike" u="none">
              <a:solidFill>
                <a:srgbClr val="ffff00"/>
              </a:solidFill>
              <a:effectLst/>
              <a:uFillTx/>
              <a:latin typeface="Times New Roman"/>
            </a:endParaRPr>
          </a:p>
        </p:txBody>
      </p:sp>
      <p:sp>
        <p:nvSpPr>
          <p:cNvPr id="171" name="Text Box 6"/>
          <p:cNvSpPr/>
          <p:nvPr/>
        </p:nvSpPr>
        <p:spPr>
          <a:xfrm>
            <a:off x="4191120" y="914400"/>
            <a:ext cx="3916080" cy="15321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Appréciation des stades atteints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dans les étapes critiques du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développement ontogénétique</a:t>
            </a:r>
            <a:endParaRPr b="0" lang="en-US" sz="1800" strike="noStrike" u="none">
              <a:solidFill>
                <a:srgbClr val="ffff00"/>
              </a:solidFill>
              <a:effectLst/>
              <a:uFillTx/>
              <a:latin typeface="Times New Roman"/>
            </a:endParaRPr>
          </a:p>
          <a:p>
            <a:pPr>
              <a:lnSpc>
                <a:spcPct val="6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600" strike="noStrike" u="none">
                <a:solidFill>
                  <a:srgbClr val="ffffff"/>
                </a:solidFill>
                <a:effectLst/>
                <a:uFillTx/>
                <a:latin typeface="Arial"/>
              </a:rPr>
              <a:t>OBSERVATIONS LONGITUDINALES</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600" strike="noStrike" u="none">
                <a:solidFill>
                  <a:srgbClr val="ffffff"/>
                </a:solidFill>
                <a:effectLst/>
                <a:uFillTx/>
                <a:latin typeface="Arial"/>
              </a:rPr>
              <a:t>(timing)</a:t>
            </a:r>
            <a:endParaRPr b="0" lang="en-US" sz="1600" strike="noStrike" u="none">
              <a:solidFill>
                <a:srgbClr val="ffff00"/>
              </a:solidFill>
              <a:effectLst/>
              <a:uFillTx/>
              <a:latin typeface="Times New Roman"/>
            </a:endParaRPr>
          </a:p>
        </p:txBody>
      </p:sp>
      <p:sp>
        <p:nvSpPr>
          <p:cNvPr id="172" name="Rectangle 7"/>
          <p:cNvSpPr/>
          <p:nvPr/>
        </p:nvSpPr>
        <p:spPr>
          <a:xfrm>
            <a:off x="990720" y="380880"/>
            <a:ext cx="2361960" cy="45720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3" name="Rectangle 8"/>
          <p:cNvSpPr/>
          <p:nvPr/>
        </p:nvSpPr>
        <p:spPr>
          <a:xfrm>
            <a:off x="4648320" y="380880"/>
            <a:ext cx="2971800" cy="45720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4" name="AutoShape 9"/>
          <p:cNvSpPr/>
          <p:nvPr/>
        </p:nvSpPr>
        <p:spPr>
          <a:xfrm rot="5654400">
            <a:off x="7200360" y="1028520"/>
            <a:ext cx="1752480" cy="609480"/>
          </a:xfrm>
          <a:custGeom>
            <a:avLst/>
            <a:gdLst>
              <a:gd name="textAreaLeft" fmla="*/ 1008360 w 1752480"/>
              <a:gd name="textAreaRight" fmla="*/ 1478880 w 1752480"/>
              <a:gd name="textAreaTop" fmla="*/ 82080 h 609480"/>
              <a:gd name="textAreaBottom" fmla="*/ 261000 h 609480"/>
              <a:gd name="GluePoint1X" fmla="*/ 2147483647 w 21600"/>
              <a:gd name="GluePoint1Y" fmla="*/ 0 h 21600"/>
              <a:gd name="GluePoint2X" fmla="*/ 2147483647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00cc99"/>
          </a:solid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5" name="AutoShape 10"/>
          <p:cNvSpPr/>
          <p:nvPr/>
        </p:nvSpPr>
        <p:spPr>
          <a:xfrm>
            <a:off x="3809880" y="990720"/>
            <a:ext cx="381240" cy="1371600"/>
          </a:xfrm>
          <a:prstGeom prst="downArrow">
            <a:avLst>
              <a:gd name="adj1" fmla="val 50000"/>
              <a:gd name="adj2" fmla="val 89943"/>
            </a:avLst>
          </a:prstGeom>
          <a:solidFill>
            <a:srgbClr val="00cc99"/>
          </a:solid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6" name="Oval 11"/>
          <p:cNvSpPr/>
          <p:nvPr/>
        </p:nvSpPr>
        <p:spPr>
          <a:xfrm>
            <a:off x="3733920" y="304920"/>
            <a:ext cx="609480" cy="609480"/>
          </a:xfrm>
          <a:prstGeom prst="ellipse">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 name="Text Box 12"/>
          <p:cNvSpPr/>
          <p:nvPr/>
        </p:nvSpPr>
        <p:spPr>
          <a:xfrm>
            <a:off x="1371600" y="2438280"/>
            <a:ext cx="3048120" cy="825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DEVELOPPEMENT</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MOTEUR</a:t>
            </a:r>
            <a:endParaRPr b="0" lang="en-US" sz="2400" strike="noStrike" u="none">
              <a:solidFill>
                <a:srgbClr val="ffff00"/>
              </a:solidFill>
              <a:effectLst/>
              <a:uFillTx/>
              <a:latin typeface="Times New Roman"/>
            </a:endParaRPr>
          </a:p>
        </p:txBody>
      </p:sp>
      <p:sp>
        <p:nvSpPr>
          <p:cNvPr id="178" name="Text Box 13"/>
          <p:cNvSpPr/>
          <p:nvPr/>
        </p:nvSpPr>
        <p:spPr>
          <a:xfrm>
            <a:off x="5461920" y="2438280"/>
            <a:ext cx="2958480" cy="825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APPRENTISSAGES</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MOTEURS</a:t>
            </a:r>
            <a:endParaRPr b="0" lang="en-US" sz="2400" strike="noStrike" u="none">
              <a:solidFill>
                <a:srgbClr val="ffff00"/>
              </a:solidFill>
              <a:effectLst/>
              <a:uFillTx/>
              <a:latin typeface="Times New Roman"/>
            </a:endParaRPr>
          </a:p>
        </p:txBody>
      </p:sp>
      <p:sp>
        <p:nvSpPr>
          <p:cNvPr id="179" name="Text Box 14"/>
          <p:cNvSpPr/>
          <p:nvPr/>
        </p:nvSpPr>
        <p:spPr>
          <a:xfrm>
            <a:off x="4872960" y="2514600"/>
            <a:ext cx="4183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200" strike="noStrike" u="none">
                <a:solidFill>
                  <a:srgbClr val="ffff00"/>
                </a:solidFill>
                <a:effectLst/>
                <a:uFillTx/>
                <a:latin typeface="Arial"/>
              </a:rPr>
              <a:t>+</a:t>
            </a:r>
            <a:endParaRPr b="0" lang="en-US" sz="3200" strike="noStrike" u="none">
              <a:solidFill>
                <a:srgbClr val="ffff00"/>
              </a:solidFill>
              <a:effectLst/>
              <a:uFillTx/>
              <a:latin typeface="Times New Roman"/>
            </a:endParaRPr>
          </a:p>
        </p:txBody>
      </p:sp>
      <p:sp>
        <p:nvSpPr>
          <p:cNvPr id="180" name="Oval 15"/>
          <p:cNvSpPr/>
          <p:nvPr/>
        </p:nvSpPr>
        <p:spPr>
          <a:xfrm>
            <a:off x="4724280" y="2514600"/>
            <a:ext cx="533520" cy="533520"/>
          </a:xfrm>
          <a:prstGeom prst="ellipse">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81" name="Rectangle 16"/>
          <p:cNvSpPr/>
          <p:nvPr/>
        </p:nvSpPr>
        <p:spPr>
          <a:xfrm>
            <a:off x="1371600" y="2438280"/>
            <a:ext cx="3048120" cy="83844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82" name="AutoShape 17"/>
          <p:cNvSpPr/>
          <p:nvPr/>
        </p:nvSpPr>
        <p:spPr>
          <a:xfrm>
            <a:off x="4876920" y="3429000"/>
            <a:ext cx="380880" cy="2209680"/>
          </a:xfrm>
          <a:prstGeom prst="downArrow">
            <a:avLst>
              <a:gd name="adj1" fmla="val 50000"/>
              <a:gd name="adj2" fmla="val 145038"/>
            </a:avLst>
          </a:prstGeom>
          <a:solidFill>
            <a:srgbClr val="00cc99"/>
          </a:solidFill>
          <a:ln w="12600">
            <a:solidFill>
              <a:srgbClr val="ffff00"/>
            </a:solidFill>
            <a:miter/>
          </a:ln>
          <a:effectLst>
            <a:outerShdw dist="17819" dir="2700000" blurRad="0" rotWithShape="0">
              <a:srgbClr val="808080"/>
            </a:outerShdw>
          </a:effectLst>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83" name="Text Box 18"/>
          <p:cNvSpPr/>
          <p:nvPr/>
        </p:nvSpPr>
        <p:spPr>
          <a:xfrm>
            <a:off x="5426280" y="3429000"/>
            <a:ext cx="3447000" cy="22273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Caractérisés par les capacités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cognitives qui ne peuvent être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évaluées qu’au cours des diffé-</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rents apprentissages. Les tests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utilisés dépendent des contenus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de ces apprentissages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600" strike="noStrike" u="none">
                <a:solidFill>
                  <a:srgbClr val="ffffff"/>
                </a:solidFill>
                <a:effectLst/>
                <a:uFillTx/>
                <a:latin typeface="Arial"/>
              </a:rPr>
              <a:t>EVALUATION FORMATIVE</a:t>
            </a:r>
            <a:endParaRPr b="0" lang="en-US" sz="1600" strike="noStrike" u="none">
              <a:solidFill>
                <a:srgbClr val="ffff00"/>
              </a:solidFill>
              <a:effectLst/>
              <a:uFillTx/>
              <a:latin typeface="Times New Roman"/>
            </a:endParaRPr>
          </a:p>
        </p:txBody>
      </p:sp>
      <p:sp>
        <p:nvSpPr>
          <p:cNvPr id="184" name="Text Box 19"/>
          <p:cNvSpPr/>
          <p:nvPr/>
        </p:nvSpPr>
        <p:spPr>
          <a:xfrm>
            <a:off x="1219320" y="3429000"/>
            <a:ext cx="4019400" cy="19710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Peut être caractérisé par les capa-</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cités motrices évaluées par des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tests ou des batteries de tests stan-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dardisés</a:t>
            </a:r>
            <a:r>
              <a:rPr b="0" lang="es-CL" sz="1600" strike="noStrike" u="none">
                <a:solidFill>
                  <a:srgbClr val="ffff00"/>
                </a:solidFill>
                <a:effectLst/>
                <a:uFillTx/>
                <a:latin typeface="Arial"/>
              </a:rPr>
              <a:t>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600" strike="noStrike" u="none">
                <a:solidFill>
                  <a:srgbClr val="ffffff"/>
                </a:solidFill>
                <a:effectLst/>
                <a:uFillTx/>
                <a:latin typeface="Arial"/>
              </a:rPr>
              <a:t>EVALUATION NORMATIVE OU</a:t>
            </a:r>
            <a:endParaRPr b="0" lang="en-US" sz="16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1600" strike="noStrike" u="none">
                <a:solidFill>
                  <a:srgbClr val="ffffff"/>
                </a:solidFill>
                <a:effectLst/>
                <a:uFillTx/>
                <a:latin typeface="Arial"/>
              </a:rPr>
              <a:t>NORMATIVO-CRITERIEE</a:t>
            </a:r>
            <a:endParaRPr b="0" lang="en-US" sz="1600" strike="noStrike" u="none">
              <a:solidFill>
                <a:srgbClr val="ffff00"/>
              </a:solidFill>
              <a:effectLst/>
              <a:uFillTx/>
              <a:latin typeface="Times New Roman"/>
            </a:endParaRPr>
          </a:p>
        </p:txBody>
      </p:sp>
      <p:sp>
        <p:nvSpPr>
          <p:cNvPr id="185" name="Text Box 20"/>
          <p:cNvSpPr/>
          <p:nvPr/>
        </p:nvSpPr>
        <p:spPr>
          <a:xfrm>
            <a:off x="3352680" y="5754600"/>
            <a:ext cx="48834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COMPORTEMENT MOTEUR</a:t>
            </a:r>
            <a:endParaRPr b="0" lang="en-US" sz="2400" strike="noStrike" u="none">
              <a:solidFill>
                <a:srgbClr val="ffff00"/>
              </a:solidFill>
              <a:effectLst/>
              <a:uFillTx/>
              <a:latin typeface="Times New Roman"/>
            </a:endParaRPr>
          </a:p>
        </p:txBody>
      </p:sp>
      <p:sp>
        <p:nvSpPr>
          <p:cNvPr id="186" name="Rectangle 21"/>
          <p:cNvSpPr/>
          <p:nvPr/>
        </p:nvSpPr>
        <p:spPr>
          <a:xfrm>
            <a:off x="3352680" y="5715000"/>
            <a:ext cx="4343400" cy="533520"/>
          </a:xfrm>
          <a:prstGeom prst="rect">
            <a:avLst/>
          </a:prstGeom>
          <a:noFill/>
          <a:ln w="38160">
            <a:solidFill>
              <a:srgbClr val="ffff00"/>
            </a:solidFill>
            <a:miter/>
          </a:ln>
          <a:effectLst>
            <a:outerShdw dist="17819" dir="2700000" blurRad="0" rotWithShape="0">
              <a:srgbClr val="808080"/>
            </a:outerShdw>
          </a:effectLst>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87" name="Rectangle 22"/>
          <p:cNvSpPr/>
          <p:nvPr/>
        </p:nvSpPr>
        <p:spPr>
          <a:xfrm>
            <a:off x="5486400" y="2438280"/>
            <a:ext cx="2971800" cy="83844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timing>
    <p:tnLst>
      <p:par>
        <p:cTn id="598" dur="indefinite" restart="never" nodeType="tmRoot">
          <p:childTnLst>
            <p:seq>
              <p:cTn id="599" dur="indefinite" nodeType="mainSeq">
                <p:childTnLst>
                  <p:par>
                    <p:cTn id="600" nodeType="clickEffect" fill="hold">
                      <p:stCondLst>
                        <p:cond delay="0"/>
                      </p:stCondLst>
                      <p:childTnLst>
                        <p:par>
                          <p:cTn id="601" nodeType="withEffect" fill="hold">
                            <p:stCondLst>
                              <p:cond delay="0"/>
                            </p:stCondLst>
                            <p:childTnLst>
                              <p:par>
                                <p:cTn id="602" nodeType="afterEffect" fill="hold" presetClass="entr" presetID="2" presetSubtype="1">
                                  <p:stCondLst>
                                    <p:cond delay="0"/>
                                  </p:stCondLst>
                                  <p:iterate type="lt">
                                    <p:tmAbs val="75"/>
                                  </p:iterate>
                                  <p:childTnLst>
                                    <p:set>
                                      <p:cBhvr>
                                        <p:cTn id="603" dur="1" fill="hold">
                                          <p:stCondLst>
                                            <p:cond delay="0"/>
                                          </p:stCondLst>
                                        </p:cTn>
                                        <p:tgtEl>
                                          <p:spTgt spid="167"/>
                                        </p:tgtEl>
                                        <p:attrNameLst>
                                          <p:attrName>style.visibility</p:attrName>
                                        </p:attrNameLst>
                                      </p:cBhvr>
                                      <p:to>
                                        <p:strVal val="visible"/>
                                      </p:to>
                                    </p:set>
                                    <p:anim calcmode="lin" valueType="num">
                                      <p:cBhvr additive="base">
                                        <p:cTn id="604" dur="75" fill="hold"/>
                                        <p:tgtEl>
                                          <p:spTgt spid="167"/>
                                        </p:tgtEl>
                                        <p:attrNameLst>
                                          <p:attrName>ppt_x</p:attrName>
                                        </p:attrNameLst>
                                      </p:cBhvr>
                                      <p:tavLst>
                                        <p:tav tm="0">
                                          <p:val>
                                            <p:strVal val="#ppt_x"/>
                                          </p:val>
                                        </p:tav>
                                        <p:tav tm="100000">
                                          <p:val>
                                            <p:strVal val="#ppt_x"/>
                                          </p:val>
                                        </p:tav>
                                      </p:tavLst>
                                    </p:anim>
                                    <p:anim calcmode="lin" valueType="num">
                                      <p:cBhvr additive="base">
                                        <p:cTn id="605" dur="75" fill="hold"/>
                                        <p:tgtEl>
                                          <p:spTgt spid="167"/>
                                        </p:tgtEl>
                                        <p:attrNameLst>
                                          <p:attrName>ppt_y</p:attrName>
                                        </p:attrNameLst>
                                      </p:cBhvr>
                                      <p:tavLst>
                                        <p:tav tm="0">
                                          <p:val>
                                            <p:strVal val="0-#ppt_h/2"/>
                                          </p:val>
                                        </p:tav>
                                        <p:tav tm="100000">
                                          <p:val>
                                            <p:strVal val="#ppt_y"/>
                                          </p:val>
                                        </p:tav>
                                      </p:tavLst>
                                    </p:anim>
                                  </p:childTnLst>
                                </p:cTn>
                              </p:par>
                            </p:childTnLst>
                          </p:cTn>
                        </p:par>
                        <p:par>
                          <p:cTn id="606" nodeType="afterEffect" fill="hold">
                            <p:stCondLst>
                              <p:cond delay="750"/>
                            </p:stCondLst>
                            <p:childTnLst>
                              <p:par>
                                <p:cTn id="607" nodeType="afterEffect" fill="hold" presetClass="entr" presetID="9">
                                  <p:stCondLst>
                                    <p:cond delay="0"/>
                                  </p:stCondLst>
                                  <p:childTnLst>
                                    <p:set>
                                      <p:cBhvr>
                                        <p:cTn id="608" dur="1" fill="hold">
                                          <p:stCondLst>
                                            <p:cond delay="0"/>
                                          </p:stCondLst>
                                        </p:cTn>
                                        <p:tgtEl>
                                          <p:spTgt spid="172"/>
                                        </p:tgtEl>
                                        <p:attrNameLst>
                                          <p:attrName>style.visibility</p:attrName>
                                        </p:attrNameLst>
                                      </p:cBhvr>
                                      <p:to>
                                        <p:strVal val="visible"/>
                                      </p:to>
                                    </p:set>
                                    <p:animEffect filter="dissolve" transition="in">
                                      <p:cBhvr additive="repl">
                                        <p:cTn id="609" dur="500"/>
                                        <p:tgtEl>
                                          <p:spTgt spid="172"/>
                                        </p:tgtEl>
                                      </p:cBhvr>
                                    </p:animEffect>
                                  </p:childTnLst>
                                </p:cTn>
                              </p:par>
                            </p:childTnLst>
                          </p:cTn>
                        </p:par>
                        <p:par>
                          <p:cTn id="610" nodeType="afterEffect" fill="hold">
                            <p:stCondLst>
                              <p:cond delay="1250"/>
                            </p:stCondLst>
                            <p:childTnLst>
                              <p:par>
                                <p:cTn id="611" nodeType="afterEffect" fill="hold" presetClass="entr" presetID="2" presetSubtype="9">
                                  <p:stCondLst>
                                    <p:cond delay="2000"/>
                                  </p:stCondLst>
                                  <p:iterate type="lt">
                                    <p:tmAbs val="75"/>
                                  </p:iterate>
                                  <p:childTnLst>
                                    <p:set>
                                      <p:cBhvr>
                                        <p:cTn id="612" dur="1" fill="hold">
                                          <p:stCondLst>
                                            <p:cond delay="0"/>
                                          </p:stCondLst>
                                        </p:cTn>
                                        <p:tgtEl>
                                          <p:spTgt spid="170"/>
                                        </p:tgtEl>
                                        <p:attrNameLst>
                                          <p:attrName>style.visibility</p:attrName>
                                        </p:attrNameLst>
                                      </p:cBhvr>
                                      <p:to>
                                        <p:strVal val="visible"/>
                                      </p:to>
                                    </p:set>
                                    <p:anim calcmode="lin" valueType="num">
                                      <p:cBhvr additive="base">
                                        <p:cTn id="613" dur="75" fill="hold"/>
                                        <p:tgtEl>
                                          <p:spTgt spid="170"/>
                                        </p:tgtEl>
                                        <p:attrNameLst>
                                          <p:attrName>ppt_x</p:attrName>
                                        </p:attrNameLst>
                                      </p:cBhvr>
                                      <p:tavLst>
                                        <p:tav tm="0">
                                          <p:val>
                                            <p:strVal val="0-#ppt_w/2"/>
                                          </p:val>
                                        </p:tav>
                                        <p:tav tm="100000">
                                          <p:val>
                                            <p:strVal val="#ppt_x"/>
                                          </p:val>
                                        </p:tav>
                                      </p:tavLst>
                                    </p:anim>
                                    <p:anim calcmode="lin" valueType="num">
                                      <p:cBhvr additive="base">
                                        <p:cTn id="614" dur="75" fill="hold"/>
                                        <p:tgtEl>
                                          <p:spTgt spid="170"/>
                                        </p:tgtEl>
                                        <p:attrNameLst>
                                          <p:attrName>ppt_y</p:attrName>
                                        </p:attrNameLst>
                                      </p:cBhvr>
                                      <p:tavLst>
                                        <p:tav tm="0">
                                          <p:val>
                                            <p:strVal val="0-#ppt_h/2"/>
                                          </p:val>
                                        </p:tav>
                                        <p:tav tm="100000">
                                          <p:val>
                                            <p:strVal val="#ppt_y"/>
                                          </p:val>
                                        </p:tav>
                                      </p:tavLst>
                                    </p:anim>
                                  </p:childTnLst>
                                </p:cTn>
                              </p:par>
                            </p:childTnLst>
                          </p:cTn>
                        </p:par>
                      </p:childTnLst>
                    </p:cTn>
                  </p:par>
                  <p:par>
                    <p:cTn id="615" nodeType="clickEffect" fill="hold">
                      <p:stCondLst>
                        <p:cond delay="indefinite"/>
                      </p:stCondLst>
                      <p:childTnLst>
                        <p:par>
                          <p:cTn id="616" nodeType="withEffect" fill="hold">
                            <p:stCondLst>
                              <p:cond delay="0"/>
                            </p:stCondLst>
                            <p:childTnLst>
                              <p:par>
                                <p:cTn id="617" nodeType="clickEffect" fill="hold" presetClass="entr" presetID="2" presetSubtype="1">
                                  <p:stCondLst>
                                    <p:cond delay="0"/>
                                  </p:stCondLst>
                                  <p:iterate type="lt">
                                    <p:tmAbs val="75"/>
                                  </p:iterate>
                                  <p:childTnLst>
                                    <p:set>
                                      <p:cBhvr>
                                        <p:cTn id="618" dur="1" fill="hold">
                                          <p:stCondLst>
                                            <p:cond delay="0"/>
                                          </p:stCondLst>
                                        </p:cTn>
                                        <p:tgtEl>
                                          <p:spTgt spid="169"/>
                                        </p:tgtEl>
                                        <p:attrNameLst>
                                          <p:attrName>style.visibility</p:attrName>
                                        </p:attrNameLst>
                                      </p:cBhvr>
                                      <p:to>
                                        <p:strVal val="visible"/>
                                      </p:to>
                                    </p:set>
                                    <p:anim calcmode="lin" valueType="num">
                                      <p:cBhvr additive="base">
                                        <p:cTn id="619" dur="75" fill="hold"/>
                                        <p:tgtEl>
                                          <p:spTgt spid="169"/>
                                        </p:tgtEl>
                                        <p:attrNameLst>
                                          <p:attrName>ppt_x</p:attrName>
                                        </p:attrNameLst>
                                      </p:cBhvr>
                                      <p:tavLst>
                                        <p:tav tm="0">
                                          <p:val>
                                            <p:strVal val="#ppt_x"/>
                                          </p:val>
                                        </p:tav>
                                        <p:tav tm="100000">
                                          <p:val>
                                            <p:strVal val="#ppt_x"/>
                                          </p:val>
                                        </p:tav>
                                      </p:tavLst>
                                    </p:anim>
                                    <p:anim calcmode="lin" valueType="num">
                                      <p:cBhvr additive="base">
                                        <p:cTn id="620" dur="75" fill="hold"/>
                                        <p:tgtEl>
                                          <p:spTgt spid="169"/>
                                        </p:tgtEl>
                                        <p:attrNameLst>
                                          <p:attrName>ppt_y</p:attrName>
                                        </p:attrNameLst>
                                      </p:cBhvr>
                                      <p:tavLst>
                                        <p:tav tm="0">
                                          <p:val>
                                            <p:strVal val="0-#ppt_h/2"/>
                                          </p:val>
                                        </p:tav>
                                        <p:tav tm="100000">
                                          <p:val>
                                            <p:strVal val="#ppt_y"/>
                                          </p:val>
                                        </p:tav>
                                      </p:tavLst>
                                    </p:anim>
                                  </p:childTnLst>
                                </p:cTn>
                              </p:par>
                            </p:childTnLst>
                          </p:cTn>
                        </p:par>
                        <p:par>
                          <p:cTn id="621" nodeType="afterEffect" fill="hold">
                            <p:stCondLst>
                              <p:cond delay="750"/>
                            </p:stCondLst>
                            <p:childTnLst>
                              <p:par>
                                <p:cTn id="622" nodeType="afterEffect" fill="hold" presetClass="entr" presetID="9">
                                  <p:stCondLst>
                                    <p:cond delay="0"/>
                                  </p:stCondLst>
                                  <p:childTnLst>
                                    <p:set>
                                      <p:cBhvr>
                                        <p:cTn id="623" dur="1" fill="hold">
                                          <p:stCondLst>
                                            <p:cond delay="0"/>
                                          </p:stCondLst>
                                        </p:cTn>
                                        <p:tgtEl>
                                          <p:spTgt spid="173"/>
                                        </p:tgtEl>
                                        <p:attrNameLst>
                                          <p:attrName>style.visibility</p:attrName>
                                        </p:attrNameLst>
                                      </p:cBhvr>
                                      <p:to>
                                        <p:strVal val="visible"/>
                                      </p:to>
                                    </p:set>
                                    <p:animEffect filter="dissolve" transition="in">
                                      <p:cBhvr additive="repl">
                                        <p:cTn id="624" dur="500"/>
                                        <p:tgtEl>
                                          <p:spTgt spid="173"/>
                                        </p:tgtEl>
                                      </p:cBhvr>
                                    </p:animEffect>
                                  </p:childTnLst>
                                </p:cTn>
                              </p:par>
                            </p:childTnLst>
                          </p:cTn>
                        </p:par>
                        <p:par>
                          <p:cTn id="625" nodeType="afterEffect" fill="hold">
                            <p:stCondLst>
                              <p:cond delay="1250"/>
                            </p:stCondLst>
                            <p:childTnLst>
                              <p:par>
                                <p:cTn id="626" nodeType="afterEffect" fill="hold" presetClass="entr" presetID="9">
                                  <p:stCondLst>
                                    <p:cond delay="0"/>
                                  </p:stCondLst>
                                  <p:iterate type="lt">
                                    <p:tmAbs val="75"/>
                                  </p:iterate>
                                  <p:childTnLst>
                                    <p:set>
                                      <p:cBhvr>
                                        <p:cTn id="627" dur="1" fill="hold">
                                          <p:stCondLst>
                                            <p:cond delay="0"/>
                                          </p:stCondLst>
                                        </p:cTn>
                                        <p:tgtEl>
                                          <p:spTgt spid="171"/>
                                        </p:tgtEl>
                                        <p:attrNameLst>
                                          <p:attrName>style.visibility</p:attrName>
                                        </p:attrNameLst>
                                      </p:cBhvr>
                                      <p:to>
                                        <p:strVal val="visible"/>
                                      </p:to>
                                    </p:set>
                                    <p:animEffect filter="dissolve" transition="in">
                                      <p:cBhvr additive="repl">
                                        <p:cTn id="628" dur="75"/>
                                        <p:tgtEl>
                                          <p:spTgt spid="171"/>
                                        </p:tgtEl>
                                      </p:cBhvr>
                                    </p:animEffect>
                                  </p:childTnLst>
                                </p:cTn>
                              </p:par>
                            </p:childTnLst>
                          </p:cTn>
                        </p:par>
                      </p:childTnLst>
                    </p:cTn>
                  </p:par>
                  <p:par>
                    <p:cTn id="629" nodeType="clickEffect" fill="hold">
                      <p:stCondLst>
                        <p:cond delay="indefinite"/>
                      </p:stCondLst>
                      <p:childTnLst>
                        <p:par>
                          <p:cTn id="630" nodeType="withEffect" fill="hold">
                            <p:stCondLst>
                              <p:cond delay="0"/>
                            </p:stCondLst>
                            <p:childTnLst>
                              <p:par>
                                <p:cTn id="631" nodeType="clickEffect" fill="hold" presetClass="entr" presetID="2" presetSubtype="2">
                                  <p:stCondLst>
                                    <p:cond delay="0"/>
                                  </p:stCondLst>
                                  <p:iterate type="wd">
                                    <p:tmAbs val="300"/>
                                  </p:iterate>
                                  <p:childTnLst>
                                    <p:set>
                                      <p:cBhvr>
                                        <p:cTn id="632" dur="1" fill="hold">
                                          <p:stCondLst>
                                            <p:cond delay="0"/>
                                          </p:stCondLst>
                                        </p:cTn>
                                        <p:tgtEl>
                                          <p:spTgt spid="168"/>
                                        </p:tgtEl>
                                        <p:attrNameLst>
                                          <p:attrName>style.visibility</p:attrName>
                                        </p:attrNameLst>
                                      </p:cBhvr>
                                      <p:to>
                                        <p:strVal val="visible"/>
                                      </p:to>
                                    </p:set>
                                    <p:anim calcmode="lin" valueType="num">
                                      <p:cBhvr additive="base">
                                        <p:cTn id="633" dur="300" fill="hold"/>
                                        <p:tgtEl>
                                          <p:spTgt spid="168"/>
                                        </p:tgtEl>
                                        <p:attrNameLst>
                                          <p:attrName>ppt_x</p:attrName>
                                        </p:attrNameLst>
                                      </p:cBhvr>
                                      <p:tavLst>
                                        <p:tav tm="0">
                                          <p:val>
                                            <p:strVal val="1+#ppt_w/2"/>
                                          </p:val>
                                        </p:tav>
                                        <p:tav tm="100000">
                                          <p:val>
                                            <p:strVal val="#ppt_x"/>
                                          </p:val>
                                        </p:tav>
                                      </p:tavLst>
                                    </p:anim>
                                    <p:anim calcmode="lin" valueType="num">
                                      <p:cBhvr additive="base">
                                        <p:cTn id="634" dur="300" fill="hold"/>
                                        <p:tgtEl>
                                          <p:spTgt spid="168"/>
                                        </p:tgtEl>
                                        <p:attrNameLst>
                                          <p:attrName>ppt_y</p:attrName>
                                        </p:attrNameLst>
                                      </p:cBhvr>
                                      <p:tavLst>
                                        <p:tav tm="0">
                                          <p:val>
                                            <p:strVal val="#ppt_y"/>
                                          </p:val>
                                        </p:tav>
                                        <p:tav tm="100000">
                                          <p:val>
                                            <p:strVal val="#ppt_y"/>
                                          </p:val>
                                        </p:tav>
                                      </p:tavLst>
                                    </p:anim>
                                  </p:childTnLst>
                                </p:cTn>
                              </p:par>
                            </p:childTnLst>
                          </p:cTn>
                        </p:par>
                        <p:par>
                          <p:cTn id="635" nodeType="afterEffect" fill="hold">
                            <p:stCondLst>
                              <p:cond delay="300"/>
                            </p:stCondLst>
                            <p:childTnLst>
                              <p:par>
                                <p:cTn id="636" nodeType="afterEffect" fill="hold" presetClass="entr" presetID="9">
                                  <p:stCondLst>
                                    <p:cond delay="0"/>
                                  </p:stCondLst>
                                  <p:childTnLst>
                                    <p:set>
                                      <p:cBhvr>
                                        <p:cTn id="637" dur="1" fill="hold">
                                          <p:stCondLst>
                                            <p:cond delay="0"/>
                                          </p:stCondLst>
                                        </p:cTn>
                                        <p:tgtEl>
                                          <p:spTgt spid="176"/>
                                        </p:tgtEl>
                                        <p:attrNameLst>
                                          <p:attrName>style.visibility</p:attrName>
                                        </p:attrNameLst>
                                      </p:cBhvr>
                                      <p:to>
                                        <p:strVal val="visible"/>
                                      </p:to>
                                    </p:set>
                                    <p:animEffect filter="dissolve" transition="in">
                                      <p:cBhvr additive="repl">
                                        <p:cTn id="638" dur="500"/>
                                        <p:tgtEl>
                                          <p:spTgt spid="176"/>
                                        </p:tgtEl>
                                      </p:cBhvr>
                                    </p:animEffect>
                                  </p:childTnLst>
                                </p:cTn>
                              </p:par>
                            </p:childTnLst>
                          </p:cTn>
                        </p:par>
                        <p:par>
                          <p:cTn id="639" nodeType="afterEffect" fill="hold">
                            <p:stCondLst>
                              <p:cond delay="800"/>
                            </p:stCondLst>
                            <p:childTnLst>
                              <p:par>
                                <p:cTn id="640" nodeType="afterEffect" fill="hold" presetClass="entr" presetID="9">
                                  <p:stCondLst>
                                    <p:cond delay="0"/>
                                  </p:stCondLst>
                                  <p:childTnLst>
                                    <p:set>
                                      <p:cBhvr>
                                        <p:cTn id="641" dur="1" fill="hold">
                                          <p:stCondLst>
                                            <p:cond delay="0"/>
                                          </p:stCondLst>
                                        </p:cTn>
                                        <p:tgtEl>
                                          <p:spTgt spid="175"/>
                                        </p:tgtEl>
                                        <p:attrNameLst>
                                          <p:attrName>style.visibility</p:attrName>
                                        </p:attrNameLst>
                                      </p:cBhvr>
                                      <p:to>
                                        <p:strVal val="visible"/>
                                      </p:to>
                                    </p:set>
                                    <p:animEffect filter="dissolve" transition="in">
                                      <p:cBhvr additive="repl">
                                        <p:cTn id="642" dur="500"/>
                                        <p:tgtEl>
                                          <p:spTgt spid="175"/>
                                        </p:tgtEl>
                                      </p:cBhvr>
                                    </p:animEffect>
                                  </p:childTnLst>
                                </p:cTn>
                              </p:par>
                            </p:childTnLst>
                          </p:cTn>
                        </p:par>
                        <p:par>
                          <p:cTn id="643" nodeType="afterEffect" fill="hold">
                            <p:stCondLst>
                              <p:cond delay="1300"/>
                            </p:stCondLst>
                            <p:childTnLst>
                              <p:par>
                                <p:cTn id="644" nodeType="afterEffect" fill="hold" presetClass="entr" presetID="2" presetSubtype="2">
                                  <p:stCondLst>
                                    <p:cond delay="0"/>
                                  </p:stCondLst>
                                  <p:iterate type="lt">
                                    <p:tmAbs val="75"/>
                                  </p:iterate>
                                  <p:childTnLst>
                                    <p:set>
                                      <p:cBhvr>
                                        <p:cTn id="645" dur="1" fill="hold">
                                          <p:stCondLst>
                                            <p:cond delay="0"/>
                                          </p:stCondLst>
                                        </p:cTn>
                                        <p:tgtEl>
                                          <p:spTgt spid="177"/>
                                        </p:tgtEl>
                                        <p:attrNameLst>
                                          <p:attrName>style.visibility</p:attrName>
                                        </p:attrNameLst>
                                      </p:cBhvr>
                                      <p:to>
                                        <p:strVal val="visible"/>
                                      </p:to>
                                    </p:set>
                                    <p:anim calcmode="lin" valueType="num">
                                      <p:cBhvr additive="base">
                                        <p:cTn id="646" dur="75" fill="hold"/>
                                        <p:tgtEl>
                                          <p:spTgt spid="177"/>
                                        </p:tgtEl>
                                        <p:attrNameLst>
                                          <p:attrName>ppt_x</p:attrName>
                                        </p:attrNameLst>
                                      </p:cBhvr>
                                      <p:tavLst>
                                        <p:tav tm="0">
                                          <p:val>
                                            <p:strVal val="1+#ppt_w/2"/>
                                          </p:val>
                                        </p:tav>
                                        <p:tav tm="100000">
                                          <p:val>
                                            <p:strVal val="#ppt_x"/>
                                          </p:val>
                                        </p:tav>
                                      </p:tavLst>
                                    </p:anim>
                                    <p:anim calcmode="lin" valueType="num">
                                      <p:cBhvr additive="base">
                                        <p:cTn id="647" dur="75" fill="hold"/>
                                        <p:tgtEl>
                                          <p:spTgt spid="177"/>
                                        </p:tgtEl>
                                        <p:attrNameLst>
                                          <p:attrName>ppt_y</p:attrName>
                                        </p:attrNameLst>
                                      </p:cBhvr>
                                      <p:tavLst>
                                        <p:tav tm="0">
                                          <p:val>
                                            <p:strVal val="#ppt_y"/>
                                          </p:val>
                                        </p:tav>
                                        <p:tav tm="100000">
                                          <p:val>
                                            <p:strVal val="#ppt_y"/>
                                          </p:val>
                                        </p:tav>
                                      </p:tavLst>
                                    </p:anim>
                                  </p:childTnLst>
                                </p:cTn>
                              </p:par>
                            </p:childTnLst>
                          </p:cTn>
                        </p:par>
                        <p:par>
                          <p:cTn id="648" nodeType="afterEffect" fill="hold">
                            <p:stCondLst>
                              <p:cond delay="2725"/>
                            </p:stCondLst>
                            <p:childTnLst>
                              <p:par>
                                <p:cTn id="649" nodeType="afterEffect" fill="hold" presetClass="entr" presetID="9">
                                  <p:stCondLst>
                                    <p:cond delay="0"/>
                                  </p:stCondLst>
                                  <p:childTnLst>
                                    <p:set>
                                      <p:cBhvr>
                                        <p:cTn id="650" dur="1" fill="hold">
                                          <p:stCondLst>
                                            <p:cond delay="0"/>
                                          </p:stCondLst>
                                        </p:cTn>
                                        <p:tgtEl>
                                          <p:spTgt spid="181"/>
                                        </p:tgtEl>
                                        <p:attrNameLst>
                                          <p:attrName>style.visibility</p:attrName>
                                        </p:attrNameLst>
                                      </p:cBhvr>
                                      <p:to>
                                        <p:strVal val="visible"/>
                                      </p:to>
                                    </p:set>
                                    <p:animEffect filter="dissolve" transition="in">
                                      <p:cBhvr additive="repl">
                                        <p:cTn id="651" dur="500"/>
                                        <p:tgtEl>
                                          <p:spTgt spid="181"/>
                                        </p:tgtEl>
                                      </p:cBhvr>
                                    </p:animEffect>
                                  </p:childTnLst>
                                </p:cTn>
                              </p:par>
                            </p:childTnLst>
                          </p:cTn>
                        </p:par>
                        <p:par>
                          <p:cTn id="652" nodeType="afterEffect" fill="hold">
                            <p:stCondLst>
                              <p:cond delay="3225"/>
                            </p:stCondLst>
                            <p:childTnLst>
                              <p:par>
                                <p:cTn id="653" nodeType="afterEffect" fill="hold" presetClass="entr" presetID="2" presetSubtype="2">
                                  <p:stCondLst>
                                    <p:cond delay="0"/>
                                  </p:stCondLst>
                                  <p:iterate type="lt">
                                    <p:tmAbs val="75"/>
                                  </p:iterate>
                                  <p:childTnLst>
                                    <p:set>
                                      <p:cBhvr>
                                        <p:cTn id="654" dur="1" fill="hold">
                                          <p:stCondLst>
                                            <p:cond delay="0"/>
                                          </p:stCondLst>
                                        </p:cTn>
                                        <p:tgtEl>
                                          <p:spTgt spid="184"/>
                                        </p:tgtEl>
                                        <p:attrNameLst>
                                          <p:attrName>style.visibility</p:attrName>
                                        </p:attrNameLst>
                                      </p:cBhvr>
                                      <p:to>
                                        <p:strVal val="visible"/>
                                      </p:to>
                                    </p:set>
                                    <p:anim calcmode="lin" valueType="num">
                                      <p:cBhvr additive="base">
                                        <p:cTn id="655" dur="75" fill="hold"/>
                                        <p:tgtEl>
                                          <p:spTgt spid="184"/>
                                        </p:tgtEl>
                                        <p:attrNameLst>
                                          <p:attrName>ppt_x</p:attrName>
                                        </p:attrNameLst>
                                      </p:cBhvr>
                                      <p:tavLst>
                                        <p:tav tm="0">
                                          <p:val>
                                            <p:strVal val="1+#ppt_w/2"/>
                                          </p:val>
                                        </p:tav>
                                        <p:tav tm="100000">
                                          <p:val>
                                            <p:strVal val="#ppt_x"/>
                                          </p:val>
                                        </p:tav>
                                      </p:tavLst>
                                    </p:anim>
                                    <p:anim calcmode="lin" valueType="num">
                                      <p:cBhvr additive="base">
                                        <p:cTn id="656" dur="75" fill="hold"/>
                                        <p:tgtEl>
                                          <p:spTgt spid="184"/>
                                        </p:tgtEl>
                                        <p:attrNameLst>
                                          <p:attrName>ppt_y</p:attrName>
                                        </p:attrNameLst>
                                      </p:cBhvr>
                                      <p:tavLst>
                                        <p:tav tm="0">
                                          <p:val>
                                            <p:strVal val="#ppt_y"/>
                                          </p:val>
                                        </p:tav>
                                        <p:tav tm="100000">
                                          <p:val>
                                            <p:strVal val="#ppt_y"/>
                                          </p:val>
                                        </p:tav>
                                      </p:tavLst>
                                    </p:anim>
                                  </p:childTnLst>
                                </p:cTn>
                              </p:par>
                            </p:childTnLst>
                          </p:cTn>
                        </p:par>
                      </p:childTnLst>
                    </p:cTn>
                  </p:par>
                  <p:par>
                    <p:cTn id="657" nodeType="clickEffect" fill="hold">
                      <p:stCondLst>
                        <p:cond delay="indefinite"/>
                      </p:stCondLst>
                      <p:childTnLst>
                        <p:par>
                          <p:cTn id="658" nodeType="withEffect" fill="hold">
                            <p:stCondLst>
                              <p:cond delay="0"/>
                            </p:stCondLst>
                            <p:childTnLst>
                              <p:par>
                                <p:cTn id="659" nodeType="clickEffect" fill="hold" presetClass="entr" presetID="9">
                                  <p:stCondLst>
                                    <p:cond delay="0"/>
                                  </p:stCondLst>
                                  <p:childTnLst>
                                    <p:set>
                                      <p:cBhvr>
                                        <p:cTn id="660" dur="1" fill="hold">
                                          <p:stCondLst>
                                            <p:cond delay="0"/>
                                          </p:stCondLst>
                                        </p:cTn>
                                        <p:tgtEl>
                                          <p:spTgt spid="174"/>
                                        </p:tgtEl>
                                        <p:attrNameLst>
                                          <p:attrName>style.visibility</p:attrName>
                                        </p:attrNameLst>
                                      </p:cBhvr>
                                      <p:to>
                                        <p:strVal val="visible"/>
                                      </p:to>
                                    </p:set>
                                    <p:animEffect filter="dissolve" transition="in">
                                      <p:cBhvr additive="repl">
                                        <p:cTn id="661" dur="500"/>
                                        <p:tgtEl>
                                          <p:spTgt spid="174"/>
                                        </p:tgtEl>
                                      </p:cBhvr>
                                    </p:animEffect>
                                  </p:childTnLst>
                                </p:cTn>
                              </p:par>
                            </p:childTnLst>
                          </p:cTn>
                        </p:par>
                        <p:par>
                          <p:cTn id="662" nodeType="afterEffect" fill="hold">
                            <p:stCondLst>
                              <p:cond delay="500"/>
                            </p:stCondLst>
                            <p:childTnLst>
                              <p:par>
                                <p:cTn id="663" nodeType="afterEffect" fill="hold" presetClass="entr" presetID="2" presetSubtype="3">
                                  <p:stCondLst>
                                    <p:cond delay="0"/>
                                  </p:stCondLst>
                                  <p:iterate type="lt">
                                    <p:tmAbs val="75"/>
                                  </p:iterate>
                                  <p:childTnLst>
                                    <p:set>
                                      <p:cBhvr>
                                        <p:cTn id="664" dur="1" fill="hold">
                                          <p:stCondLst>
                                            <p:cond delay="0"/>
                                          </p:stCondLst>
                                        </p:cTn>
                                        <p:tgtEl>
                                          <p:spTgt spid="178"/>
                                        </p:tgtEl>
                                        <p:attrNameLst>
                                          <p:attrName>style.visibility</p:attrName>
                                        </p:attrNameLst>
                                      </p:cBhvr>
                                      <p:to>
                                        <p:strVal val="visible"/>
                                      </p:to>
                                    </p:set>
                                    <p:anim calcmode="lin" valueType="num">
                                      <p:cBhvr additive="base">
                                        <p:cTn id="665" dur="75" fill="hold"/>
                                        <p:tgtEl>
                                          <p:spTgt spid="178"/>
                                        </p:tgtEl>
                                        <p:attrNameLst>
                                          <p:attrName>ppt_x</p:attrName>
                                        </p:attrNameLst>
                                      </p:cBhvr>
                                      <p:tavLst>
                                        <p:tav tm="0">
                                          <p:val>
                                            <p:strVal val="1+#ppt_w/2"/>
                                          </p:val>
                                        </p:tav>
                                        <p:tav tm="100000">
                                          <p:val>
                                            <p:strVal val="#ppt_x"/>
                                          </p:val>
                                        </p:tav>
                                      </p:tavLst>
                                    </p:anim>
                                    <p:anim calcmode="lin" valueType="num">
                                      <p:cBhvr additive="base">
                                        <p:cTn id="666" dur="75" fill="hold"/>
                                        <p:tgtEl>
                                          <p:spTgt spid="178"/>
                                        </p:tgtEl>
                                        <p:attrNameLst>
                                          <p:attrName>ppt_y</p:attrName>
                                        </p:attrNameLst>
                                      </p:cBhvr>
                                      <p:tavLst>
                                        <p:tav tm="0">
                                          <p:val>
                                            <p:strVal val="0-#ppt_h/2"/>
                                          </p:val>
                                        </p:tav>
                                        <p:tav tm="100000">
                                          <p:val>
                                            <p:strVal val="#ppt_y"/>
                                          </p:val>
                                        </p:tav>
                                      </p:tavLst>
                                    </p:anim>
                                  </p:childTnLst>
                                </p:cTn>
                              </p:par>
                            </p:childTnLst>
                          </p:cTn>
                        </p:par>
                        <p:par>
                          <p:cTn id="667" nodeType="afterEffect" fill="hold">
                            <p:stCondLst>
                              <p:cond delay="2075"/>
                            </p:stCondLst>
                            <p:childTnLst>
                              <p:par>
                                <p:cTn id="668" nodeType="afterEffect" fill="hold" presetClass="entr" presetID="9">
                                  <p:stCondLst>
                                    <p:cond delay="0"/>
                                  </p:stCondLst>
                                  <p:childTnLst>
                                    <p:set>
                                      <p:cBhvr>
                                        <p:cTn id="669" dur="1" fill="hold">
                                          <p:stCondLst>
                                            <p:cond delay="0"/>
                                          </p:stCondLst>
                                        </p:cTn>
                                        <p:tgtEl>
                                          <p:spTgt spid="187"/>
                                        </p:tgtEl>
                                        <p:attrNameLst>
                                          <p:attrName>style.visibility</p:attrName>
                                        </p:attrNameLst>
                                      </p:cBhvr>
                                      <p:to>
                                        <p:strVal val="visible"/>
                                      </p:to>
                                    </p:set>
                                    <p:animEffect filter="dissolve" transition="in">
                                      <p:cBhvr additive="repl">
                                        <p:cTn id="670" dur="500"/>
                                        <p:tgtEl>
                                          <p:spTgt spid="187"/>
                                        </p:tgtEl>
                                      </p:cBhvr>
                                    </p:animEffect>
                                  </p:childTnLst>
                                </p:cTn>
                              </p:par>
                            </p:childTnLst>
                          </p:cTn>
                        </p:par>
                        <p:par>
                          <p:cTn id="671" nodeType="afterEffect" fill="hold">
                            <p:stCondLst>
                              <p:cond delay="2575"/>
                            </p:stCondLst>
                            <p:childTnLst>
                              <p:par>
                                <p:cTn id="672" nodeType="afterEffect" fill="hold" presetClass="entr" presetID="2" presetSubtype="9">
                                  <p:stCondLst>
                                    <p:cond delay="0"/>
                                  </p:stCondLst>
                                  <p:iterate type="lt">
                                    <p:tmAbs val="75"/>
                                  </p:iterate>
                                  <p:childTnLst>
                                    <p:set>
                                      <p:cBhvr>
                                        <p:cTn id="673" dur="1" fill="hold">
                                          <p:stCondLst>
                                            <p:cond delay="0"/>
                                          </p:stCondLst>
                                        </p:cTn>
                                        <p:tgtEl>
                                          <p:spTgt spid="183"/>
                                        </p:tgtEl>
                                        <p:attrNameLst>
                                          <p:attrName>style.visibility</p:attrName>
                                        </p:attrNameLst>
                                      </p:cBhvr>
                                      <p:to>
                                        <p:strVal val="visible"/>
                                      </p:to>
                                    </p:set>
                                    <p:anim calcmode="lin" valueType="num">
                                      <p:cBhvr additive="base">
                                        <p:cTn id="674" dur="75" fill="hold"/>
                                        <p:tgtEl>
                                          <p:spTgt spid="183"/>
                                        </p:tgtEl>
                                        <p:attrNameLst>
                                          <p:attrName>ppt_x</p:attrName>
                                        </p:attrNameLst>
                                      </p:cBhvr>
                                      <p:tavLst>
                                        <p:tav tm="0">
                                          <p:val>
                                            <p:strVal val="0-#ppt_w/2"/>
                                          </p:val>
                                        </p:tav>
                                        <p:tav tm="100000">
                                          <p:val>
                                            <p:strVal val="#ppt_x"/>
                                          </p:val>
                                        </p:tav>
                                      </p:tavLst>
                                    </p:anim>
                                    <p:anim calcmode="lin" valueType="num">
                                      <p:cBhvr additive="base">
                                        <p:cTn id="675" dur="75" fill="hold"/>
                                        <p:tgtEl>
                                          <p:spTgt spid="183"/>
                                        </p:tgtEl>
                                        <p:attrNameLst>
                                          <p:attrName>ppt_y</p:attrName>
                                        </p:attrNameLst>
                                      </p:cBhvr>
                                      <p:tavLst>
                                        <p:tav tm="0">
                                          <p:val>
                                            <p:strVal val="0-#ppt_h/2"/>
                                          </p:val>
                                        </p:tav>
                                        <p:tav tm="100000">
                                          <p:val>
                                            <p:strVal val="#ppt_y"/>
                                          </p:val>
                                        </p:tav>
                                      </p:tavLst>
                                    </p:anim>
                                  </p:childTnLst>
                                </p:cTn>
                              </p:par>
                            </p:childTnLst>
                          </p:cTn>
                        </p:par>
                      </p:childTnLst>
                    </p:cTn>
                  </p:par>
                  <p:par>
                    <p:cTn id="676" nodeType="clickEffect" fill="hold">
                      <p:stCondLst>
                        <p:cond delay="indefinite"/>
                      </p:stCondLst>
                      <p:childTnLst>
                        <p:par>
                          <p:cTn id="677" nodeType="withEffect" fill="hold">
                            <p:stCondLst>
                              <p:cond delay="0"/>
                            </p:stCondLst>
                            <p:childTnLst>
                              <p:par>
                                <p:cTn id="678" nodeType="clickEffect" fill="hold" presetClass="entr" presetID="23" presetSubtype="288">
                                  <p:stCondLst>
                                    <p:cond delay="0"/>
                                  </p:stCondLst>
                                  <p:iterate type="lt">
                                    <p:tmAbs val="75"/>
                                  </p:iterate>
                                  <p:childTnLst>
                                    <p:set>
                                      <p:cBhvr>
                                        <p:cTn id="679" dur="1" fill="hold">
                                          <p:stCondLst>
                                            <p:cond delay="0"/>
                                          </p:stCondLst>
                                        </p:cTn>
                                        <p:tgtEl>
                                          <p:spTgt spid="179"/>
                                        </p:tgtEl>
                                        <p:attrNameLst>
                                          <p:attrName>style.visibility</p:attrName>
                                        </p:attrNameLst>
                                      </p:cBhvr>
                                      <p:to>
                                        <p:strVal val="visible"/>
                                      </p:to>
                                    </p:set>
                                    <p:anim calcmode="lin" valueType="num">
                                      <p:cBhvr additive="repl">
                                        <p:cTn id="680" dur="75" fill="hold"/>
                                        <p:tgtEl>
                                          <p:spTgt spid="179"/>
                                        </p:tgtEl>
                                        <p:attrNameLst>
                                          <p:attrName>ppt_w</p:attrName>
                                        </p:attrNameLst>
                                      </p:cBhvr>
                                      <p:tavLst>
                                        <p:tav tm="0">
                                          <p:val>
                                            <p:strVal val="4/3*#ppt_w"/>
                                          </p:val>
                                        </p:tav>
                                        <p:tav tm="100000">
                                          <p:val>
                                            <p:strVal val="#ppt_w"/>
                                          </p:val>
                                        </p:tav>
                                      </p:tavLst>
                                    </p:anim>
                                    <p:anim calcmode="lin" valueType="num">
                                      <p:cBhvr additive="repl">
                                        <p:cTn id="681" dur="75" fill="hold"/>
                                        <p:tgtEl>
                                          <p:spTgt spid="179"/>
                                        </p:tgtEl>
                                        <p:attrNameLst>
                                          <p:attrName>ppt_h</p:attrName>
                                        </p:attrNameLst>
                                      </p:cBhvr>
                                      <p:tavLst>
                                        <p:tav tm="0">
                                          <p:val>
                                            <p:strVal val="4/3*#ppt_h"/>
                                          </p:val>
                                        </p:tav>
                                        <p:tav tm="100000">
                                          <p:val>
                                            <p:strVal val="#ppt_h"/>
                                          </p:val>
                                        </p:tav>
                                      </p:tavLst>
                                    </p:anim>
                                  </p:childTnLst>
                                </p:cTn>
                              </p:par>
                            </p:childTnLst>
                          </p:cTn>
                        </p:par>
                        <p:par>
                          <p:cTn id="682" nodeType="afterEffect" fill="hold">
                            <p:stCondLst>
                              <p:cond delay="75"/>
                            </p:stCondLst>
                            <p:childTnLst>
                              <p:par>
                                <p:cTn id="683" nodeType="afterEffect" fill="hold" presetClass="entr" presetID="9">
                                  <p:stCondLst>
                                    <p:cond delay="0"/>
                                  </p:stCondLst>
                                  <p:childTnLst>
                                    <p:set>
                                      <p:cBhvr>
                                        <p:cTn id="684" dur="1" fill="hold">
                                          <p:stCondLst>
                                            <p:cond delay="0"/>
                                          </p:stCondLst>
                                        </p:cTn>
                                        <p:tgtEl>
                                          <p:spTgt spid="180"/>
                                        </p:tgtEl>
                                        <p:attrNameLst>
                                          <p:attrName>style.visibility</p:attrName>
                                        </p:attrNameLst>
                                      </p:cBhvr>
                                      <p:to>
                                        <p:strVal val="visible"/>
                                      </p:to>
                                    </p:set>
                                    <p:animEffect filter="dissolve" transition="in">
                                      <p:cBhvr additive="repl">
                                        <p:cTn id="685" dur="500"/>
                                        <p:tgtEl>
                                          <p:spTgt spid="180"/>
                                        </p:tgtEl>
                                      </p:cBhvr>
                                    </p:animEffect>
                                  </p:childTnLst>
                                </p:cTn>
                              </p:par>
                            </p:childTnLst>
                          </p:cTn>
                        </p:par>
                        <p:par>
                          <p:cTn id="686" nodeType="afterEffect" fill="hold">
                            <p:stCondLst>
                              <p:cond delay="575"/>
                            </p:stCondLst>
                            <p:childTnLst>
                              <p:par>
                                <p:cTn id="687" nodeType="afterEffect" fill="hold" presetClass="entr" presetID="9">
                                  <p:stCondLst>
                                    <p:cond delay="0"/>
                                  </p:stCondLst>
                                  <p:childTnLst>
                                    <p:set>
                                      <p:cBhvr>
                                        <p:cTn id="688" dur="1" fill="hold">
                                          <p:stCondLst>
                                            <p:cond delay="0"/>
                                          </p:stCondLst>
                                        </p:cTn>
                                        <p:tgtEl>
                                          <p:spTgt spid="182"/>
                                        </p:tgtEl>
                                        <p:attrNameLst>
                                          <p:attrName>style.visibility</p:attrName>
                                        </p:attrNameLst>
                                      </p:cBhvr>
                                      <p:to>
                                        <p:strVal val="visible"/>
                                      </p:to>
                                    </p:set>
                                    <p:animEffect filter="dissolve" transition="in">
                                      <p:cBhvr additive="repl">
                                        <p:cTn id="689" dur="500"/>
                                        <p:tgtEl>
                                          <p:spTgt spid="182"/>
                                        </p:tgtEl>
                                      </p:cBhvr>
                                    </p:animEffect>
                                  </p:childTnLst>
                                </p:cTn>
                              </p:par>
                            </p:childTnLst>
                          </p:cTn>
                        </p:par>
                        <p:par>
                          <p:cTn id="690" nodeType="afterEffect" fill="hold">
                            <p:stCondLst>
                              <p:cond delay="1075"/>
                            </p:stCondLst>
                            <p:childTnLst>
                              <p:par>
                                <p:cTn id="691" nodeType="afterEffect" fill="hold" presetClass="entr" presetID="18" presetSubtype="6">
                                  <p:stCondLst>
                                    <p:cond delay="0"/>
                                  </p:stCondLst>
                                  <p:iterate type="lt">
                                    <p:tmAbs val="75"/>
                                  </p:iterate>
                                  <p:childTnLst>
                                    <p:set>
                                      <p:cBhvr>
                                        <p:cTn id="692" dur="1" fill="hold">
                                          <p:stCondLst>
                                            <p:cond delay="0"/>
                                          </p:stCondLst>
                                        </p:cTn>
                                        <p:tgtEl>
                                          <p:spTgt spid="185"/>
                                        </p:tgtEl>
                                        <p:attrNameLst>
                                          <p:attrName>style.visibility</p:attrName>
                                        </p:attrNameLst>
                                      </p:cBhvr>
                                      <p:to>
                                        <p:strVal val="visible"/>
                                      </p:to>
                                    </p:set>
                                    <p:animEffect filter="strips(downRight)" transition="in">
                                      <p:cBhvr additive="repl">
                                        <p:cTn id="693" dur="75"/>
                                        <p:tgtEl>
                                          <p:spTgt spid="185"/>
                                        </p:tgtEl>
                                      </p:cBhvr>
                                    </p:animEffect>
                                  </p:childTnLst>
                                </p:cTn>
                              </p:par>
                            </p:childTnLst>
                          </p:cTn>
                        </p:par>
                        <p:par>
                          <p:cTn id="694" nodeType="afterEffect" fill="hold">
                            <p:stCondLst>
                              <p:cond delay="2425"/>
                            </p:stCondLst>
                            <p:childTnLst>
                              <p:par>
                                <p:cTn id="695" nodeType="afterEffect" fill="hold" presetClass="entr" presetID="9">
                                  <p:stCondLst>
                                    <p:cond delay="0"/>
                                  </p:stCondLst>
                                  <p:childTnLst>
                                    <p:set>
                                      <p:cBhvr>
                                        <p:cTn id="696" dur="1" fill="hold">
                                          <p:stCondLst>
                                            <p:cond delay="0"/>
                                          </p:stCondLst>
                                        </p:cTn>
                                        <p:tgtEl>
                                          <p:spTgt spid="186"/>
                                        </p:tgtEl>
                                        <p:attrNameLst>
                                          <p:attrName>style.visibility</p:attrName>
                                        </p:attrNameLst>
                                      </p:cBhvr>
                                      <p:to>
                                        <p:strVal val="visible"/>
                                      </p:to>
                                    </p:set>
                                    <p:animEffect filter="dissolve" transition="in">
                                      <p:cBhvr additive="repl">
                                        <p:cTn id="697"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Text Box 2"/>
          <p:cNvSpPr/>
          <p:nvPr/>
        </p:nvSpPr>
        <p:spPr>
          <a:xfrm>
            <a:off x="0" y="376200"/>
            <a:ext cx="4800600" cy="459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     COMPORTEMENT MOTEUR</a:t>
            </a:r>
            <a:endParaRPr b="0" lang="en-US" sz="2400" strike="noStrike" u="none">
              <a:solidFill>
                <a:srgbClr val="ffff00"/>
              </a:solidFill>
              <a:effectLst/>
              <a:uFillTx/>
              <a:latin typeface="Times New Roman"/>
            </a:endParaRPr>
          </a:p>
        </p:txBody>
      </p:sp>
      <p:sp>
        <p:nvSpPr>
          <p:cNvPr id="189" name="Text Box 3"/>
          <p:cNvSpPr/>
          <p:nvPr/>
        </p:nvSpPr>
        <p:spPr>
          <a:xfrm>
            <a:off x="694080" y="1251000"/>
            <a:ext cx="3775680" cy="22885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Dépend du nombre et de la qualité</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des apprentissages moteurs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antérieurs, des capacités motrices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et des capacités cognitives.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800" strike="noStrike" u="none">
                <a:solidFill>
                  <a:srgbClr val="ffffff"/>
                </a:solidFill>
                <a:effectLst/>
                <a:uFillTx/>
                <a:latin typeface="Arial"/>
              </a:rPr>
              <a:t>ECHELLES D’APPRECIATION ET </a:t>
            </a:r>
            <a:br>
              <a:rPr sz="1800"/>
            </a:br>
            <a:r>
              <a:rPr b="0" i="1" lang="es-CL" sz="1800" strike="noStrike" u="none">
                <a:solidFill>
                  <a:srgbClr val="ffffff"/>
                </a:solidFill>
                <a:effectLst/>
                <a:uFillTx/>
                <a:latin typeface="Arial"/>
              </a:rPr>
              <a:t>TAXINOMIES PREALABLEMENT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800" strike="noStrike" u="none">
                <a:solidFill>
                  <a:srgbClr val="ffffff"/>
                </a:solidFill>
                <a:effectLst/>
                <a:uFillTx/>
                <a:latin typeface="Arial"/>
              </a:rPr>
              <a:t>DETERMINEES.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800" strike="noStrike" u="none">
                <a:solidFill>
                  <a:srgbClr val="ffffff"/>
                </a:solidFill>
                <a:effectLst/>
                <a:uFillTx/>
                <a:latin typeface="Arial"/>
              </a:rPr>
              <a:t>OBSERVATION  ORGANISEE</a:t>
            </a:r>
            <a:endParaRPr b="0" lang="en-US" sz="1800" strike="noStrike" u="none">
              <a:solidFill>
                <a:srgbClr val="ffff00"/>
              </a:solidFill>
              <a:effectLst/>
              <a:uFillTx/>
              <a:latin typeface="Times New Roman"/>
            </a:endParaRPr>
          </a:p>
        </p:txBody>
      </p:sp>
      <p:sp>
        <p:nvSpPr>
          <p:cNvPr id="190" name="Rectangle 4"/>
          <p:cNvSpPr/>
          <p:nvPr/>
        </p:nvSpPr>
        <p:spPr>
          <a:xfrm>
            <a:off x="457200" y="336600"/>
            <a:ext cx="4267080" cy="60948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1" name="Text Box 5"/>
          <p:cNvSpPr/>
          <p:nvPr/>
        </p:nvSpPr>
        <p:spPr>
          <a:xfrm>
            <a:off x="6422760" y="412920"/>
            <a:ext cx="28562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ENVIRONNEMENT</a:t>
            </a:r>
            <a:endParaRPr b="0" lang="en-US" sz="2400" strike="noStrike" u="none">
              <a:solidFill>
                <a:srgbClr val="ffff00"/>
              </a:solidFill>
              <a:effectLst/>
              <a:uFillTx/>
              <a:latin typeface="Times New Roman"/>
            </a:endParaRPr>
          </a:p>
        </p:txBody>
      </p:sp>
      <p:sp>
        <p:nvSpPr>
          <p:cNvPr id="192" name="Rectangle 6"/>
          <p:cNvSpPr/>
          <p:nvPr/>
        </p:nvSpPr>
        <p:spPr>
          <a:xfrm>
            <a:off x="5867280" y="336600"/>
            <a:ext cx="3048120" cy="60948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3" name="Text Box 7"/>
          <p:cNvSpPr/>
          <p:nvPr/>
        </p:nvSpPr>
        <p:spPr>
          <a:xfrm>
            <a:off x="5730840" y="1268280"/>
            <a:ext cx="3230640" cy="1739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Caractérisé par des variables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inconnues et constamment en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évolution aléatoire (ex: match</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ou situations pédagogiques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contrôlées).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800" strike="noStrike" u="none">
                <a:solidFill>
                  <a:srgbClr val="ffffff"/>
                </a:solidFill>
                <a:effectLst/>
                <a:uFillTx/>
                <a:latin typeface="Arial"/>
              </a:rPr>
              <a:t>GRILLES D’OBSERVATION </a:t>
            </a:r>
            <a:endParaRPr b="0" lang="en-US" sz="1800" strike="noStrike" u="none">
              <a:solidFill>
                <a:srgbClr val="ffff00"/>
              </a:solidFill>
              <a:effectLst/>
              <a:uFillTx/>
              <a:latin typeface="Times New Roman"/>
            </a:endParaRPr>
          </a:p>
        </p:txBody>
      </p:sp>
      <p:sp>
        <p:nvSpPr>
          <p:cNvPr id="194" name="Text Box 8"/>
          <p:cNvSpPr/>
          <p:nvPr/>
        </p:nvSpPr>
        <p:spPr>
          <a:xfrm>
            <a:off x="5177880" y="336600"/>
            <a:ext cx="4183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200" strike="noStrike" u="none">
                <a:solidFill>
                  <a:srgbClr val="ffff00"/>
                </a:solidFill>
                <a:effectLst/>
                <a:uFillTx/>
                <a:latin typeface="Arial"/>
              </a:rPr>
              <a:t>+</a:t>
            </a:r>
            <a:endParaRPr b="0" lang="en-US" sz="3200" strike="noStrike" u="none">
              <a:solidFill>
                <a:srgbClr val="ffff00"/>
              </a:solidFill>
              <a:effectLst/>
              <a:uFillTx/>
              <a:latin typeface="Times New Roman"/>
            </a:endParaRPr>
          </a:p>
        </p:txBody>
      </p:sp>
      <p:sp>
        <p:nvSpPr>
          <p:cNvPr id="195" name="Oval 9"/>
          <p:cNvSpPr/>
          <p:nvPr/>
        </p:nvSpPr>
        <p:spPr>
          <a:xfrm>
            <a:off x="4952880" y="260280"/>
            <a:ext cx="685800" cy="685800"/>
          </a:xfrm>
          <a:prstGeom prst="ellipse">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6" name="AutoShape 10"/>
          <p:cNvSpPr/>
          <p:nvPr/>
        </p:nvSpPr>
        <p:spPr>
          <a:xfrm>
            <a:off x="5029200" y="1251000"/>
            <a:ext cx="380880" cy="2666880"/>
          </a:xfrm>
          <a:prstGeom prst="downArrow">
            <a:avLst>
              <a:gd name="adj1" fmla="val 50000"/>
              <a:gd name="adj2" fmla="val 175047"/>
            </a:avLst>
          </a:prstGeom>
          <a:solidFill>
            <a:srgbClr val="00cc99"/>
          </a:solid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7" name="Text Box 11"/>
          <p:cNvSpPr/>
          <p:nvPr/>
        </p:nvSpPr>
        <p:spPr>
          <a:xfrm>
            <a:off x="3720600" y="3994200"/>
            <a:ext cx="40251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CAPACITE D’ADAPTATION</a:t>
            </a:r>
            <a:endParaRPr b="0" lang="en-US" sz="2400" strike="noStrike" u="none">
              <a:solidFill>
                <a:srgbClr val="ffff00"/>
              </a:solidFill>
              <a:effectLst/>
              <a:uFillTx/>
              <a:latin typeface="Times New Roman"/>
            </a:endParaRPr>
          </a:p>
        </p:txBody>
      </p:sp>
      <p:sp>
        <p:nvSpPr>
          <p:cNvPr id="198" name="Rectangle 12"/>
          <p:cNvSpPr/>
          <p:nvPr/>
        </p:nvSpPr>
        <p:spPr>
          <a:xfrm>
            <a:off x="2895480" y="3917880"/>
            <a:ext cx="4343400" cy="685800"/>
          </a:xfrm>
          <a:prstGeom prst="rect">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9" name="Text Box 13"/>
          <p:cNvSpPr/>
          <p:nvPr/>
        </p:nvSpPr>
        <p:spPr>
          <a:xfrm>
            <a:off x="1913760" y="4792680"/>
            <a:ext cx="3331800" cy="916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Dépend de la “plasticité” des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comportements moteurs et des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situations de l’environnement</a:t>
            </a:r>
            <a:endParaRPr b="0" lang="en-US" sz="1800" strike="noStrike" u="none">
              <a:solidFill>
                <a:srgbClr val="ffff00"/>
              </a:solidFill>
              <a:effectLst/>
              <a:uFillTx/>
              <a:latin typeface="Times New Roman"/>
            </a:endParaRPr>
          </a:p>
        </p:txBody>
      </p:sp>
      <p:sp>
        <p:nvSpPr>
          <p:cNvPr id="200" name="Text Box 14"/>
          <p:cNvSpPr/>
          <p:nvPr/>
        </p:nvSpPr>
        <p:spPr>
          <a:xfrm>
            <a:off x="5410080" y="3860640"/>
            <a:ext cx="3687840" cy="20142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Evaluée par</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la modification</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                              de variables de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l’environnement (situations péda-gogiques nouvelles) et par l’obser-</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vation et l’analyse de la ou des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800" strike="noStrike" u="none">
                <a:solidFill>
                  <a:srgbClr val="ffff00"/>
                </a:solidFill>
                <a:effectLst/>
                <a:uFillTx/>
                <a:latin typeface="Arial"/>
              </a:rPr>
              <a:t>réponse(s) fournie(s).</a:t>
            </a:r>
            <a:endParaRPr b="0" lang="en-US" sz="1800" strike="noStrike" u="none">
              <a:solidFill>
                <a:srgbClr val="ffff00"/>
              </a:solidFill>
              <a:effectLst/>
              <a:uFillTx/>
              <a:latin typeface="Times New Roman"/>
            </a:endParaRPr>
          </a:p>
        </p:txBody>
      </p:sp>
      <p:sp>
        <p:nvSpPr>
          <p:cNvPr id="201" name="Text Box 15"/>
          <p:cNvSpPr/>
          <p:nvPr/>
        </p:nvSpPr>
        <p:spPr>
          <a:xfrm>
            <a:off x="1371600" y="6066000"/>
            <a:ext cx="772632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s-CL" sz="1800" strike="noStrike" u="none">
                <a:solidFill>
                  <a:srgbClr val="ffffff"/>
                </a:solidFill>
                <a:effectLst/>
                <a:uFillTx/>
                <a:latin typeface="Arial"/>
              </a:rPr>
              <a:t>OBSERVATION ORGANISEE. (Taxinomies des comportements moteurs)</a:t>
            </a:r>
            <a:endParaRPr b="0" lang="en-US" sz="1800" strike="noStrike" u="none">
              <a:solidFill>
                <a:srgbClr val="ffff00"/>
              </a:solidFill>
              <a:effectLst/>
              <a:uFillTx/>
              <a:latin typeface="Times New Roman"/>
            </a:endParaRPr>
          </a:p>
        </p:txBody>
      </p:sp>
    </p:spTree>
  </p:cSld>
  <p:transition spd="med">
    <p:zoom dir="out"/>
  </p:transition>
  <p:timing>
    <p:tnLst>
      <p:par>
        <p:cTn id="698" dur="indefinite" restart="never" nodeType="tmRoot">
          <p:childTnLst>
            <p:seq>
              <p:cTn id="699" dur="indefinite" nodeType="mainSeq">
                <p:childTnLst>
                  <p:par>
                    <p:cTn id="700" nodeType="clickEffect" fill="hold">
                      <p:stCondLst>
                        <p:cond delay="0"/>
                      </p:stCondLst>
                      <p:childTnLst>
                        <p:par>
                          <p:cTn id="701" nodeType="withEffect" fill="hold">
                            <p:stCondLst>
                              <p:cond delay="0"/>
                            </p:stCondLst>
                            <p:childTnLst>
                              <p:par>
                                <p:cTn id="702" nodeType="afterEffect" fill="hold" presetClass="entr" presetID="9">
                                  <p:stCondLst>
                                    <p:cond delay="0"/>
                                  </p:stCondLst>
                                  <p:iterate type="lt">
                                    <p:tmAbs val="75"/>
                                  </p:iterate>
                                  <p:childTnLst>
                                    <p:set>
                                      <p:cBhvr>
                                        <p:cTn id="703" dur="1" fill="hold">
                                          <p:stCondLst>
                                            <p:cond delay="0"/>
                                          </p:stCondLst>
                                        </p:cTn>
                                        <p:tgtEl>
                                          <p:spTgt spid="188"/>
                                        </p:tgtEl>
                                        <p:attrNameLst>
                                          <p:attrName>style.visibility</p:attrName>
                                        </p:attrNameLst>
                                      </p:cBhvr>
                                      <p:to>
                                        <p:strVal val="visible"/>
                                      </p:to>
                                    </p:set>
                                    <p:animEffect filter="dissolve" transition="in">
                                      <p:cBhvr additive="repl">
                                        <p:cTn id="704" dur="75"/>
                                        <p:tgtEl>
                                          <p:spTgt spid="188"/>
                                        </p:tgtEl>
                                      </p:cBhvr>
                                    </p:animEffect>
                                  </p:childTnLst>
                                </p:cTn>
                              </p:par>
                            </p:childTnLst>
                          </p:cTn>
                        </p:par>
                        <p:par>
                          <p:cTn id="705" nodeType="afterEffect" fill="hold">
                            <p:stCondLst>
                              <p:cond delay="1350"/>
                            </p:stCondLst>
                            <p:childTnLst>
                              <p:par>
                                <p:cTn id="706" nodeType="afterEffect" fill="hold" presetClass="entr" presetID="9">
                                  <p:stCondLst>
                                    <p:cond delay="0"/>
                                  </p:stCondLst>
                                  <p:childTnLst>
                                    <p:set>
                                      <p:cBhvr>
                                        <p:cTn id="707" dur="1" fill="hold">
                                          <p:stCondLst>
                                            <p:cond delay="0"/>
                                          </p:stCondLst>
                                        </p:cTn>
                                        <p:tgtEl>
                                          <p:spTgt spid="190"/>
                                        </p:tgtEl>
                                        <p:attrNameLst>
                                          <p:attrName>style.visibility</p:attrName>
                                        </p:attrNameLst>
                                      </p:cBhvr>
                                      <p:to>
                                        <p:strVal val="visible"/>
                                      </p:to>
                                    </p:set>
                                    <p:animEffect filter="dissolve" transition="in">
                                      <p:cBhvr additive="repl">
                                        <p:cTn id="708" dur="500"/>
                                        <p:tgtEl>
                                          <p:spTgt spid="190"/>
                                        </p:tgtEl>
                                      </p:cBhvr>
                                    </p:animEffect>
                                  </p:childTnLst>
                                </p:cTn>
                              </p:par>
                            </p:childTnLst>
                          </p:cTn>
                        </p:par>
                        <p:par>
                          <p:cTn id="709" nodeType="afterEffect" fill="hold">
                            <p:stCondLst>
                              <p:cond delay="1850"/>
                            </p:stCondLst>
                            <p:childTnLst>
                              <p:par>
                                <p:cTn id="710" nodeType="afterEffect" fill="hold" presetClass="entr" presetID="9">
                                  <p:stCondLst>
                                    <p:cond delay="0"/>
                                  </p:stCondLst>
                                  <p:iterate type="lt">
                                    <p:tmAbs val="75"/>
                                  </p:iterate>
                                  <p:childTnLst>
                                    <p:set>
                                      <p:cBhvr>
                                        <p:cTn id="711" dur="1" fill="hold">
                                          <p:stCondLst>
                                            <p:cond delay="0"/>
                                          </p:stCondLst>
                                        </p:cTn>
                                        <p:tgtEl>
                                          <p:spTgt spid="189"/>
                                        </p:tgtEl>
                                        <p:attrNameLst>
                                          <p:attrName>style.visibility</p:attrName>
                                        </p:attrNameLst>
                                      </p:cBhvr>
                                      <p:to>
                                        <p:strVal val="visible"/>
                                      </p:to>
                                    </p:set>
                                    <p:animEffect filter="dissolve" transition="in">
                                      <p:cBhvr additive="repl">
                                        <p:cTn id="712" dur="75"/>
                                        <p:tgtEl>
                                          <p:spTgt spid="189"/>
                                        </p:tgtEl>
                                      </p:cBhvr>
                                    </p:animEffect>
                                  </p:childTnLst>
                                </p:cTn>
                              </p:par>
                            </p:childTnLst>
                          </p:cTn>
                        </p:par>
                      </p:childTnLst>
                    </p:cTn>
                  </p:par>
                  <p:par>
                    <p:cTn id="713" nodeType="clickEffect" fill="hold">
                      <p:stCondLst>
                        <p:cond delay="indefinite"/>
                      </p:stCondLst>
                      <p:childTnLst>
                        <p:par>
                          <p:cTn id="714" nodeType="withEffect" fill="hold">
                            <p:stCondLst>
                              <p:cond delay="0"/>
                            </p:stCondLst>
                            <p:childTnLst>
                              <p:par>
                                <p:cTn id="715" nodeType="clickEffect" fill="hold" presetClass="entr" presetID="9">
                                  <p:stCondLst>
                                    <p:cond delay="0"/>
                                  </p:stCondLst>
                                  <p:iterate type="lt">
                                    <p:tmAbs val="75"/>
                                  </p:iterate>
                                  <p:childTnLst>
                                    <p:set>
                                      <p:cBhvr>
                                        <p:cTn id="716" dur="1" fill="hold">
                                          <p:stCondLst>
                                            <p:cond delay="0"/>
                                          </p:stCondLst>
                                        </p:cTn>
                                        <p:tgtEl>
                                          <p:spTgt spid="191"/>
                                        </p:tgtEl>
                                        <p:attrNameLst>
                                          <p:attrName>style.visibility</p:attrName>
                                        </p:attrNameLst>
                                      </p:cBhvr>
                                      <p:to>
                                        <p:strVal val="visible"/>
                                      </p:to>
                                    </p:set>
                                    <p:animEffect filter="dissolve" transition="in">
                                      <p:cBhvr additive="repl">
                                        <p:cTn id="717" dur="75"/>
                                        <p:tgtEl>
                                          <p:spTgt spid="191"/>
                                        </p:tgtEl>
                                      </p:cBhvr>
                                    </p:animEffect>
                                  </p:childTnLst>
                                </p:cTn>
                              </p:par>
                            </p:childTnLst>
                          </p:cTn>
                        </p:par>
                        <p:par>
                          <p:cTn id="718" nodeType="afterEffect" fill="hold">
                            <p:stCondLst>
                              <p:cond delay="975"/>
                            </p:stCondLst>
                            <p:childTnLst>
                              <p:par>
                                <p:cTn id="719" nodeType="afterEffect" fill="hold" presetClass="entr" presetID="9">
                                  <p:stCondLst>
                                    <p:cond delay="0"/>
                                  </p:stCondLst>
                                  <p:childTnLst>
                                    <p:set>
                                      <p:cBhvr>
                                        <p:cTn id="720" dur="1" fill="hold">
                                          <p:stCondLst>
                                            <p:cond delay="0"/>
                                          </p:stCondLst>
                                        </p:cTn>
                                        <p:tgtEl>
                                          <p:spTgt spid="192"/>
                                        </p:tgtEl>
                                        <p:attrNameLst>
                                          <p:attrName>style.visibility</p:attrName>
                                        </p:attrNameLst>
                                      </p:cBhvr>
                                      <p:to>
                                        <p:strVal val="visible"/>
                                      </p:to>
                                    </p:set>
                                    <p:animEffect filter="dissolve" transition="in">
                                      <p:cBhvr additive="repl">
                                        <p:cTn id="721" dur="500"/>
                                        <p:tgtEl>
                                          <p:spTgt spid="192"/>
                                        </p:tgtEl>
                                      </p:cBhvr>
                                    </p:animEffect>
                                  </p:childTnLst>
                                </p:cTn>
                              </p:par>
                            </p:childTnLst>
                          </p:cTn>
                        </p:par>
                        <p:par>
                          <p:cTn id="722" nodeType="afterEffect" fill="hold">
                            <p:stCondLst>
                              <p:cond delay="1475"/>
                            </p:stCondLst>
                            <p:childTnLst>
                              <p:par>
                                <p:cTn id="723" nodeType="afterEffect" fill="hold" presetClass="entr" presetID="9">
                                  <p:stCondLst>
                                    <p:cond delay="0"/>
                                  </p:stCondLst>
                                  <p:iterate type="lt">
                                    <p:tmAbs val="75"/>
                                  </p:iterate>
                                  <p:childTnLst>
                                    <p:set>
                                      <p:cBhvr>
                                        <p:cTn id="724" dur="1" fill="hold">
                                          <p:stCondLst>
                                            <p:cond delay="0"/>
                                          </p:stCondLst>
                                        </p:cTn>
                                        <p:tgtEl>
                                          <p:spTgt spid="193"/>
                                        </p:tgtEl>
                                        <p:attrNameLst>
                                          <p:attrName>style.visibility</p:attrName>
                                        </p:attrNameLst>
                                      </p:cBhvr>
                                      <p:to>
                                        <p:strVal val="visible"/>
                                      </p:to>
                                    </p:set>
                                    <p:animEffect filter="dissolve" transition="in">
                                      <p:cBhvr additive="repl">
                                        <p:cTn id="725" dur="75"/>
                                        <p:tgtEl>
                                          <p:spTgt spid="193"/>
                                        </p:tgtEl>
                                      </p:cBhvr>
                                    </p:animEffect>
                                  </p:childTnLst>
                                </p:cTn>
                              </p:par>
                            </p:childTnLst>
                          </p:cTn>
                        </p:par>
                      </p:childTnLst>
                    </p:cTn>
                  </p:par>
                  <p:par>
                    <p:cTn id="726" nodeType="clickEffect" fill="hold">
                      <p:stCondLst>
                        <p:cond delay="indefinite"/>
                      </p:stCondLst>
                      <p:childTnLst>
                        <p:par>
                          <p:cTn id="727" nodeType="withEffect" fill="hold">
                            <p:stCondLst>
                              <p:cond delay="0"/>
                            </p:stCondLst>
                            <p:childTnLst>
                              <p:par>
                                <p:cTn id="728" nodeType="clickEffect" fill="hold" presetClass="entr" presetID="9">
                                  <p:stCondLst>
                                    <p:cond delay="0"/>
                                  </p:stCondLst>
                                  <p:childTnLst>
                                    <p:set>
                                      <p:cBhvr>
                                        <p:cTn id="729" dur="1" fill="hold">
                                          <p:stCondLst>
                                            <p:cond delay="0"/>
                                          </p:stCondLst>
                                        </p:cTn>
                                        <p:tgtEl>
                                          <p:spTgt spid="194"/>
                                        </p:tgtEl>
                                        <p:attrNameLst>
                                          <p:attrName>style.visibility</p:attrName>
                                        </p:attrNameLst>
                                      </p:cBhvr>
                                      <p:to>
                                        <p:strVal val="visible"/>
                                      </p:to>
                                    </p:set>
                                    <p:animEffect filter="dissolve" transition="in">
                                      <p:cBhvr additive="repl">
                                        <p:cTn id="730" dur="500"/>
                                        <p:tgtEl>
                                          <p:spTgt spid="194"/>
                                        </p:tgtEl>
                                      </p:cBhvr>
                                    </p:animEffect>
                                  </p:childTnLst>
                                </p:cTn>
                              </p:par>
                            </p:childTnLst>
                          </p:cTn>
                        </p:par>
                        <p:par>
                          <p:cTn id="731" nodeType="afterEffect" fill="hold">
                            <p:stCondLst>
                              <p:cond delay="500"/>
                            </p:stCondLst>
                            <p:childTnLst>
                              <p:par>
                                <p:cTn id="732" nodeType="afterEffect" fill="hold" presetClass="entr" presetID="9">
                                  <p:stCondLst>
                                    <p:cond delay="0"/>
                                  </p:stCondLst>
                                  <p:childTnLst>
                                    <p:set>
                                      <p:cBhvr>
                                        <p:cTn id="733" dur="1" fill="hold">
                                          <p:stCondLst>
                                            <p:cond delay="0"/>
                                          </p:stCondLst>
                                        </p:cTn>
                                        <p:tgtEl>
                                          <p:spTgt spid="195"/>
                                        </p:tgtEl>
                                        <p:attrNameLst>
                                          <p:attrName>style.visibility</p:attrName>
                                        </p:attrNameLst>
                                      </p:cBhvr>
                                      <p:to>
                                        <p:strVal val="visible"/>
                                      </p:to>
                                    </p:set>
                                    <p:animEffect filter="dissolve" transition="in">
                                      <p:cBhvr additive="repl">
                                        <p:cTn id="734" dur="500"/>
                                        <p:tgtEl>
                                          <p:spTgt spid="195"/>
                                        </p:tgtEl>
                                      </p:cBhvr>
                                    </p:animEffect>
                                  </p:childTnLst>
                                </p:cTn>
                              </p:par>
                            </p:childTnLst>
                          </p:cTn>
                        </p:par>
                        <p:par>
                          <p:cTn id="735" nodeType="afterEffect" fill="hold">
                            <p:stCondLst>
                              <p:cond delay="1000"/>
                            </p:stCondLst>
                            <p:childTnLst>
                              <p:par>
                                <p:cTn id="736" nodeType="afterEffect" fill="hold" presetClass="entr" presetID="9">
                                  <p:stCondLst>
                                    <p:cond delay="0"/>
                                  </p:stCondLst>
                                  <p:childTnLst>
                                    <p:set>
                                      <p:cBhvr>
                                        <p:cTn id="737" dur="1" fill="hold">
                                          <p:stCondLst>
                                            <p:cond delay="0"/>
                                          </p:stCondLst>
                                        </p:cTn>
                                        <p:tgtEl>
                                          <p:spTgt spid="196"/>
                                        </p:tgtEl>
                                        <p:attrNameLst>
                                          <p:attrName>style.visibility</p:attrName>
                                        </p:attrNameLst>
                                      </p:cBhvr>
                                      <p:to>
                                        <p:strVal val="visible"/>
                                      </p:to>
                                    </p:set>
                                    <p:animEffect filter="dissolve" transition="in">
                                      <p:cBhvr additive="repl">
                                        <p:cTn id="738" dur="500"/>
                                        <p:tgtEl>
                                          <p:spTgt spid="196"/>
                                        </p:tgtEl>
                                      </p:cBhvr>
                                    </p:animEffect>
                                  </p:childTnLst>
                                </p:cTn>
                              </p:par>
                            </p:childTnLst>
                          </p:cTn>
                        </p:par>
                        <p:par>
                          <p:cTn id="739" nodeType="afterEffect" fill="hold">
                            <p:stCondLst>
                              <p:cond delay="1500"/>
                            </p:stCondLst>
                            <p:childTnLst>
                              <p:par>
                                <p:cTn id="740" nodeType="afterEffect" fill="hold" presetClass="entr" presetID="9">
                                  <p:stCondLst>
                                    <p:cond delay="0"/>
                                  </p:stCondLst>
                                  <p:iterate type="lt">
                                    <p:tmAbs val="75"/>
                                  </p:iterate>
                                  <p:childTnLst>
                                    <p:set>
                                      <p:cBhvr>
                                        <p:cTn id="741" dur="1" fill="hold">
                                          <p:stCondLst>
                                            <p:cond delay="0"/>
                                          </p:stCondLst>
                                        </p:cTn>
                                        <p:tgtEl>
                                          <p:spTgt spid="197"/>
                                        </p:tgtEl>
                                        <p:attrNameLst>
                                          <p:attrName>style.visibility</p:attrName>
                                        </p:attrNameLst>
                                      </p:cBhvr>
                                      <p:to>
                                        <p:strVal val="visible"/>
                                      </p:to>
                                    </p:set>
                                    <p:animEffect filter="dissolve" transition="in">
                                      <p:cBhvr additive="repl">
                                        <p:cTn id="742" dur="75"/>
                                        <p:tgtEl>
                                          <p:spTgt spid="197"/>
                                        </p:tgtEl>
                                      </p:cBhvr>
                                    </p:animEffect>
                                  </p:childTnLst>
                                </p:cTn>
                              </p:par>
                            </p:childTnLst>
                          </p:cTn>
                        </p:par>
                        <p:par>
                          <p:cTn id="743" nodeType="afterEffect" fill="hold">
                            <p:stCondLst>
                              <p:cond delay="3000"/>
                            </p:stCondLst>
                            <p:childTnLst>
                              <p:par>
                                <p:cTn id="744" nodeType="afterEffect" fill="hold" presetClass="entr" presetID="9">
                                  <p:stCondLst>
                                    <p:cond delay="0"/>
                                  </p:stCondLst>
                                  <p:childTnLst>
                                    <p:set>
                                      <p:cBhvr>
                                        <p:cTn id="745" dur="1" fill="hold">
                                          <p:stCondLst>
                                            <p:cond delay="0"/>
                                          </p:stCondLst>
                                        </p:cTn>
                                        <p:tgtEl>
                                          <p:spTgt spid="198"/>
                                        </p:tgtEl>
                                        <p:attrNameLst>
                                          <p:attrName>style.visibility</p:attrName>
                                        </p:attrNameLst>
                                      </p:cBhvr>
                                      <p:to>
                                        <p:strVal val="visible"/>
                                      </p:to>
                                    </p:set>
                                    <p:animEffect filter="dissolve" transition="in">
                                      <p:cBhvr additive="repl">
                                        <p:cTn id="746" dur="500"/>
                                        <p:tgtEl>
                                          <p:spTgt spid="198"/>
                                        </p:tgtEl>
                                      </p:cBhvr>
                                    </p:animEffect>
                                  </p:childTnLst>
                                </p:cTn>
                              </p:par>
                            </p:childTnLst>
                          </p:cTn>
                        </p:par>
                        <p:par>
                          <p:cTn id="747" nodeType="afterEffect" fill="hold">
                            <p:stCondLst>
                              <p:cond delay="3500"/>
                            </p:stCondLst>
                            <p:childTnLst>
                              <p:par>
                                <p:cTn id="748" nodeType="afterEffect" fill="hold" presetClass="entr" presetID="9">
                                  <p:stCondLst>
                                    <p:cond delay="2000"/>
                                  </p:stCondLst>
                                  <p:iterate type="lt">
                                    <p:tmAbs val="75"/>
                                  </p:iterate>
                                  <p:childTnLst>
                                    <p:set>
                                      <p:cBhvr>
                                        <p:cTn id="749" dur="1" fill="hold">
                                          <p:stCondLst>
                                            <p:cond delay="0"/>
                                          </p:stCondLst>
                                        </p:cTn>
                                        <p:tgtEl>
                                          <p:spTgt spid="199"/>
                                        </p:tgtEl>
                                        <p:attrNameLst>
                                          <p:attrName>style.visibility</p:attrName>
                                        </p:attrNameLst>
                                      </p:cBhvr>
                                      <p:to>
                                        <p:strVal val="visible"/>
                                      </p:to>
                                    </p:set>
                                    <p:animEffect filter="dissolve" transition="in">
                                      <p:cBhvr additive="repl">
                                        <p:cTn id="750" dur="75"/>
                                        <p:tgtEl>
                                          <p:spTgt spid="199"/>
                                        </p:tgtEl>
                                      </p:cBhvr>
                                    </p:animEffect>
                                  </p:childTnLst>
                                </p:cTn>
                              </p:par>
                            </p:childTnLst>
                          </p:cTn>
                        </p:par>
                      </p:childTnLst>
                    </p:cTn>
                  </p:par>
                  <p:par>
                    <p:cTn id="751" nodeType="clickEffect" fill="hold">
                      <p:stCondLst>
                        <p:cond delay="indefinite"/>
                      </p:stCondLst>
                      <p:childTnLst>
                        <p:par>
                          <p:cTn id="752" nodeType="withEffect" fill="hold">
                            <p:stCondLst>
                              <p:cond delay="0"/>
                            </p:stCondLst>
                            <p:childTnLst>
                              <p:par>
                                <p:cTn id="753" nodeType="clickEffect" fill="hold" presetClass="entr" presetID="9">
                                  <p:stCondLst>
                                    <p:cond delay="0"/>
                                  </p:stCondLst>
                                  <p:iterate type="lt">
                                    <p:tmAbs val="75"/>
                                  </p:iterate>
                                  <p:childTnLst>
                                    <p:set>
                                      <p:cBhvr>
                                        <p:cTn id="754" dur="1" fill="hold">
                                          <p:stCondLst>
                                            <p:cond delay="0"/>
                                          </p:stCondLst>
                                        </p:cTn>
                                        <p:tgtEl>
                                          <p:spTgt spid="200"/>
                                        </p:tgtEl>
                                        <p:attrNameLst>
                                          <p:attrName>style.visibility</p:attrName>
                                        </p:attrNameLst>
                                      </p:cBhvr>
                                      <p:to>
                                        <p:strVal val="visible"/>
                                      </p:to>
                                    </p:set>
                                    <p:animEffect filter="dissolve" transition="in">
                                      <p:cBhvr additive="repl">
                                        <p:cTn id="755" dur="75"/>
                                        <p:tgtEl>
                                          <p:spTgt spid="200"/>
                                        </p:tgtEl>
                                      </p:cBhvr>
                                    </p:animEffect>
                                  </p:childTnLst>
                                </p:cTn>
                              </p:par>
                            </p:childTnLst>
                          </p:cTn>
                        </p:par>
                      </p:childTnLst>
                    </p:cTn>
                  </p:par>
                  <p:par>
                    <p:cTn id="756" nodeType="clickEffect" fill="hold">
                      <p:stCondLst>
                        <p:cond delay="indefinite"/>
                      </p:stCondLst>
                      <p:childTnLst>
                        <p:par>
                          <p:cTn id="757" nodeType="withEffect" fill="hold">
                            <p:stCondLst>
                              <p:cond delay="0"/>
                            </p:stCondLst>
                            <p:childTnLst>
                              <p:par>
                                <p:cTn id="758" nodeType="clickEffect" fill="hold" presetClass="entr" presetID="9">
                                  <p:stCondLst>
                                    <p:cond delay="0"/>
                                  </p:stCondLst>
                                  <p:iterate type="lt">
                                    <p:tmAbs val="75"/>
                                  </p:iterate>
                                  <p:childTnLst>
                                    <p:set>
                                      <p:cBhvr>
                                        <p:cTn id="759" dur="1" fill="hold">
                                          <p:stCondLst>
                                            <p:cond delay="0"/>
                                          </p:stCondLst>
                                        </p:cTn>
                                        <p:tgtEl>
                                          <p:spTgt spid="201"/>
                                        </p:tgtEl>
                                        <p:attrNameLst>
                                          <p:attrName>style.visibility</p:attrName>
                                        </p:attrNameLst>
                                      </p:cBhvr>
                                      <p:to>
                                        <p:strVal val="visible"/>
                                      </p:to>
                                    </p:set>
                                    <p:animEffect filter="dissolve" transition="in">
                                      <p:cBhvr additive="repl">
                                        <p:cTn id="760" dur="75"/>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 Box 2"/>
          <p:cNvSpPr/>
          <p:nvPr/>
        </p:nvSpPr>
        <p:spPr>
          <a:xfrm>
            <a:off x="456480" y="533520"/>
            <a:ext cx="8056440" cy="1191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L’étude des facteurs physiologiques de la motricité de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 l’enfant et de l’adolescent au cours de l’exercice se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 heurte à des difficutés de trois ordres :</a:t>
            </a:r>
            <a:endParaRPr b="0" lang="en-US" sz="2400" strike="noStrike" u="none">
              <a:solidFill>
                <a:srgbClr val="ffff00"/>
              </a:solidFill>
              <a:effectLst/>
              <a:uFillTx/>
              <a:latin typeface="Times New Roman"/>
            </a:endParaRPr>
          </a:p>
        </p:txBody>
      </p:sp>
      <p:sp>
        <p:nvSpPr>
          <p:cNvPr id="203" name="AutoShape 3"/>
          <p:cNvSpPr/>
          <p:nvPr/>
        </p:nvSpPr>
        <p:spPr>
          <a:xfrm>
            <a:off x="380880" y="2133720"/>
            <a:ext cx="457200" cy="304560"/>
          </a:xfrm>
          <a:custGeom>
            <a:avLst/>
            <a:gdLst>
              <a:gd name="textAreaLeft" fmla="*/ 56880 w 457200"/>
              <a:gd name="textAreaRight" fmla="*/ 400320 w 457200"/>
              <a:gd name="textAreaTop" fmla="*/ 75960 h 304560"/>
              <a:gd name="textAreaBottom" fmla="*/ 228600 h 30456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04" name="Text Box 4"/>
          <p:cNvSpPr/>
          <p:nvPr/>
        </p:nvSpPr>
        <p:spPr>
          <a:xfrm>
            <a:off x="2409480" y="2021040"/>
            <a:ext cx="7750440" cy="7646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Ethique : </a:t>
            </a:r>
            <a:r>
              <a:rPr b="1" lang="es-CL" sz="2000" strike="noStrike" u="none">
                <a:solidFill>
                  <a:srgbClr val="ffff00"/>
                </a:solidFill>
                <a:effectLst/>
                <a:uFillTx/>
                <a:latin typeface="Arial"/>
              </a:rPr>
              <a:t>Très peu de données recueilies expérimentalement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chez les enfants surtout âgés de moins de 11 ans.</a:t>
            </a:r>
            <a:endParaRPr b="0" lang="en-US" sz="2000" strike="noStrike" u="none">
              <a:solidFill>
                <a:srgbClr val="ffff00"/>
              </a:solidFill>
              <a:effectLst/>
              <a:uFillTx/>
              <a:latin typeface="Times New Roman"/>
            </a:endParaRPr>
          </a:p>
        </p:txBody>
      </p:sp>
      <p:sp>
        <p:nvSpPr>
          <p:cNvPr id="205" name="Text Box 5"/>
          <p:cNvSpPr/>
          <p:nvPr/>
        </p:nvSpPr>
        <p:spPr>
          <a:xfrm>
            <a:off x="2357280" y="3046320"/>
            <a:ext cx="7916760" cy="20451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Méthodologique :1- </a:t>
            </a:r>
            <a:r>
              <a:rPr b="1" lang="es-CL" sz="2000" strike="noStrike" u="none">
                <a:solidFill>
                  <a:srgbClr val="ffff00"/>
                </a:solidFill>
                <a:effectLst/>
                <a:uFillTx/>
                <a:latin typeface="Arial"/>
              </a:rPr>
              <a:t>Difficile de distinguer ce qui revient,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d’une part à la croissance, au niveau habituel d’activité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individuelle et d’autre part, à l’entraînement contrôlé.</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2 - Les études longitudinales sont très rares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et ne sont qu’exceptionnellement comparatives à un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groupe témoin.</a:t>
            </a:r>
            <a:r>
              <a:rPr b="0" lang="es-CL" sz="2000" strike="noStrike" u="none">
                <a:solidFill>
                  <a:srgbClr val="ffff00"/>
                </a:solidFill>
                <a:effectLst/>
                <a:uFillTx/>
                <a:latin typeface="Arial"/>
              </a:rPr>
              <a:t> </a:t>
            </a:r>
            <a:r>
              <a:rPr b="0" lang="es-CL" sz="2400" strike="noStrike" u="none">
                <a:solidFill>
                  <a:srgbClr val="ffff00"/>
                </a:solidFill>
                <a:effectLst/>
                <a:uFillTx/>
                <a:latin typeface="Times New Roman"/>
              </a:rPr>
              <a:t>  </a:t>
            </a:r>
            <a:endParaRPr b="0" lang="en-US" sz="2400" strike="noStrike" u="none">
              <a:solidFill>
                <a:srgbClr val="ffff00"/>
              </a:solidFill>
              <a:effectLst/>
              <a:uFillTx/>
              <a:latin typeface="Times New Roman"/>
            </a:endParaRPr>
          </a:p>
        </p:txBody>
      </p:sp>
      <p:sp>
        <p:nvSpPr>
          <p:cNvPr id="206" name="Text Box 6"/>
          <p:cNvSpPr/>
          <p:nvPr/>
        </p:nvSpPr>
        <p:spPr>
          <a:xfrm>
            <a:off x="1066680" y="5257800"/>
            <a:ext cx="7925040" cy="1374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Subjective</a:t>
            </a:r>
            <a:r>
              <a:rPr b="1" lang="es-CL" sz="2400" strike="noStrike" u="none">
                <a:solidFill>
                  <a:srgbClr val="3333cc"/>
                </a:solidFill>
                <a:effectLst/>
                <a:uFillTx/>
                <a:latin typeface="Arial"/>
              </a:rPr>
              <a:t> </a:t>
            </a:r>
            <a:r>
              <a:rPr b="1" lang="es-CL" sz="2400" strike="noStrike" u="none">
                <a:solidFill>
                  <a:srgbClr val="ffff00"/>
                </a:solidFill>
                <a:effectLst/>
                <a:uFillTx/>
                <a:latin typeface="Arial"/>
              </a:rPr>
              <a:t>: </a:t>
            </a:r>
            <a:r>
              <a:rPr b="1" lang="es-CL" sz="2000" strike="noStrike" u="none">
                <a:solidFill>
                  <a:srgbClr val="ffff00"/>
                </a:solidFill>
                <a:effectLst/>
                <a:uFillTx/>
                <a:latin typeface="Arial"/>
              </a:rPr>
              <a:t>L’enfant plus que l’adulte éprouve des  difficutés     </a:t>
            </a: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à bien respecter les consignes et  répugne à leffort </a:t>
            </a: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	</a:t>
            </a:r>
            <a:r>
              <a:rPr b="1" lang="es-CL" sz="2000" strike="noStrike" u="none">
                <a:solidFill>
                  <a:srgbClr val="ffff00"/>
                </a:solidFill>
                <a:effectLst/>
                <a:uFillTx/>
                <a:latin typeface="Arial"/>
              </a:rPr>
              <a:t>maximal voire supramaximal qui conduit à l’épuisement.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
        <p:nvSpPr>
          <p:cNvPr id="207" name="AutoShape 7"/>
          <p:cNvSpPr/>
          <p:nvPr/>
        </p:nvSpPr>
        <p:spPr>
          <a:xfrm>
            <a:off x="380880" y="3124080"/>
            <a:ext cx="457200" cy="304920"/>
          </a:xfrm>
          <a:custGeom>
            <a:avLst/>
            <a:gdLst>
              <a:gd name="textAreaLeft" fmla="*/ 56880 w 457200"/>
              <a:gd name="textAreaRight" fmla="*/ 400320 w 457200"/>
              <a:gd name="textAreaTop" fmla="*/ 76320 h 304920"/>
              <a:gd name="textAreaBottom" fmla="*/ 228960 h 30492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08" name="AutoShape 8"/>
          <p:cNvSpPr/>
          <p:nvPr/>
        </p:nvSpPr>
        <p:spPr>
          <a:xfrm>
            <a:off x="380880" y="5410080"/>
            <a:ext cx="457200" cy="304920"/>
          </a:xfrm>
          <a:custGeom>
            <a:avLst/>
            <a:gdLst>
              <a:gd name="textAreaLeft" fmla="*/ 56880 w 457200"/>
              <a:gd name="textAreaRight" fmla="*/ 400320 w 457200"/>
              <a:gd name="textAreaTop" fmla="*/ 76320 h 304920"/>
              <a:gd name="textAreaBottom" fmla="*/ 228960 h 30492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timing>
    <p:tnLst>
      <p:par>
        <p:cTn id="761" dur="indefinite" restart="never" nodeType="tmRoot">
          <p:childTnLst>
            <p:seq>
              <p:cTn id="762" dur="indefinite" nodeType="mainSeq">
                <p:childTnLst>
                  <p:par>
                    <p:cTn id="763" nodeType="clickEffect" fill="hold">
                      <p:stCondLst>
                        <p:cond delay="indefinite"/>
                      </p:stCondLst>
                      <p:childTnLst>
                        <p:par>
                          <p:cTn id="764" nodeType="withEffect" fill="hold">
                            <p:stCondLst>
                              <p:cond delay="0"/>
                            </p:stCondLst>
                            <p:childTnLst>
                              <p:par>
                                <p:cTn id="765" nodeType="clickEffect" fill="hold" presetClass="entr" presetID="53" presetSubtype="16">
                                  <p:stCondLst>
                                    <p:cond delay="0"/>
                                  </p:stCondLst>
                                  <p:childTnLst>
                                    <p:set>
                                      <p:cBhvr>
                                        <p:cTn id="766" dur="1" fill="hold">
                                          <p:stCondLst>
                                            <p:cond delay="0"/>
                                          </p:stCondLst>
                                        </p:cTn>
                                        <p:tgtEl>
                                          <p:spTgt spid="204"/>
                                        </p:tgtEl>
                                        <p:attrNameLst>
                                          <p:attrName>style.visibility</p:attrName>
                                        </p:attrNameLst>
                                      </p:cBhvr>
                                      <p:to>
                                        <p:strVal val="visible"/>
                                      </p:to>
                                    </p:set>
                                    <p:anim calcmode="lin" valueType="num">
                                      <p:cBhvr additive="repl">
                                        <p:cTn id="767" dur="500" fill="hold"/>
                                        <p:tgtEl>
                                          <p:spTgt spid="204"/>
                                        </p:tgtEl>
                                        <p:attrNameLst>
                                          <p:attrName>ppt_w</p:attrName>
                                        </p:attrNameLst>
                                      </p:cBhvr>
                                      <p:tavLst>
                                        <p:tav tm="0">
                                          <p:val>
                                            <p:fltVal val="0"/>
                                          </p:val>
                                        </p:tav>
                                        <p:tav tm="100000">
                                          <p:val>
                                            <p:strVal val="#ppt_w"/>
                                          </p:val>
                                        </p:tav>
                                      </p:tavLst>
                                    </p:anim>
                                    <p:anim calcmode="lin" valueType="num">
                                      <p:cBhvr additive="repl">
                                        <p:cTn id="768" dur="500" fill="hold"/>
                                        <p:tgtEl>
                                          <p:spTgt spid="204"/>
                                        </p:tgtEl>
                                        <p:attrNameLst>
                                          <p:attrName>ppt_h</p:attrName>
                                        </p:attrNameLst>
                                      </p:cBhvr>
                                      <p:tavLst>
                                        <p:tav tm="0">
                                          <p:val>
                                            <p:fltVal val="0"/>
                                          </p:val>
                                        </p:tav>
                                        <p:tav tm="100000">
                                          <p:val>
                                            <p:strVal val="#ppt_h"/>
                                          </p:val>
                                        </p:tav>
                                      </p:tavLst>
                                    </p:anim>
                                    <p:animEffect filter="fade" transition="in">
                                      <p:cBhvr additive="repl">
                                        <p:cTn id="769" dur="500"/>
                                        <p:tgtEl>
                                          <p:spTgt spid="204"/>
                                        </p:tgtEl>
                                      </p:cBhvr>
                                    </p:animEffect>
                                  </p:childTnLst>
                                </p:cTn>
                              </p:par>
                            </p:childTnLst>
                          </p:cTn>
                        </p:par>
                      </p:childTnLst>
                    </p:cTn>
                  </p:par>
                  <p:par>
                    <p:cTn id="770" nodeType="clickEffect" fill="hold">
                      <p:stCondLst>
                        <p:cond delay="indefinite"/>
                      </p:stCondLst>
                      <p:childTnLst>
                        <p:par>
                          <p:cTn id="771" nodeType="withEffect" fill="hold">
                            <p:stCondLst>
                              <p:cond delay="0"/>
                            </p:stCondLst>
                            <p:childTnLst>
                              <p:par>
                                <p:cTn id="772" nodeType="clickEffect" fill="hold" presetClass="entr" presetID="9">
                                  <p:stCondLst>
                                    <p:cond delay="0"/>
                                  </p:stCondLst>
                                  <p:iterate type="wd">
                                    <p:tmAbs val="300"/>
                                  </p:iterate>
                                  <p:childTnLst>
                                    <p:set>
                                      <p:cBhvr>
                                        <p:cTn id="773" dur="1" fill="hold">
                                          <p:stCondLst>
                                            <p:cond delay="0"/>
                                          </p:stCondLst>
                                        </p:cTn>
                                        <p:tgtEl>
                                          <p:spTgt spid="205"/>
                                        </p:tgtEl>
                                        <p:attrNameLst>
                                          <p:attrName>style.visibility</p:attrName>
                                        </p:attrNameLst>
                                      </p:cBhvr>
                                      <p:to>
                                        <p:strVal val="visible"/>
                                      </p:to>
                                    </p:set>
                                    <p:animEffect filter="dissolve" transition="in">
                                      <p:cBhvr additive="repl">
                                        <p:cTn id="774" dur="300"/>
                                        <p:tgtEl>
                                          <p:spTgt spid="205"/>
                                        </p:tgtEl>
                                      </p:cBhvr>
                                    </p:animEffect>
                                  </p:childTnLst>
                                </p:cTn>
                              </p:par>
                            </p:childTnLst>
                          </p:cTn>
                        </p:par>
                      </p:childTnLst>
                    </p:cTn>
                  </p:par>
                  <p:par>
                    <p:cTn id="775" nodeType="clickEffect" fill="hold">
                      <p:stCondLst>
                        <p:cond delay="indefinite"/>
                      </p:stCondLst>
                      <p:childTnLst>
                        <p:par>
                          <p:cTn id="776" nodeType="withEffect" fill="hold">
                            <p:stCondLst>
                              <p:cond delay="0"/>
                            </p:stCondLst>
                            <p:childTnLst>
                              <p:par>
                                <p:cTn id="777" nodeType="clickEffect" fill="hold" presetClass="entr" presetID="22" presetSubtype="8">
                                  <p:stCondLst>
                                    <p:cond delay="0"/>
                                  </p:stCondLst>
                                  <p:childTnLst>
                                    <p:set>
                                      <p:cBhvr>
                                        <p:cTn id="778" dur="1" fill="hold">
                                          <p:stCondLst>
                                            <p:cond delay="0"/>
                                          </p:stCondLst>
                                        </p:cTn>
                                        <p:tgtEl>
                                          <p:spTgt spid="203"/>
                                        </p:tgtEl>
                                        <p:attrNameLst>
                                          <p:attrName>style.visibility</p:attrName>
                                        </p:attrNameLst>
                                      </p:cBhvr>
                                      <p:to>
                                        <p:strVal val="visible"/>
                                      </p:to>
                                    </p:set>
                                    <p:animEffect filter="wipe(left)" transition="in">
                                      <p:cBhvr additive="repl">
                                        <p:cTn id="779"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ZoneTexte 1"/>
          <p:cNvSpPr/>
          <p:nvPr/>
        </p:nvSpPr>
        <p:spPr>
          <a:xfrm>
            <a:off x="-1094400" y="2101680"/>
            <a:ext cx="1143936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ffffff"/>
                </a:solidFill>
                <a:effectLst/>
                <a:uFillTx/>
                <a:latin typeface="Calibri"/>
                <a:ea typeface="Calibri"/>
              </a:rPr>
              <a:t>I -  HORMONES, CROISSANCE &amp; DEVELOPPEMENT</a:t>
            </a:r>
            <a:endParaRPr b="0" lang="en-US" sz="3200" strike="noStrike" u="none">
              <a:solidFill>
                <a:srgbClr val="ffff00"/>
              </a:solidFill>
              <a:effectLst/>
              <a:uFillTx/>
              <a:latin typeface="Times New Roman"/>
            </a:endParaRPr>
          </a:p>
        </p:txBody>
      </p:sp>
    </p:spTree>
  </p:cSld>
  <p:transition spd="med">
    <p:zoom dir="out"/>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Image 2" descr="C:\Users\Utilisdateur\Documents\embryologie_fichiers\foetus%2015semaines.jpg"/>
          <p:cNvPicPr/>
          <p:nvPr/>
        </p:nvPicPr>
        <p:blipFill>
          <a:blip r:embed="rId1"/>
          <a:srcRect l="0" t="0" r="0" b="7562"/>
          <a:stretch/>
        </p:blipFill>
        <p:spPr>
          <a:xfrm>
            <a:off x="3890880" y="106200"/>
            <a:ext cx="1112760" cy="998640"/>
          </a:xfrm>
          <a:prstGeom prst="rect">
            <a:avLst/>
          </a:prstGeom>
          <a:noFill/>
          <a:ln w="0">
            <a:noFill/>
          </a:ln>
        </p:spPr>
      </p:pic>
      <p:pic>
        <p:nvPicPr>
          <p:cNvPr id="211" name="Picture 2" descr="C:\Users\Utilisdateur\Documents\Footballeur enfant_fichiers\footballeur.jpg"/>
          <p:cNvPicPr/>
          <p:nvPr/>
        </p:nvPicPr>
        <p:blipFill>
          <a:blip r:embed="rId2"/>
          <a:srcRect l="11821" t="16404" r="19182" b="15699"/>
          <a:stretch/>
        </p:blipFill>
        <p:spPr>
          <a:xfrm>
            <a:off x="3870360" y="2637000"/>
            <a:ext cx="1314360" cy="1457280"/>
          </a:xfrm>
          <a:prstGeom prst="rect">
            <a:avLst/>
          </a:prstGeom>
          <a:noFill/>
          <a:ln w="0">
            <a:noFill/>
          </a:ln>
        </p:spPr>
      </p:pic>
      <p:sp>
        <p:nvSpPr>
          <p:cNvPr id="212" name="ZoneTexte 1"/>
          <p:cNvSpPr/>
          <p:nvPr/>
        </p:nvSpPr>
        <p:spPr>
          <a:xfrm>
            <a:off x="-328680" y="144360"/>
            <a:ext cx="4469040" cy="916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Gonadotrophin Releasing Hormone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LH </a:t>
            </a:r>
            <a:r>
              <a:rPr b="0" i="1" lang="fr-FR" sz="1800" strike="noStrike" u="none">
                <a:solidFill>
                  <a:srgbClr val="ffffff"/>
                </a:solidFill>
                <a:effectLst/>
                <a:uFillTx/>
                <a:latin typeface="Calibri"/>
                <a:ea typeface="Calibri"/>
              </a:rPr>
              <a:t>(hormone lutéinisante) </a:t>
            </a:r>
            <a:r>
              <a:rPr b="0" lang="fr-FR" sz="1800" strike="noStrike" u="none">
                <a:solidFill>
                  <a:srgbClr val="ffff00"/>
                </a:solidFill>
                <a:effectLst/>
                <a:uFillTx/>
                <a:latin typeface="Calibri"/>
                <a:ea typeface="Calibri"/>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FSH </a:t>
            </a:r>
            <a:r>
              <a:rPr b="0" i="1" lang="fr-FR" sz="1800" strike="noStrike" u="none">
                <a:solidFill>
                  <a:srgbClr val="ffff00"/>
                </a:solidFill>
                <a:effectLst/>
                <a:uFillTx/>
                <a:latin typeface="Calibri"/>
                <a:ea typeface="Calibri"/>
              </a:rPr>
              <a:t>(</a:t>
            </a:r>
            <a:r>
              <a:rPr b="0" i="1" lang="fr-FR" sz="1800" strike="noStrike" u="none">
                <a:solidFill>
                  <a:srgbClr val="ffffff"/>
                </a:solidFill>
                <a:effectLst/>
                <a:uFillTx/>
                <a:latin typeface="Calibri"/>
                <a:ea typeface="Calibri"/>
              </a:rPr>
              <a:t>Folliculostimuling Hormone )</a:t>
            </a:r>
            <a:endParaRPr b="0" lang="en-US" sz="1800" strike="noStrike" u="none">
              <a:solidFill>
                <a:srgbClr val="ffff00"/>
              </a:solidFill>
              <a:effectLst/>
              <a:uFillTx/>
              <a:latin typeface="Times New Roman"/>
            </a:endParaRPr>
          </a:p>
        </p:txBody>
      </p:sp>
      <p:sp>
        <p:nvSpPr>
          <p:cNvPr id="213" name="ZoneTexte 5"/>
          <p:cNvSpPr/>
          <p:nvPr/>
        </p:nvSpPr>
        <p:spPr>
          <a:xfrm>
            <a:off x="5009040" y="420840"/>
            <a:ext cx="40359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Différenciation sexuelle du foetus</a:t>
            </a:r>
            <a:endParaRPr b="0" lang="en-US" sz="1800" strike="noStrike" u="none">
              <a:solidFill>
                <a:srgbClr val="ffff00"/>
              </a:solidFill>
              <a:effectLst/>
              <a:uFillTx/>
              <a:latin typeface="Times New Roman"/>
            </a:endParaRPr>
          </a:p>
        </p:txBody>
      </p:sp>
      <p:sp>
        <p:nvSpPr>
          <p:cNvPr id="214" name="ZoneTexte 6"/>
          <p:cNvSpPr/>
          <p:nvPr/>
        </p:nvSpPr>
        <p:spPr>
          <a:xfrm>
            <a:off x="1974960" y="1557360"/>
            <a:ext cx="12477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Inhibition</a:t>
            </a:r>
            <a:endParaRPr b="0" lang="en-US" sz="1800" strike="noStrike" u="none">
              <a:solidFill>
                <a:srgbClr val="ffff00"/>
              </a:solidFill>
              <a:effectLst/>
              <a:uFillTx/>
              <a:latin typeface="Times New Roman"/>
            </a:endParaRPr>
          </a:p>
        </p:txBody>
      </p:sp>
      <p:sp>
        <p:nvSpPr>
          <p:cNvPr id="215" name="ZoneTexte 7"/>
          <p:cNvSpPr/>
          <p:nvPr/>
        </p:nvSpPr>
        <p:spPr>
          <a:xfrm>
            <a:off x="5321160" y="1557360"/>
            <a:ext cx="27640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Période de quiescence</a:t>
            </a:r>
            <a:endParaRPr b="0" lang="en-US" sz="1800" strike="noStrike" u="none">
              <a:solidFill>
                <a:srgbClr val="ffff00"/>
              </a:solidFill>
              <a:effectLst/>
              <a:uFillTx/>
              <a:latin typeface="Times New Roman"/>
            </a:endParaRPr>
          </a:p>
        </p:txBody>
      </p:sp>
      <p:graphicFrame>
        <p:nvGraphicFramePr>
          <p:cNvPr id="216" name=""/>
          <p:cNvGraphicFramePr/>
          <p:nvPr/>
        </p:nvGraphicFramePr>
        <p:xfrm>
          <a:off x="177840" y="2492280"/>
          <a:ext cx="3530520" cy="2502000"/>
        </p:xfrm>
        <a:graphic>
          <a:graphicData uri="http://schemas.openxmlformats.org/drawingml/2006/table">
            <a:tbl>
              <a:tblPr/>
              <a:tblGrid>
                <a:gridCol w="3530520"/>
              </a:tblGrid>
              <a:tr h="3331080">
                <a:tc>
                  <a:txBody>
                    <a:bodyPr lIns="89640" rIns="89640" tIns="0" bIns="0" anchor="t">
                      <a:noAutofit/>
                    </a:bodyPr>
                    <a:p>
                      <a:pPr algn="just">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3333cc"/>
                          </a:solidFill>
                          <a:effectLst/>
                          <a:uFillTx/>
                          <a:latin typeface="Calibri"/>
                          <a:ea typeface="Calibri"/>
                        </a:rPr>
                        <a:t>Adrénarche</a:t>
                      </a:r>
                      <a:r>
                        <a:rPr b="0" lang="fr-FR" sz="1600" strike="noStrike" u="none">
                          <a:solidFill>
                            <a:srgbClr val="000000"/>
                          </a:solidFill>
                          <a:effectLst/>
                          <a:uFillTx/>
                          <a:latin typeface="Calibri"/>
                          <a:ea typeface="Calibri"/>
                        </a:rPr>
                        <a:t> : du latin </a:t>
                      </a:r>
                      <a:r>
                        <a:rPr b="1" i="1" lang="fr-FR" sz="1600" strike="noStrike" u="none">
                          <a:solidFill>
                            <a:srgbClr val="000000"/>
                          </a:solidFill>
                          <a:effectLst/>
                          <a:uFillTx/>
                          <a:latin typeface="Calibri"/>
                          <a:ea typeface="Calibri"/>
                        </a:rPr>
                        <a:t>ad</a:t>
                      </a:r>
                      <a:r>
                        <a:rPr b="0" lang="fr-FR" sz="1600" strike="noStrike" u="none">
                          <a:solidFill>
                            <a:srgbClr val="000000"/>
                          </a:solidFill>
                          <a:effectLst/>
                          <a:uFillTx/>
                          <a:latin typeface="Calibri"/>
                          <a:ea typeface="Calibri"/>
                        </a:rPr>
                        <a:t> et</a:t>
                      </a:r>
                      <a:r>
                        <a:rPr b="1" lang="fr-FR" sz="1600" strike="noStrike" u="none">
                          <a:solidFill>
                            <a:srgbClr val="000000"/>
                          </a:solidFill>
                          <a:effectLst/>
                          <a:uFillTx/>
                          <a:latin typeface="Calibri"/>
                          <a:ea typeface="Calibri"/>
                        </a:rPr>
                        <a:t> ren </a:t>
                      </a:r>
                      <a:r>
                        <a:rPr b="0" lang="fr-FR" sz="1600" strike="noStrike" u="none">
                          <a:solidFill>
                            <a:srgbClr val="000000"/>
                          </a:solidFill>
                          <a:effectLst/>
                          <a:uFillTx/>
                          <a:latin typeface="Calibri"/>
                          <a:ea typeface="Calibri"/>
                        </a:rPr>
                        <a:t>qui signifient respectivement « près » et « rein » et du grecque </a:t>
                      </a:r>
                      <a:r>
                        <a:rPr b="1" i="1" lang="fr-FR" sz="1600" strike="noStrike" u="none">
                          <a:solidFill>
                            <a:srgbClr val="000000"/>
                          </a:solidFill>
                          <a:effectLst/>
                          <a:uFillTx/>
                          <a:latin typeface="Calibri"/>
                          <a:ea typeface="Calibri"/>
                        </a:rPr>
                        <a:t>arkhê </a:t>
                      </a:r>
                      <a:r>
                        <a:rPr b="0" lang="fr-FR" sz="1600" strike="noStrike" u="none">
                          <a:solidFill>
                            <a:srgbClr val="000000"/>
                          </a:solidFill>
                          <a:effectLst/>
                          <a:uFillTx/>
                          <a:latin typeface="Calibri"/>
                          <a:ea typeface="Calibri"/>
                        </a:rPr>
                        <a:t>qui signifie « commencement » : Augmentation des sécrétions cortico-surrénaliennes se produisant quelques années avant le début de la puberté gonadique et qui s’accompagne d’une première appa-rition de poils pubiens.</a:t>
                      </a:r>
                      <a:endParaRPr b="0" lang="en-US" sz="1600" strike="noStrike" u="none">
                        <a:solidFill>
                          <a:srgbClr val="ffff00"/>
                        </a:solidFill>
                        <a:effectLst/>
                        <a:uFillTx/>
                        <a:latin typeface="Times New Roman"/>
                      </a:endParaRPr>
                    </a:p>
                  </a:txBody>
                  <a:tcPr anchor="t" marL="89640" marR="8964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solidFill>
                      <a:srgbClr val="e7f6ef"/>
                    </a:solidFill>
                  </a:tcPr>
                </a:tc>
              </a:tr>
            </a:tbl>
          </a:graphicData>
        </a:graphic>
      </p:graphicFrame>
      <p:sp>
        <p:nvSpPr>
          <p:cNvPr id="217" name="Flèche vers le bas 10"/>
          <p:cNvSpPr/>
          <p:nvPr/>
        </p:nvSpPr>
        <p:spPr>
          <a:xfrm>
            <a:off x="4267080" y="1185840"/>
            <a:ext cx="360360" cy="1460520"/>
          </a:xfrm>
          <a:prstGeom prst="downArrow">
            <a:avLst>
              <a:gd name="adj1" fmla="val 50000"/>
              <a:gd name="adj2" fmla="val 49967"/>
            </a:avLst>
          </a:prstGeom>
          <a:solidFill>
            <a:srgbClr val="00cc99"/>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8" name="ZoneTexte 11"/>
          <p:cNvSpPr/>
          <p:nvPr/>
        </p:nvSpPr>
        <p:spPr>
          <a:xfrm>
            <a:off x="5205600" y="2949480"/>
            <a:ext cx="29192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8-9 ans chez la fille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9-10 ans chez le garçon</a:t>
            </a:r>
            <a:endParaRPr b="0" lang="en-US" sz="1800" strike="noStrike" u="none">
              <a:solidFill>
                <a:srgbClr val="ffff00"/>
              </a:solidFill>
              <a:effectLst/>
              <a:uFillTx/>
              <a:latin typeface="Times New Roman"/>
            </a:endParaRPr>
          </a:p>
        </p:txBody>
      </p:sp>
      <p:sp>
        <p:nvSpPr>
          <p:cNvPr id="219" name="ZoneTexte 13"/>
          <p:cNvSpPr/>
          <p:nvPr/>
        </p:nvSpPr>
        <p:spPr>
          <a:xfrm>
            <a:off x="3377160" y="5024520"/>
            <a:ext cx="3044160" cy="916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Début de la puberté</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10-11 ans chez la fille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Calibri"/>
                <a:ea typeface="Calibri"/>
              </a:rPr>
              <a:t>12-13 ans chez lz garçon</a:t>
            </a:r>
            <a:endParaRPr b="0" lang="en-US" sz="1800" strike="noStrike" u="none">
              <a:solidFill>
                <a:srgbClr val="ffff00"/>
              </a:solidFill>
              <a:effectLst/>
              <a:uFillTx/>
              <a:latin typeface="Times New Roman"/>
            </a:endParaRPr>
          </a:p>
        </p:txBody>
      </p:sp>
      <p:sp>
        <p:nvSpPr>
          <p:cNvPr id="220" name="Flèche vers le bas 16"/>
          <p:cNvSpPr/>
          <p:nvPr/>
        </p:nvSpPr>
        <p:spPr>
          <a:xfrm>
            <a:off x="4348080" y="4149720"/>
            <a:ext cx="358920" cy="863640"/>
          </a:xfrm>
          <a:prstGeom prst="downArrow">
            <a:avLst>
              <a:gd name="adj1" fmla="val 50000"/>
              <a:gd name="adj2" fmla="val 50129"/>
            </a:avLst>
          </a:prstGeom>
          <a:solidFill>
            <a:srgbClr val="00cc99"/>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1" name="ZoneTexte 15"/>
          <p:cNvSpPr/>
          <p:nvPr/>
        </p:nvSpPr>
        <p:spPr>
          <a:xfrm>
            <a:off x="1697400" y="6016680"/>
            <a:ext cx="66146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Levée complexe d’un ensemble d’inhibitions maintenu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pendant toute l’enfance sur le système hypothalamique</a:t>
            </a:r>
            <a:endParaRPr b="0" lang="en-US" sz="1800" strike="noStrike" u="none">
              <a:solidFill>
                <a:srgbClr val="ffff00"/>
              </a:solidFill>
              <a:effectLst/>
              <a:uFillTx/>
              <a:latin typeface="Times New Roman"/>
            </a:endParaRPr>
          </a:p>
        </p:txBody>
      </p:sp>
    </p:spTree>
  </p:cSld>
  <p:transition spd="med">
    <p:zoom dir="out"/>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22" name="Group 3"/>
          <p:cNvGrpSpPr/>
          <p:nvPr/>
        </p:nvGrpSpPr>
        <p:grpSpPr>
          <a:xfrm>
            <a:off x="4437000" y="-3240"/>
            <a:ext cx="3360960" cy="3180960"/>
            <a:chOff x="4437000" y="-3240"/>
            <a:chExt cx="3360960" cy="3180960"/>
          </a:xfrm>
        </p:grpSpPr>
        <p:grpSp>
          <p:nvGrpSpPr>
            <p:cNvPr id="223" name="Group 4"/>
            <p:cNvGrpSpPr/>
            <p:nvPr/>
          </p:nvGrpSpPr>
          <p:grpSpPr>
            <a:xfrm>
              <a:off x="4437000" y="-3240"/>
              <a:ext cx="3360960" cy="3180960"/>
              <a:chOff x="4437000" y="-3240"/>
              <a:chExt cx="3360960" cy="3180960"/>
            </a:xfrm>
          </p:grpSpPr>
          <p:sp>
            <p:nvSpPr>
              <p:cNvPr id="224" name="Freeform 5"/>
              <p:cNvSpPr/>
              <p:nvPr/>
            </p:nvSpPr>
            <p:spPr>
              <a:xfrm flipH="1">
                <a:off x="5361120" y="976320"/>
                <a:ext cx="1123920" cy="514800"/>
              </a:xfrm>
              <a:custGeom>
                <a:avLst/>
                <a:gdLst>
                  <a:gd name="GluePoint1X" fmla="*/ 2147483647 w 346"/>
                  <a:gd name="GluePoint1Y" fmla="*/ 2147483647 h 152"/>
                  <a:gd name="GluePoint2X" fmla="*/ 2147483647 w 346"/>
                  <a:gd name="GluePoint2Y" fmla="*/ 2147483647 h 152"/>
                  <a:gd name="GluePoint3X" fmla="*/ 2147483647 w 346"/>
                  <a:gd name="GluePoint3Y" fmla="*/ 2147483647 h 152"/>
                  <a:gd name="GluePoint4X" fmla="*/ 2147483647 w 346"/>
                  <a:gd name="GluePoint4Y" fmla="*/ 2147483647 h 152"/>
                  <a:gd name="GluePoint5X" fmla="*/ 0 w 346"/>
                  <a:gd name="GluePoint5Y" fmla="*/ 2147483647 h 152"/>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46" h="152">
                    <a:moveTo>
                      <a:pt x="237" y="152"/>
                    </a:moveTo>
                    <a:cubicBezTo>
                      <a:pt x="245" y="141"/>
                      <a:pt x="254" y="135"/>
                      <a:pt x="269" y="132"/>
                    </a:cubicBezTo>
                    <a:cubicBezTo>
                      <a:pt x="284" y="132"/>
                      <a:pt x="298" y="129"/>
                      <a:pt x="314" y="118"/>
                    </a:cubicBezTo>
                    <a:cubicBezTo>
                      <a:pt x="346" y="94"/>
                      <a:pt x="346" y="50"/>
                      <a:pt x="252" y="25"/>
                    </a:cubicBezTo>
                    <a:cubicBezTo>
                      <a:pt x="159" y="0"/>
                      <a:pt x="33" y="71"/>
                      <a:pt x="0" y="114"/>
                    </a:cubicBezTo>
                  </a:path>
                </a:pathLst>
              </a:custGeom>
              <a:solidFill>
                <a:srgbClr val="feead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5" name="Freeform 6"/>
              <p:cNvSpPr/>
              <p:nvPr/>
            </p:nvSpPr>
            <p:spPr>
              <a:xfrm flipH="1">
                <a:off x="4437000" y="-3240"/>
                <a:ext cx="3360960" cy="2249280"/>
              </a:xfrm>
              <a:custGeom>
                <a:avLst/>
                <a:gdLst>
                  <a:gd name="GluePoint1X" fmla="*/ 2147483647 w 1034"/>
                  <a:gd name="GluePoint1Y" fmla="*/ 2147483647 h 664"/>
                  <a:gd name="GluePoint2X" fmla="*/ 2147483647 w 1034"/>
                  <a:gd name="GluePoint2Y" fmla="*/ 2147483647 h 664"/>
                  <a:gd name="GluePoint3X" fmla="*/ 2147483647 w 1034"/>
                  <a:gd name="GluePoint3Y" fmla="*/ 2147483647 h 664"/>
                  <a:gd name="GluePoint4X" fmla="*/ 2147483647 w 1034"/>
                  <a:gd name="GluePoint4Y" fmla="*/ 2147483647 h 664"/>
                  <a:gd name="GluePoint5X" fmla="*/ 2147483647 w 1034"/>
                  <a:gd name="GluePoint5Y" fmla="*/ 2147483647 h 664"/>
                  <a:gd name="GluePoint6X" fmla="*/ 2147483647 w 1034"/>
                  <a:gd name="GluePoint6Y" fmla="*/ 2147483647 h 664"/>
                  <a:gd name="GluePoint7X" fmla="*/ 2147483647 w 1034"/>
                  <a:gd name="GluePoint7Y" fmla="*/ 2147483647 h 664"/>
                  <a:gd name="GluePoint8X" fmla="*/ 2147483647 w 1034"/>
                  <a:gd name="GluePoint8Y" fmla="*/ 2147483647 h 664"/>
                  <a:gd name="GluePoint9X" fmla="*/ 2147483647 w 1034"/>
                  <a:gd name="GluePoint9Y" fmla="*/ 2147483647 h 664"/>
                  <a:gd name="GluePoint10X" fmla="*/ 2147483647 w 1034"/>
                  <a:gd name="GluePoint10Y" fmla="*/ 2147483647 h 664"/>
                  <a:gd name="GluePoint11X" fmla="*/ 2147483647 w 1034"/>
                  <a:gd name="GluePoint11Y" fmla="*/ 2147483647 h 664"/>
                  <a:gd name="GluePoint12X" fmla="*/ 2147483647 w 1034"/>
                  <a:gd name="GluePoint12Y" fmla="*/ 2147483647 h 664"/>
                  <a:gd name="GluePoint13X" fmla="*/ 2147483647 w 1034"/>
                  <a:gd name="GluePoint13Y" fmla="*/ 2147483647 h 664"/>
                  <a:gd name="GluePoint14X" fmla="*/ 2147483647 w 1034"/>
                  <a:gd name="GluePoint14Y" fmla="*/ 2147483647 h 664"/>
                  <a:gd name="GluePoint15X" fmla="*/ 2147483647 w 1034"/>
                  <a:gd name="GluePoint15Y" fmla="*/ 2147483647 h 664"/>
                  <a:gd name="GluePoint16X" fmla="*/ 2147483647 w 1034"/>
                  <a:gd name="GluePoint16Y" fmla="*/ 2147483647 h 664"/>
                  <a:gd name="GluePoint17X" fmla="*/ 2147483647 w 1034"/>
                  <a:gd name="GluePoint17Y" fmla="*/ 2147483647 h 664"/>
                  <a:gd name="GluePoint18X" fmla="*/ 2147483647 w 1034"/>
                  <a:gd name="GluePoint18Y" fmla="*/ 2147483647 h 664"/>
                  <a:gd name="GluePoint19X" fmla="*/ 2147483647 w 1034"/>
                  <a:gd name="GluePoint19Y" fmla="*/ 2147483647 h 664"/>
                  <a:gd name="GluePoint20X" fmla="*/ 2147483647 w 1034"/>
                  <a:gd name="GluePoint20Y" fmla="*/ 2147483647 h 664"/>
                  <a:gd name="GluePoint21X" fmla="*/ 2147483647 w 1034"/>
                  <a:gd name="GluePoint21Y" fmla="*/ 2147483647 h 664"/>
                  <a:gd name="GluePoint22X" fmla="*/ 2147483647 w 1034"/>
                  <a:gd name="GluePoint22Y" fmla="*/ 2147483647 h 664"/>
                  <a:gd name="GluePoint23X" fmla="*/ 2147483647 w 1034"/>
                  <a:gd name="GluePoint23Y" fmla="*/ 2147483647 h 664"/>
                  <a:gd name="GluePoint24X" fmla="*/ 2147483647 w 1034"/>
                  <a:gd name="GluePoint24Y" fmla="*/ 2147483647 h 664"/>
                  <a:gd name="GluePoint25X" fmla="*/ 2147483647 w 1034"/>
                  <a:gd name="GluePoint25Y" fmla="*/ 2147483647 h 664"/>
                  <a:gd name="GluePoint26X" fmla="*/ 2147483647 w 1034"/>
                  <a:gd name="GluePoint26Y" fmla="*/ 2147483647 h 664"/>
                  <a:gd name="GluePoint27X" fmla="*/ 2147483647 w 1034"/>
                  <a:gd name="GluePoint27Y" fmla="*/ 2147483647 h 664"/>
                  <a:gd name="GluePoint28X" fmla="*/ 2147483647 w 1034"/>
                  <a:gd name="GluePoint28Y" fmla="*/ 2147483647 h 664"/>
                  <a:gd name="GluePoint29X" fmla="*/ 2147483647 w 1034"/>
                  <a:gd name="GluePoint29Y" fmla="*/ 2147483647 h 664"/>
                  <a:gd name="GluePoint30X" fmla="*/ 2147483647 w 1034"/>
                  <a:gd name="GluePoint30Y" fmla="*/ 2147483647 h 664"/>
                  <a:gd name="GluePoint31X" fmla="*/ 2147483647 w 1034"/>
                  <a:gd name="GluePoint31Y" fmla="*/ 2147483647 h 664"/>
                  <a:gd name="GluePoint32X" fmla="*/ 2147483647 w 1034"/>
                  <a:gd name="GluePoint32Y" fmla="*/ 2147483647 h 664"/>
                  <a:gd name="GluePoint33X" fmla="*/ 2147483647 w 1034"/>
                  <a:gd name="GluePoint33Y" fmla="*/ 2147483647 h 664"/>
                  <a:gd name="GluePoint34X" fmla="*/ 2147483647 w 1034"/>
                  <a:gd name="GluePoint34Y" fmla="*/ 2147483647 h 664"/>
                  <a:gd name="GluePoint35X" fmla="*/ 245166478 w 1034"/>
                  <a:gd name="GluePoint35Y" fmla="*/ 2147483647 h 664"/>
                  <a:gd name="GluePoint36X" fmla="*/ 993683699 w 1034"/>
                  <a:gd name="GluePoint36Y" fmla="*/ 2147483647 h 664"/>
                  <a:gd name="GluePoint37X" fmla="*/ 2147483647 w 1034"/>
                  <a:gd name="GluePoint37Y" fmla="*/ 2147483647 h 664"/>
                  <a:gd name="GluePoint38X" fmla="*/ 2147483647 w 1034"/>
                  <a:gd name="GluePoint38Y" fmla="*/ 2147483647 h 664"/>
                  <a:gd name="GluePoint39X" fmla="*/ 2147483647 w 1034"/>
                  <a:gd name="GluePoint39Y" fmla="*/ 2147483647 h 664"/>
                  <a:gd name="GluePoint40X" fmla="*/ 2147483647 w 1034"/>
                  <a:gd name="GluePoint40Y" fmla="*/ 2147483647 h 664"/>
                  <a:gd name="GluePoint41X" fmla="*/ 2147483647 w 1034"/>
                  <a:gd name="GluePoint41Y" fmla="*/ 2147483647 h 664"/>
                  <a:gd name="GluePoint42X" fmla="*/ 2147483647 w 1034"/>
                  <a:gd name="GluePoint42Y" fmla="*/ 2147483647 h 664"/>
                  <a:gd name="GluePoint43X" fmla="*/ 2147483647 w 1034"/>
                  <a:gd name="GluePoint43Y" fmla="*/ 2147483647 h 6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Lst>
                <a:rect l="l" t="t" r="r" b="b"/>
                <a:pathLst>
                  <a:path w="1034" h="664">
                    <a:moveTo>
                      <a:pt x="660" y="544"/>
                    </a:moveTo>
                    <a:cubicBezTo>
                      <a:pt x="683" y="557"/>
                      <a:pt x="716" y="561"/>
                      <a:pt x="750" y="561"/>
                    </a:cubicBezTo>
                    <a:cubicBezTo>
                      <a:pt x="780" y="561"/>
                      <a:pt x="814" y="562"/>
                      <a:pt x="846" y="560"/>
                    </a:cubicBezTo>
                    <a:cubicBezTo>
                      <a:pt x="873" y="558"/>
                      <a:pt x="893" y="553"/>
                      <a:pt x="917" y="546"/>
                    </a:cubicBezTo>
                    <a:cubicBezTo>
                      <a:pt x="952" y="537"/>
                      <a:pt x="1011" y="502"/>
                      <a:pt x="1020" y="465"/>
                    </a:cubicBezTo>
                    <a:cubicBezTo>
                      <a:pt x="1029" y="428"/>
                      <a:pt x="1033" y="436"/>
                      <a:pt x="1034" y="399"/>
                    </a:cubicBezTo>
                    <a:cubicBezTo>
                      <a:pt x="1034" y="388"/>
                      <a:pt x="1033" y="380"/>
                      <a:pt x="1027" y="379"/>
                    </a:cubicBezTo>
                    <a:cubicBezTo>
                      <a:pt x="1033" y="374"/>
                      <a:pt x="1033" y="360"/>
                      <a:pt x="1029" y="330"/>
                    </a:cubicBezTo>
                    <a:cubicBezTo>
                      <a:pt x="1026" y="300"/>
                      <a:pt x="1019" y="259"/>
                      <a:pt x="1007" y="259"/>
                    </a:cubicBezTo>
                    <a:cubicBezTo>
                      <a:pt x="1012" y="249"/>
                      <a:pt x="997" y="225"/>
                      <a:pt x="978" y="204"/>
                    </a:cubicBezTo>
                    <a:cubicBezTo>
                      <a:pt x="963" y="188"/>
                      <a:pt x="948" y="144"/>
                      <a:pt x="930" y="154"/>
                    </a:cubicBezTo>
                    <a:cubicBezTo>
                      <a:pt x="942" y="135"/>
                      <a:pt x="894" y="109"/>
                      <a:pt x="878" y="100"/>
                    </a:cubicBezTo>
                    <a:cubicBezTo>
                      <a:pt x="861" y="91"/>
                      <a:pt x="836" y="73"/>
                      <a:pt x="822" y="89"/>
                    </a:cubicBezTo>
                    <a:cubicBezTo>
                      <a:pt x="845" y="69"/>
                      <a:pt x="786" y="58"/>
                      <a:pt x="773" y="53"/>
                    </a:cubicBezTo>
                    <a:cubicBezTo>
                      <a:pt x="752" y="45"/>
                      <a:pt x="699" y="5"/>
                      <a:pt x="681" y="30"/>
                    </a:cubicBezTo>
                    <a:cubicBezTo>
                      <a:pt x="686" y="16"/>
                      <a:pt x="656" y="16"/>
                      <a:pt x="631" y="12"/>
                    </a:cubicBezTo>
                    <a:cubicBezTo>
                      <a:pt x="605" y="9"/>
                      <a:pt x="583" y="4"/>
                      <a:pt x="583" y="17"/>
                    </a:cubicBezTo>
                    <a:cubicBezTo>
                      <a:pt x="583" y="17"/>
                      <a:pt x="583" y="17"/>
                      <a:pt x="583" y="17"/>
                    </a:cubicBezTo>
                    <a:cubicBezTo>
                      <a:pt x="582" y="5"/>
                      <a:pt x="554" y="1"/>
                      <a:pt x="525" y="5"/>
                    </a:cubicBezTo>
                    <a:cubicBezTo>
                      <a:pt x="500" y="9"/>
                      <a:pt x="464" y="0"/>
                      <a:pt x="463" y="14"/>
                    </a:cubicBezTo>
                    <a:cubicBezTo>
                      <a:pt x="461" y="3"/>
                      <a:pt x="438" y="11"/>
                      <a:pt x="414" y="17"/>
                    </a:cubicBezTo>
                    <a:cubicBezTo>
                      <a:pt x="394" y="23"/>
                      <a:pt x="378" y="24"/>
                      <a:pt x="377" y="35"/>
                    </a:cubicBezTo>
                    <a:cubicBezTo>
                      <a:pt x="374" y="24"/>
                      <a:pt x="348" y="33"/>
                      <a:pt x="332" y="38"/>
                    </a:cubicBezTo>
                    <a:cubicBezTo>
                      <a:pt x="318" y="42"/>
                      <a:pt x="309" y="52"/>
                      <a:pt x="311" y="63"/>
                    </a:cubicBezTo>
                    <a:cubicBezTo>
                      <a:pt x="299" y="47"/>
                      <a:pt x="264" y="63"/>
                      <a:pt x="242" y="72"/>
                    </a:cubicBezTo>
                    <a:cubicBezTo>
                      <a:pt x="217" y="82"/>
                      <a:pt x="171" y="108"/>
                      <a:pt x="171" y="129"/>
                    </a:cubicBezTo>
                    <a:cubicBezTo>
                      <a:pt x="159" y="117"/>
                      <a:pt x="121" y="147"/>
                      <a:pt x="129" y="161"/>
                    </a:cubicBezTo>
                    <a:cubicBezTo>
                      <a:pt x="115" y="151"/>
                      <a:pt x="56" y="217"/>
                      <a:pt x="74" y="236"/>
                    </a:cubicBezTo>
                    <a:cubicBezTo>
                      <a:pt x="68" y="236"/>
                      <a:pt x="65" y="235"/>
                      <a:pt x="52" y="259"/>
                    </a:cubicBezTo>
                    <a:cubicBezTo>
                      <a:pt x="39" y="283"/>
                      <a:pt x="22" y="312"/>
                      <a:pt x="21" y="319"/>
                    </a:cubicBezTo>
                    <a:cubicBezTo>
                      <a:pt x="19" y="326"/>
                      <a:pt x="27" y="332"/>
                      <a:pt x="27" y="332"/>
                    </a:cubicBezTo>
                    <a:cubicBezTo>
                      <a:pt x="27" y="332"/>
                      <a:pt x="22" y="331"/>
                      <a:pt x="17" y="341"/>
                    </a:cubicBezTo>
                    <a:cubicBezTo>
                      <a:pt x="12" y="353"/>
                      <a:pt x="11" y="364"/>
                      <a:pt x="10" y="377"/>
                    </a:cubicBezTo>
                    <a:cubicBezTo>
                      <a:pt x="10" y="384"/>
                      <a:pt x="12" y="392"/>
                      <a:pt x="11" y="398"/>
                    </a:cubicBezTo>
                    <a:cubicBezTo>
                      <a:pt x="10" y="412"/>
                      <a:pt x="2" y="424"/>
                      <a:pt x="1" y="439"/>
                    </a:cubicBezTo>
                    <a:cubicBezTo>
                      <a:pt x="0" y="458"/>
                      <a:pt x="2" y="477"/>
                      <a:pt x="4" y="495"/>
                    </a:cubicBezTo>
                    <a:cubicBezTo>
                      <a:pt x="6" y="515"/>
                      <a:pt x="10" y="554"/>
                      <a:pt x="33" y="560"/>
                    </a:cubicBezTo>
                    <a:cubicBezTo>
                      <a:pt x="26" y="582"/>
                      <a:pt x="29" y="592"/>
                      <a:pt x="45" y="610"/>
                    </a:cubicBezTo>
                    <a:cubicBezTo>
                      <a:pt x="64" y="627"/>
                      <a:pt x="101" y="664"/>
                      <a:pt x="141" y="659"/>
                    </a:cubicBezTo>
                    <a:cubicBezTo>
                      <a:pt x="146" y="659"/>
                      <a:pt x="169" y="648"/>
                      <a:pt x="211" y="648"/>
                    </a:cubicBezTo>
                    <a:cubicBezTo>
                      <a:pt x="215" y="649"/>
                      <a:pt x="219" y="643"/>
                      <a:pt x="223" y="643"/>
                    </a:cubicBezTo>
                    <a:cubicBezTo>
                      <a:pt x="229" y="643"/>
                      <a:pt x="235" y="649"/>
                      <a:pt x="241" y="649"/>
                    </a:cubicBezTo>
                    <a:cubicBezTo>
                      <a:pt x="321" y="650"/>
                      <a:pt x="416" y="652"/>
                      <a:pt x="416" y="652"/>
                    </a:cubicBezTo>
                  </a:path>
                </a:pathLst>
              </a:custGeom>
              <a:solidFill>
                <a:srgbClr val="edecf1"/>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6" name="Freeform 7"/>
              <p:cNvSpPr/>
              <p:nvPr/>
            </p:nvSpPr>
            <p:spPr>
              <a:xfrm flipH="1">
                <a:off x="6653160" y="1318680"/>
                <a:ext cx="287280" cy="338040"/>
              </a:xfrm>
              <a:custGeom>
                <a:avLst/>
                <a:gdLst>
                  <a:gd name="GluePoint1X" fmla="*/ 2147483647 w 88"/>
                  <a:gd name="GluePoint1Y" fmla="*/ 0 h 100"/>
                  <a:gd name="GluePoint2X" fmla="*/ 2147483647 w 88"/>
                  <a:gd name="GluePoint2Y" fmla="*/ 2147483647 h 100"/>
                  <a:gd name="GluePoint3X" fmla="*/ 0 w 88"/>
                  <a:gd name="GluePoint3Y" fmla="*/ 2147483647 h 100"/>
                  <a:gd name="GluePoint4X" fmla="*/ 2147483647 w 88"/>
                  <a:gd name="GluePoint4Y" fmla="*/ 2147483647 h 100"/>
                  <a:gd name="GluePoint5X" fmla="*/ 2147483647 w 88"/>
                  <a:gd name="GluePoint5Y" fmla="*/ 2147483647 h 100"/>
                  <a:gd name="GluePoint6X" fmla="*/ 2147483647 w 88"/>
                  <a:gd name="GluePoint6Y" fmla="*/ 2147483647 h 100"/>
                  <a:gd name="GluePoint7X" fmla="*/ 2147483647 w 88"/>
                  <a:gd name="GluePoint7Y" fmla="*/ 2147483647 h 100"/>
                  <a:gd name="GluePoint8X" fmla="*/ 2147483647 w 88"/>
                  <a:gd name="GluePoint8Y" fmla="*/ 2147483647 h 100"/>
                  <a:gd name="GluePoint9X" fmla="*/ 2147483647 w 88"/>
                  <a:gd name="GluePoint9Y" fmla="*/ 2147483647 h 100"/>
                  <a:gd name="GluePoint10X" fmla="*/ 2147483647 w 88"/>
                  <a:gd name="GluePoint10Y" fmla="*/ 2147483647 h 1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88" h="100">
                    <a:moveTo>
                      <a:pt x="28" y="0"/>
                    </a:moveTo>
                    <a:cubicBezTo>
                      <a:pt x="20" y="16"/>
                      <a:pt x="25" y="30"/>
                      <a:pt x="24" y="47"/>
                    </a:cubicBezTo>
                    <a:cubicBezTo>
                      <a:pt x="24" y="63"/>
                      <a:pt x="9" y="73"/>
                      <a:pt x="0" y="85"/>
                    </a:cubicBezTo>
                    <a:cubicBezTo>
                      <a:pt x="13" y="82"/>
                      <a:pt x="30" y="82"/>
                      <a:pt x="37" y="95"/>
                    </a:cubicBezTo>
                    <a:cubicBezTo>
                      <a:pt x="43" y="88"/>
                      <a:pt x="60" y="86"/>
                      <a:pt x="69" y="89"/>
                    </a:cubicBezTo>
                    <a:cubicBezTo>
                      <a:pt x="77" y="91"/>
                      <a:pt x="86" y="100"/>
                      <a:pt x="88" y="83"/>
                    </a:cubicBezTo>
                    <a:cubicBezTo>
                      <a:pt x="82" y="82"/>
                      <a:pt x="80" y="78"/>
                      <a:pt x="75" y="75"/>
                    </a:cubicBezTo>
                    <a:cubicBezTo>
                      <a:pt x="66" y="69"/>
                      <a:pt x="54" y="64"/>
                      <a:pt x="44" y="58"/>
                    </a:cubicBezTo>
                    <a:cubicBezTo>
                      <a:pt x="38" y="54"/>
                      <a:pt x="30" y="49"/>
                      <a:pt x="28" y="41"/>
                    </a:cubicBezTo>
                    <a:cubicBezTo>
                      <a:pt x="25" y="33"/>
                      <a:pt x="30" y="25"/>
                      <a:pt x="28" y="1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7" name="Freeform 8"/>
              <p:cNvSpPr/>
              <p:nvPr/>
            </p:nvSpPr>
            <p:spPr>
              <a:xfrm flipH="1">
                <a:off x="5297760" y="921240"/>
                <a:ext cx="1346760" cy="1996200"/>
              </a:xfrm>
              <a:custGeom>
                <a:avLst/>
                <a:gdLst>
                  <a:gd name="GluePoint1X" fmla="*/ 2147483647 w 414"/>
                  <a:gd name="GluePoint1Y" fmla="*/ 2147483647 h 589"/>
                  <a:gd name="GluePoint2X" fmla="*/ 2147483647 w 414"/>
                  <a:gd name="GluePoint2Y" fmla="*/ 2147483647 h 589"/>
                  <a:gd name="GluePoint3X" fmla="*/ 2147483647 w 414"/>
                  <a:gd name="GluePoint3Y" fmla="*/ 2147483647 h 589"/>
                  <a:gd name="GluePoint4X" fmla="*/ 0 w 414"/>
                  <a:gd name="GluePoint4Y" fmla="*/ 2147483647 h 589"/>
                  <a:gd name="GluePoint5X" fmla="*/ 2147483647 w 414"/>
                  <a:gd name="GluePoint5Y" fmla="*/ 2147483647 h 589"/>
                  <a:gd name="GluePoint6X" fmla="*/ 2147483647 w 414"/>
                  <a:gd name="GluePoint6Y" fmla="*/ 2147483647 h 589"/>
                  <a:gd name="GluePoint7X" fmla="*/ 2147483647 w 414"/>
                  <a:gd name="GluePoint7Y" fmla="*/ 2147483647 h 589"/>
                  <a:gd name="GluePoint8X" fmla="*/ 2147483647 w 414"/>
                  <a:gd name="GluePoint8Y" fmla="*/ 2147483647 h 589"/>
                  <a:gd name="GluePoint9X" fmla="*/ 2147483647 w 414"/>
                  <a:gd name="GluePoint9Y" fmla="*/ 2147483647 h 589"/>
                  <a:gd name="GluePoint10X" fmla="*/ 2147483647 w 414"/>
                  <a:gd name="GluePoint10Y" fmla="*/ 2147483647 h 589"/>
                  <a:gd name="GluePoint11X" fmla="*/ 2147483647 w 414"/>
                  <a:gd name="GluePoint11Y" fmla="*/ 2147483647 h 589"/>
                  <a:gd name="GluePoint12X" fmla="*/ 2147483647 w 414"/>
                  <a:gd name="GluePoint12Y" fmla="*/ 2147483647 h 589"/>
                  <a:gd name="GluePoint13X" fmla="*/ 2147483647 w 414"/>
                  <a:gd name="GluePoint13Y" fmla="*/ 2147483647 h 589"/>
                  <a:gd name="GluePoint14X" fmla="*/ 2147483647 w 414"/>
                  <a:gd name="GluePoint14Y" fmla="*/ 2147483647 h 589"/>
                  <a:gd name="GluePoint15X" fmla="*/ 2147483647 w 414"/>
                  <a:gd name="GluePoint15Y" fmla="*/ 2147483647 h 589"/>
                  <a:gd name="GluePoint16X" fmla="*/ 2147483647 w 414"/>
                  <a:gd name="GluePoint16Y" fmla="*/ 2147483647 h 589"/>
                  <a:gd name="GluePoint17X" fmla="*/ 2147483647 w 414"/>
                  <a:gd name="GluePoint17Y" fmla="*/ 2147483647 h 589"/>
                  <a:gd name="GluePoint18X" fmla="*/ 2147483647 w 414"/>
                  <a:gd name="GluePoint18Y" fmla="*/ 2147483647 h 589"/>
                  <a:gd name="GluePoint19X" fmla="*/ 2147483647 w 414"/>
                  <a:gd name="GluePoint19Y" fmla="*/ 2147483647 h 589"/>
                  <a:gd name="GluePoint20X" fmla="*/ 2147483647 w 414"/>
                  <a:gd name="GluePoint20Y" fmla="*/ 2147483647 h 589"/>
                  <a:gd name="GluePoint21X" fmla="*/ 2147483647 w 414"/>
                  <a:gd name="GluePoint21Y" fmla="*/ 2147483647 h 589"/>
                  <a:gd name="GluePoint22X" fmla="*/ 2147483647 w 414"/>
                  <a:gd name="GluePoint22Y" fmla="*/ 2147483647 h 589"/>
                  <a:gd name="GluePoint23X" fmla="*/ 2147483647 w 414"/>
                  <a:gd name="GluePoint23Y" fmla="*/ 2147483647 h 589"/>
                  <a:gd name="GluePoint24X" fmla="*/ 2147483647 w 414"/>
                  <a:gd name="GluePoint24Y" fmla="*/ 2147483647 h 589"/>
                  <a:gd name="GluePoint25X" fmla="*/ 2147483647 w 414"/>
                  <a:gd name="GluePoint25Y" fmla="*/ 2147483647 h 589"/>
                  <a:gd name="GluePoint26X" fmla="*/ 2147483647 w 414"/>
                  <a:gd name="GluePoint26Y" fmla="*/ 2147483647 h 589"/>
                  <a:gd name="GluePoint27X" fmla="*/ 2147483647 w 414"/>
                  <a:gd name="GluePoint27Y" fmla="*/ 2147483647 h 589"/>
                  <a:gd name="GluePoint28X" fmla="*/ 2147483647 w 414"/>
                  <a:gd name="GluePoint28Y" fmla="*/ 2147483647 h 589"/>
                  <a:gd name="GluePoint29X" fmla="*/ 2147483647 w 414"/>
                  <a:gd name="GluePoint29Y" fmla="*/ 2147483647 h 589"/>
                  <a:gd name="GluePoint30X" fmla="*/ 2147483647 w 414"/>
                  <a:gd name="GluePoint30Y" fmla="*/ 2147483647 h 589"/>
                  <a:gd name="GluePoint31X" fmla="*/ 2147483647 w 414"/>
                  <a:gd name="GluePoint31Y" fmla="*/ 2147483647 h 5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Lst>
                <a:rect l="l" t="t" r="r" b="b"/>
                <a:pathLst>
                  <a:path w="414" h="589">
                    <a:moveTo>
                      <a:pt x="389" y="73"/>
                    </a:moveTo>
                    <a:cubicBezTo>
                      <a:pt x="342" y="3"/>
                      <a:pt x="249" y="0"/>
                      <a:pt x="172" y="21"/>
                    </a:cubicBezTo>
                    <a:cubicBezTo>
                      <a:pt x="125" y="34"/>
                      <a:pt x="90" y="50"/>
                      <a:pt x="57" y="84"/>
                    </a:cubicBezTo>
                    <a:cubicBezTo>
                      <a:pt x="37" y="92"/>
                      <a:pt x="18" y="105"/>
                      <a:pt x="0" y="120"/>
                    </a:cubicBezTo>
                    <a:cubicBezTo>
                      <a:pt x="18" y="137"/>
                      <a:pt x="18" y="137"/>
                      <a:pt x="18" y="137"/>
                    </a:cubicBezTo>
                    <a:cubicBezTo>
                      <a:pt x="35" y="155"/>
                      <a:pt x="35" y="155"/>
                      <a:pt x="35" y="155"/>
                    </a:cubicBezTo>
                    <a:cubicBezTo>
                      <a:pt x="39" y="165"/>
                      <a:pt x="39" y="165"/>
                      <a:pt x="39" y="165"/>
                    </a:cubicBezTo>
                    <a:cubicBezTo>
                      <a:pt x="36" y="182"/>
                      <a:pt x="36" y="182"/>
                      <a:pt x="36" y="182"/>
                    </a:cubicBezTo>
                    <a:cubicBezTo>
                      <a:pt x="52" y="186"/>
                      <a:pt x="52" y="186"/>
                      <a:pt x="52" y="186"/>
                    </a:cubicBezTo>
                    <a:cubicBezTo>
                      <a:pt x="48" y="193"/>
                      <a:pt x="61" y="216"/>
                      <a:pt x="47" y="227"/>
                    </a:cubicBezTo>
                    <a:cubicBezTo>
                      <a:pt x="37" y="234"/>
                      <a:pt x="16" y="255"/>
                      <a:pt x="39" y="281"/>
                    </a:cubicBezTo>
                    <a:cubicBezTo>
                      <a:pt x="46" y="289"/>
                      <a:pt x="36" y="309"/>
                      <a:pt x="39" y="319"/>
                    </a:cubicBezTo>
                    <a:cubicBezTo>
                      <a:pt x="42" y="328"/>
                      <a:pt x="40" y="352"/>
                      <a:pt x="32" y="369"/>
                    </a:cubicBezTo>
                    <a:cubicBezTo>
                      <a:pt x="26" y="380"/>
                      <a:pt x="12" y="387"/>
                      <a:pt x="13" y="390"/>
                    </a:cubicBezTo>
                    <a:cubicBezTo>
                      <a:pt x="24" y="409"/>
                      <a:pt x="35" y="428"/>
                      <a:pt x="42" y="447"/>
                    </a:cubicBezTo>
                    <a:cubicBezTo>
                      <a:pt x="55" y="483"/>
                      <a:pt x="52" y="525"/>
                      <a:pt x="56" y="528"/>
                    </a:cubicBezTo>
                    <a:cubicBezTo>
                      <a:pt x="70" y="540"/>
                      <a:pt x="76" y="589"/>
                      <a:pt x="101" y="565"/>
                    </a:cubicBezTo>
                    <a:cubicBezTo>
                      <a:pt x="122" y="546"/>
                      <a:pt x="111" y="486"/>
                      <a:pt x="109" y="462"/>
                    </a:cubicBezTo>
                    <a:cubicBezTo>
                      <a:pt x="106" y="417"/>
                      <a:pt x="114" y="382"/>
                      <a:pt x="124" y="339"/>
                    </a:cubicBezTo>
                    <a:cubicBezTo>
                      <a:pt x="129" y="317"/>
                      <a:pt x="126" y="289"/>
                      <a:pt x="150" y="277"/>
                    </a:cubicBezTo>
                    <a:cubicBezTo>
                      <a:pt x="170" y="267"/>
                      <a:pt x="195" y="263"/>
                      <a:pt x="216" y="252"/>
                    </a:cubicBezTo>
                    <a:cubicBezTo>
                      <a:pt x="217" y="252"/>
                      <a:pt x="225" y="252"/>
                      <a:pt x="227" y="252"/>
                    </a:cubicBezTo>
                    <a:cubicBezTo>
                      <a:pt x="230" y="265"/>
                      <a:pt x="243" y="259"/>
                      <a:pt x="251" y="264"/>
                    </a:cubicBezTo>
                    <a:cubicBezTo>
                      <a:pt x="255" y="267"/>
                      <a:pt x="266" y="289"/>
                      <a:pt x="270" y="293"/>
                    </a:cubicBezTo>
                    <a:cubicBezTo>
                      <a:pt x="274" y="297"/>
                      <a:pt x="272" y="284"/>
                      <a:pt x="276" y="287"/>
                    </a:cubicBezTo>
                    <a:cubicBezTo>
                      <a:pt x="294" y="269"/>
                      <a:pt x="292" y="256"/>
                      <a:pt x="287" y="239"/>
                    </a:cubicBezTo>
                    <a:cubicBezTo>
                      <a:pt x="285" y="234"/>
                      <a:pt x="285" y="226"/>
                      <a:pt x="283" y="220"/>
                    </a:cubicBezTo>
                    <a:cubicBezTo>
                      <a:pt x="275" y="196"/>
                      <a:pt x="271" y="182"/>
                      <a:pt x="295" y="166"/>
                    </a:cubicBezTo>
                    <a:cubicBezTo>
                      <a:pt x="317" y="151"/>
                      <a:pt x="343" y="160"/>
                      <a:pt x="366" y="151"/>
                    </a:cubicBezTo>
                    <a:cubicBezTo>
                      <a:pt x="382" y="145"/>
                      <a:pt x="411" y="127"/>
                      <a:pt x="412" y="109"/>
                    </a:cubicBezTo>
                    <a:cubicBezTo>
                      <a:pt x="414" y="95"/>
                      <a:pt x="396" y="83"/>
                      <a:pt x="389" y="73"/>
                    </a:cubicBezTo>
                    <a:close/>
                  </a:path>
                </a:pathLst>
              </a:custGeom>
              <a:solidFill>
                <a:srgbClr val="fbcd8d"/>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 name="Freeform 9"/>
              <p:cNvSpPr/>
              <p:nvPr/>
            </p:nvSpPr>
            <p:spPr>
              <a:xfrm flipH="1">
                <a:off x="6319440" y="1523880"/>
                <a:ext cx="155160" cy="535680"/>
              </a:xfrm>
              <a:custGeom>
                <a:avLst/>
                <a:gdLst>
                  <a:gd name="GluePoint1X" fmla="*/ 2147483647 w 48"/>
                  <a:gd name="GluePoint1Y" fmla="*/ 0 h 158"/>
                  <a:gd name="GluePoint2X" fmla="*/ 2147483647 w 48"/>
                  <a:gd name="GluePoint2Y" fmla="*/ 2147483647 h 158"/>
                  <a:gd name="GluePoint3X" fmla="*/ 2147483647 w 48"/>
                  <a:gd name="GluePoint3Y" fmla="*/ 2147483647 h 158"/>
                  <a:gd name="GluePoint4X" fmla="*/ 2147483647 w 48"/>
                  <a:gd name="GluePoint4Y" fmla="*/ 2147483647 h 158"/>
                  <a:gd name="GluePoint5X" fmla="*/ 2147483647 w 48"/>
                  <a:gd name="GluePoint5Y" fmla="*/ 2147483647 h 158"/>
                  <a:gd name="GluePoint6X" fmla="*/ 0 w 48"/>
                  <a:gd name="GluePoint6Y" fmla="*/ 2147483647 h 158"/>
                  <a:gd name="GluePoint7X" fmla="*/ 1240767620 w 48"/>
                  <a:gd name="GluePoint7Y" fmla="*/ 2147483647 h 1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48" h="158">
                    <a:moveTo>
                      <a:pt x="34" y="0"/>
                    </a:moveTo>
                    <a:cubicBezTo>
                      <a:pt x="44" y="0"/>
                      <a:pt x="48" y="12"/>
                      <a:pt x="46" y="25"/>
                    </a:cubicBezTo>
                    <a:cubicBezTo>
                      <a:pt x="44" y="38"/>
                      <a:pt x="38" y="43"/>
                      <a:pt x="35" y="57"/>
                    </a:cubicBezTo>
                    <a:cubicBezTo>
                      <a:pt x="31" y="71"/>
                      <a:pt x="27" y="78"/>
                      <a:pt x="25" y="91"/>
                    </a:cubicBezTo>
                    <a:cubicBezTo>
                      <a:pt x="23" y="104"/>
                      <a:pt x="15" y="135"/>
                      <a:pt x="13" y="146"/>
                    </a:cubicBezTo>
                    <a:cubicBezTo>
                      <a:pt x="10" y="157"/>
                      <a:pt x="0" y="158"/>
                      <a:pt x="0" y="158"/>
                    </a:cubicBezTo>
                    <a:cubicBezTo>
                      <a:pt x="0" y="158"/>
                      <a:pt x="4" y="95"/>
                      <a:pt x="5" y="93"/>
                    </a:cubicBezTo>
                  </a:path>
                </a:pathLst>
              </a:custGeom>
              <a:solidFill>
                <a:srgbClr val="f6af6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9" name="Freeform 10"/>
              <p:cNvSpPr/>
              <p:nvPr/>
            </p:nvSpPr>
            <p:spPr>
              <a:xfrm flipH="1">
                <a:off x="5698800" y="1500840"/>
                <a:ext cx="444240" cy="396000"/>
              </a:xfrm>
              <a:custGeom>
                <a:avLst/>
                <a:gdLst>
                  <a:gd name="GluePoint1X" fmla="*/ 2147483647 w 137"/>
                  <a:gd name="GluePoint1Y" fmla="*/ 2147483647 h 117"/>
                  <a:gd name="GluePoint2X" fmla="*/ 2147483647 w 137"/>
                  <a:gd name="GluePoint2Y" fmla="*/ 2147483647 h 117"/>
                  <a:gd name="GluePoint3X" fmla="*/ 2147483647 w 137"/>
                  <a:gd name="GluePoint3Y" fmla="*/ 2147483647 h 117"/>
                  <a:gd name="GluePoint4X" fmla="*/ 2147483647 w 137"/>
                  <a:gd name="GluePoint4Y" fmla="*/ 2147483647 h 117"/>
                  <a:gd name="GluePoint5X" fmla="*/ 2147483647 w 137"/>
                  <a:gd name="GluePoint5Y" fmla="*/ 2147483647 h 117"/>
                  <a:gd name="GluePoint6X" fmla="*/ 2147483647 w 137"/>
                  <a:gd name="GluePoint6Y" fmla="*/ 2147483647 h 117"/>
                  <a:gd name="GluePoint7X" fmla="*/ 2147483647 w 137"/>
                  <a:gd name="GluePoint7Y" fmla="*/ 2147483647 h 117"/>
                  <a:gd name="GluePoint8X" fmla="*/ 2147483647 w 137"/>
                  <a:gd name="GluePoint8Y" fmla="*/ 2147483647 h 117"/>
                  <a:gd name="GluePoint9X" fmla="*/ 2147483647 w 137"/>
                  <a:gd name="GluePoint9Y" fmla="*/ 2147483647 h 117"/>
                  <a:gd name="GluePoint10X" fmla="*/ 2147483647 w 137"/>
                  <a:gd name="GluePoint10Y" fmla="*/ 2147483647 h 117"/>
                  <a:gd name="GluePoint11X" fmla="*/ 0 w 137"/>
                  <a:gd name="GluePoint11Y" fmla="*/ 2147483647 h 117"/>
                  <a:gd name="GluePoint12X" fmla="*/ 2147483647 w 137"/>
                  <a:gd name="GluePoint12Y" fmla="*/ 2147483647 h 117"/>
                  <a:gd name="GluePoint13X" fmla="*/ 2147483647 w 137"/>
                  <a:gd name="GluePoint13Y" fmla="*/ 2147483647 h 117"/>
                  <a:gd name="GluePoint14X" fmla="*/ 2147483647 w 137"/>
                  <a:gd name="GluePoint14Y" fmla="*/ 2147483647 h 117"/>
                  <a:gd name="GluePoint15X" fmla="*/ 2147483647 w 137"/>
                  <a:gd name="GluePoint15Y" fmla="*/ 2147483647 h 117"/>
                  <a:gd name="GluePoint16X" fmla="*/ 2147483647 w 137"/>
                  <a:gd name="GluePoint16Y" fmla="*/ 2147483647 h 117"/>
                  <a:gd name="GluePoint17X" fmla="*/ 2147483647 w 137"/>
                  <a:gd name="GluePoint17Y" fmla="*/ 0 h 1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l" t="t" r="r" b="b"/>
                <a:pathLst>
                  <a:path w="137" h="117">
                    <a:moveTo>
                      <a:pt x="114" y="14"/>
                    </a:moveTo>
                    <a:cubicBezTo>
                      <a:pt x="120" y="25"/>
                      <a:pt x="122" y="36"/>
                      <a:pt x="124" y="48"/>
                    </a:cubicBezTo>
                    <a:cubicBezTo>
                      <a:pt x="125" y="53"/>
                      <a:pt x="126" y="58"/>
                      <a:pt x="128" y="63"/>
                    </a:cubicBezTo>
                    <a:cubicBezTo>
                      <a:pt x="131" y="69"/>
                      <a:pt x="132" y="75"/>
                      <a:pt x="135" y="82"/>
                    </a:cubicBezTo>
                    <a:cubicBezTo>
                      <a:pt x="137" y="88"/>
                      <a:pt x="135" y="93"/>
                      <a:pt x="128" y="89"/>
                    </a:cubicBezTo>
                    <a:cubicBezTo>
                      <a:pt x="122" y="85"/>
                      <a:pt x="117" y="81"/>
                      <a:pt x="114" y="90"/>
                    </a:cubicBezTo>
                    <a:cubicBezTo>
                      <a:pt x="112" y="95"/>
                      <a:pt x="114" y="98"/>
                      <a:pt x="115" y="103"/>
                    </a:cubicBezTo>
                    <a:cubicBezTo>
                      <a:pt x="116" y="108"/>
                      <a:pt x="116" y="112"/>
                      <a:pt x="116" y="117"/>
                    </a:cubicBezTo>
                    <a:cubicBezTo>
                      <a:pt x="113" y="105"/>
                      <a:pt x="101" y="98"/>
                      <a:pt x="93" y="90"/>
                    </a:cubicBezTo>
                    <a:cubicBezTo>
                      <a:pt x="83" y="81"/>
                      <a:pt x="72" y="70"/>
                      <a:pt x="59" y="64"/>
                    </a:cubicBezTo>
                    <a:cubicBezTo>
                      <a:pt x="41" y="55"/>
                      <a:pt x="20" y="51"/>
                      <a:pt x="0" y="47"/>
                    </a:cubicBezTo>
                    <a:cubicBezTo>
                      <a:pt x="7" y="48"/>
                      <a:pt x="9" y="41"/>
                      <a:pt x="10" y="37"/>
                    </a:cubicBezTo>
                    <a:cubicBezTo>
                      <a:pt x="11" y="31"/>
                      <a:pt x="10" y="26"/>
                      <a:pt x="11" y="20"/>
                    </a:cubicBezTo>
                    <a:cubicBezTo>
                      <a:pt x="11" y="16"/>
                      <a:pt x="12" y="17"/>
                      <a:pt x="17" y="17"/>
                    </a:cubicBezTo>
                    <a:cubicBezTo>
                      <a:pt x="26" y="17"/>
                      <a:pt x="35" y="19"/>
                      <a:pt x="45" y="18"/>
                    </a:cubicBezTo>
                    <a:cubicBezTo>
                      <a:pt x="55" y="17"/>
                      <a:pt x="65" y="15"/>
                      <a:pt x="75" y="11"/>
                    </a:cubicBezTo>
                    <a:cubicBezTo>
                      <a:pt x="82" y="8"/>
                      <a:pt x="88" y="4"/>
                      <a:pt x="95" y="0"/>
                    </a:cubicBezTo>
                  </a:path>
                </a:pathLst>
              </a:custGeom>
              <a:solidFill>
                <a:srgbClr val="b1cdc7"/>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0" name="Freeform 11"/>
              <p:cNvSpPr/>
              <p:nvPr/>
            </p:nvSpPr>
            <p:spPr>
              <a:xfrm flipH="1">
                <a:off x="5747400" y="1189800"/>
                <a:ext cx="801720" cy="462960"/>
              </a:xfrm>
              <a:custGeom>
                <a:avLst/>
                <a:gdLst>
                  <a:gd name="GluePoint1X" fmla="*/ 2147483647 w 247"/>
                  <a:gd name="GluePoint1Y" fmla="*/ 2147483647 h 137"/>
                  <a:gd name="GluePoint2X" fmla="*/ 2147483647 w 247"/>
                  <a:gd name="GluePoint2Y" fmla="*/ 2097242384 h 137"/>
                  <a:gd name="GluePoint3X" fmla="*/ 2147483647 w 247"/>
                  <a:gd name="GluePoint3Y" fmla="*/ 850065700 h 137"/>
                  <a:gd name="GluePoint4X" fmla="*/ 2147483647 w 247"/>
                  <a:gd name="GluePoint4Y" fmla="*/ 2147483647 h 137"/>
                  <a:gd name="GluePoint5X" fmla="*/ 2147483647 w 247"/>
                  <a:gd name="GluePoint5Y" fmla="*/ 2147483647 h 137"/>
                  <a:gd name="GluePoint6X" fmla="*/ 2147483647 w 247"/>
                  <a:gd name="GluePoint6Y" fmla="*/ 2147483647 h 137"/>
                  <a:gd name="GluePoint7X" fmla="*/ 2147483647 w 247"/>
                  <a:gd name="GluePoint7Y" fmla="*/ 2147483647 h 137"/>
                  <a:gd name="GluePoint8X" fmla="*/ 1692086234 w 247"/>
                  <a:gd name="GluePoint8Y" fmla="*/ 2147483647 h 137"/>
                  <a:gd name="GluePoint9X" fmla="*/ 2007605111 w 247"/>
                  <a:gd name="GluePoint9Y" fmla="*/ 2147483647 h 137"/>
                  <a:gd name="GluePoint10X" fmla="*/ 2147483647 w 247"/>
                  <a:gd name="GluePoint10Y" fmla="*/ 2147483647 h 137"/>
                  <a:gd name="GluePoint11X" fmla="*/ 2147483647 w 247"/>
                  <a:gd name="GluePoint11Y" fmla="*/ 2147483647 h 13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247" h="137">
                    <a:moveTo>
                      <a:pt x="41" y="39"/>
                    </a:moveTo>
                    <a:cubicBezTo>
                      <a:pt x="60" y="23"/>
                      <a:pt x="87" y="5"/>
                      <a:pt x="117" y="2"/>
                    </a:cubicBezTo>
                    <a:cubicBezTo>
                      <a:pt x="126" y="2"/>
                      <a:pt x="143" y="0"/>
                      <a:pt x="160" y="1"/>
                    </a:cubicBezTo>
                    <a:cubicBezTo>
                      <a:pt x="200" y="6"/>
                      <a:pt x="247" y="43"/>
                      <a:pt x="246" y="76"/>
                    </a:cubicBezTo>
                    <a:cubicBezTo>
                      <a:pt x="246" y="124"/>
                      <a:pt x="170" y="137"/>
                      <a:pt x="86" y="109"/>
                    </a:cubicBezTo>
                    <a:cubicBezTo>
                      <a:pt x="55" y="95"/>
                      <a:pt x="52" y="96"/>
                      <a:pt x="52" y="96"/>
                    </a:cubicBezTo>
                    <a:cubicBezTo>
                      <a:pt x="52" y="96"/>
                      <a:pt x="34" y="105"/>
                      <a:pt x="26" y="104"/>
                    </a:cubicBezTo>
                    <a:cubicBezTo>
                      <a:pt x="18" y="104"/>
                      <a:pt x="8" y="105"/>
                      <a:pt x="7" y="99"/>
                    </a:cubicBezTo>
                    <a:cubicBezTo>
                      <a:pt x="6" y="92"/>
                      <a:pt x="8" y="81"/>
                      <a:pt x="8" y="81"/>
                    </a:cubicBezTo>
                    <a:cubicBezTo>
                      <a:pt x="8" y="81"/>
                      <a:pt x="0" y="76"/>
                      <a:pt x="20" y="60"/>
                    </a:cubicBezTo>
                    <a:cubicBezTo>
                      <a:pt x="25" y="55"/>
                      <a:pt x="31" y="47"/>
                      <a:pt x="41" y="39"/>
                    </a:cubicBezTo>
                    <a:close/>
                  </a:path>
                </a:pathLst>
              </a:custGeom>
              <a:solidFill>
                <a:srgbClr val="df797d"/>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 name="Freeform 12"/>
              <p:cNvSpPr/>
              <p:nvPr/>
            </p:nvSpPr>
            <p:spPr>
              <a:xfrm flipH="1">
                <a:off x="5366160" y="999360"/>
                <a:ext cx="669960" cy="556200"/>
              </a:xfrm>
              <a:custGeom>
                <a:avLst/>
                <a:gdLst>
                  <a:gd name="GluePoint1X" fmla="*/ 2147483647 w 206"/>
                  <a:gd name="GluePoint1Y" fmla="*/ 2147483647 h 164"/>
                  <a:gd name="GluePoint2X" fmla="*/ 2147483647 w 206"/>
                  <a:gd name="GluePoint2Y" fmla="*/ 2147483647 h 164"/>
                  <a:gd name="GluePoint3X" fmla="*/ 2147483647 w 206"/>
                  <a:gd name="GluePoint3Y" fmla="*/ 2147483647 h 164"/>
                  <a:gd name="GluePoint4X" fmla="*/ 2147483647 w 206"/>
                  <a:gd name="GluePoint4Y" fmla="*/ 2147483647 h 164"/>
                  <a:gd name="GluePoint5X" fmla="*/ 2147483647 w 206"/>
                  <a:gd name="GluePoint5Y" fmla="*/ 2147483647 h 164"/>
                  <a:gd name="GluePoint6X" fmla="*/ 2147483647 w 206"/>
                  <a:gd name="GluePoint6Y" fmla="*/ 2147483647 h 164"/>
                  <a:gd name="GluePoint7X" fmla="*/ 2147483647 w 206"/>
                  <a:gd name="GluePoint7Y" fmla="*/ 0 h 164"/>
                  <a:gd name="GluePoint8X" fmla="*/ 2147483647 w 206"/>
                  <a:gd name="GluePoint8Y" fmla="*/ 0 h 164"/>
                  <a:gd name="GluePoint9X" fmla="*/ 247157258 w 206"/>
                  <a:gd name="GluePoint9Y" fmla="*/ 2147483647 h 164"/>
                  <a:gd name="GluePoint10X" fmla="*/ 2147483647 w 206"/>
                  <a:gd name="GluePoint10Y" fmla="*/ 2147483647 h 164"/>
                  <a:gd name="GluePoint11X" fmla="*/ 2147483647 w 206"/>
                  <a:gd name="GluePoint11Y" fmla="*/ 2147483647 h 164"/>
                  <a:gd name="GluePoint12X" fmla="*/ 2147483647 w 206"/>
                  <a:gd name="GluePoint12Y" fmla="*/ 2147483647 h 164"/>
                  <a:gd name="GluePoint13X" fmla="*/ 2147483647 w 206"/>
                  <a:gd name="GluePoint13Y" fmla="*/ 2147483647 h 164"/>
                  <a:gd name="GluePoint14X" fmla="*/ 2147483647 w 206"/>
                  <a:gd name="GluePoint14Y" fmla="*/ 2147483647 h 164"/>
                  <a:gd name="GluePoint15X" fmla="*/ 2147483647 w 206"/>
                  <a:gd name="GluePoint15Y" fmla="*/ 2147483647 h 164"/>
                  <a:gd name="GluePoint16X" fmla="*/ 2147483647 w 206"/>
                  <a:gd name="GluePoint16Y" fmla="*/ 2147483647 h 164"/>
                  <a:gd name="GluePoint17X" fmla="*/ 2147483647 w 206"/>
                  <a:gd name="GluePoint17Y" fmla="*/ 2147483647 h 164"/>
                  <a:gd name="GluePoint18X" fmla="*/ 2147483647 w 206"/>
                  <a:gd name="GluePoint18Y" fmla="*/ 2147483647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l" t="t" r="r" b="b"/>
                <a:pathLst>
                  <a:path w="206" h="164">
                    <a:moveTo>
                      <a:pt x="162" y="125"/>
                    </a:moveTo>
                    <a:cubicBezTo>
                      <a:pt x="203" y="88"/>
                      <a:pt x="203" y="88"/>
                      <a:pt x="203" y="88"/>
                    </a:cubicBezTo>
                    <a:cubicBezTo>
                      <a:pt x="203" y="88"/>
                      <a:pt x="205" y="69"/>
                      <a:pt x="206" y="54"/>
                    </a:cubicBezTo>
                    <a:cubicBezTo>
                      <a:pt x="204" y="53"/>
                      <a:pt x="203" y="51"/>
                      <a:pt x="202" y="50"/>
                    </a:cubicBezTo>
                    <a:cubicBezTo>
                      <a:pt x="198" y="44"/>
                      <a:pt x="194" y="39"/>
                      <a:pt x="189" y="34"/>
                    </a:cubicBezTo>
                    <a:cubicBezTo>
                      <a:pt x="172" y="28"/>
                      <a:pt x="147" y="21"/>
                      <a:pt x="145" y="21"/>
                    </a:cubicBezTo>
                    <a:cubicBezTo>
                      <a:pt x="141" y="21"/>
                      <a:pt x="86" y="0"/>
                      <a:pt x="86" y="0"/>
                    </a:cubicBezTo>
                    <a:cubicBezTo>
                      <a:pt x="27" y="0"/>
                      <a:pt x="27" y="0"/>
                      <a:pt x="27" y="0"/>
                    </a:cubicBezTo>
                    <a:cubicBezTo>
                      <a:pt x="26" y="1"/>
                      <a:pt x="2" y="26"/>
                      <a:pt x="1" y="26"/>
                    </a:cubicBezTo>
                    <a:cubicBezTo>
                      <a:pt x="0" y="26"/>
                      <a:pt x="32" y="41"/>
                      <a:pt x="32" y="41"/>
                    </a:cubicBezTo>
                    <a:cubicBezTo>
                      <a:pt x="85" y="90"/>
                      <a:pt x="85" y="90"/>
                      <a:pt x="85" y="90"/>
                    </a:cubicBezTo>
                    <a:cubicBezTo>
                      <a:pt x="85" y="113"/>
                      <a:pt x="85" y="113"/>
                      <a:pt x="85" y="113"/>
                    </a:cubicBezTo>
                    <a:cubicBezTo>
                      <a:pt x="85" y="113"/>
                      <a:pt x="94" y="132"/>
                      <a:pt x="80" y="164"/>
                    </a:cubicBezTo>
                    <a:cubicBezTo>
                      <a:pt x="89" y="162"/>
                      <a:pt x="89" y="162"/>
                      <a:pt x="89" y="162"/>
                    </a:cubicBezTo>
                    <a:cubicBezTo>
                      <a:pt x="93" y="158"/>
                      <a:pt x="93" y="158"/>
                      <a:pt x="93" y="158"/>
                    </a:cubicBezTo>
                    <a:cubicBezTo>
                      <a:pt x="96" y="153"/>
                      <a:pt x="101" y="148"/>
                      <a:pt x="108" y="143"/>
                    </a:cubicBezTo>
                    <a:cubicBezTo>
                      <a:pt x="127" y="131"/>
                      <a:pt x="127" y="131"/>
                      <a:pt x="127" y="131"/>
                    </a:cubicBezTo>
                    <a:lnTo>
                      <a:pt x="162" y="125"/>
                    </a:lnTo>
                    <a:close/>
                  </a:path>
                </a:pathLst>
              </a:custGeom>
              <a:solidFill>
                <a:srgbClr val="fad0b4"/>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 name="Freeform 13"/>
              <p:cNvSpPr/>
              <p:nvPr/>
            </p:nvSpPr>
            <p:spPr>
              <a:xfrm flipH="1">
                <a:off x="6367320" y="1870920"/>
                <a:ext cx="227880" cy="991800"/>
              </a:xfrm>
              <a:custGeom>
                <a:avLst/>
                <a:gdLst>
                  <a:gd name="GluePoint1X" fmla="*/ 2147483647 w 70"/>
                  <a:gd name="GluePoint1Y" fmla="*/ 2147483647 h 293"/>
                  <a:gd name="GluePoint2X" fmla="*/ 2147483647 w 70"/>
                  <a:gd name="GluePoint2Y" fmla="*/ 2147483647 h 293"/>
                  <a:gd name="GluePoint3X" fmla="*/ 2147483647 w 70"/>
                  <a:gd name="GluePoint3Y" fmla="*/ 2147483647 h 293"/>
                  <a:gd name="GluePoint4X" fmla="*/ 2147483647 w 70"/>
                  <a:gd name="GluePoint4Y" fmla="*/ 2147483647 h 293"/>
                  <a:gd name="GluePoint5X" fmla="*/ 2147483647 w 70"/>
                  <a:gd name="GluePoint5Y" fmla="*/ 2147483647 h 293"/>
                  <a:gd name="GluePoint6X" fmla="*/ 2147483647 w 70"/>
                  <a:gd name="GluePoint6Y" fmla="*/ 0 h 293"/>
                  <a:gd name="GluePoint7X" fmla="*/ 2147483647 w 70"/>
                  <a:gd name="GluePoint7Y" fmla="*/ 2147483647 h 293"/>
                  <a:gd name="GluePoint8X" fmla="*/ 2147483647 w 70"/>
                  <a:gd name="GluePoint8Y" fmla="*/ 2147483647 h 293"/>
                  <a:gd name="GluePoint9X" fmla="*/ 2147483647 w 70"/>
                  <a:gd name="GluePoint9Y" fmla="*/ 2147483647 h 293"/>
                  <a:gd name="GluePoint10X" fmla="*/ 2147483647 w 70"/>
                  <a:gd name="GluePoint10Y" fmla="*/ 2147483647 h 293"/>
                  <a:gd name="GluePoint11X" fmla="*/ 2147483647 w 70"/>
                  <a:gd name="GluePoint11Y" fmla="*/ 2147483647 h 293"/>
                  <a:gd name="GluePoint12X" fmla="*/ 2147483647 w 70"/>
                  <a:gd name="GluePoint12Y" fmla="*/ 2147483647 h 293"/>
                  <a:gd name="GluePoint13X" fmla="*/ 2147483647 w 70"/>
                  <a:gd name="GluePoint13Y" fmla="*/ 2147483647 h 293"/>
                  <a:gd name="GluePoint14X" fmla="*/ 2147483647 w 70"/>
                  <a:gd name="GluePoint14Y" fmla="*/ 2147483647 h 293"/>
                  <a:gd name="GluePoint15X" fmla="*/ 2147483647 w 70"/>
                  <a:gd name="GluePoint15Y" fmla="*/ 2147483647 h 29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70" h="293">
                    <a:moveTo>
                      <a:pt x="64" y="206"/>
                    </a:moveTo>
                    <a:cubicBezTo>
                      <a:pt x="64" y="206"/>
                      <a:pt x="56" y="205"/>
                      <a:pt x="51" y="206"/>
                    </a:cubicBezTo>
                    <a:cubicBezTo>
                      <a:pt x="46" y="206"/>
                      <a:pt x="45" y="201"/>
                      <a:pt x="38" y="167"/>
                    </a:cubicBezTo>
                    <a:cubicBezTo>
                      <a:pt x="32" y="133"/>
                      <a:pt x="10" y="114"/>
                      <a:pt x="17" y="112"/>
                    </a:cubicBezTo>
                    <a:cubicBezTo>
                      <a:pt x="24" y="109"/>
                      <a:pt x="41" y="87"/>
                      <a:pt x="44" y="75"/>
                    </a:cubicBezTo>
                    <a:cubicBezTo>
                      <a:pt x="48" y="59"/>
                      <a:pt x="54" y="16"/>
                      <a:pt x="54" y="0"/>
                    </a:cubicBezTo>
                    <a:cubicBezTo>
                      <a:pt x="51" y="20"/>
                      <a:pt x="46" y="43"/>
                      <a:pt x="41" y="60"/>
                    </a:cubicBezTo>
                    <a:cubicBezTo>
                      <a:pt x="32" y="91"/>
                      <a:pt x="16" y="102"/>
                      <a:pt x="8" y="105"/>
                    </a:cubicBezTo>
                    <a:cubicBezTo>
                      <a:pt x="0" y="109"/>
                      <a:pt x="12" y="118"/>
                      <a:pt x="22" y="140"/>
                    </a:cubicBezTo>
                    <a:cubicBezTo>
                      <a:pt x="30" y="158"/>
                      <a:pt x="36" y="191"/>
                      <a:pt x="41" y="221"/>
                    </a:cubicBezTo>
                    <a:cubicBezTo>
                      <a:pt x="40" y="223"/>
                      <a:pt x="40" y="225"/>
                      <a:pt x="39" y="229"/>
                    </a:cubicBezTo>
                    <a:cubicBezTo>
                      <a:pt x="39" y="232"/>
                      <a:pt x="38" y="238"/>
                      <a:pt x="38" y="246"/>
                    </a:cubicBezTo>
                    <a:cubicBezTo>
                      <a:pt x="39" y="247"/>
                      <a:pt x="40" y="247"/>
                      <a:pt x="41" y="248"/>
                    </a:cubicBezTo>
                    <a:cubicBezTo>
                      <a:pt x="52" y="257"/>
                      <a:pt x="55" y="291"/>
                      <a:pt x="70" y="293"/>
                    </a:cubicBezTo>
                    <a:lnTo>
                      <a:pt x="64" y="206"/>
                    </a:lnTo>
                    <a:close/>
                  </a:path>
                </a:pathLst>
              </a:custGeom>
              <a:solidFill>
                <a:srgbClr val="f6af6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 name="Freeform 14"/>
              <p:cNvSpPr/>
              <p:nvPr/>
            </p:nvSpPr>
            <p:spPr>
              <a:xfrm flipH="1">
                <a:off x="6383880" y="2083320"/>
                <a:ext cx="71280" cy="508320"/>
              </a:xfrm>
              <a:custGeom>
                <a:avLst/>
                <a:gdLst>
                  <a:gd name="GluePoint1X" fmla="*/ 2147483647 w 22"/>
                  <a:gd name="GluePoint1Y" fmla="*/ 0 h 150"/>
                  <a:gd name="GluePoint2X" fmla="*/ 243346530 w 22"/>
                  <a:gd name="GluePoint2Y" fmla="*/ 2147483647 h 150"/>
                  <a:gd name="GluePoint3X" fmla="*/ 1723613887 w 22"/>
                  <a:gd name="GluePoint3Y" fmla="*/ 2147483647 h 150"/>
                  <a:gd name="GluePoint4X" fmla="*/ 2147483647 w 22"/>
                  <a:gd name="GluePoint4Y" fmla="*/ 2147483647 h 150"/>
                </a:gdLst>
                <a:ahLst/>
                <a:cxnLst>
                  <a:cxn ang="0">
                    <a:pos x="GluePoint1X" y="GluePoint1Y"/>
                  </a:cxn>
                  <a:cxn ang="0">
                    <a:pos x="GluePoint2X" y="GluePoint2Y"/>
                  </a:cxn>
                  <a:cxn ang="0">
                    <a:pos x="GluePoint3X" y="GluePoint3Y"/>
                  </a:cxn>
                  <a:cxn ang="0">
                    <a:pos x="GluePoint4X" y="GluePoint4Y"/>
                  </a:cxn>
                </a:cxnLst>
                <a:rect l="l" t="t" r="r" b="b"/>
                <a:pathLst>
                  <a:path w="22" h="150">
                    <a:moveTo>
                      <a:pt x="10" y="0"/>
                    </a:moveTo>
                    <a:cubicBezTo>
                      <a:pt x="8" y="8"/>
                      <a:pt x="0" y="45"/>
                      <a:pt x="1" y="77"/>
                    </a:cubicBezTo>
                    <a:cubicBezTo>
                      <a:pt x="2" y="110"/>
                      <a:pt x="7" y="149"/>
                      <a:pt x="7" y="149"/>
                    </a:cubicBezTo>
                    <a:cubicBezTo>
                      <a:pt x="22" y="150"/>
                      <a:pt x="22" y="150"/>
                      <a:pt x="22" y="150"/>
                    </a:cubicBezTo>
                  </a:path>
                </a:pathLst>
              </a:custGeom>
              <a:solidFill>
                <a:srgbClr val="f6af6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4" name="Freeform 15"/>
              <p:cNvSpPr/>
              <p:nvPr/>
            </p:nvSpPr>
            <p:spPr>
              <a:xfrm flipH="1">
                <a:off x="5972040" y="1440360"/>
                <a:ext cx="93600" cy="74160"/>
              </a:xfrm>
              <a:custGeom>
                <a:avLst/>
                <a:gdLst>
                  <a:gd name="GluePoint1X" fmla="*/ 2147483647 w 29"/>
                  <a:gd name="GluePoint1Y" fmla="*/ 0 h 22"/>
                  <a:gd name="GluePoint2X" fmla="*/ 1389752659 w 29"/>
                  <a:gd name="GluePoint2Y" fmla="*/ 2147483647 h 22"/>
                  <a:gd name="GluePoint3X" fmla="*/ 2147483647 w 29"/>
                  <a:gd name="GluePoint3Y" fmla="*/ 2147483647 h 22"/>
                  <a:gd name="GluePoint4X" fmla="*/ 2147483647 w 29"/>
                  <a:gd name="GluePoint4Y" fmla="*/ 2147483647 h 22"/>
                  <a:gd name="GluePoint5X" fmla="*/ 2147483647 w 29"/>
                  <a:gd name="GluePoint5Y" fmla="*/ 2147483647 h 22"/>
                  <a:gd name="GluePoint6X" fmla="*/ 0 w 29"/>
                  <a:gd name="GluePoint6Y" fmla="*/ 2147483647 h 22"/>
                  <a:gd name="GluePoint7X" fmla="*/ 2147483647 w 29"/>
                  <a:gd name="GluePoint7Y" fmla="*/ 0 h 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9" h="22">
                    <a:moveTo>
                      <a:pt x="11" y="0"/>
                    </a:moveTo>
                    <a:cubicBezTo>
                      <a:pt x="8" y="2"/>
                      <a:pt x="6" y="5"/>
                      <a:pt x="6" y="8"/>
                    </a:cubicBezTo>
                    <a:cubicBezTo>
                      <a:pt x="6" y="15"/>
                      <a:pt x="13" y="20"/>
                      <a:pt x="23" y="20"/>
                    </a:cubicBezTo>
                    <a:cubicBezTo>
                      <a:pt x="25" y="20"/>
                      <a:pt x="27" y="19"/>
                      <a:pt x="29" y="19"/>
                    </a:cubicBezTo>
                    <a:cubicBezTo>
                      <a:pt x="26" y="21"/>
                      <a:pt x="22" y="22"/>
                      <a:pt x="17" y="22"/>
                    </a:cubicBezTo>
                    <a:cubicBezTo>
                      <a:pt x="7" y="22"/>
                      <a:pt x="0" y="17"/>
                      <a:pt x="0" y="11"/>
                    </a:cubicBezTo>
                    <a:cubicBezTo>
                      <a:pt x="0" y="6"/>
                      <a:pt x="4" y="2"/>
                      <a:pt x="11" y="0"/>
                    </a:cubicBezTo>
                    <a:close/>
                  </a:path>
                </a:pathLst>
              </a:custGeom>
              <a:solidFill>
                <a:srgbClr val="cf2049"/>
              </a:solidFill>
              <a:ln w="0">
                <a:noFill/>
              </a:ln>
            </p:spPr>
            <p:style>
              <a:lnRef idx="0"/>
              <a:fillRef idx="0"/>
              <a:effectRef idx="0"/>
              <a:fontRef idx="minor"/>
            </p:style>
            <p:txBody>
              <a:bodyPr lIns="90000" rIns="90000" tIns="27360" bIns="27360" anchor="t">
                <a:noAutofit/>
              </a:bodyPr>
              <a:p>
                <a:endParaRPr b="0" lang="en-US" sz="2400" strike="noStrike" u="none">
                  <a:solidFill>
                    <a:srgbClr val="ffff00"/>
                  </a:solidFill>
                  <a:effectLst/>
                  <a:uFillTx/>
                  <a:latin typeface="Times New Roman"/>
                </a:endParaRPr>
              </a:p>
            </p:txBody>
          </p:sp>
          <p:sp>
            <p:nvSpPr>
              <p:cNvPr id="235" name="Freeform 16"/>
              <p:cNvSpPr/>
              <p:nvPr/>
            </p:nvSpPr>
            <p:spPr>
              <a:xfrm flipH="1">
                <a:off x="5427720" y="1084320"/>
                <a:ext cx="409320" cy="301320"/>
              </a:xfrm>
              <a:custGeom>
                <a:avLst/>
                <a:gdLst>
                  <a:gd name="GluePoint1X" fmla="*/ 1472140394 w 126"/>
                  <a:gd name="GluePoint1Y" fmla="*/ 2147483647 h 89"/>
                  <a:gd name="GluePoint2X" fmla="*/ 2147483647 w 126"/>
                  <a:gd name="GluePoint2Y" fmla="*/ 2147483647 h 89"/>
                  <a:gd name="GluePoint3X" fmla="*/ 2147483647 w 126"/>
                  <a:gd name="GluePoint3Y" fmla="*/ 2147483647 h 89"/>
                  <a:gd name="GluePoint4X" fmla="*/ 2147483647 w 126"/>
                  <a:gd name="GluePoint4Y" fmla="*/ 2147483647 h 89"/>
                  <a:gd name="GluePoint5X" fmla="*/ 2147483647 w 126"/>
                  <a:gd name="GluePoint5Y" fmla="*/ 2147483647 h 89"/>
                  <a:gd name="GluePoint6X" fmla="*/ 0 w 126"/>
                  <a:gd name="GluePoint6Y" fmla="*/ 2147483647 h 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26" h="89">
                    <a:moveTo>
                      <a:pt x="6" y="3"/>
                    </a:moveTo>
                    <a:cubicBezTo>
                      <a:pt x="23" y="12"/>
                      <a:pt x="33" y="21"/>
                      <a:pt x="42" y="39"/>
                    </a:cubicBezTo>
                    <a:cubicBezTo>
                      <a:pt x="49" y="52"/>
                      <a:pt x="56" y="74"/>
                      <a:pt x="49" y="89"/>
                    </a:cubicBezTo>
                    <a:cubicBezTo>
                      <a:pt x="58" y="81"/>
                      <a:pt x="80" y="85"/>
                      <a:pt x="91" y="80"/>
                    </a:cubicBezTo>
                    <a:cubicBezTo>
                      <a:pt x="109" y="72"/>
                      <a:pt x="126" y="55"/>
                      <a:pt x="112" y="38"/>
                    </a:cubicBezTo>
                    <a:cubicBezTo>
                      <a:pt x="89" y="8"/>
                      <a:pt x="23" y="0"/>
                      <a:pt x="0" y="3"/>
                    </a:cubicBezTo>
                  </a:path>
                </a:pathLst>
              </a:custGeom>
              <a:solidFill>
                <a:srgbClr val="fde4d2"/>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6" name="Freeform 17"/>
              <p:cNvSpPr/>
              <p:nvPr/>
            </p:nvSpPr>
            <p:spPr>
              <a:xfrm flipH="1">
                <a:off x="5178600" y="843120"/>
                <a:ext cx="1708560" cy="2334600"/>
              </a:xfrm>
              <a:custGeom>
                <a:avLst/>
                <a:gdLst>
                  <a:gd name="GluePoint1X" fmla="*/ 2147483647 w 526"/>
                  <a:gd name="GluePoint1Y" fmla="*/ 2147483647 h 689"/>
                  <a:gd name="GluePoint2X" fmla="*/ 2147483647 w 526"/>
                  <a:gd name="GluePoint2Y" fmla="*/ 2147483647 h 689"/>
                  <a:gd name="GluePoint3X" fmla="*/ 2147483647 w 526"/>
                  <a:gd name="GluePoint3Y" fmla="*/ 2147483647 h 689"/>
                  <a:gd name="GluePoint4X" fmla="*/ 2147483647 w 526"/>
                  <a:gd name="GluePoint4Y" fmla="*/ 2147483647 h 689"/>
                  <a:gd name="GluePoint5X" fmla="*/ 2147483647 w 526"/>
                  <a:gd name="GluePoint5Y" fmla="*/ 2147483647 h 689"/>
                  <a:gd name="GluePoint6X" fmla="*/ 2147483647 w 526"/>
                  <a:gd name="GluePoint6Y" fmla="*/ 2147483647 h 689"/>
                  <a:gd name="GluePoint7X" fmla="*/ 2147483647 w 526"/>
                  <a:gd name="GluePoint7Y" fmla="*/ 2147483647 h 689"/>
                  <a:gd name="GluePoint8X" fmla="*/ 2147483647 w 526"/>
                  <a:gd name="GluePoint8Y" fmla="*/ 2147483647 h 689"/>
                  <a:gd name="GluePoint9X" fmla="*/ 2147483647 w 526"/>
                  <a:gd name="GluePoint9Y" fmla="*/ 2147483647 h 689"/>
                  <a:gd name="GluePoint10X" fmla="*/ 2147483647 w 526"/>
                  <a:gd name="GluePoint10Y" fmla="*/ 2147483647 h 689"/>
                  <a:gd name="GluePoint11X" fmla="*/ 2147483647 w 526"/>
                  <a:gd name="GluePoint11Y" fmla="*/ 2147483647 h 689"/>
                  <a:gd name="GluePoint12X" fmla="*/ 2147483647 w 526"/>
                  <a:gd name="GluePoint12Y" fmla="*/ 2147483647 h 689"/>
                  <a:gd name="GluePoint13X" fmla="*/ 2147483647 w 526"/>
                  <a:gd name="GluePoint13Y" fmla="*/ 2147483647 h 689"/>
                  <a:gd name="GluePoint14X" fmla="*/ 2147483647 w 526"/>
                  <a:gd name="GluePoint14Y" fmla="*/ 2147483647 h 689"/>
                  <a:gd name="GluePoint15X" fmla="*/ 2147483647 w 526"/>
                  <a:gd name="GluePoint15Y" fmla="*/ 2147483647 h 689"/>
                  <a:gd name="GluePoint16X" fmla="*/ 2147483647 w 526"/>
                  <a:gd name="GluePoint16Y" fmla="*/ 2147483647 h 689"/>
                  <a:gd name="GluePoint17X" fmla="*/ 2147483647 w 526"/>
                  <a:gd name="GluePoint17Y" fmla="*/ 2147483647 h 689"/>
                  <a:gd name="GluePoint18X" fmla="*/ 2147483647 w 526"/>
                  <a:gd name="GluePoint18Y" fmla="*/ 2147483647 h 689"/>
                  <a:gd name="GluePoint19X" fmla="*/ 2147483647 w 526"/>
                  <a:gd name="GluePoint19Y" fmla="*/ 2147483647 h 689"/>
                  <a:gd name="GluePoint20X" fmla="*/ 2147483647 w 526"/>
                  <a:gd name="GluePoint20Y" fmla="*/ 2147483647 h 689"/>
                  <a:gd name="GluePoint21X" fmla="*/ 2147483647 w 526"/>
                  <a:gd name="GluePoint21Y" fmla="*/ 2147483647 h 689"/>
                  <a:gd name="GluePoint22X" fmla="*/ 2147483647 w 526"/>
                  <a:gd name="GluePoint22Y" fmla="*/ 2147483647 h 689"/>
                  <a:gd name="GluePoint23X" fmla="*/ 2147483647 w 526"/>
                  <a:gd name="GluePoint23Y" fmla="*/ 2147483647 h 689"/>
                  <a:gd name="GluePoint24X" fmla="*/ 2147483647 w 526"/>
                  <a:gd name="GluePoint24Y" fmla="*/ 2147483647 h 689"/>
                  <a:gd name="GluePoint25X" fmla="*/ 2147483647 w 526"/>
                  <a:gd name="GluePoint25Y" fmla="*/ 2147483647 h 689"/>
                  <a:gd name="GluePoint26X" fmla="*/ 2147483647 w 526"/>
                  <a:gd name="GluePoint26Y" fmla="*/ 2147483647 h 689"/>
                  <a:gd name="GluePoint27X" fmla="*/ 2147483647 w 526"/>
                  <a:gd name="GluePoint27Y" fmla="*/ 2147483647 h 689"/>
                  <a:gd name="GluePoint28X" fmla="*/ 2147483647 w 526"/>
                  <a:gd name="GluePoint28Y" fmla="*/ 2147483647 h 689"/>
                  <a:gd name="GluePoint29X" fmla="*/ 2147483647 w 526"/>
                  <a:gd name="GluePoint29Y" fmla="*/ 2147483647 h 689"/>
                  <a:gd name="GluePoint30X" fmla="*/ 2147483647 w 526"/>
                  <a:gd name="GluePoint30Y" fmla="*/ 2147483647 h 689"/>
                  <a:gd name="GluePoint31X" fmla="*/ 2147483647 w 526"/>
                  <a:gd name="GluePoint31Y" fmla="*/ 2147483647 h 689"/>
                  <a:gd name="GluePoint32X" fmla="*/ 2147483647 w 526"/>
                  <a:gd name="GluePoint32Y" fmla="*/ 2147483647 h 689"/>
                  <a:gd name="GluePoint33X" fmla="*/ 2147483647 w 526"/>
                  <a:gd name="GluePoint33Y" fmla="*/ 2147483647 h 689"/>
                  <a:gd name="GluePoint34X" fmla="*/ 2147483647 w 526"/>
                  <a:gd name="GluePoint34Y" fmla="*/ 2147483647 h 689"/>
                  <a:gd name="GluePoint35X" fmla="*/ 2147483647 w 526"/>
                  <a:gd name="GluePoint35Y" fmla="*/ 2147483647 h 689"/>
                  <a:gd name="GluePoint36X" fmla="*/ 2147483647 w 526"/>
                  <a:gd name="GluePoint36Y" fmla="*/ 2147483647 h 689"/>
                  <a:gd name="GluePoint37X" fmla="*/ 2147483647 w 526"/>
                  <a:gd name="GluePoint37Y" fmla="*/ 2147483647 h 689"/>
                  <a:gd name="GluePoint38X" fmla="*/ 2147483647 w 526"/>
                  <a:gd name="GluePoint38Y" fmla="*/ 2147483647 h 689"/>
                  <a:gd name="GluePoint39X" fmla="*/ 2147483647 w 526"/>
                  <a:gd name="GluePoint39Y" fmla="*/ 2147483647 h 689"/>
                  <a:gd name="GluePoint40X" fmla="*/ 2147483647 w 526"/>
                  <a:gd name="GluePoint40Y" fmla="*/ 2147483647 h 689"/>
                  <a:gd name="GluePoint41X" fmla="*/ 2147483647 w 526"/>
                  <a:gd name="GluePoint41Y" fmla="*/ 2147483647 h 689"/>
                  <a:gd name="GluePoint42X" fmla="*/ 2147483647 w 526"/>
                  <a:gd name="GluePoint42Y" fmla="*/ 2147483647 h 689"/>
                  <a:gd name="GluePoint43X" fmla="*/ 2147483647 w 526"/>
                  <a:gd name="GluePoint43Y" fmla="*/ 2147483647 h 689"/>
                  <a:gd name="GluePoint44X" fmla="*/ 2147483647 w 526"/>
                  <a:gd name="GluePoint44Y" fmla="*/ 2147483647 h 689"/>
                  <a:gd name="GluePoint45X" fmla="*/ 2147483647 w 526"/>
                  <a:gd name="GluePoint45Y" fmla="*/ 2147483647 h 689"/>
                  <a:gd name="GluePoint46X" fmla="*/ 2147483647 w 526"/>
                  <a:gd name="GluePoint46Y" fmla="*/ 2147483647 h 689"/>
                  <a:gd name="GluePoint47X" fmla="*/ 2147483647 w 526"/>
                  <a:gd name="GluePoint47Y" fmla="*/ 2147483647 h 6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l" t="t" r="r" b="b"/>
                <a:pathLst>
                  <a:path w="526" h="689">
                    <a:moveTo>
                      <a:pt x="124" y="689"/>
                    </a:moveTo>
                    <a:cubicBezTo>
                      <a:pt x="132" y="665"/>
                      <a:pt x="126" y="551"/>
                      <a:pt x="129" y="532"/>
                    </a:cubicBezTo>
                    <a:cubicBezTo>
                      <a:pt x="132" y="512"/>
                      <a:pt x="138" y="516"/>
                      <a:pt x="139" y="527"/>
                    </a:cubicBezTo>
                    <a:cubicBezTo>
                      <a:pt x="140" y="535"/>
                      <a:pt x="141" y="558"/>
                      <a:pt x="143" y="574"/>
                    </a:cubicBezTo>
                    <a:cubicBezTo>
                      <a:pt x="143" y="578"/>
                      <a:pt x="145" y="577"/>
                      <a:pt x="145" y="573"/>
                    </a:cubicBezTo>
                    <a:cubicBezTo>
                      <a:pt x="147" y="545"/>
                      <a:pt x="145" y="492"/>
                      <a:pt x="141" y="461"/>
                    </a:cubicBezTo>
                    <a:cubicBezTo>
                      <a:pt x="137" y="427"/>
                      <a:pt x="142" y="335"/>
                      <a:pt x="159" y="288"/>
                    </a:cubicBezTo>
                    <a:cubicBezTo>
                      <a:pt x="181" y="229"/>
                      <a:pt x="248" y="241"/>
                      <a:pt x="269" y="249"/>
                    </a:cubicBezTo>
                    <a:cubicBezTo>
                      <a:pt x="307" y="262"/>
                      <a:pt x="315" y="278"/>
                      <a:pt x="325" y="284"/>
                    </a:cubicBezTo>
                    <a:cubicBezTo>
                      <a:pt x="336" y="290"/>
                      <a:pt x="344" y="316"/>
                      <a:pt x="347" y="325"/>
                    </a:cubicBezTo>
                    <a:cubicBezTo>
                      <a:pt x="346" y="315"/>
                      <a:pt x="340" y="298"/>
                      <a:pt x="338" y="288"/>
                    </a:cubicBezTo>
                    <a:cubicBezTo>
                      <a:pt x="335" y="278"/>
                      <a:pt x="334" y="271"/>
                      <a:pt x="338" y="268"/>
                    </a:cubicBezTo>
                    <a:cubicBezTo>
                      <a:pt x="343" y="265"/>
                      <a:pt x="354" y="272"/>
                      <a:pt x="363" y="279"/>
                    </a:cubicBezTo>
                    <a:cubicBezTo>
                      <a:pt x="363" y="279"/>
                      <a:pt x="353" y="259"/>
                      <a:pt x="351" y="250"/>
                    </a:cubicBezTo>
                    <a:cubicBezTo>
                      <a:pt x="350" y="240"/>
                      <a:pt x="352" y="234"/>
                      <a:pt x="345" y="229"/>
                    </a:cubicBezTo>
                    <a:cubicBezTo>
                      <a:pt x="341" y="224"/>
                      <a:pt x="338" y="215"/>
                      <a:pt x="340" y="209"/>
                    </a:cubicBezTo>
                    <a:cubicBezTo>
                      <a:pt x="344" y="199"/>
                      <a:pt x="355" y="201"/>
                      <a:pt x="361" y="191"/>
                    </a:cubicBezTo>
                    <a:cubicBezTo>
                      <a:pt x="369" y="180"/>
                      <a:pt x="378" y="174"/>
                      <a:pt x="393" y="171"/>
                    </a:cubicBezTo>
                    <a:cubicBezTo>
                      <a:pt x="408" y="171"/>
                      <a:pt x="422" y="168"/>
                      <a:pt x="438" y="157"/>
                    </a:cubicBezTo>
                    <a:cubicBezTo>
                      <a:pt x="470" y="133"/>
                      <a:pt x="470" y="89"/>
                      <a:pt x="376" y="64"/>
                    </a:cubicBezTo>
                    <a:cubicBezTo>
                      <a:pt x="283" y="39"/>
                      <a:pt x="157" y="110"/>
                      <a:pt x="124" y="153"/>
                    </a:cubicBezTo>
                    <a:cubicBezTo>
                      <a:pt x="95" y="191"/>
                      <a:pt x="64" y="230"/>
                      <a:pt x="32" y="209"/>
                    </a:cubicBezTo>
                    <a:cubicBezTo>
                      <a:pt x="0" y="188"/>
                      <a:pt x="15" y="157"/>
                      <a:pt x="20" y="142"/>
                    </a:cubicBezTo>
                    <a:cubicBezTo>
                      <a:pt x="50" y="51"/>
                      <a:pt x="213" y="8"/>
                      <a:pt x="326" y="4"/>
                    </a:cubicBezTo>
                    <a:cubicBezTo>
                      <a:pt x="461" y="0"/>
                      <a:pt x="518" y="76"/>
                      <a:pt x="522" y="117"/>
                    </a:cubicBezTo>
                    <a:cubicBezTo>
                      <a:pt x="526" y="155"/>
                      <a:pt x="496" y="186"/>
                      <a:pt x="454" y="196"/>
                    </a:cubicBezTo>
                    <a:cubicBezTo>
                      <a:pt x="410" y="207"/>
                      <a:pt x="398" y="171"/>
                      <a:pt x="379" y="188"/>
                    </a:cubicBezTo>
                    <a:cubicBezTo>
                      <a:pt x="369" y="198"/>
                      <a:pt x="353" y="210"/>
                      <a:pt x="357" y="240"/>
                    </a:cubicBezTo>
                    <a:cubicBezTo>
                      <a:pt x="361" y="269"/>
                      <a:pt x="375" y="291"/>
                      <a:pt x="381" y="296"/>
                    </a:cubicBezTo>
                    <a:cubicBezTo>
                      <a:pt x="386" y="301"/>
                      <a:pt x="383" y="315"/>
                      <a:pt x="369" y="314"/>
                    </a:cubicBezTo>
                    <a:cubicBezTo>
                      <a:pt x="358" y="314"/>
                      <a:pt x="351" y="304"/>
                      <a:pt x="347" y="298"/>
                    </a:cubicBezTo>
                    <a:cubicBezTo>
                      <a:pt x="347" y="300"/>
                      <a:pt x="348" y="301"/>
                      <a:pt x="348" y="303"/>
                    </a:cubicBezTo>
                    <a:cubicBezTo>
                      <a:pt x="351" y="311"/>
                      <a:pt x="354" y="321"/>
                      <a:pt x="356" y="328"/>
                    </a:cubicBezTo>
                    <a:cubicBezTo>
                      <a:pt x="357" y="331"/>
                      <a:pt x="361" y="332"/>
                      <a:pt x="363" y="333"/>
                    </a:cubicBezTo>
                    <a:cubicBezTo>
                      <a:pt x="369" y="334"/>
                      <a:pt x="375" y="337"/>
                      <a:pt x="377" y="344"/>
                    </a:cubicBezTo>
                    <a:cubicBezTo>
                      <a:pt x="381" y="354"/>
                      <a:pt x="370" y="362"/>
                      <a:pt x="366" y="362"/>
                    </a:cubicBezTo>
                    <a:cubicBezTo>
                      <a:pt x="365" y="366"/>
                      <a:pt x="356" y="374"/>
                      <a:pt x="340" y="363"/>
                    </a:cubicBezTo>
                    <a:cubicBezTo>
                      <a:pt x="334" y="358"/>
                      <a:pt x="336" y="348"/>
                      <a:pt x="339" y="341"/>
                    </a:cubicBezTo>
                    <a:cubicBezTo>
                      <a:pt x="340" y="338"/>
                      <a:pt x="342" y="329"/>
                      <a:pt x="342" y="325"/>
                    </a:cubicBezTo>
                    <a:cubicBezTo>
                      <a:pt x="339" y="314"/>
                      <a:pt x="333" y="297"/>
                      <a:pt x="327" y="293"/>
                    </a:cubicBezTo>
                    <a:cubicBezTo>
                      <a:pt x="319" y="289"/>
                      <a:pt x="296" y="280"/>
                      <a:pt x="278" y="275"/>
                    </a:cubicBezTo>
                    <a:cubicBezTo>
                      <a:pt x="260" y="270"/>
                      <a:pt x="259" y="281"/>
                      <a:pt x="254" y="290"/>
                    </a:cubicBezTo>
                    <a:cubicBezTo>
                      <a:pt x="249" y="297"/>
                      <a:pt x="248" y="309"/>
                      <a:pt x="247" y="322"/>
                    </a:cubicBezTo>
                    <a:cubicBezTo>
                      <a:pt x="246" y="334"/>
                      <a:pt x="282" y="339"/>
                      <a:pt x="281" y="389"/>
                    </a:cubicBezTo>
                    <a:cubicBezTo>
                      <a:pt x="281" y="439"/>
                      <a:pt x="259" y="492"/>
                      <a:pt x="228" y="496"/>
                    </a:cubicBezTo>
                    <a:cubicBezTo>
                      <a:pt x="234" y="503"/>
                      <a:pt x="241" y="526"/>
                      <a:pt x="224" y="574"/>
                    </a:cubicBezTo>
                    <a:cubicBezTo>
                      <a:pt x="206" y="622"/>
                      <a:pt x="201" y="689"/>
                      <a:pt x="201" y="689"/>
                    </a:cubicBezTo>
                  </a:path>
                </a:pathLst>
              </a:custGeom>
              <a:solidFill>
                <a:srgbClr val="feead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7" name="Freeform 18"/>
              <p:cNvSpPr/>
              <p:nvPr/>
            </p:nvSpPr>
            <p:spPr>
              <a:xfrm flipH="1">
                <a:off x="5770080" y="1620000"/>
                <a:ext cx="714600" cy="1557720"/>
              </a:xfrm>
              <a:custGeom>
                <a:avLst/>
                <a:gdLst>
                  <a:gd name="GluePoint1X" fmla="*/ 0 w 220"/>
                  <a:gd name="GluePoint1Y" fmla="*/ 2147483647 h 460"/>
                  <a:gd name="GluePoint2X" fmla="*/ 2147483647 w 220"/>
                  <a:gd name="GluePoint2Y" fmla="*/ 2147483647 h 460"/>
                  <a:gd name="GluePoint3X" fmla="*/ 2147483647 w 220"/>
                  <a:gd name="GluePoint3Y" fmla="*/ 2147483647 h 460"/>
                  <a:gd name="GluePoint4X" fmla="*/ 2147483647 w 220"/>
                  <a:gd name="GluePoint4Y" fmla="*/ 2147483647 h 460"/>
                  <a:gd name="GluePoint5X" fmla="*/ 2147483647 w 220"/>
                  <a:gd name="GluePoint5Y" fmla="*/ 2147483647 h 460"/>
                  <a:gd name="GluePoint6X" fmla="*/ 2147483647 w 220"/>
                  <a:gd name="GluePoint6Y" fmla="*/ 2147483647 h 460"/>
                  <a:gd name="GluePoint7X" fmla="*/ 2147483647 w 220"/>
                  <a:gd name="GluePoint7Y" fmla="*/ 2147483647 h 460"/>
                  <a:gd name="GluePoint8X" fmla="*/ 2147483647 w 220"/>
                  <a:gd name="GluePoint8Y" fmla="*/ 2147483647 h 460"/>
                  <a:gd name="GluePoint9X" fmla="*/ 2147483647 w 220"/>
                  <a:gd name="GluePoint9Y" fmla="*/ 2147483647 h 460"/>
                  <a:gd name="GluePoint10X" fmla="*/ 2147483647 w 220"/>
                  <a:gd name="GluePoint10Y" fmla="*/ 2147483647 h 460"/>
                  <a:gd name="GluePoint11X" fmla="*/ 2147483647 w 220"/>
                  <a:gd name="GluePoint11Y" fmla="*/ 2147483647 h 460"/>
                  <a:gd name="GluePoint12X" fmla="*/ 2147483647 w 220"/>
                  <a:gd name="GluePoint12Y" fmla="*/ 2147483647 h 460"/>
                  <a:gd name="GluePoint13X" fmla="*/ 2147483647 w 220"/>
                  <a:gd name="GluePoint13Y" fmla="*/ 2147483647 h 460"/>
                  <a:gd name="GluePoint14X" fmla="*/ 2147483647 w 220"/>
                  <a:gd name="GluePoint14Y" fmla="*/ 2147483647 h 460"/>
                  <a:gd name="GluePoint15X" fmla="*/ 2147483647 w 220"/>
                  <a:gd name="GluePoint15Y" fmla="*/ 2147483647 h 460"/>
                  <a:gd name="GluePoint16X" fmla="*/ 2147483647 w 220"/>
                  <a:gd name="GluePoint16Y" fmla="*/ 2147483647 h 460"/>
                  <a:gd name="GluePoint17X" fmla="*/ 2147483647 w 220"/>
                  <a:gd name="GluePoint17Y" fmla="*/ 2147483647 h 460"/>
                  <a:gd name="GluePoint18X" fmla="*/ 2147483647 w 220"/>
                  <a:gd name="GluePoint18Y" fmla="*/ 2147483647 h 460"/>
                  <a:gd name="GluePoint19X" fmla="*/ 2147483647 w 220"/>
                  <a:gd name="GluePoint19Y" fmla="*/ 2147483647 h 460"/>
                  <a:gd name="GluePoint20X" fmla="*/ 2147483647 w 220"/>
                  <a:gd name="GluePoint20Y" fmla="*/ 2147483647 h 460"/>
                  <a:gd name="GluePoint21X" fmla="*/ 2147483647 w 220"/>
                  <a:gd name="GluePoint21Y" fmla="*/ 2147483647 h 460"/>
                  <a:gd name="GluePoint22X" fmla="*/ 2147483647 w 220"/>
                  <a:gd name="GluePoint22Y" fmla="*/ 2147483647 h 460"/>
                  <a:gd name="GluePoint23X" fmla="*/ 1307736207 w 220"/>
                  <a:gd name="GluePoint23Y" fmla="*/ 2147483647 h 460"/>
                  <a:gd name="GluePoint24X" fmla="*/ 0 w 220"/>
                  <a:gd name="GluePoint24Y" fmla="*/ 2147483647 h 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Lst>
                <a:rect l="l" t="t" r="r" b="b"/>
                <a:pathLst>
                  <a:path w="220" h="460">
                    <a:moveTo>
                      <a:pt x="0" y="460"/>
                    </a:moveTo>
                    <a:cubicBezTo>
                      <a:pt x="77" y="460"/>
                      <a:pt x="77" y="460"/>
                      <a:pt x="77" y="460"/>
                    </a:cubicBezTo>
                    <a:cubicBezTo>
                      <a:pt x="77" y="460"/>
                      <a:pt x="82" y="393"/>
                      <a:pt x="100" y="345"/>
                    </a:cubicBezTo>
                    <a:cubicBezTo>
                      <a:pt x="117" y="297"/>
                      <a:pt x="110" y="274"/>
                      <a:pt x="104" y="267"/>
                    </a:cubicBezTo>
                    <a:cubicBezTo>
                      <a:pt x="135" y="263"/>
                      <a:pt x="157" y="210"/>
                      <a:pt x="157" y="160"/>
                    </a:cubicBezTo>
                    <a:cubicBezTo>
                      <a:pt x="158" y="110"/>
                      <a:pt x="122" y="105"/>
                      <a:pt x="123" y="93"/>
                    </a:cubicBezTo>
                    <a:cubicBezTo>
                      <a:pt x="124" y="80"/>
                      <a:pt x="125" y="68"/>
                      <a:pt x="130" y="61"/>
                    </a:cubicBezTo>
                    <a:cubicBezTo>
                      <a:pt x="135" y="52"/>
                      <a:pt x="136" y="41"/>
                      <a:pt x="154" y="46"/>
                    </a:cubicBezTo>
                    <a:cubicBezTo>
                      <a:pt x="172" y="51"/>
                      <a:pt x="195" y="60"/>
                      <a:pt x="203" y="64"/>
                    </a:cubicBezTo>
                    <a:cubicBezTo>
                      <a:pt x="209" y="68"/>
                      <a:pt x="215" y="85"/>
                      <a:pt x="218" y="96"/>
                    </a:cubicBezTo>
                    <a:cubicBezTo>
                      <a:pt x="218" y="100"/>
                      <a:pt x="216" y="109"/>
                      <a:pt x="215" y="112"/>
                    </a:cubicBezTo>
                    <a:cubicBezTo>
                      <a:pt x="212" y="119"/>
                      <a:pt x="210" y="129"/>
                      <a:pt x="216" y="134"/>
                    </a:cubicBezTo>
                    <a:cubicBezTo>
                      <a:pt x="217" y="134"/>
                      <a:pt x="217" y="134"/>
                      <a:pt x="217" y="135"/>
                    </a:cubicBezTo>
                    <a:cubicBezTo>
                      <a:pt x="218" y="124"/>
                      <a:pt x="219" y="113"/>
                      <a:pt x="220" y="102"/>
                    </a:cubicBezTo>
                    <a:cubicBezTo>
                      <a:pt x="220" y="97"/>
                      <a:pt x="220" y="92"/>
                      <a:pt x="220" y="87"/>
                    </a:cubicBezTo>
                    <a:cubicBezTo>
                      <a:pt x="216" y="75"/>
                      <a:pt x="209" y="59"/>
                      <a:pt x="201" y="55"/>
                    </a:cubicBezTo>
                    <a:cubicBezTo>
                      <a:pt x="191" y="49"/>
                      <a:pt x="183" y="33"/>
                      <a:pt x="145" y="20"/>
                    </a:cubicBezTo>
                    <a:cubicBezTo>
                      <a:pt x="124" y="12"/>
                      <a:pt x="57" y="0"/>
                      <a:pt x="35" y="59"/>
                    </a:cubicBezTo>
                    <a:cubicBezTo>
                      <a:pt x="18" y="106"/>
                      <a:pt x="13" y="198"/>
                      <a:pt x="17" y="232"/>
                    </a:cubicBezTo>
                    <a:cubicBezTo>
                      <a:pt x="21" y="263"/>
                      <a:pt x="23" y="316"/>
                      <a:pt x="21" y="344"/>
                    </a:cubicBezTo>
                    <a:cubicBezTo>
                      <a:pt x="21" y="348"/>
                      <a:pt x="19" y="349"/>
                      <a:pt x="19" y="345"/>
                    </a:cubicBezTo>
                    <a:cubicBezTo>
                      <a:pt x="17" y="329"/>
                      <a:pt x="16" y="306"/>
                      <a:pt x="15" y="298"/>
                    </a:cubicBezTo>
                    <a:cubicBezTo>
                      <a:pt x="14" y="287"/>
                      <a:pt x="8" y="283"/>
                      <a:pt x="5" y="303"/>
                    </a:cubicBezTo>
                    <a:cubicBezTo>
                      <a:pt x="2" y="322"/>
                      <a:pt x="8" y="436"/>
                      <a:pt x="0" y="460"/>
                    </a:cubicBezTo>
                    <a:close/>
                  </a:path>
                </a:pathLst>
              </a:custGeom>
              <a:solidFill>
                <a:srgbClr val="ecd6d8"/>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8" name="Freeform 19"/>
              <p:cNvSpPr/>
              <p:nvPr/>
            </p:nvSpPr>
            <p:spPr>
              <a:xfrm flipH="1">
                <a:off x="5649480" y="1818720"/>
                <a:ext cx="155160" cy="291600"/>
              </a:xfrm>
              <a:custGeom>
                <a:avLst/>
                <a:gdLst>
                  <a:gd name="GluePoint1X" fmla="*/ 2147483647 w 48"/>
                  <a:gd name="GluePoint1Y" fmla="*/ 2147483647 h 86"/>
                  <a:gd name="GluePoint2X" fmla="*/ 2147483647 w 48"/>
                  <a:gd name="GluePoint2Y" fmla="*/ 2147483647 h 86"/>
                  <a:gd name="GluePoint3X" fmla="*/ 2147483647 w 48"/>
                  <a:gd name="GluePoint3Y" fmla="*/ 2147483647 h 86"/>
                  <a:gd name="GluePoint4X" fmla="*/ 2147483647 w 48"/>
                  <a:gd name="GluePoint4Y" fmla="*/ 2147483647 h 86"/>
                  <a:gd name="GluePoint5X" fmla="*/ 2147483647 w 48"/>
                  <a:gd name="GluePoint5Y" fmla="*/ 2147483647 h 86"/>
                  <a:gd name="GluePoint6X" fmla="*/ 1412007926 w 48"/>
                  <a:gd name="GluePoint6Y" fmla="*/ 2147483647 h 86"/>
                  <a:gd name="GluePoint7X" fmla="*/ 2147483647 w 48"/>
                  <a:gd name="GluePoint7Y" fmla="*/ 2147483647 h 86"/>
                  <a:gd name="GluePoint8X" fmla="*/ 2147483647 w 48"/>
                  <a:gd name="GluePoint8Y" fmla="*/ 2147483647 h 86"/>
                  <a:gd name="GluePoint9X" fmla="*/ 1953703376 w 48"/>
                  <a:gd name="GluePoint9Y" fmla="*/ 2147483647 h 86"/>
                  <a:gd name="GluePoint10X" fmla="*/ 536548160 w 48"/>
                  <a:gd name="GluePoint10Y" fmla="*/ 2147483647 h 86"/>
                  <a:gd name="GluePoint11X" fmla="*/ 0 w 48"/>
                  <a:gd name="GluePoint11Y" fmla="*/ 2147483647 h 86"/>
                  <a:gd name="GluePoint12X" fmla="*/ 1240767620 w 48"/>
                  <a:gd name="GluePoint12Y" fmla="*/ 2147483647 h 86"/>
                  <a:gd name="GluePoint13X" fmla="*/ 1240767620 w 48"/>
                  <a:gd name="GluePoint13Y" fmla="*/ 2147483647 h 86"/>
                  <a:gd name="GluePoint14X" fmla="*/ 2147483647 w 48"/>
                  <a:gd name="GluePoint14Y" fmla="*/ 2147483647 h 86"/>
                  <a:gd name="GluePoint15X" fmla="*/ 1412007926 w 48"/>
                  <a:gd name="GluePoint15Y" fmla="*/ 2147483647 h 86"/>
                  <a:gd name="GluePoint16X" fmla="*/ 1645913636 w 48"/>
                  <a:gd name="GluePoint16Y" fmla="*/ 2147483647 h 86"/>
                  <a:gd name="GluePoint17X" fmla="*/ 2147483647 w 48"/>
                  <a:gd name="GluePoint17Y" fmla="*/ 2147483647 h 86"/>
                  <a:gd name="GluePoint18X" fmla="*/ 2147483647 w 48"/>
                  <a:gd name="GluePoint18Y" fmla="*/ 2147483647 h 8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l" t="t" r="r" b="b"/>
                <a:pathLst>
                  <a:path w="48" h="86">
                    <a:moveTo>
                      <a:pt x="44" y="56"/>
                    </a:moveTo>
                    <a:cubicBezTo>
                      <a:pt x="42" y="49"/>
                      <a:pt x="36" y="46"/>
                      <a:pt x="30" y="45"/>
                    </a:cubicBezTo>
                    <a:cubicBezTo>
                      <a:pt x="28" y="44"/>
                      <a:pt x="24" y="43"/>
                      <a:pt x="23" y="40"/>
                    </a:cubicBezTo>
                    <a:cubicBezTo>
                      <a:pt x="22" y="35"/>
                      <a:pt x="19" y="27"/>
                      <a:pt x="17" y="20"/>
                    </a:cubicBezTo>
                    <a:cubicBezTo>
                      <a:pt x="16" y="19"/>
                      <a:pt x="10" y="2"/>
                      <a:pt x="9" y="2"/>
                    </a:cubicBezTo>
                    <a:cubicBezTo>
                      <a:pt x="9" y="2"/>
                      <a:pt x="6" y="0"/>
                      <a:pt x="6" y="4"/>
                    </a:cubicBezTo>
                    <a:cubicBezTo>
                      <a:pt x="7" y="8"/>
                      <a:pt x="11" y="20"/>
                      <a:pt x="10" y="20"/>
                    </a:cubicBezTo>
                    <a:cubicBezTo>
                      <a:pt x="12" y="26"/>
                      <a:pt x="13" y="32"/>
                      <a:pt x="14" y="37"/>
                    </a:cubicBezTo>
                    <a:cubicBezTo>
                      <a:pt x="13" y="33"/>
                      <a:pt x="11" y="27"/>
                      <a:pt x="8" y="21"/>
                    </a:cubicBezTo>
                    <a:cubicBezTo>
                      <a:pt x="8" y="19"/>
                      <a:pt x="3" y="9"/>
                      <a:pt x="2" y="9"/>
                    </a:cubicBezTo>
                    <a:cubicBezTo>
                      <a:pt x="2" y="10"/>
                      <a:pt x="0" y="10"/>
                      <a:pt x="0" y="11"/>
                    </a:cubicBezTo>
                    <a:cubicBezTo>
                      <a:pt x="0" y="15"/>
                      <a:pt x="4" y="22"/>
                      <a:pt x="5" y="24"/>
                    </a:cubicBezTo>
                    <a:cubicBezTo>
                      <a:pt x="5" y="24"/>
                      <a:pt x="5" y="24"/>
                      <a:pt x="5" y="24"/>
                    </a:cubicBezTo>
                    <a:cubicBezTo>
                      <a:pt x="7" y="29"/>
                      <a:pt x="8" y="33"/>
                      <a:pt x="9" y="37"/>
                    </a:cubicBezTo>
                    <a:cubicBezTo>
                      <a:pt x="9" y="41"/>
                      <a:pt x="7" y="50"/>
                      <a:pt x="6" y="53"/>
                    </a:cubicBezTo>
                    <a:cubicBezTo>
                      <a:pt x="3" y="60"/>
                      <a:pt x="1" y="70"/>
                      <a:pt x="7" y="75"/>
                    </a:cubicBezTo>
                    <a:cubicBezTo>
                      <a:pt x="23" y="86"/>
                      <a:pt x="32" y="78"/>
                      <a:pt x="33" y="74"/>
                    </a:cubicBezTo>
                    <a:cubicBezTo>
                      <a:pt x="37" y="74"/>
                      <a:pt x="48" y="66"/>
                      <a:pt x="44" y="56"/>
                    </a:cubicBezTo>
                    <a:close/>
                  </a:path>
                </a:pathLst>
              </a:custGeom>
              <a:solidFill>
                <a:srgbClr val="6da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 name="Freeform 20"/>
              <p:cNvSpPr/>
              <p:nvPr/>
            </p:nvSpPr>
            <p:spPr>
              <a:xfrm flipH="1">
                <a:off x="5178600" y="843120"/>
                <a:ext cx="1708560" cy="779400"/>
              </a:xfrm>
              <a:custGeom>
                <a:avLst/>
                <a:gdLst>
                  <a:gd name="GluePoint1X" fmla="*/ 2147483647 w 526"/>
                  <a:gd name="GluePoint1Y" fmla="*/ 2147483647 h 230"/>
                  <a:gd name="GluePoint2X" fmla="*/ 2147483647 w 526"/>
                  <a:gd name="GluePoint2Y" fmla="*/ 2147483647 h 230"/>
                  <a:gd name="GluePoint3X" fmla="*/ 2147483647 w 526"/>
                  <a:gd name="GluePoint3Y" fmla="*/ 2147483647 h 230"/>
                  <a:gd name="GluePoint4X" fmla="*/ 2147483647 w 526"/>
                  <a:gd name="GluePoint4Y" fmla="*/ 2147483647 h 230"/>
                  <a:gd name="GluePoint5X" fmla="*/ 2147483647 w 526"/>
                  <a:gd name="GluePoint5Y" fmla="*/ 2147483647 h 230"/>
                  <a:gd name="GluePoint6X" fmla="*/ 2147483647 w 526"/>
                  <a:gd name="GluePoint6Y" fmla="*/ 2147483647 h 230"/>
                  <a:gd name="GluePoint7X" fmla="*/ 2147483647 w 526"/>
                  <a:gd name="GluePoint7Y" fmla="*/ 2147483647 h 230"/>
                  <a:gd name="GluePoint8X" fmla="*/ 2147483647 w 526"/>
                  <a:gd name="GluePoint8Y" fmla="*/ 2147483647 h 230"/>
                  <a:gd name="GluePoint9X" fmla="*/ 2147483647 w 526"/>
                  <a:gd name="GluePoint9Y" fmla="*/ 2147483647 h 230"/>
                  <a:gd name="GluePoint10X" fmla="*/ 2147483647 w 526"/>
                  <a:gd name="GluePoint10Y" fmla="*/ 2147483647 h 230"/>
                  <a:gd name="GluePoint11X" fmla="*/ 2147483647 w 526"/>
                  <a:gd name="GluePoint11Y" fmla="*/ 2147483647 h 2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526" h="230">
                    <a:moveTo>
                      <a:pt x="326" y="4"/>
                    </a:moveTo>
                    <a:cubicBezTo>
                      <a:pt x="213" y="8"/>
                      <a:pt x="50" y="51"/>
                      <a:pt x="20" y="142"/>
                    </a:cubicBezTo>
                    <a:cubicBezTo>
                      <a:pt x="15" y="157"/>
                      <a:pt x="0" y="188"/>
                      <a:pt x="32" y="209"/>
                    </a:cubicBezTo>
                    <a:cubicBezTo>
                      <a:pt x="64" y="230"/>
                      <a:pt x="95" y="191"/>
                      <a:pt x="124" y="153"/>
                    </a:cubicBezTo>
                    <a:cubicBezTo>
                      <a:pt x="157" y="110"/>
                      <a:pt x="283" y="39"/>
                      <a:pt x="376" y="64"/>
                    </a:cubicBezTo>
                    <a:cubicBezTo>
                      <a:pt x="470" y="89"/>
                      <a:pt x="470" y="133"/>
                      <a:pt x="438" y="157"/>
                    </a:cubicBezTo>
                    <a:cubicBezTo>
                      <a:pt x="422" y="168"/>
                      <a:pt x="408" y="171"/>
                      <a:pt x="393" y="171"/>
                    </a:cubicBezTo>
                    <a:cubicBezTo>
                      <a:pt x="388" y="171"/>
                      <a:pt x="387" y="182"/>
                      <a:pt x="393" y="184"/>
                    </a:cubicBezTo>
                    <a:cubicBezTo>
                      <a:pt x="407" y="187"/>
                      <a:pt x="422" y="204"/>
                      <a:pt x="454" y="196"/>
                    </a:cubicBezTo>
                    <a:cubicBezTo>
                      <a:pt x="496" y="186"/>
                      <a:pt x="526" y="155"/>
                      <a:pt x="522" y="117"/>
                    </a:cubicBezTo>
                    <a:cubicBezTo>
                      <a:pt x="518" y="76"/>
                      <a:pt x="461" y="0"/>
                      <a:pt x="326" y="4"/>
                    </a:cubicBezTo>
                    <a:close/>
                  </a:path>
                </a:pathLst>
              </a:custGeom>
              <a:solidFill>
                <a:srgbClr val="f3a494"/>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0" name="Freeform 21"/>
              <p:cNvSpPr/>
              <p:nvPr/>
            </p:nvSpPr>
            <p:spPr>
              <a:xfrm flipH="1">
                <a:off x="5361120" y="976320"/>
                <a:ext cx="1123920" cy="508320"/>
              </a:xfrm>
              <a:custGeom>
                <a:avLst/>
                <a:gdLst>
                  <a:gd name="GluePoint1X" fmla="*/ 2147483647 w 346"/>
                  <a:gd name="GluePoint1Y" fmla="*/ 2147483647 h 150"/>
                  <a:gd name="GluePoint2X" fmla="*/ 2147483647 w 346"/>
                  <a:gd name="GluePoint2Y" fmla="*/ 2147483647 h 150"/>
                  <a:gd name="GluePoint3X" fmla="*/ 2147483647 w 346"/>
                  <a:gd name="GluePoint3Y" fmla="*/ 2147483647 h 150"/>
                  <a:gd name="GluePoint4X" fmla="*/ 2147483647 w 346"/>
                  <a:gd name="GluePoint4Y" fmla="*/ 2147483647 h 150"/>
                  <a:gd name="GluePoint5X" fmla="*/ 2147483647 w 346"/>
                  <a:gd name="GluePoint5Y" fmla="*/ 2147483647 h 150"/>
                  <a:gd name="GluePoint6X" fmla="*/ 2147483647 w 346"/>
                  <a:gd name="GluePoint6Y" fmla="*/ 2147483647 h 150"/>
                  <a:gd name="GluePoint7X" fmla="*/ 2147483647 w 346"/>
                  <a:gd name="GluePoint7Y" fmla="*/ 2147483647 h 150"/>
                  <a:gd name="GluePoint8X" fmla="*/ 2147483647 w 346"/>
                  <a:gd name="GluePoint8Y" fmla="*/ 2147483647 h 150"/>
                  <a:gd name="GluePoint9X" fmla="*/ 2147483647 w 346"/>
                  <a:gd name="GluePoint9Y" fmla="*/ 2147483647 h 150"/>
                  <a:gd name="GluePoint10X" fmla="*/ 2147483647 w 346"/>
                  <a:gd name="GluePoint10Y" fmla="*/ 2147483647 h 150"/>
                  <a:gd name="GluePoint11X" fmla="*/ 0 w 346"/>
                  <a:gd name="GluePoint11Y" fmla="*/ 2147483647 h 150"/>
                  <a:gd name="GluePoint12X" fmla="*/ 985282594 w 346"/>
                  <a:gd name="GluePoint12Y" fmla="*/ 2147483647 h 150"/>
                  <a:gd name="GluePoint13X" fmla="*/ 2147483647 w 346"/>
                  <a:gd name="GluePoint13Y" fmla="*/ 2147483647 h 1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346" h="150">
                    <a:moveTo>
                      <a:pt x="251" y="30"/>
                    </a:moveTo>
                    <a:cubicBezTo>
                      <a:pt x="313" y="46"/>
                      <a:pt x="326" y="69"/>
                      <a:pt x="328" y="81"/>
                    </a:cubicBezTo>
                    <a:cubicBezTo>
                      <a:pt x="330" y="92"/>
                      <a:pt x="324" y="104"/>
                      <a:pt x="311" y="114"/>
                    </a:cubicBezTo>
                    <a:cubicBezTo>
                      <a:pt x="297" y="123"/>
                      <a:pt x="284" y="128"/>
                      <a:pt x="269" y="128"/>
                    </a:cubicBezTo>
                    <a:cubicBezTo>
                      <a:pt x="269" y="128"/>
                      <a:pt x="269" y="128"/>
                      <a:pt x="269" y="128"/>
                    </a:cubicBezTo>
                    <a:cubicBezTo>
                      <a:pt x="268" y="128"/>
                      <a:pt x="268" y="128"/>
                      <a:pt x="268" y="128"/>
                    </a:cubicBezTo>
                    <a:cubicBezTo>
                      <a:pt x="254" y="130"/>
                      <a:pt x="247" y="138"/>
                      <a:pt x="239" y="150"/>
                    </a:cubicBezTo>
                    <a:cubicBezTo>
                      <a:pt x="246" y="140"/>
                      <a:pt x="255" y="134"/>
                      <a:pt x="269" y="132"/>
                    </a:cubicBezTo>
                    <a:cubicBezTo>
                      <a:pt x="284" y="132"/>
                      <a:pt x="298" y="129"/>
                      <a:pt x="314" y="118"/>
                    </a:cubicBezTo>
                    <a:cubicBezTo>
                      <a:pt x="346" y="94"/>
                      <a:pt x="346" y="50"/>
                      <a:pt x="252" y="25"/>
                    </a:cubicBezTo>
                    <a:cubicBezTo>
                      <a:pt x="159" y="0"/>
                      <a:pt x="33" y="71"/>
                      <a:pt x="0" y="114"/>
                    </a:cubicBezTo>
                    <a:cubicBezTo>
                      <a:pt x="4" y="117"/>
                      <a:pt x="4" y="117"/>
                      <a:pt x="4" y="117"/>
                    </a:cubicBezTo>
                    <a:cubicBezTo>
                      <a:pt x="38" y="72"/>
                      <a:pt x="163" y="7"/>
                      <a:pt x="251" y="30"/>
                    </a:cubicBezTo>
                    <a:close/>
                  </a:path>
                </a:pathLst>
              </a:custGeom>
              <a:solidFill>
                <a:srgbClr val="f6af6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1" name="Freeform 22"/>
              <p:cNvSpPr/>
              <p:nvPr/>
            </p:nvSpPr>
            <p:spPr>
              <a:xfrm flipH="1">
                <a:off x="5361120" y="1029600"/>
                <a:ext cx="672480" cy="454680"/>
              </a:xfrm>
              <a:custGeom>
                <a:avLst/>
                <a:gdLst>
                  <a:gd name="GluePoint1X" fmla="*/ 2147483647 w 207"/>
                  <a:gd name="GluePoint1Y" fmla="*/ 2147483647 h 134"/>
                  <a:gd name="GluePoint2X" fmla="*/ 2147483647 w 207"/>
                  <a:gd name="GluePoint2Y" fmla="*/ 2147483647 h 134"/>
                  <a:gd name="GluePoint3X" fmla="*/ 747005656 w 207"/>
                  <a:gd name="GluePoint3Y" fmla="*/ 2147483647 h 134"/>
                  <a:gd name="GluePoint4X" fmla="*/ 0 w 207"/>
                  <a:gd name="GluePoint4Y" fmla="*/ 2147483647 h 134"/>
                  <a:gd name="GluePoint5X" fmla="*/ 1315668608 w 207"/>
                  <a:gd name="GluePoint5Y" fmla="*/ 2147483647 h 134"/>
                  <a:gd name="GluePoint6X" fmla="*/ 2147483647 w 207"/>
                  <a:gd name="GluePoint6Y" fmla="*/ 2147483647 h 134"/>
                  <a:gd name="GluePoint7X" fmla="*/ 2147483647 w 207"/>
                  <a:gd name="GluePoint7Y" fmla="*/ 2147483647 h 134"/>
                  <a:gd name="GluePoint8X" fmla="*/ 2147483647 w 207"/>
                  <a:gd name="GluePoint8Y" fmla="*/ 2147483647 h 134"/>
                  <a:gd name="GluePoint9X" fmla="*/ 2147483647 w 207"/>
                  <a:gd name="GluePoint9Y" fmla="*/ 2147483647 h 134"/>
                  <a:gd name="GluePoint10X" fmla="*/ 2147483647 w 207"/>
                  <a:gd name="GluePoint10Y" fmla="*/ 2147483647 h 134"/>
                  <a:gd name="GluePoint11X" fmla="*/ 2147483647 w 207"/>
                  <a:gd name="GluePoint11Y" fmla="*/ 2147483647 h 134"/>
                  <a:gd name="GluePoint12X" fmla="*/ 2147483647 w 207"/>
                  <a:gd name="GluePoint12Y" fmla="*/ 2147483647 h 134"/>
                  <a:gd name="GluePoint13X" fmla="*/ 2147483647 w 207"/>
                  <a:gd name="GluePoint13Y" fmla="*/ 2147483647 h 134"/>
                  <a:gd name="GluePoint14X" fmla="*/ 2147483647 w 207"/>
                  <a:gd name="GluePoint14Y" fmla="*/ 2147483647 h 1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l" t="t" r="r" b="b"/>
                <a:pathLst>
                  <a:path w="207" h="134">
                    <a:moveTo>
                      <a:pt x="175" y="102"/>
                    </a:moveTo>
                    <a:cubicBezTo>
                      <a:pt x="207" y="78"/>
                      <a:pt x="207" y="34"/>
                      <a:pt x="113" y="9"/>
                    </a:cubicBezTo>
                    <a:cubicBezTo>
                      <a:pt x="79" y="0"/>
                      <a:pt x="40" y="4"/>
                      <a:pt x="3" y="14"/>
                    </a:cubicBezTo>
                    <a:cubicBezTo>
                      <a:pt x="2" y="16"/>
                      <a:pt x="0" y="17"/>
                      <a:pt x="0" y="17"/>
                    </a:cubicBezTo>
                    <a:cubicBezTo>
                      <a:pt x="0" y="17"/>
                      <a:pt x="2" y="18"/>
                      <a:pt x="5" y="19"/>
                    </a:cubicBezTo>
                    <a:cubicBezTo>
                      <a:pt x="41" y="9"/>
                      <a:pt x="79" y="5"/>
                      <a:pt x="112" y="14"/>
                    </a:cubicBezTo>
                    <a:cubicBezTo>
                      <a:pt x="174" y="30"/>
                      <a:pt x="187" y="53"/>
                      <a:pt x="189" y="65"/>
                    </a:cubicBezTo>
                    <a:cubicBezTo>
                      <a:pt x="191" y="76"/>
                      <a:pt x="185" y="88"/>
                      <a:pt x="172" y="98"/>
                    </a:cubicBezTo>
                    <a:cubicBezTo>
                      <a:pt x="158" y="107"/>
                      <a:pt x="145" y="112"/>
                      <a:pt x="130" y="112"/>
                    </a:cubicBezTo>
                    <a:cubicBezTo>
                      <a:pt x="130" y="112"/>
                      <a:pt x="130" y="112"/>
                      <a:pt x="130" y="112"/>
                    </a:cubicBezTo>
                    <a:cubicBezTo>
                      <a:pt x="129" y="112"/>
                      <a:pt x="129" y="112"/>
                      <a:pt x="129" y="112"/>
                    </a:cubicBezTo>
                    <a:cubicBezTo>
                      <a:pt x="115" y="114"/>
                      <a:pt x="108" y="122"/>
                      <a:pt x="100" y="134"/>
                    </a:cubicBezTo>
                    <a:cubicBezTo>
                      <a:pt x="107" y="124"/>
                      <a:pt x="116" y="118"/>
                      <a:pt x="130" y="116"/>
                    </a:cubicBezTo>
                    <a:cubicBezTo>
                      <a:pt x="145" y="116"/>
                      <a:pt x="159" y="113"/>
                      <a:pt x="175" y="102"/>
                    </a:cubicBezTo>
                    <a:close/>
                  </a:path>
                </a:pathLst>
              </a:custGeom>
              <a:solidFill>
                <a:srgbClr val="f5ab7b"/>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2" name="Oval 23"/>
              <p:cNvSpPr/>
              <p:nvPr/>
            </p:nvSpPr>
            <p:spPr>
              <a:xfrm flipH="1">
                <a:off x="5942160" y="1433520"/>
                <a:ext cx="109080" cy="76680"/>
              </a:xfrm>
              <a:prstGeom prst="ellipse">
                <a:avLst/>
              </a:prstGeom>
              <a:solidFill>
                <a:srgbClr val="ecafad"/>
              </a:solidFill>
              <a:ln w="0">
                <a:noFill/>
              </a:ln>
            </p:spPr>
            <p:style>
              <a:lnRef idx="0"/>
              <a:fillRef idx="0"/>
              <a:effectRef idx="0"/>
              <a:fontRef idx="minor"/>
            </p:style>
            <p:txBody>
              <a:bodyPr lIns="90000" rIns="90000" tIns="7560" bIns="7560" anchor="t">
                <a:noAutofit/>
              </a:bodyPr>
              <a:p>
                <a:endParaRPr b="0" lang="en-US" sz="2400" strike="noStrike" u="none">
                  <a:solidFill>
                    <a:srgbClr val="ffff00"/>
                  </a:solidFill>
                  <a:effectLst/>
                  <a:uFillTx/>
                  <a:latin typeface="Times New Roman"/>
                </a:endParaRPr>
              </a:p>
            </p:txBody>
          </p:sp>
          <p:sp>
            <p:nvSpPr>
              <p:cNvPr id="243" name="Freeform 24"/>
              <p:cNvSpPr/>
              <p:nvPr/>
            </p:nvSpPr>
            <p:spPr>
              <a:xfrm flipH="1">
                <a:off x="5942160" y="1433520"/>
                <a:ext cx="96840" cy="71280"/>
              </a:xfrm>
              <a:custGeom>
                <a:avLst/>
                <a:gdLst>
                  <a:gd name="GluePoint1X" fmla="*/ 2147483647 w 30"/>
                  <a:gd name="GluePoint1Y" fmla="*/ 2147483647 h 21"/>
                  <a:gd name="GluePoint2X" fmla="*/ 1888821702 w 30"/>
                  <a:gd name="GluePoint2Y" fmla="*/ 2147483647 h 21"/>
                  <a:gd name="GluePoint3X" fmla="*/ 0 w 30"/>
                  <a:gd name="GluePoint3Y" fmla="*/ 2147483647 h 21"/>
                  <a:gd name="GluePoint4X" fmla="*/ 2147483647 w 30"/>
                  <a:gd name="GluePoint4Y" fmla="*/ 0 h 21"/>
                  <a:gd name="GluePoint5X" fmla="*/ 2147483647 w 30"/>
                  <a:gd name="GluePoint5Y" fmla="*/ 2147483647 h 21"/>
                  <a:gd name="GluePoint6X" fmla="*/ 2147483647 w 30"/>
                  <a:gd name="GluePoint6Y" fmla="*/ 2147483647 h 21"/>
                  <a:gd name="GluePoint7X" fmla="*/ 2147483647 w 30"/>
                  <a:gd name="GluePoint7Y" fmla="*/ 2147483647 h 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0" h="21">
                    <a:moveTo>
                      <a:pt x="26" y="13"/>
                    </a:moveTo>
                    <a:cubicBezTo>
                      <a:pt x="26" y="7"/>
                      <a:pt x="19" y="2"/>
                      <a:pt x="9" y="2"/>
                    </a:cubicBezTo>
                    <a:cubicBezTo>
                      <a:pt x="6" y="2"/>
                      <a:pt x="3" y="3"/>
                      <a:pt x="0" y="4"/>
                    </a:cubicBezTo>
                    <a:cubicBezTo>
                      <a:pt x="4" y="1"/>
                      <a:pt x="8" y="0"/>
                      <a:pt x="13" y="0"/>
                    </a:cubicBezTo>
                    <a:cubicBezTo>
                      <a:pt x="23" y="0"/>
                      <a:pt x="30" y="5"/>
                      <a:pt x="30" y="11"/>
                    </a:cubicBezTo>
                    <a:cubicBezTo>
                      <a:pt x="30" y="15"/>
                      <a:pt x="27" y="19"/>
                      <a:pt x="22" y="21"/>
                    </a:cubicBezTo>
                    <a:cubicBezTo>
                      <a:pt x="24" y="19"/>
                      <a:pt x="26" y="16"/>
                      <a:pt x="26" y="13"/>
                    </a:cubicBezTo>
                    <a:close/>
                  </a:path>
                </a:pathLst>
              </a:custGeom>
              <a:solidFill>
                <a:srgbClr val="f8dfdc"/>
              </a:solidFill>
              <a:ln w="0">
                <a:noFill/>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244" name="Freeform 25"/>
              <p:cNvSpPr/>
              <p:nvPr/>
            </p:nvSpPr>
            <p:spPr>
              <a:xfrm flipH="1">
                <a:off x="5723280" y="1070640"/>
                <a:ext cx="438840" cy="349200"/>
              </a:xfrm>
              <a:custGeom>
                <a:avLst/>
                <a:gdLst>
                  <a:gd name="GluePoint1X" fmla="*/ 2147483647 w 135"/>
                  <a:gd name="GluePoint1Y" fmla="*/ 0 h 103"/>
                  <a:gd name="GluePoint2X" fmla="*/ 2147483647 w 135"/>
                  <a:gd name="GluePoint2Y" fmla="*/ 2147483647 h 103"/>
                  <a:gd name="GluePoint3X" fmla="*/ 2147483647 w 135"/>
                  <a:gd name="GluePoint3Y" fmla="*/ 2147483647 h 103"/>
                  <a:gd name="GluePoint4X" fmla="*/ 0 w 135"/>
                  <a:gd name="GluePoint4Y" fmla="*/ 2147483647 h 103"/>
                </a:gdLst>
                <a:ahLst/>
                <a:cxnLst>
                  <a:cxn ang="0">
                    <a:pos x="GluePoint1X" y="GluePoint1Y"/>
                  </a:cxn>
                  <a:cxn ang="0">
                    <a:pos x="GluePoint2X" y="GluePoint2Y"/>
                  </a:cxn>
                  <a:cxn ang="0">
                    <a:pos x="GluePoint3X" y="GluePoint3Y"/>
                  </a:cxn>
                  <a:cxn ang="0">
                    <a:pos x="GluePoint4X" y="GluePoint4Y"/>
                  </a:cxn>
                </a:cxnLst>
                <a:rect l="l" t="t" r="r" b="b"/>
                <a:pathLst>
                  <a:path w="135" h="103">
                    <a:moveTo>
                      <a:pt x="51" y="0"/>
                    </a:moveTo>
                    <a:cubicBezTo>
                      <a:pt x="76" y="3"/>
                      <a:pt x="133" y="35"/>
                      <a:pt x="135" y="87"/>
                    </a:cubicBezTo>
                    <a:cubicBezTo>
                      <a:pt x="135" y="102"/>
                      <a:pt x="125" y="103"/>
                      <a:pt x="118" y="88"/>
                    </a:cubicBezTo>
                    <a:cubicBezTo>
                      <a:pt x="103" y="50"/>
                      <a:pt x="63" y="4"/>
                      <a:pt x="0" y="18"/>
                    </a:cubicBezTo>
                  </a:path>
                </a:pathLst>
              </a:custGeom>
              <a:solidFill>
                <a:srgbClr val="e6cf57"/>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5" name="Freeform 26"/>
              <p:cNvSpPr/>
              <p:nvPr/>
            </p:nvSpPr>
            <p:spPr>
              <a:xfrm flipH="1">
                <a:off x="6420240" y="1555560"/>
                <a:ext cx="148680" cy="616320"/>
              </a:xfrm>
              <a:custGeom>
                <a:avLst/>
                <a:gdLst>
                  <a:gd name="GluePoint1X" fmla="*/ 1980961275 w 46"/>
                  <a:gd name="GluePoint1Y" fmla="*/ 2147483647 h 182"/>
                  <a:gd name="GluePoint2X" fmla="*/ 2147483647 w 46"/>
                  <a:gd name="GluePoint2Y" fmla="*/ 2147483647 h 182"/>
                  <a:gd name="GluePoint3X" fmla="*/ 1980961275 w 46"/>
                  <a:gd name="GluePoint3Y" fmla="*/ 2147483647 h 182"/>
                  <a:gd name="GluePoint4X" fmla="*/ 1517672794 w 46"/>
                  <a:gd name="GluePoint4Y" fmla="*/ 2147483647 h 182"/>
                  <a:gd name="GluePoint5X" fmla="*/ 1161088442 w 46"/>
                  <a:gd name="GluePoint5Y" fmla="*/ 2147483647 h 182"/>
                  <a:gd name="GluePoint6X" fmla="*/ 1161088442 w 46"/>
                  <a:gd name="GluePoint6Y" fmla="*/ 2147483647 h 182"/>
                  <a:gd name="GluePoint7X" fmla="*/ 1517672794 w 46"/>
                  <a:gd name="GluePoint7Y" fmla="*/ 2147483647 h 182"/>
                  <a:gd name="GluePoint8X" fmla="*/ 1980961275 w 46"/>
                  <a:gd name="GluePoint8Y" fmla="*/ 2147483647 h 182"/>
                  <a:gd name="GluePoint9X" fmla="*/ 1678158700 w 46"/>
                  <a:gd name="GluePoint9Y" fmla="*/ 2147483647 h 182"/>
                  <a:gd name="GluePoint10X" fmla="*/ 658612722 w 46"/>
                  <a:gd name="GluePoint10Y" fmla="*/ 2147483647 h 182"/>
                  <a:gd name="GluePoint11X" fmla="*/ 1517672794 w 46"/>
                  <a:gd name="GluePoint11Y" fmla="*/ 2147483647 h 182"/>
                  <a:gd name="GluePoint12X" fmla="*/ 2147483647 w 46"/>
                  <a:gd name="GluePoint12Y" fmla="*/ 2147483647 h 182"/>
                  <a:gd name="GluePoint13X" fmla="*/ 2147483647 w 46"/>
                  <a:gd name="GluePoint13Y" fmla="*/ 2147483647 h 182"/>
                  <a:gd name="GluePoint14X" fmla="*/ 1980961275 w 46"/>
                  <a:gd name="GluePoint14Y" fmla="*/ 2147483647 h 182"/>
                  <a:gd name="GluePoint15X" fmla="*/ 2147483647 w 46"/>
                  <a:gd name="GluePoint15Y" fmla="*/ 2147483647 h 182"/>
                  <a:gd name="GluePoint16X" fmla="*/ 2147483647 w 46"/>
                  <a:gd name="GluePoint16Y" fmla="*/ 2147483647 h 182"/>
                  <a:gd name="GluePoint17X" fmla="*/ 2147483647 w 46"/>
                  <a:gd name="GluePoint17Y" fmla="*/ 2147483647 h 182"/>
                  <a:gd name="GluePoint18X" fmla="*/ 2147483647 w 46"/>
                  <a:gd name="GluePoint18Y" fmla="*/ 2147483647 h 182"/>
                  <a:gd name="GluePoint19X" fmla="*/ 2147483647 w 46"/>
                  <a:gd name="GluePoint19Y" fmla="*/ 2147483647 h 182"/>
                  <a:gd name="GluePoint20X" fmla="*/ 2147483647 w 46"/>
                  <a:gd name="GluePoint20Y" fmla="*/ 2147483647 h 182"/>
                  <a:gd name="GluePoint21X" fmla="*/ 2147483647 w 46"/>
                  <a:gd name="GluePoint21Y" fmla="*/ 2147483647 h 182"/>
                  <a:gd name="GluePoint22X" fmla="*/ 2147483647 w 46"/>
                  <a:gd name="GluePoint22Y" fmla="*/ 2147483647 h 182"/>
                  <a:gd name="GluePoint23X" fmla="*/ 2147483647 w 46"/>
                  <a:gd name="GluePoint23Y" fmla="*/ 2147483647 h 182"/>
                  <a:gd name="GluePoint24X" fmla="*/ 2147483647 w 46"/>
                  <a:gd name="GluePoint24Y" fmla="*/ 2147483647 h 182"/>
                  <a:gd name="GluePoint25X" fmla="*/ 2147483647 w 46"/>
                  <a:gd name="GluePoint25Y" fmla="*/ 2147483647 h 182"/>
                  <a:gd name="GluePoint26X" fmla="*/ 2147483647 w 46"/>
                  <a:gd name="GluePoint26Y" fmla="*/ 2147483647 h 182"/>
                  <a:gd name="GluePoint27X" fmla="*/ 2147483647 w 46"/>
                  <a:gd name="GluePoint27Y" fmla="*/ 2147483647 h 182"/>
                  <a:gd name="GluePoint28X" fmla="*/ 2147483647 w 46"/>
                  <a:gd name="GluePoint28Y" fmla="*/ 2147483647 h 182"/>
                  <a:gd name="GluePoint29X" fmla="*/ 2147483647 w 46"/>
                  <a:gd name="GluePoint29Y" fmla="*/ 2147483647 h 182"/>
                  <a:gd name="GluePoint30X" fmla="*/ 1161088442 w 46"/>
                  <a:gd name="GluePoint30Y" fmla="*/ 2147483647 h 182"/>
                  <a:gd name="GluePoint31X" fmla="*/ 218659945 w 46"/>
                  <a:gd name="GluePoint31Y" fmla="*/ 2147483647 h 182"/>
                  <a:gd name="GluePoint32X" fmla="*/ 2147483647 w 46"/>
                  <a:gd name="GluePoint32Y" fmla="*/ 2147483647 h 182"/>
                  <a:gd name="GluePoint33X" fmla="*/ 1980961275 w 46"/>
                  <a:gd name="GluePoint33Y" fmla="*/ 2147483647 h 1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Lst>
                <a:rect l="l" t="t" r="r" b="b"/>
                <a:pathLst>
                  <a:path w="46" h="182">
                    <a:moveTo>
                      <a:pt x="9" y="146"/>
                    </a:moveTo>
                    <a:cubicBezTo>
                      <a:pt x="11" y="143"/>
                      <a:pt x="14" y="142"/>
                      <a:pt x="14" y="137"/>
                    </a:cubicBezTo>
                    <a:cubicBezTo>
                      <a:pt x="13" y="134"/>
                      <a:pt x="11" y="133"/>
                      <a:pt x="9" y="131"/>
                    </a:cubicBezTo>
                    <a:cubicBezTo>
                      <a:pt x="8" y="129"/>
                      <a:pt x="8" y="129"/>
                      <a:pt x="7" y="127"/>
                    </a:cubicBezTo>
                    <a:cubicBezTo>
                      <a:pt x="6" y="125"/>
                      <a:pt x="6" y="123"/>
                      <a:pt x="5" y="121"/>
                    </a:cubicBezTo>
                    <a:cubicBezTo>
                      <a:pt x="5" y="121"/>
                      <a:pt x="5" y="120"/>
                      <a:pt x="5" y="120"/>
                    </a:cubicBezTo>
                    <a:cubicBezTo>
                      <a:pt x="7" y="118"/>
                      <a:pt x="7" y="118"/>
                      <a:pt x="7" y="118"/>
                    </a:cubicBezTo>
                    <a:cubicBezTo>
                      <a:pt x="8" y="117"/>
                      <a:pt x="8" y="116"/>
                      <a:pt x="9" y="116"/>
                    </a:cubicBezTo>
                    <a:cubicBezTo>
                      <a:pt x="8" y="110"/>
                      <a:pt x="8" y="110"/>
                      <a:pt x="8" y="110"/>
                    </a:cubicBezTo>
                    <a:cubicBezTo>
                      <a:pt x="4" y="99"/>
                      <a:pt x="0" y="86"/>
                      <a:pt x="3" y="78"/>
                    </a:cubicBezTo>
                    <a:cubicBezTo>
                      <a:pt x="6" y="69"/>
                      <a:pt x="5" y="68"/>
                      <a:pt x="7" y="56"/>
                    </a:cubicBezTo>
                    <a:cubicBezTo>
                      <a:pt x="10" y="44"/>
                      <a:pt x="20" y="41"/>
                      <a:pt x="26" y="35"/>
                    </a:cubicBezTo>
                    <a:cubicBezTo>
                      <a:pt x="22" y="32"/>
                      <a:pt x="20" y="28"/>
                      <a:pt x="20" y="22"/>
                    </a:cubicBezTo>
                    <a:cubicBezTo>
                      <a:pt x="17" y="24"/>
                      <a:pt x="13" y="25"/>
                      <a:pt x="9" y="24"/>
                    </a:cubicBezTo>
                    <a:cubicBezTo>
                      <a:pt x="10" y="23"/>
                      <a:pt x="12" y="21"/>
                      <a:pt x="14" y="20"/>
                    </a:cubicBezTo>
                    <a:cubicBezTo>
                      <a:pt x="17" y="19"/>
                      <a:pt x="20" y="17"/>
                      <a:pt x="23" y="14"/>
                    </a:cubicBezTo>
                    <a:cubicBezTo>
                      <a:pt x="29" y="5"/>
                      <a:pt x="40" y="0"/>
                      <a:pt x="46" y="5"/>
                    </a:cubicBezTo>
                    <a:cubicBezTo>
                      <a:pt x="39" y="8"/>
                      <a:pt x="40" y="22"/>
                      <a:pt x="46" y="28"/>
                    </a:cubicBezTo>
                    <a:cubicBezTo>
                      <a:pt x="41" y="34"/>
                      <a:pt x="30" y="37"/>
                      <a:pt x="28" y="49"/>
                    </a:cubicBezTo>
                    <a:cubicBezTo>
                      <a:pt x="26" y="60"/>
                      <a:pt x="26" y="62"/>
                      <a:pt x="23" y="71"/>
                    </a:cubicBezTo>
                    <a:cubicBezTo>
                      <a:pt x="20" y="79"/>
                      <a:pt x="25" y="92"/>
                      <a:pt x="29" y="103"/>
                    </a:cubicBezTo>
                    <a:cubicBezTo>
                      <a:pt x="29" y="108"/>
                      <a:pt x="29" y="108"/>
                      <a:pt x="29" y="108"/>
                    </a:cubicBezTo>
                    <a:cubicBezTo>
                      <a:pt x="27" y="111"/>
                      <a:pt x="23" y="115"/>
                      <a:pt x="23" y="118"/>
                    </a:cubicBezTo>
                    <a:cubicBezTo>
                      <a:pt x="24" y="122"/>
                      <a:pt x="26" y="122"/>
                      <a:pt x="26" y="126"/>
                    </a:cubicBezTo>
                    <a:cubicBezTo>
                      <a:pt x="25" y="129"/>
                      <a:pt x="21" y="132"/>
                      <a:pt x="21" y="136"/>
                    </a:cubicBezTo>
                    <a:cubicBezTo>
                      <a:pt x="21" y="138"/>
                      <a:pt x="23" y="142"/>
                      <a:pt x="22" y="144"/>
                    </a:cubicBezTo>
                    <a:cubicBezTo>
                      <a:pt x="22" y="147"/>
                      <a:pt x="21" y="147"/>
                      <a:pt x="19" y="149"/>
                    </a:cubicBezTo>
                    <a:cubicBezTo>
                      <a:pt x="16" y="153"/>
                      <a:pt x="18" y="155"/>
                      <a:pt x="16" y="159"/>
                    </a:cubicBezTo>
                    <a:cubicBezTo>
                      <a:pt x="15" y="162"/>
                      <a:pt x="13" y="161"/>
                      <a:pt x="11" y="164"/>
                    </a:cubicBezTo>
                    <a:cubicBezTo>
                      <a:pt x="7" y="167"/>
                      <a:pt x="5" y="170"/>
                      <a:pt x="5" y="175"/>
                    </a:cubicBezTo>
                    <a:cubicBezTo>
                      <a:pt x="4" y="178"/>
                      <a:pt x="3" y="180"/>
                      <a:pt x="1" y="182"/>
                    </a:cubicBezTo>
                    <a:cubicBezTo>
                      <a:pt x="6" y="173"/>
                      <a:pt x="9" y="157"/>
                      <a:pt x="10" y="151"/>
                    </a:cubicBezTo>
                    <a:cubicBezTo>
                      <a:pt x="10" y="150"/>
                      <a:pt x="9" y="147"/>
                      <a:pt x="9" y="146"/>
                    </a:cubicBezTo>
                    <a:close/>
                  </a:path>
                </a:pathLst>
              </a:custGeom>
              <a:solidFill>
                <a:srgbClr val="fff4e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6" name="Freeform 27"/>
              <p:cNvSpPr/>
              <p:nvPr/>
            </p:nvSpPr>
            <p:spPr>
              <a:xfrm flipH="1">
                <a:off x="6329160" y="1422720"/>
                <a:ext cx="295560" cy="1283760"/>
              </a:xfrm>
              <a:custGeom>
                <a:avLst/>
                <a:gdLst>
                  <a:gd name="GluePoint1X" fmla="*/ 746265405 w 91"/>
                  <a:gd name="GluePoint1Y" fmla="*/ 2147483647 h 379"/>
                  <a:gd name="GluePoint2X" fmla="*/ 2147483647 w 91"/>
                  <a:gd name="GluePoint2Y" fmla="*/ 2147483647 h 379"/>
                  <a:gd name="GluePoint3X" fmla="*/ 2147483647 w 91"/>
                  <a:gd name="GluePoint3Y" fmla="*/ 2147483647 h 379"/>
                  <a:gd name="GluePoint4X" fmla="*/ 2147483647 w 91"/>
                  <a:gd name="GluePoint4Y" fmla="*/ 2147483647 h 379"/>
                  <a:gd name="GluePoint5X" fmla="*/ 2147483647 w 91"/>
                  <a:gd name="GluePoint5Y" fmla="*/ 2147483647 h 379"/>
                  <a:gd name="GluePoint6X" fmla="*/ 2147483647 w 91"/>
                  <a:gd name="GluePoint6Y" fmla="*/ 2147483647 h 379"/>
                  <a:gd name="GluePoint7X" fmla="*/ 2147483647 w 91"/>
                  <a:gd name="GluePoint7Y" fmla="*/ 2147483647 h 379"/>
                  <a:gd name="GluePoint8X" fmla="*/ 2147483647 w 91"/>
                  <a:gd name="GluePoint8Y" fmla="*/ 2147483647 h 379"/>
                  <a:gd name="GluePoint9X" fmla="*/ 2147483647 w 91"/>
                  <a:gd name="GluePoint9Y" fmla="*/ 2147483647 h 379"/>
                  <a:gd name="GluePoint10X" fmla="*/ 2147483647 w 91"/>
                  <a:gd name="GluePoint10Y" fmla="*/ 2147483647 h 379"/>
                  <a:gd name="GluePoint11X" fmla="*/ 2147483647 w 91"/>
                  <a:gd name="GluePoint11Y" fmla="*/ 2147483647 h 379"/>
                  <a:gd name="GluePoint12X" fmla="*/ 2147483647 w 91"/>
                  <a:gd name="GluePoint12Y" fmla="*/ 2147483647 h 379"/>
                  <a:gd name="GluePoint13X" fmla="*/ 2147483647 w 91"/>
                  <a:gd name="GluePoint13Y" fmla="*/ 2147483647 h 379"/>
                  <a:gd name="GluePoint14X" fmla="*/ 2147483647 w 91"/>
                  <a:gd name="GluePoint14Y" fmla="*/ 2147483647 h 379"/>
                  <a:gd name="GluePoint15X" fmla="*/ 2147483647 w 91"/>
                  <a:gd name="GluePoint15Y" fmla="*/ 2147483647 h 379"/>
                  <a:gd name="GluePoint16X" fmla="*/ 2147483647 w 91"/>
                  <a:gd name="GluePoint16Y" fmla="*/ 2147483647 h 379"/>
                  <a:gd name="GluePoint17X" fmla="*/ 2147483647 w 91"/>
                  <a:gd name="GluePoint17Y" fmla="*/ 2147483647 h 379"/>
                  <a:gd name="GluePoint18X" fmla="*/ 2147483647 w 91"/>
                  <a:gd name="GluePoint18Y" fmla="*/ 2147483647 h 379"/>
                  <a:gd name="GluePoint19X" fmla="*/ 2147483647 w 91"/>
                  <a:gd name="GluePoint19Y" fmla="*/ 2147483647 h 379"/>
                  <a:gd name="GluePoint20X" fmla="*/ 2147483647 w 91"/>
                  <a:gd name="GluePoint20Y" fmla="*/ 2147483647 h 379"/>
                  <a:gd name="GluePoint21X" fmla="*/ 2147483647 w 91"/>
                  <a:gd name="GluePoint21Y" fmla="*/ 2147483647 h 379"/>
                  <a:gd name="GluePoint22X" fmla="*/ 2147483647 w 91"/>
                  <a:gd name="GluePoint22Y" fmla="*/ 2147483647 h 379"/>
                  <a:gd name="GluePoint23X" fmla="*/ 2147483647 w 91"/>
                  <a:gd name="GluePoint23Y" fmla="*/ 2147483647 h 379"/>
                  <a:gd name="GluePoint24X" fmla="*/ 2147483647 w 91"/>
                  <a:gd name="GluePoint24Y" fmla="*/ 2147483647 h 379"/>
                  <a:gd name="GluePoint25X" fmla="*/ 2147483647 w 91"/>
                  <a:gd name="GluePoint25Y" fmla="*/ 2147483647 h 379"/>
                  <a:gd name="GluePoint26X" fmla="*/ 2147483647 w 91"/>
                  <a:gd name="GluePoint26Y" fmla="*/ 2147483647 h 379"/>
                  <a:gd name="GluePoint27X" fmla="*/ 2147483647 w 91"/>
                  <a:gd name="GluePoint27Y" fmla="*/ 2147483647 h 379"/>
                  <a:gd name="GluePoint28X" fmla="*/ 2147483647 w 91"/>
                  <a:gd name="GluePoint28Y" fmla="*/ 2147483647 h 379"/>
                  <a:gd name="GluePoint29X" fmla="*/ 2147483647 w 91"/>
                  <a:gd name="GluePoint29Y" fmla="*/ 2147483647 h 379"/>
                  <a:gd name="GluePoint30X" fmla="*/ 2147483647 w 91"/>
                  <a:gd name="GluePoint30Y" fmla="*/ 2147483647 h 379"/>
                  <a:gd name="GluePoint31X" fmla="*/ 2147483647 w 91"/>
                  <a:gd name="GluePoint31Y" fmla="*/ 2147483647 h 379"/>
                  <a:gd name="GluePoint32X" fmla="*/ 2147483647 w 91"/>
                  <a:gd name="GluePoint32Y" fmla="*/ 2147483647 h 379"/>
                  <a:gd name="GluePoint33X" fmla="*/ 2147483647 w 91"/>
                  <a:gd name="GluePoint33Y" fmla="*/ 2147483647 h 379"/>
                  <a:gd name="GluePoint34X" fmla="*/ 2147483647 w 91"/>
                  <a:gd name="GluePoint34Y" fmla="*/ 2147483647 h 379"/>
                  <a:gd name="GluePoint35X" fmla="*/ 2147483647 w 91"/>
                  <a:gd name="GluePoint35Y" fmla="*/ 2147483647 h 379"/>
                  <a:gd name="GluePoint36X" fmla="*/ 746265405 w 91"/>
                  <a:gd name="GluePoint36Y" fmla="*/ 2147483647 h 3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Lst>
                <a:rect l="l" t="t" r="r" b="b"/>
                <a:pathLst>
                  <a:path w="91" h="379">
                    <a:moveTo>
                      <a:pt x="3" y="242"/>
                    </a:moveTo>
                    <a:cubicBezTo>
                      <a:pt x="6" y="250"/>
                      <a:pt x="12" y="257"/>
                      <a:pt x="14" y="260"/>
                    </a:cubicBezTo>
                    <a:cubicBezTo>
                      <a:pt x="21" y="273"/>
                      <a:pt x="29" y="291"/>
                      <a:pt x="34" y="309"/>
                    </a:cubicBezTo>
                    <a:cubicBezTo>
                      <a:pt x="38" y="325"/>
                      <a:pt x="44" y="357"/>
                      <a:pt x="47" y="379"/>
                    </a:cubicBezTo>
                    <a:cubicBezTo>
                      <a:pt x="47" y="370"/>
                      <a:pt x="48" y="364"/>
                      <a:pt x="48" y="361"/>
                    </a:cubicBezTo>
                    <a:cubicBezTo>
                      <a:pt x="49" y="357"/>
                      <a:pt x="49" y="355"/>
                      <a:pt x="50" y="353"/>
                    </a:cubicBezTo>
                    <a:cubicBezTo>
                      <a:pt x="45" y="323"/>
                      <a:pt x="39" y="290"/>
                      <a:pt x="31" y="272"/>
                    </a:cubicBezTo>
                    <a:cubicBezTo>
                      <a:pt x="21" y="250"/>
                      <a:pt x="9" y="241"/>
                      <a:pt x="17" y="237"/>
                    </a:cubicBezTo>
                    <a:cubicBezTo>
                      <a:pt x="25" y="234"/>
                      <a:pt x="41" y="223"/>
                      <a:pt x="50" y="192"/>
                    </a:cubicBezTo>
                    <a:cubicBezTo>
                      <a:pt x="56" y="170"/>
                      <a:pt x="63" y="137"/>
                      <a:pt x="66" y="116"/>
                    </a:cubicBezTo>
                    <a:cubicBezTo>
                      <a:pt x="69" y="95"/>
                      <a:pt x="76" y="85"/>
                      <a:pt x="81" y="69"/>
                    </a:cubicBezTo>
                    <a:cubicBezTo>
                      <a:pt x="87" y="52"/>
                      <a:pt x="91" y="47"/>
                      <a:pt x="84" y="34"/>
                    </a:cubicBezTo>
                    <a:cubicBezTo>
                      <a:pt x="77" y="22"/>
                      <a:pt x="59" y="32"/>
                      <a:pt x="50" y="34"/>
                    </a:cubicBezTo>
                    <a:cubicBezTo>
                      <a:pt x="40" y="36"/>
                      <a:pt x="35" y="28"/>
                      <a:pt x="33" y="29"/>
                    </a:cubicBezTo>
                    <a:cubicBezTo>
                      <a:pt x="40" y="21"/>
                      <a:pt x="46" y="16"/>
                      <a:pt x="44" y="9"/>
                    </a:cubicBezTo>
                    <a:cubicBezTo>
                      <a:pt x="42" y="0"/>
                      <a:pt x="34" y="0"/>
                      <a:pt x="29" y="4"/>
                    </a:cubicBezTo>
                    <a:cubicBezTo>
                      <a:pt x="27" y="7"/>
                      <a:pt x="25" y="9"/>
                      <a:pt x="24" y="13"/>
                    </a:cubicBezTo>
                    <a:cubicBezTo>
                      <a:pt x="23" y="23"/>
                      <a:pt x="26" y="18"/>
                      <a:pt x="18" y="31"/>
                    </a:cubicBezTo>
                    <a:cubicBezTo>
                      <a:pt x="12" y="35"/>
                      <a:pt x="6" y="49"/>
                      <a:pt x="15" y="55"/>
                    </a:cubicBezTo>
                    <a:cubicBezTo>
                      <a:pt x="24" y="61"/>
                      <a:pt x="33" y="61"/>
                      <a:pt x="40" y="53"/>
                    </a:cubicBezTo>
                    <a:cubicBezTo>
                      <a:pt x="46" y="44"/>
                      <a:pt x="57" y="39"/>
                      <a:pt x="63" y="44"/>
                    </a:cubicBezTo>
                    <a:cubicBezTo>
                      <a:pt x="56" y="47"/>
                      <a:pt x="57" y="61"/>
                      <a:pt x="63" y="67"/>
                    </a:cubicBezTo>
                    <a:cubicBezTo>
                      <a:pt x="58" y="73"/>
                      <a:pt x="47" y="76"/>
                      <a:pt x="45" y="88"/>
                    </a:cubicBezTo>
                    <a:cubicBezTo>
                      <a:pt x="43" y="99"/>
                      <a:pt x="43" y="101"/>
                      <a:pt x="40" y="110"/>
                    </a:cubicBezTo>
                    <a:cubicBezTo>
                      <a:pt x="37" y="118"/>
                      <a:pt x="42" y="131"/>
                      <a:pt x="46" y="142"/>
                    </a:cubicBezTo>
                    <a:cubicBezTo>
                      <a:pt x="46" y="147"/>
                      <a:pt x="46" y="147"/>
                      <a:pt x="46" y="147"/>
                    </a:cubicBezTo>
                    <a:cubicBezTo>
                      <a:pt x="44" y="150"/>
                      <a:pt x="40" y="154"/>
                      <a:pt x="40" y="157"/>
                    </a:cubicBezTo>
                    <a:cubicBezTo>
                      <a:pt x="41" y="161"/>
                      <a:pt x="43" y="161"/>
                      <a:pt x="43" y="165"/>
                    </a:cubicBezTo>
                    <a:cubicBezTo>
                      <a:pt x="42" y="168"/>
                      <a:pt x="38" y="171"/>
                      <a:pt x="38" y="175"/>
                    </a:cubicBezTo>
                    <a:cubicBezTo>
                      <a:pt x="38" y="177"/>
                      <a:pt x="40" y="181"/>
                      <a:pt x="39" y="183"/>
                    </a:cubicBezTo>
                    <a:cubicBezTo>
                      <a:pt x="39" y="186"/>
                      <a:pt x="38" y="186"/>
                      <a:pt x="36" y="188"/>
                    </a:cubicBezTo>
                    <a:cubicBezTo>
                      <a:pt x="33" y="192"/>
                      <a:pt x="35" y="194"/>
                      <a:pt x="33" y="198"/>
                    </a:cubicBezTo>
                    <a:cubicBezTo>
                      <a:pt x="32" y="201"/>
                      <a:pt x="30" y="200"/>
                      <a:pt x="28" y="203"/>
                    </a:cubicBezTo>
                    <a:cubicBezTo>
                      <a:pt x="24" y="206"/>
                      <a:pt x="22" y="209"/>
                      <a:pt x="22" y="214"/>
                    </a:cubicBezTo>
                    <a:cubicBezTo>
                      <a:pt x="21" y="218"/>
                      <a:pt x="19" y="222"/>
                      <a:pt x="12" y="224"/>
                    </a:cubicBezTo>
                    <a:cubicBezTo>
                      <a:pt x="2" y="226"/>
                      <a:pt x="0" y="235"/>
                      <a:pt x="3" y="242"/>
                    </a:cubicBezTo>
                    <a:close/>
                  </a:path>
                </a:pathLst>
              </a:custGeom>
              <a:solidFill>
                <a:srgbClr val="feead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7" name="Freeform 28"/>
              <p:cNvSpPr/>
              <p:nvPr/>
            </p:nvSpPr>
            <p:spPr>
              <a:xfrm flipH="1">
                <a:off x="6332040" y="1433520"/>
                <a:ext cx="786240" cy="1256400"/>
              </a:xfrm>
              <a:custGeom>
                <a:avLst/>
                <a:gdLst>
                  <a:gd name="GluePoint1X" fmla="*/ 2147483647 w 242"/>
                  <a:gd name="GluePoint1Y" fmla="*/ 2147483647 h 371"/>
                  <a:gd name="GluePoint2X" fmla="*/ 0 w 242"/>
                  <a:gd name="GluePoint2Y" fmla="*/ 2147483647 h 371"/>
                  <a:gd name="GluePoint3X" fmla="*/ 2147483647 w 242"/>
                  <a:gd name="GluePoint3Y" fmla="*/ 2147483647 h 371"/>
                  <a:gd name="GluePoint4X" fmla="*/ 2147483647 w 242"/>
                  <a:gd name="GluePoint4Y" fmla="*/ 2147483647 h 371"/>
                  <a:gd name="GluePoint5X" fmla="*/ 2147483647 w 242"/>
                  <a:gd name="GluePoint5Y" fmla="*/ 2147483647 h 371"/>
                  <a:gd name="GluePoint6X" fmla="*/ 2147483647 w 242"/>
                  <a:gd name="GluePoint6Y" fmla="*/ 2147483647 h 371"/>
                  <a:gd name="GluePoint7X" fmla="*/ 2147483647 w 242"/>
                  <a:gd name="GluePoint7Y" fmla="*/ 2147483647 h 371"/>
                  <a:gd name="GluePoint8X" fmla="*/ 2147483647 w 242"/>
                  <a:gd name="GluePoint8Y" fmla="*/ 2147483647 h 371"/>
                  <a:gd name="GluePoint9X" fmla="*/ 2147483647 w 242"/>
                  <a:gd name="GluePoint9Y" fmla="*/ 2147483647 h 371"/>
                  <a:gd name="GluePoint10X" fmla="*/ 2147483647 w 242"/>
                  <a:gd name="GluePoint10Y" fmla="*/ 2147483647 h 371"/>
                  <a:gd name="GluePoint11X" fmla="*/ 2147483647 w 242"/>
                  <a:gd name="GluePoint11Y" fmla="*/ 2147483647 h 371"/>
                  <a:gd name="GluePoint12X" fmla="*/ 2147483647 w 242"/>
                  <a:gd name="GluePoint12Y" fmla="*/ 2147483647 h 371"/>
                  <a:gd name="GluePoint13X" fmla="*/ 2147483647 w 242"/>
                  <a:gd name="GluePoint13Y" fmla="*/ 2147483647 h 371"/>
                  <a:gd name="GluePoint14X" fmla="*/ 2147483647 w 242"/>
                  <a:gd name="GluePoint14Y" fmla="*/ 2147483647 h 371"/>
                  <a:gd name="GluePoint15X" fmla="*/ 2147483647 w 242"/>
                  <a:gd name="GluePoint15Y" fmla="*/ 2147483647 h 371"/>
                  <a:gd name="GluePoint16X" fmla="*/ 2147483647 w 242"/>
                  <a:gd name="GluePoint16Y" fmla="*/ 2147483647 h 371"/>
                  <a:gd name="GluePoint17X" fmla="*/ 2147483647 w 242"/>
                  <a:gd name="GluePoint17Y" fmla="*/ 2147483647 h 371"/>
                  <a:gd name="GluePoint18X" fmla="*/ 2147483647 w 242"/>
                  <a:gd name="GluePoint18Y" fmla="*/ 2147483647 h 371"/>
                  <a:gd name="GluePoint19X" fmla="*/ 2147483647 w 242"/>
                  <a:gd name="GluePoint19Y" fmla="*/ 2147483647 h 371"/>
                  <a:gd name="GluePoint20X" fmla="*/ 2147483647 w 242"/>
                  <a:gd name="GluePoint20Y" fmla="*/ 2147483647 h 371"/>
                  <a:gd name="GluePoint21X" fmla="*/ 2147483647 w 242"/>
                  <a:gd name="GluePoint21Y" fmla="*/ 2147483647 h 371"/>
                  <a:gd name="GluePoint22X" fmla="*/ 2147483647 w 242"/>
                  <a:gd name="GluePoint22Y" fmla="*/ 2147483647 h 371"/>
                  <a:gd name="GluePoint23X" fmla="*/ 2147483647 w 242"/>
                  <a:gd name="GluePoint23Y" fmla="*/ 2147483647 h 371"/>
                  <a:gd name="GluePoint24X" fmla="*/ 2147483647 w 242"/>
                  <a:gd name="GluePoint24Y" fmla="*/ 2147483647 h 371"/>
                  <a:gd name="GluePoint25X" fmla="*/ 2147483647 w 242"/>
                  <a:gd name="GluePoint25Y" fmla="*/ 2147483647 h 371"/>
                  <a:gd name="GluePoint26X" fmla="*/ 2147483647 w 242"/>
                  <a:gd name="GluePoint26Y" fmla="*/ 2147483647 h 371"/>
                  <a:gd name="GluePoint27X" fmla="*/ 2147483647 w 242"/>
                  <a:gd name="GluePoint27Y" fmla="*/ 2147483647 h 371"/>
                  <a:gd name="GluePoint28X" fmla="*/ 2147483647 w 242"/>
                  <a:gd name="GluePoint28Y" fmla="*/ 2147483647 h 371"/>
                  <a:gd name="GluePoint29X" fmla="*/ 2147483647 w 242"/>
                  <a:gd name="GluePoint29Y" fmla="*/ 2147483647 h 371"/>
                  <a:gd name="GluePoint30X" fmla="*/ 2147483647 w 242"/>
                  <a:gd name="GluePoint30Y" fmla="*/ 2147483647 h 371"/>
                  <a:gd name="GluePoint31X" fmla="*/ 2147483647 w 242"/>
                  <a:gd name="GluePoint31Y" fmla="*/ 2147483647 h 371"/>
                  <a:gd name="GluePoint32X" fmla="*/ 2147483647 w 242"/>
                  <a:gd name="GluePoint32Y" fmla="*/ 2147483647 h 371"/>
                  <a:gd name="GluePoint33X" fmla="*/ 2147483647 w 242"/>
                  <a:gd name="GluePoint33Y" fmla="*/ 2147483647 h 371"/>
                  <a:gd name="GluePoint34X" fmla="*/ 2147483647 w 242"/>
                  <a:gd name="GluePoint34Y" fmla="*/ 2147483647 h 371"/>
                  <a:gd name="GluePoint35X" fmla="*/ 2147483647 w 242"/>
                  <a:gd name="GluePoint35Y" fmla="*/ 2147483647 h 371"/>
                  <a:gd name="GluePoint36X" fmla="*/ 2147483647 w 242"/>
                  <a:gd name="GluePoint36Y" fmla="*/ 2147483647 h 371"/>
                  <a:gd name="GluePoint37X" fmla="*/ 2147483647 w 242"/>
                  <a:gd name="GluePoint37Y" fmla="*/ 2147483647 h 371"/>
                  <a:gd name="GluePoint38X" fmla="*/ 2147483647 w 242"/>
                  <a:gd name="GluePoint38Y" fmla="*/ 2147483647 h 371"/>
                  <a:gd name="GluePoint39X" fmla="*/ 2147483647 w 242"/>
                  <a:gd name="GluePoint39Y" fmla="*/ 2147483647 h 371"/>
                  <a:gd name="GluePoint40X" fmla="*/ 2147483647 w 242"/>
                  <a:gd name="GluePoint40Y" fmla="*/ 2147483647 h 371"/>
                  <a:gd name="GluePoint41X" fmla="*/ 2147483647 w 242"/>
                  <a:gd name="GluePoint41Y" fmla="*/ 2147483647 h 371"/>
                  <a:gd name="GluePoint42X" fmla="*/ 2147483647 w 242"/>
                  <a:gd name="GluePoint42Y" fmla="*/ 2147483647 h 371"/>
                  <a:gd name="GluePoint43X" fmla="*/ 2147483647 w 242"/>
                  <a:gd name="GluePoint43Y" fmla="*/ 2147483647 h 371"/>
                  <a:gd name="GluePoint44X" fmla="*/ 2147483647 w 242"/>
                  <a:gd name="GluePoint44Y" fmla="*/ 2147483647 h 371"/>
                  <a:gd name="GluePoint45X" fmla="*/ 2147483647 w 242"/>
                  <a:gd name="GluePoint45Y" fmla="*/ 2147483647 h 371"/>
                  <a:gd name="GluePoint46X" fmla="*/ 2147483647 w 242"/>
                  <a:gd name="GluePoint46Y" fmla="*/ 2147483647 h 371"/>
                  <a:gd name="GluePoint47X" fmla="*/ 2147483647 w 242"/>
                  <a:gd name="GluePoint47Y" fmla="*/ 2147483647 h 371"/>
                  <a:gd name="GluePoint48X" fmla="*/ 2147483647 w 242"/>
                  <a:gd name="GluePoint48Y" fmla="*/ 2147483647 h 371"/>
                  <a:gd name="GluePoint49X" fmla="*/ 2147483647 w 242"/>
                  <a:gd name="GluePoint49Y" fmla="*/ 2147483647 h 371"/>
                  <a:gd name="GluePoint50X" fmla="*/ 2147483647 w 242"/>
                  <a:gd name="GluePoint50Y" fmla="*/ 2147483647 h 371"/>
                  <a:gd name="GluePoint51X" fmla="*/ 2147483647 w 242"/>
                  <a:gd name="GluePoint51Y" fmla="*/ 2147483647 h 371"/>
                  <a:gd name="GluePoint52X" fmla="*/ 2147483647 w 242"/>
                  <a:gd name="GluePoint52Y" fmla="*/ 2147483647 h 371"/>
                  <a:gd name="GluePoint53X" fmla="*/ 1723613887 w 242"/>
                  <a:gd name="GluePoint53Y" fmla="*/ 2147483647 h 371"/>
                  <a:gd name="GluePoint54X" fmla="*/ 743519716 w 242"/>
                  <a:gd name="GluePoint54Y" fmla="*/ 2147483647 h 371"/>
                  <a:gd name="GluePoint55X" fmla="*/ 2147483647 w 242"/>
                  <a:gd name="GluePoint55Y" fmla="*/ 2147483647 h 371"/>
                  <a:gd name="GluePoint56X" fmla="*/ 2147483647 w 242"/>
                  <a:gd name="GluePoint56Y" fmla="*/ 2147483647 h 37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Lst>
                <a:rect l="l" t="t" r="r" b="b"/>
                <a:pathLst>
                  <a:path w="242" h="371">
                    <a:moveTo>
                      <a:pt x="59" y="225"/>
                    </a:moveTo>
                    <a:cubicBezTo>
                      <a:pt x="56" y="226"/>
                      <a:pt x="54" y="227"/>
                      <a:pt x="51" y="227"/>
                    </a:cubicBezTo>
                    <a:cubicBezTo>
                      <a:pt x="45" y="226"/>
                      <a:pt x="39" y="226"/>
                      <a:pt x="33" y="226"/>
                    </a:cubicBezTo>
                    <a:cubicBezTo>
                      <a:pt x="28" y="226"/>
                      <a:pt x="27" y="226"/>
                      <a:pt x="22" y="226"/>
                    </a:cubicBezTo>
                    <a:cubicBezTo>
                      <a:pt x="17" y="227"/>
                      <a:pt x="12" y="225"/>
                      <a:pt x="8" y="225"/>
                    </a:cubicBezTo>
                    <a:cubicBezTo>
                      <a:pt x="1" y="225"/>
                      <a:pt x="1" y="224"/>
                      <a:pt x="0" y="218"/>
                    </a:cubicBezTo>
                    <a:cubicBezTo>
                      <a:pt x="2" y="224"/>
                      <a:pt x="12" y="221"/>
                      <a:pt x="17" y="221"/>
                    </a:cubicBezTo>
                    <a:cubicBezTo>
                      <a:pt x="22" y="221"/>
                      <a:pt x="28" y="223"/>
                      <a:pt x="28" y="216"/>
                    </a:cubicBezTo>
                    <a:cubicBezTo>
                      <a:pt x="28" y="215"/>
                      <a:pt x="26" y="209"/>
                      <a:pt x="30" y="208"/>
                    </a:cubicBezTo>
                    <a:cubicBezTo>
                      <a:pt x="28" y="213"/>
                      <a:pt x="34" y="217"/>
                      <a:pt x="38" y="220"/>
                    </a:cubicBezTo>
                    <a:cubicBezTo>
                      <a:pt x="43" y="223"/>
                      <a:pt x="45" y="222"/>
                      <a:pt x="50" y="221"/>
                    </a:cubicBezTo>
                    <a:cubicBezTo>
                      <a:pt x="57" y="220"/>
                      <a:pt x="60" y="220"/>
                      <a:pt x="67" y="220"/>
                    </a:cubicBezTo>
                    <a:cubicBezTo>
                      <a:pt x="73" y="218"/>
                      <a:pt x="64" y="213"/>
                      <a:pt x="58" y="209"/>
                    </a:cubicBezTo>
                    <a:cubicBezTo>
                      <a:pt x="54" y="206"/>
                      <a:pt x="53" y="201"/>
                      <a:pt x="50" y="197"/>
                    </a:cubicBezTo>
                    <a:cubicBezTo>
                      <a:pt x="44" y="191"/>
                      <a:pt x="35" y="194"/>
                      <a:pt x="29" y="190"/>
                    </a:cubicBezTo>
                    <a:cubicBezTo>
                      <a:pt x="26" y="188"/>
                      <a:pt x="24" y="181"/>
                      <a:pt x="30" y="182"/>
                    </a:cubicBezTo>
                    <a:cubicBezTo>
                      <a:pt x="31" y="186"/>
                      <a:pt x="32" y="187"/>
                      <a:pt x="36" y="188"/>
                    </a:cubicBezTo>
                    <a:cubicBezTo>
                      <a:pt x="38" y="189"/>
                      <a:pt x="39" y="188"/>
                      <a:pt x="41" y="187"/>
                    </a:cubicBezTo>
                    <a:cubicBezTo>
                      <a:pt x="43" y="185"/>
                      <a:pt x="46" y="181"/>
                      <a:pt x="48" y="178"/>
                    </a:cubicBezTo>
                    <a:cubicBezTo>
                      <a:pt x="49" y="177"/>
                      <a:pt x="48" y="174"/>
                      <a:pt x="51" y="174"/>
                    </a:cubicBezTo>
                    <a:cubicBezTo>
                      <a:pt x="55" y="175"/>
                      <a:pt x="54" y="180"/>
                      <a:pt x="52" y="182"/>
                    </a:cubicBezTo>
                    <a:cubicBezTo>
                      <a:pt x="49" y="185"/>
                      <a:pt x="48" y="184"/>
                      <a:pt x="49" y="189"/>
                    </a:cubicBezTo>
                    <a:cubicBezTo>
                      <a:pt x="50" y="192"/>
                      <a:pt x="52" y="193"/>
                      <a:pt x="54" y="195"/>
                    </a:cubicBezTo>
                    <a:cubicBezTo>
                      <a:pt x="55" y="195"/>
                      <a:pt x="55" y="197"/>
                      <a:pt x="57" y="197"/>
                    </a:cubicBezTo>
                    <a:cubicBezTo>
                      <a:pt x="58" y="198"/>
                      <a:pt x="62" y="195"/>
                      <a:pt x="64" y="195"/>
                    </a:cubicBezTo>
                    <a:cubicBezTo>
                      <a:pt x="69" y="194"/>
                      <a:pt x="67" y="195"/>
                      <a:pt x="66" y="199"/>
                    </a:cubicBezTo>
                    <a:cubicBezTo>
                      <a:pt x="65" y="204"/>
                      <a:pt x="69" y="208"/>
                      <a:pt x="73" y="211"/>
                    </a:cubicBezTo>
                    <a:cubicBezTo>
                      <a:pt x="78" y="216"/>
                      <a:pt x="85" y="216"/>
                      <a:pt x="90" y="221"/>
                    </a:cubicBezTo>
                    <a:cubicBezTo>
                      <a:pt x="93" y="223"/>
                      <a:pt x="94" y="227"/>
                      <a:pt x="99" y="225"/>
                    </a:cubicBezTo>
                    <a:cubicBezTo>
                      <a:pt x="106" y="222"/>
                      <a:pt x="97" y="217"/>
                      <a:pt x="95" y="213"/>
                    </a:cubicBezTo>
                    <a:cubicBezTo>
                      <a:pt x="93" y="207"/>
                      <a:pt x="96" y="200"/>
                      <a:pt x="93" y="194"/>
                    </a:cubicBezTo>
                    <a:cubicBezTo>
                      <a:pt x="91" y="189"/>
                      <a:pt x="88" y="185"/>
                      <a:pt x="84" y="180"/>
                    </a:cubicBezTo>
                    <a:cubicBezTo>
                      <a:pt x="83" y="179"/>
                      <a:pt x="79" y="176"/>
                      <a:pt x="79" y="174"/>
                    </a:cubicBezTo>
                    <a:cubicBezTo>
                      <a:pt x="82" y="174"/>
                      <a:pt x="85" y="175"/>
                      <a:pt x="87" y="178"/>
                    </a:cubicBezTo>
                    <a:cubicBezTo>
                      <a:pt x="88" y="179"/>
                      <a:pt x="91" y="184"/>
                      <a:pt x="93" y="186"/>
                    </a:cubicBezTo>
                    <a:cubicBezTo>
                      <a:pt x="94" y="174"/>
                      <a:pt x="88" y="165"/>
                      <a:pt x="94" y="153"/>
                    </a:cubicBezTo>
                    <a:cubicBezTo>
                      <a:pt x="97" y="148"/>
                      <a:pt x="96" y="147"/>
                      <a:pt x="97" y="141"/>
                    </a:cubicBezTo>
                    <a:cubicBezTo>
                      <a:pt x="98" y="137"/>
                      <a:pt x="94" y="133"/>
                      <a:pt x="94" y="130"/>
                    </a:cubicBezTo>
                    <a:cubicBezTo>
                      <a:pt x="103" y="130"/>
                      <a:pt x="102" y="147"/>
                      <a:pt x="101" y="152"/>
                    </a:cubicBezTo>
                    <a:cubicBezTo>
                      <a:pt x="100" y="155"/>
                      <a:pt x="98" y="158"/>
                      <a:pt x="99" y="161"/>
                    </a:cubicBezTo>
                    <a:cubicBezTo>
                      <a:pt x="101" y="165"/>
                      <a:pt x="101" y="163"/>
                      <a:pt x="104" y="162"/>
                    </a:cubicBezTo>
                    <a:cubicBezTo>
                      <a:pt x="106" y="162"/>
                      <a:pt x="114" y="151"/>
                      <a:pt x="116" y="153"/>
                    </a:cubicBezTo>
                    <a:cubicBezTo>
                      <a:pt x="118" y="156"/>
                      <a:pt x="112" y="162"/>
                      <a:pt x="110" y="163"/>
                    </a:cubicBezTo>
                    <a:cubicBezTo>
                      <a:pt x="107" y="164"/>
                      <a:pt x="101" y="174"/>
                      <a:pt x="101" y="178"/>
                    </a:cubicBezTo>
                    <a:cubicBezTo>
                      <a:pt x="102" y="184"/>
                      <a:pt x="101" y="186"/>
                      <a:pt x="107" y="192"/>
                    </a:cubicBezTo>
                    <a:cubicBezTo>
                      <a:pt x="110" y="195"/>
                      <a:pt x="122" y="195"/>
                      <a:pt x="127" y="195"/>
                    </a:cubicBezTo>
                    <a:cubicBezTo>
                      <a:pt x="132" y="195"/>
                      <a:pt x="130" y="195"/>
                      <a:pt x="132" y="192"/>
                    </a:cubicBezTo>
                    <a:cubicBezTo>
                      <a:pt x="134" y="190"/>
                      <a:pt x="136" y="189"/>
                      <a:pt x="138" y="187"/>
                    </a:cubicBezTo>
                    <a:cubicBezTo>
                      <a:pt x="145" y="183"/>
                      <a:pt x="145" y="174"/>
                      <a:pt x="146" y="167"/>
                    </a:cubicBezTo>
                    <a:cubicBezTo>
                      <a:pt x="146" y="165"/>
                      <a:pt x="146" y="162"/>
                      <a:pt x="147" y="160"/>
                    </a:cubicBezTo>
                    <a:cubicBezTo>
                      <a:pt x="147" y="158"/>
                      <a:pt x="149" y="156"/>
                      <a:pt x="150" y="154"/>
                    </a:cubicBezTo>
                    <a:cubicBezTo>
                      <a:pt x="152" y="158"/>
                      <a:pt x="151" y="157"/>
                      <a:pt x="150" y="161"/>
                    </a:cubicBezTo>
                    <a:cubicBezTo>
                      <a:pt x="149" y="164"/>
                      <a:pt x="152" y="170"/>
                      <a:pt x="151" y="173"/>
                    </a:cubicBezTo>
                    <a:cubicBezTo>
                      <a:pt x="154" y="174"/>
                      <a:pt x="155" y="174"/>
                      <a:pt x="158" y="174"/>
                    </a:cubicBezTo>
                    <a:cubicBezTo>
                      <a:pt x="160" y="174"/>
                      <a:pt x="164" y="172"/>
                      <a:pt x="166" y="173"/>
                    </a:cubicBezTo>
                    <a:cubicBezTo>
                      <a:pt x="175" y="175"/>
                      <a:pt x="162" y="178"/>
                      <a:pt x="158" y="178"/>
                    </a:cubicBezTo>
                    <a:cubicBezTo>
                      <a:pt x="155" y="179"/>
                      <a:pt x="148" y="180"/>
                      <a:pt x="152" y="185"/>
                    </a:cubicBezTo>
                    <a:cubicBezTo>
                      <a:pt x="154" y="189"/>
                      <a:pt x="159" y="188"/>
                      <a:pt x="162" y="192"/>
                    </a:cubicBezTo>
                    <a:cubicBezTo>
                      <a:pt x="159" y="191"/>
                      <a:pt x="144" y="184"/>
                      <a:pt x="142" y="192"/>
                    </a:cubicBezTo>
                    <a:cubicBezTo>
                      <a:pt x="141" y="196"/>
                      <a:pt x="154" y="200"/>
                      <a:pt x="153" y="204"/>
                    </a:cubicBezTo>
                    <a:cubicBezTo>
                      <a:pt x="152" y="209"/>
                      <a:pt x="142" y="200"/>
                      <a:pt x="140" y="199"/>
                    </a:cubicBezTo>
                    <a:cubicBezTo>
                      <a:pt x="137" y="196"/>
                      <a:pt x="137" y="196"/>
                      <a:pt x="133" y="199"/>
                    </a:cubicBezTo>
                    <a:cubicBezTo>
                      <a:pt x="131" y="200"/>
                      <a:pt x="128" y="200"/>
                      <a:pt x="126" y="201"/>
                    </a:cubicBezTo>
                    <a:cubicBezTo>
                      <a:pt x="125" y="201"/>
                      <a:pt x="124" y="201"/>
                      <a:pt x="122" y="201"/>
                    </a:cubicBezTo>
                    <a:cubicBezTo>
                      <a:pt x="117" y="200"/>
                      <a:pt x="116" y="201"/>
                      <a:pt x="115" y="206"/>
                    </a:cubicBezTo>
                    <a:cubicBezTo>
                      <a:pt x="112" y="215"/>
                      <a:pt x="119" y="216"/>
                      <a:pt x="127" y="218"/>
                    </a:cubicBezTo>
                    <a:cubicBezTo>
                      <a:pt x="137" y="221"/>
                      <a:pt x="145" y="225"/>
                      <a:pt x="155" y="222"/>
                    </a:cubicBezTo>
                    <a:cubicBezTo>
                      <a:pt x="168" y="220"/>
                      <a:pt x="174" y="216"/>
                      <a:pt x="174" y="211"/>
                    </a:cubicBezTo>
                    <a:cubicBezTo>
                      <a:pt x="175" y="206"/>
                      <a:pt x="176" y="202"/>
                      <a:pt x="180" y="199"/>
                    </a:cubicBezTo>
                    <a:cubicBezTo>
                      <a:pt x="183" y="197"/>
                      <a:pt x="184" y="197"/>
                      <a:pt x="185" y="194"/>
                    </a:cubicBezTo>
                    <a:cubicBezTo>
                      <a:pt x="187" y="191"/>
                      <a:pt x="186" y="188"/>
                      <a:pt x="188" y="185"/>
                    </a:cubicBezTo>
                    <a:cubicBezTo>
                      <a:pt x="190" y="183"/>
                      <a:pt x="191" y="182"/>
                      <a:pt x="191" y="180"/>
                    </a:cubicBezTo>
                    <a:cubicBezTo>
                      <a:pt x="192" y="178"/>
                      <a:pt x="190" y="174"/>
                      <a:pt x="190" y="172"/>
                    </a:cubicBezTo>
                    <a:cubicBezTo>
                      <a:pt x="190" y="168"/>
                      <a:pt x="194" y="165"/>
                      <a:pt x="195" y="162"/>
                    </a:cubicBezTo>
                    <a:cubicBezTo>
                      <a:pt x="195" y="158"/>
                      <a:pt x="193" y="158"/>
                      <a:pt x="192" y="155"/>
                    </a:cubicBezTo>
                    <a:cubicBezTo>
                      <a:pt x="192" y="151"/>
                      <a:pt x="196" y="147"/>
                      <a:pt x="198" y="145"/>
                    </a:cubicBezTo>
                    <a:cubicBezTo>
                      <a:pt x="198" y="140"/>
                      <a:pt x="198" y="140"/>
                      <a:pt x="198" y="140"/>
                    </a:cubicBezTo>
                    <a:cubicBezTo>
                      <a:pt x="194" y="129"/>
                      <a:pt x="189" y="117"/>
                      <a:pt x="192" y="108"/>
                    </a:cubicBezTo>
                    <a:cubicBezTo>
                      <a:pt x="195" y="100"/>
                      <a:pt x="195" y="98"/>
                      <a:pt x="197" y="87"/>
                    </a:cubicBezTo>
                    <a:cubicBezTo>
                      <a:pt x="199" y="75"/>
                      <a:pt x="209" y="72"/>
                      <a:pt x="215" y="67"/>
                    </a:cubicBezTo>
                    <a:cubicBezTo>
                      <a:pt x="208" y="61"/>
                      <a:pt x="209" y="43"/>
                      <a:pt x="216" y="40"/>
                    </a:cubicBezTo>
                    <a:cubicBezTo>
                      <a:pt x="210" y="35"/>
                      <a:pt x="199" y="41"/>
                      <a:pt x="193" y="49"/>
                    </a:cubicBezTo>
                    <a:cubicBezTo>
                      <a:pt x="186" y="57"/>
                      <a:pt x="176" y="57"/>
                      <a:pt x="167" y="52"/>
                    </a:cubicBezTo>
                    <a:cubicBezTo>
                      <a:pt x="158" y="46"/>
                      <a:pt x="164" y="35"/>
                      <a:pt x="171" y="31"/>
                    </a:cubicBezTo>
                    <a:cubicBezTo>
                      <a:pt x="179" y="18"/>
                      <a:pt x="176" y="23"/>
                      <a:pt x="177" y="14"/>
                    </a:cubicBezTo>
                    <a:cubicBezTo>
                      <a:pt x="177" y="10"/>
                      <a:pt x="179" y="7"/>
                      <a:pt x="182" y="5"/>
                    </a:cubicBezTo>
                    <a:cubicBezTo>
                      <a:pt x="186" y="2"/>
                      <a:pt x="192" y="0"/>
                      <a:pt x="194" y="9"/>
                    </a:cubicBezTo>
                    <a:cubicBezTo>
                      <a:pt x="197" y="16"/>
                      <a:pt x="192" y="18"/>
                      <a:pt x="185" y="26"/>
                    </a:cubicBezTo>
                    <a:cubicBezTo>
                      <a:pt x="187" y="25"/>
                      <a:pt x="192" y="36"/>
                      <a:pt x="202" y="34"/>
                    </a:cubicBezTo>
                    <a:cubicBezTo>
                      <a:pt x="211" y="33"/>
                      <a:pt x="229" y="22"/>
                      <a:pt x="235" y="34"/>
                    </a:cubicBezTo>
                    <a:cubicBezTo>
                      <a:pt x="242" y="47"/>
                      <a:pt x="238" y="52"/>
                      <a:pt x="232" y="68"/>
                    </a:cubicBezTo>
                    <a:cubicBezTo>
                      <a:pt x="227" y="84"/>
                      <a:pt x="221" y="94"/>
                      <a:pt x="218" y="114"/>
                    </a:cubicBezTo>
                    <a:cubicBezTo>
                      <a:pt x="215" y="135"/>
                      <a:pt x="208" y="167"/>
                      <a:pt x="202" y="189"/>
                    </a:cubicBezTo>
                    <a:cubicBezTo>
                      <a:pt x="193" y="219"/>
                      <a:pt x="177" y="230"/>
                      <a:pt x="169" y="233"/>
                    </a:cubicBezTo>
                    <a:cubicBezTo>
                      <a:pt x="162" y="236"/>
                      <a:pt x="173" y="245"/>
                      <a:pt x="183" y="267"/>
                    </a:cubicBezTo>
                    <a:cubicBezTo>
                      <a:pt x="191" y="285"/>
                      <a:pt x="197" y="317"/>
                      <a:pt x="202" y="346"/>
                    </a:cubicBezTo>
                    <a:cubicBezTo>
                      <a:pt x="201" y="348"/>
                      <a:pt x="201" y="351"/>
                      <a:pt x="200" y="354"/>
                    </a:cubicBezTo>
                    <a:cubicBezTo>
                      <a:pt x="199" y="357"/>
                      <a:pt x="199" y="363"/>
                      <a:pt x="199" y="371"/>
                    </a:cubicBezTo>
                    <a:cubicBezTo>
                      <a:pt x="196" y="351"/>
                      <a:pt x="190" y="318"/>
                      <a:pt x="186" y="303"/>
                    </a:cubicBezTo>
                    <a:cubicBezTo>
                      <a:pt x="181" y="285"/>
                      <a:pt x="173" y="268"/>
                      <a:pt x="166" y="255"/>
                    </a:cubicBezTo>
                    <a:cubicBezTo>
                      <a:pt x="159" y="243"/>
                      <a:pt x="154" y="243"/>
                      <a:pt x="148" y="240"/>
                    </a:cubicBezTo>
                    <a:cubicBezTo>
                      <a:pt x="146" y="238"/>
                      <a:pt x="143" y="238"/>
                      <a:pt x="140" y="238"/>
                    </a:cubicBezTo>
                    <a:cubicBezTo>
                      <a:pt x="135" y="238"/>
                      <a:pt x="130" y="241"/>
                      <a:pt x="126" y="245"/>
                    </a:cubicBezTo>
                    <a:cubicBezTo>
                      <a:pt x="120" y="252"/>
                      <a:pt x="124" y="271"/>
                      <a:pt x="130" y="277"/>
                    </a:cubicBezTo>
                    <a:cubicBezTo>
                      <a:pt x="135" y="283"/>
                      <a:pt x="137" y="287"/>
                      <a:pt x="140" y="294"/>
                    </a:cubicBezTo>
                    <a:cubicBezTo>
                      <a:pt x="143" y="299"/>
                      <a:pt x="146" y="303"/>
                      <a:pt x="149" y="308"/>
                    </a:cubicBezTo>
                    <a:cubicBezTo>
                      <a:pt x="149" y="312"/>
                      <a:pt x="157" y="327"/>
                      <a:pt x="162" y="328"/>
                    </a:cubicBezTo>
                    <a:cubicBezTo>
                      <a:pt x="157" y="327"/>
                      <a:pt x="152" y="321"/>
                      <a:pt x="149" y="317"/>
                    </a:cubicBezTo>
                    <a:cubicBezTo>
                      <a:pt x="148" y="316"/>
                      <a:pt x="146" y="316"/>
                      <a:pt x="146" y="315"/>
                    </a:cubicBezTo>
                    <a:cubicBezTo>
                      <a:pt x="145" y="314"/>
                      <a:pt x="146" y="312"/>
                      <a:pt x="145" y="311"/>
                    </a:cubicBezTo>
                    <a:cubicBezTo>
                      <a:pt x="144" y="308"/>
                      <a:pt x="141" y="302"/>
                      <a:pt x="138" y="300"/>
                    </a:cubicBezTo>
                    <a:cubicBezTo>
                      <a:pt x="135" y="305"/>
                      <a:pt x="138" y="313"/>
                      <a:pt x="139" y="318"/>
                    </a:cubicBezTo>
                    <a:cubicBezTo>
                      <a:pt x="139" y="321"/>
                      <a:pt x="137" y="323"/>
                      <a:pt x="137" y="326"/>
                    </a:cubicBezTo>
                    <a:cubicBezTo>
                      <a:pt x="136" y="327"/>
                      <a:pt x="138" y="332"/>
                      <a:pt x="134" y="329"/>
                    </a:cubicBezTo>
                    <a:cubicBezTo>
                      <a:pt x="138" y="321"/>
                      <a:pt x="134" y="313"/>
                      <a:pt x="133" y="304"/>
                    </a:cubicBezTo>
                    <a:cubicBezTo>
                      <a:pt x="132" y="297"/>
                      <a:pt x="130" y="286"/>
                      <a:pt x="124" y="283"/>
                    </a:cubicBezTo>
                    <a:cubicBezTo>
                      <a:pt x="118" y="280"/>
                      <a:pt x="118" y="278"/>
                      <a:pt x="117" y="271"/>
                    </a:cubicBezTo>
                    <a:cubicBezTo>
                      <a:pt x="116" y="263"/>
                      <a:pt x="114" y="263"/>
                      <a:pt x="107" y="267"/>
                    </a:cubicBezTo>
                    <a:cubicBezTo>
                      <a:pt x="103" y="269"/>
                      <a:pt x="99" y="272"/>
                      <a:pt x="95" y="275"/>
                    </a:cubicBezTo>
                    <a:cubicBezTo>
                      <a:pt x="93" y="276"/>
                      <a:pt x="89" y="278"/>
                      <a:pt x="87" y="280"/>
                    </a:cubicBezTo>
                    <a:cubicBezTo>
                      <a:pt x="85" y="283"/>
                      <a:pt x="86" y="286"/>
                      <a:pt x="86" y="289"/>
                    </a:cubicBezTo>
                    <a:cubicBezTo>
                      <a:pt x="86" y="294"/>
                      <a:pt x="85" y="295"/>
                      <a:pt x="83" y="300"/>
                    </a:cubicBezTo>
                    <a:cubicBezTo>
                      <a:pt x="82" y="303"/>
                      <a:pt x="85" y="310"/>
                      <a:pt x="86" y="313"/>
                    </a:cubicBezTo>
                    <a:cubicBezTo>
                      <a:pt x="87" y="316"/>
                      <a:pt x="87" y="317"/>
                      <a:pt x="88" y="321"/>
                    </a:cubicBezTo>
                    <a:cubicBezTo>
                      <a:pt x="88" y="322"/>
                      <a:pt x="88" y="323"/>
                      <a:pt x="88" y="324"/>
                    </a:cubicBezTo>
                    <a:cubicBezTo>
                      <a:pt x="90" y="326"/>
                      <a:pt x="94" y="327"/>
                      <a:pt x="94" y="327"/>
                    </a:cubicBezTo>
                    <a:cubicBezTo>
                      <a:pt x="94" y="327"/>
                      <a:pt x="94" y="330"/>
                      <a:pt x="90" y="329"/>
                    </a:cubicBezTo>
                    <a:cubicBezTo>
                      <a:pt x="85" y="328"/>
                      <a:pt x="83" y="323"/>
                      <a:pt x="81" y="318"/>
                    </a:cubicBezTo>
                    <a:cubicBezTo>
                      <a:pt x="80" y="315"/>
                      <a:pt x="80" y="309"/>
                      <a:pt x="75" y="308"/>
                    </a:cubicBezTo>
                    <a:cubicBezTo>
                      <a:pt x="72" y="308"/>
                      <a:pt x="71" y="311"/>
                      <a:pt x="70" y="315"/>
                    </a:cubicBezTo>
                    <a:cubicBezTo>
                      <a:pt x="71" y="312"/>
                      <a:pt x="69" y="308"/>
                      <a:pt x="71" y="305"/>
                    </a:cubicBezTo>
                    <a:cubicBezTo>
                      <a:pt x="72" y="304"/>
                      <a:pt x="73" y="304"/>
                      <a:pt x="74" y="303"/>
                    </a:cubicBezTo>
                    <a:cubicBezTo>
                      <a:pt x="74" y="302"/>
                      <a:pt x="74" y="301"/>
                      <a:pt x="74" y="300"/>
                    </a:cubicBezTo>
                    <a:cubicBezTo>
                      <a:pt x="74" y="296"/>
                      <a:pt x="74" y="292"/>
                      <a:pt x="71" y="290"/>
                    </a:cubicBezTo>
                    <a:cubicBezTo>
                      <a:pt x="69" y="288"/>
                      <a:pt x="65" y="288"/>
                      <a:pt x="62" y="286"/>
                    </a:cubicBezTo>
                    <a:cubicBezTo>
                      <a:pt x="65" y="288"/>
                      <a:pt x="69" y="286"/>
                      <a:pt x="73" y="286"/>
                    </a:cubicBezTo>
                    <a:cubicBezTo>
                      <a:pt x="77" y="286"/>
                      <a:pt x="80" y="285"/>
                      <a:pt x="82" y="282"/>
                    </a:cubicBezTo>
                    <a:cubicBezTo>
                      <a:pt x="83" y="281"/>
                      <a:pt x="82" y="279"/>
                      <a:pt x="83" y="277"/>
                    </a:cubicBezTo>
                    <a:cubicBezTo>
                      <a:pt x="84" y="276"/>
                      <a:pt x="88" y="274"/>
                      <a:pt x="89" y="272"/>
                    </a:cubicBezTo>
                    <a:cubicBezTo>
                      <a:pt x="92" y="270"/>
                      <a:pt x="94" y="268"/>
                      <a:pt x="97" y="266"/>
                    </a:cubicBezTo>
                    <a:cubicBezTo>
                      <a:pt x="101" y="262"/>
                      <a:pt x="102" y="255"/>
                      <a:pt x="105" y="250"/>
                    </a:cubicBezTo>
                    <a:cubicBezTo>
                      <a:pt x="108" y="246"/>
                      <a:pt x="112" y="243"/>
                      <a:pt x="107" y="240"/>
                    </a:cubicBezTo>
                    <a:cubicBezTo>
                      <a:pt x="100" y="236"/>
                      <a:pt x="88" y="239"/>
                      <a:pt x="80" y="241"/>
                    </a:cubicBezTo>
                    <a:cubicBezTo>
                      <a:pt x="77" y="241"/>
                      <a:pt x="75" y="243"/>
                      <a:pt x="73" y="243"/>
                    </a:cubicBezTo>
                    <a:cubicBezTo>
                      <a:pt x="70" y="244"/>
                      <a:pt x="68" y="243"/>
                      <a:pt x="65" y="244"/>
                    </a:cubicBezTo>
                    <a:cubicBezTo>
                      <a:pt x="61" y="245"/>
                      <a:pt x="59" y="247"/>
                      <a:pt x="55" y="249"/>
                    </a:cubicBezTo>
                    <a:cubicBezTo>
                      <a:pt x="52" y="250"/>
                      <a:pt x="45" y="249"/>
                      <a:pt x="43" y="251"/>
                    </a:cubicBezTo>
                    <a:cubicBezTo>
                      <a:pt x="43" y="252"/>
                      <a:pt x="43" y="256"/>
                      <a:pt x="42" y="258"/>
                    </a:cubicBezTo>
                    <a:cubicBezTo>
                      <a:pt x="42" y="260"/>
                      <a:pt x="41" y="261"/>
                      <a:pt x="40" y="263"/>
                    </a:cubicBezTo>
                    <a:cubicBezTo>
                      <a:pt x="39" y="264"/>
                      <a:pt x="37" y="266"/>
                      <a:pt x="36" y="267"/>
                    </a:cubicBezTo>
                    <a:cubicBezTo>
                      <a:pt x="34" y="272"/>
                      <a:pt x="39" y="275"/>
                      <a:pt x="38" y="279"/>
                    </a:cubicBezTo>
                    <a:cubicBezTo>
                      <a:pt x="36" y="283"/>
                      <a:pt x="34" y="284"/>
                      <a:pt x="33" y="289"/>
                    </a:cubicBezTo>
                    <a:cubicBezTo>
                      <a:pt x="31" y="294"/>
                      <a:pt x="29" y="297"/>
                      <a:pt x="31" y="301"/>
                    </a:cubicBezTo>
                    <a:cubicBezTo>
                      <a:pt x="28" y="299"/>
                      <a:pt x="29" y="298"/>
                      <a:pt x="28" y="294"/>
                    </a:cubicBezTo>
                    <a:cubicBezTo>
                      <a:pt x="28" y="289"/>
                      <a:pt x="31" y="287"/>
                      <a:pt x="32" y="283"/>
                    </a:cubicBezTo>
                    <a:cubicBezTo>
                      <a:pt x="34" y="277"/>
                      <a:pt x="30" y="272"/>
                      <a:pt x="34" y="266"/>
                    </a:cubicBezTo>
                    <a:cubicBezTo>
                      <a:pt x="26" y="264"/>
                      <a:pt x="28" y="273"/>
                      <a:pt x="24" y="276"/>
                    </a:cubicBezTo>
                    <a:cubicBezTo>
                      <a:pt x="19" y="280"/>
                      <a:pt x="16" y="282"/>
                      <a:pt x="15" y="289"/>
                    </a:cubicBezTo>
                    <a:cubicBezTo>
                      <a:pt x="11" y="289"/>
                      <a:pt x="8" y="286"/>
                      <a:pt x="7" y="283"/>
                    </a:cubicBezTo>
                    <a:cubicBezTo>
                      <a:pt x="15" y="283"/>
                      <a:pt x="15" y="280"/>
                      <a:pt x="17" y="275"/>
                    </a:cubicBezTo>
                    <a:cubicBezTo>
                      <a:pt x="19" y="269"/>
                      <a:pt x="28" y="264"/>
                      <a:pt x="19" y="259"/>
                    </a:cubicBezTo>
                    <a:cubicBezTo>
                      <a:pt x="17" y="258"/>
                      <a:pt x="5" y="259"/>
                      <a:pt x="3" y="256"/>
                    </a:cubicBezTo>
                    <a:cubicBezTo>
                      <a:pt x="2" y="256"/>
                      <a:pt x="2" y="255"/>
                      <a:pt x="3" y="255"/>
                    </a:cubicBezTo>
                    <a:cubicBezTo>
                      <a:pt x="7" y="254"/>
                      <a:pt x="14" y="254"/>
                      <a:pt x="18" y="254"/>
                    </a:cubicBezTo>
                    <a:cubicBezTo>
                      <a:pt x="23" y="255"/>
                      <a:pt x="31" y="252"/>
                      <a:pt x="34" y="250"/>
                    </a:cubicBezTo>
                    <a:cubicBezTo>
                      <a:pt x="36" y="248"/>
                      <a:pt x="36" y="247"/>
                      <a:pt x="38" y="245"/>
                    </a:cubicBezTo>
                    <a:cubicBezTo>
                      <a:pt x="41" y="242"/>
                      <a:pt x="44" y="240"/>
                      <a:pt x="48" y="238"/>
                    </a:cubicBezTo>
                    <a:cubicBezTo>
                      <a:pt x="56" y="234"/>
                      <a:pt x="68" y="230"/>
                      <a:pt x="77" y="230"/>
                    </a:cubicBezTo>
                    <a:cubicBezTo>
                      <a:pt x="78" y="221"/>
                      <a:pt x="64" y="225"/>
                      <a:pt x="59" y="225"/>
                    </a:cubicBezTo>
                    <a:close/>
                  </a:path>
                </a:pathLst>
              </a:custGeom>
              <a:solidFill>
                <a:srgbClr val="feead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8" name="Freeform 29"/>
              <p:cNvSpPr/>
              <p:nvPr/>
            </p:nvSpPr>
            <p:spPr>
              <a:xfrm flipH="1">
                <a:off x="6549480" y="1873440"/>
                <a:ext cx="568800" cy="685080"/>
              </a:xfrm>
              <a:custGeom>
                <a:avLst/>
                <a:gdLst>
                  <a:gd name="GluePoint1X" fmla="*/ 2147483647 w 175"/>
                  <a:gd name="GluePoint1Y" fmla="*/ 2147483647 h 202"/>
                  <a:gd name="GluePoint2X" fmla="*/ 2147483647 w 175"/>
                  <a:gd name="GluePoint2Y" fmla="*/ 2147483647 h 202"/>
                  <a:gd name="GluePoint3X" fmla="*/ 2147483647 w 175"/>
                  <a:gd name="GluePoint3Y" fmla="*/ 2147483647 h 202"/>
                  <a:gd name="GluePoint4X" fmla="*/ 2147483647 w 175"/>
                  <a:gd name="GluePoint4Y" fmla="*/ 2147483647 h 202"/>
                  <a:gd name="GluePoint5X" fmla="*/ 2147483647 w 175"/>
                  <a:gd name="GluePoint5Y" fmla="*/ 2147483647 h 202"/>
                  <a:gd name="GluePoint6X" fmla="*/ 2147483647 w 175"/>
                  <a:gd name="GluePoint6Y" fmla="*/ 2147483647 h 202"/>
                  <a:gd name="GluePoint7X" fmla="*/ 2147483647 w 175"/>
                  <a:gd name="GluePoint7Y" fmla="*/ 2147483647 h 202"/>
                  <a:gd name="GluePoint8X" fmla="*/ 2147483647 w 175"/>
                  <a:gd name="GluePoint8Y" fmla="*/ 2147483647 h 202"/>
                  <a:gd name="GluePoint9X" fmla="*/ 2147483647 w 175"/>
                  <a:gd name="GluePoint9Y" fmla="*/ 2147483647 h 202"/>
                  <a:gd name="GluePoint10X" fmla="*/ 2147483647 w 175"/>
                  <a:gd name="GluePoint10Y" fmla="*/ 2147483647 h 202"/>
                  <a:gd name="GluePoint11X" fmla="*/ 2147483647 w 175"/>
                  <a:gd name="GluePoint11Y" fmla="*/ 2147483647 h 202"/>
                  <a:gd name="GluePoint12X" fmla="*/ 2147483647 w 175"/>
                  <a:gd name="GluePoint12Y" fmla="*/ 2147483647 h 202"/>
                  <a:gd name="GluePoint13X" fmla="*/ 2147483647 w 175"/>
                  <a:gd name="GluePoint13Y" fmla="*/ 2147483647 h 202"/>
                  <a:gd name="GluePoint14X" fmla="*/ 2147483647 w 175"/>
                  <a:gd name="GluePoint14Y" fmla="*/ 2147483647 h 202"/>
                  <a:gd name="GluePoint15X" fmla="*/ 2147483647 w 175"/>
                  <a:gd name="GluePoint15Y" fmla="*/ 2147483647 h 202"/>
                  <a:gd name="GluePoint16X" fmla="*/ 2147483647 w 175"/>
                  <a:gd name="GluePoint16Y" fmla="*/ 2147483647 h 202"/>
                  <a:gd name="GluePoint17X" fmla="*/ 2147483647 w 175"/>
                  <a:gd name="GluePoint17Y" fmla="*/ 2147483647 h 202"/>
                  <a:gd name="GluePoint18X" fmla="*/ 2147483647 w 175"/>
                  <a:gd name="GluePoint18Y" fmla="*/ 2147483647 h 202"/>
                  <a:gd name="GluePoint19X" fmla="*/ 2147483647 w 175"/>
                  <a:gd name="GluePoint19Y" fmla="*/ 2147483647 h 202"/>
                  <a:gd name="GluePoint20X" fmla="*/ 1758191220 w 175"/>
                  <a:gd name="GluePoint20Y" fmla="*/ 2147483647 h 202"/>
                  <a:gd name="GluePoint21X" fmla="*/ 757841043 w 175"/>
                  <a:gd name="GluePoint21Y" fmla="*/ 2147483647 h 202"/>
                  <a:gd name="GluePoint22X" fmla="*/ 2147483647 w 175"/>
                  <a:gd name="GluePoint22Y" fmla="*/ 2147483647 h 202"/>
                  <a:gd name="GluePoint23X" fmla="*/ 2147483647 w 175"/>
                  <a:gd name="GluePoint23Y" fmla="*/ 2147483647 h 202"/>
                  <a:gd name="GluePoint24X" fmla="*/ 2147483647 w 175"/>
                  <a:gd name="GluePoint24Y" fmla="*/ 2147483647 h 202"/>
                  <a:gd name="GluePoint25X" fmla="*/ 0 w 175"/>
                  <a:gd name="GluePoint25Y" fmla="*/ 2147483647 h 202"/>
                  <a:gd name="GluePoint26X" fmla="*/ 2147483647 w 175"/>
                  <a:gd name="GluePoint26Y" fmla="*/ 2147483647 h 202"/>
                  <a:gd name="GluePoint27X" fmla="*/ 2147483647 w 175"/>
                  <a:gd name="GluePoint27Y" fmla="*/ 2147483647 h 202"/>
                  <a:gd name="GluePoint28X" fmla="*/ 2147483647 w 175"/>
                  <a:gd name="GluePoint28Y" fmla="*/ 2147483647 h 202"/>
                  <a:gd name="GluePoint29X" fmla="*/ 2147483647 w 175"/>
                  <a:gd name="GluePoint29Y" fmla="*/ 2147483647 h 202"/>
                  <a:gd name="GluePoint30X" fmla="*/ 2147483647 w 175"/>
                  <a:gd name="GluePoint30Y" fmla="*/ 2147483647 h 202"/>
                  <a:gd name="GluePoint31X" fmla="*/ 2147483647 w 175"/>
                  <a:gd name="GluePoint31Y" fmla="*/ 2147483647 h 202"/>
                  <a:gd name="GluePoint32X" fmla="*/ 2147483647 w 175"/>
                  <a:gd name="GluePoint32Y" fmla="*/ 2147483647 h 202"/>
                  <a:gd name="GluePoint33X" fmla="*/ 2147483647 w 175"/>
                  <a:gd name="GluePoint33Y" fmla="*/ 2147483647 h 202"/>
                  <a:gd name="GluePoint34X" fmla="*/ 2147483647 w 175"/>
                  <a:gd name="GluePoint34Y" fmla="*/ 2147483647 h 202"/>
                  <a:gd name="GluePoint35X" fmla="*/ 2147483647 w 175"/>
                  <a:gd name="GluePoint35Y" fmla="*/ 2147483647 h 202"/>
                  <a:gd name="GluePoint36X" fmla="*/ 2147483647 w 175"/>
                  <a:gd name="GluePoint36Y" fmla="*/ 2147483647 h 202"/>
                  <a:gd name="GluePoint37X" fmla="*/ 2147483647 w 175"/>
                  <a:gd name="GluePoint37Y" fmla="*/ 2147483647 h 202"/>
                  <a:gd name="GluePoint38X" fmla="*/ 2147483647 w 175"/>
                  <a:gd name="GluePoint38Y" fmla="*/ 2147483647 h 202"/>
                  <a:gd name="GluePoint39X" fmla="*/ 2147483647 w 175"/>
                  <a:gd name="GluePoint39Y" fmla="*/ 2147483647 h 202"/>
                  <a:gd name="GluePoint40X" fmla="*/ 2147483647 w 175"/>
                  <a:gd name="GluePoint40Y" fmla="*/ 2147483647 h 202"/>
                  <a:gd name="GluePoint41X" fmla="*/ 2147483647 w 175"/>
                  <a:gd name="GluePoint41Y" fmla="*/ 2147483647 h 202"/>
                  <a:gd name="GluePoint42X" fmla="*/ 2147483647 w 175"/>
                  <a:gd name="GluePoint42Y" fmla="*/ 2147483647 h 202"/>
                  <a:gd name="GluePoint43X" fmla="*/ 2147483647 w 175"/>
                  <a:gd name="GluePoint43Y" fmla="*/ 2147483647 h 202"/>
                  <a:gd name="GluePoint44X" fmla="*/ 2147483647 w 175"/>
                  <a:gd name="GluePoint44Y" fmla="*/ 2147483647 h 202"/>
                  <a:gd name="GluePoint45X" fmla="*/ 2147483647 w 175"/>
                  <a:gd name="GluePoint45Y" fmla="*/ 2147483647 h 2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Lst>
                <a:rect l="l" t="t" r="r" b="b"/>
                <a:pathLst>
                  <a:path w="175" h="202">
                    <a:moveTo>
                      <a:pt x="165" y="123"/>
                    </a:moveTo>
                    <a:cubicBezTo>
                      <a:pt x="159" y="113"/>
                      <a:pt x="153" y="113"/>
                      <a:pt x="148" y="110"/>
                    </a:cubicBezTo>
                    <a:cubicBezTo>
                      <a:pt x="146" y="108"/>
                      <a:pt x="143" y="108"/>
                      <a:pt x="140" y="108"/>
                    </a:cubicBezTo>
                    <a:cubicBezTo>
                      <a:pt x="135" y="108"/>
                      <a:pt x="130" y="111"/>
                      <a:pt x="126" y="115"/>
                    </a:cubicBezTo>
                    <a:cubicBezTo>
                      <a:pt x="120" y="122"/>
                      <a:pt x="124" y="141"/>
                      <a:pt x="130" y="147"/>
                    </a:cubicBezTo>
                    <a:cubicBezTo>
                      <a:pt x="135" y="153"/>
                      <a:pt x="137" y="157"/>
                      <a:pt x="140" y="164"/>
                    </a:cubicBezTo>
                    <a:cubicBezTo>
                      <a:pt x="143" y="169"/>
                      <a:pt x="146" y="173"/>
                      <a:pt x="149" y="178"/>
                    </a:cubicBezTo>
                    <a:cubicBezTo>
                      <a:pt x="149" y="182"/>
                      <a:pt x="157" y="197"/>
                      <a:pt x="162" y="198"/>
                    </a:cubicBezTo>
                    <a:cubicBezTo>
                      <a:pt x="157" y="197"/>
                      <a:pt x="152" y="191"/>
                      <a:pt x="149" y="187"/>
                    </a:cubicBezTo>
                    <a:cubicBezTo>
                      <a:pt x="148" y="186"/>
                      <a:pt x="146" y="186"/>
                      <a:pt x="146" y="185"/>
                    </a:cubicBezTo>
                    <a:cubicBezTo>
                      <a:pt x="145" y="184"/>
                      <a:pt x="146" y="182"/>
                      <a:pt x="145" y="181"/>
                    </a:cubicBezTo>
                    <a:cubicBezTo>
                      <a:pt x="144" y="178"/>
                      <a:pt x="141" y="172"/>
                      <a:pt x="138" y="170"/>
                    </a:cubicBezTo>
                    <a:cubicBezTo>
                      <a:pt x="135" y="175"/>
                      <a:pt x="138" y="183"/>
                      <a:pt x="139" y="188"/>
                    </a:cubicBezTo>
                    <a:cubicBezTo>
                      <a:pt x="139" y="191"/>
                      <a:pt x="137" y="193"/>
                      <a:pt x="137" y="196"/>
                    </a:cubicBezTo>
                    <a:cubicBezTo>
                      <a:pt x="136" y="197"/>
                      <a:pt x="138" y="202"/>
                      <a:pt x="134" y="199"/>
                    </a:cubicBezTo>
                    <a:cubicBezTo>
                      <a:pt x="138" y="191"/>
                      <a:pt x="134" y="183"/>
                      <a:pt x="133" y="174"/>
                    </a:cubicBezTo>
                    <a:cubicBezTo>
                      <a:pt x="132" y="167"/>
                      <a:pt x="130" y="156"/>
                      <a:pt x="124" y="153"/>
                    </a:cubicBezTo>
                    <a:cubicBezTo>
                      <a:pt x="118" y="150"/>
                      <a:pt x="118" y="148"/>
                      <a:pt x="117" y="141"/>
                    </a:cubicBezTo>
                    <a:cubicBezTo>
                      <a:pt x="116" y="133"/>
                      <a:pt x="114" y="133"/>
                      <a:pt x="107" y="137"/>
                    </a:cubicBezTo>
                    <a:cubicBezTo>
                      <a:pt x="103" y="139"/>
                      <a:pt x="99" y="142"/>
                      <a:pt x="95" y="145"/>
                    </a:cubicBezTo>
                    <a:cubicBezTo>
                      <a:pt x="93" y="146"/>
                      <a:pt x="89" y="148"/>
                      <a:pt x="87" y="150"/>
                    </a:cubicBezTo>
                    <a:cubicBezTo>
                      <a:pt x="85" y="153"/>
                      <a:pt x="86" y="156"/>
                      <a:pt x="86" y="159"/>
                    </a:cubicBezTo>
                    <a:cubicBezTo>
                      <a:pt x="86" y="164"/>
                      <a:pt x="85" y="165"/>
                      <a:pt x="83" y="170"/>
                    </a:cubicBezTo>
                    <a:cubicBezTo>
                      <a:pt x="82" y="173"/>
                      <a:pt x="85" y="180"/>
                      <a:pt x="86" y="183"/>
                    </a:cubicBezTo>
                    <a:cubicBezTo>
                      <a:pt x="87" y="186"/>
                      <a:pt x="87" y="187"/>
                      <a:pt x="88" y="191"/>
                    </a:cubicBezTo>
                    <a:cubicBezTo>
                      <a:pt x="88" y="192"/>
                      <a:pt x="88" y="193"/>
                      <a:pt x="88" y="194"/>
                    </a:cubicBezTo>
                    <a:cubicBezTo>
                      <a:pt x="90" y="196"/>
                      <a:pt x="94" y="197"/>
                      <a:pt x="94" y="197"/>
                    </a:cubicBezTo>
                    <a:cubicBezTo>
                      <a:pt x="94" y="197"/>
                      <a:pt x="94" y="200"/>
                      <a:pt x="90" y="199"/>
                    </a:cubicBezTo>
                    <a:cubicBezTo>
                      <a:pt x="85" y="198"/>
                      <a:pt x="83" y="193"/>
                      <a:pt x="81" y="188"/>
                    </a:cubicBezTo>
                    <a:cubicBezTo>
                      <a:pt x="80" y="185"/>
                      <a:pt x="80" y="179"/>
                      <a:pt x="75" y="178"/>
                    </a:cubicBezTo>
                    <a:cubicBezTo>
                      <a:pt x="72" y="178"/>
                      <a:pt x="71" y="181"/>
                      <a:pt x="70" y="185"/>
                    </a:cubicBezTo>
                    <a:cubicBezTo>
                      <a:pt x="71" y="182"/>
                      <a:pt x="69" y="178"/>
                      <a:pt x="71" y="175"/>
                    </a:cubicBezTo>
                    <a:cubicBezTo>
                      <a:pt x="72" y="174"/>
                      <a:pt x="73" y="174"/>
                      <a:pt x="74" y="173"/>
                    </a:cubicBezTo>
                    <a:cubicBezTo>
                      <a:pt x="74" y="172"/>
                      <a:pt x="74" y="171"/>
                      <a:pt x="74" y="170"/>
                    </a:cubicBezTo>
                    <a:cubicBezTo>
                      <a:pt x="74" y="166"/>
                      <a:pt x="74" y="162"/>
                      <a:pt x="71" y="160"/>
                    </a:cubicBezTo>
                    <a:cubicBezTo>
                      <a:pt x="69" y="158"/>
                      <a:pt x="65" y="158"/>
                      <a:pt x="62" y="156"/>
                    </a:cubicBezTo>
                    <a:cubicBezTo>
                      <a:pt x="65" y="158"/>
                      <a:pt x="69" y="156"/>
                      <a:pt x="73" y="156"/>
                    </a:cubicBezTo>
                    <a:cubicBezTo>
                      <a:pt x="77" y="156"/>
                      <a:pt x="80" y="155"/>
                      <a:pt x="82" y="152"/>
                    </a:cubicBezTo>
                    <a:cubicBezTo>
                      <a:pt x="83" y="151"/>
                      <a:pt x="82" y="149"/>
                      <a:pt x="83" y="147"/>
                    </a:cubicBezTo>
                    <a:cubicBezTo>
                      <a:pt x="84" y="146"/>
                      <a:pt x="88" y="144"/>
                      <a:pt x="89" y="142"/>
                    </a:cubicBezTo>
                    <a:cubicBezTo>
                      <a:pt x="92" y="140"/>
                      <a:pt x="94" y="138"/>
                      <a:pt x="97" y="136"/>
                    </a:cubicBezTo>
                    <a:cubicBezTo>
                      <a:pt x="101" y="132"/>
                      <a:pt x="102" y="125"/>
                      <a:pt x="105" y="120"/>
                    </a:cubicBezTo>
                    <a:cubicBezTo>
                      <a:pt x="108" y="116"/>
                      <a:pt x="112" y="113"/>
                      <a:pt x="107" y="110"/>
                    </a:cubicBezTo>
                    <a:cubicBezTo>
                      <a:pt x="100" y="106"/>
                      <a:pt x="88" y="109"/>
                      <a:pt x="80" y="111"/>
                    </a:cubicBezTo>
                    <a:cubicBezTo>
                      <a:pt x="77" y="111"/>
                      <a:pt x="75" y="113"/>
                      <a:pt x="73" y="113"/>
                    </a:cubicBezTo>
                    <a:cubicBezTo>
                      <a:pt x="70" y="114"/>
                      <a:pt x="68" y="113"/>
                      <a:pt x="65" y="114"/>
                    </a:cubicBezTo>
                    <a:cubicBezTo>
                      <a:pt x="61" y="115"/>
                      <a:pt x="59" y="117"/>
                      <a:pt x="55" y="119"/>
                    </a:cubicBezTo>
                    <a:cubicBezTo>
                      <a:pt x="52" y="120"/>
                      <a:pt x="45" y="119"/>
                      <a:pt x="43" y="121"/>
                    </a:cubicBezTo>
                    <a:cubicBezTo>
                      <a:pt x="43" y="122"/>
                      <a:pt x="43" y="126"/>
                      <a:pt x="42" y="128"/>
                    </a:cubicBezTo>
                    <a:cubicBezTo>
                      <a:pt x="42" y="130"/>
                      <a:pt x="41" y="131"/>
                      <a:pt x="40" y="133"/>
                    </a:cubicBezTo>
                    <a:cubicBezTo>
                      <a:pt x="39" y="134"/>
                      <a:pt x="37" y="136"/>
                      <a:pt x="36" y="137"/>
                    </a:cubicBezTo>
                    <a:cubicBezTo>
                      <a:pt x="34" y="142"/>
                      <a:pt x="39" y="145"/>
                      <a:pt x="38" y="149"/>
                    </a:cubicBezTo>
                    <a:cubicBezTo>
                      <a:pt x="36" y="153"/>
                      <a:pt x="34" y="154"/>
                      <a:pt x="33" y="159"/>
                    </a:cubicBezTo>
                    <a:cubicBezTo>
                      <a:pt x="31" y="164"/>
                      <a:pt x="29" y="167"/>
                      <a:pt x="31" y="171"/>
                    </a:cubicBezTo>
                    <a:cubicBezTo>
                      <a:pt x="28" y="169"/>
                      <a:pt x="29" y="168"/>
                      <a:pt x="28" y="164"/>
                    </a:cubicBezTo>
                    <a:cubicBezTo>
                      <a:pt x="28" y="159"/>
                      <a:pt x="31" y="157"/>
                      <a:pt x="32" y="153"/>
                    </a:cubicBezTo>
                    <a:cubicBezTo>
                      <a:pt x="34" y="147"/>
                      <a:pt x="30" y="142"/>
                      <a:pt x="34" y="136"/>
                    </a:cubicBezTo>
                    <a:cubicBezTo>
                      <a:pt x="26" y="134"/>
                      <a:pt x="28" y="143"/>
                      <a:pt x="24" y="146"/>
                    </a:cubicBezTo>
                    <a:cubicBezTo>
                      <a:pt x="19" y="150"/>
                      <a:pt x="16" y="152"/>
                      <a:pt x="15" y="159"/>
                    </a:cubicBezTo>
                    <a:cubicBezTo>
                      <a:pt x="11" y="159"/>
                      <a:pt x="8" y="156"/>
                      <a:pt x="7" y="153"/>
                    </a:cubicBezTo>
                    <a:cubicBezTo>
                      <a:pt x="15" y="153"/>
                      <a:pt x="15" y="150"/>
                      <a:pt x="17" y="145"/>
                    </a:cubicBezTo>
                    <a:cubicBezTo>
                      <a:pt x="19" y="139"/>
                      <a:pt x="28" y="134"/>
                      <a:pt x="19" y="129"/>
                    </a:cubicBezTo>
                    <a:cubicBezTo>
                      <a:pt x="17" y="128"/>
                      <a:pt x="5" y="129"/>
                      <a:pt x="3" y="126"/>
                    </a:cubicBezTo>
                    <a:cubicBezTo>
                      <a:pt x="2" y="126"/>
                      <a:pt x="2" y="125"/>
                      <a:pt x="3" y="125"/>
                    </a:cubicBezTo>
                    <a:cubicBezTo>
                      <a:pt x="7" y="124"/>
                      <a:pt x="14" y="124"/>
                      <a:pt x="18" y="124"/>
                    </a:cubicBezTo>
                    <a:cubicBezTo>
                      <a:pt x="23" y="125"/>
                      <a:pt x="31" y="122"/>
                      <a:pt x="34" y="120"/>
                    </a:cubicBezTo>
                    <a:cubicBezTo>
                      <a:pt x="36" y="118"/>
                      <a:pt x="36" y="117"/>
                      <a:pt x="38" y="115"/>
                    </a:cubicBezTo>
                    <a:cubicBezTo>
                      <a:pt x="41" y="112"/>
                      <a:pt x="44" y="110"/>
                      <a:pt x="48" y="108"/>
                    </a:cubicBezTo>
                    <a:cubicBezTo>
                      <a:pt x="56" y="104"/>
                      <a:pt x="68" y="100"/>
                      <a:pt x="77" y="100"/>
                    </a:cubicBezTo>
                    <a:cubicBezTo>
                      <a:pt x="78" y="91"/>
                      <a:pt x="64" y="95"/>
                      <a:pt x="59" y="95"/>
                    </a:cubicBezTo>
                    <a:cubicBezTo>
                      <a:pt x="56" y="96"/>
                      <a:pt x="54" y="97"/>
                      <a:pt x="51" y="97"/>
                    </a:cubicBezTo>
                    <a:cubicBezTo>
                      <a:pt x="45" y="96"/>
                      <a:pt x="39" y="96"/>
                      <a:pt x="33" y="96"/>
                    </a:cubicBezTo>
                    <a:cubicBezTo>
                      <a:pt x="28" y="96"/>
                      <a:pt x="27" y="96"/>
                      <a:pt x="22" y="96"/>
                    </a:cubicBezTo>
                    <a:cubicBezTo>
                      <a:pt x="17" y="97"/>
                      <a:pt x="12" y="95"/>
                      <a:pt x="8" y="95"/>
                    </a:cubicBezTo>
                    <a:cubicBezTo>
                      <a:pt x="1" y="95"/>
                      <a:pt x="1" y="94"/>
                      <a:pt x="0" y="88"/>
                    </a:cubicBezTo>
                    <a:cubicBezTo>
                      <a:pt x="2" y="94"/>
                      <a:pt x="12" y="91"/>
                      <a:pt x="17" y="91"/>
                    </a:cubicBezTo>
                    <a:cubicBezTo>
                      <a:pt x="22" y="91"/>
                      <a:pt x="28" y="93"/>
                      <a:pt x="28" y="86"/>
                    </a:cubicBezTo>
                    <a:cubicBezTo>
                      <a:pt x="28" y="85"/>
                      <a:pt x="26" y="79"/>
                      <a:pt x="30" y="78"/>
                    </a:cubicBezTo>
                    <a:cubicBezTo>
                      <a:pt x="28" y="83"/>
                      <a:pt x="34" y="87"/>
                      <a:pt x="38" y="90"/>
                    </a:cubicBezTo>
                    <a:cubicBezTo>
                      <a:pt x="43" y="93"/>
                      <a:pt x="45" y="92"/>
                      <a:pt x="50" y="91"/>
                    </a:cubicBezTo>
                    <a:cubicBezTo>
                      <a:pt x="57" y="90"/>
                      <a:pt x="60" y="90"/>
                      <a:pt x="67" y="90"/>
                    </a:cubicBezTo>
                    <a:cubicBezTo>
                      <a:pt x="73" y="88"/>
                      <a:pt x="64" y="83"/>
                      <a:pt x="58" y="79"/>
                    </a:cubicBezTo>
                    <a:cubicBezTo>
                      <a:pt x="54" y="76"/>
                      <a:pt x="53" y="71"/>
                      <a:pt x="50" y="67"/>
                    </a:cubicBezTo>
                    <a:cubicBezTo>
                      <a:pt x="44" y="61"/>
                      <a:pt x="35" y="64"/>
                      <a:pt x="29" y="60"/>
                    </a:cubicBezTo>
                    <a:cubicBezTo>
                      <a:pt x="26" y="58"/>
                      <a:pt x="24" y="51"/>
                      <a:pt x="30" y="52"/>
                    </a:cubicBezTo>
                    <a:cubicBezTo>
                      <a:pt x="31" y="56"/>
                      <a:pt x="32" y="57"/>
                      <a:pt x="36" y="58"/>
                    </a:cubicBezTo>
                    <a:cubicBezTo>
                      <a:pt x="38" y="59"/>
                      <a:pt x="39" y="58"/>
                      <a:pt x="41" y="57"/>
                    </a:cubicBezTo>
                    <a:cubicBezTo>
                      <a:pt x="43" y="55"/>
                      <a:pt x="46" y="51"/>
                      <a:pt x="48" y="48"/>
                    </a:cubicBezTo>
                    <a:cubicBezTo>
                      <a:pt x="49" y="47"/>
                      <a:pt x="48" y="44"/>
                      <a:pt x="51" y="44"/>
                    </a:cubicBezTo>
                    <a:cubicBezTo>
                      <a:pt x="55" y="45"/>
                      <a:pt x="54" y="50"/>
                      <a:pt x="52" y="52"/>
                    </a:cubicBezTo>
                    <a:cubicBezTo>
                      <a:pt x="49" y="55"/>
                      <a:pt x="48" y="54"/>
                      <a:pt x="49" y="59"/>
                    </a:cubicBezTo>
                    <a:cubicBezTo>
                      <a:pt x="50" y="62"/>
                      <a:pt x="52" y="63"/>
                      <a:pt x="54" y="65"/>
                    </a:cubicBezTo>
                    <a:cubicBezTo>
                      <a:pt x="55" y="65"/>
                      <a:pt x="55" y="67"/>
                      <a:pt x="57" y="67"/>
                    </a:cubicBezTo>
                    <a:cubicBezTo>
                      <a:pt x="58" y="68"/>
                      <a:pt x="62" y="65"/>
                      <a:pt x="64" y="65"/>
                    </a:cubicBezTo>
                    <a:cubicBezTo>
                      <a:pt x="69" y="64"/>
                      <a:pt x="67" y="65"/>
                      <a:pt x="66" y="69"/>
                    </a:cubicBezTo>
                    <a:cubicBezTo>
                      <a:pt x="65" y="74"/>
                      <a:pt x="69" y="78"/>
                      <a:pt x="73" y="81"/>
                    </a:cubicBezTo>
                    <a:cubicBezTo>
                      <a:pt x="78" y="86"/>
                      <a:pt x="85" y="86"/>
                      <a:pt x="90" y="91"/>
                    </a:cubicBezTo>
                    <a:cubicBezTo>
                      <a:pt x="93" y="93"/>
                      <a:pt x="94" y="97"/>
                      <a:pt x="99" y="95"/>
                    </a:cubicBezTo>
                    <a:cubicBezTo>
                      <a:pt x="106" y="92"/>
                      <a:pt x="97" y="87"/>
                      <a:pt x="95" y="83"/>
                    </a:cubicBezTo>
                    <a:cubicBezTo>
                      <a:pt x="93" y="77"/>
                      <a:pt x="96" y="70"/>
                      <a:pt x="93" y="64"/>
                    </a:cubicBezTo>
                    <a:cubicBezTo>
                      <a:pt x="91" y="59"/>
                      <a:pt x="88" y="55"/>
                      <a:pt x="84" y="50"/>
                    </a:cubicBezTo>
                    <a:cubicBezTo>
                      <a:pt x="83" y="49"/>
                      <a:pt x="79" y="46"/>
                      <a:pt x="79" y="44"/>
                    </a:cubicBezTo>
                    <a:cubicBezTo>
                      <a:pt x="82" y="44"/>
                      <a:pt x="85" y="45"/>
                      <a:pt x="87" y="48"/>
                    </a:cubicBezTo>
                    <a:cubicBezTo>
                      <a:pt x="88" y="49"/>
                      <a:pt x="91" y="54"/>
                      <a:pt x="93" y="56"/>
                    </a:cubicBezTo>
                    <a:cubicBezTo>
                      <a:pt x="94" y="44"/>
                      <a:pt x="88" y="35"/>
                      <a:pt x="94" y="23"/>
                    </a:cubicBezTo>
                    <a:cubicBezTo>
                      <a:pt x="97" y="18"/>
                      <a:pt x="96" y="17"/>
                      <a:pt x="97" y="11"/>
                    </a:cubicBezTo>
                    <a:cubicBezTo>
                      <a:pt x="98" y="7"/>
                      <a:pt x="94" y="3"/>
                      <a:pt x="94" y="0"/>
                    </a:cubicBezTo>
                    <a:cubicBezTo>
                      <a:pt x="103" y="0"/>
                      <a:pt x="102" y="17"/>
                      <a:pt x="101" y="22"/>
                    </a:cubicBezTo>
                    <a:cubicBezTo>
                      <a:pt x="100" y="25"/>
                      <a:pt x="98" y="28"/>
                      <a:pt x="99" y="31"/>
                    </a:cubicBezTo>
                    <a:cubicBezTo>
                      <a:pt x="101" y="35"/>
                      <a:pt x="101" y="33"/>
                      <a:pt x="104" y="32"/>
                    </a:cubicBezTo>
                    <a:cubicBezTo>
                      <a:pt x="106" y="32"/>
                      <a:pt x="114" y="21"/>
                      <a:pt x="116" y="23"/>
                    </a:cubicBezTo>
                    <a:cubicBezTo>
                      <a:pt x="118" y="26"/>
                      <a:pt x="112" y="32"/>
                      <a:pt x="110" y="33"/>
                    </a:cubicBezTo>
                    <a:cubicBezTo>
                      <a:pt x="107" y="34"/>
                      <a:pt x="101" y="44"/>
                      <a:pt x="101" y="48"/>
                    </a:cubicBezTo>
                    <a:cubicBezTo>
                      <a:pt x="102" y="54"/>
                      <a:pt x="101" y="56"/>
                      <a:pt x="107" y="62"/>
                    </a:cubicBezTo>
                    <a:cubicBezTo>
                      <a:pt x="110" y="65"/>
                      <a:pt x="122" y="65"/>
                      <a:pt x="127" y="65"/>
                    </a:cubicBezTo>
                    <a:cubicBezTo>
                      <a:pt x="132" y="65"/>
                      <a:pt x="130" y="65"/>
                      <a:pt x="132" y="62"/>
                    </a:cubicBezTo>
                    <a:cubicBezTo>
                      <a:pt x="134" y="60"/>
                      <a:pt x="136" y="59"/>
                      <a:pt x="138" y="57"/>
                    </a:cubicBezTo>
                    <a:cubicBezTo>
                      <a:pt x="145" y="53"/>
                      <a:pt x="145" y="44"/>
                      <a:pt x="146" y="37"/>
                    </a:cubicBezTo>
                    <a:cubicBezTo>
                      <a:pt x="146" y="35"/>
                      <a:pt x="146" y="32"/>
                      <a:pt x="147" y="30"/>
                    </a:cubicBezTo>
                    <a:cubicBezTo>
                      <a:pt x="147" y="28"/>
                      <a:pt x="149" y="26"/>
                      <a:pt x="150" y="24"/>
                    </a:cubicBezTo>
                    <a:cubicBezTo>
                      <a:pt x="152" y="28"/>
                      <a:pt x="151" y="27"/>
                      <a:pt x="150" y="31"/>
                    </a:cubicBezTo>
                    <a:cubicBezTo>
                      <a:pt x="149" y="34"/>
                      <a:pt x="152" y="40"/>
                      <a:pt x="151" y="43"/>
                    </a:cubicBezTo>
                    <a:cubicBezTo>
                      <a:pt x="154" y="44"/>
                      <a:pt x="155" y="44"/>
                      <a:pt x="158" y="44"/>
                    </a:cubicBezTo>
                    <a:cubicBezTo>
                      <a:pt x="160" y="44"/>
                      <a:pt x="164" y="42"/>
                      <a:pt x="166" y="43"/>
                    </a:cubicBezTo>
                    <a:cubicBezTo>
                      <a:pt x="175" y="45"/>
                      <a:pt x="162" y="48"/>
                      <a:pt x="158" y="48"/>
                    </a:cubicBezTo>
                    <a:cubicBezTo>
                      <a:pt x="155" y="49"/>
                      <a:pt x="148" y="50"/>
                      <a:pt x="152" y="55"/>
                    </a:cubicBezTo>
                    <a:cubicBezTo>
                      <a:pt x="154" y="59"/>
                      <a:pt x="159" y="58"/>
                      <a:pt x="162" y="62"/>
                    </a:cubicBezTo>
                    <a:cubicBezTo>
                      <a:pt x="159" y="61"/>
                      <a:pt x="144" y="54"/>
                      <a:pt x="142" y="62"/>
                    </a:cubicBezTo>
                    <a:cubicBezTo>
                      <a:pt x="141" y="66"/>
                      <a:pt x="154" y="70"/>
                      <a:pt x="153" y="74"/>
                    </a:cubicBezTo>
                    <a:cubicBezTo>
                      <a:pt x="152" y="79"/>
                      <a:pt x="142" y="70"/>
                      <a:pt x="140" y="69"/>
                    </a:cubicBezTo>
                    <a:cubicBezTo>
                      <a:pt x="137" y="66"/>
                      <a:pt x="137" y="66"/>
                      <a:pt x="133" y="69"/>
                    </a:cubicBezTo>
                    <a:cubicBezTo>
                      <a:pt x="131" y="70"/>
                      <a:pt x="128" y="70"/>
                      <a:pt x="126" y="71"/>
                    </a:cubicBezTo>
                    <a:cubicBezTo>
                      <a:pt x="125" y="71"/>
                      <a:pt x="124" y="71"/>
                      <a:pt x="122" y="71"/>
                    </a:cubicBezTo>
                    <a:cubicBezTo>
                      <a:pt x="117" y="70"/>
                      <a:pt x="116" y="71"/>
                      <a:pt x="115" y="76"/>
                    </a:cubicBezTo>
                    <a:cubicBezTo>
                      <a:pt x="112" y="85"/>
                      <a:pt x="119" y="86"/>
                      <a:pt x="127" y="88"/>
                    </a:cubicBezTo>
                    <a:cubicBezTo>
                      <a:pt x="137" y="91"/>
                      <a:pt x="145" y="95"/>
                      <a:pt x="155" y="92"/>
                    </a:cubicBezTo>
                    <a:cubicBezTo>
                      <a:pt x="162" y="91"/>
                      <a:pt x="166" y="90"/>
                      <a:pt x="169" y="88"/>
                    </a:cubicBezTo>
                  </a:path>
                </a:pathLst>
              </a:custGeom>
              <a:noFill/>
              <a:ln cap="rnd" w="1440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9" name="Freeform 30"/>
              <p:cNvSpPr/>
              <p:nvPr/>
            </p:nvSpPr>
            <p:spPr>
              <a:xfrm flipH="1">
                <a:off x="6523920" y="1802520"/>
                <a:ext cx="766800" cy="884880"/>
              </a:xfrm>
              <a:custGeom>
                <a:avLst/>
                <a:gdLst>
                  <a:gd name="GluePoint1X" fmla="*/ 1304146655 w 236"/>
                  <a:gd name="GluePoint1Y" fmla="*/ 2147483647 h 261"/>
                  <a:gd name="GluePoint2X" fmla="*/ 2147483647 w 236"/>
                  <a:gd name="GluePoint2Y" fmla="*/ 2147483647 h 261"/>
                  <a:gd name="GluePoint3X" fmla="*/ 2147483647 w 236"/>
                  <a:gd name="GluePoint3Y" fmla="*/ 2147483647 h 261"/>
                  <a:gd name="GluePoint4X" fmla="*/ 2147483647 w 236"/>
                  <a:gd name="GluePoint4Y" fmla="*/ 2147483647 h 261"/>
                  <a:gd name="GluePoint5X" fmla="*/ 2147483647 w 236"/>
                  <a:gd name="GluePoint5Y" fmla="*/ 2147483647 h 261"/>
                  <a:gd name="GluePoint6X" fmla="*/ 2147483647 w 236"/>
                  <a:gd name="GluePoint6Y" fmla="*/ 2147483647 h 261"/>
                  <a:gd name="GluePoint7X" fmla="*/ 2147483647 w 236"/>
                  <a:gd name="GluePoint7Y" fmla="*/ 2147483647 h 261"/>
                  <a:gd name="GluePoint8X" fmla="*/ 2147483647 w 236"/>
                  <a:gd name="GluePoint8Y" fmla="*/ 2147483647 h 261"/>
                  <a:gd name="GluePoint9X" fmla="*/ 2147483647 w 236"/>
                  <a:gd name="GluePoint9Y" fmla="*/ 2147483647 h 261"/>
                  <a:gd name="GluePoint10X" fmla="*/ 2147483647 w 236"/>
                  <a:gd name="GluePoint10Y" fmla="*/ 2147483647 h 261"/>
                  <a:gd name="GluePoint11X" fmla="*/ 2147483647 w 236"/>
                  <a:gd name="GluePoint11Y" fmla="*/ 2147483647 h 261"/>
                  <a:gd name="GluePoint12X" fmla="*/ 2147483647 w 236"/>
                  <a:gd name="GluePoint12Y" fmla="*/ 2147483647 h 261"/>
                  <a:gd name="GluePoint13X" fmla="*/ 2147483647 w 236"/>
                  <a:gd name="GluePoint13Y" fmla="*/ 2147483647 h 261"/>
                  <a:gd name="GluePoint14X" fmla="*/ 2147483647 w 236"/>
                  <a:gd name="GluePoint14Y" fmla="*/ 2147483647 h 261"/>
                  <a:gd name="GluePoint15X" fmla="*/ 2147483647 w 236"/>
                  <a:gd name="GluePoint15Y" fmla="*/ 2147483647 h 261"/>
                  <a:gd name="GluePoint16X" fmla="*/ 2147483647 w 236"/>
                  <a:gd name="GluePoint16Y" fmla="*/ 2147483647 h 261"/>
                  <a:gd name="GluePoint17X" fmla="*/ 2147483647 w 236"/>
                  <a:gd name="GluePoint17Y" fmla="*/ 2147483647 h 261"/>
                  <a:gd name="GluePoint18X" fmla="*/ 2147483647 w 236"/>
                  <a:gd name="GluePoint18Y" fmla="*/ 2147483647 h 261"/>
                  <a:gd name="GluePoint19X" fmla="*/ 2147483647 w 236"/>
                  <a:gd name="GluePoint19Y" fmla="*/ 2147483647 h 261"/>
                  <a:gd name="GluePoint20X" fmla="*/ 2147483647 w 236"/>
                  <a:gd name="GluePoint20Y" fmla="*/ 2147483647 h 261"/>
                  <a:gd name="GluePoint21X" fmla="*/ 2147483647 w 236"/>
                  <a:gd name="GluePoint21Y" fmla="*/ 2147483647 h 261"/>
                  <a:gd name="GluePoint22X" fmla="*/ 2147483647 w 236"/>
                  <a:gd name="GluePoint22Y" fmla="*/ 2147483647 h 261"/>
                  <a:gd name="GluePoint23X" fmla="*/ 2147483647 w 236"/>
                  <a:gd name="GluePoint23Y" fmla="*/ 2147483647 h 261"/>
                  <a:gd name="GluePoint24X" fmla="*/ 2147483647 w 236"/>
                  <a:gd name="GluePoint24Y" fmla="*/ 2147483647 h 261"/>
                  <a:gd name="GluePoint25X" fmla="*/ 2147483647 w 236"/>
                  <a:gd name="GluePoint25Y" fmla="*/ 2147483647 h 261"/>
                  <a:gd name="GluePoint26X" fmla="*/ 2147483647 w 236"/>
                  <a:gd name="GluePoint26Y" fmla="*/ 2147483647 h 261"/>
                  <a:gd name="GluePoint27X" fmla="*/ 2147483647 w 236"/>
                  <a:gd name="GluePoint27Y" fmla="*/ 2147483647 h 261"/>
                  <a:gd name="GluePoint28X" fmla="*/ 2147483647 w 236"/>
                  <a:gd name="GluePoint28Y" fmla="*/ 2147483647 h 261"/>
                  <a:gd name="GluePoint29X" fmla="*/ 2147483647 w 236"/>
                  <a:gd name="GluePoint29Y" fmla="*/ 2147483647 h 261"/>
                  <a:gd name="GluePoint30X" fmla="*/ 2147483647 w 236"/>
                  <a:gd name="GluePoint30Y" fmla="*/ 2147483647 h 261"/>
                  <a:gd name="GluePoint31X" fmla="*/ 2147483647 w 236"/>
                  <a:gd name="GluePoint31Y" fmla="*/ 2147483647 h 261"/>
                  <a:gd name="GluePoint32X" fmla="*/ 2147483647 w 236"/>
                  <a:gd name="GluePoint32Y" fmla="*/ 2147483647 h 261"/>
                  <a:gd name="GluePoint33X" fmla="*/ 2147483647 w 236"/>
                  <a:gd name="GluePoint33Y" fmla="*/ 2147483647 h 261"/>
                  <a:gd name="GluePoint34X" fmla="*/ 2147483647 w 236"/>
                  <a:gd name="GluePoint34Y" fmla="*/ 2147483647 h 261"/>
                  <a:gd name="GluePoint35X" fmla="*/ 2147483647 w 236"/>
                  <a:gd name="GluePoint35Y" fmla="*/ 2147483647 h 261"/>
                  <a:gd name="GluePoint36X" fmla="*/ 2147483647 w 236"/>
                  <a:gd name="GluePoint36Y" fmla="*/ 2147483647 h 261"/>
                  <a:gd name="GluePoint37X" fmla="*/ 2147483647 w 236"/>
                  <a:gd name="GluePoint37Y" fmla="*/ 2147483647 h 261"/>
                  <a:gd name="GluePoint38X" fmla="*/ 2147483647 w 236"/>
                  <a:gd name="GluePoint38Y" fmla="*/ 2147483647 h 261"/>
                  <a:gd name="GluePoint39X" fmla="*/ 2147483647 w 236"/>
                  <a:gd name="GluePoint39Y" fmla="*/ 2147483647 h 261"/>
                  <a:gd name="GluePoint40X" fmla="*/ 2147483647 w 236"/>
                  <a:gd name="GluePoint40Y" fmla="*/ 2147483647 h 261"/>
                  <a:gd name="GluePoint41X" fmla="*/ 2147483647 w 236"/>
                  <a:gd name="GluePoint41Y" fmla="*/ 2147483647 h 261"/>
                  <a:gd name="GluePoint42X" fmla="*/ 2147483647 w 236"/>
                  <a:gd name="GluePoint42Y" fmla="*/ 2147483647 h 261"/>
                  <a:gd name="GluePoint43X" fmla="*/ 2147483647 w 236"/>
                  <a:gd name="GluePoint43Y" fmla="*/ 2147483647 h 261"/>
                  <a:gd name="GluePoint44X" fmla="*/ 2147483647 w 236"/>
                  <a:gd name="GluePoint44Y" fmla="*/ 2147483647 h 261"/>
                  <a:gd name="GluePoint45X" fmla="*/ 2147483647 w 236"/>
                  <a:gd name="GluePoint45Y" fmla="*/ 2147483647 h 261"/>
                  <a:gd name="GluePoint46X" fmla="*/ 2147483647 w 236"/>
                  <a:gd name="GluePoint46Y" fmla="*/ 2147483647 h 261"/>
                  <a:gd name="GluePoint47X" fmla="*/ 2147483647 w 236"/>
                  <a:gd name="GluePoint47Y" fmla="*/ 2147483647 h 261"/>
                  <a:gd name="GluePoint48X" fmla="*/ 2147483647 w 236"/>
                  <a:gd name="GluePoint48Y" fmla="*/ 2147483647 h 261"/>
                  <a:gd name="GluePoint49X" fmla="*/ 2147483647 w 236"/>
                  <a:gd name="GluePoint49Y" fmla="*/ 2147483647 h 261"/>
                  <a:gd name="GluePoint50X" fmla="*/ 2147483647 w 236"/>
                  <a:gd name="GluePoint50Y" fmla="*/ 2147483647 h 261"/>
                  <a:gd name="GluePoint51X" fmla="*/ 2147483647 w 236"/>
                  <a:gd name="GluePoint51Y" fmla="*/ 2147483647 h 261"/>
                  <a:gd name="GluePoint52X" fmla="*/ 2147483647 w 236"/>
                  <a:gd name="GluePoint52Y" fmla="*/ 2147483647 h 261"/>
                  <a:gd name="GluePoint53X" fmla="*/ 2147483647 w 236"/>
                  <a:gd name="GluePoint53Y" fmla="*/ 2147483647 h 261"/>
                  <a:gd name="GluePoint54X" fmla="*/ 2147483647 w 236"/>
                  <a:gd name="GluePoint54Y" fmla="*/ 2147483647 h 261"/>
                  <a:gd name="GluePoint55X" fmla="*/ 2147483647 w 236"/>
                  <a:gd name="GluePoint55Y" fmla="*/ 2147483647 h 2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Lst>
                <a:rect l="l" t="t" r="r" b="b"/>
                <a:pathLst>
                  <a:path w="236" h="261">
                    <a:moveTo>
                      <a:pt x="2" y="149"/>
                    </a:moveTo>
                    <a:cubicBezTo>
                      <a:pt x="4" y="144"/>
                      <a:pt x="9" y="144"/>
                      <a:pt x="15" y="143"/>
                    </a:cubicBezTo>
                    <a:cubicBezTo>
                      <a:pt x="12" y="143"/>
                      <a:pt x="8" y="143"/>
                      <a:pt x="5" y="142"/>
                    </a:cubicBezTo>
                    <a:cubicBezTo>
                      <a:pt x="6" y="136"/>
                      <a:pt x="3" y="131"/>
                      <a:pt x="5" y="125"/>
                    </a:cubicBezTo>
                    <a:cubicBezTo>
                      <a:pt x="6" y="123"/>
                      <a:pt x="9" y="123"/>
                      <a:pt x="10" y="121"/>
                    </a:cubicBezTo>
                    <a:cubicBezTo>
                      <a:pt x="11" y="119"/>
                      <a:pt x="10" y="117"/>
                      <a:pt x="11" y="114"/>
                    </a:cubicBezTo>
                    <a:cubicBezTo>
                      <a:pt x="12" y="110"/>
                      <a:pt x="14" y="109"/>
                      <a:pt x="16" y="105"/>
                    </a:cubicBezTo>
                    <a:cubicBezTo>
                      <a:pt x="20" y="100"/>
                      <a:pt x="21" y="93"/>
                      <a:pt x="27" y="89"/>
                    </a:cubicBezTo>
                    <a:cubicBezTo>
                      <a:pt x="37" y="83"/>
                      <a:pt x="52" y="90"/>
                      <a:pt x="62" y="91"/>
                    </a:cubicBezTo>
                    <a:cubicBezTo>
                      <a:pt x="57" y="89"/>
                      <a:pt x="53" y="86"/>
                      <a:pt x="47" y="86"/>
                    </a:cubicBezTo>
                    <a:cubicBezTo>
                      <a:pt x="44" y="85"/>
                      <a:pt x="42" y="87"/>
                      <a:pt x="39" y="85"/>
                    </a:cubicBezTo>
                    <a:cubicBezTo>
                      <a:pt x="35" y="82"/>
                      <a:pt x="37" y="78"/>
                      <a:pt x="38" y="74"/>
                    </a:cubicBezTo>
                    <a:cubicBezTo>
                      <a:pt x="40" y="68"/>
                      <a:pt x="43" y="70"/>
                      <a:pt x="47" y="64"/>
                    </a:cubicBezTo>
                    <a:cubicBezTo>
                      <a:pt x="52" y="58"/>
                      <a:pt x="50" y="52"/>
                      <a:pt x="60" y="53"/>
                    </a:cubicBezTo>
                    <a:cubicBezTo>
                      <a:pt x="60" y="51"/>
                      <a:pt x="60" y="49"/>
                      <a:pt x="58" y="47"/>
                    </a:cubicBezTo>
                    <a:cubicBezTo>
                      <a:pt x="68" y="41"/>
                      <a:pt x="71" y="31"/>
                      <a:pt x="84" y="34"/>
                    </a:cubicBezTo>
                    <a:cubicBezTo>
                      <a:pt x="91" y="36"/>
                      <a:pt x="97" y="45"/>
                      <a:pt x="102" y="51"/>
                    </a:cubicBezTo>
                    <a:cubicBezTo>
                      <a:pt x="99" y="46"/>
                      <a:pt x="97" y="40"/>
                      <a:pt x="93" y="36"/>
                    </a:cubicBezTo>
                    <a:cubicBezTo>
                      <a:pt x="87" y="31"/>
                      <a:pt x="85" y="32"/>
                      <a:pt x="90" y="25"/>
                    </a:cubicBezTo>
                    <a:cubicBezTo>
                      <a:pt x="91" y="23"/>
                      <a:pt x="94" y="19"/>
                      <a:pt x="96" y="18"/>
                    </a:cubicBezTo>
                    <a:cubicBezTo>
                      <a:pt x="98" y="17"/>
                      <a:pt x="100" y="20"/>
                      <a:pt x="102" y="19"/>
                    </a:cubicBezTo>
                    <a:cubicBezTo>
                      <a:pt x="105" y="18"/>
                      <a:pt x="106" y="13"/>
                      <a:pt x="109" y="12"/>
                    </a:cubicBezTo>
                    <a:cubicBezTo>
                      <a:pt x="112" y="11"/>
                      <a:pt x="116" y="13"/>
                      <a:pt x="118" y="14"/>
                    </a:cubicBezTo>
                    <a:cubicBezTo>
                      <a:pt x="120" y="7"/>
                      <a:pt x="127" y="10"/>
                      <a:pt x="130" y="14"/>
                    </a:cubicBezTo>
                    <a:cubicBezTo>
                      <a:pt x="132" y="16"/>
                      <a:pt x="134" y="20"/>
                      <a:pt x="135" y="23"/>
                    </a:cubicBezTo>
                    <a:cubicBezTo>
                      <a:pt x="135" y="22"/>
                      <a:pt x="135" y="22"/>
                      <a:pt x="136" y="21"/>
                    </a:cubicBezTo>
                    <a:cubicBezTo>
                      <a:pt x="137" y="17"/>
                      <a:pt x="138" y="16"/>
                      <a:pt x="138" y="13"/>
                    </a:cubicBezTo>
                    <a:cubicBezTo>
                      <a:pt x="138" y="13"/>
                      <a:pt x="136" y="11"/>
                      <a:pt x="137" y="10"/>
                    </a:cubicBezTo>
                    <a:cubicBezTo>
                      <a:pt x="139" y="0"/>
                      <a:pt x="150" y="7"/>
                      <a:pt x="155" y="11"/>
                    </a:cubicBezTo>
                    <a:cubicBezTo>
                      <a:pt x="157" y="6"/>
                      <a:pt x="161" y="8"/>
                      <a:pt x="164" y="10"/>
                    </a:cubicBezTo>
                    <a:cubicBezTo>
                      <a:pt x="165" y="8"/>
                      <a:pt x="167" y="7"/>
                      <a:pt x="167" y="5"/>
                    </a:cubicBezTo>
                    <a:cubicBezTo>
                      <a:pt x="176" y="3"/>
                      <a:pt x="171" y="19"/>
                      <a:pt x="181" y="10"/>
                    </a:cubicBezTo>
                    <a:cubicBezTo>
                      <a:pt x="184" y="16"/>
                      <a:pt x="182" y="22"/>
                      <a:pt x="184" y="28"/>
                    </a:cubicBezTo>
                    <a:cubicBezTo>
                      <a:pt x="185" y="33"/>
                      <a:pt x="188" y="35"/>
                      <a:pt x="187" y="41"/>
                    </a:cubicBezTo>
                    <a:cubicBezTo>
                      <a:pt x="186" y="47"/>
                      <a:pt x="182" y="52"/>
                      <a:pt x="182" y="59"/>
                    </a:cubicBezTo>
                    <a:cubicBezTo>
                      <a:pt x="182" y="62"/>
                      <a:pt x="183" y="66"/>
                      <a:pt x="183" y="70"/>
                    </a:cubicBezTo>
                    <a:cubicBezTo>
                      <a:pt x="184" y="58"/>
                      <a:pt x="187" y="47"/>
                      <a:pt x="192" y="37"/>
                    </a:cubicBezTo>
                    <a:cubicBezTo>
                      <a:pt x="193" y="35"/>
                      <a:pt x="195" y="34"/>
                      <a:pt x="195" y="32"/>
                    </a:cubicBezTo>
                    <a:cubicBezTo>
                      <a:pt x="195" y="31"/>
                      <a:pt x="194" y="29"/>
                      <a:pt x="194" y="28"/>
                    </a:cubicBezTo>
                    <a:cubicBezTo>
                      <a:pt x="195" y="24"/>
                      <a:pt x="195" y="23"/>
                      <a:pt x="200" y="22"/>
                    </a:cubicBezTo>
                    <a:cubicBezTo>
                      <a:pt x="216" y="20"/>
                      <a:pt x="211" y="39"/>
                      <a:pt x="222" y="44"/>
                    </a:cubicBezTo>
                    <a:cubicBezTo>
                      <a:pt x="224" y="45"/>
                      <a:pt x="224" y="45"/>
                      <a:pt x="224" y="45"/>
                    </a:cubicBezTo>
                    <a:cubicBezTo>
                      <a:pt x="225" y="46"/>
                      <a:pt x="227" y="47"/>
                      <a:pt x="228" y="48"/>
                    </a:cubicBezTo>
                    <a:cubicBezTo>
                      <a:pt x="229" y="50"/>
                      <a:pt x="228" y="52"/>
                      <a:pt x="229" y="54"/>
                    </a:cubicBezTo>
                    <a:cubicBezTo>
                      <a:pt x="230" y="57"/>
                      <a:pt x="230" y="56"/>
                      <a:pt x="232" y="58"/>
                    </a:cubicBezTo>
                    <a:cubicBezTo>
                      <a:pt x="233" y="60"/>
                      <a:pt x="236" y="61"/>
                      <a:pt x="236" y="65"/>
                    </a:cubicBezTo>
                    <a:cubicBezTo>
                      <a:pt x="236" y="69"/>
                      <a:pt x="233" y="70"/>
                      <a:pt x="232" y="73"/>
                    </a:cubicBezTo>
                    <a:cubicBezTo>
                      <a:pt x="231" y="74"/>
                      <a:pt x="233" y="76"/>
                      <a:pt x="232" y="78"/>
                    </a:cubicBezTo>
                    <a:cubicBezTo>
                      <a:pt x="231" y="83"/>
                      <a:pt x="228" y="100"/>
                      <a:pt x="223" y="108"/>
                    </a:cubicBezTo>
                    <a:cubicBezTo>
                      <a:pt x="220" y="110"/>
                      <a:pt x="215" y="112"/>
                      <a:pt x="208" y="113"/>
                    </a:cubicBezTo>
                    <a:cubicBezTo>
                      <a:pt x="198" y="116"/>
                      <a:pt x="190" y="112"/>
                      <a:pt x="180" y="109"/>
                    </a:cubicBezTo>
                    <a:cubicBezTo>
                      <a:pt x="172" y="107"/>
                      <a:pt x="165" y="106"/>
                      <a:pt x="168" y="97"/>
                    </a:cubicBezTo>
                    <a:cubicBezTo>
                      <a:pt x="169" y="92"/>
                      <a:pt x="170" y="91"/>
                      <a:pt x="175" y="92"/>
                    </a:cubicBezTo>
                    <a:cubicBezTo>
                      <a:pt x="177" y="92"/>
                      <a:pt x="178" y="92"/>
                      <a:pt x="179" y="92"/>
                    </a:cubicBezTo>
                    <a:cubicBezTo>
                      <a:pt x="181" y="91"/>
                      <a:pt x="184" y="91"/>
                      <a:pt x="186" y="90"/>
                    </a:cubicBezTo>
                    <a:cubicBezTo>
                      <a:pt x="190" y="87"/>
                      <a:pt x="190" y="87"/>
                      <a:pt x="193" y="90"/>
                    </a:cubicBezTo>
                    <a:cubicBezTo>
                      <a:pt x="195" y="91"/>
                      <a:pt x="205" y="100"/>
                      <a:pt x="206" y="95"/>
                    </a:cubicBezTo>
                    <a:cubicBezTo>
                      <a:pt x="207" y="91"/>
                      <a:pt x="194" y="87"/>
                      <a:pt x="195" y="83"/>
                    </a:cubicBezTo>
                    <a:cubicBezTo>
                      <a:pt x="197" y="75"/>
                      <a:pt x="212" y="82"/>
                      <a:pt x="215" y="83"/>
                    </a:cubicBezTo>
                    <a:cubicBezTo>
                      <a:pt x="212" y="79"/>
                      <a:pt x="207" y="80"/>
                      <a:pt x="205" y="76"/>
                    </a:cubicBezTo>
                    <a:cubicBezTo>
                      <a:pt x="201" y="71"/>
                      <a:pt x="208" y="70"/>
                      <a:pt x="211" y="69"/>
                    </a:cubicBezTo>
                    <a:cubicBezTo>
                      <a:pt x="215" y="69"/>
                      <a:pt x="228" y="66"/>
                      <a:pt x="219" y="64"/>
                    </a:cubicBezTo>
                    <a:cubicBezTo>
                      <a:pt x="217" y="63"/>
                      <a:pt x="213" y="65"/>
                      <a:pt x="211" y="65"/>
                    </a:cubicBezTo>
                    <a:cubicBezTo>
                      <a:pt x="208" y="65"/>
                      <a:pt x="207" y="65"/>
                      <a:pt x="204" y="64"/>
                    </a:cubicBezTo>
                    <a:cubicBezTo>
                      <a:pt x="205" y="61"/>
                      <a:pt x="202" y="55"/>
                      <a:pt x="203" y="52"/>
                    </a:cubicBezTo>
                    <a:cubicBezTo>
                      <a:pt x="204" y="48"/>
                      <a:pt x="205" y="49"/>
                      <a:pt x="203" y="45"/>
                    </a:cubicBezTo>
                    <a:cubicBezTo>
                      <a:pt x="202" y="47"/>
                      <a:pt x="200" y="49"/>
                      <a:pt x="200" y="51"/>
                    </a:cubicBezTo>
                    <a:cubicBezTo>
                      <a:pt x="199" y="53"/>
                      <a:pt x="199" y="56"/>
                      <a:pt x="199" y="58"/>
                    </a:cubicBezTo>
                    <a:cubicBezTo>
                      <a:pt x="198" y="65"/>
                      <a:pt x="198" y="74"/>
                      <a:pt x="191" y="78"/>
                    </a:cubicBezTo>
                    <a:cubicBezTo>
                      <a:pt x="189" y="80"/>
                      <a:pt x="187" y="81"/>
                      <a:pt x="185" y="83"/>
                    </a:cubicBezTo>
                    <a:cubicBezTo>
                      <a:pt x="183" y="86"/>
                      <a:pt x="185" y="86"/>
                      <a:pt x="180" y="86"/>
                    </a:cubicBezTo>
                    <a:cubicBezTo>
                      <a:pt x="175" y="86"/>
                      <a:pt x="163" y="86"/>
                      <a:pt x="160" y="83"/>
                    </a:cubicBezTo>
                    <a:cubicBezTo>
                      <a:pt x="154" y="77"/>
                      <a:pt x="155" y="75"/>
                      <a:pt x="154" y="69"/>
                    </a:cubicBezTo>
                    <a:cubicBezTo>
                      <a:pt x="154" y="65"/>
                      <a:pt x="160" y="55"/>
                      <a:pt x="163" y="54"/>
                    </a:cubicBezTo>
                    <a:cubicBezTo>
                      <a:pt x="165" y="53"/>
                      <a:pt x="171" y="47"/>
                      <a:pt x="169" y="44"/>
                    </a:cubicBezTo>
                    <a:cubicBezTo>
                      <a:pt x="167" y="42"/>
                      <a:pt x="159" y="53"/>
                      <a:pt x="157" y="53"/>
                    </a:cubicBezTo>
                    <a:cubicBezTo>
                      <a:pt x="154" y="54"/>
                      <a:pt x="154" y="56"/>
                      <a:pt x="152" y="52"/>
                    </a:cubicBezTo>
                    <a:cubicBezTo>
                      <a:pt x="151" y="49"/>
                      <a:pt x="153" y="46"/>
                      <a:pt x="154" y="43"/>
                    </a:cubicBezTo>
                    <a:cubicBezTo>
                      <a:pt x="155" y="38"/>
                      <a:pt x="156" y="21"/>
                      <a:pt x="147" y="21"/>
                    </a:cubicBezTo>
                    <a:cubicBezTo>
                      <a:pt x="147" y="24"/>
                      <a:pt x="151" y="28"/>
                      <a:pt x="150" y="32"/>
                    </a:cubicBezTo>
                    <a:cubicBezTo>
                      <a:pt x="149" y="38"/>
                      <a:pt x="150" y="39"/>
                      <a:pt x="147" y="44"/>
                    </a:cubicBezTo>
                    <a:cubicBezTo>
                      <a:pt x="141" y="56"/>
                      <a:pt x="147" y="65"/>
                      <a:pt x="146" y="77"/>
                    </a:cubicBezTo>
                    <a:cubicBezTo>
                      <a:pt x="144" y="75"/>
                      <a:pt x="141" y="70"/>
                      <a:pt x="140" y="69"/>
                    </a:cubicBezTo>
                    <a:cubicBezTo>
                      <a:pt x="138" y="66"/>
                      <a:pt x="135" y="65"/>
                      <a:pt x="132" y="65"/>
                    </a:cubicBezTo>
                    <a:cubicBezTo>
                      <a:pt x="132" y="67"/>
                      <a:pt x="136" y="70"/>
                      <a:pt x="137" y="71"/>
                    </a:cubicBezTo>
                    <a:cubicBezTo>
                      <a:pt x="141" y="76"/>
                      <a:pt x="144" y="80"/>
                      <a:pt x="146" y="85"/>
                    </a:cubicBezTo>
                    <a:cubicBezTo>
                      <a:pt x="149" y="91"/>
                      <a:pt x="146" y="98"/>
                      <a:pt x="148" y="104"/>
                    </a:cubicBezTo>
                    <a:cubicBezTo>
                      <a:pt x="150" y="108"/>
                      <a:pt x="159" y="113"/>
                      <a:pt x="152" y="116"/>
                    </a:cubicBezTo>
                    <a:cubicBezTo>
                      <a:pt x="147" y="118"/>
                      <a:pt x="146" y="114"/>
                      <a:pt x="143" y="112"/>
                    </a:cubicBezTo>
                    <a:cubicBezTo>
                      <a:pt x="138" y="107"/>
                      <a:pt x="131" y="107"/>
                      <a:pt x="126" y="102"/>
                    </a:cubicBezTo>
                    <a:cubicBezTo>
                      <a:pt x="122" y="99"/>
                      <a:pt x="118" y="95"/>
                      <a:pt x="119" y="90"/>
                    </a:cubicBezTo>
                    <a:cubicBezTo>
                      <a:pt x="120" y="86"/>
                      <a:pt x="122" y="85"/>
                      <a:pt x="117" y="86"/>
                    </a:cubicBezTo>
                    <a:cubicBezTo>
                      <a:pt x="115" y="86"/>
                      <a:pt x="111" y="89"/>
                      <a:pt x="110" y="88"/>
                    </a:cubicBezTo>
                    <a:cubicBezTo>
                      <a:pt x="108" y="88"/>
                      <a:pt x="108" y="86"/>
                      <a:pt x="107" y="86"/>
                    </a:cubicBezTo>
                    <a:cubicBezTo>
                      <a:pt x="105" y="84"/>
                      <a:pt x="103" y="83"/>
                      <a:pt x="102" y="80"/>
                    </a:cubicBezTo>
                    <a:cubicBezTo>
                      <a:pt x="101" y="75"/>
                      <a:pt x="102" y="76"/>
                      <a:pt x="105" y="73"/>
                    </a:cubicBezTo>
                    <a:cubicBezTo>
                      <a:pt x="107" y="71"/>
                      <a:pt x="108" y="66"/>
                      <a:pt x="104" y="65"/>
                    </a:cubicBezTo>
                    <a:cubicBezTo>
                      <a:pt x="101" y="65"/>
                      <a:pt x="102" y="68"/>
                      <a:pt x="101" y="69"/>
                    </a:cubicBezTo>
                    <a:cubicBezTo>
                      <a:pt x="99" y="72"/>
                      <a:pt x="96" y="76"/>
                      <a:pt x="94" y="78"/>
                    </a:cubicBezTo>
                    <a:cubicBezTo>
                      <a:pt x="92" y="79"/>
                      <a:pt x="91" y="80"/>
                      <a:pt x="89" y="79"/>
                    </a:cubicBezTo>
                    <a:cubicBezTo>
                      <a:pt x="85" y="78"/>
                      <a:pt x="84" y="77"/>
                      <a:pt x="83" y="73"/>
                    </a:cubicBezTo>
                    <a:cubicBezTo>
                      <a:pt x="77" y="72"/>
                      <a:pt x="79" y="79"/>
                      <a:pt x="82" y="81"/>
                    </a:cubicBezTo>
                    <a:cubicBezTo>
                      <a:pt x="88" y="85"/>
                      <a:pt x="97" y="82"/>
                      <a:pt x="103" y="88"/>
                    </a:cubicBezTo>
                    <a:cubicBezTo>
                      <a:pt x="106" y="92"/>
                      <a:pt x="107" y="97"/>
                      <a:pt x="111" y="100"/>
                    </a:cubicBezTo>
                    <a:cubicBezTo>
                      <a:pt x="117" y="104"/>
                      <a:pt x="126" y="109"/>
                      <a:pt x="120" y="111"/>
                    </a:cubicBezTo>
                    <a:cubicBezTo>
                      <a:pt x="113" y="111"/>
                      <a:pt x="110" y="111"/>
                      <a:pt x="103" y="112"/>
                    </a:cubicBezTo>
                    <a:cubicBezTo>
                      <a:pt x="98" y="113"/>
                      <a:pt x="96" y="114"/>
                      <a:pt x="91" y="111"/>
                    </a:cubicBezTo>
                    <a:cubicBezTo>
                      <a:pt x="87" y="108"/>
                      <a:pt x="81" y="104"/>
                      <a:pt x="83" y="99"/>
                    </a:cubicBezTo>
                    <a:cubicBezTo>
                      <a:pt x="79" y="100"/>
                      <a:pt x="81" y="106"/>
                      <a:pt x="81" y="107"/>
                    </a:cubicBezTo>
                    <a:cubicBezTo>
                      <a:pt x="81" y="114"/>
                      <a:pt x="75" y="112"/>
                      <a:pt x="70" y="112"/>
                    </a:cubicBezTo>
                    <a:cubicBezTo>
                      <a:pt x="65" y="112"/>
                      <a:pt x="55" y="115"/>
                      <a:pt x="53" y="109"/>
                    </a:cubicBezTo>
                    <a:cubicBezTo>
                      <a:pt x="54" y="115"/>
                      <a:pt x="54" y="116"/>
                      <a:pt x="61" y="116"/>
                    </a:cubicBezTo>
                    <a:cubicBezTo>
                      <a:pt x="65" y="116"/>
                      <a:pt x="70" y="118"/>
                      <a:pt x="75" y="117"/>
                    </a:cubicBezTo>
                    <a:cubicBezTo>
                      <a:pt x="80" y="117"/>
                      <a:pt x="81" y="117"/>
                      <a:pt x="86" y="117"/>
                    </a:cubicBezTo>
                    <a:cubicBezTo>
                      <a:pt x="92" y="117"/>
                      <a:pt x="98" y="117"/>
                      <a:pt x="104" y="118"/>
                    </a:cubicBezTo>
                    <a:cubicBezTo>
                      <a:pt x="107" y="118"/>
                      <a:pt x="109" y="117"/>
                      <a:pt x="112" y="116"/>
                    </a:cubicBezTo>
                    <a:cubicBezTo>
                      <a:pt x="117" y="116"/>
                      <a:pt x="131" y="112"/>
                      <a:pt x="130" y="121"/>
                    </a:cubicBezTo>
                    <a:cubicBezTo>
                      <a:pt x="121" y="121"/>
                      <a:pt x="109" y="125"/>
                      <a:pt x="101" y="129"/>
                    </a:cubicBezTo>
                    <a:cubicBezTo>
                      <a:pt x="97" y="131"/>
                      <a:pt x="94" y="133"/>
                      <a:pt x="91" y="136"/>
                    </a:cubicBezTo>
                    <a:cubicBezTo>
                      <a:pt x="89" y="138"/>
                      <a:pt x="89" y="139"/>
                      <a:pt x="87" y="141"/>
                    </a:cubicBezTo>
                    <a:cubicBezTo>
                      <a:pt x="84" y="143"/>
                      <a:pt x="76" y="146"/>
                      <a:pt x="71" y="145"/>
                    </a:cubicBezTo>
                    <a:cubicBezTo>
                      <a:pt x="67" y="145"/>
                      <a:pt x="60" y="145"/>
                      <a:pt x="56" y="146"/>
                    </a:cubicBezTo>
                    <a:cubicBezTo>
                      <a:pt x="55" y="146"/>
                      <a:pt x="55" y="147"/>
                      <a:pt x="56" y="147"/>
                    </a:cubicBezTo>
                    <a:cubicBezTo>
                      <a:pt x="58" y="150"/>
                      <a:pt x="70" y="149"/>
                      <a:pt x="72" y="150"/>
                    </a:cubicBezTo>
                    <a:cubicBezTo>
                      <a:pt x="81" y="155"/>
                      <a:pt x="72" y="160"/>
                      <a:pt x="70" y="166"/>
                    </a:cubicBezTo>
                    <a:cubicBezTo>
                      <a:pt x="68" y="171"/>
                      <a:pt x="68" y="174"/>
                      <a:pt x="60" y="174"/>
                    </a:cubicBezTo>
                    <a:cubicBezTo>
                      <a:pt x="61" y="177"/>
                      <a:pt x="64" y="180"/>
                      <a:pt x="68" y="180"/>
                    </a:cubicBezTo>
                    <a:cubicBezTo>
                      <a:pt x="69" y="173"/>
                      <a:pt x="72" y="171"/>
                      <a:pt x="77" y="167"/>
                    </a:cubicBezTo>
                    <a:cubicBezTo>
                      <a:pt x="81" y="164"/>
                      <a:pt x="79" y="155"/>
                      <a:pt x="87" y="157"/>
                    </a:cubicBezTo>
                    <a:cubicBezTo>
                      <a:pt x="83" y="163"/>
                      <a:pt x="87" y="168"/>
                      <a:pt x="85" y="174"/>
                    </a:cubicBezTo>
                    <a:cubicBezTo>
                      <a:pt x="84" y="178"/>
                      <a:pt x="81" y="180"/>
                      <a:pt x="81" y="185"/>
                    </a:cubicBezTo>
                    <a:cubicBezTo>
                      <a:pt x="82" y="189"/>
                      <a:pt x="81" y="190"/>
                      <a:pt x="84" y="192"/>
                    </a:cubicBezTo>
                    <a:cubicBezTo>
                      <a:pt x="82" y="188"/>
                      <a:pt x="84" y="185"/>
                      <a:pt x="86" y="180"/>
                    </a:cubicBezTo>
                    <a:cubicBezTo>
                      <a:pt x="87" y="175"/>
                      <a:pt x="89" y="174"/>
                      <a:pt x="91" y="170"/>
                    </a:cubicBezTo>
                    <a:cubicBezTo>
                      <a:pt x="92" y="166"/>
                      <a:pt x="87" y="163"/>
                      <a:pt x="89" y="158"/>
                    </a:cubicBezTo>
                    <a:cubicBezTo>
                      <a:pt x="90" y="157"/>
                      <a:pt x="92" y="155"/>
                      <a:pt x="93" y="154"/>
                    </a:cubicBezTo>
                    <a:cubicBezTo>
                      <a:pt x="94" y="152"/>
                      <a:pt x="95" y="151"/>
                      <a:pt x="95" y="149"/>
                    </a:cubicBezTo>
                    <a:cubicBezTo>
                      <a:pt x="96" y="147"/>
                      <a:pt x="96" y="143"/>
                      <a:pt x="96" y="142"/>
                    </a:cubicBezTo>
                    <a:cubicBezTo>
                      <a:pt x="98" y="140"/>
                      <a:pt x="105" y="141"/>
                      <a:pt x="108" y="140"/>
                    </a:cubicBezTo>
                    <a:cubicBezTo>
                      <a:pt x="112" y="138"/>
                      <a:pt x="114" y="136"/>
                      <a:pt x="118" y="135"/>
                    </a:cubicBezTo>
                    <a:cubicBezTo>
                      <a:pt x="121" y="134"/>
                      <a:pt x="123" y="135"/>
                      <a:pt x="126" y="134"/>
                    </a:cubicBezTo>
                    <a:cubicBezTo>
                      <a:pt x="128" y="134"/>
                      <a:pt x="130" y="132"/>
                      <a:pt x="133" y="132"/>
                    </a:cubicBezTo>
                    <a:cubicBezTo>
                      <a:pt x="141" y="130"/>
                      <a:pt x="153" y="127"/>
                      <a:pt x="160" y="131"/>
                    </a:cubicBezTo>
                    <a:cubicBezTo>
                      <a:pt x="165" y="134"/>
                      <a:pt x="161" y="137"/>
                      <a:pt x="158" y="141"/>
                    </a:cubicBezTo>
                    <a:cubicBezTo>
                      <a:pt x="155" y="146"/>
                      <a:pt x="154" y="153"/>
                      <a:pt x="150" y="157"/>
                    </a:cubicBezTo>
                    <a:cubicBezTo>
                      <a:pt x="147" y="159"/>
                      <a:pt x="145" y="161"/>
                      <a:pt x="142" y="163"/>
                    </a:cubicBezTo>
                    <a:cubicBezTo>
                      <a:pt x="141" y="165"/>
                      <a:pt x="137" y="167"/>
                      <a:pt x="136" y="168"/>
                    </a:cubicBezTo>
                    <a:cubicBezTo>
                      <a:pt x="135" y="170"/>
                      <a:pt x="136" y="172"/>
                      <a:pt x="135" y="173"/>
                    </a:cubicBezTo>
                    <a:cubicBezTo>
                      <a:pt x="133" y="176"/>
                      <a:pt x="130" y="177"/>
                      <a:pt x="126" y="177"/>
                    </a:cubicBezTo>
                    <a:cubicBezTo>
                      <a:pt x="122" y="177"/>
                      <a:pt x="118" y="179"/>
                      <a:pt x="115" y="177"/>
                    </a:cubicBezTo>
                    <a:cubicBezTo>
                      <a:pt x="118" y="179"/>
                      <a:pt x="122" y="179"/>
                      <a:pt x="124" y="181"/>
                    </a:cubicBezTo>
                    <a:cubicBezTo>
                      <a:pt x="127" y="183"/>
                      <a:pt x="127" y="187"/>
                      <a:pt x="127" y="191"/>
                    </a:cubicBezTo>
                    <a:cubicBezTo>
                      <a:pt x="127" y="192"/>
                      <a:pt x="127" y="193"/>
                      <a:pt x="127" y="194"/>
                    </a:cubicBezTo>
                    <a:cubicBezTo>
                      <a:pt x="126" y="195"/>
                      <a:pt x="125" y="195"/>
                      <a:pt x="124" y="196"/>
                    </a:cubicBezTo>
                    <a:cubicBezTo>
                      <a:pt x="122" y="199"/>
                      <a:pt x="124" y="203"/>
                      <a:pt x="123" y="206"/>
                    </a:cubicBezTo>
                    <a:cubicBezTo>
                      <a:pt x="124" y="202"/>
                      <a:pt x="125" y="199"/>
                      <a:pt x="128" y="199"/>
                    </a:cubicBezTo>
                    <a:cubicBezTo>
                      <a:pt x="133" y="200"/>
                      <a:pt x="133" y="206"/>
                      <a:pt x="134" y="209"/>
                    </a:cubicBezTo>
                    <a:cubicBezTo>
                      <a:pt x="136" y="214"/>
                      <a:pt x="138" y="219"/>
                      <a:pt x="143" y="220"/>
                    </a:cubicBezTo>
                    <a:cubicBezTo>
                      <a:pt x="147" y="221"/>
                      <a:pt x="147" y="218"/>
                      <a:pt x="147" y="218"/>
                    </a:cubicBezTo>
                    <a:cubicBezTo>
                      <a:pt x="147" y="218"/>
                      <a:pt x="143" y="217"/>
                      <a:pt x="141" y="215"/>
                    </a:cubicBezTo>
                    <a:cubicBezTo>
                      <a:pt x="141" y="214"/>
                      <a:pt x="141" y="213"/>
                      <a:pt x="141" y="212"/>
                    </a:cubicBezTo>
                    <a:cubicBezTo>
                      <a:pt x="140" y="208"/>
                      <a:pt x="140" y="207"/>
                      <a:pt x="139" y="204"/>
                    </a:cubicBezTo>
                    <a:cubicBezTo>
                      <a:pt x="138" y="201"/>
                      <a:pt x="135" y="194"/>
                      <a:pt x="136" y="191"/>
                    </a:cubicBezTo>
                    <a:cubicBezTo>
                      <a:pt x="138" y="186"/>
                      <a:pt x="139" y="185"/>
                      <a:pt x="139" y="180"/>
                    </a:cubicBezTo>
                    <a:cubicBezTo>
                      <a:pt x="139" y="177"/>
                      <a:pt x="138" y="174"/>
                      <a:pt x="140" y="171"/>
                    </a:cubicBezTo>
                    <a:cubicBezTo>
                      <a:pt x="142" y="169"/>
                      <a:pt x="146" y="167"/>
                      <a:pt x="148" y="166"/>
                    </a:cubicBezTo>
                    <a:cubicBezTo>
                      <a:pt x="152" y="163"/>
                      <a:pt x="156" y="160"/>
                      <a:pt x="160" y="158"/>
                    </a:cubicBezTo>
                    <a:cubicBezTo>
                      <a:pt x="167" y="154"/>
                      <a:pt x="169" y="154"/>
                      <a:pt x="170" y="162"/>
                    </a:cubicBezTo>
                    <a:cubicBezTo>
                      <a:pt x="171" y="169"/>
                      <a:pt x="171" y="171"/>
                      <a:pt x="177" y="174"/>
                    </a:cubicBezTo>
                    <a:cubicBezTo>
                      <a:pt x="183" y="177"/>
                      <a:pt x="185" y="188"/>
                      <a:pt x="186" y="195"/>
                    </a:cubicBezTo>
                    <a:cubicBezTo>
                      <a:pt x="187" y="204"/>
                      <a:pt x="191" y="212"/>
                      <a:pt x="187" y="220"/>
                    </a:cubicBezTo>
                    <a:cubicBezTo>
                      <a:pt x="191" y="223"/>
                      <a:pt x="189" y="218"/>
                      <a:pt x="190" y="217"/>
                    </a:cubicBezTo>
                    <a:cubicBezTo>
                      <a:pt x="190" y="214"/>
                      <a:pt x="192" y="212"/>
                      <a:pt x="192" y="209"/>
                    </a:cubicBezTo>
                    <a:cubicBezTo>
                      <a:pt x="191" y="204"/>
                      <a:pt x="188" y="196"/>
                      <a:pt x="191" y="191"/>
                    </a:cubicBezTo>
                    <a:cubicBezTo>
                      <a:pt x="194" y="193"/>
                      <a:pt x="197" y="199"/>
                      <a:pt x="198" y="202"/>
                    </a:cubicBezTo>
                    <a:cubicBezTo>
                      <a:pt x="199" y="203"/>
                      <a:pt x="198" y="205"/>
                      <a:pt x="199" y="206"/>
                    </a:cubicBezTo>
                    <a:cubicBezTo>
                      <a:pt x="199" y="207"/>
                      <a:pt x="201" y="207"/>
                      <a:pt x="202" y="208"/>
                    </a:cubicBezTo>
                    <a:cubicBezTo>
                      <a:pt x="205" y="212"/>
                      <a:pt x="210" y="218"/>
                      <a:pt x="215" y="219"/>
                    </a:cubicBezTo>
                    <a:cubicBezTo>
                      <a:pt x="210" y="218"/>
                      <a:pt x="202" y="203"/>
                      <a:pt x="202" y="199"/>
                    </a:cubicBezTo>
                    <a:cubicBezTo>
                      <a:pt x="199" y="194"/>
                      <a:pt x="196" y="190"/>
                      <a:pt x="193" y="185"/>
                    </a:cubicBezTo>
                    <a:cubicBezTo>
                      <a:pt x="190" y="178"/>
                      <a:pt x="188" y="174"/>
                      <a:pt x="183" y="168"/>
                    </a:cubicBezTo>
                    <a:cubicBezTo>
                      <a:pt x="177" y="162"/>
                      <a:pt x="173" y="143"/>
                      <a:pt x="179" y="136"/>
                    </a:cubicBezTo>
                    <a:cubicBezTo>
                      <a:pt x="183" y="132"/>
                      <a:pt x="188" y="129"/>
                      <a:pt x="193" y="129"/>
                    </a:cubicBezTo>
                    <a:cubicBezTo>
                      <a:pt x="196" y="129"/>
                      <a:pt x="199" y="129"/>
                      <a:pt x="201" y="131"/>
                    </a:cubicBezTo>
                    <a:cubicBezTo>
                      <a:pt x="206" y="134"/>
                      <a:pt x="212" y="134"/>
                      <a:pt x="218" y="145"/>
                    </a:cubicBezTo>
                    <a:cubicBezTo>
                      <a:pt x="222" y="154"/>
                      <a:pt x="227" y="169"/>
                      <a:pt x="228" y="173"/>
                    </a:cubicBezTo>
                    <a:cubicBezTo>
                      <a:pt x="229" y="175"/>
                      <a:pt x="231" y="181"/>
                      <a:pt x="231" y="184"/>
                    </a:cubicBezTo>
                    <a:cubicBezTo>
                      <a:pt x="232" y="187"/>
                      <a:pt x="230" y="189"/>
                      <a:pt x="230" y="192"/>
                    </a:cubicBezTo>
                    <a:cubicBezTo>
                      <a:pt x="230" y="194"/>
                      <a:pt x="232" y="197"/>
                      <a:pt x="233" y="200"/>
                    </a:cubicBezTo>
                    <a:cubicBezTo>
                      <a:pt x="235" y="207"/>
                      <a:pt x="235" y="216"/>
                      <a:pt x="236" y="224"/>
                    </a:cubicBezTo>
                    <a:cubicBezTo>
                      <a:pt x="236" y="228"/>
                      <a:pt x="235" y="228"/>
                      <a:pt x="233" y="232"/>
                    </a:cubicBezTo>
                    <a:cubicBezTo>
                      <a:pt x="231" y="235"/>
                      <a:pt x="230" y="240"/>
                      <a:pt x="228" y="242"/>
                    </a:cubicBezTo>
                    <a:cubicBezTo>
                      <a:pt x="225" y="245"/>
                      <a:pt x="223" y="244"/>
                      <a:pt x="220" y="245"/>
                    </a:cubicBezTo>
                    <a:cubicBezTo>
                      <a:pt x="219" y="246"/>
                      <a:pt x="218" y="245"/>
                      <a:pt x="217" y="246"/>
                    </a:cubicBezTo>
                    <a:cubicBezTo>
                      <a:pt x="216" y="246"/>
                      <a:pt x="217" y="249"/>
                      <a:pt x="216" y="250"/>
                    </a:cubicBezTo>
                    <a:cubicBezTo>
                      <a:pt x="213" y="251"/>
                      <a:pt x="214" y="253"/>
                      <a:pt x="211" y="253"/>
                    </a:cubicBezTo>
                    <a:cubicBezTo>
                      <a:pt x="209" y="253"/>
                      <a:pt x="206" y="249"/>
                      <a:pt x="204" y="250"/>
                    </a:cubicBezTo>
                    <a:cubicBezTo>
                      <a:pt x="201" y="250"/>
                      <a:pt x="199" y="253"/>
                      <a:pt x="197" y="253"/>
                    </a:cubicBezTo>
                    <a:cubicBezTo>
                      <a:pt x="195" y="254"/>
                      <a:pt x="192" y="254"/>
                      <a:pt x="191" y="254"/>
                    </a:cubicBezTo>
                    <a:cubicBezTo>
                      <a:pt x="187" y="255"/>
                      <a:pt x="182" y="258"/>
                      <a:pt x="178" y="258"/>
                    </a:cubicBezTo>
                    <a:cubicBezTo>
                      <a:pt x="171" y="258"/>
                      <a:pt x="168" y="253"/>
                      <a:pt x="170" y="246"/>
                    </a:cubicBezTo>
                    <a:cubicBezTo>
                      <a:pt x="169" y="248"/>
                      <a:pt x="167" y="251"/>
                      <a:pt x="165" y="253"/>
                    </a:cubicBezTo>
                    <a:cubicBezTo>
                      <a:pt x="163" y="251"/>
                      <a:pt x="162" y="250"/>
                      <a:pt x="160" y="248"/>
                    </a:cubicBezTo>
                    <a:cubicBezTo>
                      <a:pt x="161" y="251"/>
                      <a:pt x="161" y="254"/>
                      <a:pt x="160" y="257"/>
                    </a:cubicBezTo>
                    <a:cubicBezTo>
                      <a:pt x="153" y="257"/>
                      <a:pt x="150" y="261"/>
                      <a:pt x="143" y="258"/>
                    </a:cubicBezTo>
                    <a:cubicBezTo>
                      <a:pt x="138" y="255"/>
                      <a:pt x="134" y="253"/>
                      <a:pt x="128" y="253"/>
                    </a:cubicBezTo>
                    <a:cubicBezTo>
                      <a:pt x="119" y="254"/>
                      <a:pt x="120" y="251"/>
                      <a:pt x="114" y="247"/>
                    </a:cubicBezTo>
                    <a:cubicBezTo>
                      <a:pt x="113" y="247"/>
                      <a:pt x="110" y="248"/>
                      <a:pt x="108" y="247"/>
                    </a:cubicBezTo>
                    <a:cubicBezTo>
                      <a:pt x="106" y="246"/>
                      <a:pt x="105" y="242"/>
                      <a:pt x="104" y="240"/>
                    </a:cubicBezTo>
                    <a:cubicBezTo>
                      <a:pt x="100" y="246"/>
                      <a:pt x="93" y="247"/>
                      <a:pt x="87" y="243"/>
                    </a:cubicBezTo>
                    <a:cubicBezTo>
                      <a:pt x="80" y="239"/>
                      <a:pt x="86" y="230"/>
                      <a:pt x="87" y="224"/>
                    </a:cubicBezTo>
                    <a:cubicBezTo>
                      <a:pt x="89" y="219"/>
                      <a:pt x="91" y="214"/>
                      <a:pt x="92" y="209"/>
                    </a:cubicBezTo>
                    <a:cubicBezTo>
                      <a:pt x="93" y="203"/>
                      <a:pt x="90" y="204"/>
                      <a:pt x="87" y="209"/>
                    </a:cubicBezTo>
                    <a:cubicBezTo>
                      <a:pt x="82" y="218"/>
                      <a:pt x="84" y="245"/>
                      <a:pt x="68" y="237"/>
                    </a:cubicBezTo>
                    <a:cubicBezTo>
                      <a:pt x="65" y="236"/>
                      <a:pt x="64" y="234"/>
                      <a:pt x="60" y="233"/>
                    </a:cubicBezTo>
                    <a:cubicBezTo>
                      <a:pt x="57" y="233"/>
                      <a:pt x="53" y="233"/>
                      <a:pt x="50" y="231"/>
                    </a:cubicBezTo>
                    <a:cubicBezTo>
                      <a:pt x="43" y="226"/>
                      <a:pt x="47" y="220"/>
                      <a:pt x="49" y="213"/>
                    </a:cubicBezTo>
                    <a:cubicBezTo>
                      <a:pt x="40" y="221"/>
                      <a:pt x="39" y="216"/>
                      <a:pt x="33" y="209"/>
                    </a:cubicBezTo>
                    <a:cubicBezTo>
                      <a:pt x="29" y="204"/>
                      <a:pt x="24" y="204"/>
                      <a:pt x="24" y="195"/>
                    </a:cubicBezTo>
                    <a:cubicBezTo>
                      <a:pt x="17" y="200"/>
                      <a:pt x="14" y="184"/>
                      <a:pt x="19" y="177"/>
                    </a:cubicBezTo>
                    <a:cubicBezTo>
                      <a:pt x="17" y="179"/>
                      <a:pt x="15" y="183"/>
                      <a:pt x="10" y="181"/>
                    </a:cubicBezTo>
                    <a:cubicBezTo>
                      <a:pt x="5" y="180"/>
                      <a:pt x="4" y="175"/>
                      <a:pt x="4" y="171"/>
                    </a:cubicBezTo>
                    <a:cubicBezTo>
                      <a:pt x="3" y="166"/>
                      <a:pt x="0" y="154"/>
                      <a:pt x="2" y="149"/>
                    </a:cubicBezTo>
                    <a:close/>
                  </a:path>
                </a:pathLst>
              </a:custGeom>
              <a:solidFill>
                <a:srgbClr val="e2bab1"/>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0" name="Freeform 31"/>
              <p:cNvSpPr/>
              <p:nvPr/>
            </p:nvSpPr>
            <p:spPr>
              <a:xfrm flipH="1">
                <a:off x="6471720" y="1788480"/>
                <a:ext cx="954360" cy="1071360"/>
              </a:xfrm>
              <a:custGeom>
                <a:avLst/>
                <a:gdLst>
                  <a:gd name="GluePoint1X" fmla="*/ 2147483647 w 294"/>
                  <a:gd name="GluePoint1Y" fmla="*/ 2147483647 h 316"/>
                  <a:gd name="GluePoint2X" fmla="*/ 2147483647 w 294"/>
                  <a:gd name="GluePoint2Y" fmla="*/ 2147483647 h 316"/>
                  <a:gd name="GluePoint3X" fmla="*/ 2147483647 w 294"/>
                  <a:gd name="GluePoint3Y" fmla="*/ 2147483647 h 316"/>
                  <a:gd name="GluePoint4X" fmla="*/ 2147483647 w 294"/>
                  <a:gd name="GluePoint4Y" fmla="*/ 0 h 316"/>
                  <a:gd name="GluePoint5X" fmla="*/ 2147483647 w 294"/>
                  <a:gd name="GluePoint5Y" fmla="*/ 2147483647 h 316"/>
                  <a:gd name="GluePoint6X" fmla="*/ 2147483647 w 294"/>
                  <a:gd name="GluePoint6Y" fmla="*/ 2147483647 h 316"/>
                  <a:gd name="GluePoint7X" fmla="*/ 2147483647 w 294"/>
                  <a:gd name="GluePoint7Y" fmla="*/ 2147483647 h 316"/>
                  <a:gd name="GluePoint8X" fmla="*/ 2147483647 w 294"/>
                  <a:gd name="GluePoint8Y" fmla="*/ 2147483647 h 316"/>
                  <a:gd name="GluePoint9X" fmla="*/ 2147483647 w 294"/>
                  <a:gd name="GluePoint9Y" fmla="*/ 2147483647 h 316"/>
                  <a:gd name="GluePoint10X" fmla="*/ 2147483647 w 294"/>
                  <a:gd name="GluePoint10Y" fmla="*/ 2147483647 h 316"/>
                  <a:gd name="GluePoint11X" fmla="*/ 2147483647 w 294"/>
                  <a:gd name="GluePoint11Y" fmla="*/ 2147483647 h 316"/>
                  <a:gd name="GluePoint12X" fmla="*/ 2147483647 w 294"/>
                  <a:gd name="GluePoint12Y" fmla="*/ 2147483647 h 316"/>
                  <a:gd name="GluePoint13X" fmla="*/ 2147483647 w 294"/>
                  <a:gd name="GluePoint13Y" fmla="*/ 2147483647 h 316"/>
                  <a:gd name="GluePoint14X" fmla="*/ 2147483647 w 294"/>
                  <a:gd name="GluePoint14Y" fmla="*/ 2147483647 h 316"/>
                  <a:gd name="GluePoint15X" fmla="*/ 2147483647 w 294"/>
                  <a:gd name="GluePoint15Y" fmla="*/ 2147483647 h 316"/>
                  <a:gd name="GluePoint16X" fmla="*/ 2147483647 w 294"/>
                  <a:gd name="GluePoint16Y" fmla="*/ 2147483647 h 316"/>
                  <a:gd name="GluePoint17X" fmla="*/ 2147483647 w 294"/>
                  <a:gd name="GluePoint17Y" fmla="*/ 2147483647 h 316"/>
                  <a:gd name="GluePoint18X" fmla="*/ 2147483647 w 294"/>
                  <a:gd name="GluePoint18Y" fmla="*/ 2147483647 h 316"/>
                  <a:gd name="GluePoint19X" fmla="*/ 2147483647 w 294"/>
                  <a:gd name="GluePoint19Y" fmla="*/ 2147483647 h 316"/>
                  <a:gd name="GluePoint20X" fmla="*/ 2147483647 w 294"/>
                  <a:gd name="GluePoint20Y" fmla="*/ 2147483647 h 316"/>
                  <a:gd name="GluePoint21X" fmla="*/ 2147483647 w 294"/>
                  <a:gd name="GluePoint21Y" fmla="*/ 2147483647 h 316"/>
                  <a:gd name="GluePoint22X" fmla="*/ 2147483647 w 294"/>
                  <a:gd name="GluePoint22Y" fmla="*/ 2147483647 h 316"/>
                  <a:gd name="GluePoint23X" fmla="*/ 2147483647 w 294"/>
                  <a:gd name="GluePoint23Y" fmla="*/ 2147483647 h 316"/>
                  <a:gd name="GluePoint24X" fmla="*/ 2147483647 w 294"/>
                  <a:gd name="GluePoint24Y" fmla="*/ 2147483647 h 316"/>
                  <a:gd name="GluePoint25X" fmla="*/ 2147483647 w 294"/>
                  <a:gd name="GluePoint25Y" fmla="*/ 2147483647 h 316"/>
                  <a:gd name="GluePoint26X" fmla="*/ 2147483647 w 294"/>
                  <a:gd name="GluePoint26Y" fmla="*/ 2147483647 h 316"/>
                  <a:gd name="GluePoint27X" fmla="*/ 2147483647 w 294"/>
                  <a:gd name="GluePoint27Y" fmla="*/ 2147483647 h 316"/>
                  <a:gd name="GluePoint28X" fmla="*/ 2147483647 w 294"/>
                  <a:gd name="GluePoint28Y" fmla="*/ 2147483647 h 316"/>
                  <a:gd name="GluePoint29X" fmla="*/ 2147483647 w 294"/>
                  <a:gd name="GluePoint29Y" fmla="*/ 2147483647 h 316"/>
                  <a:gd name="GluePoint30X" fmla="*/ 2147483647 w 294"/>
                  <a:gd name="GluePoint30Y" fmla="*/ 2147483647 h 316"/>
                  <a:gd name="GluePoint31X" fmla="*/ 2147483647 w 294"/>
                  <a:gd name="GluePoint31Y" fmla="*/ 2147483647 h 316"/>
                  <a:gd name="GluePoint32X" fmla="*/ 2147483647 w 294"/>
                  <a:gd name="GluePoint32Y" fmla="*/ 2147483647 h 316"/>
                  <a:gd name="GluePoint33X" fmla="*/ 2147483647 w 294"/>
                  <a:gd name="GluePoint33Y" fmla="*/ 2147483647 h 316"/>
                  <a:gd name="GluePoint34X" fmla="*/ 2147483647 w 294"/>
                  <a:gd name="GluePoint34Y" fmla="*/ 2147483647 h 316"/>
                  <a:gd name="GluePoint35X" fmla="*/ 2147483647 w 294"/>
                  <a:gd name="GluePoint35Y" fmla="*/ 2147483647 h 316"/>
                  <a:gd name="GluePoint36X" fmla="*/ 2147483647 w 294"/>
                  <a:gd name="GluePoint36Y" fmla="*/ 2147483647 h 316"/>
                  <a:gd name="GluePoint37X" fmla="*/ 2147483647 w 294"/>
                  <a:gd name="GluePoint37Y" fmla="*/ 2147483647 h 316"/>
                  <a:gd name="GluePoint38X" fmla="*/ 2147483647 w 294"/>
                  <a:gd name="GluePoint38Y" fmla="*/ 2147483647 h 316"/>
                  <a:gd name="GluePoint39X" fmla="*/ 2147483647 w 294"/>
                  <a:gd name="GluePoint39Y" fmla="*/ 2147483647 h 316"/>
                  <a:gd name="GluePoint40X" fmla="*/ 2147483647 w 294"/>
                  <a:gd name="GluePoint40Y" fmla="*/ 2147483647 h 316"/>
                  <a:gd name="GluePoint41X" fmla="*/ 2147483647 w 294"/>
                  <a:gd name="GluePoint41Y" fmla="*/ 2147483647 h 316"/>
                  <a:gd name="GluePoint42X" fmla="*/ 2147483647 w 294"/>
                  <a:gd name="GluePoint42Y" fmla="*/ 2147483647 h 316"/>
                  <a:gd name="GluePoint43X" fmla="*/ 2147483647 w 294"/>
                  <a:gd name="GluePoint43Y" fmla="*/ 2147483647 h 316"/>
                  <a:gd name="GluePoint44X" fmla="*/ 2147483647 w 294"/>
                  <a:gd name="GluePoint44Y" fmla="*/ 2147483647 h 316"/>
                  <a:gd name="GluePoint45X" fmla="*/ 2147483647 w 294"/>
                  <a:gd name="GluePoint45Y" fmla="*/ 2147483647 h 316"/>
                  <a:gd name="GluePoint46X" fmla="*/ 2147483647 w 294"/>
                  <a:gd name="GluePoint46Y" fmla="*/ 2147483647 h 316"/>
                  <a:gd name="GluePoint47X" fmla="*/ 2147483647 w 294"/>
                  <a:gd name="GluePoint47Y" fmla="*/ 2147483647 h 316"/>
                  <a:gd name="GluePoint48X" fmla="*/ 2147483647 w 294"/>
                  <a:gd name="GluePoint48Y" fmla="*/ 2147483647 h 316"/>
                  <a:gd name="GluePoint49X" fmla="*/ 2147483647 w 294"/>
                  <a:gd name="GluePoint49Y" fmla="*/ 2147483647 h 316"/>
                  <a:gd name="GluePoint50X" fmla="*/ 2147483647 w 294"/>
                  <a:gd name="GluePoint50Y" fmla="*/ 2147483647 h 316"/>
                  <a:gd name="GluePoint51X" fmla="*/ 2147483647 w 294"/>
                  <a:gd name="GluePoint51Y" fmla="*/ 2147483647 h 316"/>
                  <a:gd name="GluePoint52X" fmla="*/ 2147483647 w 294"/>
                  <a:gd name="GluePoint52Y" fmla="*/ 2147483647 h 316"/>
                  <a:gd name="GluePoint53X" fmla="*/ 2147483647 w 294"/>
                  <a:gd name="GluePoint53Y" fmla="*/ 2147483647 h 316"/>
                  <a:gd name="GluePoint54X" fmla="*/ 2147483647 w 294"/>
                  <a:gd name="GluePoint54Y" fmla="*/ 2147483647 h 316"/>
                  <a:gd name="GluePoint55X" fmla="*/ 0 w 294"/>
                  <a:gd name="GluePoint55Y" fmla="*/ 2147483647 h 316"/>
                  <a:gd name="GluePoint56X" fmla="*/ 2147483647 w 294"/>
                  <a:gd name="GluePoint56Y" fmla="*/ 2147483647 h 3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Lst>
                <a:rect l="l" t="t" r="r" b="b"/>
                <a:pathLst>
                  <a:path w="294" h="316">
                    <a:moveTo>
                      <a:pt x="11" y="137"/>
                    </a:moveTo>
                    <a:cubicBezTo>
                      <a:pt x="12" y="136"/>
                      <a:pt x="12" y="134"/>
                      <a:pt x="13" y="133"/>
                    </a:cubicBezTo>
                    <a:cubicBezTo>
                      <a:pt x="16" y="129"/>
                      <a:pt x="18" y="125"/>
                      <a:pt x="20" y="122"/>
                    </a:cubicBezTo>
                    <a:cubicBezTo>
                      <a:pt x="26" y="112"/>
                      <a:pt x="50" y="86"/>
                      <a:pt x="58" y="77"/>
                    </a:cubicBezTo>
                    <a:cubicBezTo>
                      <a:pt x="70" y="67"/>
                      <a:pt x="86" y="53"/>
                      <a:pt x="104" y="39"/>
                    </a:cubicBezTo>
                    <a:cubicBezTo>
                      <a:pt x="118" y="29"/>
                      <a:pt x="137" y="20"/>
                      <a:pt x="141" y="12"/>
                    </a:cubicBezTo>
                    <a:cubicBezTo>
                      <a:pt x="144" y="3"/>
                      <a:pt x="146" y="3"/>
                      <a:pt x="146" y="3"/>
                    </a:cubicBezTo>
                    <a:cubicBezTo>
                      <a:pt x="159" y="8"/>
                      <a:pt x="175" y="3"/>
                      <a:pt x="190" y="0"/>
                    </a:cubicBezTo>
                    <a:cubicBezTo>
                      <a:pt x="213" y="1"/>
                      <a:pt x="213" y="4"/>
                      <a:pt x="220" y="6"/>
                    </a:cubicBezTo>
                    <a:cubicBezTo>
                      <a:pt x="227" y="8"/>
                      <a:pt x="230" y="9"/>
                      <a:pt x="232" y="14"/>
                    </a:cubicBezTo>
                    <a:cubicBezTo>
                      <a:pt x="235" y="19"/>
                      <a:pt x="236" y="19"/>
                      <a:pt x="242" y="20"/>
                    </a:cubicBezTo>
                    <a:cubicBezTo>
                      <a:pt x="248" y="22"/>
                      <a:pt x="256" y="33"/>
                      <a:pt x="258" y="42"/>
                    </a:cubicBezTo>
                    <a:cubicBezTo>
                      <a:pt x="258" y="42"/>
                      <a:pt x="258" y="42"/>
                      <a:pt x="258" y="42"/>
                    </a:cubicBezTo>
                    <a:cubicBezTo>
                      <a:pt x="254" y="35"/>
                      <a:pt x="254" y="25"/>
                      <a:pt x="242" y="26"/>
                    </a:cubicBezTo>
                    <a:cubicBezTo>
                      <a:pt x="237" y="27"/>
                      <a:pt x="237" y="28"/>
                      <a:pt x="236" y="32"/>
                    </a:cubicBezTo>
                    <a:cubicBezTo>
                      <a:pt x="236" y="33"/>
                      <a:pt x="237" y="35"/>
                      <a:pt x="237" y="36"/>
                    </a:cubicBezTo>
                    <a:cubicBezTo>
                      <a:pt x="237" y="38"/>
                      <a:pt x="235" y="39"/>
                      <a:pt x="234" y="41"/>
                    </a:cubicBezTo>
                    <a:cubicBezTo>
                      <a:pt x="229" y="51"/>
                      <a:pt x="226" y="62"/>
                      <a:pt x="225" y="74"/>
                    </a:cubicBezTo>
                    <a:cubicBezTo>
                      <a:pt x="225" y="70"/>
                      <a:pt x="224" y="66"/>
                      <a:pt x="224" y="63"/>
                    </a:cubicBezTo>
                    <a:cubicBezTo>
                      <a:pt x="224" y="56"/>
                      <a:pt x="228" y="51"/>
                      <a:pt x="229" y="45"/>
                    </a:cubicBezTo>
                    <a:cubicBezTo>
                      <a:pt x="230" y="39"/>
                      <a:pt x="227" y="37"/>
                      <a:pt x="226" y="32"/>
                    </a:cubicBezTo>
                    <a:cubicBezTo>
                      <a:pt x="224" y="26"/>
                      <a:pt x="226" y="20"/>
                      <a:pt x="223" y="14"/>
                    </a:cubicBezTo>
                    <a:cubicBezTo>
                      <a:pt x="213" y="23"/>
                      <a:pt x="218" y="7"/>
                      <a:pt x="209" y="9"/>
                    </a:cubicBezTo>
                    <a:cubicBezTo>
                      <a:pt x="209" y="11"/>
                      <a:pt x="207" y="12"/>
                      <a:pt x="206" y="14"/>
                    </a:cubicBezTo>
                    <a:cubicBezTo>
                      <a:pt x="203" y="12"/>
                      <a:pt x="199" y="10"/>
                      <a:pt x="197" y="15"/>
                    </a:cubicBezTo>
                    <a:cubicBezTo>
                      <a:pt x="192" y="11"/>
                      <a:pt x="181" y="4"/>
                      <a:pt x="179" y="14"/>
                    </a:cubicBezTo>
                    <a:cubicBezTo>
                      <a:pt x="178" y="15"/>
                      <a:pt x="180" y="17"/>
                      <a:pt x="180" y="17"/>
                    </a:cubicBezTo>
                    <a:cubicBezTo>
                      <a:pt x="180" y="20"/>
                      <a:pt x="179" y="21"/>
                      <a:pt x="178" y="25"/>
                    </a:cubicBezTo>
                    <a:cubicBezTo>
                      <a:pt x="177" y="26"/>
                      <a:pt x="177" y="26"/>
                      <a:pt x="177" y="27"/>
                    </a:cubicBezTo>
                    <a:cubicBezTo>
                      <a:pt x="176" y="24"/>
                      <a:pt x="174" y="20"/>
                      <a:pt x="172" y="18"/>
                    </a:cubicBezTo>
                    <a:cubicBezTo>
                      <a:pt x="169" y="14"/>
                      <a:pt x="162" y="11"/>
                      <a:pt x="160" y="18"/>
                    </a:cubicBezTo>
                    <a:cubicBezTo>
                      <a:pt x="158" y="17"/>
                      <a:pt x="154" y="15"/>
                      <a:pt x="151" y="16"/>
                    </a:cubicBezTo>
                    <a:cubicBezTo>
                      <a:pt x="148" y="17"/>
                      <a:pt x="147" y="22"/>
                      <a:pt x="144" y="23"/>
                    </a:cubicBezTo>
                    <a:cubicBezTo>
                      <a:pt x="142" y="24"/>
                      <a:pt x="140" y="21"/>
                      <a:pt x="138" y="22"/>
                    </a:cubicBezTo>
                    <a:cubicBezTo>
                      <a:pt x="136" y="23"/>
                      <a:pt x="133" y="27"/>
                      <a:pt x="132" y="29"/>
                    </a:cubicBezTo>
                    <a:cubicBezTo>
                      <a:pt x="127" y="36"/>
                      <a:pt x="129" y="35"/>
                      <a:pt x="135" y="40"/>
                    </a:cubicBezTo>
                    <a:cubicBezTo>
                      <a:pt x="139" y="44"/>
                      <a:pt x="141" y="50"/>
                      <a:pt x="144" y="55"/>
                    </a:cubicBezTo>
                    <a:cubicBezTo>
                      <a:pt x="139" y="49"/>
                      <a:pt x="133" y="40"/>
                      <a:pt x="126" y="38"/>
                    </a:cubicBezTo>
                    <a:cubicBezTo>
                      <a:pt x="113" y="35"/>
                      <a:pt x="110" y="45"/>
                      <a:pt x="100" y="51"/>
                    </a:cubicBezTo>
                    <a:cubicBezTo>
                      <a:pt x="102" y="53"/>
                      <a:pt x="102" y="55"/>
                      <a:pt x="102" y="57"/>
                    </a:cubicBezTo>
                    <a:cubicBezTo>
                      <a:pt x="92" y="56"/>
                      <a:pt x="94" y="62"/>
                      <a:pt x="89" y="68"/>
                    </a:cubicBezTo>
                    <a:cubicBezTo>
                      <a:pt x="85" y="74"/>
                      <a:pt x="82" y="72"/>
                      <a:pt x="80" y="78"/>
                    </a:cubicBezTo>
                    <a:cubicBezTo>
                      <a:pt x="79" y="82"/>
                      <a:pt x="77" y="86"/>
                      <a:pt x="81" y="89"/>
                    </a:cubicBezTo>
                    <a:cubicBezTo>
                      <a:pt x="84" y="91"/>
                      <a:pt x="86" y="89"/>
                      <a:pt x="89" y="90"/>
                    </a:cubicBezTo>
                    <a:cubicBezTo>
                      <a:pt x="95" y="90"/>
                      <a:pt x="99" y="93"/>
                      <a:pt x="104" y="95"/>
                    </a:cubicBezTo>
                    <a:cubicBezTo>
                      <a:pt x="94" y="94"/>
                      <a:pt x="79" y="87"/>
                      <a:pt x="69" y="93"/>
                    </a:cubicBezTo>
                    <a:cubicBezTo>
                      <a:pt x="63" y="97"/>
                      <a:pt x="62" y="104"/>
                      <a:pt x="58" y="109"/>
                    </a:cubicBezTo>
                    <a:cubicBezTo>
                      <a:pt x="56" y="113"/>
                      <a:pt x="54" y="114"/>
                      <a:pt x="53" y="118"/>
                    </a:cubicBezTo>
                    <a:cubicBezTo>
                      <a:pt x="52" y="121"/>
                      <a:pt x="53" y="123"/>
                      <a:pt x="52" y="125"/>
                    </a:cubicBezTo>
                    <a:cubicBezTo>
                      <a:pt x="51" y="127"/>
                      <a:pt x="48" y="127"/>
                      <a:pt x="47" y="129"/>
                    </a:cubicBezTo>
                    <a:cubicBezTo>
                      <a:pt x="45" y="135"/>
                      <a:pt x="48" y="140"/>
                      <a:pt x="47" y="146"/>
                    </a:cubicBezTo>
                    <a:cubicBezTo>
                      <a:pt x="50" y="147"/>
                      <a:pt x="54" y="147"/>
                      <a:pt x="57" y="147"/>
                    </a:cubicBezTo>
                    <a:cubicBezTo>
                      <a:pt x="51" y="148"/>
                      <a:pt x="46" y="148"/>
                      <a:pt x="44" y="153"/>
                    </a:cubicBezTo>
                    <a:cubicBezTo>
                      <a:pt x="42" y="158"/>
                      <a:pt x="45" y="170"/>
                      <a:pt x="46" y="175"/>
                    </a:cubicBezTo>
                    <a:cubicBezTo>
                      <a:pt x="46" y="179"/>
                      <a:pt x="47" y="184"/>
                      <a:pt x="52" y="185"/>
                    </a:cubicBezTo>
                    <a:cubicBezTo>
                      <a:pt x="57" y="187"/>
                      <a:pt x="59" y="183"/>
                      <a:pt x="61" y="181"/>
                    </a:cubicBezTo>
                    <a:cubicBezTo>
                      <a:pt x="56" y="188"/>
                      <a:pt x="59" y="204"/>
                      <a:pt x="66" y="199"/>
                    </a:cubicBezTo>
                    <a:cubicBezTo>
                      <a:pt x="66" y="208"/>
                      <a:pt x="71" y="208"/>
                      <a:pt x="75" y="213"/>
                    </a:cubicBezTo>
                    <a:cubicBezTo>
                      <a:pt x="81" y="220"/>
                      <a:pt x="82" y="225"/>
                      <a:pt x="91" y="217"/>
                    </a:cubicBezTo>
                    <a:cubicBezTo>
                      <a:pt x="89" y="224"/>
                      <a:pt x="85" y="230"/>
                      <a:pt x="92" y="235"/>
                    </a:cubicBezTo>
                    <a:cubicBezTo>
                      <a:pt x="95" y="237"/>
                      <a:pt x="99" y="237"/>
                      <a:pt x="102" y="237"/>
                    </a:cubicBezTo>
                    <a:cubicBezTo>
                      <a:pt x="106" y="238"/>
                      <a:pt x="107" y="240"/>
                      <a:pt x="110" y="241"/>
                    </a:cubicBezTo>
                    <a:cubicBezTo>
                      <a:pt x="126" y="249"/>
                      <a:pt x="124" y="222"/>
                      <a:pt x="129" y="213"/>
                    </a:cubicBezTo>
                    <a:cubicBezTo>
                      <a:pt x="132" y="208"/>
                      <a:pt x="135" y="207"/>
                      <a:pt x="134" y="213"/>
                    </a:cubicBezTo>
                    <a:cubicBezTo>
                      <a:pt x="133" y="218"/>
                      <a:pt x="131" y="223"/>
                      <a:pt x="129" y="228"/>
                    </a:cubicBezTo>
                    <a:cubicBezTo>
                      <a:pt x="128" y="234"/>
                      <a:pt x="122" y="243"/>
                      <a:pt x="129" y="247"/>
                    </a:cubicBezTo>
                    <a:cubicBezTo>
                      <a:pt x="135" y="251"/>
                      <a:pt x="142" y="250"/>
                      <a:pt x="146" y="244"/>
                    </a:cubicBezTo>
                    <a:cubicBezTo>
                      <a:pt x="147" y="246"/>
                      <a:pt x="148" y="250"/>
                      <a:pt x="150" y="251"/>
                    </a:cubicBezTo>
                    <a:cubicBezTo>
                      <a:pt x="152" y="252"/>
                      <a:pt x="155" y="251"/>
                      <a:pt x="156" y="251"/>
                    </a:cubicBezTo>
                    <a:cubicBezTo>
                      <a:pt x="162" y="255"/>
                      <a:pt x="161" y="258"/>
                      <a:pt x="170" y="257"/>
                    </a:cubicBezTo>
                    <a:cubicBezTo>
                      <a:pt x="176" y="257"/>
                      <a:pt x="180" y="259"/>
                      <a:pt x="185" y="262"/>
                    </a:cubicBezTo>
                    <a:cubicBezTo>
                      <a:pt x="192" y="265"/>
                      <a:pt x="195" y="261"/>
                      <a:pt x="202" y="261"/>
                    </a:cubicBezTo>
                    <a:cubicBezTo>
                      <a:pt x="203" y="258"/>
                      <a:pt x="203" y="255"/>
                      <a:pt x="202" y="252"/>
                    </a:cubicBezTo>
                    <a:cubicBezTo>
                      <a:pt x="204" y="254"/>
                      <a:pt x="205" y="255"/>
                      <a:pt x="207" y="257"/>
                    </a:cubicBezTo>
                    <a:cubicBezTo>
                      <a:pt x="209" y="255"/>
                      <a:pt x="211" y="252"/>
                      <a:pt x="212" y="250"/>
                    </a:cubicBezTo>
                    <a:cubicBezTo>
                      <a:pt x="210" y="257"/>
                      <a:pt x="213" y="262"/>
                      <a:pt x="220" y="262"/>
                    </a:cubicBezTo>
                    <a:cubicBezTo>
                      <a:pt x="224" y="262"/>
                      <a:pt x="229" y="259"/>
                      <a:pt x="233" y="258"/>
                    </a:cubicBezTo>
                    <a:cubicBezTo>
                      <a:pt x="234" y="258"/>
                      <a:pt x="237" y="258"/>
                      <a:pt x="239" y="257"/>
                    </a:cubicBezTo>
                    <a:cubicBezTo>
                      <a:pt x="241" y="257"/>
                      <a:pt x="243" y="254"/>
                      <a:pt x="246" y="254"/>
                    </a:cubicBezTo>
                    <a:cubicBezTo>
                      <a:pt x="248" y="253"/>
                      <a:pt x="251" y="257"/>
                      <a:pt x="253" y="257"/>
                    </a:cubicBezTo>
                    <a:cubicBezTo>
                      <a:pt x="256" y="257"/>
                      <a:pt x="255" y="255"/>
                      <a:pt x="258" y="254"/>
                    </a:cubicBezTo>
                    <a:cubicBezTo>
                      <a:pt x="259" y="253"/>
                      <a:pt x="258" y="250"/>
                      <a:pt x="259" y="250"/>
                    </a:cubicBezTo>
                    <a:cubicBezTo>
                      <a:pt x="260" y="249"/>
                      <a:pt x="261" y="250"/>
                      <a:pt x="262" y="249"/>
                    </a:cubicBezTo>
                    <a:cubicBezTo>
                      <a:pt x="265" y="248"/>
                      <a:pt x="267" y="249"/>
                      <a:pt x="270" y="246"/>
                    </a:cubicBezTo>
                    <a:cubicBezTo>
                      <a:pt x="272" y="244"/>
                      <a:pt x="273" y="239"/>
                      <a:pt x="275" y="236"/>
                    </a:cubicBezTo>
                    <a:cubicBezTo>
                      <a:pt x="277" y="232"/>
                      <a:pt x="278" y="232"/>
                      <a:pt x="278" y="228"/>
                    </a:cubicBezTo>
                    <a:cubicBezTo>
                      <a:pt x="277" y="220"/>
                      <a:pt x="277" y="211"/>
                      <a:pt x="275" y="204"/>
                    </a:cubicBezTo>
                    <a:cubicBezTo>
                      <a:pt x="274" y="201"/>
                      <a:pt x="272" y="198"/>
                      <a:pt x="272" y="196"/>
                    </a:cubicBezTo>
                    <a:cubicBezTo>
                      <a:pt x="272" y="193"/>
                      <a:pt x="274" y="191"/>
                      <a:pt x="273" y="188"/>
                    </a:cubicBezTo>
                    <a:cubicBezTo>
                      <a:pt x="273" y="185"/>
                      <a:pt x="271" y="179"/>
                      <a:pt x="270" y="177"/>
                    </a:cubicBezTo>
                    <a:cubicBezTo>
                      <a:pt x="269" y="173"/>
                      <a:pt x="264" y="158"/>
                      <a:pt x="260" y="149"/>
                    </a:cubicBezTo>
                    <a:cubicBezTo>
                      <a:pt x="261" y="149"/>
                      <a:pt x="261" y="150"/>
                      <a:pt x="261" y="150"/>
                    </a:cubicBezTo>
                    <a:cubicBezTo>
                      <a:pt x="268" y="163"/>
                      <a:pt x="276" y="180"/>
                      <a:pt x="281" y="198"/>
                    </a:cubicBezTo>
                    <a:cubicBezTo>
                      <a:pt x="285" y="213"/>
                      <a:pt x="291" y="245"/>
                      <a:pt x="294" y="265"/>
                    </a:cubicBezTo>
                    <a:cubicBezTo>
                      <a:pt x="291" y="275"/>
                      <a:pt x="279" y="301"/>
                      <a:pt x="271" y="304"/>
                    </a:cubicBezTo>
                    <a:cubicBezTo>
                      <a:pt x="266" y="306"/>
                      <a:pt x="263" y="303"/>
                      <a:pt x="258" y="305"/>
                    </a:cubicBezTo>
                    <a:cubicBezTo>
                      <a:pt x="252" y="306"/>
                      <a:pt x="241" y="316"/>
                      <a:pt x="237" y="307"/>
                    </a:cubicBezTo>
                    <a:cubicBezTo>
                      <a:pt x="230" y="313"/>
                      <a:pt x="223" y="310"/>
                      <a:pt x="215" y="309"/>
                    </a:cubicBezTo>
                    <a:cubicBezTo>
                      <a:pt x="215" y="309"/>
                      <a:pt x="207" y="310"/>
                      <a:pt x="207" y="310"/>
                    </a:cubicBezTo>
                    <a:cubicBezTo>
                      <a:pt x="209" y="310"/>
                      <a:pt x="198" y="312"/>
                      <a:pt x="200" y="312"/>
                    </a:cubicBezTo>
                    <a:cubicBezTo>
                      <a:pt x="195" y="311"/>
                      <a:pt x="192" y="308"/>
                      <a:pt x="187" y="307"/>
                    </a:cubicBezTo>
                    <a:cubicBezTo>
                      <a:pt x="181" y="305"/>
                      <a:pt x="174" y="302"/>
                      <a:pt x="167" y="302"/>
                    </a:cubicBezTo>
                    <a:cubicBezTo>
                      <a:pt x="155" y="303"/>
                      <a:pt x="129" y="297"/>
                      <a:pt x="120" y="289"/>
                    </a:cubicBezTo>
                    <a:cubicBezTo>
                      <a:pt x="113" y="282"/>
                      <a:pt x="111" y="276"/>
                      <a:pt x="115" y="266"/>
                    </a:cubicBezTo>
                    <a:cubicBezTo>
                      <a:pt x="109" y="270"/>
                      <a:pt x="110" y="273"/>
                      <a:pt x="101" y="274"/>
                    </a:cubicBezTo>
                    <a:cubicBezTo>
                      <a:pt x="94" y="274"/>
                      <a:pt x="92" y="272"/>
                      <a:pt x="86" y="268"/>
                    </a:cubicBezTo>
                    <a:cubicBezTo>
                      <a:pt x="74" y="258"/>
                      <a:pt x="62" y="249"/>
                      <a:pt x="53" y="236"/>
                    </a:cubicBezTo>
                    <a:cubicBezTo>
                      <a:pt x="49" y="230"/>
                      <a:pt x="46" y="225"/>
                      <a:pt x="41" y="221"/>
                    </a:cubicBezTo>
                    <a:cubicBezTo>
                      <a:pt x="33" y="216"/>
                      <a:pt x="26" y="212"/>
                      <a:pt x="19" y="206"/>
                    </a:cubicBezTo>
                    <a:cubicBezTo>
                      <a:pt x="4" y="195"/>
                      <a:pt x="4" y="190"/>
                      <a:pt x="0" y="175"/>
                    </a:cubicBezTo>
                    <a:cubicBezTo>
                      <a:pt x="1" y="174"/>
                      <a:pt x="1" y="174"/>
                      <a:pt x="1" y="174"/>
                    </a:cubicBezTo>
                    <a:cubicBezTo>
                      <a:pt x="4" y="164"/>
                      <a:pt x="4" y="145"/>
                      <a:pt x="11" y="137"/>
                    </a:cubicBezTo>
                    <a:close/>
                  </a:path>
                </a:pathLst>
              </a:custGeom>
              <a:solidFill>
                <a:srgbClr val="b1838c"/>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1" name="Freeform 32"/>
              <p:cNvSpPr/>
              <p:nvPr/>
            </p:nvSpPr>
            <p:spPr>
              <a:xfrm flipH="1">
                <a:off x="6608160" y="1883160"/>
                <a:ext cx="2520" cy="3960"/>
              </a:xfrm>
              <a:custGeom>
                <a:avLst/>
                <a:gdLst>
                  <a:gd name="GluePoint1X" fmla="*/ 0 w 1"/>
                  <a:gd name="GluePoint1Y" fmla="*/ 0 h 1"/>
                  <a:gd name="GluePoint2X" fmla="*/ 8388608 w 1"/>
                  <a:gd name="GluePoint2Y" fmla="*/ 2147483647 h 1"/>
                  <a:gd name="GluePoint3X" fmla="*/ 0 w 1"/>
                  <a:gd name="GluePoint3Y" fmla="*/ 0 h 1"/>
                </a:gdLst>
                <a:ahLst/>
                <a:cxnLst>
                  <a:cxn ang="0">
                    <a:pos x="GluePoint1X" y="GluePoint1Y"/>
                  </a:cxn>
                  <a:cxn ang="0">
                    <a:pos x="GluePoint2X" y="GluePoint2Y"/>
                  </a:cxn>
                  <a:cxn ang="0">
                    <a:pos x="GluePoint3X" y="GluePoint3Y"/>
                  </a:cxn>
                </a:cxnLst>
                <a:rect l="l" t="t" r="r" b="b"/>
                <a:pathLst>
                  <a:path w="1" h="1">
                    <a:moveTo>
                      <a:pt x="0" y="0"/>
                    </a:moveTo>
                    <a:cubicBezTo>
                      <a:pt x="0" y="1"/>
                      <a:pt x="0" y="1"/>
                      <a:pt x="1" y="1"/>
                    </a:cubicBezTo>
                    <a:cubicBezTo>
                      <a:pt x="0" y="1"/>
                      <a:pt x="0" y="1"/>
                      <a:pt x="0" y="0"/>
                    </a:cubicBezTo>
                    <a:close/>
                  </a:path>
                </a:pathLst>
              </a:custGeom>
              <a:solidFill>
                <a:srgbClr val="6c617f"/>
              </a:solidFill>
              <a:ln w="0">
                <a:noFill/>
              </a:ln>
            </p:spPr>
            <p:style>
              <a:lnRef idx="0"/>
              <a:fillRef idx="0"/>
              <a:effectRef idx="0"/>
              <a:fontRef idx="minor"/>
            </p:style>
            <p:txBody>
              <a:bodyPr lIns="90000" rIns="90000" tIns="-42840" bIns="-42840" anchor="t">
                <a:noAutofit/>
              </a:bodyPr>
              <a:p>
                <a:endParaRPr b="0" lang="en-US" sz="2400" strike="noStrike" u="none">
                  <a:solidFill>
                    <a:srgbClr val="ffff00"/>
                  </a:solidFill>
                  <a:effectLst/>
                  <a:uFillTx/>
                  <a:latin typeface="Times New Roman"/>
                </a:endParaRPr>
              </a:p>
            </p:txBody>
          </p:sp>
          <p:sp>
            <p:nvSpPr>
              <p:cNvPr id="252" name="Freeform 33"/>
              <p:cNvSpPr/>
              <p:nvPr/>
            </p:nvSpPr>
            <p:spPr>
              <a:xfrm flipH="1">
                <a:off x="6600960" y="1887120"/>
                <a:ext cx="6840" cy="13320"/>
              </a:xfrm>
              <a:custGeom>
                <a:avLst/>
                <a:gdLst>
                  <a:gd name="GluePoint1X" fmla="*/ 0 w 2"/>
                  <a:gd name="GluePoint1Y" fmla="*/ 0 h 4"/>
                  <a:gd name="GluePoint2X" fmla="*/ 2147483647 w 2"/>
                  <a:gd name="GluePoint2Y" fmla="*/ 2147483647 h 4"/>
                  <a:gd name="GluePoint3X" fmla="*/ 0 w 2"/>
                  <a:gd name="GluePoint3Y" fmla="*/ 0 h 4"/>
                </a:gdLst>
                <a:ahLst/>
                <a:cxnLst>
                  <a:cxn ang="0">
                    <a:pos x="GluePoint1X" y="GluePoint1Y"/>
                  </a:cxn>
                  <a:cxn ang="0">
                    <a:pos x="GluePoint2X" y="GluePoint2Y"/>
                  </a:cxn>
                  <a:cxn ang="0">
                    <a:pos x="GluePoint3X" y="GluePoint3Y"/>
                  </a:cxn>
                </a:cxnLst>
                <a:rect l="l" t="t" r="r" b="b"/>
                <a:pathLst>
                  <a:path w="2" h="4">
                    <a:moveTo>
                      <a:pt x="0" y="0"/>
                    </a:moveTo>
                    <a:cubicBezTo>
                      <a:pt x="1" y="1"/>
                      <a:pt x="1" y="2"/>
                      <a:pt x="2" y="4"/>
                    </a:cubicBezTo>
                    <a:cubicBezTo>
                      <a:pt x="1" y="2"/>
                      <a:pt x="1" y="1"/>
                      <a:pt x="0" y="0"/>
                    </a:cubicBezTo>
                    <a:close/>
                  </a:path>
                </a:pathLst>
              </a:custGeom>
              <a:solidFill>
                <a:srgbClr val="6c617f"/>
              </a:solidFill>
              <a:ln w="0">
                <a:noFill/>
              </a:ln>
            </p:spPr>
            <p:style>
              <a:lnRef idx="0"/>
              <a:fillRef idx="0"/>
              <a:effectRef idx="0"/>
              <a:fontRef idx="minor"/>
            </p:style>
            <p:txBody>
              <a:bodyPr lIns="90000" rIns="90000" tIns="-33480" bIns="-33480" anchor="t">
                <a:noAutofit/>
              </a:bodyPr>
              <a:p>
                <a:endParaRPr b="0" lang="en-US" sz="2400" strike="noStrike" u="none">
                  <a:solidFill>
                    <a:srgbClr val="ffff00"/>
                  </a:solidFill>
                  <a:effectLst/>
                  <a:uFillTx/>
                  <a:latin typeface="Times New Roman"/>
                </a:endParaRPr>
              </a:p>
            </p:txBody>
          </p:sp>
          <p:sp>
            <p:nvSpPr>
              <p:cNvPr id="253" name="Freeform 34"/>
              <p:cNvSpPr/>
              <p:nvPr/>
            </p:nvSpPr>
            <p:spPr>
              <a:xfrm flipH="1">
                <a:off x="6627960" y="1877760"/>
                <a:ext cx="2520" cy="1440"/>
              </a:xfrm>
              <a:custGeom>
                <a:avLst/>
                <a:gdLst>
                  <a:gd name="GluePoint1X" fmla="*/ 8388608 w 1"/>
                  <a:gd name="GluePoint1Y" fmla="*/ 0 h 1"/>
                  <a:gd name="GluePoint2X" fmla="*/ 0 w 1"/>
                  <a:gd name="GluePoint2Y" fmla="*/ 0 h 1"/>
                  <a:gd name="GluePoint3X" fmla="*/ 8388608 w 1"/>
                  <a:gd name="GluePoint3Y" fmla="*/ 0 h 1"/>
                </a:gdLst>
                <a:ahLst/>
                <a:cxnLst>
                  <a:cxn ang="0">
                    <a:pos x="GluePoint1X" y="GluePoint1Y"/>
                  </a:cxn>
                  <a:cxn ang="0">
                    <a:pos x="GluePoint2X" y="GluePoint2Y"/>
                  </a:cxn>
                  <a:cxn ang="0">
                    <a:pos x="GluePoint3X" y="GluePoint3Y"/>
                  </a:cxn>
                </a:cxnLst>
                <a:rect l="l" t="t" r="r" b="b"/>
                <a:pathLst>
                  <a:path w="1" h="1">
                    <a:moveTo>
                      <a:pt x="1" y="0"/>
                    </a:moveTo>
                    <a:cubicBezTo>
                      <a:pt x="1" y="0"/>
                      <a:pt x="0" y="0"/>
                      <a:pt x="0" y="0"/>
                    </a:cubicBezTo>
                    <a:cubicBezTo>
                      <a:pt x="0" y="0"/>
                      <a:pt x="1" y="0"/>
                      <a:pt x="1" y="0"/>
                    </a:cubicBezTo>
                    <a:close/>
                  </a:path>
                </a:pathLst>
              </a:custGeom>
              <a:solidFill>
                <a:srgbClr val="6c617f"/>
              </a:solidFill>
              <a:ln w="0">
                <a:noFill/>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4" name="Freeform 35"/>
              <p:cNvSpPr/>
              <p:nvPr/>
            </p:nvSpPr>
            <p:spPr>
              <a:xfrm flipH="1">
                <a:off x="6615000" y="1880280"/>
                <a:ext cx="2520" cy="2520"/>
              </a:xfrm>
              <a:custGeom>
                <a:avLst/>
                <a:gdLst>
                  <a:gd name="GluePoint1X" fmla="*/ 8388608 w 1"/>
                  <a:gd name="GluePoint1Y" fmla="*/ 8388608 h 1"/>
                  <a:gd name="GluePoint2X" fmla="*/ 0 w 1"/>
                  <a:gd name="GluePoint2Y" fmla="*/ 0 h 1"/>
                  <a:gd name="GluePoint3X" fmla="*/ 8388608 w 1"/>
                  <a:gd name="GluePoint3Y" fmla="*/ 8388608 h 1"/>
                </a:gdLst>
                <a:ahLst/>
                <a:cxnLst>
                  <a:cxn ang="0">
                    <a:pos x="GluePoint1X" y="GluePoint1Y"/>
                  </a:cxn>
                  <a:cxn ang="0">
                    <a:pos x="GluePoint2X" y="GluePoint2Y"/>
                  </a:cxn>
                  <a:cxn ang="0">
                    <a:pos x="GluePoint3X" y="GluePoint3Y"/>
                  </a:cxn>
                </a:cxnLst>
                <a:rect l="l" t="t" r="r" b="b"/>
                <a:pathLst>
                  <a:path w="1" h="1">
                    <a:moveTo>
                      <a:pt x="1" y="1"/>
                    </a:moveTo>
                    <a:cubicBezTo>
                      <a:pt x="1" y="1"/>
                      <a:pt x="0" y="0"/>
                      <a:pt x="0" y="0"/>
                    </a:cubicBezTo>
                    <a:cubicBezTo>
                      <a:pt x="0" y="0"/>
                      <a:pt x="1" y="1"/>
                      <a:pt x="1" y="1"/>
                    </a:cubicBezTo>
                    <a:close/>
                  </a:path>
                </a:pathLst>
              </a:custGeom>
              <a:solidFill>
                <a:srgbClr val="6c617f"/>
              </a:solidFill>
              <a:ln w="0">
                <a:noFill/>
              </a:ln>
            </p:spPr>
            <p:style>
              <a:lnRef idx="0"/>
              <a:fillRef idx="0"/>
              <a:effectRef idx="0"/>
              <a:fontRef idx="minor"/>
            </p:style>
            <p:txBody>
              <a:bodyPr lIns="90000" rIns="90000" tIns="-44280" bIns="-44280" anchor="t">
                <a:noAutofit/>
              </a:bodyPr>
              <a:p>
                <a:endParaRPr b="0" lang="en-US" sz="2400" strike="noStrike" u="none">
                  <a:solidFill>
                    <a:srgbClr val="ffff00"/>
                  </a:solidFill>
                  <a:effectLst/>
                  <a:uFillTx/>
                  <a:latin typeface="Times New Roman"/>
                </a:endParaRPr>
              </a:p>
            </p:txBody>
          </p:sp>
          <p:sp>
            <p:nvSpPr>
              <p:cNvPr id="255" name="Freeform 36"/>
              <p:cNvSpPr/>
              <p:nvPr/>
            </p:nvSpPr>
            <p:spPr>
              <a:xfrm flipH="1">
                <a:off x="6595560" y="1900800"/>
                <a:ext cx="5400" cy="20160"/>
              </a:xfrm>
              <a:custGeom>
                <a:avLst/>
                <a:gdLst>
                  <a:gd name="GluePoint1X" fmla="*/ 16777216 w 2"/>
                  <a:gd name="GluePoint1Y" fmla="*/ 2147483647 h 6"/>
                  <a:gd name="GluePoint2X" fmla="*/ 0 w 2"/>
                  <a:gd name="GluePoint2Y" fmla="*/ 0 h 6"/>
                  <a:gd name="GluePoint3X" fmla="*/ 16777216 w 2"/>
                  <a:gd name="GluePoint3Y" fmla="*/ 2147483647 h 6"/>
                </a:gdLst>
                <a:ahLst/>
                <a:cxnLst>
                  <a:cxn ang="0">
                    <a:pos x="GluePoint1X" y="GluePoint1Y"/>
                  </a:cxn>
                  <a:cxn ang="0">
                    <a:pos x="GluePoint2X" y="GluePoint2Y"/>
                  </a:cxn>
                  <a:cxn ang="0">
                    <a:pos x="GluePoint3X" y="GluePoint3Y"/>
                  </a:cxn>
                </a:cxnLst>
                <a:rect l="l" t="t" r="r" b="b"/>
                <a:pathLst>
                  <a:path w="2" h="6">
                    <a:moveTo>
                      <a:pt x="2" y="6"/>
                    </a:moveTo>
                    <a:cubicBezTo>
                      <a:pt x="2" y="4"/>
                      <a:pt x="1" y="2"/>
                      <a:pt x="0" y="0"/>
                    </a:cubicBezTo>
                    <a:cubicBezTo>
                      <a:pt x="1" y="2"/>
                      <a:pt x="2" y="4"/>
                      <a:pt x="2" y="6"/>
                    </a:cubicBezTo>
                    <a:close/>
                  </a:path>
                </a:pathLst>
              </a:custGeom>
              <a:solidFill>
                <a:srgbClr val="6c617f"/>
              </a:solidFill>
              <a:ln w="0">
                <a:noFill/>
              </a:ln>
            </p:spPr>
            <p:style>
              <a:lnRef idx="0"/>
              <a:fillRef idx="0"/>
              <a:effectRef idx="0"/>
              <a:fontRef idx="minor"/>
            </p:style>
            <p:txBody>
              <a:bodyPr lIns="90000" rIns="90000" tIns="-26640" bIns="-26640" anchor="t">
                <a:noAutofit/>
              </a:bodyPr>
              <a:p>
                <a:endParaRPr b="0" lang="en-US" sz="2400" strike="noStrike" u="none">
                  <a:solidFill>
                    <a:srgbClr val="ffff00"/>
                  </a:solidFill>
                  <a:effectLst/>
                  <a:uFillTx/>
                  <a:latin typeface="Times New Roman"/>
                </a:endParaRPr>
              </a:p>
            </p:txBody>
          </p:sp>
          <p:sp>
            <p:nvSpPr>
              <p:cNvPr id="256" name="Freeform 37"/>
              <p:cNvSpPr/>
              <p:nvPr/>
            </p:nvSpPr>
            <p:spPr>
              <a:xfrm flipH="1">
                <a:off x="6617880" y="1877760"/>
                <a:ext cx="6840" cy="2520"/>
              </a:xfrm>
              <a:custGeom>
                <a:avLst/>
                <a:gdLst>
                  <a:gd name="GluePoint1X" fmla="*/ 2147483647 w 2"/>
                  <a:gd name="GluePoint1Y" fmla="*/ 8388608 h 1"/>
                  <a:gd name="GluePoint2X" fmla="*/ 0 w 2"/>
                  <a:gd name="GluePoint2Y" fmla="*/ 0 h 1"/>
                  <a:gd name="GluePoint3X" fmla="*/ 2147483647 w 2"/>
                  <a:gd name="GluePoint3Y" fmla="*/ 8388608 h 1"/>
                </a:gdLst>
                <a:ahLst/>
                <a:cxnLst>
                  <a:cxn ang="0">
                    <a:pos x="GluePoint1X" y="GluePoint1Y"/>
                  </a:cxn>
                  <a:cxn ang="0">
                    <a:pos x="GluePoint2X" y="GluePoint2Y"/>
                  </a:cxn>
                  <a:cxn ang="0">
                    <a:pos x="GluePoint3X" y="GluePoint3Y"/>
                  </a:cxn>
                </a:cxnLst>
                <a:rect l="l" t="t" r="r" b="b"/>
                <a:pathLst>
                  <a:path w="2" h="1">
                    <a:moveTo>
                      <a:pt x="2" y="1"/>
                    </a:moveTo>
                    <a:cubicBezTo>
                      <a:pt x="1" y="1"/>
                      <a:pt x="1" y="1"/>
                      <a:pt x="0" y="0"/>
                    </a:cubicBezTo>
                    <a:cubicBezTo>
                      <a:pt x="1" y="1"/>
                      <a:pt x="1" y="1"/>
                      <a:pt x="2" y="1"/>
                    </a:cubicBezTo>
                    <a:close/>
                  </a:path>
                </a:pathLst>
              </a:custGeom>
              <a:solidFill>
                <a:srgbClr val="6c617f"/>
              </a:solidFill>
              <a:ln w="0">
                <a:noFill/>
              </a:ln>
            </p:spPr>
            <p:style>
              <a:lnRef idx="0"/>
              <a:fillRef idx="0"/>
              <a:effectRef idx="0"/>
              <a:fontRef idx="minor"/>
            </p:style>
            <p:txBody>
              <a:bodyPr lIns="90000" rIns="90000" tIns="-44280" bIns="-44280" anchor="t">
                <a:noAutofit/>
              </a:bodyPr>
              <a:p>
                <a:endParaRPr b="0" lang="en-US" sz="2400" strike="noStrike" u="none">
                  <a:solidFill>
                    <a:srgbClr val="ffff00"/>
                  </a:solidFill>
                  <a:effectLst/>
                  <a:uFillTx/>
                  <a:latin typeface="Times New Roman"/>
                </a:endParaRPr>
              </a:p>
            </p:txBody>
          </p:sp>
          <p:sp>
            <p:nvSpPr>
              <p:cNvPr id="257" name="Freeform 38"/>
              <p:cNvSpPr/>
              <p:nvPr/>
            </p:nvSpPr>
            <p:spPr>
              <a:xfrm flipH="1">
                <a:off x="6634440" y="1877760"/>
                <a:ext cx="5400" cy="1440"/>
              </a:xfrm>
              <a:custGeom>
                <a:avLst/>
                <a:gdLst>
                  <a:gd name="GluePoint1X" fmla="*/ 0 w 2"/>
                  <a:gd name="GluePoint1Y" fmla="*/ 0 h 1"/>
                  <a:gd name="GluePoint2X" fmla="*/ 16777216 w 2"/>
                  <a:gd name="GluePoint2Y" fmla="*/ 0 h 1"/>
                  <a:gd name="GluePoint3X" fmla="*/ 0 w 2"/>
                  <a:gd name="GluePoint3Y" fmla="*/ 0 h 1"/>
                </a:gdLst>
                <a:ahLst/>
                <a:cxnLst>
                  <a:cxn ang="0">
                    <a:pos x="GluePoint1X" y="GluePoint1Y"/>
                  </a:cxn>
                  <a:cxn ang="0">
                    <a:pos x="GluePoint2X" y="GluePoint2Y"/>
                  </a:cxn>
                  <a:cxn ang="0">
                    <a:pos x="GluePoint3X" y="GluePoint3Y"/>
                  </a:cxn>
                </a:cxnLst>
                <a:rect l="l" t="t" r="r" b="b"/>
                <a:pathLst>
                  <a:path w="2" h="1">
                    <a:moveTo>
                      <a:pt x="0" y="0"/>
                    </a:moveTo>
                    <a:cubicBezTo>
                      <a:pt x="1" y="0"/>
                      <a:pt x="1" y="0"/>
                      <a:pt x="2" y="0"/>
                    </a:cubicBezTo>
                    <a:cubicBezTo>
                      <a:pt x="1" y="0"/>
                      <a:pt x="1" y="0"/>
                      <a:pt x="0" y="0"/>
                    </a:cubicBezTo>
                    <a:close/>
                  </a:path>
                </a:pathLst>
              </a:custGeom>
              <a:solidFill>
                <a:srgbClr val="6c617f"/>
              </a:solidFill>
              <a:ln w="0">
                <a:noFill/>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8" name="Freeform 39"/>
              <p:cNvSpPr/>
              <p:nvPr/>
            </p:nvSpPr>
            <p:spPr>
              <a:xfrm flipH="1">
                <a:off x="7283520" y="2181960"/>
                <a:ext cx="132840" cy="142560"/>
              </a:xfrm>
              <a:custGeom>
                <a:avLst/>
                <a:gdLst>
                  <a:gd name="GluePoint1X" fmla="*/ 2147483647 w 41"/>
                  <a:gd name="GluePoint1Y" fmla="*/ 2147483647 h 42"/>
                  <a:gd name="GluePoint2X" fmla="*/ 2147483647 w 41"/>
                  <a:gd name="GluePoint2Y" fmla="*/ 2147483647 h 42"/>
                  <a:gd name="GluePoint3X" fmla="*/ 2147483647 w 41"/>
                  <a:gd name="GluePoint3Y" fmla="*/ 2147483647 h 42"/>
                  <a:gd name="GluePoint4X" fmla="*/ 559842387 w 41"/>
                  <a:gd name="GluePoint4Y" fmla="*/ 2147483647 h 42"/>
                  <a:gd name="GluePoint5X" fmla="*/ 2147483647 w 41"/>
                  <a:gd name="GluePoint5Y" fmla="*/ 0 h 42"/>
                  <a:gd name="GluePoint6X" fmla="*/ 2147483647 w 41"/>
                  <a:gd name="GluePoint6Y" fmla="*/ 2147483647 h 42"/>
                  <a:gd name="GluePoint7X" fmla="*/ 2147483647 w 41"/>
                  <a:gd name="GluePoint7Y" fmla="*/ 2147483647 h 42"/>
                  <a:gd name="GluePoint8X" fmla="*/ 2147483647 w 41"/>
                  <a:gd name="GluePoint8Y" fmla="*/ 2147483647 h 42"/>
                  <a:gd name="GluePoint9X" fmla="*/ 2147483647 w 41"/>
                  <a:gd name="GluePoint9Y" fmla="*/ 2147483647 h 42"/>
                  <a:gd name="GluePoint10X" fmla="*/ 2147483647 w 41"/>
                  <a:gd name="GluePoint10Y" fmla="*/ 2147483647 h 4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41" h="42">
                    <a:moveTo>
                      <a:pt x="36" y="35"/>
                    </a:moveTo>
                    <a:cubicBezTo>
                      <a:pt x="32" y="37"/>
                      <a:pt x="28" y="40"/>
                      <a:pt x="24" y="41"/>
                    </a:cubicBezTo>
                    <a:cubicBezTo>
                      <a:pt x="20" y="42"/>
                      <a:pt x="16" y="41"/>
                      <a:pt x="11" y="41"/>
                    </a:cubicBezTo>
                    <a:cubicBezTo>
                      <a:pt x="4" y="42"/>
                      <a:pt x="0" y="42"/>
                      <a:pt x="2" y="34"/>
                    </a:cubicBezTo>
                    <a:cubicBezTo>
                      <a:pt x="6" y="21"/>
                      <a:pt x="15" y="11"/>
                      <a:pt x="23" y="0"/>
                    </a:cubicBezTo>
                    <a:cubicBezTo>
                      <a:pt x="19" y="4"/>
                      <a:pt x="16" y="9"/>
                      <a:pt x="20" y="13"/>
                    </a:cubicBezTo>
                    <a:cubicBezTo>
                      <a:pt x="26" y="19"/>
                      <a:pt x="35" y="15"/>
                      <a:pt x="41" y="14"/>
                    </a:cubicBezTo>
                    <a:cubicBezTo>
                      <a:pt x="33" y="19"/>
                      <a:pt x="21" y="25"/>
                      <a:pt x="12" y="19"/>
                    </a:cubicBezTo>
                    <a:cubicBezTo>
                      <a:pt x="12" y="27"/>
                      <a:pt x="7" y="33"/>
                      <a:pt x="17" y="36"/>
                    </a:cubicBezTo>
                    <a:cubicBezTo>
                      <a:pt x="22" y="38"/>
                      <a:pt x="35" y="38"/>
                      <a:pt x="36" y="35"/>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9" name="Freeform 40"/>
              <p:cNvSpPr/>
              <p:nvPr/>
            </p:nvSpPr>
            <p:spPr>
              <a:xfrm flipH="1">
                <a:off x="7036560" y="1893960"/>
                <a:ext cx="325080" cy="342360"/>
              </a:xfrm>
              <a:custGeom>
                <a:avLst/>
                <a:gdLst>
                  <a:gd name="GluePoint1X" fmla="*/ 1000060787 w 100"/>
                  <a:gd name="GluePoint1Y" fmla="*/ 2147483647 h 101"/>
                  <a:gd name="GluePoint2X" fmla="*/ 2084851212 w 100"/>
                  <a:gd name="GluePoint2Y" fmla="*/ 2147483647 h 101"/>
                  <a:gd name="GluePoint3X" fmla="*/ 2147483647 w 100"/>
                  <a:gd name="GluePoint3Y" fmla="*/ 2147483647 h 101"/>
                  <a:gd name="GluePoint4X" fmla="*/ 2147483647 w 100"/>
                  <a:gd name="GluePoint4Y" fmla="*/ 2147483647 h 101"/>
                  <a:gd name="GluePoint5X" fmla="*/ 2147483647 w 100"/>
                  <a:gd name="GluePoint5Y" fmla="*/ 2147483647 h 101"/>
                  <a:gd name="GluePoint6X" fmla="*/ 2147483647 w 100"/>
                  <a:gd name="GluePoint6Y" fmla="*/ 2147483647 h 101"/>
                  <a:gd name="GluePoint7X" fmla="*/ 2147483647 w 100"/>
                  <a:gd name="GluePoint7Y" fmla="*/ 2147483647 h 101"/>
                  <a:gd name="GluePoint8X" fmla="*/ 2147483647 w 100"/>
                  <a:gd name="GluePoint8Y" fmla="*/ 2147483647 h 101"/>
                  <a:gd name="GluePoint9X" fmla="*/ 2147483647 w 100"/>
                  <a:gd name="GluePoint9Y" fmla="*/ 2147483647 h 101"/>
                  <a:gd name="GluePoint10X" fmla="*/ 2147483647 w 100"/>
                  <a:gd name="GluePoint10Y" fmla="*/ 2147483647 h 101"/>
                  <a:gd name="GluePoint11X" fmla="*/ 2147483647 w 100"/>
                  <a:gd name="GluePoint11Y" fmla="*/ 2147483647 h 101"/>
                  <a:gd name="GluePoint12X" fmla="*/ 2147483647 w 100"/>
                  <a:gd name="GluePoint12Y" fmla="*/ 2147483647 h 101"/>
                  <a:gd name="GluePoint13X" fmla="*/ 2147483647 w 100"/>
                  <a:gd name="GluePoint13Y" fmla="*/ 2147483647 h 101"/>
                  <a:gd name="GluePoint14X" fmla="*/ 2147483647 w 100"/>
                  <a:gd name="GluePoint14Y" fmla="*/ 2147483647 h 101"/>
                  <a:gd name="GluePoint15X" fmla="*/ 2147483647 w 100"/>
                  <a:gd name="GluePoint15Y" fmla="*/ 2147483647 h 101"/>
                  <a:gd name="GluePoint16X" fmla="*/ 1000060787 w 100"/>
                  <a:gd name="GluePoint16Y" fmla="*/ 2147483647 h 10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l" t="t" r="r" b="b"/>
                <a:pathLst>
                  <a:path w="100" h="101">
                    <a:moveTo>
                      <a:pt x="4" y="101"/>
                    </a:moveTo>
                    <a:cubicBezTo>
                      <a:pt x="0" y="98"/>
                      <a:pt x="4" y="88"/>
                      <a:pt x="8" y="87"/>
                    </a:cubicBezTo>
                    <a:cubicBezTo>
                      <a:pt x="9" y="87"/>
                      <a:pt x="15" y="88"/>
                      <a:pt x="17" y="88"/>
                    </a:cubicBezTo>
                    <a:cubicBezTo>
                      <a:pt x="21" y="88"/>
                      <a:pt x="26" y="87"/>
                      <a:pt x="30" y="86"/>
                    </a:cubicBezTo>
                    <a:cubicBezTo>
                      <a:pt x="19" y="86"/>
                      <a:pt x="20" y="80"/>
                      <a:pt x="25" y="71"/>
                    </a:cubicBezTo>
                    <a:cubicBezTo>
                      <a:pt x="30" y="62"/>
                      <a:pt x="41" y="60"/>
                      <a:pt x="52" y="59"/>
                    </a:cubicBezTo>
                    <a:cubicBezTo>
                      <a:pt x="48" y="59"/>
                      <a:pt x="44" y="61"/>
                      <a:pt x="42" y="58"/>
                    </a:cubicBezTo>
                    <a:cubicBezTo>
                      <a:pt x="40" y="55"/>
                      <a:pt x="45" y="50"/>
                      <a:pt x="47" y="49"/>
                    </a:cubicBezTo>
                    <a:cubicBezTo>
                      <a:pt x="51" y="46"/>
                      <a:pt x="56" y="46"/>
                      <a:pt x="60" y="43"/>
                    </a:cubicBezTo>
                    <a:cubicBezTo>
                      <a:pt x="54" y="39"/>
                      <a:pt x="66" y="27"/>
                      <a:pt x="71" y="26"/>
                    </a:cubicBezTo>
                    <a:cubicBezTo>
                      <a:pt x="66" y="20"/>
                      <a:pt x="84" y="13"/>
                      <a:pt x="88" y="11"/>
                    </a:cubicBezTo>
                    <a:cubicBezTo>
                      <a:pt x="89" y="10"/>
                      <a:pt x="100" y="5"/>
                      <a:pt x="96" y="2"/>
                    </a:cubicBezTo>
                    <a:cubicBezTo>
                      <a:pt x="92" y="0"/>
                      <a:pt x="75" y="14"/>
                      <a:pt x="73" y="16"/>
                    </a:cubicBezTo>
                    <a:cubicBezTo>
                      <a:pt x="61" y="25"/>
                      <a:pt x="50" y="34"/>
                      <a:pt x="39" y="45"/>
                    </a:cubicBezTo>
                    <a:cubicBezTo>
                      <a:pt x="33" y="50"/>
                      <a:pt x="29" y="56"/>
                      <a:pt x="23" y="62"/>
                    </a:cubicBezTo>
                    <a:cubicBezTo>
                      <a:pt x="17" y="69"/>
                      <a:pt x="11" y="78"/>
                      <a:pt x="4" y="84"/>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0" name="Freeform 41"/>
              <p:cNvSpPr/>
              <p:nvPr/>
            </p:nvSpPr>
            <p:spPr>
              <a:xfrm flipH="1">
                <a:off x="6930360" y="1802520"/>
                <a:ext cx="51480" cy="40680"/>
              </a:xfrm>
              <a:custGeom>
                <a:avLst/>
                <a:gdLst>
                  <a:gd name="GluePoint1X" fmla="*/ 0 w 16"/>
                  <a:gd name="GluePoint1Y" fmla="*/ 2147483647 h 12"/>
                  <a:gd name="GluePoint2X" fmla="*/ 2147483647 w 16"/>
                  <a:gd name="GluePoint2Y" fmla="*/ 2147483647 h 12"/>
                  <a:gd name="GluePoint3X" fmla="*/ 2147483647 w 16"/>
                  <a:gd name="GluePoint3Y" fmla="*/ 2147483647 h 12"/>
                  <a:gd name="GluePoint4X" fmla="*/ 1953703376 w 16"/>
                  <a:gd name="GluePoint4Y" fmla="*/ 0 h 12"/>
                </a:gdLst>
                <a:ahLst/>
                <a:cxnLst>
                  <a:cxn ang="0">
                    <a:pos x="GluePoint1X" y="GluePoint1Y"/>
                  </a:cxn>
                  <a:cxn ang="0">
                    <a:pos x="GluePoint2X" y="GluePoint2Y"/>
                  </a:cxn>
                  <a:cxn ang="0">
                    <a:pos x="GluePoint3X" y="GluePoint3Y"/>
                  </a:cxn>
                  <a:cxn ang="0">
                    <a:pos x="GluePoint4X" y="GluePoint4Y"/>
                  </a:cxn>
                </a:cxnLst>
                <a:rect l="l" t="t" r="r" b="b"/>
                <a:pathLst>
                  <a:path w="16" h="12">
                    <a:moveTo>
                      <a:pt x="0" y="12"/>
                    </a:moveTo>
                    <a:cubicBezTo>
                      <a:pt x="5" y="11"/>
                      <a:pt x="9" y="10"/>
                      <a:pt x="14" y="10"/>
                    </a:cubicBezTo>
                    <a:cubicBezTo>
                      <a:pt x="12" y="7"/>
                      <a:pt x="13" y="4"/>
                      <a:pt x="16" y="2"/>
                    </a:cubicBezTo>
                    <a:cubicBezTo>
                      <a:pt x="13" y="2"/>
                      <a:pt x="10" y="2"/>
                      <a:pt x="8" y="0"/>
                    </a:cubicBezTo>
                  </a:path>
                </a:pathLst>
              </a:custGeom>
              <a:solidFill>
                <a:srgbClr val="985a69"/>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261" name="Freeform 42"/>
              <p:cNvSpPr/>
              <p:nvPr/>
            </p:nvSpPr>
            <p:spPr>
              <a:xfrm flipH="1">
                <a:off x="6849000" y="1806480"/>
                <a:ext cx="61560" cy="60120"/>
              </a:xfrm>
              <a:custGeom>
                <a:avLst/>
                <a:gdLst>
                  <a:gd name="GluePoint1X" fmla="*/ 0 w 19"/>
                  <a:gd name="GluePoint1Y" fmla="*/ 0 h 18"/>
                  <a:gd name="GluePoint2X" fmla="*/ 1453265704 w 19"/>
                  <a:gd name="GluePoint2Y" fmla="*/ 2147483647 h 18"/>
                  <a:gd name="GluePoint3X" fmla="*/ 2147483647 w 19"/>
                  <a:gd name="GluePoint3Y" fmla="*/ 2147483647 h 18"/>
                  <a:gd name="GluePoint4X" fmla="*/ 2147483647 w 19"/>
                  <a:gd name="GluePoint4Y" fmla="*/ 2147483647 h 18"/>
                  <a:gd name="GluePoint5X" fmla="*/ 961958506 w 19"/>
                  <a:gd name="GluePoint5Y" fmla="*/ 0 h 1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9" h="18">
                    <a:moveTo>
                      <a:pt x="0" y="0"/>
                    </a:moveTo>
                    <a:cubicBezTo>
                      <a:pt x="2" y="3"/>
                      <a:pt x="5" y="6"/>
                      <a:pt x="6" y="9"/>
                    </a:cubicBezTo>
                    <a:cubicBezTo>
                      <a:pt x="11" y="5"/>
                      <a:pt x="16" y="15"/>
                      <a:pt x="18" y="18"/>
                    </a:cubicBezTo>
                    <a:cubicBezTo>
                      <a:pt x="17" y="14"/>
                      <a:pt x="18" y="10"/>
                      <a:pt x="19" y="6"/>
                    </a:cubicBezTo>
                    <a:cubicBezTo>
                      <a:pt x="15" y="7"/>
                      <a:pt x="5" y="4"/>
                      <a:pt x="4" y="0"/>
                    </a:cubicBezTo>
                  </a:path>
                </a:pathLst>
              </a:custGeom>
              <a:solidFill>
                <a:srgbClr val="985a69"/>
              </a:solidFill>
              <a:ln w="0">
                <a:noFill/>
              </a:ln>
            </p:spPr>
            <p:style>
              <a:lnRef idx="0"/>
              <a:fillRef idx="0"/>
              <a:effectRef idx="0"/>
              <a:fontRef idx="minor"/>
            </p:style>
            <p:txBody>
              <a:bodyPr lIns="90000" rIns="90000" tIns="13320" bIns="13320" anchor="t">
                <a:noAutofit/>
              </a:bodyPr>
              <a:p>
                <a:endParaRPr b="0" lang="en-US" sz="2400" strike="noStrike" u="none">
                  <a:solidFill>
                    <a:srgbClr val="ffff00"/>
                  </a:solidFill>
                  <a:effectLst/>
                  <a:uFillTx/>
                  <a:latin typeface="Times New Roman"/>
                </a:endParaRPr>
              </a:p>
            </p:txBody>
          </p:sp>
          <p:sp>
            <p:nvSpPr>
              <p:cNvPr id="262" name="Freeform 43"/>
              <p:cNvSpPr/>
              <p:nvPr/>
            </p:nvSpPr>
            <p:spPr>
              <a:xfrm flipH="1">
                <a:off x="6761160" y="1788480"/>
                <a:ext cx="87840" cy="47880"/>
              </a:xfrm>
              <a:custGeom>
                <a:avLst/>
                <a:gdLst>
                  <a:gd name="GluePoint1X" fmla="*/ 0 w 27"/>
                  <a:gd name="GluePoint1Y" fmla="*/ 2147483647 h 14"/>
                  <a:gd name="GluePoint2X" fmla="*/ 2147483647 w 27"/>
                  <a:gd name="GluePoint2Y" fmla="*/ 2147483647 h 14"/>
                  <a:gd name="GluePoint3X" fmla="*/ 2147483647 w 27"/>
                  <a:gd name="GluePoint3Y" fmla="*/ 2147483647 h 14"/>
                  <a:gd name="GluePoint4X" fmla="*/ 2147483647 w 27"/>
                  <a:gd name="GluePoint4Y" fmla="*/ 2147483647 h 14"/>
                  <a:gd name="GluePoint5X" fmla="*/ 2147483647 w 27"/>
                  <a:gd name="GluePoint5Y" fmla="*/ 2147483647 h 14"/>
                  <a:gd name="GluePoint6X" fmla="*/ 2147483647 w 27"/>
                  <a:gd name="GluePoint6Y" fmla="*/ 2147483647 h 14"/>
                  <a:gd name="GluePoint7X" fmla="*/ 2147483647 w 27"/>
                  <a:gd name="GluePoint7Y" fmla="*/ 0 h 1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7" h="14">
                    <a:moveTo>
                      <a:pt x="0" y="3"/>
                    </a:moveTo>
                    <a:cubicBezTo>
                      <a:pt x="4" y="11"/>
                      <a:pt x="14" y="7"/>
                      <a:pt x="19" y="14"/>
                    </a:cubicBezTo>
                    <a:cubicBezTo>
                      <a:pt x="19" y="13"/>
                      <a:pt x="19" y="13"/>
                      <a:pt x="19" y="12"/>
                    </a:cubicBezTo>
                    <a:cubicBezTo>
                      <a:pt x="22" y="11"/>
                      <a:pt x="26" y="11"/>
                      <a:pt x="27" y="13"/>
                    </a:cubicBezTo>
                    <a:cubicBezTo>
                      <a:pt x="25" y="11"/>
                      <a:pt x="15" y="10"/>
                      <a:pt x="14" y="6"/>
                    </a:cubicBezTo>
                    <a:cubicBezTo>
                      <a:pt x="14" y="1"/>
                      <a:pt x="24" y="3"/>
                      <a:pt x="27" y="3"/>
                    </a:cubicBezTo>
                    <a:cubicBezTo>
                      <a:pt x="24" y="2"/>
                      <a:pt x="20" y="2"/>
                      <a:pt x="17" y="0"/>
                    </a:cubicBezTo>
                  </a:path>
                </a:pathLst>
              </a:custGeom>
              <a:solidFill>
                <a:srgbClr val="985a69"/>
              </a:solidFill>
              <a:ln w="0">
                <a:noFill/>
              </a:ln>
            </p:spPr>
            <p:style>
              <a:lnRef idx="0"/>
              <a:fillRef idx="0"/>
              <a:effectRef idx="0"/>
              <a:fontRef idx="minor"/>
            </p:style>
            <p:txBody>
              <a:bodyPr lIns="90000" rIns="90000" tIns="1080" bIns="1080" anchor="t">
                <a:noAutofit/>
              </a:bodyPr>
              <a:p>
                <a:endParaRPr b="0" lang="en-US" sz="2400" strike="noStrike" u="none">
                  <a:solidFill>
                    <a:srgbClr val="ffff00"/>
                  </a:solidFill>
                  <a:effectLst/>
                  <a:uFillTx/>
                  <a:latin typeface="Times New Roman"/>
                </a:endParaRPr>
              </a:p>
            </p:txBody>
          </p:sp>
          <p:sp>
            <p:nvSpPr>
              <p:cNvPr id="263" name="Freeform 44"/>
              <p:cNvSpPr/>
              <p:nvPr/>
            </p:nvSpPr>
            <p:spPr>
              <a:xfrm flipH="1">
                <a:off x="6657120" y="1816200"/>
                <a:ext cx="39240" cy="183600"/>
              </a:xfrm>
              <a:custGeom>
                <a:avLst/>
                <a:gdLst>
                  <a:gd name="GluePoint1X" fmla="*/ 0 w 12"/>
                  <a:gd name="GluePoint1Y" fmla="*/ 2147483647 h 54"/>
                  <a:gd name="GluePoint2X" fmla="*/ 1118674480 w 12"/>
                  <a:gd name="GluePoint2Y" fmla="*/ 2147483647 h 54"/>
                  <a:gd name="GluePoint3X" fmla="*/ 0 w 12"/>
                  <a:gd name="GluePoint3Y" fmla="*/ 2147483647 h 54"/>
                  <a:gd name="GluePoint4X" fmla="*/ 1491565999 w 12"/>
                  <a:gd name="GluePoint4Y" fmla="*/ 2147483647 h 54"/>
                  <a:gd name="GluePoint5X" fmla="*/ 2147483647 w 12"/>
                  <a:gd name="GluePoint5Y" fmla="*/ 2147483647 h 54"/>
                  <a:gd name="GluePoint6X" fmla="*/ 2147483647 w 12"/>
                  <a:gd name="GluePoint6Y" fmla="*/ 2147483647 h 54"/>
                  <a:gd name="GluePoint7X" fmla="*/ 1970997908 w 12"/>
                  <a:gd name="GluePoint7Y" fmla="*/ 2147483647 h 54"/>
                  <a:gd name="GluePoint8X" fmla="*/ 0 w 12"/>
                  <a:gd name="GluePoint8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2" h="54">
                    <a:moveTo>
                      <a:pt x="0" y="9"/>
                    </a:moveTo>
                    <a:cubicBezTo>
                      <a:pt x="0" y="17"/>
                      <a:pt x="2" y="23"/>
                      <a:pt x="4" y="31"/>
                    </a:cubicBezTo>
                    <a:cubicBezTo>
                      <a:pt x="7" y="40"/>
                      <a:pt x="1" y="46"/>
                      <a:pt x="0" y="54"/>
                    </a:cubicBezTo>
                    <a:cubicBezTo>
                      <a:pt x="3" y="51"/>
                      <a:pt x="3" y="43"/>
                      <a:pt x="5" y="39"/>
                    </a:cubicBezTo>
                    <a:cubicBezTo>
                      <a:pt x="6" y="35"/>
                      <a:pt x="9" y="33"/>
                      <a:pt x="10" y="30"/>
                    </a:cubicBezTo>
                    <a:cubicBezTo>
                      <a:pt x="12" y="26"/>
                      <a:pt x="6" y="22"/>
                      <a:pt x="10" y="18"/>
                    </a:cubicBezTo>
                    <a:cubicBezTo>
                      <a:pt x="6" y="16"/>
                      <a:pt x="8" y="11"/>
                      <a:pt x="7" y="7"/>
                    </a:cubicBezTo>
                    <a:cubicBezTo>
                      <a:pt x="5" y="4"/>
                      <a:pt x="2" y="2"/>
                      <a:pt x="0" y="0"/>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4" name="Freeform 45"/>
              <p:cNvSpPr/>
              <p:nvPr/>
            </p:nvSpPr>
            <p:spPr>
              <a:xfrm flipH="1">
                <a:off x="6472080" y="2409120"/>
                <a:ext cx="350280" cy="450720"/>
              </a:xfrm>
              <a:custGeom>
                <a:avLst/>
                <a:gdLst>
                  <a:gd name="GluePoint1X" fmla="*/ 2147483647 w 108"/>
                  <a:gd name="GluePoint1Y" fmla="*/ 2147483647 h 133"/>
                  <a:gd name="GluePoint2X" fmla="*/ 2147483647 w 108"/>
                  <a:gd name="GluePoint2Y" fmla="*/ 2147483647 h 133"/>
                  <a:gd name="GluePoint3X" fmla="*/ 2147483647 w 108"/>
                  <a:gd name="GluePoint3Y" fmla="*/ 2147483647 h 133"/>
                  <a:gd name="GluePoint4X" fmla="*/ 2147483647 w 108"/>
                  <a:gd name="GluePoint4Y" fmla="*/ 2147483647 h 133"/>
                  <a:gd name="GluePoint5X" fmla="*/ 2147483647 w 108"/>
                  <a:gd name="GluePoint5Y" fmla="*/ 0 h 133"/>
                  <a:gd name="GluePoint6X" fmla="*/ 2147483647 w 108"/>
                  <a:gd name="GluePoint6Y" fmla="*/ 2147483647 h 133"/>
                  <a:gd name="GluePoint7X" fmla="*/ 2147483647 w 108"/>
                  <a:gd name="GluePoint7Y" fmla="*/ 2147483647 h 133"/>
                  <a:gd name="GluePoint8X" fmla="*/ 2147483647 w 108"/>
                  <a:gd name="GluePoint8Y" fmla="*/ 2147483647 h 133"/>
                  <a:gd name="GluePoint9X" fmla="*/ 2147483647 w 108"/>
                  <a:gd name="GluePoint9Y" fmla="*/ 2147483647 h 133"/>
                  <a:gd name="GluePoint10X" fmla="*/ 2147483647 w 108"/>
                  <a:gd name="GluePoint10Y" fmla="*/ 2147483647 h 133"/>
                  <a:gd name="GluePoint11X" fmla="*/ 2147483647 w 108"/>
                  <a:gd name="GluePoint11Y" fmla="*/ 2147483647 h 133"/>
                  <a:gd name="GluePoint12X" fmla="*/ 2147483647 w 108"/>
                  <a:gd name="GluePoint12Y" fmla="*/ 2147483647 h 133"/>
                  <a:gd name="GluePoint13X" fmla="*/ 2147483647 w 108"/>
                  <a:gd name="GluePoint13Y" fmla="*/ 2147483647 h 133"/>
                  <a:gd name="GluePoint14X" fmla="*/ 2147483647 w 108"/>
                  <a:gd name="GluePoint14Y" fmla="*/ 2147483647 h 133"/>
                  <a:gd name="GluePoint15X" fmla="*/ 2147483647 w 108"/>
                  <a:gd name="GluePoint15Y" fmla="*/ 2147483647 h 133"/>
                  <a:gd name="GluePoint16X" fmla="*/ 2147483647 w 108"/>
                  <a:gd name="GluePoint16Y" fmla="*/ 2147483647 h 133"/>
                  <a:gd name="GluePoint17X" fmla="*/ 2147483647 w 108"/>
                  <a:gd name="GluePoint17Y" fmla="*/ 2147483647 h 133"/>
                  <a:gd name="GluePoint18X" fmla="*/ 2147483647 w 108"/>
                  <a:gd name="GluePoint18Y" fmla="*/ 2147483647 h 133"/>
                  <a:gd name="GluePoint19X" fmla="*/ 2147483647 w 108"/>
                  <a:gd name="GluePoint19Y" fmla="*/ 2147483647 h 133"/>
                  <a:gd name="GluePoint20X" fmla="*/ 2147483647 w 108"/>
                  <a:gd name="GluePoint20Y" fmla="*/ 2147483647 h 133"/>
                  <a:gd name="GluePoint21X" fmla="*/ 2147483647 w 108"/>
                  <a:gd name="GluePoint21Y" fmla="*/ 2147483647 h 133"/>
                  <a:gd name="GluePoint22X" fmla="*/ 2147483647 w 108"/>
                  <a:gd name="GluePoint22Y" fmla="*/ 2147483647 h 133"/>
                  <a:gd name="GluePoint23X" fmla="*/ 2147483647 w 108"/>
                  <a:gd name="GluePoint23Y" fmla="*/ 2147483647 h 133"/>
                  <a:gd name="GluePoint24X" fmla="*/ 2147483647 w 108"/>
                  <a:gd name="GluePoint24Y" fmla="*/ 2147483647 h 133"/>
                  <a:gd name="GluePoint25X" fmla="*/ 2147483647 w 108"/>
                  <a:gd name="GluePoint25Y" fmla="*/ 2147483647 h 133"/>
                  <a:gd name="GluePoint26X" fmla="*/ 2147483647 w 108"/>
                  <a:gd name="GluePoint26Y" fmla="*/ 2147483647 h 133"/>
                  <a:gd name="GluePoint27X" fmla="*/ 2147483647 w 108"/>
                  <a:gd name="GluePoint27Y" fmla="*/ 2147483647 h 133"/>
                  <a:gd name="GluePoint28X" fmla="*/ 2147483647 w 108"/>
                  <a:gd name="GluePoint28Y" fmla="*/ 2147483647 h 133"/>
                  <a:gd name="GluePoint29X" fmla="*/ 2147483647 w 108"/>
                  <a:gd name="GluePoint29Y" fmla="*/ 2147483647 h 133"/>
                  <a:gd name="GluePoint30X" fmla="*/ 2147483647 w 108"/>
                  <a:gd name="GluePoint30Y" fmla="*/ 2147483647 h 133"/>
                  <a:gd name="GluePoint31X" fmla="*/ 2147483647 w 108"/>
                  <a:gd name="GluePoint31Y" fmla="*/ 2147483647 h 133"/>
                  <a:gd name="GluePoint32X" fmla="*/ 2147483647 w 108"/>
                  <a:gd name="GluePoint32Y" fmla="*/ 2147483647 h 133"/>
                  <a:gd name="GluePoint33X" fmla="*/ 2147483647 w 108"/>
                  <a:gd name="GluePoint33Y" fmla="*/ 2147483647 h 133"/>
                  <a:gd name="GluePoint34X" fmla="*/ 2147483647 w 108"/>
                  <a:gd name="GluePoint34Y" fmla="*/ 2147483647 h 133"/>
                  <a:gd name="GluePoint35X" fmla="*/ 2147483647 w 108"/>
                  <a:gd name="GluePoint35Y" fmla="*/ 2147483647 h 133"/>
                  <a:gd name="GluePoint36X" fmla="*/ 2147483647 w 108"/>
                  <a:gd name="GluePoint36Y" fmla="*/ 2147483647 h 133"/>
                  <a:gd name="GluePoint37X" fmla="*/ 2147483647 w 108"/>
                  <a:gd name="GluePoint37Y" fmla="*/ 2147483647 h 133"/>
                  <a:gd name="GluePoint38X" fmla="*/ 725223664 w 108"/>
                  <a:gd name="GluePoint38Y" fmla="*/ 2147483647 h 133"/>
                  <a:gd name="GluePoint39X" fmla="*/ 235775903 w 108"/>
                  <a:gd name="GluePoint39Y" fmla="*/ 2147483647 h 133"/>
                  <a:gd name="GluePoint40X" fmla="*/ 0 w 108"/>
                  <a:gd name="GluePoint40Y" fmla="*/ 2147483647 h 133"/>
                  <a:gd name="GluePoint41X" fmla="*/ 235775903 w 108"/>
                  <a:gd name="GluePoint41Y" fmla="*/ 2147483647 h 133"/>
                  <a:gd name="GluePoint42X" fmla="*/ 2147483647 w 108"/>
                  <a:gd name="GluePoint42Y" fmla="*/ 2147483647 h 133"/>
                  <a:gd name="GluePoint43X" fmla="*/ 2147483647 w 108"/>
                  <a:gd name="GluePoint43Y" fmla="*/ 2147483647 h 133"/>
                  <a:gd name="GluePoint44X" fmla="*/ 2147483647 w 108"/>
                  <a:gd name="GluePoint44Y" fmla="*/ 2147483647 h 133"/>
                  <a:gd name="GluePoint45X" fmla="*/ 2147483647 w 108"/>
                  <a:gd name="GluePoint45Y" fmla="*/ 2147483647 h 133"/>
                  <a:gd name="GluePoint46X" fmla="*/ 2147483647 w 108"/>
                  <a:gd name="GluePoint46Y" fmla="*/ 2147483647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Lst>
                <a:rect l="l" t="t" r="r" b="b"/>
                <a:pathLst>
                  <a:path w="108" h="133">
                    <a:moveTo>
                      <a:pt x="72" y="122"/>
                    </a:moveTo>
                    <a:cubicBezTo>
                      <a:pt x="77" y="120"/>
                      <a:pt x="80" y="123"/>
                      <a:pt x="85" y="121"/>
                    </a:cubicBezTo>
                    <a:cubicBezTo>
                      <a:pt x="93" y="118"/>
                      <a:pt x="105" y="92"/>
                      <a:pt x="108" y="82"/>
                    </a:cubicBezTo>
                    <a:cubicBezTo>
                      <a:pt x="105" y="62"/>
                      <a:pt x="99" y="30"/>
                      <a:pt x="95" y="15"/>
                    </a:cubicBezTo>
                    <a:cubicBezTo>
                      <a:pt x="93" y="10"/>
                      <a:pt x="92" y="5"/>
                      <a:pt x="90" y="0"/>
                    </a:cubicBezTo>
                    <a:cubicBezTo>
                      <a:pt x="88" y="4"/>
                      <a:pt x="88" y="4"/>
                      <a:pt x="88" y="4"/>
                    </a:cubicBezTo>
                    <a:cubicBezTo>
                      <a:pt x="88" y="7"/>
                      <a:pt x="86" y="12"/>
                      <a:pt x="86" y="14"/>
                    </a:cubicBezTo>
                    <a:cubicBezTo>
                      <a:pt x="86" y="15"/>
                      <a:pt x="86" y="15"/>
                      <a:pt x="86" y="15"/>
                    </a:cubicBezTo>
                    <a:cubicBezTo>
                      <a:pt x="86" y="15"/>
                      <a:pt x="86" y="15"/>
                      <a:pt x="86" y="15"/>
                    </a:cubicBezTo>
                    <a:cubicBezTo>
                      <a:pt x="87" y="17"/>
                      <a:pt x="90" y="18"/>
                      <a:pt x="90" y="20"/>
                    </a:cubicBezTo>
                    <a:cubicBezTo>
                      <a:pt x="92" y="24"/>
                      <a:pt x="91" y="28"/>
                      <a:pt x="91" y="32"/>
                    </a:cubicBezTo>
                    <a:cubicBezTo>
                      <a:pt x="91" y="36"/>
                      <a:pt x="92" y="41"/>
                      <a:pt x="92" y="45"/>
                    </a:cubicBezTo>
                    <a:cubicBezTo>
                      <a:pt x="92" y="49"/>
                      <a:pt x="91" y="49"/>
                      <a:pt x="89" y="52"/>
                    </a:cubicBezTo>
                    <a:cubicBezTo>
                      <a:pt x="89" y="55"/>
                      <a:pt x="88" y="58"/>
                      <a:pt x="86" y="60"/>
                    </a:cubicBezTo>
                    <a:cubicBezTo>
                      <a:pt x="85" y="61"/>
                      <a:pt x="85" y="62"/>
                      <a:pt x="84" y="62"/>
                    </a:cubicBezTo>
                    <a:cubicBezTo>
                      <a:pt x="92" y="73"/>
                      <a:pt x="90" y="92"/>
                      <a:pt x="89" y="104"/>
                    </a:cubicBezTo>
                    <a:cubicBezTo>
                      <a:pt x="89" y="113"/>
                      <a:pt x="82" y="116"/>
                      <a:pt x="81" y="106"/>
                    </a:cubicBezTo>
                    <a:cubicBezTo>
                      <a:pt x="80" y="97"/>
                      <a:pt x="78" y="80"/>
                      <a:pt x="70" y="73"/>
                    </a:cubicBezTo>
                    <a:cubicBezTo>
                      <a:pt x="69" y="73"/>
                      <a:pt x="69" y="74"/>
                      <a:pt x="67" y="74"/>
                    </a:cubicBezTo>
                    <a:cubicBezTo>
                      <a:pt x="67" y="74"/>
                      <a:pt x="67" y="74"/>
                      <a:pt x="66" y="74"/>
                    </a:cubicBezTo>
                    <a:cubicBezTo>
                      <a:pt x="69" y="81"/>
                      <a:pt x="74" y="88"/>
                      <a:pt x="75" y="96"/>
                    </a:cubicBezTo>
                    <a:cubicBezTo>
                      <a:pt x="76" y="101"/>
                      <a:pt x="76" y="111"/>
                      <a:pt x="73" y="115"/>
                    </a:cubicBezTo>
                    <a:cubicBezTo>
                      <a:pt x="69" y="120"/>
                      <a:pt x="62" y="120"/>
                      <a:pt x="62" y="113"/>
                    </a:cubicBezTo>
                    <a:cubicBezTo>
                      <a:pt x="61" y="104"/>
                      <a:pt x="63" y="95"/>
                      <a:pt x="58" y="86"/>
                    </a:cubicBezTo>
                    <a:cubicBezTo>
                      <a:pt x="57" y="93"/>
                      <a:pt x="63" y="112"/>
                      <a:pt x="56" y="117"/>
                    </a:cubicBezTo>
                    <a:cubicBezTo>
                      <a:pt x="45" y="124"/>
                      <a:pt x="38" y="99"/>
                      <a:pt x="38" y="92"/>
                    </a:cubicBezTo>
                    <a:cubicBezTo>
                      <a:pt x="36" y="98"/>
                      <a:pt x="39" y="105"/>
                      <a:pt x="38" y="112"/>
                    </a:cubicBezTo>
                    <a:cubicBezTo>
                      <a:pt x="38" y="115"/>
                      <a:pt x="37" y="117"/>
                      <a:pt x="33" y="117"/>
                    </a:cubicBezTo>
                    <a:cubicBezTo>
                      <a:pt x="27" y="118"/>
                      <a:pt x="28" y="109"/>
                      <a:pt x="28" y="104"/>
                    </a:cubicBezTo>
                    <a:cubicBezTo>
                      <a:pt x="26" y="99"/>
                      <a:pt x="23" y="97"/>
                      <a:pt x="21" y="92"/>
                    </a:cubicBezTo>
                    <a:cubicBezTo>
                      <a:pt x="20" y="88"/>
                      <a:pt x="22" y="84"/>
                      <a:pt x="23" y="81"/>
                    </a:cubicBezTo>
                    <a:cubicBezTo>
                      <a:pt x="27" y="73"/>
                      <a:pt x="23" y="75"/>
                      <a:pt x="17" y="74"/>
                    </a:cubicBezTo>
                    <a:cubicBezTo>
                      <a:pt x="17" y="75"/>
                      <a:pt x="17" y="76"/>
                      <a:pt x="16" y="78"/>
                    </a:cubicBezTo>
                    <a:cubicBezTo>
                      <a:pt x="16" y="78"/>
                      <a:pt x="16" y="78"/>
                      <a:pt x="16" y="78"/>
                    </a:cubicBezTo>
                    <a:cubicBezTo>
                      <a:pt x="15" y="82"/>
                      <a:pt x="12" y="86"/>
                      <a:pt x="12" y="91"/>
                    </a:cubicBezTo>
                    <a:cubicBezTo>
                      <a:pt x="12" y="98"/>
                      <a:pt x="13" y="103"/>
                      <a:pt x="15" y="109"/>
                    </a:cubicBezTo>
                    <a:cubicBezTo>
                      <a:pt x="17" y="115"/>
                      <a:pt x="18" y="123"/>
                      <a:pt x="10" y="118"/>
                    </a:cubicBezTo>
                    <a:cubicBezTo>
                      <a:pt x="6" y="116"/>
                      <a:pt x="4" y="112"/>
                      <a:pt x="3" y="107"/>
                    </a:cubicBezTo>
                    <a:cubicBezTo>
                      <a:pt x="3" y="104"/>
                      <a:pt x="5" y="100"/>
                      <a:pt x="1" y="98"/>
                    </a:cubicBezTo>
                    <a:cubicBezTo>
                      <a:pt x="0" y="107"/>
                      <a:pt x="0" y="115"/>
                      <a:pt x="0" y="124"/>
                    </a:cubicBezTo>
                    <a:cubicBezTo>
                      <a:pt x="1" y="124"/>
                      <a:pt x="1" y="124"/>
                      <a:pt x="1" y="124"/>
                    </a:cubicBezTo>
                    <a:cubicBezTo>
                      <a:pt x="6" y="125"/>
                      <a:pt x="9" y="128"/>
                      <a:pt x="14" y="129"/>
                    </a:cubicBezTo>
                    <a:cubicBezTo>
                      <a:pt x="12" y="129"/>
                      <a:pt x="23" y="127"/>
                      <a:pt x="21" y="127"/>
                    </a:cubicBezTo>
                    <a:cubicBezTo>
                      <a:pt x="21" y="127"/>
                      <a:pt x="29" y="126"/>
                      <a:pt x="29" y="126"/>
                    </a:cubicBezTo>
                    <a:cubicBezTo>
                      <a:pt x="37" y="127"/>
                      <a:pt x="44" y="130"/>
                      <a:pt x="51" y="124"/>
                    </a:cubicBezTo>
                    <a:cubicBezTo>
                      <a:pt x="55" y="133"/>
                      <a:pt x="66" y="123"/>
                      <a:pt x="72" y="122"/>
                    </a:cubicBezTo>
                    <a:close/>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5" name="Freeform 46"/>
              <p:cNvSpPr/>
              <p:nvPr/>
            </p:nvSpPr>
            <p:spPr>
              <a:xfrm flipH="1">
                <a:off x="6972840" y="2694240"/>
                <a:ext cx="90720" cy="97200"/>
              </a:xfrm>
              <a:custGeom>
                <a:avLst/>
                <a:gdLst>
                  <a:gd name="GluePoint1X" fmla="*/ 0 w 28"/>
                  <a:gd name="GluePoint1Y" fmla="*/ 2147483647 h 29"/>
                  <a:gd name="GluePoint2X" fmla="*/ 2147483647 w 28"/>
                  <a:gd name="GluePoint2Y" fmla="*/ 2147483647 h 29"/>
                  <a:gd name="GluePoint3X" fmla="*/ 2147483647 w 28"/>
                  <a:gd name="GluePoint3Y" fmla="*/ 2147483647 h 29"/>
                  <a:gd name="GluePoint4X" fmla="*/ 2147483647 w 28"/>
                  <a:gd name="GluePoint4Y" fmla="*/ 2147483647 h 29"/>
                  <a:gd name="GluePoint5X" fmla="*/ 2147483647 w 28"/>
                  <a:gd name="GluePoint5Y" fmla="*/ 2147483647 h 29"/>
                  <a:gd name="GluePoint6X" fmla="*/ 579754289 w 28"/>
                  <a:gd name="GluePoint6Y" fmla="*/ 0 h 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8" h="29">
                    <a:moveTo>
                      <a:pt x="0" y="5"/>
                    </a:moveTo>
                    <a:cubicBezTo>
                      <a:pt x="2" y="13"/>
                      <a:pt x="2" y="20"/>
                      <a:pt x="10" y="25"/>
                    </a:cubicBezTo>
                    <a:cubicBezTo>
                      <a:pt x="16" y="28"/>
                      <a:pt x="22" y="29"/>
                      <a:pt x="28" y="29"/>
                    </a:cubicBezTo>
                    <a:cubicBezTo>
                      <a:pt x="22" y="25"/>
                      <a:pt x="22" y="15"/>
                      <a:pt x="22" y="8"/>
                    </a:cubicBezTo>
                    <a:cubicBezTo>
                      <a:pt x="21" y="16"/>
                      <a:pt x="19" y="21"/>
                      <a:pt x="11" y="15"/>
                    </a:cubicBezTo>
                    <a:cubicBezTo>
                      <a:pt x="7" y="12"/>
                      <a:pt x="2" y="5"/>
                      <a:pt x="2" y="0"/>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6" name="Freeform 47"/>
              <p:cNvSpPr/>
              <p:nvPr/>
            </p:nvSpPr>
            <p:spPr>
              <a:xfrm flipH="1">
                <a:off x="6859080" y="2653200"/>
                <a:ext cx="123120" cy="158760"/>
              </a:xfrm>
              <a:custGeom>
                <a:avLst/>
                <a:gdLst>
                  <a:gd name="GluePoint1X" fmla="*/ 2147483647 w 38"/>
                  <a:gd name="GluePoint1Y" fmla="*/ 2147483647 h 47"/>
                  <a:gd name="GluePoint2X" fmla="*/ 2147483647 w 38"/>
                  <a:gd name="GluePoint2Y" fmla="*/ 2147483647 h 47"/>
                  <a:gd name="GluePoint3X" fmla="*/ 2147483647 w 38"/>
                  <a:gd name="GluePoint3Y" fmla="*/ 2147483647 h 47"/>
                  <a:gd name="GluePoint4X" fmla="*/ 0 w 38"/>
                  <a:gd name="GluePoint4Y" fmla="*/ 2147483647 h 47"/>
                  <a:gd name="GluePoint5X" fmla="*/ 1692086234 w 38"/>
                  <a:gd name="GluePoint5Y" fmla="*/ 2147483647 h 47"/>
                  <a:gd name="GluePoint6X" fmla="*/ 2147483647 w 38"/>
                  <a:gd name="GluePoint6Y" fmla="*/ 0 h 47"/>
                  <a:gd name="GluePoint7X" fmla="*/ 2147483647 w 38"/>
                  <a:gd name="GluePoint7Y" fmla="*/ 2147483647 h 47"/>
                  <a:gd name="GluePoint8X" fmla="*/ 2147483647 w 38"/>
                  <a:gd name="GluePoint8Y" fmla="*/ 2147483647 h 47"/>
                  <a:gd name="GluePoint9X" fmla="*/ 2147483647 w 38"/>
                  <a:gd name="GluePoint9Y" fmla="*/ 2147483647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38" h="47">
                    <a:moveTo>
                      <a:pt x="35" y="9"/>
                    </a:moveTo>
                    <a:cubicBezTo>
                      <a:pt x="30" y="22"/>
                      <a:pt x="35" y="35"/>
                      <a:pt x="38" y="47"/>
                    </a:cubicBezTo>
                    <a:cubicBezTo>
                      <a:pt x="32" y="46"/>
                      <a:pt x="26" y="47"/>
                      <a:pt x="20" y="46"/>
                    </a:cubicBezTo>
                    <a:cubicBezTo>
                      <a:pt x="14" y="45"/>
                      <a:pt x="5" y="46"/>
                      <a:pt x="0" y="43"/>
                    </a:cubicBezTo>
                    <a:cubicBezTo>
                      <a:pt x="10" y="41"/>
                      <a:pt x="7" y="34"/>
                      <a:pt x="7" y="27"/>
                    </a:cubicBezTo>
                    <a:cubicBezTo>
                      <a:pt x="7" y="18"/>
                      <a:pt x="13" y="8"/>
                      <a:pt x="15" y="0"/>
                    </a:cubicBezTo>
                    <a:cubicBezTo>
                      <a:pt x="13" y="8"/>
                      <a:pt x="13" y="25"/>
                      <a:pt x="18" y="33"/>
                    </a:cubicBezTo>
                    <a:cubicBezTo>
                      <a:pt x="20" y="38"/>
                      <a:pt x="24" y="40"/>
                      <a:pt x="29" y="34"/>
                    </a:cubicBezTo>
                    <a:cubicBezTo>
                      <a:pt x="34" y="28"/>
                      <a:pt x="30" y="16"/>
                      <a:pt x="35" y="10"/>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7" name="Freeform 48"/>
              <p:cNvSpPr/>
              <p:nvPr/>
            </p:nvSpPr>
            <p:spPr>
              <a:xfrm flipH="1">
                <a:off x="6992280" y="2501280"/>
                <a:ext cx="29520" cy="73800"/>
              </a:xfrm>
              <a:custGeom>
                <a:avLst/>
                <a:gdLst>
                  <a:gd name="GluePoint1X" fmla="*/ 2147483647 w 9"/>
                  <a:gd name="GluePoint1Y" fmla="*/ 0 h 22"/>
                  <a:gd name="GluePoint2X" fmla="*/ 273961102 w 9"/>
                  <a:gd name="GluePoint2Y" fmla="*/ 2147483647 h 22"/>
                  <a:gd name="GluePoint3X" fmla="*/ 639242571 w 9"/>
                  <a:gd name="GluePoint3Y" fmla="*/ 2147483647 h 22"/>
                </a:gdLst>
                <a:ahLst/>
                <a:cxnLst>
                  <a:cxn ang="0">
                    <a:pos x="GluePoint1X" y="GluePoint1Y"/>
                  </a:cxn>
                  <a:cxn ang="0">
                    <a:pos x="GluePoint2X" y="GluePoint2Y"/>
                  </a:cxn>
                  <a:cxn ang="0">
                    <a:pos x="GluePoint3X" y="GluePoint3Y"/>
                  </a:cxn>
                </a:cxnLst>
                <a:rect l="l" t="t" r="r" b="b"/>
                <a:pathLst>
                  <a:path w="9" h="22">
                    <a:moveTo>
                      <a:pt x="8" y="0"/>
                    </a:moveTo>
                    <a:cubicBezTo>
                      <a:pt x="8" y="7"/>
                      <a:pt x="9" y="18"/>
                      <a:pt x="1" y="22"/>
                    </a:cubicBezTo>
                    <a:cubicBezTo>
                      <a:pt x="0" y="20"/>
                      <a:pt x="1" y="16"/>
                      <a:pt x="2" y="14"/>
                    </a:cubicBezTo>
                  </a:path>
                </a:pathLst>
              </a:custGeom>
              <a:solidFill>
                <a:srgbClr val="985a69"/>
              </a:solidFill>
              <a:ln w="0">
                <a:noFill/>
              </a:ln>
            </p:spPr>
            <p:style>
              <a:lnRef idx="0"/>
              <a:fillRef idx="0"/>
              <a:effectRef idx="0"/>
              <a:fontRef idx="minor"/>
            </p:style>
            <p:txBody>
              <a:bodyPr lIns="90000" rIns="90000" tIns="27000" bIns="27000" anchor="t">
                <a:noAutofit/>
              </a:bodyPr>
              <a:p>
                <a:endParaRPr b="0" lang="en-US" sz="2400" strike="noStrike" u="none">
                  <a:solidFill>
                    <a:srgbClr val="ffff00"/>
                  </a:solidFill>
                  <a:effectLst/>
                  <a:uFillTx/>
                  <a:latin typeface="Times New Roman"/>
                </a:endParaRPr>
              </a:p>
            </p:txBody>
          </p:sp>
          <p:sp>
            <p:nvSpPr>
              <p:cNvPr id="268" name="Freeform 49"/>
              <p:cNvSpPr/>
              <p:nvPr/>
            </p:nvSpPr>
            <p:spPr>
              <a:xfrm flipH="1">
                <a:off x="7021800" y="2595600"/>
                <a:ext cx="51480" cy="98280"/>
              </a:xfrm>
              <a:custGeom>
                <a:avLst/>
                <a:gdLst>
                  <a:gd name="GluePoint1X" fmla="*/ 2147483647 w 16"/>
                  <a:gd name="GluePoint1Y" fmla="*/ 0 h 29"/>
                  <a:gd name="GluePoint2X" fmla="*/ 2147483647 w 16"/>
                  <a:gd name="GluePoint2Y" fmla="*/ 2147483647 h 29"/>
                  <a:gd name="GluePoint3X" fmla="*/ 2147483647 w 16"/>
                  <a:gd name="GluePoint3Y" fmla="*/ 2147483647 h 29"/>
                  <a:gd name="GluePoint4X" fmla="*/ 1412007926 w 16"/>
                  <a:gd name="GluePoint4Y" fmla="*/ 2147483647 h 29"/>
                  <a:gd name="GluePoint5X" fmla="*/ 0 w 16"/>
                  <a:gd name="GluePoint5Y" fmla="*/ 2147483647 h 29"/>
                  <a:gd name="GluePoint6X" fmla="*/ 1645913636 w 16"/>
                  <a:gd name="GluePoint6Y" fmla="*/ 2147483647 h 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6" h="29">
                    <a:moveTo>
                      <a:pt x="15" y="0"/>
                    </a:moveTo>
                    <a:cubicBezTo>
                      <a:pt x="15" y="3"/>
                      <a:pt x="16" y="6"/>
                      <a:pt x="15" y="9"/>
                    </a:cubicBezTo>
                    <a:cubicBezTo>
                      <a:pt x="13" y="12"/>
                      <a:pt x="10" y="14"/>
                      <a:pt x="9" y="17"/>
                    </a:cubicBezTo>
                    <a:cubicBezTo>
                      <a:pt x="8" y="20"/>
                      <a:pt x="8" y="26"/>
                      <a:pt x="6" y="28"/>
                    </a:cubicBezTo>
                    <a:cubicBezTo>
                      <a:pt x="4" y="29"/>
                      <a:pt x="2" y="28"/>
                      <a:pt x="0" y="29"/>
                    </a:cubicBezTo>
                    <a:cubicBezTo>
                      <a:pt x="7" y="25"/>
                      <a:pt x="3" y="13"/>
                      <a:pt x="7" y="7"/>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69" name="Freeform 50"/>
              <p:cNvSpPr/>
              <p:nvPr/>
            </p:nvSpPr>
            <p:spPr>
              <a:xfrm flipH="1">
                <a:off x="7056720" y="2533680"/>
                <a:ext cx="207360" cy="179280"/>
              </a:xfrm>
              <a:custGeom>
                <a:avLst/>
                <a:gdLst>
                  <a:gd name="GluePoint1X" fmla="*/ 2147483647 w 64"/>
                  <a:gd name="GluePoint1Y" fmla="*/ 2147483647 h 53"/>
                  <a:gd name="GluePoint2X" fmla="*/ 2147483647 w 64"/>
                  <a:gd name="GluePoint2Y" fmla="*/ 2147483647 h 53"/>
                  <a:gd name="GluePoint3X" fmla="*/ 2147483647 w 64"/>
                  <a:gd name="GluePoint3Y" fmla="*/ 2147483647 h 53"/>
                  <a:gd name="GluePoint4X" fmla="*/ 2147483647 w 64"/>
                  <a:gd name="GluePoint4Y" fmla="*/ 2147483647 h 53"/>
                  <a:gd name="GluePoint5X" fmla="*/ 2147483647 w 64"/>
                  <a:gd name="GluePoint5Y" fmla="*/ 2147483647 h 53"/>
                  <a:gd name="GluePoint6X" fmla="*/ 0 w 64"/>
                  <a:gd name="GluePoint6Y" fmla="*/ 2147483647 h 53"/>
                  <a:gd name="GluePoint7X" fmla="*/ 2147483647 w 64"/>
                  <a:gd name="GluePoint7Y" fmla="*/ 2147483647 h 53"/>
                  <a:gd name="GluePoint8X" fmla="*/ 2147483647 w 64"/>
                  <a:gd name="GluePoint8Y" fmla="*/ 2147483647 h 53"/>
                  <a:gd name="GluePoint9X" fmla="*/ 2147483647 w 64"/>
                  <a:gd name="GluePoint9Y" fmla="*/ 2147483647 h 53"/>
                  <a:gd name="GluePoint10X" fmla="*/ 2147483647 w 64"/>
                  <a:gd name="GluePoint10Y" fmla="*/ 2147483647 h 53"/>
                  <a:gd name="GluePoint11X" fmla="*/ 2147483647 w 64"/>
                  <a:gd name="GluePoint11Y" fmla="*/ 2147483647 h 53"/>
                  <a:gd name="GluePoint12X" fmla="*/ 2147483647 w 64"/>
                  <a:gd name="GluePoint12Y" fmla="*/ 2147483647 h 53"/>
                  <a:gd name="GluePoint13X" fmla="*/ 2147483647 w 64"/>
                  <a:gd name="GluePoint13Y" fmla="*/ 2147483647 h 53"/>
                  <a:gd name="GluePoint14X" fmla="*/ 2147483647 w 64"/>
                  <a:gd name="GluePoint14Y" fmla="*/ 2147483647 h 53"/>
                  <a:gd name="GluePoint15X" fmla="*/ 2147483647 w 64"/>
                  <a:gd name="GluePoint15Y" fmla="*/ 2147483647 h 53"/>
                  <a:gd name="GluePoint16X" fmla="*/ 2147483647 w 64"/>
                  <a:gd name="GluePoint16Y" fmla="*/ 2147483647 h 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Lst>
                <a:rect l="l" t="t" r="r" b="b"/>
                <a:pathLst>
                  <a:path w="64" h="53">
                    <a:moveTo>
                      <a:pt x="62" y="37"/>
                    </a:moveTo>
                    <a:cubicBezTo>
                      <a:pt x="62" y="44"/>
                      <a:pt x="57" y="52"/>
                      <a:pt x="50" y="52"/>
                    </a:cubicBezTo>
                    <a:cubicBezTo>
                      <a:pt x="42" y="53"/>
                      <a:pt x="37" y="47"/>
                      <a:pt x="31" y="43"/>
                    </a:cubicBezTo>
                    <a:cubicBezTo>
                      <a:pt x="29" y="41"/>
                      <a:pt x="25" y="39"/>
                      <a:pt x="22" y="37"/>
                    </a:cubicBezTo>
                    <a:cubicBezTo>
                      <a:pt x="18" y="34"/>
                      <a:pt x="17" y="32"/>
                      <a:pt x="14" y="28"/>
                    </a:cubicBezTo>
                    <a:cubicBezTo>
                      <a:pt x="10" y="22"/>
                      <a:pt x="4" y="16"/>
                      <a:pt x="0" y="9"/>
                    </a:cubicBezTo>
                    <a:cubicBezTo>
                      <a:pt x="4" y="14"/>
                      <a:pt x="10" y="20"/>
                      <a:pt x="16" y="21"/>
                    </a:cubicBezTo>
                    <a:cubicBezTo>
                      <a:pt x="20" y="22"/>
                      <a:pt x="31" y="17"/>
                      <a:pt x="31" y="12"/>
                    </a:cubicBezTo>
                    <a:cubicBezTo>
                      <a:pt x="28" y="17"/>
                      <a:pt x="26" y="23"/>
                      <a:pt x="24" y="28"/>
                    </a:cubicBezTo>
                    <a:cubicBezTo>
                      <a:pt x="34" y="32"/>
                      <a:pt x="31" y="8"/>
                      <a:pt x="33" y="5"/>
                    </a:cubicBezTo>
                    <a:cubicBezTo>
                      <a:pt x="38" y="0"/>
                      <a:pt x="38" y="14"/>
                      <a:pt x="37" y="18"/>
                    </a:cubicBezTo>
                    <a:cubicBezTo>
                      <a:pt x="36" y="24"/>
                      <a:pt x="29" y="36"/>
                      <a:pt x="35" y="42"/>
                    </a:cubicBezTo>
                    <a:cubicBezTo>
                      <a:pt x="38" y="45"/>
                      <a:pt x="45" y="43"/>
                      <a:pt x="47" y="40"/>
                    </a:cubicBezTo>
                    <a:cubicBezTo>
                      <a:pt x="51" y="36"/>
                      <a:pt x="51" y="29"/>
                      <a:pt x="53" y="23"/>
                    </a:cubicBezTo>
                    <a:cubicBezTo>
                      <a:pt x="51" y="28"/>
                      <a:pt x="49" y="42"/>
                      <a:pt x="54" y="44"/>
                    </a:cubicBezTo>
                    <a:cubicBezTo>
                      <a:pt x="58" y="47"/>
                      <a:pt x="61" y="40"/>
                      <a:pt x="64" y="38"/>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70" name="Freeform 51"/>
              <p:cNvSpPr/>
              <p:nvPr/>
            </p:nvSpPr>
            <p:spPr>
              <a:xfrm flipH="1">
                <a:off x="7228800" y="2320200"/>
                <a:ext cx="194760" cy="248040"/>
              </a:xfrm>
              <a:custGeom>
                <a:avLst/>
                <a:gdLst>
                  <a:gd name="GluePoint1X" fmla="*/ 735054601 w 60"/>
                  <a:gd name="GluePoint1Y" fmla="*/ 2147483647 h 73"/>
                  <a:gd name="GluePoint2X" fmla="*/ 1462161044 w 60"/>
                  <a:gd name="GluePoint2Y" fmla="*/ 2147483647 h 73"/>
                  <a:gd name="GluePoint3X" fmla="*/ 2147483647 w 60"/>
                  <a:gd name="GluePoint3Y" fmla="*/ 2147483647 h 73"/>
                  <a:gd name="GluePoint4X" fmla="*/ 2147483647 w 60"/>
                  <a:gd name="GluePoint4Y" fmla="*/ 2147483647 h 73"/>
                  <a:gd name="GluePoint5X" fmla="*/ 2147483647 w 60"/>
                  <a:gd name="GluePoint5Y" fmla="*/ 2147483647 h 73"/>
                  <a:gd name="GluePoint6X" fmla="*/ 2147483647 w 60"/>
                  <a:gd name="GluePoint6Y" fmla="*/ 2147483647 h 73"/>
                  <a:gd name="GluePoint7X" fmla="*/ 2147483647 w 60"/>
                  <a:gd name="GluePoint7Y" fmla="*/ 2147483647 h 73"/>
                  <a:gd name="GluePoint8X" fmla="*/ 2147483647 w 60"/>
                  <a:gd name="GluePoint8Y" fmla="*/ 2147483647 h 73"/>
                  <a:gd name="GluePoint9X" fmla="*/ 2147483647 w 60"/>
                  <a:gd name="GluePoint9Y" fmla="*/ 2147483647 h 73"/>
                  <a:gd name="GluePoint10X" fmla="*/ 2147483647 w 60"/>
                  <a:gd name="GluePoint10Y" fmla="*/ 2147483647 h 73"/>
                  <a:gd name="GluePoint11X" fmla="*/ 1293363364 w 60"/>
                  <a:gd name="GluePoint11Y" fmla="*/ 0 h 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60" h="73">
                    <a:moveTo>
                      <a:pt x="3" y="2"/>
                    </a:moveTo>
                    <a:cubicBezTo>
                      <a:pt x="0" y="15"/>
                      <a:pt x="0" y="25"/>
                      <a:pt x="6" y="37"/>
                    </a:cubicBezTo>
                    <a:cubicBezTo>
                      <a:pt x="10" y="44"/>
                      <a:pt x="16" y="47"/>
                      <a:pt x="23" y="52"/>
                    </a:cubicBezTo>
                    <a:cubicBezTo>
                      <a:pt x="29" y="57"/>
                      <a:pt x="36" y="62"/>
                      <a:pt x="42" y="67"/>
                    </a:cubicBezTo>
                    <a:cubicBezTo>
                      <a:pt x="44" y="69"/>
                      <a:pt x="47" y="73"/>
                      <a:pt x="50" y="72"/>
                    </a:cubicBezTo>
                    <a:cubicBezTo>
                      <a:pt x="54" y="70"/>
                      <a:pt x="58" y="60"/>
                      <a:pt x="60" y="56"/>
                    </a:cubicBezTo>
                    <a:cubicBezTo>
                      <a:pt x="57" y="63"/>
                      <a:pt x="49" y="68"/>
                      <a:pt x="48" y="58"/>
                    </a:cubicBezTo>
                    <a:cubicBezTo>
                      <a:pt x="43" y="70"/>
                      <a:pt x="26" y="51"/>
                      <a:pt x="32" y="40"/>
                    </a:cubicBezTo>
                    <a:cubicBezTo>
                      <a:pt x="26" y="42"/>
                      <a:pt x="24" y="47"/>
                      <a:pt x="17" y="44"/>
                    </a:cubicBezTo>
                    <a:cubicBezTo>
                      <a:pt x="12" y="41"/>
                      <a:pt x="6" y="30"/>
                      <a:pt x="9" y="25"/>
                    </a:cubicBezTo>
                    <a:cubicBezTo>
                      <a:pt x="3" y="23"/>
                      <a:pt x="1" y="4"/>
                      <a:pt x="5" y="0"/>
                    </a:cubicBezTo>
                  </a:path>
                </a:pathLst>
              </a:custGeom>
              <a:solidFill>
                <a:srgbClr val="985a6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71" name="Freeform 52"/>
              <p:cNvSpPr/>
              <p:nvPr/>
            </p:nvSpPr>
            <p:spPr>
              <a:xfrm flipH="1">
                <a:off x="7232040" y="2415960"/>
                <a:ext cx="103680" cy="64080"/>
              </a:xfrm>
              <a:custGeom>
                <a:avLst/>
                <a:gdLst>
                  <a:gd name="GluePoint1X" fmla="*/ 2147483647 w 32"/>
                  <a:gd name="GluePoint1Y" fmla="*/ 2147483647 h 19"/>
                  <a:gd name="GluePoint2X" fmla="*/ 2147483647 w 32"/>
                  <a:gd name="GluePoint2Y" fmla="*/ 2147483647 h 19"/>
                  <a:gd name="GluePoint3X" fmla="*/ 2147483647 w 32"/>
                  <a:gd name="GluePoint3Y" fmla="*/ 2147483647 h 19"/>
                  <a:gd name="GluePoint4X" fmla="*/ 2147483647 w 32"/>
                  <a:gd name="GluePoint4Y" fmla="*/ 2147483647 h 19"/>
                  <a:gd name="GluePoint5X" fmla="*/ 0 w 32"/>
                  <a:gd name="GluePoint5Y" fmla="*/ 2147483647 h 1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2" h="19">
                    <a:moveTo>
                      <a:pt x="16" y="5"/>
                    </a:moveTo>
                    <a:cubicBezTo>
                      <a:pt x="20" y="5"/>
                      <a:pt x="25" y="5"/>
                      <a:pt x="28" y="3"/>
                    </a:cubicBezTo>
                    <a:cubicBezTo>
                      <a:pt x="28" y="8"/>
                      <a:pt x="32" y="11"/>
                      <a:pt x="32" y="15"/>
                    </a:cubicBezTo>
                    <a:cubicBezTo>
                      <a:pt x="30" y="15"/>
                      <a:pt x="28" y="16"/>
                      <a:pt x="26" y="17"/>
                    </a:cubicBezTo>
                    <a:cubicBezTo>
                      <a:pt x="30" y="0"/>
                      <a:pt x="4" y="13"/>
                      <a:pt x="0" y="19"/>
                    </a:cubicBezTo>
                  </a:path>
                </a:pathLst>
              </a:custGeom>
              <a:solidFill>
                <a:srgbClr val="985a69"/>
              </a:solidFill>
              <a:ln w="0">
                <a:noFill/>
              </a:ln>
            </p:spPr>
            <p:style>
              <a:lnRef idx="0"/>
              <a:fillRef idx="0"/>
              <a:effectRef idx="0"/>
              <a:fontRef idx="minor"/>
            </p:style>
            <p:txBody>
              <a:bodyPr lIns="90000" rIns="90000" tIns="17280" bIns="17280" anchor="t">
                <a:noAutofit/>
              </a:bodyPr>
              <a:p>
                <a:endParaRPr b="0" lang="en-US" sz="2400" strike="noStrike" u="none">
                  <a:solidFill>
                    <a:srgbClr val="ffff00"/>
                  </a:solidFill>
                  <a:effectLst/>
                  <a:uFillTx/>
                  <a:latin typeface="Times New Roman"/>
                </a:endParaRPr>
              </a:p>
            </p:txBody>
          </p:sp>
          <p:sp>
            <p:nvSpPr>
              <p:cNvPr id="272" name="Freeform 53"/>
              <p:cNvSpPr/>
              <p:nvPr/>
            </p:nvSpPr>
            <p:spPr>
              <a:xfrm flipH="1">
                <a:off x="6758280" y="2069280"/>
                <a:ext cx="41760" cy="142560"/>
              </a:xfrm>
              <a:custGeom>
                <a:avLst/>
                <a:gdLst>
                  <a:gd name="GluePoint1X" fmla="*/ 882493281 w 13"/>
                  <a:gd name="GluePoint1Y" fmla="*/ 2147483647 h 42"/>
                  <a:gd name="GluePoint2X" fmla="*/ 674779553 w 13"/>
                  <a:gd name="GluePoint2Y" fmla="*/ 2147483647 h 42"/>
                  <a:gd name="GluePoint3X" fmla="*/ 882493281 w 13"/>
                  <a:gd name="GluePoint3Y" fmla="*/ 2147483647 h 42"/>
                  <a:gd name="GluePoint4X" fmla="*/ 2147483647 w 13"/>
                  <a:gd name="GluePoint4Y" fmla="*/ 2147483647 h 42"/>
                  <a:gd name="GluePoint5X" fmla="*/ 1191661925 w 13"/>
                  <a:gd name="GluePoint5Y" fmla="*/ 2147483647 h 42"/>
                  <a:gd name="GluePoint6X" fmla="*/ 882493281 w 13"/>
                  <a:gd name="GluePoint6Y" fmla="*/ 2147483647 h 42"/>
                  <a:gd name="GluePoint7X" fmla="*/ 882493281 w 13"/>
                  <a:gd name="GluePoint7Y" fmla="*/ 2147483647 h 42"/>
                  <a:gd name="GluePoint8X" fmla="*/ 516386834 w 13"/>
                  <a:gd name="GluePoint8Y" fmla="*/ 0 h 4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3" h="42">
                    <a:moveTo>
                      <a:pt x="4" y="11"/>
                    </a:moveTo>
                    <a:cubicBezTo>
                      <a:pt x="0" y="16"/>
                      <a:pt x="0" y="18"/>
                      <a:pt x="3" y="24"/>
                    </a:cubicBezTo>
                    <a:cubicBezTo>
                      <a:pt x="6" y="28"/>
                      <a:pt x="13" y="39"/>
                      <a:pt x="4" y="42"/>
                    </a:cubicBezTo>
                    <a:cubicBezTo>
                      <a:pt x="8" y="41"/>
                      <a:pt x="13" y="36"/>
                      <a:pt x="12" y="32"/>
                    </a:cubicBezTo>
                    <a:cubicBezTo>
                      <a:pt x="12" y="28"/>
                      <a:pt x="5" y="25"/>
                      <a:pt x="5" y="20"/>
                    </a:cubicBezTo>
                    <a:cubicBezTo>
                      <a:pt x="5" y="18"/>
                      <a:pt x="4" y="17"/>
                      <a:pt x="4" y="15"/>
                    </a:cubicBezTo>
                    <a:cubicBezTo>
                      <a:pt x="4" y="13"/>
                      <a:pt x="5" y="13"/>
                      <a:pt x="4" y="12"/>
                    </a:cubicBezTo>
                    <a:cubicBezTo>
                      <a:pt x="3" y="9"/>
                      <a:pt x="2" y="4"/>
                      <a:pt x="2" y="0"/>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73" name="Freeform 54"/>
              <p:cNvSpPr/>
              <p:nvPr/>
            </p:nvSpPr>
            <p:spPr>
              <a:xfrm flipH="1">
                <a:off x="6591240" y="2198160"/>
                <a:ext cx="108000" cy="17640"/>
              </a:xfrm>
              <a:custGeom>
                <a:avLst/>
                <a:gdLst>
                  <a:gd name="GluePoint1X" fmla="*/ 0 w 33"/>
                  <a:gd name="GluePoint1Y" fmla="*/ 0 h 5"/>
                  <a:gd name="GluePoint2X" fmla="*/ 2147483647 w 33"/>
                  <a:gd name="GluePoint2Y" fmla="*/ 2147483647 h 5"/>
                  <a:gd name="GluePoint3X" fmla="*/ 2147483647 w 33"/>
                  <a:gd name="GluePoint3Y" fmla="*/ 2147483647 h 5"/>
                </a:gdLst>
                <a:ahLst/>
                <a:cxnLst>
                  <a:cxn ang="0">
                    <a:pos x="GluePoint1X" y="GluePoint1Y"/>
                  </a:cxn>
                  <a:cxn ang="0">
                    <a:pos x="GluePoint2X" y="GluePoint2Y"/>
                  </a:cxn>
                  <a:cxn ang="0">
                    <a:pos x="GluePoint3X" y="GluePoint3Y"/>
                  </a:cxn>
                </a:cxnLst>
                <a:rect l="l" t="t" r="r" b="b"/>
                <a:pathLst>
                  <a:path w="33" h="5">
                    <a:moveTo>
                      <a:pt x="0" y="0"/>
                    </a:moveTo>
                    <a:cubicBezTo>
                      <a:pt x="4" y="1"/>
                      <a:pt x="7" y="2"/>
                      <a:pt x="11" y="3"/>
                    </a:cubicBezTo>
                    <a:cubicBezTo>
                      <a:pt x="19" y="5"/>
                      <a:pt x="25" y="3"/>
                      <a:pt x="33" y="3"/>
                    </a:cubicBezTo>
                  </a:path>
                </a:pathLst>
              </a:custGeom>
              <a:solidFill>
                <a:srgbClr val="ffffff"/>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 name="Freeform 55"/>
              <p:cNvSpPr/>
              <p:nvPr/>
            </p:nvSpPr>
            <p:spPr>
              <a:xfrm flipH="1">
                <a:off x="6881400" y="2218680"/>
                <a:ext cx="91080" cy="40680"/>
              </a:xfrm>
              <a:custGeom>
                <a:avLst/>
                <a:gdLst>
                  <a:gd name="GluePoint1X" fmla="*/ 0 w 28"/>
                  <a:gd name="GluePoint1Y" fmla="*/ 2147483647 h 12"/>
                  <a:gd name="GluePoint2X" fmla="*/ 2147483647 w 28"/>
                  <a:gd name="GluePoint2Y" fmla="*/ 0 h 12"/>
                </a:gdLst>
                <a:ahLst/>
                <a:cxnLst>
                  <a:cxn ang="0">
                    <a:pos x="GluePoint1X" y="GluePoint1Y"/>
                  </a:cxn>
                  <a:cxn ang="0">
                    <a:pos x="GluePoint2X" y="GluePoint2Y"/>
                  </a:cxn>
                </a:cxnLst>
                <a:rect l="l" t="t" r="r" b="b"/>
                <a:pathLst>
                  <a:path w="28" h="12">
                    <a:moveTo>
                      <a:pt x="0" y="12"/>
                    </a:moveTo>
                    <a:cubicBezTo>
                      <a:pt x="7" y="6"/>
                      <a:pt x="19" y="2"/>
                      <a:pt x="28" y="0"/>
                    </a:cubicBezTo>
                  </a:path>
                </a:pathLst>
              </a:custGeom>
              <a:solidFill>
                <a:srgbClr val="ffffff"/>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275" name="Freeform 56"/>
              <p:cNvSpPr/>
              <p:nvPr/>
            </p:nvSpPr>
            <p:spPr>
              <a:xfrm flipH="1">
                <a:off x="6721560" y="2246040"/>
                <a:ext cx="51480" cy="64440"/>
              </a:xfrm>
              <a:custGeom>
                <a:avLst/>
                <a:gdLst>
                  <a:gd name="GluePoint1X" fmla="*/ 1953703376 w 16"/>
                  <a:gd name="GluePoint1Y" fmla="*/ 0 h 19"/>
                  <a:gd name="GluePoint2X" fmla="*/ 232020826 w 16"/>
                  <a:gd name="GluePoint2Y" fmla="*/ 2147483647 h 19"/>
                  <a:gd name="GluePoint3X" fmla="*/ 2147483647 w 16"/>
                  <a:gd name="GluePoint3Y" fmla="*/ 890812556 h 19"/>
                </a:gdLst>
                <a:ahLst/>
                <a:cxnLst>
                  <a:cxn ang="0">
                    <a:pos x="GluePoint1X" y="GluePoint1Y"/>
                  </a:cxn>
                  <a:cxn ang="0">
                    <a:pos x="GluePoint2X" y="GluePoint2Y"/>
                  </a:cxn>
                  <a:cxn ang="0">
                    <a:pos x="GluePoint3X" y="GluePoint3Y"/>
                  </a:cxn>
                </a:cxnLst>
                <a:rect l="l" t="t" r="r" b="b"/>
                <a:pathLst>
                  <a:path w="16" h="19">
                    <a:moveTo>
                      <a:pt x="8" y="0"/>
                    </a:moveTo>
                    <a:cubicBezTo>
                      <a:pt x="11" y="9"/>
                      <a:pt x="0" y="11"/>
                      <a:pt x="1" y="19"/>
                    </a:cubicBezTo>
                    <a:cubicBezTo>
                      <a:pt x="3" y="13"/>
                      <a:pt x="16" y="9"/>
                      <a:pt x="9" y="1"/>
                    </a:cubicBezTo>
                  </a:path>
                </a:pathLst>
              </a:custGeom>
              <a:solidFill>
                <a:srgbClr val="ffffff"/>
              </a:solidFill>
              <a:ln w="0">
                <a:noFill/>
              </a:ln>
            </p:spPr>
            <p:style>
              <a:lnRef idx="0"/>
              <a:fillRef idx="0"/>
              <a:effectRef idx="0"/>
              <a:fontRef idx="minor"/>
            </p:style>
            <p:txBody>
              <a:bodyPr lIns="90000" rIns="90000" tIns="17640" bIns="17640" anchor="t">
                <a:noAutofit/>
              </a:bodyPr>
              <a:p>
                <a:endParaRPr b="0" lang="en-US" sz="2400" strike="noStrike" u="none">
                  <a:solidFill>
                    <a:srgbClr val="ffff00"/>
                  </a:solidFill>
                  <a:effectLst/>
                  <a:uFillTx/>
                  <a:latin typeface="Times New Roman"/>
                </a:endParaRPr>
              </a:p>
            </p:txBody>
          </p:sp>
          <p:sp>
            <p:nvSpPr>
              <p:cNvPr id="276" name="Freeform 57"/>
              <p:cNvSpPr/>
              <p:nvPr/>
            </p:nvSpPr>
            <p:spPr>
              <a:xfrm flipH="1">
                <a:off x="6657120" y="2250360"/>
                <a:ext cx="54360" cy="73800"/>
              </a:xfrm>
              <a:custGeom>
                <a:avLst/>
                <a:gdLst>
                  <a:gd name="GluePoint1X" fmla="*/ 2147483647 w 17"/>
                  <a:gd name="GluePoint1Y" fmla="*/ 0 h 22"/>
                  <a:gd name="GluePoint2X" fmla="*/ 780584952 w 17"/>
                  <a:gd name="GluePoint2Y" fmla="*/ 2147483647 h 22"/>
                  <a:gd name="GluePoint3X" fmla="*/ 603179281 w 17"/>
                  <a:gd name="GluePoint3Y" fmla="*/ 2147483647 h 22"/>
                  <a:gd name="GluePoint4X" fmla="*/ 2147483647 w 17"/>
                  <a:gd name="GluePoint4Y" fmla="*/ 1819061879 h 22"/>
                </a:gdLst>
                <a:ahLst/>
                <a:cxnLst>
                  <a:cxn ang="0">
                    <a:pos x="GluePoint1X" y="GluePoint1Y"/>
                  </a:cxn>
                  <a:cxn ang="0">
                    <a:pos x="GluePoint2X" y="GluePoint2Y"/>
                  </a:cxn>
                  <a:cxn ang="0">
                    <a:pos x="GluePoint3X" y="GluePoint3Y"/>
                  </a:cxn>
                  <a:cxn ang="0">
                    <a:pos x="GluePoint4X" y="GluePoint4Y"/>
                  </a:cxn>
                </a:cxnLst>
                <a:rect l="l" t="t" r="r" b="b"/>
                <a:pathLst>
                  <a:path w="17" h="22">
                    <a:moveTo>
                      <a:pt x="17" y="0"/>
                    </a:moveTo>
                    <a:cubicBezTo>
                      <a:pt x="12" y="0"/>
                      <a:pt x="7" y="2"/>
                      <a:pt x="4" y="6"/>
                    </a:cubicBezTo>
                    <a:cubicBezTo>
                      <a:pt x="0" y="11"/>
                      <a:pt x="3" y="17"/>
                      <a:pt x="3" y="22"/>
                    </a:cubicBezTo>
                    <a:cubicBezTo>
                      <a:pt x="2" y="15"/>
                      <a:pt x="5" y="6"/>
                      <a:pt x="12" y="2"/>
                    </a:cubicBezTo>
                  </a:path>
                </a:pathLst>
              </a:custGeom>
              <a:solidFill>
                <a:srgbClr val="faf4f2"/>
              </a:solidFill>
              <a:ln w="0">
                <a:noFill/>
              </a:ln>
            </p:spPr>
            <p:style>
              <a:lnRef idx="0"/>
              <a:fillRef idx="0"/>
              <a:effectRef idx="0"/>
              <a:fontRef idx="minor"/>
            </p:style>
            <p:txBody>
              <a:bodyPr lIns="90000" rIns="90000" tIns="27000" bIns="27000" anchor="t">
                <a:noAutofit/>
              </a:bodyPr>
              <a:p>
                <a:endParaRPr b="0" lang="en-US" sz="2400" strike="noStrike" u="none">
                  <a:solidFill>
                    <a:srgbClr val="ffff00"/>
                  </a:solidFill>
                  <a:effectLst/>
                  <a:uFillTx/>
                  <a:latin typeface="Times New Roman"/>
                </a:endParaRPr>
              </a:p>
            </p:txBody>
          </p:sp>
          <p:sp>
            <p:nvSpPr>
              <p:cNvPr id="277" name="Freeform 58"/>
              <p:cNvSpPr/>
              <p:nvPr/>
            </p:nvSpPr>
            <p:spPr>
              <a:xfrm flipH="1">
                <a:off x="6770880" y="2246040"/>
                <a:ext cx="184680" cy="71280"/>
              </a:xfrm>
              <a:custGeom>
                <a:avLst/>
                <a:gdLst>
                  <a:gd name="GluePoint1X" fmla="*/ 0 w 57"/>
                  <a:gd name="GluePoint1Y" fmla="*/ 2147483647 h 21"/>
                  <a:gd name="GluePoint2X" fmla="*/ 2147483647 w 57"/>
                  <a:gd name="GluePoint2Y" fmla="*/ 2147483647 h 21"/>
                  <a:gd name="GluePoint3X" fmla="*/ 2147483647 w 57"/>
                  <a:gd name="GluePoint3Y" fmla="*/ 2147483647 h 21"/>
                  <a:gd name="GluePoint4X" fmla="*/ 2147483647 w 57"/>
                  <a:gd name="GluePoint4Y" fmla="*/ 2147483647 h 21"/>
                  <a:gd name="GluePoint5X" fmla="*/ 2147483647 w 57"/>
                  <a:gd name="GluePoint5Y" fmla="*/ 2147483647 h 21"/>
                  <a:gd name="GluePoint6X" fmla="*/ 2147483647 w 57"/>
                  <a:gd name="GluePoint6Y" fmla="*/ 2147483647 h 21"/>
                  <a:gd name="GluePoint7X" fmla="*/ 2147483647 w 57"/>
                  <a:gd name="GluePoint7Y" fmla="*/ 2147483647 h 21"/>
                  <a:gd name="GluePoint8X" fmla="*/ 2147483647 w 57"/>
                  <a:gd name="GluePoint8Y" fmla="*/ 2147483647 h 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7" h="21">
                    <a:moveTo>
                      <a:pt x="0" y="14"/>
                    </a:moveTo>
                    <a:cubicBezTo>
                      <a:pt x="7" y="14"/>
                      <a:pt x="9" y="10"/>
                      <a:pt x="14" y="8"/>
                    </a:cubicBezTo>
                    <a:cubicBezTo>
                      <a:pt x="18" y="7"/>
                      <a:pt x="23" y="7"/>
                      <a:pt x="28" y="6"/>
                    </a:cubicBezTo>
                    <a:cubicBezTo>
                      <a:pt x="34" y="4"/>
                      <a:pt x="43" y="5"/>
                      <a:pt x="50" y="2"/>
                    </a:cubicBezTo>
                    <a:cubicBezTo>
                      <a:pt x="57" y="0"/>
                      <a:pt x="42" y="13"/>
                      <a:pt x="41" y="21"/>
                    </a:cubicBezTo>
                    <a:cubicBezTo>
                      <a:pt x="44" y="18"/>
                      <a:pt x="46" y="11"/>
                      <a:pt x="45" y="6"/>
                    </a:cubicBezTo>
                    <a:cubicBezTo>
                      <a:pt x="41" y="6"/>
                      <a:pt x="35" y="8"/>
                      <a:pt x="31" y="8"/>
                    </a:cubicBezTo>
                    <a:cubicBezTo>
                      <a:pt x="27" y="9"/>
                      <a:pt x="21" y="9"/>
                      <a:pt x="17" y="10"/>
                    </a:cubicBezTo>
                  </a:path>
                </a:pathLst>
              </a:custGeom>
              <a:solidFill>
                <a:srgbClr val="faf4f2"/>
              </a:solidFill>
              <a:ln w="0">
                <a:noFill/>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278" name="Freeform 59"/>
              <p:cNvSpPr/>
              <p:nvPr/>
            </p:nvSpPr>
            <p:spPr>
              <a:xfrm flipH="1">
                <a:off x="6926040" y="1866600"/>
                <a:ext cx="55800" cy="70920"/>
              </a:xfrm>
              <a:custGeom>
                <a:avLst/>
                <a:gdLst>
                  <a:gd name="GluePoint1X" fmla="*/ 2147483647 w 17"/>
                  <a:gd name="GluePoint1Y" fmla="*/ 0 h 21"/>
                  <a:gd name="GluePoint2X" fmla="*/ 322173824 w 17"/>
                  <a:gd name="GluePoint2Y" fmla="*/ 2147483647 h 21"/>
                  <a:gd name="GluePoint3X" fmla="*/ 2147483647 w 17"/>
                  <a:gd name="GluePoint3Y" fmla="*/ 2147483647 h 21"/>
                  <a:gd name="GluePoint4X" fmla="*/ 2147483647 w 17"/>
                  <a:gd name="GluePoint4Y" fmla="*/ 2147483647 h 21"/>
                  <a:gd name="GluePoint5X" fmla="*/ 2147483647 w 17"/>
                  <a:gd name="GluePoint5Y" fmla="*/ 2147483647 h 21"/>
                  <a:gd name="GluePoint6X" fmla="*/ 2147483647 w 17"/>
                  <a:gd name="GluePoint6Y" fmla="*/ 2147483647 h 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7" h="21">
                    <a:moveTo>
                      <a:pt x="17" y="0"/>
                    </a:moveTo>
                    <a:cubicBezTo>
                      <a:pt x="14" y="4"/>
                      <a:pt x="3" y="4"/>
                      <a:pt x="1" y="8"/>
                    </a:cubicBezTo>
                    <a:cubicBezTo>
                      <a:pt x="0" y="12"/>
                      <a:pt x="8" y="18"/>
                      <a:pt x="10" y="21"/>
                    </a:cubicBezTo>
                    <a:cubicBezTo>
                      <a:pt x="2" y="17"/>
                      <a:pt x="6" y="8"/>
                      <a:pt x="11" y="13"/>
                    </a:cubicBezTo>
                    <a:cubicBezTo>
                      <a:pt x="7" y="10"/>
                      <a:pt x="7" y="6"/>
                      <a:pt x="12" y="6"/>
                    </a:cubicBezTo>
                    <a:cubicBezTo>
                      <a:pt x="12" y="4"/>
                      <a:pt x="13" y="4"/>
                      <a:pt x="13" y="3"/>
                    </a:cubicBezTo>
                  </a:path>
                </a:pathLst>
              </a:custGeom>
              <a:solidFill>
                <a:srgbClr val="faf4f2"/>
              </a:solidFill>
              <a:ln w="0">
                <a:noFill/>
              </a:ln>
            </p:spPr>
            <p:style>
              <a:lnRef idx="0"/>
              <a:fillRef idx="0"/>
              <a:effectRef idx="0"/>
              <a:fontRef idx="minor"/>
            </p:style>
            <p:txBody>
              <a:bodyPr lIns="90000" rIns="90000" tIns="24120" bIns="24120" anchor="t">
                <a:noAutofit/>
              </a:bodyPr>
              <a:p>
                <a:endParaRPr b="0" lang="en-US" sz="2400" strike="noStrike" u="none">
                  <a:solidFill>
                    <a:srgbClr val="ffff00"/>
                  </a:solidFill>
                  <a:effectLst/>
                  <a:uFillTx/>
                  <a:latin typeface="Times New Roman"/>
                </a:endParaRPr>
              </a:p>
            </p:txBody>
          </p:sp>
          <p:sp>
            <p:nvSpPr>
              <p:cNvPr id="279" name="Freeform 60"/>
              <p:cNvSpPr/>
              <p:nvPr/>
            </p:nvSpPr>
            <p:spPr>
              <a:xfrm flipH="1">
                <a:off x="7047000" y="1937880"/>
                <a:ext cx="46080" cy="47520"/>
              </a:xfrm>
              <a:custGeom>
                <a:avLst/>
                <a:gdLst>
                  <a:gd name="GluePoint1X" fmla="*/ 2147483647 w 14"/>
                  <a:gd name="GluePoint1Y" fmla="*/ 0 h 14"/>
                  <a:gd name="GluePoint2X" fmla="*/ 2147483647 w 14"/>
                  <a:gd name="GluePoint2Y" fmla="*/ 2147483647 h 14"/>
                  <a:gd name="GluePoint3X" fmla="*/ 2147483647 w 14"/>
                  <a:gd name="GluePoint3Y" fmla="*/ 1823616533 h 14"/>
                </a:gdLst>
                <a:ahLst/>
                <a:cxnLst>
                  <a:cxn ang="0">
                    <a:pos x="GluePoint1X" y="GluePoint1Y"/>
                  </a:cxn>
                  <a:cxn ang="0">
                    <a:pos x="GluePoint2X" y="GluePoint2Y"/>
                  </a:cxn>
                  <a:cxn ang="0">
                    <a:pos x="GluePoint3X" y="GluePoint3Y"/>
                  </a:cxn>
                </a:cxnLst>
                <a:rect l="l" t="t" r="r" b="b"/>
                <a:pathLst>
                  <a:path w="14" h="14">
                    <a:moveTo>
                      <a:pt x="14" y="0"/>
                    </a:moveTo>
                    <a:cubicBezTo>
                      <a:pt x="8" y="5"/>
                      <a:pt x="0" y="9"/>
                      <a:pt x="11" y="14"/>
                    </a:cubicBezTo>
                    <a:cubicBezTo>
                      <a:pt x="4" y="7"/>
                      <a:pt x="10" y="6"/>
                      <a:pt x="14" y="1"/>
                    </a:cubicBezTo>
                  </a:path>
                </a:pathLst>
              </a:custGeom>
              <a:solidFill>
                <a:srgbClr val="faf4f2"/>
              </a:solidFill>
              <a:ln w="0">
                <a:noFill/>
              </a:ln>
            </p:spPr>
            <p:style>
              <a:lnRef idx="0"/>
              <a:fillRef idx="0"/>
              <a:effectRef idx="0"/>
              <a:fontRef idx="minor"/>
            </p:style>
            <p:txBody>
              <a:bodyPr lIns="90000" rIns="90000" tIns="720" bIns="720" anchor="t">
                <a:noAutofit/>
              </a:bodyPr>
              <a:p>
                <a:endParaRPr b="0" lang="en-US" sz="2400" strike="noStrike" u="none">
                  <a:solidFill>
                    <a:srgbClr val="ffff00"/>
                  </a:solidFill>
                  <a:effectLst/>
                  <a:uFillTx/>
                  <a:latin typeface="Times New Roman"/>
                </a:endParaRPr>
              </a:p>
            </p:txBody>
          </p:sp>
          <p:sp>
            <p:nvSpPr>
              <p:cNvPr id="280" name="Freeform 61"/>
              <p:cNvSpPr/>
              <p:nvPr/>
            </p:nvSpPr>
            <p:spPr>
              <a:xfrm flipH="1">
                <a:off x="7111440" y="2011680"/>
                <a:ext cx="48600" cy="71280"/>
              </a:xfrm>
              <a:custGeom>
                <a:avLst/>
                <a:gdLst>
                  <a:gd name="GluePoint1X" fmla="*/ 2147483647 w 15"/>
                  <a:gd name="GluePoint1Y" fmla="*/ 0 h 21"/>
                  <a:gd name="GluePoint2X" fmla="*/ 2147483647 w 15"/>
                  <a:gd name="GluePoint2Y" fmla="*/ 2147483647 h 21"/>
                  <a:gd name="GluePoint3X" fmla="*/ 639242571 w 15"/>
                  <a:gd name="GluePoint3Y" fmla="*/ 2147483647 h 21"/>
                  <a:gd name="GluePoint4X" fmla="*/ 2147483647 w 15"/>
                  <a:gd name="GluePoint4Y" fmla="*/ 2147483647 h 21"/>
                  <a:gd name="GluePoint5X" fmla="*/ 1765527064 w 15"/>
                  <a:gd name="GluePoint5Y" fmla="*/ 2147483647 h 21"/>
                  <a:gd name="GluePoint6X" fmla="*/ 2147483647 w 15"/>
                  <a:gd name="GluePoint6Y" fmla="*/ 2147483647 h 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5" h="21">
                    <a:moveTo>
                      <a:pt x="14" y="0"/>
                    </a:moveTo>
                    <a:cubicBezTo>
                      <a:pt x="13" y="3"/>
                      <a:pt x="11" y="6"/>
                      <a:pt x="9" y="9"/>
                    </a:cubicBezTo>
                    <a:cubicBezTo>
                      <a:pt x="7" y="11"/>
                      <a:pt x="2" y="12"/>
                      <a:pt x="2" y="15"/>
                    </a:cubicBezTo>
                    <a:cubicBezTo>
                      <a:pt x="0" y="21"/>
                      <a:pt x="12" y="17"/>
                      <a:pt x="15" y="21"/>
                    </a:cubicBezTo>
                    <a:cubicBezTo>
                      <a:pt x="12" y="19"/>
                      <a:pt x="9" y="17"/>
                      <a:pt x="6" y="15"/>
                    </a:cubicBezTo>
                    <a:cubicBezTo>
                      <a:pt x="10" y="13"/>
                      <a:pt x="12" y="11"/>
                      <a:pt x="13" y="6"/>
                    </a:cubicBezTo>
                  </a:path>
                </a:pathLst>
              </a:custGeom>
              <a:solidFill>
                <a:srgbClr val="faf4f2"/>
              </a:solidFill>
              <a:ln w="0">
                <a:noFill/>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281" name="Freeform 62"/>
              <p:cNvSpPr/>
              <p:nvPr/>
            </p:nvSpPr>
            <p:spPr>
              <a:xfrm flipH="1">
                <a:off x="7117920" y="2090160"/>
                <a:ext cx="113400" cy="95400"/>
              </a:xfrm>
              <a:custGeom>
                <a:avLst/>
                <a:gdLst>
                  <a:gd name="GluePoint1X" fmla="*/ 0 w 35"/>
                  <a:gd name="GluePoint1Y" fmla="*/ 2147483647 h 28"/>
                  <a:gd name="GluePoint2X" fmla="*/ 2147483647 w 35"/>
                  <a:gd name="GluePoint2Y" fmla="*/ 2147483647 h 28"/>
                  <a:gd name="GluePoint3X" fmla="*/ 2147483647 w 35"/>
                  <a:gd name="GluePoint3Y" fmla="*/ 2147483647 h 28"/>
                  <a:gd name="GluePoint4X" fmla="*/ 2147483647 w 35"/>
                  <a:gd name="GluePoint4Y" fmla="*/ 2147483647 h 28"/>
                  <a:gd name="GluePoint5X" fmla="*/ 2147483647 w 35"/>
                  <a:gd name="GluePoint5Y" fmla="*/ 2147483647 h 2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5" h="28">
                    <a:moveTo>
                      <a:pt x="0" y="28"/>
                    </a:moveTo>
                    <a:cubicBezTo>
                      <a:pt x="8" y="13"/>
                      <a:pt x="16" y="0"/>
                      <a:pt x="35" y="10"/>
                    </a:cubicBezTo>
                    <a:cubicBezTo>
                      <a:pt x="32" y="9"/>
                      <a:pt x="21" y="8"/>
                      <a:pt x="24" y="14"/>
                    </a:cubicBezTo>
                    <a:cubicBezTo>
                      <a:pt x="22" y="11"/>
                      <a:pt x="19" y="9"/>
                      <a:pt x="16" y="12"/>
                    </a:cubicBezTo>
                    <a:cubicBezTo>
                      <a:pt x="14" y="10"/>
                      <a:pt x="13" y="11"/>
                      <a:pt x="11" y="12"/>
                    </a:cubicBezTo>
                  </a:path>
                </a:pathLst>
              </a:custGeom>
              <a:solidFill>
                <a:srgbClr val="faf4f2"/>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2" name="Freeform 63"/>
              <p:cNvSpPr/>
              <p:nvPr/>
            </p:nvSpPr>
            <p:spPr>
              <a:xfrm flipH="1">
                <a:off x="6797160" y="2372400"/>
                <a:ext cx="32400" cy="83520"/>
              </a:xfrm>
              <a:custGeom>
                <a:avLst/>
                <a:gdLst>
                  <a:gd name="GluePoint1X" fmla="*/ 2095983323 w 10"/>
                  <a:gd name="GluePoint1Y" fmla="*/ 0 h 25"/>
                  <a:gd name="GluePoint2X" fmla="*/ 207161559 w 10"/>
                  <a:gd name="GluePoint2Y" fmla="*/ 2147483647 h 25"/>
                </a:gdLst>
                <a:ahLst/>
                <a:cxnLst>
                  <a:cxn ang="0">
                    <a:pos x="GluePoint1X" y="GluePoint1Y"/>
                  </a:cxn>
                  <a:cxn ang="0">
                    <a:pos x="GluePoint2X" y="GluePoint2Y"/>
                  </a:cxn>
                </a:cxnLst>
                <a:rect l="l" t="t" r="r" b="b"/>
                <a:pathLst>
                  <a:path w="10" h="25">
                    <a:moveTo>
                      <a:pt x="10" y="0"/>
                    </a:moveTo>
                    <a:cubicBezTo>
                      <a:pt x="0" y="5"/>
                      <a:pt x="6" y="16"/>
                      <a:pt x="1" y="25"/>
                    </a:cubicBezTo>
                  </a:path>
                </a:pathLst>
              </a:custGeom>
              <a:solidFill>
                <a:srgbClr val="faf4f2"/>
              </a:solidFill>
              <a:ln w="0">
                <a:noFill/>
              </a:ln>
            </p:spPr>
            <p:style>
              <a:lnRef idx="0"/>
              <a:fillRef idx="0"/>
              <a:effectRef idx="0"/>
              <a:fontRef idx="minor"/>
            </p:style>
            <p:txBody>
              <a:bodyPr lIns="90000" rIns="90000" tIns="36720" bIns="36720" anchor="t">
                <a:noAutofit/>
              </a:bodyPr>
              <a:p>
                <a:endParaRPr b="0" lang="en-US" sz="2400" strike="noStrike" u="none">
                  <a:solidFill>
                    <a:srgbClr val="ffff00"/>
                  </a:solidFill>
                  <a:effectLst/>
                  <a:uFillTx/>
                  <a:latin typeface="Times New Roman"/>
                </a:endParaRPr>
              </a:p>
            </p:txBody>
          </p:sp>
          <p:sp>
            <p:nvSpPr>
              <p:cNvPr id="283" name="Freeform 64"/>
              <p:cNvSpPr/>
              <p:nvPr/>
            </p:nvSpPr>
            <p:spPr>
              <a:xfrm flipH="1">
                <a:off x="6913440" y="2009160"/>
                <a:ext cx="12600" cy="16200"/>
              </a:xfrm>
              <a:custGeom>
                <a:avLst/>
                <a:gdLst>
                  <a:gd name="GluePoint1X" fmla="*/ 0 w 4"/>
                  <a:gd name="GluePoint1Y" fmla="*/ 2147483647 h 5"/>
                  <a:gd name="GluePoint2X" fmla="*/ 496271561 w 4"/>
                  <a:gd name="GluePoint2Y" fmla="*/ 0 h 5"/>
                </a:gdLst>
                <a:ahLst/>
                <a:cxnLst>
                  <a:cxn ang="0">
                    <a:pos x="GluePoint1X" y="GluePoint1Y"/>
                  </a:cxn>
                  <a:cxn ang="0">
                    <a:pos x="GluePoint2X" y="GluePoint2Y"/>
                  </a:cxn>
                </a:cxnLst>
                <a:rect l="l" t="t" r="r" b="b"/>
                <a:pathLst>
                  <a:path w="4" h="5">
                    <a:moveTo>
                      <a:pt x="0" y="5"/>
                    </a:moveTo>
                    <a:cubicBezTo>
                      <a:pt x="1" y="3"/>
                      <a:pt x="2" y="2"/>
                      <a:pt x="4" y="0"/>
                    </a:cubicBezTo>
                  </a:path>
                </a:pathLst>
              </a:custGeom>
              <a:solidFill>
                <a:srgbClr val="e2bab1"/>
              </a:solidFill>
              <a:ln w="14400">
                <a:solidFill>
                  <a:srgbClr val="e2bab1"/>
                </a:solidFill>
                <a:miter/>
              </a:ln>
            </p:spPr>
            <p:style>
              <a:lnRef idx="0"/>
              <a:fillRef idx="0"/>
              <a:effectRef idx="0"/>
              <a:fontRef idx="minor"/>
            </p:style>
            <p:txBody>
              <a:bodyPr lIns="90000" rIns="90000" tIns="-30600" bIns="-30600" anchor="t">
                <a:noAutofit/>
              </a:bodyPr>
              <a:p>
                <a:endParaRPr b="0" lang="en-US" sz="2400" strike="noStrike" u="none">
                  <a:solidFill>
                    <a:srgbClr val="ffff00"/>
                  </a:solidFill>
                  <a:effectLst/>
                  <a:uFillTx/>
                  <a:latin typeface="Times New Roman"/>
                </a:endParaRPr>
              </a:p>
            </p:txBody>
          </p:sp>
          <p:sp>
            <p:nvSpPr>
              <p:cNvPr id="284" name="Freeform 65"/>
              <p:cNvSpPr/>
              <p:nvPr/>
            </p:nvSpPr>
            <p:spPr>
              <a:xfrm flipH="1">
                <a:off x="6913440" y="2009160"/>
                <a:ext cx="12600" cy="16200"/>
              </a:xfrm>
              <a:custGeom>
                <a:avLst/>
                <a:gdLst>
                  <a:gd name="GluePoint1X" fmla="*/ 0 w 4"/>
                  <a:gd name="GluePoint1Y" fmla="*/ 2147483647 h 5"/>
                  <a:gd name="GluePoint2X" fmla="*/ 496271561 w 4"/>
                  <a:gd name="GluePoint2Y" fmla="*/ 0 h 5"/>
                </a:gdLst>
                <a:ahLst/>
                <a:cxnLst>
                  <a:cxn ang="0">
                    <a:pos x="GluePoint1X" y="GluePoint1Y"/>
                  </a:cxn>
                  <a:cxn ang="0">
                    <a:pos x="GluePoint2X" y="GluePoint2Y"/>
                  </a:cxn>
                </a:cxnLst>
                <a:rect l="l" t="t" r="r" b="b"/>
                <a:pathLst>
                  <a:path w="4" h="5">
                    <a:moveTo>
                      <a:pt x="0" y="5"/>
                    </a:moveTo>
                    <a:cubicBezTo>
                      <a:pt x="1" y="3"/>
                      <a:pt x="2" y="2"/>
                      <a:pt x="4" y="0"/>
                    </a:cubicBezTo>
                  </a:path>
                </a:pathLst>
              </a:custGeom>
              <a:noFill/>
              <a:ln w="14400">
                <a:solidFill>
                  <a:srgbClr val="e2bab1"/>
                </a:solidFill>
                <a:miter/>
              </a:ln>
            </p:spPr>
            <p:style>
              <a:lnRef idx="0"/>
              <a:fillRef idx="0"/>
              <a:effectRef idx="0"/>
              <a:fontRef idx="minor"/>
            </p:style>
            <p:txBody>
              <a:bodyPr lIns="90000" rIns="90000" tIns="-30600" bIns="-30600" anchor="t">
                <a:noAutofit/>
              </a:bodyPr>
              <a:p>
                <a:endParaRPr b="0" lang="en-US" sz="2400" strike="noStrike" u="none">
                  <a:solidFill>
                    <a:srgbClr val="ffff00"/>
                  </a:solidFill>
                  <a:effectLst/>
                  <a:uFillTx/>
                  <a:latin typeface="Times New Roman"/>
                </a:endParaRPr>
              </a:p>
            </p:txBody>
          </p:sp>
          <p:sp>
            <p:nvSpPr>
              <p:cNvPr id="285" name="Freeform 66"/>
              <p:cNvSpPr/>
              <p:nvPr/>
            </p:nvSpPr>
            <p:spPr>
              <a:xfrm flipH="1">
                <a:off x="7095960" y="2243520"/>
                <a:ext cx="21960" cy="18720"/>
              </a:xfrm>
              <a:custGeom>
                <a:avLst/>
                <a:gdLst>
                  <a:gd name="GluePoint1X" fmla="*/ 0 w 7"/>
                  <a:gd name="GluePoint1Y" fmla="*/ 0 h 6"/>
                  <a:gd name="GluePoint2X" fmla="*/ 1284907248 w 7"/>
                  <a:gd name="GluePoint2Y" fmla="*/ 1765527064 h 6"/>
                </a:gdLst>
                <a:ahLst/>
                <a:cxnLst>
                  <a:cxn ang="0">
                    <a:pos x="GluePoint1X" y="GluePoint1Y"/>
                  </a:cxn>
                  <a:cxn ang="0">
                    <a:pos x="GluePoint2X" y="GluePoint2Y"/>
                  </a:cxn>
                </a:cxnLst>
                <a:rect l="l" t="t" r="r" b="b"/>
                <a:pathLst>
                  <a:path w="7" h="6">
                    <a:moveTo>
                      <a:pt x="0" y="0"/>
                    </a:moveTo>
                    <a:cubicBezTo>
                      <a:pt x="2" y="2"/>
                      <a:pt x="4" y="5"/>
                      <a:pt x="7" y="6"/>
                    </a:cubicBezTo>
                  </a:path>
                </a:pathLst>
              </a:custGeom>
              <a:solidFill>
                <a:srgbClr val="e2bab1"/>
              </a:solidFill>
              <a:ln w="14400">
                <a:solidFill>
                  <a:srgbClr val="e2bab1"/>
                </a:solidFill>
                <a:miter/>
              </a:ln>
            </p:spPr>
            <p:style>
              <a:lnRef idx="0"/>
              <a:fillRef idx="0"/>
              <a:effectRef idx="0"/>
              <a:fontRef idx="minor"/>
            </p:style>
            <p:txBody>
              <a:bodyPr lIns="90000" rIns="90000" tIns="-28080" bIns="-28080" anchor="t">
                <a:noAutofit/>
              </a:bodyPr>
              <a:p>
                <a:endParaRPr b="0" lang="en-US" sz="2400" strike="noStrike" u="none">
                  <a:solidFill>
                    <a:srgbClr val="ffff00"/>
                  </a:solidFill>
                  <a:effectLst/>
                  <a:uFillTx/>
                  <a:latin typeface="Times New Roman"/>
                </a:endParaRPr>
              </a:p>
            </p:txBody>
          </p:sp>
          <p:sp>
            <p:nvSpPr>
              <p:cNvPr id="286" name="Freeform 67"/>
              <p:cNvSpPr/>
              <p:nvPr/>
            </p:nvSpPr>
            <p:spPr>
              <a:xfrm flipH="1">
                <a:off x="7095960" y="2243520"/>
                <a:ext cx="21960" cy="18720"/>
              </a:xfrm>
              <a:custGeom>
                <a:avLst/>
                <a:gdLst>
                  <a:gd name="GluePoint1X" fmla="*/ 0 w 7"/>
                  <a:gd name="GluePoint1Y" fmla="*/ 0 h 6"/>
                  <a:gd name="GluePoint2X" fmla="*/ 1284907248 w 7"/>
                  <a:gd name="GluePoint2Y" fmla="*/ 1765527064 h 6"/>
                </a:gdLst>
                <a:ahLst/>
                <a:cxnLst>
                  <a:cxn ang="0">
                    <a:pos x="GluePoint1X" y="GluePoint1Y"/>
                  </a:cxn>
                  <a:cxn ang="0">
                    <a:pos x="GluePoint2X" y="GluePoint2Y"/>
                  </a:cxn>
                </a:cxnLst>
                <a:rect l="l" t="t" r="r" b="b"/>
                <a:pathLst>
                  <a:path w="7" h="6">
                    <a:moveTo>
                      <a:pt x="0" y="0"/>
                    </a:moveTo>
                    <a:cubicBezTo>
                      <a:pt x="2" y="2"/>
                      <a:pt x="4" y="5"/>
                      <a:pt x="7" y="6"/>
                    </a:cubicBezTo>
                  </a:path>
                </a:pathLst>
              </a:custGeom>
              <a:noFill/>
              <a:ln w="14400">
                <a:solidFill>
                  <a:srgbClr val="e2bab1"/>
                </a:solidFill>
                <a:miter/>
              </a:ln>
            </p:spPr>
            <p:style>
              <a:lnRef idx="0"/>
              <a:fillRef idx="0"/>
              <a:effectRef idx="0"/>
              <a:fontRef idx="minor"/>
            </p:style>
            <p:txBody>
              <a:bodyPr lIns="90000" rIns="90000" tIns="-28080" bIns="-28080" anchor="t">
                <a:noAutofit/>
              </a:bodyPr>
              <a:p>
                <a:endParaRPr b="0" lang="en-US" sz="2400" strike="noStrike" u="none">
                  <a:solidFill>
                    <a:srgbClr val="ffff00"/>
                  </a:solidFill>
                  <a:effectLst/>
                  <a:uFillTx/>
                  <a:latin typeface="Times New Roman"/>
                </a:endParaRPr>
              </a:p>
            </p:txBody>
          </p:sp>
          <p:sp>
            <p:nvSpPr>
              <p:cNvPr id="287" name="Freeform 68"/>
              <p:cNvSpPr/>
              <p:nvPr/>
            </p:nvSpPr>
            <p:spPr>
              <a:xfrm flipH="1">
                <a:off x="6758280" y="2412000"/>
                <a:ext cx="24840" cy="10800"/>
              </a:xfrm>
              <a:custGeom>
                <a:avLst/>
                <a:gdLst>
                  <a:gd name="GluePoint1X" fmla="*/ 0 w 8"/>
                  <a:gd name="GluePoint1Y" fmla="*/ 2147483647 h 3"/>
                  <a:gd name="GluePoint2X" fmla="*/ 1018247189 w 8"/>
                  <a:gd name="GluePoint2Y" fmla="*/ 0 h 3"/>
                </a:gdLst>
                <a:ahLst/>
                <a:cxnLst>
                  <a:cxn ang="0">
                    <a:pos x="GluePoint1X" y="GluePoint1Y"/>
                  </a:cxn>
                  <a:cxn ang="0">
                    <a:pos x="GluePoint2X" y="GluePoint2Y"/>
                  </a:cxn>
                </a:cxnLst>
                <a:rect l="l" t="t" r="r" b="b"/>
                <a:pathLst>
                  <a:path w="8" h="3">
                    <a:moveTo>
                      <a:pt x="0" y="3"/>
                    </a:moveTo>
                    <a:cubicBezTo>
                      <a:pt x="3" y="2"/>
                      <a:pt x="6" y="1"/>
                      <a:pt x="8" y="0"/>
                    </a:cubicBezTo>
                  </a:path>
                </a:pathLst>
              </a:custGeom>
              <a:solidFill>
                <a:srgbClr val="e2bab1"/>
              </a:solidFill>
              <a:ln w="14400">
                <a:solidFill>
                  <a:srgbClr val="e2bab1"/>
                </a:solidFill>
                <a:miter/>
              </a:ln>
            </p:spPr>
            <p:style>
              <a:lnRef idx="0"/>
              <a:fillRef idx="0"/>
              <a:effectRef idx="0"/>
              <a:fontRef idx="minor"/>
            </p:style>
            <p:txBody>
              <a:bodyPr lIns="90000" rIns="90000" tIns="-36000" bIns="-36000" anchor="t">
                <a:noAutofit/>
              </a:bodyPr>
              <a:p>
                <a:endParaRPr b="0" lang="en-US" sz="2400" strike="noStrike" u="none">
                  <a:solidFill>
                    <a:srgbClr val="ffff00"/>
                  </a:solidFill>
                  <a:effectLst/>
                  <a:uFillTx/>
                  <a:latin typeface="Times New Roman"/>
                </a:endParaRPr>
              </a:p>
            </p:txBody>
          </p:sp>
          <p:sp>
            <p:nvSpPr>
              <p:cNvPr id="288" name="Freeform 69"/>
              <p:cNvSpPr/>
              <p:nvPr/>
            </p:nvSpPr>
            <p:spPr>
              <a:xfrm flipH="1">
                <a:off x="6758280" y="2412000"/>
                <a:ext cx="24840" cy="10800"/>
              </a:xfrm>
              <a:custGeom>
                <a:avLst/>
                <a:gdLst>
                  <a:gd name="GluePoint1X" fmla="*/ 0 w 8"/>
                  <a:gd name="GluePoint1Y" fmla="*/ 2147483647 h 3"/>
                  <a:gd name="GluePoint2X" fmla="*/ 1018247189 w 8"/>
                  <a:gd name="GluePoint2Y" fmla="*/ 0 h 3"/>
                </a:gdLst>
                <a:ahLst/>
                <a:cxnLst>
                  <a:cxn ang="0">
                    <a:pos x="GluePoint1X" y="GluePoint1Y"/>
                  </a:cxn>
                  <a:cxn ang="0">
                    <a:pos x="GluePoint2X" y="GluePoint2Y"/>
                  </a:cxn>
                </a:cxnLst>
                <a:rect l="l" t="t" r="r" b="b"/>
                <a:pathLst>
                  <a:path w="8" h="3">
                    <a:moveTo>
                      <a:pt x="0" y="3"/>
                    </a:moveTo>
                    <a:cubicBezTo>
                      <a:pt x="3" y="2"/>
                      <a:pt x="6" y="1"/>
                      <a:pt x="8" y="0"/>
                    </a:cubicBezTo>
                  </a:path>
                </a:pathLst>
              </a:custGeom>
              <a:noFill/>
              <a:ln w="14400">
                <a:solidFill>
                  <a:srgbClr val="e2bab1"/>
                </a:solidFill>
                <a:miter/>
              </a:ln>
            </p:spPr>
            <p:style>
              <a:lnRef idx="0"/>
              <a:fillRef idx="0"/>
              <a:effectRef idx="0"/>
              <a:fontRef idx="minor"/>
            </p:style>
            <p:txBody>
              <a:bodyPr lIns="90000" rIns="90000" tIns="-36000" bIns="-36000" anchor="t">
                <a:noAutofit/>
              </a:bodyPr>
              <a:p>
                <a:endParaRPr b="0" lang="en-US" sz="2400" strike="noStrike" u="none">
                  <a:solidFill>
                    <a:srgbClr val="ffff00"/>
                  </a:solidFill>
                  <a:effectLst/>
                  <a:uFillTx/>
                  <a:latin typeface="Times New Roman"/>
                </a:endParaRPr>
              </a:p>
            </p:txBody>
          </p:sp>
          <p:sp>
            <p:nvSpPr>
              <p:cNvPr id="289" name="Freeform 70"/>
              <p:cNvSpPr/>
              <p:nvPr/>
            </p:nvSpPr>
            <p:spPr>
              <a:xfrm flipH="1">
                <a:off x="6630480" y="2595600"/>
                <a:ext cx="29160" cy="13320"/>
              </a:xfrm>
              <a:custGeom>
                <a:avLst/>
                <a:gdLst>
                  <a:gd name="GluePoint1X" fmla="*/ 0 w 9"/>
                  <a:gd name="GluePoint1Y" fmla="*/ 2147483647 h 4"/>
                  <a:gd name="GluePoint2X" fmla="*/ 2147483647 w 9"/>
                  <a:gd name="GluePoint2Y" fmla="*/ 0 h 4"/>
                </a:gdLst>
                <a:ahLst/>
                <a:cxnLst>
                  <a:cxn ang="0">
                    <a:pos x="GluePoint1X" y="GluePoint1Y"/>
                  </a:cxn>
                  <a:cxn ang="0">
                    <a:pos x="GluePoint2X" y="GluePoint2Y"/>
                  </a:cxn>
                </a:cxnLst>
                <a:rect l="l" t="t" r="r" b="b"/>
                <a:pathLst>
                  <a:path w="9" h="4">
                    <a:moveTo>
                      <a:pt x="0" y="4"/>
                    </a:moveTo>
                    <a:cubicBezTo>
                      <a:pt x="3" y="2"/>
                      <a:pt x="6" y="1"/>
                      <a:pt x="9" y="0"/>
                    </a:cubicBezTo>
                  </a:path>
                </a:pathLst>
              </a:custGeom>
              <a:noFill/>
              <a:ln w="14400">
                <a:solidFill>
                  <a:srgbClr val="e2bab1"/>
                </a:solidFill>
                <a:miter/>
              </a:ln>
            </p:spPr>
            <p:style>
              <a:lnRef idx="0"/>
              <a:fillRef idx="0"/>
              <a:effectRef idx="0"/>
              <a:fontRef idx="minor"/>
            </p:style>
            <p:txBody>
              <a:bodyPr lIns="90000" rIns="90000" tIns="-33480" bIns="-33480" anchor="t">
                <a:noAutofit/>
              </a:bodyPr>
              <a:p>
                <a:endParaRPr b="0" lang="en-US" sz="2400" strike="noStrike" u="none">
                  <a:solidFill>
                    <a:srgbClr val="ffff00"/>
                  </a:solidFill>
                  <a:effectLst/>
                  <a:uFillTx/>
                  <a:latin typeface="Times New Roman"/>
                </a:endParaRPr>
              </a:p>
            </p:txBody>
          </p:sp>
          <p:sp>
            <p:nvSpPr>
              <p:cNvPr id="290" name="Freeform 71"/>
              <p:cNvSpPr/>
              <p:nvPr/>
            </p:nvSpPr>
            <p:spPr>
              <a:xfrm flipH="1">
                <a:off x="5106960" y="1758240"/>
                <a:ext cx="981000" cy="616680"/>
              </a:xfrm>
              <a:custGeom>
                <a:avLst/>
                <a:gdLst>
                  <a:gd name="GluePoint1X" fmla="*/ 2147483647 w 302"/>
                  <a:gd name="GluePoint1Y" fmla="*/ 2147483647 h 182"/>
                  <a:gd name="GluePoint2X" fmla="*/ 242919758 w 302"/>
                  <a:gd name="GluePoint2Y" fmla="*/ 2147483647 h 182"/>
                  <a:gd name="GluePoint3X" fmla="*/ 2039986381 w 302"/>
                  <a:gd name="GluePoint3Y" fmla="*/ 2147483647 h 182"/>
                  <a:gd name="GluePoint4X" fmla="*/ 2147483647 w 302"/>
                  <a:gd name="GluePoint4Y" fmla="*/ 2147483647 h 182"/>
                  <a:gd name="GluePoint5X" fmla="*/ 2147483647 w 302"/>
                  <a:gd name="GluePoint5Y" fmla="*/ 2147483647 h 182"/>
                  <a:gd name="GluePoint6X" fmla="*/ 2147483647 w 302"/>
                  <a:gd name="GluePoint6Y" fmla="*/ 2147483647 h 182"/>
                  <a:gd name="GluePoint7X" fmla="*/ 2147483647 w 302"/>
                  <a:gd name="GluePoint7Y" fmla="*/ 2147483647 h 182"/>
                  <a:gd name="GluePoint8X" fmla="*/ 2147483647 w 302"/>
                  <a:gd name="GluePoint8Y" fmla="*/ 2147483647 h 182"/>
                  <a:gd name="GluePoint9X" fmla="*/ 2147483647 w 302"/>
                  <a:gd name="GluePoint9Y" fmla="*/ 2147483647 h 182"/>
                  <a:gd name="GluePoint10X" fmla="*/ 2147483647 w 302"/>
                  <a:gd name="GluePoint10Y" fmla="*/ 2147483647 h 182"/>
                  <a:gd name="GluePoint11X" fmla="*/ 2147483647 w 302"/>
                  <a:gd name="GluePoint11Y" fmla="*/ 2147483647 h 182"/>
                  <a:gd name="GluePoint12X" fmla="*/ 2147483647 w 302"/>
                  <a:gd name="GluePoint12Y" fmla="*/ 2147483647 h 182"/>
                  <a:gd name="GluePoint13X" fmla="*/ 2147483647 w 302"/>
                  <a:gd name="GluePoint13Y" fmla="*/ 2147483647 h 182"/>
                  <a:gd name="GluePoint14X" fmla="*/ 2147483647 w 302"/>
                  <a:gd name="GluePoint14Y" fmla="*/ 2147483647 h 182"/>
                  <a:gd name="GluePoint15X" fmla="*/ 2147483647 w 302"/>
                  <a:gd name="GluePoint15Y" fmla="*/ 2147483647 h 182"/>
                  <a:gd name="GluePoint16X" fmla="*/ 2147483647 w 302"/>
                  <a:gd name="GluePoint16Y" fmla="*/ 2147483647 h 182"/>
                  <a:gd name="GluePoint17X" fmla="*/ 2147483647 w 302"/>
                  <a:gd name="GluePoint17Y" fmla="*/ 2147483647 h 182"/>
                  <a:gd name="GluePoint18X" fmla="*/ 2147483647 w 302"/>
                  <a:gd name="GluePoint18Y" fmla="*/ 2147483647 h 182"/>
                  <a:gd name="GluePoint19X" fmla="*/ 2147483647 w 302"/>
                  <a:gd name="GluePoint19Y" fmla="*/ 2147483647 h 182"/>
                  <a:gd name="GluePoint20X" fmla="*/ 2147483647 w 302"/>
                  <a:gd name="GluePoint20Y" fmla="*/ 2147483647 h 182"/>
                  <a:gd name="GluePoint21X" fmla="*/ 2147483647 w 302"/>
                  <a:gd name="GluePoint21Y" fmla="*/ 2147483647 h 182"/>
                  <a:gd name="GluePoint22X" fmla="*/ 2147483647 w 302"/>
                  <a:gd name="GluePoint22Y" fmla="*/ 2147483647 h 182"/>
                  <a:gd name="GluePoint23X" fmla="*/ 2147483647 w 302"/>
                  <a:gd name="GluePoint23Y" fmla="*/ 2147483647 h 1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l" t="t" r="r" b="b"/>
                <a:pathLst>
                  <a:path w="302" h="182">
                    <a:moveTo>
                      <a:pt x="35" y="119"/>
                    </a:moveTo>
                    <a:cubicBezTo>
                      <a:pt x="36" y="69"/>
                      <a:pt x="0" y="64"/>
                      <a:pt x="1" y="52"/>
                    </a:cubicBezTo>
                    <a:cubicBezTo>
                      <a:pt x="2" y="39"/>
                      <a:pt x="3" y="27"/>
                      <a:pt x="8" y="20"/>
                    </a:cubicBezTo>
                    <a:cubicBezTo>
                      <a:pt x="13" y="11"/>
                      <a:pt x="14" y="0"/>
                      <a:pt x="32" y="5"/>
                    </a:cubicBezTo>
                    <a:cubicBezTo>
                      <a:pt x="50" y="10"/>
                      <a:pt x="73" y="19"/>
                      <a:pt x="81" y="23"/>
                    </a:cubicBezTo>
                    <a:cubicBezTo>
                      <a:pt x="87" y="27"/>
                      <a:pt x="93" y="44"/>
                      <a:pt x="96" y="55"/>
                    </a:cubicBezTo>
                    <a:cubicBezTo>
                      <a:pt x="96" y="59"/>
                      <a:pt x="94" y="68"/>
                      <a:pt x="93" y="71"/>
                    </a:cubicBezTo>
                    <a:cubicBezTo>
                      <a:pt x="90" y="78"/>
                      <a:pt x="88" y="88"/>
                      <a:pt x="94" y="93"/>
                    </a:cubicBezTo>
                    <a:cubicBezTo>
                      <a:pt x="110" y="104"/>
                      <a:pt x="119" y="96"/>
                      <a:pt x="120" y="92"/>
                    </a:cubicBezTo>
                    <a:cubicBezTo>
                      <a:pt x="124" y="92"/>
                      <a:pt x="135" y="84"/>
                      <a:pt x="131" y="74"/>
                    </a:cubicBezTo>
                    <a:cubicBezTo>
                      <a:pt x="129" y="67"/>
                      <a:pt x="123" y="64"/>
                      <a:pt x="117" y="63"/>
                    </a:cubicBezTo>
                    <a:cubicBezTo>
                      <a:pt x="115" y="62"/>
                      <a:pt x="111" y="61"/>
                      <a:pt x="110" y="58"/>
                    </a:cubicBezTo>
                    <a:cubicBezTo>
                      <a:pt x="108" y="51"/>
                      <a:pt x="105" y="41"/>
                      <a:pt x="102" y="33"/>
                    </a:cubicBezTo>
                    <a:cubicBezTo>
                      <a:pt x="102" y="31"/>
                      <a:pt x="101" y="30"/>
                      <a:pt x="101" y="28"/>
                    </a:cubicBezTo>
                    <a:cubicBezTo>
                      <a:pt x="105" y="34"/>
                      <a:pt x="112" y="44"/>
                      <a:pt x="123" y="44"/>
                    </a:cubicBezTo>
                    <a:cubicBezTo>
                      <a:pt x="137" y="45"/>
                      <a:pt x="140" y="31"/>
                      <a:pt x="135" y="26"/>
                    </a:cubicBezTo>
                    <a:cubicBezTo>
                      <a:pt x="134" y="25"/>
                      <a:pt x="133" y="24"/>
                      <a:pt x="133" y="23"/>
                    </a:cubicBezTo>
                    <a:cubicBezTo>
                      <a:pt x="156" y="37"/>
                      <a:pt x="189" y="41"/>
                      <a:pt x="224" y="41"/>
                    </a:cubicBezTo>
                    <a:cubicBezTo>
                      <a:pt x="249" y="41"/>
                      <a:pt x="275" y="41"/>
                      <a:pt x="302" y="41"/>
                    </a:cubicBezTo>
                    <a:cubicBezTo>
                      <a:pt x="295" y="90"/>
                      <a:pt x="249" y="124"/>
                      <a:pt x="222" y="118"/>
                    </a:cubicBezTo>
                    <a:cubicBezTo>
                      <a:pt x="222" y="135"/>
                      <a:pt x="168" y="172"/>
                      <a:pt x="138" y="168"/>
                    </a:cubicBezTo>
                    <a:cubicBezTo>
                      <a:pt x="136" y="182"/>
                      <a:pt x="61" y="167"/>
                      <a:pt x="31" y="157"/>
                    </a:cubicBezTo>
                    <a:cubicBezTo>
                      <a:pt x="34" y="145"/>
                      <a:pt x="35" y="132"/>
                      <a:pt x="35" y="119"/>
                    </a:cubicBezTo>
                    <a:close/>
                  </a:path>
                </a:pathLst>
              </a:custGeom>
              <a:solidFill>
                <a:srgbClr val="edecf1"/>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1" name="Freeform 72"/>
              <p:cNvSpPr/>
              <p:nvPr/>
            </p:nvSpPr>
            <p:spPr>
              <a:xfrm flipH="1">
                <a:off x="5117040" y="1758240"/>
                <a:ext cx="970920" cy="396000"/>
              </a:xfrm>
              <a:custGeom>
                <a:avLst/>
                <a:gdLst>
                  <a:gd name="GluePoint1X" fmla="*/ 2147483647 w 299"/>
                  <a:gd name="GluePoint1Y" fmla="*/ 2147483647 h 117"/>
                  <a:gd name="GluePoint2X" fmla="*/ 2147483647 w 299"/>
                  <a:gd name="GluePoint2Y" fmla="*/ 2147483647 h 117"/>
                  <a:gd name="GluePoint3X" fmla="*/ 2147483647 w 299"/>
                  <a:gd name="GluePoint3Y" fmla="*/ 2147483647 h 117"/>
                  <a:gd name="GluePoint4X" fmla="*/ 2147483647 w 299"/>
                  <a:gd name="GluePoint4Y" fmla="*/ 2147483647 h 117"/>
                  <a:gd name="GluePoint5X" fmla="*/ 2147483647 w 299"/>
                  <a:gd name="GluePoint5Y" fmla="*/ 2147483647 h 117"/>
                  <a:gd name="GluePoint6X" fmla="*/ 2147483647 w 299"/>
                  <a:gd name="GluePoint6Y" fmla="*/ 2147483647 h 117"/>
                  <a:gd name="GluePoint7X" fmla="*/ 2147483647 w 299"/>
                  <a:gd name="GluePoint7Y" fmla="*/ 2147483647 h 117"/>
                  <a:gd name="GluePoint8X" fmla="*/ 2147483647 w 299"/>
                  <a:gd name="GluePoint8Y" fmla="*/ 2147483647 h 117"/>
                  <a:gd name="GluePoint9X" fmla="*/ 2147483647 w 299"/>
                  <a:gd name="GluePoint9Y" fmla="*/ 2147483647 h 117"/>
                  <a:gd name="GluePoint10X" fmla="*/ 2147483647 w 299"/>
                  <a:gd name="GluePoint10Y" fmla="*/ 2147483647 h 117"/>
                  <a:gd name="GluePoint11X" fmla="*/ 2147483647 w 299"/>
                  <a:gd name="GluePoint11Y" fmla="*/ 2147483647 h 117"/>
                  <a:gd name="GluePoint12X" fmla="*/ 2147483647 w 299"/>
                  <a:gd name="GluePoint12Y" fmla="*/ 2147483647 h 117"/>
                  <a:gd name="GluePoint13X" fmla="*/ 2147483647 w 299"/>
                  <a:gd name="GluePoint13Y" fmla="*/ 2147483647 h 117"/>
                  <a:gd name="GluePoint14X" fmla="*/ 2147483647 w 299"/>
                  <a:gd name="GluePoint14Y" fmla="*/ 2147483647 h 117"/>
                  <a:gd name="GluePoint15X" fmla="*/ 2147483647 w 299"/>
                  <a:gd name="GluePoint15Y" fmla="*/ 2147483647 h 117"/>
                  <a:gd name="GluePoint16X" fmla="*/ 2147483647 w 299"/>
                  <a:gd name="GluePoint16Y" fmla="*/ 2147483647 h 117"/>
                  <a:gd name="GluePoint17X" fmla="*/ 2147483647 w 299"/>
                  <a:gd name="GluePoint17Y" fmla="*/ 2147483647 h 117"/>
                  <a:gd name="GluePoint18X" fmla="*/ 2147483647 w 299"/>
                  <a:gd name="GluePoint18Y" fmla="*/ 2147483647 h 117"/>
                  <a:gd name="GluePoint19X" fmla="*/ 2147483647 w 299"/>
                  <a:gd name="GluePoint19Y" fmla="*/ 2147483647 h 117"/>
                  <a:gd name="GluePoint20X" fmla="*/ 2147483647 w 299"/>
                  <a:gd name="GluePoint20Y" fmla="*/ 2147483647 h 117"/>
                  <a:gd name="GluePoint21X" fmla="*/ 2147483647 w 299"/>
                  <a:gd name="GluePoint21Y" fmla="*/ 2147483647 h 117"/>
                  <a:gd name="GluePoint22X" fmla="*/ 2037936656 w 299"/>
                  <a:gd name="GluePoint22Y" fmla="*/ 2147483647 h 117"/>
                  <a:gd name="GluePoint23X" fmla="*/ 242645564 w 299"/>
                  <a:gd name="GluePoint23Y" fmla="*/ 2147483647 h 117"/>
                  <a:gd name="GluePoint24X" fmla="*/ 2147483647 w 299"/>
                  <a:gd name="GluePoint24Y" fmla="*/ 2147483647 h 117"/>
                  <a:gd name="GluePoint25X" fmla="*/ 2147483647 w 299"/>
                  <a:gd name="GluePoint25Y" fmla="*/ 2147483647 h 117"/>
                  <a:gd name="GluePoint26X" fmla="*/ 2147483647 w 299"/>
                  <a:gd name="GluePoint26Y" fmla="*/ 2147483647 h 117"/>
                  <a:gd name="GluePoint27X" fmla="*/ 2147483647 w 299"/>
                  <a:gd name="GluePoint27Y" fmla="*/ 2147483647 h 117"/>
                  <a:gd name="GluePoint28X" fmla="*/ 2147483647 w 299"/>
                  <a:gd name="GluePoint28Y" fmla="*/ 2147483647 h 117"/>
                  <a:gd name="GluePoint29X" fmla="*/ 2147483647 w 299"/>
                  <a:gd name="GluePoint29Y" fmla="*/ 2147483647 h 117"/>
                  <a:gd name="GluePoint30X" fmla="*/ 2147483647 w 299"/>
                  <a:gd name="GluePoint30Y" fmla="*/ 2147483647 h 117"/>
                  <a:gd name="GluePoint31X" fmla="*/ 2147483647 w 299"/>
                  <a:gd name="GluePoint31Y" fmla="*/ 2147483647 h 117"/>
                  <a:gd name="GluePoint32X" fmla="*/ 2147483647 w 299"/>
                  <a:gd name="GluePoint32Y" fmla="*/ 2147483647 h 117"/>
                  <a:gd name="GluePoint33X" fmla="*/ 2147483647 w 299"/>
                  <a:gd name="GluePoint33Y" fmla="*/ 2147483647 h 117"/>
                  <a:gd name="GluePoint34X" fmla="*/ 2147483647 w 299"/>
                  <a:gd name="GluePoint34Y" fmla="*/ 2147483647 h 117"/>
                  <a:gd name="GluePoint35X" fmla="*/ 2147483647 w 299"/>
                  <a:gd name="GluePoint35Y" fmla="*/ 2147483647 h 117"/>
                  <a:gd name="GluePoint36X" fmla="*/ 2147483647 w 299"/>
                  <a:gd name="GluePoint36Y" fmla="*/ 2147483647 h 117"/>
                  <a:gd name="GluePoint37X" fmla="*/ 2147483647 w 299"/>
                  <a:gd name="GluePoint37Y" fmla="*/ 2147483647 h 117"/>
                  <a:gd name="GluePoint38X" fmla="*/ 2147483647 w 299"/>
                  <a:gd name="GluePoint38Y" fmla="*/ 2147483647 h 1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Lst>
                <a:rect l="l" t="t" r="r" b="b"/>
                <a:pathLst>
                  <a:path w="299" h="117">
                    <a:moveTo>
                      <a:pt x="298" y="41"/>
                    </a:moveTo>
                    <a:cubicBezTo>
                      <a:pt x="293" y="41"/>
                      <a:pt x="273" y="42"/>
                      <a:pt x="266" y="42"/>
                    </a:cubicBezTo>
                    <a:cubicBezTo>
                      <a:pt x="250" y="43"/>
                      <a:pt x="231" y="43"/>
                      <a:pt x="214" y="41"/>
                    </a:cubicBezTo>
                    <a:cubicBezTo>
                      <a:pt x="204" y="41"/>
                      <a:pt x="194" y="40"/>
                      <a:pt x="184" y="39"/>
                    </a:cubicBezTo>
                    <a:cubicBezTo>
                      <a:pt x="178" y="38"/>
                      <a:pt x="172" y="38"/>
                      <a:pt x="167" y="36"/>
                    </a:cubicBezTo>
                    <a:cubicBezTo>
                      <a:pt x="159" y="35"/>
                      <a:pt x="151" y="34"/>
                      <a:pt x="144" y="32"/>
                    </a:cubicBezTo>
                    <a:cubicBezTo>
                      <a:pt x="141" y="31"/>
                      <a:pt x="139" y="30"/>
                      <a:pt x="137" y="29"/>
                    </a:cubicBezTo>
                    <a:cubicBezTo>
                      <a:pt x="139" y="35"/>
                      <a:pt x="134" y="44"/>
                      <a:pt x="123" y="44"/>
                    </a:cubicBezTo>
                    <a:cubicBezTo>
                      <a:pt x="118" y="44"/>
                      <a:pt x="113" y="41"/>
                      <a:pt x="109" y="38"/>
                    </a:cubicBezTo>
                    <a:cubicBezTo>
                      <a:pt x="109" y="38"/>
                      <a:pt x="108" y="39"/>
                      <a:pt x="108" y="39"/>
                    </a:cubicBezTo>
                    <a:cubicBezTo>
                      <a:pt x="106" y="40"/>
                      <a:pt x="106" y="42"/>
                      <a:pt x="106" y="43"/>
                    </a:cubicBezTo>
                    <a:cubicBezTo>
                      <a:pt x="108" y="49"/>
                      <a:pt x="109" y="54"/>
                      <a:pt x="110" y="58"/>
                    </a:cubicBezTo>
                    <a:cubicBezTo>
                      <a:pt x="111" y="61"/>
                      <a:pt x="115" y="62"/>
                      <a:pt x="117" y="63"/>
                    </a:cubicBezTo>
                    <a:cubicBezTo>
                      <a:pt x="123" y="64"/>
                      <a:pt x="129" y="67"/>
                      <a:pt x="131" y="74"/>
                    </a:cubicBezTo>
                    <a:cubicBezTo>
                      <a:pt x="135" y="84"/>
                      <a:pt x="124" y="92"/>
                      <a:pt x="120" y="92"/>
                    </a:cubicBezTo>
                    <a:cubicBezTo>
                      <a:pt x="119" y="96"/>
                      <a:pt x="110" y="104"/>
                      <a:pt x="94" y="93"/>
                    </a:cubicBezTo>
                    <a:cubicBezTo>
                      <a:pt x="88" y="88"/>
                      <a:pt x="90" y="78"/>
                      <a:pt x="93" y="71"/>
                    </a:cubicBezTo>
                    <a:cubicBezTo>
                      <a:pt x="94" y="68"/>
                      <a:pt x="96" y="59"/>
                      <a:pt x="96" y="55"/>
                    </a:cubicBezTo>
                    <a:cubicBezTo>
                      <a:pt x="94" y="46"/>
                      <a:pt x="89" y="32"/>
                      <a:pt x="84" y="26"/>
                    </a:cubicBezTo>
                    <a:cubicBezTo>
                      <a:pt x="78" y="29"/>
                      <a:pt x="66" y="19"/>
                      <a:pt x="65" y="16"/>
                    </a:cubicBezTo>
                    <a:cubicBezTo>
                      <a:pt x="55" y="12"/>
                      <a:pt x="43" y="8"/>
                      <a:pt x="32" y="5"/>
                    </a:cubicBezTo>
                    <a:cubicBezTo>
                      <a:pt x="14" y="0"/>
                      <a:pt x="13" y="11"/>
                      <a:pt x="8" y="20"/>
                    </a:cubicBezTo>
                    <a:cubicBezTo>
                      <a:pt x="3" y="27"/>
                      <a:pt x="2" y="39"/>
                      <a:pt x="1" y="52"/>
                    </a:cubicBezTo>
                    <a:cubicBezTo>
                      <a:pt x="0" y="64"/>
                      <a:pt x="35" y="69"/>
                      <a:pt x="35" y="117"/>
                    </a:cubicBezTo>
                    <a:cubicBezTo>
                      <a:pt x="36" y="100"/>
                      <a:pt x="33" y="82"/>
                      <a:pt x="27" y="67"/>
                    </a:cubicBezTo>
                    <a:cubicBezTo>
                      <a:pt x="22" y="58"/>
                      <a:pt x="15" y="47"/>
                      <a:pt x="17" y="36"/>
                    </a:cubicBezTo>
                    <a:cubicBezTo>
                      <a:pt x="19" y="29"/>
                      <a:pt x="25" y="22"/>
                      <a:pt x="32" y="19"/>
                    </a:cubicBezTo>
                    <a:cubicBezTo>
                      <a:pt x="40" y="16"/>
                      <a:pt x="62" y="23"/>
                      <a:pt x="73" y="31"/>
                    </a:cubicBezTo>
                    <a:cubicBezTo>
                      <a:pt x="78" y="35"/>
                      <a:pt x="83" y="41"/>
                      <a:pt x="85" y="49"/>
                    </a:cubicBezTo>
                    <a:cubicBezTo>
                      <a:pt x="90" y="73"/>
                      <a:pt x="69" y="100"/>
                      <a:pt x="101" y="106"/>
                    </a:cubicBezTo>
                    <a:cubicBezTo>
                      <a:pt x="114" y="108"/>
                      <a:pt x="129" y="102"/>
                      <a:pt x="135" y="90"/>
                    </a:cubicBezTo>
                    <a:cubicBezTo>
                      <a:pt x="139" y="82"/>
                      <a:pt x="140" y="76"/>
                      <a:pt x="139" y="68"/>
                    </a:cubicBezTo>
                    <a:cubicBezTo>
                      <a:pt x="136" y="56"/>
                      <a:pt x="142" y="59"/>
                      <a:pt x="151" y="61"/>
                    </a:cubicBezTo>
                    <a:cubicBezTo>
                      <a:pt x="179" y="66"/>
                      <a:pt x="209" y="66"/>
                      <a:pt x="237" y="66"/>
                    </a:cubicBezTo>
                    <a:cubicBezTo>
                      <a:pt x="267" y="65"/>
                      <a:pt x="275" y="79"/>
                      <a:pt x="260" y="94"/>
                    </a:cubicBezTo>
                    <a:cubicBezTo>
                      <a:pt x="240" y="116"/>
                      <a:pt x="230" y="109"/>
                      <a:pt x="230" y="109"/>
                    </a:cubicBezTo>
                    <a:cubicBezTo>
                      <a:pt x="250" y="117"/>
                      <a:pt x="272" y="90"/>
                      <a:pt x="280" y="76"/>
                    </a:cubicBezTo>
                    <a:cubicBezTo>
                      <a:pt x="285" y="67"/>
                      <a:pt x="299" y="53"/>
                      <a:pt x="298" y="41"/>
                    </a:cubicBezTo>
                    <a:close/>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2" name="Freeform 73"/>
              <p:cNvSpPr/>
              <p:nvPr/>
            </p:nvSpPr>
            <p:spPr>
              <a:xfrm flipH="1">
                <a:off x="5637240" y="1866600"/>
                <a:ext cx="177840" cy="243720"/>
              </a:xfrm>
              <a:custGeom>
                <a:avLst/>
                <a:gdLst>
                  <a:gd name="GluePoint1X" fmla="*/ 2147483647 w 55"/>
                  <a:gd name="GluePoint1Y" fmla="*/ 2147483647 h 72"/>
                  <a:gd name="GluePoint2X" fmla="*/ 2147483647 w 55"/>
                  <a:gd name="GluePoint2Y" fmla="*/ 2147483647 h 72"/>
                  <a:gd name="GluePoint3X" fmla="*/ 2147483647 w 55"/>
                  <a:gd name="GluePoint3Y" fmla="*/ 2147483647 h 72"/>
                  <a:gd name="GluePoint4X" fmla="*/ 2147483647 w 55"/>
                  <a:gd name="GluePoint4Y" fmla="*/ 0 h 72"/>
                  <a:gd name="GluePoint5X" fmla="*/ 2147483647 w 55"/>
                  <a:gd name="GluePoint5Y" fmla="*/ 0 h 72"/>
                  <a:gd name="GluePoint6X" fmla="*/ 2147483647 w 55"/>
                  <a:gd name="GluePoint6Y" fmla="*/ 879627913 h 72"/>
                  <a:gd name="GluePoint7X" fmla="*/ 2147483647 w 55"/>
                  <a:gd name="GluePoint7Y" fmla="*/ 2147483647 h 72"/>
                  <a:gd name="GluePoint8X" fmla="*/ 2147483647 w 55"/>
                  <a:gd name="GluePoint8Y" fmla="*/ 2147483647 h 72"/>
                  <a:gd name="GluePoint9X" fmla="*/ 2147483647 w 55"/>
                  <a:gd name="GluePoint9Y" fmla="*/ 2147483647 h 72"/>
                  <a:gd name="GluePoint10X" fmla="*/ 2147483647 w 55"/>
                  <a:gd name="GluePoint10Y" fmla="*/ 2147483647 h 72"/>
                  <a:gd name="GluePoint11X" fmla="*/ 2147483647 w 55"/>
                  <a:gd name="GluePoint11Y" fmla="*/ 2147483647 h 72"/>
                  <a:gd name="GluePoint12X" fmla="*/ 2058939679 w 55"/>
                  <a:gd name="GluePoint12Y" fmla="*/ 2147483647 h 72"/>
                  <a:gd name="GluePoint13X" fmla="*/ 2147483647 w 55"/>
                  <a:gd name="GluePoint13Y" fmla="*/ 2147483647 h 72"/>
                  <a:gd name="GluePoint14X" fmla="*/ 891666790 w 55"/>
                  <a:gd name="GluePoint14Y" fmla="*/ 0 h 72"/>
                  <a:gd name="GluePoint15X" fmla="*/ 226028446 w 55"/>
                  <a:gd name="GluePoint15Y" fmla="*/ 2147483647 h 72"/>
                  <a:gd name="GluePoint16X" fmla="*/ 1205161258 w 55"/>
                  <a:gd name="GluePoint16Y" fmla="*/ 2147483647 h 72"/>
                  <a:gd name="GluePoint17X" fmla="*/ 683103060 w 55"/>
                  <a:gd name="GluePoint17Y" fmla="*/ 2147483647 h 72"/>
                  <a:gd name="GluePoint18X" fmla="*/ 2147483647 w 55"/>
                  <a:gd name="GluePoint18Y" fmla="*/ 2147483647 h 72"/>
                  <a:gd name="GluePoint19X" fmla="*/ 2147483647 w 55"/>
                  <a:gd name="GluePoint19Y" fmla="*/ 2147483647 h 72"/>
                  <a:gd name="GluePoint20X" fmla="*/ 2147483647 w 55"/>
                  <a:gd name="GluePoint20Y" fmla="*/ 2147483647 h 72"/>
                  <a:gd name="GluePoint21X" fmla="*/ 2147483647 w 55"/>
                  <a:gd name="GluePoint21Y" fmla="*/ 2147483647 h 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l" t="t" r="r" b="b"/>
                <a:pathLst>
                  <a:path w="55" h="72">
                    <a:moveTo>
                      <a:pt x="55" y="21"/>
                    </a:moveTo>
                    <a:cubicBezTo>
                      <a:pt x="40" y="12"/>
                      <a:pt x="40" y="12"/>
                      <a:pt x="40" y="12"/>
                    </a:cubicBezTo>
                    <a:cubicBezTo>
                      <a:pt x="40" y="12"/>
                      <a:pt x="40" y="12"/>
                      <a:pt x="39" y="12"/>
                    </a:cubicBezTo>
                    <a:cubicBezTo>
                      <a:pt x="30" y="12"/>
                      <a:pt x="24" y="6"/>
                      <a:pt x="20" y="0"/>
                    </a:cubicBezTo>
                    <a:cubicBezTo>
                      <a:pt x="19" y="0"/>
                      <a:pt x="19" y="0"/>
                      <a:pt x="18" y="0"/>
                    </a:cubicBezTo>
                    <a:cubicBezTo>
                      <a:pt x="18" y="0"/>
                      <a:pt x="18" y="1"/>
                      <a:pt x="18" y="1"/>
                    </a:cubicBezTo>
                    <a:cubicBezTo>
                      <a:pt x="21" y="9"/>
                      <a:pt x="24" y="19"/>
                      <a:pt x="26" y="26"/>
                    </a:cubicBezTo>
                    <a:cubicBezTo>
                      <a:pt x="27" y="29"/>
                      <a:pt x="31" y="30"/>
                      <a:pt x="33" y="31"/>
                    </a:cubicBezTo>
                    <a:cubicBezTo>
                      <a:pt x="39" y="32"/>
                      <a:pt x="45" y="35"/>
                      <a:pt x="47" y="42"/>
                    </a:cubicBezTo>
                    <a:cubicBezTo>
                      <a:pt x="51" y="52"/>
                      <a:pt x="40" y="60"/>
                      <a:pt x="36" y="60"/>
                    </a:cubicBezTo>
                    <a:cubicBezTo>
                      <a:pt x="35" y="64"/>
                      <a:pt x="26" y="72"/>
                      <a:pt x="10" y="61"/>
                    </a:cubicBezTo>
                    <a:cubicBezTo>
                      <a:pt x="4" y="56"/>
                      <a:pt x="6" y="46"/>
                      <a:pt x="9" y="39"/>
                    </a:cubicBezTo>
                    <a:cubicBezTo>
                      <a:pt x="10" y="36"/>
                      <a:pt x="12" y="27"/>
                      <a:pt x="12" y="23"/>
                    </a:cubicBezTo>
                    <a:cubicBezTo>
                      <a:pt x="10" y="16"/>
                      <a:pt x="7" y="7"/>
                      <a:pt x="4" y="0"/>
                    </a:cubicBezTo>
                    <a:cubicBezTo>
                      <a:pt x="0" y="1"/>
                      <a:pt x="0" y="3"/>
                      <a:pt x="1" y="7"/>
                    </a:cubicBezTo>
                    <a:cubicBezTo>
                      <a:pt x="4" y="17"/>
                      <a:pt x="7" y="25"/>
                      <a:pt x="5" y="36"/>
                    </a:cubicBezTo>
                    <a:cubicBezTo>
                      <a:pt x="3" y="43"/>
                      <a:pt x="1" y="51"/>
                      <a:pt x="3" y="58"/>
                    </a:cubicBezTo>
                    <a:cubicBezTo>
                      <a:pt x="8" y="69"/>
                      <a:pt x="27" y="71"/>
                      <a:pt x="36" y="66"/>
                    </a:cubicBezTo>
                    <a:cubicBezTo>
                      <a:pt x="46" y="61"/>
                      <a:pt x="55" y="55"/>
                      <a:pt x="53" y="42"/>
                    </a:cubicBezTo>
                    <a:cubicBezTo>
                      <a:pt x="51" y="34"/>
                      <a:pt x="45" y="31"/>
                      <a:pt x="41" y="26"/>
                    </a:cubicBezTo>
                    <a:cubicBezTo>
                      <a:pt x="34" y="18"/>
                      <a:pt x="50" y="21"/>
                      <a:pt x="55" y="21"/>
                    </a:cubicBezTo>
                    <a:close/>
                  </a:path>
                </a:pathLst>
              </a:custGeom>
              <a:solidFill>
                <a:srgbClr val="b8b2c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3" name="Freeform 74"/>
              <p:cNvSpPr/>
              <p:nvPr/>
            </p:nvSpPr>
            <p:spPr>
              <a:xfrm flipH="1">
                <a:off x="5775840" y="1758240"/>
                <a:ext cx="309240" cy="216360"/>
              </a:xfrm>
              <a:custGeom>
                <a:avLst/>
                <a:gdLst>
                  <a:gd name="GluePoint1X" fmla="*/ 2147483647 w 95"/>
                  <a:gd name="GluePoint1Y" fmla="*/ 2147483647 h 64"/>
                  <a:gd name="GluePoint2X" fmla="*/ 2147483647 w 95"/>
                  <a:gd name="GluePoint2Y" fmla="*/ 2147483647 h 64"/>
                  <a:gd name="GluePoint3X" fmla="*/ 2147483647 w 95"/>
                  <a:gd name="GluePoint3Y" fmla="*/ 2147483647 h 64"/>
                  <a:gd name="GluePoint4X" fmla="*/ 2147483647 w 95"/>
                  <a:gd name="GluePoint4Y" fmla="*/ 2147483647 h 64"/>
                  <a:gd name="GluePoint5X" fmla="*/ 2147483647 w 95"/>
                  <a:gd name="GluePoint5Y" fmla="*/ 2147483647 h 64"/>
                  <a:gd name="GluePoint6X" fmla="*/ 2147483647 w 95"/>
                  <a:gd name="GluePoint6Y" fmla="*/ 2147483647 h 64"/>
                  <a:gd name="GluePoint7X" fmla="*/ 1851711755 w 95"/>
                  <a:gd name="GluePoint7Y" fmla="*/ 2147483647 h 64"/>
                  <a:gd name="GluePoint8X" fmla="*/ 0 w 95"/>
                  <a:gd name="GluePoint8Y" fmla="*/ 2147483647 h 64"/>
                  <a:gd name="GluePoint9X" fmla="*/ 2147483647 w 95"/>
                  <a:gd name="GluePoint9Y" fmla="*/ 2147483647 h 64"/>
                  <a:gd name="GluePoint10X" fmla="*/ 2147483647 w 95"/>
                  <a:gd name="GluePoint10Y" fmla="*/ 2147483647 h 64"/>
                  <a:gd name="GluePoint11X" fmla="*/ 2147483647 w 95"/>
                  <a:gd name="GluePoint11Y" fmla="*/ 2147483647 h 64"/>
                  <a:gd name="GluePoint12X" fmla="*/ 2147483647 w 95"/>
                  <a:gd name="GluePoint12Y" fmla="*/ 2147483647 h 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l" t="t" r="r" b="b"/>
                <a:pathLst>
                  <a:path w="95" h="64">
                    <a:moveTo>
                      <a:pt x="74" y="26"/>
                    </a:moveTo>
                    <a:cubicBezTo>
                      <a:pt x="80" y="29"/>
                      <a:pt x="84" y="38"/>
                      <a:pt x="85" y="41"/>
                    </a:cubicBezTo>
                    <a:cubicBezTo>
                      <a:pt x="85" y="47"/>
                      <a:pt x="94" y="48"/>
                      <a:pt x="94" y="60"/>
                    </a:cubicBezTo>
                    <a:cubicBezTo>
                      <a:pt x="95" y="58"/>
                      <a:pt x="95" y="56"/>
                      <a:pt x="95" y="55"/>
                    </a:cubicBezTo>
                    <a:cubicBezTo>
                      <a:pt x="92" y="44"/>
                      <a:pt x="86" y="27"/>
                      <a:pt x="80" y="23"/>
                    </a:cubicBezTo>
                    <a:cubicBezTo>
                      <a:pt x="72" y="19"/>
                      <a:pt x="49" y="10"/>
                      <a:pt x="31" y="5"/>
                    </a:cubicBezTo>
                    <a:cubicBezTo>
                      <a:pt x="13" y="0"/>
                      <a:pt x="12" y="11"/>
                      <a:pt x="7" y="20"/>
                    </a:cubicBezTo>
                    <a:cubicBezTo>
                      <a:pt x="2" y="27"/>
                      <a:pt x="1" y="39"/>
                      <a:pt x="0" y="52"/>
                    </a:cubicBezTo>
                    <a:cubicBezTo>
                      <a:pt x="0" y="56"/>
                      <a:pt x="4" y="60"/>
                      <a:pt x="9" y="64"/>
                    </a:cubicBezTo>
                    <a:cubicBezTo>
                      <a:pt x="8" y="61"/>
                      <a:pt x="8" y="56"/>
                      <a:pt x="8" y="48"/>
                    </a:cubicBezTo>
                    <a:cubicBezTo>
                      <a:pt x="11" y="25"/>
                      <a:pt x="12" y="15"/>
                      <a:pt x="23" y="11"/>
                    </a:cubicBezTo>
                    <a:cubicBezTo>
                      <a:pt x="34" y="7"/>
                      <a:pt x="64" y="20"/>
                      <a:pt x="74" y="26"/>
                    </a:cubicBezTo>
                    <a:close/>
                  </a:path>
                </a:pathLst>
              </a:custGeom>
              <a:solidFill>
                <a:srgbClr val="b8b2c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4" name="Freeform 75"/>
              <p:cNvSpPr/>
              <p:nvPr/>
            </p:nvSpPr>
            <p:spPr>
              <a:xfrm flipH="1">
                <a:off x="5713920" y="37440"/>
                <a:ext cx="240840" cy="409320"/>
              </a:xfrm>
              <a:custGeom>
                <a:avLst/>
                <a:gdLst>
                  <a:gd name="GluePoint1X" fmla="*/ 2147483647 w 74"/>
                  <a:gd name="GluePoint1Y" fmla="*/ 2147483647 h 121"/>
                  <a:gd name="GluePoint2X" fmla="*/ 2147483647 w 74"/>
                  <a:gd name="GluePoint2Y" fmla="*/ 2147483647 h 121"/>
                  <a:gd name="GluePoint3X" fmla="*/ 2147483647 w 74"/>
                  <a:gd name="GluePoint3Y" fmla="*/ 2147483647 h 121"/>
                  <a:gd name="GluePoint4X" fmla="*/ 2147483647 w 74"/>
                  <a:gd name="GluePoint4Y" fmla="*/ 2147483647 h 121"/>
                  <a:gd name="GluePoint5X" fmla="*/ 2147483647 w 74"/>
                  <a:gd name="GluePoint5Y" fmla="*/ 2147483647 h 121"/>
                  <a:gd name="GluePoint6X" fmla="*/ 2147483647 w 74"/>
                  <a:gd name="GluePoint6Y" fmla="*/ 2147483647 h 121"/>
                  <a:gd name="GluePoint7X" fmla="*/ 2147483647 w 74"/>
                  <a:gd name="GluePoint7Y" fmla="*/ 2147483647 h 121"/>
                  <a:gd name="GluePoint8X" fmla="*/ 2147483647 w 74"/>
                  <a:gd name="GluePoint8Y" fmla="*/ 2147483647 h 121"/>
                  <a:gd name="GluePoint9X" fmla="*/ 2147483647 w 74"/>
                  <a:gd name="GluePoint9Y" fmla="*/ 2147483647 h 121"/>
                  <a:gd name="GluePoint10X" fmla="*/ 2147483647 w 74"/>
                  <a:gd name="GluePoint10Y" fmla="*/ 2147483647 h 1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74" h="121">
                    <a:moveTo>
                      <a:pt x="74" y="4"/>
                    </a:moveTo>
                    <a:cubicBezTo>
                      <a:pt x="61" y="5"/>
                      <a:pt x="47" y="0"/>
                      <a:pt x="34" y="3"/>
                    </a:cubicBezTo>
                    <a:cubicBezTo>
                      <a:pt x="22" y="6"/>
                      <a:pt x="21" y="17"/>
                      <a:pt x="19" y="27"/>
                    </a:cubicBezTo>
                    <a:cubicBezTo>
                      <a:pt x="12" y="56"/>
                      <a:pt x="0" y="96"/>
                      <a:pt x="18" y="121"/>
                    </a:cubicBezTo>
                    <a:cubicBezTo>
                      <a:pt x="16" y="113"/>
                      <a:pt x="13" y="106"/>
                      <a:pt x="14" y="97"/>
                    </a:cubicBezTo>
                    <a:cubicBezTo>
                      <a:pt x="15" y="90"/>
                      <a:pt x="20" y="84"/>
                      <a:pt x="21" y="77"/>
                    </a:cubicBezTo>
                    <a:cubicBezTo>
                      <a:pt x="22" y="64"/>
                      <a:pt x="15" y="37"/>
                      <a:pt x="37" y="44"/>
                    </a:cubicBezTo>
                    <a:cubicBezTo>
                      <a:pt x="30" y="38"/>
                      <a:pt x="26" y="37"/>
                      <a:pt x="28" y="28"/>
                    </a:cubicBezTo>
                    <a:cubicBezTo>
                      <a:pt x="28" y="26"/>
                      <a:pt x="30" y="15"/>
                      <a:pt x="32" y="13"/>
                    </a:cubicBezTo>
                    <a:cubicBezTo>
                      <a:pt x="37" y="7"/>
                      <a:pt x="56" y="6"/>
                      <a:pt x="64" y="4"/>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 name="Freeform 76"/>
              <p:cNvSpPr/>
              <p:nvPr/>
            </p:nvSpPr>
            <p:spPr>
              <a:xfrm flipH="1">
                <a:off x="7212240" y="433440"/>
                <a:ext cx="152280" cy="264240"/>
              </a:xfrm>
              <a:custGeom>
                <a:avLst/>
                <a:gdLst>
                  <a:gd name="GluePoint1X" fmla="*/ 2147483647 w 47"/>
                  <a:gd name="GluePoint1Y" fmla="*/ 0 h 78"/>
                  <a:gd name="GluePoint2X" fmla="*/ 993683699 w 47"/>
                  <a:gd name="GluePoint2Y" fmla="*/ 2147483647 h 78"/>
                  <a:gd name="GluePoint3X" fmla="*/ 2071963901 w 47"/>
                  <a:gd name="GluePoint3Y" fmla="*/ 2147483647 h 78"/>
                  <a:gd name="GluePoint4X" fmla="*/ 2147483647 w 47"/>
                  <a:gd name="GluePoint4Y" fmla="*/ 2147483647 h 78"/>
                  <a:gd name="GluePoint5X" fmla="*/ 2147483647 w 47"/>
                  <a:gd name="GluePoint5Y" fmla="*/ 2147483647 h 78"/>
                  <a:gd name="GluePoint6X" fmla="*/ 2147483647 w 47"/>
                  <a:gd name="GluePoint6Y" fmla="*/ 2147483647 h 78"/>
                  <a:gd name="GluePoint7X" fmla="*/ 2147483647 w 47"/>
                  <a:gd name="GluePoint7Y" fmla="*/ 2147483647 h 78"/>
                  <a:gd name="GluePoint8X" fmla="*/ 2147483647 w 47"/>
                  <a:gd name="GluePoint8Y" fmla="*/ 2147483647 h 78"/>
                  <a:gd name="GluePoint9X" fmla="*/ 2147483647 w 47"/>
                  <a:gd name="GluePoint9Y" fmla="*/ 2147483647 h 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47" h="78">
                    <a:moveTo>
                      <a:pt x="28" y="0"/>
                    </a:moveTo>
                    <a:cubicBezTo>
                      <a:pt x="21" y="3"/>
                      <a:pt x="8" y="11"/>
                      <a:pt x="4" y="17"/>
                    </a:cubicBezTo>
                    <a:cubicBezTo>
                      <a:pt x="0" y="24"/>
                      <a:pt x="4" y="30"/>
                      <a:pt x="8" y="36"/>
                    </a:cubicBezTo>
                    <a:cubicBezTo>
                      <a:pt x="13" y="43"/>
                      <a:pt x="20" y="53"/>
                      <a:pt x="27" y="58"/>
                    </a:cubicBezTo>
                    <a:cubicBezTo>
                      <a:pt x="36" y="66"/>
                      <a:pt x="43" y="66"/>
                      <a:pt x="47" y="78"/>
                    </a:cubicBezTo>
                    <a:cubicBezTo>
                      <a:pt x="46" y="67"/>
                      <a:pt x="42" y="64"/>
                      <a:pt x="34" y="57"/>
                    </a:cubicBezTo>
                    <a:cubicBezTo>
                      <a:pt x="26" y="51"/>
                      <a:pt x="23" y="47"/>
                      <a:pt x="32" y="39"/>
                    </a:cubicBezTo>
                    <a:cubicBezTo>
                      <a:pt x="22" y="39"/>
                      <a:pt x="16" y="34"/>
                      <a:pt x="12" y="24"/>
                    </a:cubicBezTo>
                    <a:cubicBezTo>
                      <a:pt x="8" y="13"/>
                      <a:pt x="15" y="13"/>
                      <a:pt x="22" y="5"/>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6" name="Freeform 77"/>
              <p:cNvSpPr/>
              <p:nvPr/>
            </p:nvSpPr>
            <p:spPr>
              <a:xfrm flipH="1">
                <a:off x="6906960" y="477360"/>
                <a:ext cx="234000" cy="41040"/>
              </a:xfrm>
              <a:custGeom>
                <a:avLst/>
                <a:gdLst>
                  <a:gd name="GluePoint1X" fmla="*/ 0 w 72"/>
                  <a:gd name="GluePoint1Y" fmla="*/ 2147483647 h 12"/>
                  <a:gd name="GluePoint2X" fmla="*/ 2147483647 w 72"/>
                  <a:gd name="GluePoint2Y" fmla="*/ 1823616533 h 12"/>
                </a:gdLst>
                <a:ahLst/>
                <a:cxnLst>
                  <a:cxn ang="0">
                    <a:pos x="GluePoint1X" y="GluePoint1Y"/>
                  </a:cxn>
                  <a:cxn ang="0">
                    <a:pos x="GluePoint2X" y="GluePoint2Y"/>
                  </a:cxn>
                </a:cxnLst>
                <a:rect l="l" t="t" r="r" b="b"/>
                <a:pathLst>
                  <a:path w="72" h="12">
                    <a:moveTo>
                      <a:pt x="0" y="12"/>
                    </a:moveTo>
                    <a:cubicBezTo>
                      <a:pt x="23" y="0"/>
                      <a:pt x="49" y="2"/>
                      <a:pt x="72" y="1"/>
                    </a:cubicBezTo>
                  </a:path>
                </a:pathLst>
              </a:custGeom>
              <a:solidFill>
                <a:srgbClr val="ffffff"/>
              </a:solidFill>
              <a:ln w="0">
                <a:noFill/>
              </a:ln>
            </p:spPr>
            <p:style>
              <a:lnRef idx="0"/>
              <a:fillRef idx="0"/>
              <a:effectRef idx="0"/>
              <a:fontRef idx="minor"/>
            </p:style>
            <p:txBody>
              <a:bodyPr lIns="90000" rIns="90000" tIns="-5760" bIns="-5760" anchor="t">
                <a:noAutofit/>
              </a:bodyPr>
              <a:p>
                <a:endParaRPr b="0" lang="en-US" sz="2400" strike="noStrike" u="none">
                  <a:solidFill>
                    <a:srgbClr val="ffff00"/>
                  </a:solidFill>
                  <a:effectLst/>
                  <a:uFillTx/>
                  <a:latin typeface="Times New Roman"/>
                </a:endParaRPr>
              </a:p>
            </p:txBody>
          </p:sp>
          <p:sp>
            <p:nvSpPr>
              <p:cNvPr id="297" name="Freeform 78"/>
              <p:cNvSpPr/>
              <p:nvPr/>
            </p:nvSpPr>
            <p:spPr>
              <a:xfrm flipH="1">
                <a:off x="6647040" y="623880"/>
                <a:ext cx="412200" cy="175320"/>
              </a:xfrm>
              <a:custGeom>
                <a:avLst/>
                <a:gdLst>
                  <a:gd name="GluePoint1X" fmla="*/ 0 w 127"/>
                  <a:gd name="GluePoint1Y" fmla="*/ 2147483647 h 52"/>
                  <a:gd name="GluePoint2X" fmla="*/ 2147483647 w 127"/>
                  <a:gd name="GluePoint2Y" fmla="*/ 2147483647 h 52"/>
                  <a:gd name="GluePoint3X" fmla="*/ 2147483647 w 127"/>
                  <a:gd name="GluePoint3Y" fmla="*/ 2147483647 h 52"/>
                  <a:gd name="GluePoint4X" fmla="*/ 2147483647 w 127"/>
                  <a:gd name="GluePoint4Y" fmla="*/ 2147483647 h 52"/>
                  <a:gd name="GluePoint5X" fmla="*/ 2147483647 w 127"/>
                  <a:gd name="GluePoint5Y" fmla="*/ 2147483647 h 52"/>
                  <a:gd name="GluePoint6X" fmla="*/ 2147483647 w 127"/>
                  <a:gd name="GluePoint6Y" fmla="*/ 2147483647 h 52"/>
                  <a:gd name="GluePoint7X" fmla="*/ 2147483647 w 127"/>
                  <a:gd name="GluePoint7Y" fmla="*/ 2147483647 h 52"/>
                  <a:gd name="GluePoint8X" fmla="*/ 2147483647 w 127"/>
                  <a:gd name="GluePoint8Y" fmla="*/ 2147483647 h 5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27" h="52">
                    <a:moveTo>
                      <a:pt x="0" y="10"/>
                    </a:moveTo>
                    <a:cubicBezTo>
                      <a:pt x="14" y="14"/>
                      <a:pt x="31" y="12"/>
                      <a:pt x="46" y="12"/>
                    </a:cubicBezTo>
                    <a:cubicBezTo>
                      <a:pt x="59" y="12"/>
                      <a:pt x="76" y="8"/>
                      <a:pt x="89" y="6"/>
                    </a:cubicBezTo>
                    <a:cubicBezTo>
                      <a:pt x="97" y="5"/>
                      <a:pt x="110" y="0"/>
                      <a:pt x="117" y="6"/>
                    </a:cubicBezTo>
                    <a:cubicBezTo>
                      <a:pt x="127" y="14"/>
                      <a:pt x="118" y="41"/>
                      <a:pt x="117" y="52"/>
                    </a:cubicBezTo>
                    <a:cubicBezTo>
                      <a:pt x="127" y="10"/>
                      <a:pt x="115" y="7"/>
                      <a:pt x="90" y="12"/>
                    </a:cubicBezTo>
                    <a:cubicBezTo>
                      <a:pt x="61" y="15"/>
                      <a:pt x="42" y="23"/>
                      <a:pt x="39" y="26"/>
                    </a:cubicBezTo>
                    <a:cubicBezTo>
                      <a:pt x="38" y="17"/>
                      <a:pt x="28" y="17"/>
                      <a:pt x="22" y="16"/>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 name="Freeform 79"/>
              <p:cNvSpPr/>
              <p:nvPr/>
            </p:nvSpPr>
            <p:spPr>
              <a:xfrm flipH="1">
                <a:off x="6942960" y="863640"/>
                <a:ext cx="330840" cy="50400"/>
              </a:xfrm>
              <a:custGeom>
                <a:avLst/>
                <a:gdLst>
                  <a:gd name="GluePoint1X" fmla="*/ 0 w 102"/>
                  <a:gd name="GluePoint1Y" fmla="*/ 2147483647 h 15"/>
                  <a:gd name="GluePoint2X" fmla="*/ 2147483647 w 102"/>
                  <a:gd name="GluePoint2Y" fmla="*/ 2147483647 h 15"/>
                  <a:gd name="GluePoint3X" fmla="*/ 2147483647 w 102"/>
                  <a:gd name="GluePoint3Y" fmla="*/ 846749092 h 15"/>
                  <a:gd name="GluePoint4X" fmla="*/ 2147483647 w 102"/>
                  <a:gd name="GluePoint4Y" fmla="*/ 2147483647 h 15"/>
                  <a:gd name="GluePoint5X" fmla="*/ 2147483647 w 102"/>
                  <a:gd name="GluePoint5Y" fmla="*/ 2147483647 h 15"/>
                  <a:gd name="GluePoint6X" fmla="*/ 1660547492 w 102"/>
                  <a:gd name="GluePoint6Y" fmla="*/ 2147483647 h 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02" h="15">
                    <a:moveTo>
                      <a:pt x="0" y="14"/>
                    </a:moveTo>
                    <a:cubicBezTo>
                      <a:pt x="16" y="0"/>
                      <a:pt x="37" y="5"/>
                      <a:pt x="56" y="7"/>
                    </a:cubicBezTo>
                    <a:cubicBezTo>
                      <a:pt x="72" y="8"/>
                      <a:pt x="86" y="6"/>
                      <a:pt x="102" y="1"/>
                    </a:cubicBezTo>
                    <a:cubicBezTo>
                      <a:pt x="94" y="4"/>
                      <a:pt x="88" y="11"/>
                      <a:pt x="80" y="13"/>
                    </a:cubicBezTo>
                    <a:cubicBezTo>
                      <a:pt x="73" y="15"/>
                      <a:pt x="61" y="14"/>
                      <a:pt x="54" y="14"/>
                    </a:cubicBezTo>
                    <a:cubicBezTo>
                      <a:pt x="39" y="12"/>
                      <a:pt x="22" y="6"/>
                      <a:pt x="7" y="10"/>
                    </a:cubicBezTo>
                  </a:path>
                </a:pathLst>
              </a:custGeom>
              <a:solidFill>
                <a:srgbClr val="ffffff"/>
              </a:solidFill>
              <a:ln w="0">
                <a:noFill/>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299" name="Freeform 80"/>
              <p:cNvSpPr/>
              <p:nvPr/>
            </p:nvSpPr>
            <p:spPr>
              <a:xfrm flipH="1">
                <a:off x="6637680" y="900720"/>
                <a:ext cx="263160" cy="257400"/>
              </a:xfrm>
              <a:custGeom>
                <a:avLst/>
                <a:gdLst>
                  <a:gd name="GluePoint1X" fmla="*/ 0 w 81"/>
                  <a:gd name="GluePoint1Y" fmla="*/ 2147483647 h 76"/>
                  <a:gd name="GluePoint2X" fmla="*/ 2147483647 w 81"/>
                  <a:gd name="GluePoint2Y" fmla="*/ 2147483647 h 76"/>
                  <a:gd name="GluePoint3X" fmla="*/ 2147483647 w 81"/>
                  <a:gd name="GluePoint3Y" fmla="*/ 2147483647 h 76"/>
                  <a:gd name="GluePoint4X" fmla="*/ 2147483647 w 81"/>
                  <a:gd name="GluePoint4Y" fmla="*/ 0 h 76"/>
                  <a:gd name="GluePoint5X" fmla="*/ 2147483647 w 81"/>
                  <a:gd name="GluePoint5Y" fmla="*/ 2147483647 h 76"/>
                  <a:gd name="GluePoint6X" fmla="*/ 2147483647 w 81"/>
                  <a:gd name="GluePoint6Y" fmla="*/ 2147483647 h 76"/>
                  <a:gd name="GluePoint7X" fmla="*/ 2147483647 w 81"/>
                  <a:gd name="GluePoint7Y" fmla="*/ 2147483647 h 76"/>
                  <a:gd name="GluePoint8X" fmla="*/ 1524098214 w 81"/>
                  <a:gd name="GluePoint8Y" fmla="*/ 2147483647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81" h="76">
                    <a:moveTo>
                      <a:pt x="0" y="76"/>
                    </a:moveTo>
                    <a:cubicBezTo>
                      <a:pt x="0" y="61"/>
                      <a:pt x="19" y="37"/>
                      <a:pt x="32" y="28"/>
                    </a:cubicBezTo>
                    <a:cubicBezTo>
                      <a:pt x="40" y="23"/>
                      <a:pt x="50" y="19"/>
                      <a:pt x="58" y="15"/>
                    </a:cubicBezTo>
                    <a:cubicBezTo>
                      <a:pt x="65" y="10"/>
                      <a:pt x="77" y="6"/>
                      <a:pt x="81" y="0"/>
                    </a:cubicBezTo>
                    <a:cubicBezTo>
                      <a:pt x="78" y="10"/>
                      <a:pt x="55" y="16"/>
                      <a:pt x="61" y="28"/>
                    </a:cubicBezTo>
                    <a:cubicBezTo>
                      <a:pt x="45" y="22"/>
                      <a:pt x="44" y="33"/>
                      <a:pt x="39" y="44"/>
                    </a:cubicBezTo>
                    <a:cubicBezTo>
                      <a:pt x="33" y="37"/>
                      <a:pt x="24" y="47"/>
                      <a:pt x="23" y="53"/>
                    </a:cubicBezTo>
                    <a:cubicBezTo>
                      <a:pt x="15" y="51"/>
                      <a:pt x="9" y="56"/>
                      <a:pt x="6" y="62"/>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0" name="Freeform 81"/>
              <p:cNvSpPr/>
              <p:nvPr/>
            </p:nvSpPr>
            <p:spPr>
              <a:xfrm flipH="1">
                <a:off x="7574040" y="829440"/>
                <a:ext cx="128880" cy="305280"/>
              </a:xfrm>
              <a:custGeom>
                <a:avLst/>
                <a:gdLst>
                  <a:gd name="GluePoint1X" fmla="*/ 2147483647 w 40"/>
                  <a:gd name="GluePoint1Y" fmla="*/ 0 h 90"/>
                  <a:gd name="GluePoint2X" fmla="*/ 1452939815 w 40"/>
                  <a:gd name="GluePoint2Y" fmla="*/ 2147483647 h 90"/>
                  <a:gd name="GluePoint3X" fmla="*/ 476471586 w 40"/>
                  <a:gd name="GluePoint3Y" fmla="*/ 2147483647 h 90"/>
                  <a:gd name="GluePoint4X" fmla="*/ 2147483647 w 40"/>
                  <a:gd name="GluePoint4Y" fmla="*/ 2147483647 h 90"/>
                  <a:gd name="GluePoint5X" fmla="*/ 1612307392 w 40"/>
                  <a:gd name="GluePoint5Y" fmla="*/ 2147483647 h 90"/>
                  <a:gd name="GluePoint6X" fmla="*/ 2147483647 w 40"/>
                  <a:gd name="GluePoint6Y" fmla="*/ 2147483647 h 90"/>
                  <a:gd name="GluePoint7X" fmla="*/ 2147483647 w 40"/>
                  <a:gd name="GluePoint7Y" fmla="*/ 2147483647 h 90"/>
                  <a:gd name="GluePoint8X" fmla="*/ 2147483647 w 40"/>
                  <a:gd name="GluePoint8Y" fmla="*/ 2147483647 h 90"/>
                  <a:gd name="GluePoint9X" fmla="*/ 2147483647 w 40"/>
                  <a:gd name="GluePoint9Y" fmla="*/ 2147483647 h 90"/>
                  <a:gd name="GluePoint10X" fmla="*/ 2147483647 w 40"/>
                  <a:gd name="GluePoint10Y" fmla="*/ 2147483647 h 9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40" h="90">
                    <a:moveTo>
                      <a:pt x="40" y="0"/>
                    </a:moveTo>
                    <a:cubicBezTo>
                      <a:pt x="28" y="17"/>
                      <a:pt x="15" y="35"/>
                      <a:pt x="7" y="53"/>
                    </a:cubicBezTo>
                    <a:cubicBezTo>
                      <a:pt x="4" y="58"/>
                      <a:pt x="0" y="69"/>
                      <a:pt x="2" y="74"/>
                    </a:cubicBezTo>
                    <a:cubicBezTo>
                      <a:pt x="5" y="82"/>
                      <a:pt x="21" y="89"/>
                      <a:pt x="28" y="90"/>
                    </a:cubicBezTo>
                    <a:cubicBezTo>
                      <a:pt x="21" y="87"/>
                      <a:pt x="10" y="82"/>
                      <a:pt x="8" y="74"/>
                    </a:cubicBezTo>
                    <a:cubicBezTo>
                      <a:pt x="8" y="69"/>
                      <a:pt x="10" y="61"/>
                      <a:pt x="16" y="61"/>
                    </a:cubicBezTo>
                    <a:cubicBezTo>
                      <a:pt x="15" y="57"/>
                      <a:pt x="12" y="54"/>
                      <a:pt x="14" y="50"/>
                    </a:cubicBezTo>
                    <a:cubicBezTo>
                      <a:pt x="15" y="47"/>
                      <a:pt x="20" y="47"/>
                      <a:pt x="21" y="45"/>
                    </a:cubicBezTo>
                    <a:cubicBezTo>
                      <a:pt x="22" y="43"/>
                      <a:pt x="20" y="41"/>
                      <a:pt x="20" y="38"/>
                    </a:cubicBezTo>
                    <a:cubicBezTo>
                      <a:pt x="22" y="29"/>
                      <a:pt x="32" y="16"/>
                      <a:pt x="37" y="8"/>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1" name="Freeform 82"/>
              <p:cNvSpPr/>
              <p:nvPr/>
            </p:nvSpPr>
            <p:spPr>
              <a:xfrm flipH="1">
                <a:off x="7694280" y="1158480"/>
                <a:ext cx="83880" cy="468360"/>
              </a:xfrm>
              <a:custGeom>
                <a:avLst/>
                <a:gdLst>
                  <a:gd name="GluePoint1X" fmla="*/ 2147483647 w 26"/>
                  <a:gd name="GluePoint1Y" fmla="*/ 2147483647 h 138"/>
                  <a:gd name="GluePoint2X" fmla="*/ 2147483647 w 26"/>
                  <a:gd name="GluePoint2Y" fmla="*/ 2147483647 h 138"/>
                  <a:gd name="GluePoint3X" fmla="*/ 2147483647 w 26"/>
                  <a:gd name="GluePoint3Y" fmla="*/ 2147483647 h 138"/>
                  <a:gd name="GluePoint4X" fmla="*/ 516386834 w 26"/>
                  <a:gd name="GluePoint4Y" fmla="*/ 2147483647 h 138"/>
                  <a:gd name="GluePoint5X" fmla="*/ 2036522956 w 26"/>
                  <a:gd name="GluePoint5Y" fmla="*/ 2147483647 h 138"/>
                  <a:gd name="GluePoint6X" fmla="*/ 2147483647 w 26"/>
                  <a:gd name="GluePoint6Y" fmla="*/ 2147483647 h 138"/>
                  <a:gd name="GluePoint7X" fmla="*/ 2147483647 w 26"/>
                  <a:gd name="GluePoint7Y" fmla="*/ 2147483647 h 138"/>
                  <a:gd name="GluePoint8X" fmla="*/ 2147483647 w 26"/>
                  <a:gd name="GluePoint8Y" fmla="*/ 2147483647 h 138"/>
                  <a:gd name="GluePoint9X" fmla="*/ 2147483647 w 26"/>
                  <a:gd name="GluePoint9Y" fmla="*/ 2147483647 h 138"/>
                  <a:gd name="GluePoint10X" fmla="*/ 2147483647 w 26"/>
                  <a:gd name="GluePoint10Y" fmla="*/ 2147483647 h 138"/>
                  <a:gd name="GluePoint11X" fmla="*/ 2147483647 w 26"/>
                  <a:gd name="GluePoint11Y" fmla="*/ 919010973 h 13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26" h="138">
                    <a:moveTo>
                      <a:pt x="19" y="3"/>
                    </a:moveTo>
                    <a:cubicBezTo>
                      <a:pt x="13" y="13"/>
                      <a:pt x="10" y="16"/>
                      <a:pt x="11" y="28"/>
                    </a:cubicBezTo>
                    <a:cubicBezTo>
                      <a:pt x="12" y="39"/>
                      <a:pt x="12" y="49"/>
                      <a:pt x="10" y="60"/>
                    </a:cubicBezTo>
                    <a:cubicBezTo>
                      <a:pt x="9" y="70"/>
                      <a:pt x="3" y="78"/>
                      <a:pt x="2" y="88"/>
                    </a:cubicBezTo>
                    <a:cubicBezTo>
                      <a:pt x="0" y="102"/>
                      <a:pt x="4" y="124"/>
                      <a:pt x="9" y="138"/>
                    </a:cubicBezTo>
                    <a:cubicBezTo>
                      <a:pt x="8" y="128"/>
                      <a:pt x="0" y="58"/>
                      <a:pt x="25" y="72"/>
                    </a:cubicBezTo>
                    <a:cubicBezTo>
                      <a:pt x="19" y="70"/>
                      <a:pt x="16" y="60"/>
                      <a:pt x="18" y="55"/>
                    </a:cubicBezTo>
                    <a:cubicBezTo>
                      <a:pt x="18" y="52"/>
                      <a:pt x="22" y="50"/>
                      <a:pt x="23" y="46"/>
                    </a:cubicBezTo>
                    <a:cubicBezTo>
                      <a:pt x="24" y="42"/>
                      <a:pt x="20" y="36"/>
                      <a:pt x="20" y="32"/>
                    </a:cubicBezTo>
                    <a:cubicBezTo>
                      <a:pt x="20" y="20"/>
                      <a:pt x="9" y="2"/>
                      <a:pt x="23" y="3"/>
                    </a:cubicBezTo>
                    <a:cubicBezTo>
                      <a:pt x="20" y="1"/>
                      <a:pt x="26" y="0"/>
                      <a:pt x="21" y="1"/>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2" name="Freeform 83"/>
              <p:cNvSpPr/>
              <p:nvPr/>
            </p:nvSpPr>
            <p:spPr>
              <a:xfrm flipH="1">
                <a:off x="7443000" y="1176120"/>
                <a:ext cx="246600" cy="202680"/>
              </a:xfrm>
              <a:custGeom>
                <a:avLst/>
                <a:gdLst>
                  <a:gd name="GluePoint1X" fmla="*/ 0 w 76"/>
                  <a:gd name="GluePoint1Y" fmla="*/ 0 h 60"/>
                  <a:gd name="GluePoint2X" fmla="*/ 2147483647 w 76"/>
                  <a:gd name="GluePoint2Y" fmla="*/ 2147483647 h 60"/>
                  <a:gd name="GluePoint3X" fmla="*/ 2147483647 w 76"/>
                  <a:gd name="GluePoint3Y" fmla="*/ 2147483647 h 60"/>
                  <a:gd name="GluePoint4X" fmla="*/ 2147483647 w 76"/>
                  <a:gd name="GluePoint4Y" fmla="*/ 2147483647 h 60"/>
                  <a:gd name="GluePoint5X" fmla="*/ 2147483647 w 76"/>
                  <a:gd name="GluePoint5Y" fmla="*/ 2147483647 h 60"/>
                  <a:gd name="GluePoint6X" fmla="*/ 2147483647 w 76"/>
                  <a:gd name="GluePoint6Y" fmla="*/ 2147483647 h 60"/>
                  <a:gd name="GluePoint7X" fmla="*/ 2147483647 w 76"/>
                  <a:gd name="GluePoint7Y" fmla="*/ 2147483647 h 60"/>
                  <a:gd name="GluePoint8X" fmla="*/ 2147483647 w 76"/>
                  <a:gd name="GluePoint8Y" fmla="*/ 2147483647 h 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76" h="60">
                    <a:moveTo>
                      <a:pt x="0" y="0"/>
                    </a:moveTo>
                    <a:cubicBezTo>
                      <a:pt x="16" y="0"/>
                      <a:pt x="34" y="9"/>
                      <a:pt x="46" y="18"/>
                    </a:cubicBezTo>
                    <a:cubicBezTo>
                      <a:pt x="54" y="24"/>
                      <a:pt x="61" y="31"/>
                      <a:pt x="67" y="39"/>
                    </a:cubicBezTo>
                    <a:cubicBezTo>
                      <a:pt x="76" y="52"/>
                      <a:pt x="70" y="49"/>
                      <a:pt x="67" y="60"/>
                    </a:cubicBezTo>
                    <a:cubicBezTo>
                      <a:pt x="67" y="48"/>
                      <a:pt x="64" y="34"/>
                      <a:pt x="50" y="39"/>
                    </a:cubicBezTo>
                    <a:cubicBezTo>
                      <a:pt x="46" y="24"/>
                      <a:pt x="38" y="26"/>
                      <a:pt x="28" y="18"/>
                    </a:cubicBezTo>
                    <a:cubicBezTo>
                      <a:pt x="22" y="13"/>
                      <a:pt x="20" y="7"/>
                      <a:pt x="12" y="6"/>
                    </a:cubicBezTo>
                    <a:cubicBezTo>
                      <a:pt x="12" y="5"/>
                      <a:pt x="11" y="5"/>
                      <a:pt x="11" y="4"/>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3" name="Freeform 84"/>
              <p:cNvSpPr/>
              <p:nvPr/>
            </p:nvSpPr>
            <p:spPr>
              <a:xfrm flipH="1">
                <a:off x="7307280" y="1873440"/>
                <a:ext cx="113760" cy="172440"/>
              </a:xfrm>
              <a:custGeom>
                <a:avLst/>
                <a:gdLst>
                  <a:gd name="GluePoint1X" fmla="*/ 234890130 w 35"/>
                  <a:gd name="GluePoint1Y" fmla="*/ 2147483647 h 51"/>
                  <a:gd name="GluePoint2X" fmla="*/ 2147483647 w 35"/>
                  <a:gd name="GluePoint2Y" fmla="*/ 2147483647 h 51"/>
                  <a:gd name="GluePoint3X" fmla="*/ 2147483647 w 35"/>
                  <a:gd name="GluePoint3Y" fmla="*/ 0 h 51"/>
                  <a:gd name="GluePoint4X" fmla="*/ 2147483647 w 35"/>
                  <a:gd name="GluePoint4Y" fmla="*/ 2147483647 h 51"/>
                  <a:gd name="GluePoint5X" fmla="*/ 2147483647 w 35"/>
                  <a:gd name="GluePoint5Y" fmla="*/ 2147483647 h 51"/>
                  <a:gd name="GluePoint6X" fmla="*/ 1671849850 w 35"/>
                  <a:gd name="GluePoint6Y" fmla="*/ 2147483647 h 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5" h="51">
                    <a:moveTo>
                      <a:pt x="1" y="51"/>
                    </a:moveTo>
                    <a:cubicBezTo>
                      <a:pt x="0" y="43"/>
                      <a:pt x="5" y="25"/>
                      <a:pt x="9" y="18"/>
                    </a:cubicBezTo>
                    <a:cubicBezTo>
                      <a:pt x="14" y="11"/>
                      <a:pt x="28" y="3"/>
                      <a:pt x="35" y="0"/>
                    </a:cubicBezTo>
                    <a:cubicBezTo>
                      <a:pt x="32" y="4"/>
                      <a:pt x="27" y="8"/>
                      <a:pt x="23" y="12"/>
                    </a:cubicBezTo>
                    <a:cubicBezTo>
                      <a:pt x="16" y="20"/>
                      <a:pt x="17" y="20"/>
                      <a:pt x="19" y="29"/>
                    </a:cubicBezTo>
                    <a:cubicBezTo>
                      <a:pt x="13" y="24"/>
                      <a:pt x="10" y="34"/>
                      <a:pt x="7" y="39"/>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4" name="Freeform 85"/>
              <p:cNvSpPr/>
              <p:nvPr/>
            </p:nvSpPr>
            <p:spPr>
              <a:xfrm flipH="1">
                <a:off x="5240160" y="660960"/>
                <a:ext cx="1052280" cy="135720"/>
              </a:xfrm>
              <a:custGeom>
                <a:avLst/>
                <a:gdLst>
                  <a:gd name="GluePoint1X" fmla="*/ 0 w 324"/>
                  <a:gd name="GluePoint1Y" fmla="*/ 2147483647 h 40"/>
                  <a:gd name="GluePoint2X" fmla="*/ 2147483647 w 324"/>
                  <a:gd name="GluePoint2Y" fmla="*/ 2147483647 h 40"/>
                  <a:gd name="GluePoint3X" fmla="*/ 2147483647 w 324"/>
                  <a:gd name="GluePoint3Y" fmla="*/ 2147483647 h 40"/>
                  <a:gd name="GluePoint4X" fmla="*/ 2147483647 w 324"/>
                  <a:gd name="GluePoint4Y" fmla="*/ 2147483647 h 40"/>
                  <a:gd name="GluePoint5X" fmla="*/ 2147483647 w 324"/>
                  <a:gd name="GluePoint5Y" fmla="*/ 2147483647 h 40"/>
                  <a:gd name="GluePoint6X" fmla="*/ 2147483647 w 324"/>
                  <a:gd name="GluePoint6Y" fmla="*/ 2147483647 h 40"/>
                  <a:gd name="GluePoint7X" fmla="*/ 2147483647 w 324"/>
                  <a:gd name="GluePoint7Y" fmla="*/ 2147483647 h 40"/>
                  <a:gd name="GluePoint8X" fmla="*/ 2147483647 w 324"/>
                  <a:gd name="GluePoint8Y" fmla="*/ 2147483647 h 40"/>
                  <a:gd name="GluePoint9X" fmla="*/ 2147483647 w 324"/>
                  <a:gd name="GluePoint9Y" fmla="*/ 2147483647 h 40"/>
                  <a:gd name="GluePoint10X" fmla="*/ 2147483647 w 324"/>
                  <a:gd name="GluePoint10Y" fmla="*/ 2147483647 h 40"/>
                  <a:gd name="GluePoint11X" fmla="*/ 2147483647 w 324"/>
                  <a:gd name="GluePoint11Y" fmla="*/ 2147483647 h 40"/>
                  <a:gd name="GluePoint12X" fmla="*/ 2147483647 w 324"/>
                  <a:gd name="GluePoint12Y" fmla="*/ 2147483647 h 40"/>
                  <a:gd name="GluePoint13X" fmla="*/ 2147483647 w 324"/>
                  <a:gd name="GluePoint13Y" fmla="*/ 2147483647 h 40"/>
                  <a:gd name="GluePoint14X" fmla="*/ 2147483647 w 324"/>
                  <a:gd name="GluePoint14Y" fmla="*/ 2147483647 h 40"/>
                  <a:gd name="GluePoint15X" fmla="*/ 2147483647 w 324"/>
                  <a:gd name="GluePoint15Y" fmla="*/ 2147483647 h 40"/>
                  <a:gd name="GluePoint16X" fmla="*/ 2147483647 w 324"/>
                  <a:gd name="GluePoint16Y" fmla="*/ 2147483647 h 40"/>
                  <a:gd name="GluePoint17X" fmla="*/ 2147483647 w 324"/>
                  <a:gd name="GluePoint17Y" fmla="*/ 2147483647 h 40"/>
                  <a:gd name="GluePoint18X" fmla="*/ 2147483647 w 324"/>
                  <a:gd name="GluePoint18Y" fmla="*/ 2147483647 h 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l" t="t" r="r" b="b"/>
                <a:pathLst>
                  <a:path w="324" h="40">
                    <a:moveTo>
                      <a:pt x="0" y="14"/>
                    </a:moveTo>
                    <a:cubicBezTo>
                      <a:pt x="12" y="18"/>
                      <a:pt x="27" y="11"/>
                      <a:pt x="40" y="15"/>
                    </a:cubicBezTo>
                    <a:cubicBezTo>
                      <a:pt x="53" y="18"/>
                      <a:pt x="61" y="17"/>
                      <a:pt x="74" y="12"/>
                    </a:cubicBezTo>
                    <a:cubicBezTo>
                      <a:pt x="104" y="1"/>
                      <a:pt x="127" y="2"/>
                      <a:pt x="159" y="3"/>
                    </a:cubicBezTo>
                    <a:cubicBezTo>
                      <a:pt x="173" y="4"/>
                      <a:pt x="187" y="4"/>
                      <a:pt x="201" y="5"/>
                    </a:cubicBezTo>
                    <a:cubicBezTo>
                      <a:pt x="214" y="5"/>
                      <a:pt x="221" y="11"/>
                      <a:pt x="234" y="15"/>
                    </a:cubicBezTo>
                    <a:cubicBezTo>
                      <a:pt x="252" y="22"/>
                      <a:pt x="271" y="14"/>
                      <a:pt x="290" y="15"/>
                    </a:cubicBezTo>
                    <a:cubicBezTo>
                      <a:pt x="310" y="17"/>
                      <a:pt x="311" y="29"/>
                      <a:pt x="324" y="40"/>
                    </a:cubicBezTo>
                    <a:cubicBezTo>
                      <a:pt x="318" y="33"/>
                      <a:pt x="296" y="22"/>
                      <a:pt x="286" y="22"/>
                    </a:cubicBezTo>
                    <a:cubicBezTo>
                      <a:pt x="278" y="22"/>
                      <a:pt x="276" y="26"/>
                      <a:pt x="270" y="29"/>
                    </a:cubicBezTo>
                    <a:cubicBezTo>
                      <a:pt x="259" y="36"/>
                      <a:pt x="267" y="32"/>
                      <a:pt x="258" y="30"/>
                    </a:cubicBezTo>
                    <a:cubicBezTo>
                      <a:pt x="250" y="28"/>
                      <a:pt x="240" y="26"/>
                      <a:pt x="232" y="24"/>
                    </a:cubicBezTo>
                    <a:cubicBezTo>
                      <a:pt x="227" y="23"/>
                      <a:pt x="222" y="23"/>
                      <a:pt x="217" y="22"/>
                    </a:cubicBezTo>
                    <a:cubicBezTo>
                      <a:pt x="213" y="21"/>
                      <a:pt x="212" y="19"/>
                      <a:pt x="208" y="16"/>
                    </a:cubicBezTo>
                    <a:cubicBezTo>
                      <a:pt x="192" y="8"/>
                      <a:pt x="172" y="18"/>
                      <a:pt x="156" y="14"/>
                    </a:cubicBezTo>
                    <a:cubicBezTo>
                      <a:pt x="133" y="9"/>
                      <a:pt x="124" y="8"/>
                      <a:pt x="104" y="18"/>
                    </a:cubicBezTo>
                    <a:cubicBezTo>
                      <a:pt x="103" y="0"/>
                      <a:pt x="84" y="16"/>
                      <a:pt x="78" y="20"/>
                    </a:cubicBezTo>
                    <a:cubicBezTo>
                      <a:pt x="70" y="24"/>
                      <a:pt x="60" y="23"/>
                      <a:pt x="51" y="21"/>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5" name="Freeform 86"/>
              <p:cNvSpPr/>
              <p:nvPr/>
            </p:nvSpPr>
            <p:spPr>
              <a:xfrm flipH="1">
                <a:off x="4496400" y="914400"/>
                <a:ext cx="226800" cy="132840"/>
              </a:xfrm>
              <a:custGeom>
                <a:avLst/>
                <a:gdLst>
                  <a:gd name="GluePoint1X" fmla="*/ 0 w 70"/>
                  <a:gd name="GluePoint1Y" fmla="*/ 2147483647 h 39"/>
                  <a:gd name="GluePoint2X" fmla="*/ 2147483647 w 70"/>
                  <a:gd name="GluePoint2Y" fmla="*/ 2147483647 h 39"/>
                  <a:gd name="GluePoint3X" fmla="*/ 2147483647 w 70"/>
                  <a:gd name="GluePoint3Y" fmla="*/ 2147483647 h 39"/>
                  <a:gd name="GluePoint4X" fmla="*/ 2147483647 w 70"/>
                  <a:gd name="GluePoint4Y" fmla="*/ 2147483647 h 39"/>
                  <a:gd name="GluePoint5X" fmla="*/ 2147483647 w 70"/>
                  <a:gd name="GluePoint5Y" fmla="*/ 2147483647 h 39"/>
                  <a:gd name="GluePoint6X" fmla="*/ 2147483647 w 70"/>
                  <a:gd name="GluePoint6Y" fmla="*/ 2147483647 h 39"/>
                  <a:gd name="GluePoint7X" fmla="*/ 1980463879 w 70"/>
                  <a:gd name="GluePoint7Y" fmla="*/ 2147483647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70" h="39">
                    <a:moveTo>
                      <a:pt x="0" y="28"/>
                    </a:moveTo>
                    <a:cubicBezTo>
                      <a:pt x="4" y="11"/>
                      <a:pt x="31" y="17"/>
                      <a:pt x="45" y="10"/>
                    </a:cubicBezTo>
                    <a:cubicBezTo>
                      <a:pt x="54" y="5"/>
                      <a:pt x="56" y="0"/>
                      <a:pt x="63" y="8"/>
                    </a:cubicBezTo>
                    <a:cubicBezTo>
                      <a:pt x="70" y="17"/>
                      <a:pt x="66" y="30"/>
                      <a:pt x="69" y="39"/>
                    </a:cubicBezTo>
                    <a:cubicBezTo>
                      <a:pt x="69" y="26"/>
                      <a:pt x="66" y="9"/>
                      <a:pt x="50" y="14"/>
                    </a:cubicBezTo>
                    <a:cubicBezTo>
                      <a:pt x="41" y="17"/>
                      <a:pt x="37" y="23"/>
                      <a:pt x="27" y="20"/>
                    </a:cubicBezTo>
                    <a:cubicBezTo>
                      <a:pt x="24" y="30"/>
                      <a:pt x="15" y="23"/>
                      <a:pt x="8" y="26"/>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6" name="Freeform 87"/>
              <p:cNvSpPr/>
              <p:nvPr/>
            </p:nvSpPr>
            <p:spPr>
              <a:xfrm flipH="1">
                <a:off x="4683600" y="578880"/>
                <a:ext cx="295560" cy="210960"/>
              </a:xfrm>
              <a:custGeom>
                <a:avLst/>
                <a:gdLst>
                  <a:gd name="GluePoint1X" fmla="*/ 0 w 91"/>
                  <a:gd name="GluePoint1Y" fmla="*/ 2147483647 h 62"/>
                  <a:gd name="GluePoint2X" fmla="*/ 2147483647 w 91"/>
                  <a:gd name="GluePoint2Y" fmla="*/ 2147483647 h 62"/>
                  <a:gd name="GluePoint3X" fmla="*/ 2147483647 w 91"/>
                  <a:gd name="GluePoint3Y" fmla="*/ 2147483647 h 62"/>
                  <a:gd name="GluePoint4X" fmla="*/ 2147483647 w 91"/>
                  <a:gd name="GluePoint4Y" fmla="*/ 0 h 62"/>
                  <a:gd name="GluePoint5X" fmla="*/ 2147483647 w 91"/>
                  <a:gd name="GluePoint5Y" fmla="*/ 2147483647 h 62"/>
                  <a:gd name="GluePoint6X" fmla="*/ 2147483647 w 91"/>
                  <a:gd name="GluePoint6Y" fmla="*/ 2147483647 h 62"/>
                  <a:gd name="GluePoint7X" fmla="*/ 2147483647 w 91"/>
                  <a:gd name="GluePoint7Y" fmla="*/ 2147483647 h 62"/>
                  <a:gd name="GluePoint8X" fmla="*/ 2147483647 w 91"/>
                  <a:gd name="GluePoint8Y" fmla="*/ 2147483647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91" h="62">
                    <a:moveTo>
                      <a:pt x="0" y="62"/>
                    </a:moveTo>
                    <a:cubicBezTo>
                      <a:pt x="9" y="56"/>
                      <a:pt x="11" y="46"/>
                      <a:pt x="17" y="40"/>
                    </a:cubicBezTo>
                    <a:cubicBezTo>
                      <a:pt x="26" y="32"/>
                      <a:pt x="39" y="29"/>
                      <a:pt x="47" y="19"/>
                    </a:cubicBezTo>
                    <a:cubicBezTo>
                      <a:pt x="52" y="13"/>
                      <a:pt x="56" y="1"/>
                      <a:pt x="66" y="0"/>
                    </a:cubicBezTo>
                    <a:cubicBezTo>
                      <a:pt x="74" y="0"/>
                      <a:pt x="86" y="16"/>
                      <a:pt x="91" y="23"/>
                    </a:cubicBezTo>
                    <a:cubicBezTo>
                      <a:pt x="81" y="7"/>
                      <a:pt x="49" y="7"/>
                      <a:pt x="63" y="30"/>
                    </a:cubicBezTo>
                    <a:cubicBezTo>
                      <a:pt x="58" y="21"/>
                      <a:pt x="48" y="25"/>
                      <a:pt x="48" y="35"/>
                    </a:cubicBezTo>
                    <a:cubicBezTo>
                      <a:pt x="43" y="30"/>
                      <a:pt x="37" y="35"/>
                      <a:pt x="33" y="39"/>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 name="Freeform 88"/>
              <p:cNvSpPr/>
              <p:nvPr/>
            </p:nvSpPr>
            <p:spPr>
              <a:xfrm flipH="1">
                <a:off x="4996080" y="295200"/>
                <a:ext cx="194760" cy="239760"/>
              </a:xfrm>
              <a:custGeom>
                <a:avLst/>
                <a:gdLst>
                  <a:gd name="GluePoint1X" fmla="*/ 2147483647 w 60"/>
                  <a:gd name="GluePoint1Y" fmla="*/ 2147483647 h 71"/>
                  <a:gd name="GluePoint2X" fmla="*/ 2147483647 w 60"/>
                  <a:gd name="GluePoint2Y" fmla="*/ 2147483647 h 71"/>
                  <a:gd name="GluePoint3X" fmla="*/ 2147483647 w 60"/>
                  <a:gd name="GluePoint3Y" fmla="*/ 2147483647 h 71"/>
                  <a:gd name="GluePoint4X" fmla="*/ 0 w 60"/>
                  <a:gd name="GluePoint4Y" fmla="*/ 2147483647 h 71"/>
                  <a:gd name="GluePoint5X" fmla="*/ 2147483647 w 60"/>
                  <a:gd name="GluePoint5Y" fmla="*/ 2147483647 h 71"/>
                  <a:gd name="GluePoint6X" fmla="*/ 2147483647 w 60"/>
                  <a:gd name="GluePoint6Y" fmla="*/ 2147483647 h 71"/>
                  <a:gd name="GluePoint7X" fmla="*/ 2147483647 w 60"/>
                  <a:gd name="GluePoint7Y" fmla="*/ 2147483647 h 71"/>
                  <a:gd name="GluePoint8X" fmla="*/ 2147483647 w 60"/>
                  <a:gd name="GluePoint8Y" fmla="*/ 2147483647 h 7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60" h="71">
                    <a:moveTo>
                      <a:pt x="60" y="14"/>
                    </a:moveTo>
                    <a:cubicBezTo>
                      <a:pt x="48" y="4"/>
                      <a:pt x="20" y="0"/>
                      <a:pt x="14" y="18"/>
                    </a:cubicBezTo>
                    <a:cubicBezTo>
                      <a:pt x="11" y="25"/>
                      <a:pt x="13" y="33"/>
                      <a:pt x="12" y="40"/>
                    </a:cubicBezTo>
                    <a:cubicBezTo>
                      <a:pt x="11" y="53"/>
                      <a:pt x="7" y="60"/>
                      <a:pt x="0" y="71"/>
                    </a:cubicBezTo>
                    <a:cubicBezTo>
                      <a:pt x="5" y="65"/>
                      <a:pt x="13" y="49"/>
                      <a:pt x="23" y="53"/>
                    </a:cubicBezTo>
                    <a:cubicBezTo>
                      <a:pt x="18" y="48"/>
                      <a:pt x="14" y="33"/>
                      <a:pt x="25" y="33"/>
                    </a:cubicBezTo>
                    <a:cubicBezTo>
                      <a:pt x="10" y="22"/>
                      <a:pt x="29" y="8"/>
                      <a:pt x="38" y="17"/>
                    </a:cubicBezTo>
                    <a:cubicBezTo>
                      <a:pt x="37" y="11"/>
                      <a:pt x="42" y="9"/>
                      <a:pt x="46" y="10"/>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 name="Freeform 89"/>
              <p:cNvSpPr/>
              <p:nvPr/>
            </p:nvSpPr>
            <p:spPr>
              <a:xfrm flipH="1">
                <a:off x="5100120" y="1212840"/>
                <a:ext cx="305280" cy="310680"/>
              </a:xfrm>
              <a:custGeom>
                <a:avLst/>
                <a:gdLst>
                  <a:gd name="GluePoint1X" fmla="*/ 2147483647 w 94"/>
                  <a:gd name="GluePoint1Y" fmla="*/ 0 h 92"/>
                  <a:gd name="GluePoint2X" fmla="*/ 0 w 94"/>
                  <a:gd name="GluePoint2Y" fmla="*/ 2147483647 h 92"/>
                  <a:gd name="GluePoint3X" fmla="*/ 2147483647 w 94"/>
                  <a:gd name="GluePoint3Y" fmla="*/ 0 h 92"/>
                </a:gdLst>
                <a:ahLst/>
                <a:cxnLst>
                  <a:cxn ang="0">
                    <a:pos x="GluePoint1X" y="GluePoint1Y"/>
                  </a:cxn>
                  <a:cxn ang="0">
                    <a:pos x="GluePoint2X" y="GluePoint2Y"/>
                  </a:cxn>
                  <a:cxn ang="0">
                    <a:pos x="GluePoint3X" y="GluePoint3Y"/>
                  </a:cxn>
                </a:cxnLst>
                <a:rect l="l" t="t" r="r" b="b"/>
                <a:pathLst>
                  <a:path w="94" h="92">
                    <a:moveTo>
                      <a:pt x="74" y="0"/>
                    </a:moveTo>
                    <a:cubicBezTo>
                      <a:pt x="80" y="23"/>
                      <a:pt x="66" y="85"/>
                      <a:pt x="0" y="91"/>
                    </a:cubicBezTo>
                    <a:cubicBezTo>
                      <a:pt x="34" y="92"/>
                      <a:pt x="94" y="72"/>
                      <a:pt x="74" y="0"/>
                    </a:cubicBezTo>
                    <a:close/>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9" name="Freeform 90"/>
              <p:cNvSpPr/>
              <p:nvPr/>
            </p:nvSpPr>
            <p:spPr>
              <a:xfrm flipH="1">
                <a:off x="4873320" y="1185840"/>
                <a:ext cx="411840" cy="487800"/>
              </a:xfrm>
              <a:custGeom>
                <a:avLst/>
                <a:gdLst>
                  <a:gd name="GluePoint1X" fmla="*/ 0 w 127"/>
                  <a:gd name="GluePoint1Y" fmla="*/ 2147483647 h 144"/>
                  <a:gd name="GluePoint2X" fmla="*/ 2147483647 w 127"/>
                  <a:gd name="GluePoint2Y" fmla="*/ 2147483647 h 144"/>
                  <a:gd name="GluePoint3X" fmla="*/ 2147483647 w 127"/>
                  <a:gd name="GluePoint3Y" fmla="*/ 2147483647 h 144"/>
                  <a:gd name="GluePoint4X" fmla="*/ 2147483647 w 127"/>
                  <a:gd name="GluePoint4Y" fmla="*/ 0 h 144"/>
                  <a:gd name="GluePoint5X" fmla="*/ 2147483647 w 127"/>
                  <a:gd name="GluePoint5Y" fmla="*/ 2147483647 h 144"/>
                  <a:gd name="GluePoint6X" fmla="*/ 2147483647 w 127"/>
                  <a:gd name="GluePoint6Y" fmla="*/ 2147483647 h 144"/>
                  <a:gd name="GluePoint7X" fmla="*/ 0 w 127"/>
                  <a:gd name="GluePoint7Y" fmla="*/ 2147483647 h 14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27" h="144">
                    <a:moveTo>
                      <a:pt x="0" y="142"/>
                    </a:moveTo>
                    <a:cubicBezTo>
                      <a:pt x="18" y="139"/>
                      <a:pt x="56" y="127"/>
                      <a:pt x="69" y="117"/>
                    </a:cubicBezTo>
                    <a:cubicBezTo>
                      <a:pt x="82" y="108"/>
                      <a:pt x="106" y="103"/>
                      <a:pt x="111" y="73"/>
                    </a:cubicBezTo>
                    <a:cubicBezTo>
                      <a:pt x="117" y="43"/>
                      <a:pt x="109" y="10"/>
                      <a:pt x="109" y="0"/>
                    </a:cubicBezTo>
                    <a:cubicBezTo>
                      <a:pt x="118" y="18"/>
                      <a:pt x="127" y="54"/>
                      <a:pt x="116" y="87"/>
                    </a:cubicBezTo>
                    <a:cubicBezTo>
                      <a:pt x="104" y="121"/>
                      <a:pt x="72" y="123"/>
                      <a:pt x="58" y="131"/>
                    </a:cubicBezTo>
                    <a:cubicBezTo>
                      <a:pt x="44" y="140"/>
                      <a:pt x="10" y="144"/>
                      <a:pt x="0" y="142"/>
                    </a:cubicBezTo>
                    <a:close/>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10" name="Freeform 91"/>
              <p:cNvSpPr/>
              <p:nvPr/>
            </p:nvSpPr>
            <p:spPr>
              <a:xfrm flipH="1">
                <a:off x="4659120" y="1487160"/>
                <a:ext cx="434160" cy="294480"/>
              </a:xfrm>
              <a:custGeom>
                <a:avLst/>
                <a:gdLst>
                  <a:gd name="GluePoint1X" fmla="*/ 0 w 134"/>
                  <a:gd name="GluePoint1Y" fmla="*/ 2147483647 h 87"/>
                  <a:gd name="GluePoint2X" fmla="*/ 2147483647 w 134"/>
                  <a:gd name="GluePoint2Y" fmla="*/ 2147483647 h 87"/>
                  <a:gd name="GluePoint3X" fmla="*/ 2147483647 w 134"/>
                  <a:gd name="GluePoint3Y" fmla="*/ 2147483647 h 87"/>
                  <a:gd name="GluePoint4X" fmla="*/ 2147483647 w 134"/>
                  <a:gd name="GluePoint4Y" fmla="*/ 2147483647 h 87"/>
                  <a:gd name="GluePoint5X" fmla="*/ 2147483647 w 134"/>
                  <a:gd name="GluePoint5Y" fmla="*/ 2147483647 h 87"/>
                  <a:gd name="GluePoint6X" fmla="*/ 0 w 134"/>
                  <a:gd name="GluePoint6Y" fmla="*/ 2147483647 h 8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34" h="87">
                    <a:moveTo>
                      <a:pt x="0" y="86"/>
                    </a:moveTo>
                    <a:cubicBezTo>
                      <a:pt x="19" y="80"/>
                      <a:pt x="64" y="73"/>
                      <a:pt x="87" y="56"/>
                    </a:cubicBezTo>
                    <a:cubicBezTo>
                      <a:pt x="109" y="40"/>
                      <a:pt x="119" y="14"/>
                      <a:pt x="127" y="11"/>
                    </a:cubicBezTo>
                    <a:cubicBezTo>
                      <a:pt x="134" y="8"/>
                      <a:pt x="133" y="0"/>
                      <a:pt x="128" y="10"/>
                    </a:cubicBezTo>
                    <a:cubicBezTo>
                      <a:pt x="122" y="20"/>
                      <a:pt x="106" y="50"/>
                      <a:pt x="94" y="61"/>
                    </a:cubicBezTo>
                    <a:cubicBezTo>
                      <a:pt x="82" y="72"/>
                      <a:pt x="12" y="87"/>
                      <a:pt x="0" y="86"/>
                    </a:cubicBez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11" name="Freeform 92"/>
              <p:cNvSpPr/>
              <p:nvPr/>
            </p:nvSpPr>
            <p:spPr>
              <a:xfrm flipH="1">
                <a:off x="4466880" y="1318680"/>
                <a:ext cx="174960" cy="43560"/>
              </a:xfrm>
              <a:custGeom>
                <a:avLst/>
                <a:gdLst>
                  <a:gd name="GluePoint1X" fmla="*/ 0 w 54"/>
                  <a:gd name="GluePoint1Y" fmla="*/ 2147483647 h 13"/>
                  <a:gd name="GluePoint2X" fmla="*/ 2147483647 w 54"/>
                  <a:gd name="GluePoint2Y" fmla="*/ 0 h 13"/>
                </a:gdLst>
                <a:ahLst/>
                <a:cxnLst>
                  <a:cxn ang="0">
                    <a:pos x="GluePoint1X" y="GluePoint1Y"/>
                  </a:cxn>
                  <a:cxn ang="0">
                    <a:pos x="GluePoint2X" y="GluePoint2Y"/>
                  </a:cxn>
                </a:cxnLst>
                <a:rect l="l" t="t" r="r" b="b"/>
                <a:pathLst>
                  <a:path w="54" h="13">
                    <a:moveTo>
                      <a:pt x="0" y="13"/>
                    </a:moveTo>
                    <a:cubicBezTo>
                      <a:pt x="14" y="4"/>
                      <a:pt x="41" y="0"/>
                      <a:pt x="54" y="0"/>
                    </a:cubicBezTo>
                  </a:path>
                </a:pathLst>
              </a:custGeom>
              <a:solidFill>
                <a:srgbClr val="ffffff"/>
              </a:solidFill>
              <a:ln w="0">
                <a:noFill/>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312" name="Freeform 93"/>
              <p:cNvSpPr/>
              <p:nvPr/>
            </p:nvSpPr>
            <p:spPr>
              <a:xfrm flipH="1">
                <a:off x="5630040" y="1487160"/>
                <a:ext cx="108000" cy="305640"/>
              </a:xfrm>
              <a:custGeom>
                <a:avLst/>
                <a:gdLst>
                  <a:gd name="GluePoint1X" fmla="*/ 2147483647 w 33"/>
                  <a:gd name="GluePoint1Y" fmla="*/ 2147483647 h 90"/>
                  <a:gd name="GluePoint2X" fmla="*/ 2147483647 w 33"/>
                  <a:gd name="GluePoint2Y" fmla="*/ 0 h 90"/>
                  <a:gd name="GluePoint3X" fmla="*/ 2147483647 w 33"/>
                  <a:gd name="GluePoint3Y" fmla="*/ 2147483647 h 90"/>
                </a:gdLst>
                <a:ahLst/>
                <a:cxnLst>
                  <a:cxn ang="0">
                    <a:pos x="GluePoint1X" y="GluePoint1Y"/>
                  </a:cxn>
                  <a:cxn ang="0">
                    <a:pos x="GluePoint2X" y="GluePoint2Y"/>
                  </a:cxn>
                  <a:cxn ang="0">
                    <a:pos x="GluePoint3X" y="GluePoint3Y"/>
                  </a:cxn>
                </a:cxnLst>
                <a:rect l="l" t="t" r="r" b="b"/>
                <a:pathLst>
                  <a:path w="33" h="90">
                    <a:moveTo>
                      <a:pt x="26" y="90"/>
                    </a:moveTo>
                    <a:cubicBezTo>
                      <a:pt x="0" y="49"/>
                      <a:pt x="13" y="12"/>
                      <a:pt x="33" y="0"/>
                    </a:cubicBezTo>
                    <a:cubicBezTo>
                      <a:pt x="23" y="10"/>
                      <a:pt x="8" y="55"/>
                      <a:pt x="26" y="90"/>
                    </a:cubicBezTo>
                    <a:close/>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13" name="Freeform 94"/>
              <p:cNvSpPr/>
              <p:nvPr/>
            </p:nvSpPr>
            <p:spPr>
              <a:xfrm flipH="1">
                <a:off x="6849000" y="1626840"/>
                <a:ext cx="113760" cy="36720"/>
              </a:xfrm>
              <a:custGeom>
                <a:avLst/>
                <a:gdLst>
                  <a:gd name="GluePoint1X" fmla="*/ 0 w 35"/>
                  <a:gd name="GluePoint1Y" fmla="*/ 2147483647 h 11"/>
                  <a:gd name="GluePoint2X" fmla="*/ 2147483647 w 35"/>
                  <a:gd name="GluePoint2Y" fmla="*/ 2147483647 h 11"/>
                </a:gdLst>
                <a:ahLst/>
                <a:cxnLst>
                  <a:cxn ang="0">
                    <a:pos x="GluePoint1X" y="GluePoint1Y"/>
                  </a:cxn>
                  <a:cxn ang="0">
                    <a:pos x="GluePoint2X" y="GluePoint2Y"/>
                  </a:cxn>
                </a:cxnLst>
                <a:rect l="l" t="t" r="r" b="b"/>
                <a:pathLst>
                  <a:path w="35" h="11">
                    <a:moveTo>
                      <a:pt x="0" y="11"/>
                    </a:moveTo>
                    <a:cubicBezTo>
                      <a:pt x="8" y="0"/>
                      <a:pt x="20" y="0"/>
                      <a:pt x="35" y="5"/>
                    </a:cubicBezTo>
                  </a:path>
                </a:pathLst>
              </a:custGeom>
              <a:solidFill>
                <a:srgbClr val="ffffff"/>
              </a:solidFill>
              <a:ln w="0">
                <a:noFill/>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314" name="Freeform 95"/>
              <p:cNvSpPr/>
              <p:nvPr/>
            </p:nvSpPr>
            <p:spPr>
              <a:xfrm flipH="1">
                <a:off x="6312960" y="849960"/>
                <a:ext cx="256320" cy="74880"/>
              </a:xfrm>
              <a:custGeom>
                <a:avLst/>
                <a:gdLst>
                  <a:gd name="GluePoint1X" fmla="*/ 2147483647 w 79"/>
                  <a:gd name="GluePoint1Y" fmla="*/ 2147483647 h 22"/>
                  <a:gd name="GluePoint2X" fmla="*/ 2147483647 w 79"/>
                  <a:gd name="GluePoint2Y" fmla="*/ 1823616533 h 22"/>
                  <a:gd name="GluePoint3X" fmla="*/ 2147483647 w 79"/>
                  <a:gd name="GluePoint3Y" fmla="*/ 2147483647 h 22"/>
                  <a:gd name="GluePoint4X" fmla="*/ 0 w 79"/>
                  <a:gd name="GluePoint4Y" fmla="*/ 2147483647 h 22"/>
                  <a:gd name="GluePoint5X" fmla="*/ 2147483647 w 79"/>
                  <a:gd name="GluePoint5Y" fmla="*/ 2147483647 h 22"/>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9" h="22">
                    <a:moveTo>
                      <a:pt x="49" y="13"/>
                    </a:moveTo>
                    <a:cubicBezTo>
                      <a:pt x="61" y="6"/>
                      <a:pt x="69" y="1"/>
                      <a:pt x="79" y="1"/>
                    </a:cubicBezTo>
                    <a:cubicBezTo>
                      <a:pt x="69" y="0"/>
                      <a:pt x="55" y="1"/>
                      <a:pt x="42" y="11"/>
                    </a:cubicBezTo>
                    <a:cubicBezTo>
                      <a:pt x="29" y="21"/>
                      <a:pt x="18" y="18"/>
                      <a:pt x="0" y="17"/>
                    </a:cubicBezTo>
                    <a:cubicBezTo>
                      <a:pt x="12" y="18"/>
                      <a:pt x="36" y="22"/>
                      <a:pt x="49" y="13"/>
                    </a:cubicBezTo>
                    <a:close/>
                  </a:path>
                </a:pathLst>
              </a:custGeom>
              <a:solidFill>
                <a:srgbClr val="ffffff"/>
              </a:solidFill>
              <a:ln w="0">
                <a:noFill/>
              </a:ln>
            </p:spPr>
            <p:style>
              <a:lnRef idx="0"/>
              <a:fillRef idx="0"/>
              <a:effectRef idx="0"/>
              <a:fontRef idx="minor"/>
            </p:style>
            <p:txBody>
              <a:bodyPr lIns="90000" rIns="90000" tIns="28080" bIns="28080" anchor="t">
                <a:noAutofit/>
              </a:bodyPr>
              <a:p>
                <a:endParaRPr b="0" lang="en-US" sz="2400" strike="noStrike" u="none">
                  <a:solidFill>
                    <a:srgbClr val="ffff00"/>
                  </a:solidFill>
                  <a:effectLst/>
                  <a:uFillTx/>
                  <a:latin typeface="Times New Roman"/>
                </a:endParaRPr>
              </a:p>
            </p:txBody>
          </p:sp>
          <p:sp>
            <p:nvSpPr>
              <p:cNvPr id="315" name="Freeform 96"/>
              <p:cNvSpPr/>
              <p:nvPr/>
            </p:nvSpPr>
            <p:spPr>
              <a:xfrm flipH="1">
                <a:off x="6019200" y="1080360"/>
                <a:ext cx="142920" cy="50400"/>
              </a:xfrm>
              <a:custGeom>
                <a:avLst/>
                <a:gdLst>
                  <a:gd name="GluePoint1X" fmla="*/ 2147483647 w 44"/>
                  <a:gd name="GluePoint1Y" fmla="*/ 0 h 15"/>
                  <a:gd name="GluePoint2X" fmla="*/ 2147483647 w 44"/>
                  <a:gd name="GluePoint2Y" fmla="*/ 0 h 15"/>
                  <a:gd name="GluePoint3X" fmla="*/ 0 w 44"/>
                  <a:gd name="GluePoint3Y" fmla="*/ 2147483647 h 15"/>
                  <a:gd name="GluePoint4X" fmla="*/ 2147483647 w 44"/>
                  <a:gd name="GluePoint4Y" fmla="*/ 0 h 15"/>
                </a:gdLst>
                <a:ahLst/>
                <a:cxnLst>
                  <a:cxn ang="0">
                    <a:pos x="GluePoint1X" y="GluePoint1Y"/>
                  </a:cxn>
                  <a:cxn ang="0">
                    <a:pos x="GluePoint2X" y="GluePoint2Y"/>
                  </a:cxn>
                  <a:cxn ang="0">
                    <a:pos x="GluePoint3X" y="GluePoint3Y"/>
                  </a:cxn>
                  <a:cxn ang="0">
                    <a:pos x="GluePoint4X" y="GluePoint4Y"/>
                  </a:cxn>
                </a:cxnLst>
                <a:rect l="l" t="t" r="r" b="b"/>
                <a:pathLst>
                  <a:path w="44" h="15">
                    <a:moveTo>
                      <a:pt x="44" y="0"/>
                    </a:moveTo>
                    <a:cubicBezTo>
                      <a:pt x="42" y="0"/>
                      <a:pt x="42" y="0"/>
                      <a:pt x="42" y="0"/>
                    </a:cubicBezTo>
                    <a:cubicBezTo>
                      <a:pt x="28" y="4"/>
                      <a:pt x="14" y="9"/>
                      <a:pt x="0" y="15"/>
                    </a:cubicBezTo>
                    <a:lnTo>
                      <a:pt x="44" y="0"/>
                    </a:lnTo>
                    <a:close/>
                  </a:path>
                </a:pathLst>
              </a:custGeom>
              <a:solidFill>
                <a:srgbClr val="dca95f"/>
              </a:solidFill>
              <a:ln w="0">
                <a:noFill/>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316" name="Freeform 97"/>
              <p:cNvSpPr/>
              <p:nvPr/>
            </p:nvSpPr>
            <p:spPr>
              <a:xfrm flipH="1">
                <a:off x="5780160" y="1087200"/>
                <a:ext cx="753840" cy="342360"/>
              </a:xfrm>
              <a:custGeom>
                <a:avLst/>
                <a:gdLst>
                  <a:gd name="GluePoint1X" fmla="*/ 2147483647 w 232"/>
                  <a:gd name="GluePoint1Y" fmla="*/ 2147483647 h 101"/>
                  <a:gd name="GluePoint2X" fmla="*/ 2147483647 w 232"/>
                  <a:gd name="GluePoint2Y" fmla="*/ 2147483647 h 101"/>
                  <a:gd name="GluePoint3X" fmla="*/ 0 w 232"/>
                  <a:gd name="GluePoint3Y" fmla="*/ 2147483647 h 101"/>
                  <a:gd name="GluePoint4X" fmla="*/ 2147483647 w 232"/>
                  <a:gd name="GluePoint4Y" fmla="*/ 2147483647 h 101"/>
                  <a:gd name="GluePoint5X" fmla="*/ 2147483647 w 232"/>
                  <a:gd name="GluePoint5Y" fmla="*/ 2147483647 h 101"/>
                  <a:gd name="GluePoint6X" fmla="*/ 2147483647 w 232"/>
                  <a:gd name="GluePoint6Y" fmla="*/ 2147483647 h 101"/>
                  <a:gd name="GluePoint7X" fmla="*/ 2147483647 w 232"/>
                  <a:gd name="GluePoint7Y" fmla="*/ 2147483647 h 10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32" h="101">
                    <a:moveTo>
                      <a:pt x="114" y="13"/>
                    </a:moveTo>
                    <a:cubicBezTo>
                      <a:pt x="69" y="33"/>
                      <a:pt x="31" y="60"/>
                      <a:pt x="15" y="81"/>
                    </a:cubicBezTo>
                    <a:cubicBezTo>
                      <a:pt x="10" y="88"/>
                      <a:pt x="5" y="95"/>
                      <a:pt x="0" y="101"/>
                    </a:cubicBezTo>
                    <a:cubicBezTo>
                      <a:pt x="13" y="93"/>
                      <a:pt x="41" y="61"/>
                      <a:pt x="63" y="49"/>
                    </a:cubicBezTo>
                    <a:cubicBezTo>
                      <a:pt x="93" y="34"/>
                      <a:pt x="134" y="24"/>
                      <a:pt x="172" y="35"/>
                    </a:cubicBezTo>
                    <a:cubicBezTo>
                      <a:pt x="194" y="42"/>
                      <a:pt x="217" y="56"/>
                      <a:pt x="232" y="82"/>
                    </a:cubicBezTo>
                    <a:cubicBezTo>
                      <a:pt x="217" y="45"/>
                      <a:pt x="177" y="0"/>
                      <a:pt x="114" y="13"/>
                    </a:cubicBezTo>
                    <a:close/>
                  </a:path>
                </a:pathLst>
              </a:custGeom>
              <a:solidFill>
                <a:srgbClr val="70481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17" name="Freeform 98"/>
              <p:cNvSpPr/>
              <p:nvPr/>
            </p:nvSpPr>
            <p:spPr>
              <a:xfrm flipH="1">
                <a:off x="5408640" y="840600"/>
                <a:ext cx="1414080" cy="558720"/>
              </a:xfrm>
              <a:custGeom>
                <a:avLst/>
                <a:gdLst>
                  <a:gd name="GluePoint1X" fmla="*/ 0 w 435"/>
                  <a:gd name="GluePoint1Y" fmla="*/ 2147483647 h 165"/>
                  <a:gd name="GluePoint2X" fmla="*/ 2147483647 w 435"/>
                  <a:gd name="GluePoint2Y" fmla="*/ 2147483647 h 165"/>
                  <a:gd name="GluePoint3X" fmla="*/ 2147483647 w 435"/>
                  <a:gd name="GluePoint3Y" fmla="*/ 2147483647 h 165"/>
                  <a:gd name="GluePoint4X" fmla="*/ 2147483647 w 435"/>
                  <a:gd name="GluePoint4Y" fmla="*/ 2147483647 h 165"/>
                  <a:gd name="GluePoint5X" fmla="*/ 0 w 435"/>
                  <a:gd name="GluePoint5Y" fmla="*/ 2147483647 h 165"/>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435" h="165">
                    <a:moveTo>
                      <a:pt x="0" y="165"/>
                    </a:moveTo>
                    <a:cubicBezTo>
                      <a:pt x="5" y="141"/>
                      <a:pt x="49" y="58"/>
                      <a:pt x="203" y="26"/>
                    </a:cubicBezTo>
                    <a:cubicBezTo>
                      <a:pt x="280" y="10"/>
                      <a:pt x="369" y="0"/>
                      <a:pt x="435" y="42"/>
                    </a:cubicBezTo>
                    <a:cubicBezTo>
                      <a:pt x="389" y="14"/>
                      <a:pt x="269" y="8"/>
                      <a:pt x="160" y="47"/>
                    </a:cubicBezTo>
                    <a:cubicBezTo>
                      <a:pt x="58" y="83"/>
                      <a:pt x="22" y="122"/>
                      <a:pt x="0" y="165"/>
                    </a:cubicBezTo>
                    <a:close/>
                  </a:path>
                </a:pathLst>
              </a:custGeom>
              <a:solidFill>
                <a:srgbClr val="fbdad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18" name="Freeform 99"/>
              <p:cNvSpPr/>
              <p:nvPr/>
            </p:nvSpPr>
            <p:spPr>
              <a:xfrm flipH="1">
                <a:off x="5311800" y="1208880"/>
                <a:ext cx="226800" cy="224640"/>
              </a:xfrm>
              <a:custGeom>
                <a:avLst/>
                <a:gdLst>
                  <a:gd name="GluePoint1X" fmla="*/ 2147483647 w 70"/>
                  <a:gd name="GluePoint1Y" fmla="*/ 0 h 66"/>
                  <a:gd name="GluePoint2X" fmla="*/ 0 w 70"/>
                  <a:gd name="GluePoint2Y" fmla="*/ 2147483647 h 66"/>
                  <a:gd name="GluePoint3X" fmla="*/ 2147483647 w 70"/>
                  <a:gd name="GluePoint3Y" fmla="*/ 0 h 66"/>
                </a:gdLst>
                <a:ahLst/>
                <a:cxnLst>
                  <a:cxn ang="0">
                    <a:pos x="GluePoint1X" y="GluePoint1Y"/>
                  </a:cxn>
                  <a:cxn ang="0">
                    <a:pos x="GluePoint2X" y="GluePoint2Y"/>
                  </a:cxn>
                  <a:cxn ang="0">
                    <a:pos x="GluePoint3X" y="GluePoint3Y"/>
                  </a:cxn>
                </a:cxnLst>
                <a:rect l="l" t="t" r="r" b="b"/>
                <a:pathLst>
                  <a:path w="70" h="66">
                    <a:moveTo>
                      <a:pt x="45" y="0"/>
                    </a:moveTo>
                    <a:cubicBezTo>
                      <a:pt x="54" y="11"/>
                      <a:pt x="51" y="57"/>
                      <a:pt x="0" y="66"/>
                    </a:cubicBezTo>
                    <a:cubicBezTo>
                      <a:pt x="31" y="65"/>
                      <a:pt x="70" y="41"/>
                      <a:pt x="45" y="0"/>
                    </a:cubicBezTo>
                    <a:close/>
                  </a:path>
                </a:pathLst>
              </a:custGeom>
              <a:solidFill>
                <a:srgbClr val="fbdad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19" name="Freeform 100"/>
              <p:cNvSpPr/>
              <p:nvPr/>
            </p:nvSpPr>
            <p:spPr>
              <a:xfrm flipH="1">
                <a:off x="6104880" y="1673640"/>
                <a:ext cx="320760" cy="816480"/>
              </a:xfrm>
              <a:custGeom>
                <a:avLst/>
                <a:gdLst>
                  <a:gd name="GluePoint1X" fmla="*/ 2147483647 w 99"/>
                  <a:gd name="GluePoint1Y" fmla="*/ 2147483647 h 241"/>
                  <a:gd name="GluePoint2X" fmla="*/ 2147483647 w 99"/>
                  <a:gd name="GluePoint2Y" fmla="*/ 2147483647 h 241"/>
                  <a:gd name="GluePoint3X" fmla="*/ 1653346920 w 99"/>
                  <a:gd name="GluePoint3Y" fmla="*/ 2147483647 h 241"/>
                  <a:gd name="GluePoint4X" fmla="*/ 2147483647 w 99"/>
                  <a:gd name="GluePoint4Y" fmla="*/ 2147483647 h 241"/>
                  <a:gd name="GluePoint5X" fmla="*/ 2147483647 w 99"/>
                  <a:gd name="GluePoint5Y" fmla="*/ 2147483647 h 241"/>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99" h="241">
                    <a:moveTo>
                      <a:pt x="99" y="2"/>
                    </a:moveTo>
                    <a:cubicBezTo>
                      <a:pt x="79" y="1"/>
                      <a:pt x="33" y="4"/>
                      <a:pt x="18" y="61"/>
                    </a:cubicBezTo>
                    <a:cubicBezTo>
                      <a:pt x="3" y="118"/>
                      <a:pt x="0" y="177"/>
                      <a:pt x="7" y="241"/>
                    </a:cubicBezTo>
                    <a:cubicBezTo>
                      <a:pt x="9" y="203"/>
                      <a:pt x="9" y="110"/>
                      <a:pt x="24" y="61"/>
                    </a:cubicBezTo>
                    <a:cubicBezTo>
                      <a:pt x="38" y="10"/>
                      <a:pt x="70" y="0"/>
                      <a:pt x="99" y="2"/>
                    </a:cubicBez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20" name="Freeform 101"/>
              <p:cNvSpPr/>
              <p:nvPr/>
            </p:nvSpPr>
            <p:spPr>
              <a:xfrm flipH="1">
                <a:off x="6445080" y="2828520"/>
                <a:ext cx="9720" cy="291960"/>
              </a:xfrm>
              <a:custGeom>
                <a:avLst/>
                <a:gdLst>
                  <a:gd name="GluePoint1X" fmla="*/ 0 w 3"/>
                  <a:gd name="GluePoint1Y" fmla="*/ 0 h 86"/>
                  <a:gd name="GluePoint2X" fmla="*/ 0 w 3"/>
                  <a:gd name="GluePoint2Y" fmla="*/ 2147483647 h 86"/>
                </a:gdLst>
                <a:ahLst/>
                <a:cxnLst>
                  <a:cxn ang="0">
                    <a:pos x="GluePoint1X" y="GluePoint1Y"/>
                  </a:cxn>
                  <a:cxn ang="0">
                    <a:pos x="GluePoint2X" y="GluePoint2Y"/>
                  </a:cxn>
                </a:cxnLst>
                <a:rect l="l" t="t" r="r" b="b"/>
                <a:pathLst>
                  <a:path w="3" h="86">
                    <a:moveTo>
                      <a:pt x="0" y="0"/>
                    </a:moveTo>
                    <a:cubicBezTo>
                      <a:pt x="3" y="20"/>
                      <a:pt x="3" y="63"/>
                      <a:pt x="0" y="86"/>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21" name="Freeform 102"/>
              <p:cNvSpPr/>
              <p:nvPr/>
            </p:nvSpPr>
            <p:spPr>
              <a:xfrm flipH="1">
                <a:off x="5763240" y="1981800"/>
                <a:ext cx="38880" cy="87480"/>
              </a:xfrm>
              <a:custGeom>
                <a:avLst/>
                <a:gdLst>
                  <a:gd name="GluePoint1X" fmla="*/ 2147483647 w 12"/>
                  <a:gd name="GluePoint1Y" fmla="*/ 2147483647 h 26"/>
                  <a:gd name="GluePoint2X" fmla="*/ 2147483647 w 12"/>
                  <a:gd name="GluePoint2Y" fmla="*/ 0 h 26"/>
                  <a:gd name="GluePoint3X" fmla="*/ 2147483647 w 12"/>
                  <a:gd name="GluePoint3Y" fmla="*/ 2147483647 h 26"/>
                </a:gdLst>
                <a:ahLst/>
                <a:cxnLst>
                  <a:cxn ang="0">
                    <a:pos x="GluePoint1X" y="GluePoint1Y"/>
                  </a:cxn>
                  <a:cxn ang="0">
                    <a:pos x="GluePoint2X" y="GluePoint2Y"/>
                  </a:cxn>
                  <a:cxn ang="0">
                    <a:pos x="GluePoint3X" y="GluePoint3Y"/>
                  </a:cxn>
                </a:cxnLst>
                <a:rect l="l" t="t" r="r" b="b"/>
                <a:pathLst>
                  <a:path w="12" h="26">
                    <a:moveTo>
                      <a:pt x="12" y="26"/>
                    </a:moveTo>
                    <a:cubicBezTo>
                      <a:pt x="0" y="19"/>
                      <a:pt x="8" y="10"/>
                      <a:pt x="11" y="0"/>
                    </a:cubicBezTo>
                    <a:cubicBezTo>
                      <a:pt x="10" y="6"/>
                      <a:pt x="8" y="17"/>
                      <a:pt x="12" y="26"/>
                    </a:cubicBezTo>
                    <a:close/>
                  </a:path>
                </a:pathLst>
              </a:custGeom>
              <a:solidFill>
                <a:srgbClr val="c5d9bc"/>
              </a:solidFill>
              <a:ln w="0">
                <a:noFill/>
              </a:ln>
            </p:spPr>
            <p:style>
              <a:lnRef idx="0"/>
              <a:fillRef idx="0"/>
              <a:effectRef idx="0"/>
              <a:fontRef idx="minor"/>
            </p:style>
            <p:txBody>
              <a:bodyPr lIns="90000" rIns="90000" tIns="40680" bIns="40680" anchor="t">
                <a:noAutofit/>
              </a:bodyPr>
              <a:p>
                <a:endParaRPr b="0" lang="en-US" sz="2400" strike="noStrike" u="none">
                  <a:solidFill>
                    <a:srgbClr val="ffff00"/>
                  </a:solidFill>
                  <a:effectLst/>
                  <a:uFillTx/>
                  <a:latin typeface="Times New Roman"/>
                </a:endParaRPr>
              </a:p>
            </p:txBody>
          </p:sp>
          <p:sp>
            <p:nvSpPr>
              <p:cNvPr id="322" name="Freeform 103"/>
              <p:cNvSpPr/>
              <p:nvPr/>
            </p:nvSpPr>
            <p:spPr>
              <a:xfrm flipH="1">
                <a:off x="5752800" y="1484640"/>
                <a:ext cx="379800" cy="161280"/>
              </a:xfrm>
              <a:custGeom>
                <a:avLst/>
                <a:gdLst>
                  <a:gd name="GluePoint1X" fmla="*/ 2147483647 w 117"/>
                  <a:gd name="GluePoint1Y" fmla="*/ 0 h 48"/>
                  <a:gd name="GluePoint2X" fmla="*/ 2147483647 w 117"/>
                  <a:gd name="GluePoint2Y" fmla="*/ 2147483647 h 48"/>
                  <a:gd name="GluePoint3X" fmla="*/ 0 w 117"/>
                  <a:gd name="GluePoint3Y" fmla="*/ 2147483647 h 48"/>
                  <a:gd name="GluePoint4X" fmla="*/ 2147483647 w 117"/>
                  <a:gd name="GluePoint4Y" fmla="*/ 0 h 48"/>
                </a:gdLst>
                <a:ahLst/>
                <a:cxnLst>
                  <a:cxn ang="0">
                    <a:pos x="GluePoint1X" y="GluePoint1Y"/>
                  </a:cxn>
                  <a:cxn ang="0">
                    <a:pos x="GluePoint2X" y="GluePoint2Y"/>
                  </a:cxn>
                  <a:cxn ang="0">
                    <a:pos x="GluePoint3X" y="GluePoint3Y"/>
                  </a:cxn>
                  <a:cxn ang="0">
                    <a:pos x="GluePoint4X" y="GluePoint4Y"/>
                  </a:cxn>
                </a:cxnLst>
                <a:rect l="l" t="t" r="r" b="b"/>
                <a:pathLst>
                  <a:path w="117" h="48">
                    <a:moveTo>
                      <a:pt x="117" y="0"/>
                    </a:moveTo>
                    <a:cubicBezTo>
                      <a:pt x="115" y="7"/>
                      <a:pt x="112" y="14"/>
                      <a:pt x="108" y="18"/>
                    </a:cubicBezTo>
                    <a:cubicBezTo>
                      <a:pt x="80" y="48"/>
                      <a:pt x="17" y="37"/>
                      <a:pt x="0" y="34"/>
                    </a:cubicBezTo>
                    <a:cubicBezTo>
                      <a:pt x="21" y="33"/>
                      <a:pt x="81" y="39"/>
                      <a:pt x="117" y="0"/>
                    </a:cubicBezTo>
                    <a:close/>
                  </a:path>
                </a:pathLst>
              </a:custGeom>
              <a:solidFill>
                <a:srgbClr val="cf2049"/>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23" name="Freeform 104"/>
              <p:cNvSpPr/>
              <p:nvPr/>
            </p:nvSpPr>
            <p:spPr>
              <a:xfrm flipH="1">
                <a:off x="5711400" y="1067760"/>
                <a:ext cx="253440" cy="297000"/>
              </a:xfrm>
              <a:custGeom>
                <a:avLst/>
                <a:gdLst>
                  <a:gd name="GluePoint1X" fmla="*/ 2147483647 w 78"/>
                  <a:gd name="GluePoint1Y" fmla="*/ 0 h 88"/>
                  <a:gd name="GluePoint2X" fmla="*/ 0 w 78"/>
                  <a:gd name="GluePoint2Y" fmla="*/ 2147483647 h 88"/>
                  <a:gd name="GluePoint3X" fmla="*/ 2147483647 w 78"/>
                  <a:gd name="GluePoint3Y" fmla="*/ 2147483647 h 88"/>
                  <a:gd name="GluePoint4X" fmla="*/ 2147483647 w 78"/>
                  <a:gd name="GluePoint4Y" fmla="*/ 0 h 88"/>
                </a:gdLst>
                <a:ahLst/>
                <a:cxnLst>
                  <a:cxn ang="0">
                    <a:pos x="GluePoint1X" y="GluePoint1Y"/>
                  </a:cxn>
                  <a:cxn ang="0">
                    <a:pos x="GluePoint2X" y="GluePoint2Y"/>
                  </a:cxn>
                  <a:cxn ang="0">
                    <a:pos x="GluePoint3X" y="GluePoint3Y"/>
                  </a:cxn>
                  <a:cxn ang="0">
                    <a:pos x="GluePoint4X" y="GluePoint4Y"/>
                  </a:cxn>
                </a:cxnLst>
                <a:rect l="l" t="t" r="r" b="b"/>
                <a:pathLst>
                  <a:path w="78" h="88">
                    <a:moveTo>
                      <a:pt x="9" y="0"/>
                    </a:moveTo>
                    <a:cubicBezTo>
                      <a:pt x="0" y="3"/>
                      <a:pt x="0" y="3"/>
                      <a:pt x="0" y="3"/>
                    </a:cubicBezTo>
                    <a:cubicBezTo>
                      <a:pt x="27" y="11"/>
                      <a:pt x="72" y="42"/>
                      <a:pt x="74" y="88"/>
                    </a:cubicBezTo>
                    <a:cubicBezTo>
                      <a:pt x="78" y="35"/>
                      <a:pt x="22" y="3"/>
                      <a:pt x="9" y="0"/>
                    </a:cubicBezTo>
                    <a:close/>
                  </a:path>
                </a:pathLst>
              </a:custGeom>
              <a:solidFill>
                <a:srgbClr val="f5ab7b"/>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24" name="Freeform 105"/>
              <p:cNvSpPr/>
              <p:nvPr/>
            </p:nvSpPr>
            <p:spPr>
              <a:xfrm flipH="1">
                <a:off x="5704560" y="2016360"/>
                <a:ext cx="16560" cy="66960"/>
              </a:xfrm>
              <a:custGeom>
                <a:avLst/>
                <a:gdLst>
                  <a:gd name="GluePoint1X" fmla="*/ 1640784907 w 5"/>
                  <a:gd name="GluePoint1Y" fmla="*/ 0 h 20"/>
                  <a:gd name="GluePoint2X" fmla="*/ 0 w 5"/>
                  <a:gd name="GluePoint2Y" fmla="*/ 2147483647 h 20"/>
                </a:gdLst>
                <a:ahLst/>
                <a:cxnLst>
                  <a:cxn ang="0">
                    <a:pos x="GluePoint1X" y="GluePoint1Y"/>
                  </a:cxn>
                  <a:cxn ang="0">
                    <a:pos x="GluePoint2X" y="GluePoint2Y"/>
                  </a:cxn>
                </a:cxnLst>
                <a:rect l="l" t="t" r="r" b="b"/>
                <a:pathLst>
                  <a:path w="5" h="20">
                    <a:moveTo>
                      <a:pt x="3" y="0"/>
                    </a:moveTo>
                    <a:cubicBezTo>
                      <a:pt x="5" y="7"/>
                      <a:pt x="5" y="15"/>
                      <a:pt x="0" y="20"/>
                    </a:cubicBezTo>
                  </a:path>
                </a:pathLst>
              </a:custGeom>
              <a:solidFill>
                <a:srgbClr val="389949"/>
              </a:solidFill>
              <a:ln w="0">
                <a:noFill/>
              </a:ln>
            </p:spPr>
            <p:style>
              <a:lnRef idx="0"/>
              <a:fillRef idx="0"/>
              <a:effectRef idx="0"/>
              <a:fontRef idx="minor"/>
            </p:style>
            <p:txBody>
              <a:bodyPr lIns="90000" rIns="90000" tIns="20160" bIns="20160" anchor="t">
                <a:noAutofit/>
              </a:bodyPr>
              <a:p>
                <a:endParaRPr b="0" lang="en-US" sz="2400" strike="noStrike" u="none">
                  <a:solidFill>
                    <a:srgbClr val="ffff00"/>
                  </a:solidFill>
                  <a:effectLst/>
                  <a:uFillTx/>
                  <a:latin typeface="Times New Roman"/>
                </a:endParaRPr>
              </a:p>
            </p:txBody>
          </p:sp>
          <p:sp>
            <p:nvSpPr>
              <p:cNvPr id="325" name="Freeform 106"/>
              <p:cNvSpPr/>
              <p:nvPr/>
            </p:nvSpPr>
            <p:spPr>
              <a:xfrm flipH="1">
                <a:off x="5662080" y="1974960"/>
                <a:ext cx="56160" cy="71280"/>
              </a:xfrm>
              <a:custGeom>
                <a:avLst/>
                <a:gdLst>
                  <a:gd name="GluePoint1X" fmla="*/ 2147483647 w 17"/>
                  <a:gd name="GluePoint1Y" fmla="*/ 2147483647 h 21"/>
                  <a:gd name="GluePoint2X" fmla="*/ 2147483647 w 17"/>
                  <a:gd name="GluePoint2Y" fmla="*/ 2147483647 h 21"/>
                  <a:gd name="GluePoint3X" fmla="*/ 2147483647 w 17"/>
                  <a:gd name="GluePoint3Y" fmla="*/ 2147483647 h 21"/>
                  <a:gd name="GluePoint4X" fmla="*/ 0 w 17"/>
                  <a:gd name="GluePoint4Y" fmla="*/ 0 h 21"/>
                </a:gdLst>
                <a:ahLst/>
                <a:cxnLst>
                  <a:cxn ang="0">
                    <a:pos x="GluePoint1X" y="GluePoint1Y"/>
                  </a:cxn>
                  <a:cxn ang="0">
                    <a:pos x="GluePoint2X" y="GluePoint2Y"/>
                  </a:cxn>
                  <a:cxn ang="0">
                    <a:pos x="GluePoint3X" y="GluePoint3Y"/>
                  </a:cxn>
                  <a:cxn ang="0">
                    <a:pos x="GluePoint4X" y="GluePoint4Y"/>
                  </a:cxn>
                </a:cxnLst>
                <a:rect l="l" t="t" r="r" b="b"/>
                <a:pathLst>
                  <a:path w="17" h="21">
                    <a:moveTo>
                      <a:pt x="9" y="5"/>
                    </a:moveTo>
                    <a:cubicBezTo>
                      <a:pt x="15" y="8"/>
                      <a:pt x="17" y="18"/>
                      <a:pt x="9" y="21"/>
                    </a:cubicBezTo>
                    <a:cubicBezTo>
                      <a:pt x="11" y="15"/>
                      <a:pt x="12" y="11"/>
                      <a:pt x="8" y="7"/>
                    </a:cubicBezTo>
                    <a:cubicBezTo>
                      <a:pt x="5" y="5"/>
                      <a:pt x="2" y="3"/>
                      <a:pt x="0" y="0"/>
                    </a:cubicBezTo>
                  </a:path>
                </a:pathLst>
              </a:custGeom>
              <a:solidFill>
                <a:srgbClr val="389949"/>
              </a:solidFill>
              <a:ln w="0">
                <a:noFill/>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326" name="Freeform 107"/>
              <p:cNvSpPr/>
              <p:nvPr/>
            </p:nvSpPr>
            <p:spPr>
              <a:xfrm flipH="1">
                <a:off x="5636520" y="1818720"/>
                <a:ext cx="110520" cy="84600"/>
              </a:xfrm>
              <a:custGeom>
                <a:avLst/>
                <a:gdLst>
                  <a:gd name="GluePoint1X" fmla="*/ 0 w 34"/>
                  <a:gd name="GluePoint1Y" fmla="*/ 2147483647 h 25"/>
                  <a:gd name="GluePoint2X" fmla="*/ 2147483647 w 34"/>
                  <a:gd name="GluePoint2Y" fmla="*/ 2147483647 h 25"/>
                  <a:gd name="GluePoint3X" fmla="*/ 2147483647 w 34"/>
                  <a:gd name="GluePoint3Y" fmla="*/ 0 h 25"/>
                  <a:gd name="GluePoint4X" fmla="*/ 2147483647 w 34"/>
                  <a:gd name="GluePoint4Y" fmla="*/ 2147483647 h 25"/>
                  <a:gd name="GluePoint5X" fmla="*/ 588857359 w 34"/>
                  <a:gd name="GluePoint5Y" fmla="*/ 2147483647 h 25"/>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4" h="25">
                    <a:moveTo>
                      <a:pt x="0" y="10"/>
                    </a:moveTo>
                    <a:cubicBezTo>
                      <a:pt x="5" y="16"/>
                      <a:pt x="14" y="25"/>
                      <a:pt x="23" y="20"/>
                    </a:cubicBezTo>
                    <a:cubicBezTo>
                      <a:pt x="34" y="14"/>
                      <a:pt x="21" y="5"/>
                      <a:pt x="17" y="0"/>
                    </a:cubicBezTo>
                    <a:cubicBezTo>
                      <a:pt x="18" y="4"/>
                      <a:pt x="24" y="10"/>
                      <a:pt x="17" y="13"/>
                    </a:cubicBezTo>
                    <a:cubicBezTo>
                      <a:pt x="13" y="15"/>
                      <a:pt x="4" y="12"/>
                      <a:pt x="2" y="9"/>
                    </a:cubicBezTo>
                  </a:path>
                </a:pathLst>
              </a:custGeom>
              <a:solidFill>
                <a:srgbClr val="fbcd8d"/>
              </a:solidFill>
              <a:ln w="0">
                <a:noFill/>
              </a:ln>
            </p:spPr>
            <p:style>
              <a:lnRef idx="0"/>
              <a:fillRef idx="0"/>
              <a:effectRef idx="0"/>
              <a:fontRef idx="minor"/>
            </p:style>
            <p:txBody>
              <a:bodyPr lIns="90000" rIns="90000" tIns="37800" bIns="37800" anchor="t">
                <a:noAutofit/>
              </a:bodyPr>
              <a:p>
                <a:endParaRPr b="0" lang="en-US" sz="2400" strike="noStrike" u="none">
                  <a:solidFill>
                    <a:srgbClr val="ffff00"/>
                  </a:solidFill>
                  <a:effectLst/>
                  <a:uFillTx/>
                  <a:latin typeface="Times New Roman"/>
                </a:endParaRPr>
              </a:p>
            </p:txBody>
          </p:sp>
          <p:sp>
            <p:nvSpPr>
              <p:cNvPr id="327" name="Freeform 108"/>
              <p:cNvSpPr/>
              <p:nvPr/>
            </p:nvSpPr>
            <p:spPr>
              <a:xfrm flipH="1">
                <a:off x="5198040" y="1162440"/>
                <a:ext cx="243720" cy="335520"/>
              </a:xfrm>
              <a:custGeom>
                <a:avLst/>
                <a:gdLst>
                  <a:gd name="GluePoint1X" fmla="*/ 0 w 75"/>
                  <a:gd name="GluePoint1Y" fmla="*/ 2147483647 h 99"/>
                  <a:gd name="GluePoint2X" fmla="*/ 2147483647 w 75"/>
                  <a:gd name="GluePoint2Y" fmla="*/ 2147483647 h 99"/>
                  <a:gd name="GluePoint3X" fmla="*/ 2147483647 w 75"/>
                  <a:gd name="GluePoint3Y" fmla="*/ 0 h 99"/>
                  <a:gd name="GluePoint4X" fmla="*/ 0 w 75"/>
                  <a:gd name="GluePoint4Y" fmla="*/ 2147483647 h 99"/>
                </a:gdLst>
                <a:ahLst/>
                <a:cxnLst>
                  <a:cxn ang="0">
                    <a:pos x="GluePoint1X" y="GluePoint1Y"/>
                  </a:cxn>
                  <a:cxn ang="0">
                    <a:pos x="GluePoint2X" y="GluePoint2Y"/>
                  </a:cxn>
                  <a:cxn ang="0">
                    <a:pos x="GluePoint3X" y="GluePoint3Y"/>
                  </a:cxn>
                  <a:cxn ang="0">
                    <a:pos x="GluePoint4X" y="GluePoint4Y"/>
                  </a:cxn>
                </a:cxnLst>
                <a:rect l="l" t="t" r="r" b="b"/>
                <a:pathLst>
                  <a:path w="75" h="99">
                    <a:moveTo>
                      <a:pt x="0" y="99"/>
                    </a:moveTo>
                    <a:cubicBezTo>
                      <a:pt x="51" y="87"/>
                      <a:pt x="68" y="61"/>
                      <a:pt x="71" y="36"/>
                    </a:cubicBezTo>
                    <a:cubicBezTo>
                      <a:pt x="73" y="22"/>
                      <a:pt x="68" y="4"/>
                      <a:pt x="65" y="0"/>
                    </a:cubicBezTo>
                    <a:cubicBezTo>
                      <a:pt x="69" y="15"/>
                      <a:pt x="75" y="71"/>
                      <a:pt x="0" y="99"/>
                    </a:cubicBezTo>
                    <a:close/>
                  </a:path>
                </a:pathLst>
              </a:custGeom>
              <a:solidFill>
                <a:srgbClr val="e3836d"/>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28" name="Freeform 109"/>
              <p:cNvSpPr/>
              <p:nvPr/>
            </p:nvSpPr>
            <p:spPr>
              <a:xfrm flipH="1">
                <a:off x="6117840" y="1098000"/>
                <a:ext cx="645480" cy="467280"/>
              </a:xfrm>
              <a:custGeom>
                <a:avLst/>
                <a:gdLst>
                  <a:gd name="GluePoint1X" fmla="*/ 0 w 199"/>
                  <a:gd name="GluePoint1Y" fmla="*/ 2147483647 h 138"/>
                  <a:gd name="GluePoint2X" fmla="*/ 2147483647 w 199"/>
                  <a:gd name="GluePoint2Y" fmla="*/ 2147483647 h 138"/>
                  <a:gd name="GluePoint3X" fmla="*/ 2147483647 w 199"/>
                  <a:gd name="GluePoint3Y" fmla="*/ 0 h 138"/>
                  <a:gd name="GluePoint4X" fmla="*/ 2147483647 w 199"/>
                  <a:gd name="GluePoint4Y" fmla="*/ 2147483647 h 138"/>
                  <a:gd name="GluePoint5X" fmla="*/ 0 w 199"/>
                  <a:gd name="GluePoint5Y" fmla="*/ 2147483647 h 13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99" h="138">
                    <a:moveTo>
                      <a:pt x="0" y="133"/>
                    </a:moveTo>
                    <a:cubicBezTo>
                      <a:pt x="11" y="138"/>
                      <a:pt x="37" y="130"/>
                      <a:pt x="70" y="88"/>
                    </a:cubicBezTo>
                    <a:cubicBezTo>
                      <a:pt x="103" y="45"/>
                      <a:pt x="153" y="18"/>
                      <a:pt x="199" y="0"/>
                    </a:cubicBezTo>
                    <a:cubicBezTo>
                      <a:pt x="182" y="6"/>
                      <a:pt x="127" y="20"/>
                      <a:pt x="78" y="68"/>
                    </a:cubicBezTo>
                    <a:cubicBezTo>
                      <a:pt x="29" y="116"/>
                      <a:pt x="17" y="137"/>
                      <a:pt x="0" y="133"/>
                    </a:cubicBezTo>
                    <a:close/>
                  </a:path>
                </a:pathLst>
              </a:custGeom>
              <a:solidFill>
                <a:srgbClr val="e3836d"/>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29" name="Freeform 110"/>
              <p:cNvSpPr/>
              <p:nvPr/>
            </p:nvSpPr>
            <p:spPr>
              <a:xfrm flipH="1">
                <a:off x="5958000" y="2006640"/>
                <a:ext cx="198720" cy="496800"/>
              </a:xfrm>
              <a:custGeom>
                <a:avLst/>
                <a:gdLst>
                  <a:gd name="GluePoint1X" fmla="*/ 2147483647 w 61"/>
                  <a:gd name="GluePoint1Y" fmla="*/ 0 h 147"/>
                  <a:gd name="GluePoint2X" fmla="*/ 2147483647 w 61"/>
                  <a:gd name="GluePoint2Y" fmla="*/ 2147483647 h 147"/>
                  <a:gd name="GluePoint3X" fmla="*/ 0 w 61"/>
                  <a:gd name="GluePoint3Y" fmla="*/ 2147483647 h 147"/>
                  <a:gd name="GluePoint4X" fmla="*/ 2147483647 w 61"/>
                  <a:gd name="GluePoint4Y" fmla="*/ 2147483647 h 147"/>
                  <a:gd name="GluePoint5X" fmla="*/ 2147483647 w 61"/>
                  <a:gd name="GluePoint5Y" fmla="*/ 0 h 14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61" h="147">
                    <a:moveTo>
                      <a:pt x="33" y="0"/>
                    </a:moveTo>
                    <a:cubicBezTo>
                      <a:pt x="47" y="11"/>
                      <a:pt x="61" y="38"/>
                      <a:pt x="43" y="100"/>
                    </a:cubicBezTo>
                    <a:cubicBezTo>
                      <a:pt x="35" y="125"/>
                      <a:pt x="17" y="147"/>
                      <a:pt x="0" y="147"/>
                    </a:cubicBezTo>
                    <a:cubicBezTo>
                      <a:pt x="13" y="141"/>
                      <a:pt x="29" y="117"/>
                      <a:pt x="38" y="88"/>
                    </a:cubicBezTo>
                    <a:cubicBezTo>
                      <a:pt x="47" y="59"/>
                      <a:pt x="46" y="9"/>
                      <a:pt x="33" y="0"/>
                    </a:cubicBezTo>
                    <a:close/>
                  </a:path>
                </a:pathLst>
              </a:custGeom>
              <a:solidFill>
                <a:srgbClr val="dab0b6"/>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0" name="Freeform 111"/>
              <p:cNvSpPr/>
              <p:nvPr/>
            </p:nvSpPr>
            <p:spPr>
              <a:xfrm flipH="1">
                <a:off x="6136920" y="2554560"/>
                <a:ext cx="116280" cy="599760"/>
              </a:xfrm>
              <a:custGeom>
                <a:avLst/>
                <a:gdLst>
                  <a:gd name="GluePoint1X" fmla="*/ 2147483647 w 36"/>
                  <a:gd name="GluePoint1Y" fmla="*/ 2147483647 h 177"/>
                  <a:gd name="GluePoint2X" fmla="*/ 0 w 36"/>
                  <a:gd name="GluePoint2Y" fmla="*/ 2147483647 h 177"/>
                  <a:gd name="GluePoint3X" fmla="*/ 2147483647 w 36"/>
                  <a:gd name="GluePoint3Y" fmla="*/ 2147483647 h 177"/>
                  <a:gd name="GluePoint4X" fmla="*/ 2147483647 w 36"/>
                  <a:gd name="GluePoint4Y" fmla="*/ 0 h 177"/>
                  <a:gd name="GluePoint5X" fmla="*/ 2147483647 w 36"/>
                  <a:gd name="GluePoint5Y" fmla="*/ 2147483647 h 17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6" h="177">
                    <a:moveTo>
                      <a:pt x="18" y="69"/>
                    </a:moveTo>
                    <a:cubicBezTo>
                      <a:pt x="7" y="103"/>
                      <a:pt x="0" y="177"/>
                      <a:pt x="0" y="177"/>
                    </a:cubicBezTo>
                    <a:cubicBezTo>
                      <a:pt x="2" y="137"/>
                      <a:pt x="15" y="94"/>
                      <a:pt x="26" y="59"/>
                    </a:cubicBezTo>
                    <a:cubicBezTo>
                      <a:pt x="36" y="24"/>
                      <a:pt x="34" y="13"/>
                      <a:pt x="31" y="0"/>
                    </a:cubicBezTo>
                    <a:cubicBezTo>
                      <a:pt x="31" y="8"/>
                      <a:pt x="27" y="40"/>
                      <a:pt x="18" y="69"/>
                    </a:cubicBezTo>
                    <a:close/>
                  </a:path>
                </a:pathLst>
              </a:custGeom>
              <a:solidFill>
                <a:srgbClr val="dab0b6"/>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1" name="Freeform 112"/>
              <p:cNvSpPr/>
              <p:nvPr/>
            </p:nvSpPr>
            <p:spPr>
              <a:xfrm flipH="1">
                <a:off x="5578200" y="51120"/>
                <a:ext cx="129960" cy="315000"/>
              </a:xfrm>
              <a:custGeom>
                <a:avLst/>
                <a:gdLst>
                  <a:gd name="GluePoint1X" fmla="*/ 2147483647 w 40"/>
                  <a:gd name="GluePoint1Y" fmla="*/ 2147483647 h 93"/>
                  <a:gd name="GluePoint2X" fmla="*/ 2147483647 w 40"/>
                  <a:gd name="GluePoint2Y" fmla="*/ 2147483647 h 93"/>
                  <a:gd name="GluePoint3X" fmla="*/ 2147483647 w 40"/>
                  <a:gd name="GluePoint3Y" fmla="*/ 2147483647 h 93"/>
                  <a:gd name="GluePoint4X" fmla="*/ 0 w 40"/>
                  <a:gd name="GluePoint4Y" fmla="*/ 2147483647 h 93"/>
                  <a:gd name="GluePoint5X" fmla="*/ 2147483647 w 40"/>
                  <a:gd name="GluePoint5Y" fmla="*/ 2147483647 h 93"/>
                  <a:gd name="GluePoint6X" fmla="*/ 2147483647 w 40"/>
                  <a:gd name="GluePoint6Y" fmla="*/ 2147483647 h 9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0" h="93">
                    <a:moveTo>
                      <a:pt x="12" y="4"/>
                    </a:moveTo>
                    <a:cubicBezTo>
                      <a:pt x="40" y="0"/>
                      <a:pt x="28" y="32"/>
                      <a:pt x="26" y="48"/>
                    </a:cubicBezTo>
                    <a:cubicBezTo>
                      <a:pt x="25" y="57"/>
                      <a:pt x="25" y="67"/>
                      <a:pt x="23" y="77"/>
                    </a:cubicBezTo>
                    <a:cubicBezTo>
                      <a:pt x="19" y="91"/>
                      <a:pt x="12" y="86"/>
                      <a:pt x="0" y="93"/>
                    </a:cubicBezTo>
                    <a:cubicBezTo>
                      <a:pt x="5" y="87"/>
                      <a:pt x="32" y="57"/>
                      <a:pt x="8" y="56"/>
                    </a:cubicBezTo>
                    <a:cubicBezTo>
                      <a:pt x="21" y="45"/>
                      <a:pt x="30" y="23"/>
                      <a:pt x="18" y="8"/>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2" name="Freeform 113"/>
              <p:cNvSpPr/>
              <p:nvPr/>
            </p:nvSpPr>
            <p:spPr>
              <a:xfrm flipH="1">
                <a:off x="4959720" y="667800"/>
                <a:ext cx="266040" cy="280800"/>
              </a:xfrm>
              <a:custGeom>
                <a:avLst/>
                <a:gdLst>
                  <a:gd name="GluePoint1X" fmla="*/ 0 w 82"/>
                  <a:gd name="GluePoint1Y" fmla="*/ 2147483647 h 83"/>
                  <a:gd name="GluePoint2X" fmla="*/ 2147483647 w 82"/>
                  <a:gd name="GluePoint2Y" fmla="*/ 2147483647 h 83"/>
                  <a:gd name="GluePoint3X" fmla="*/ 2147483647 w 82"/>
                  <a:gd name="GluePoint3Y" fmla="*/ 2147483647 h 83"/>
                  <a:gd name="GluePoint4X" fmla="*/ 2147483647 w 82"/>
                  <a:gd name="GluePoint4Y" fmla="*/ 2147483647 h 83"/>
                  <a:gd name="GluePoint5X" fmla="*/ 2147483647 w 82"/>
                  <a:gd name="GluePoint5Y" fmla="*/ 2147483647 h 83"/>
                  <a:gd name="GluePoint6X" fmla="*/ 2147483647 w 82"/>
                  <a:gd name="GluePoint6Y" fmla="*/ 2147483647 h 83"/>
                  <a:gd name="GluePoint7X" fmla="*/ 2147483647 w 82"/>
                  <a:gd name="GluePoint7Y" fmla="*/ 0 h 83"/>
                  <a:gd name="GluePoint8X" fmla="*/ 2147483647 w 82"/>
                  <a:gd name="GluePoint8Y" fmla="*/ 2147483647 h 83"/>
                  <a:gd name="GluePoint9X" fmla="*/ 2147483647 w 82"/>
                  <a:gd name="GluePoint9Y" fmla="*/ 2147483647 h 83"/>
                  <a:gd name="GluePoint10X" fmla="*/ 2147483647 w 82"/>
                  <a:gd name="GluePoint10Y" fmla="*/ 2147483647 h 83"/>
                  <a:gd name="GluePoint11X" fmla="*/ 737344106 w 82"/>
                  <a:gd name="GluePoint11Y" fmla="*/ 2147483647 h 8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82" h="83">
                    <a:moveTo>
                      <a:pt x="0" y="16"/>
                    </a:moveTo>
                    <a:cubicBezTo>
                      <a:pt x="14" y="27"/>
                      <a:pt x="20" y="31"/>
                      <a:pt x="26" y="48"/>
                    </a:cubicBezTo>
                    <a:cubicBezTo>
                      <a:pt x="32" y="62"/>
                      <a:pt x="40" y="83"/>
                      <a:pt x="57" y="83"/>
                    </a:cubicBezTo>
                    <a:cubicBezTo>
                      <a:pt x="57" y="69"/>
                      <a:pt x="55" y="56"/>
                      <a:pt x="62" y="42"/>
                    </a:cubicBezTo>
                    <a:cubicBezTo>
                      <a:pt x="67" y="32"/>
                      <a:pt x="82" y="27"/>
                      <a:pt x="81" y="14"/>
                    </a:cubicBezTo>
                    <a:cubicBezTo>
                      <a:pt x="80" y="13"/>
                      <a:pt x="79" y="13"/>
                      <a:pt x="78" y="13"/>
                    </a:cubicBezTo>
                    <a:cubicBezTo>
                      <a:pt x="75" y="3"/>
                      <a:pt x="60" y="8"/>
                      <a:pt x="53" y="0"/>
                    </a:cubicBezTo>
                    <a:cubicBezTo>
                      <a:pt x="63" y="7"/>
                      <a:pt x="60" y="16"/>
                      <a:pt x="55" y="25"/>
                    </a:cubicBezTo>
                    <a:cubicBezTo>
                      <a:pt x="50" y="38"/>
                      <a:pt x="46" y="43"/>
                      <a:pt x="35" y="32"/>
                    </a:cubicBezTo>
                    <a:cubicBezTo>
                      <a:pt x="31" y="29"/>
                      <a:pt x="28" y="22"/>
                      <a:pt x="23" y="20"/>
                    </a:cubicBezTo>
                    <a:cubicBezTo>
                      <a:pt x="17" y="16"/>
                      <a:pt x="8" y="17"/>
                      <a:pt x="3" y="1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3" name="Freeform 114"/>
              <p:cNvSpPr/>
              <p:nvPr/>
            </p:nvSpPr>
            <p:spPr>
              <a:xfrm flipH="1">
                <a:off x="5909040" y="187200"/>
                <a:ext cx="299520" cy="473760"/>
              </a:xfrm>
              <a:custGeom>
                <a:avLst/>
                <a:gdLst>
                  <a:gd name="GluePoint1X" fmla="*/ 2147483647 w 92"/>
                  <a:gd name="GluePoint1Y" fmla="*/ 0 h 140"/>
                  <a:gd name="GluePoint2X" fmla="*/ 2147483647 w 92"/>
                  <a:gd name="GluePoint2Y" fmla="*/ 2147483647 h 140"/>
                  <a:gd name="GluePoint3X" fmla="*/ 2147483647 w 92"/>
                  <a:gd name="GluePoint3Y" fmla="*/ 2147483647 h 140"/>
                  <a:gd name="GluePoint4X" fmla="*/ 2147483647 w 92"/>
                  <a:gd name="GluePoint4Y" fmla="*/ 2147483647 h 140"/>
                  <a:gd name="GluePoint5X" fmla="*/ 2147483647 w 92"/>
                  <a:gd name="GluePoint5Y" fmla="*/ 2147483647 h 140"/>
                  <a:gd name="GluePoint6X" fmla="*/ 0 w 92"/>
                  <a:gd name="GluePoint6Y" fmla="*/ 2147483647 h 140"/>
                  <a:gd name="GluePoint7X" fmla="*/ 2147483647 w 92"/>
                  <a:gd name="GluePoint7Y" fmla="*/ 2147483647 h 140"/>
                  <a:gd name="GluePoint8X" fmla="*/ 2147483647 w 92"/>
                  <a:gd name="GluePoint8Y" fmla="*/ 2147483647 h 140"/>
                  <a:gd name="GluePoint9X" fmla="*/ 2147483647 w 92"/>
                  <a:gd name="GluePoint9Y" fmla="*/ 2147483647 h 140"/>
                  <a:gd name="GluePoint10X" fmla="*/ 2147483647 w 92"/>
                  <a:gd name="GluePoint10Y" fmla="*/ 2147483647 h 140"/>
                  <a:gd name="GluePoint11X" fmla="*/ 2147483647 w 92"/>
                  <a:gd name="GluePoint11Y" fmla="*/ 2147483647 h 1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92" h="140">
                    <a:moveTo>
                      <a:pt x="83" y="0"/>
                    </a:moveTo>
                    <a:cubicBezTo>
                      <a:pt x="79" y="22"/>
                      <a:pt x="73" y="47"/>
                      <a:pt x="76" y="69"/>
                    </a:cubicBezTo>
                    <a:cubicBezTo>
                      <a:pt x="77" y="82"/>
                      <a:pt x="92" y="101"/>
                      <a:pt x="89" y="113"/>
                    </a:cubicBezTo>
                    <a:cubicBezTo>
                      <a:pt x="85" y="124"/>
                      <a:pt x="65" y="125"/>
                      <a:pt x="55" y="129"/>
                    </a:cubicBezTo>
                    <a:cubicBezTo>
                      <a:pt x="48" y="132"/>
                      <a:pt x="43" y="137"/>
                      <a:pt x="36" y="138"/>
                    </a:cubicBezTo>
                    <a:cubicBezTo>
                      <a:pt x="23" y="140"/>
                      <a:pt x="11" y="132"/>
                      <a:pt x="0" y="140"/>
                    </a:cubicBezTo>
                    <a:cubicBezTo>
                      <a:pt x="13" y="131"/>
                      <a:pt x="86" y="130"/>
                      <a:pt x="61" y="105"/>
                    </a:cubicBezTo>
                    <a:cubicBezTo>
                      <a:pt x="65" y="113"/>
                      <a:pt x="77" y="110"/>
                      <a:pt x="78" y="102"/>
                    </a:cubicBezTo>
                    <a:cubicBezTo>
                      <a:pt x="79" y="96"/>
                      <a:pt x="67" y="77"/>
                      <a:pt x="65" y="71"/>
                    </a:cubicBezTo>
                    <a:cubicBezTo>
                      <a:pt x="81" y="65"/>
                      <a:pt x="75" y="50"/>
                      <a:pt x="64" y="41"/>
                    </a:cubicBezTo>
                    <a:cubicBezTo>
                      <a:pt x="80" y="36"/>
                      <a:pt x="72" y="27"/>
                      <a:pt x="79" y="15"/>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4" name="Freeform 115"/>
              <p:cNvSpPr/>
              <p:nvPr/>
            </p:nvSpPr>
            <p:spPr>
              <a:xfrm flipH="1">
                <a:off x="4537800" y="755640"/>
                <a:ext cx="221400" cy="195480"/>
              </a:xfrm>
              <a:custGeom>
                <a:avLst/>
                <a:gdLst>
                  <a:gd name="GluePoint1X" fmla="*/ 2147483647 w 68"/>
                  <a:gd name="GluePoint1Y" fmla="*/ 0 h 58"/>
                  <a:gd name="GluePoint2X" fmla="*/ 2147483647 w 68"/>
                  <a:gd name="GluePoint2Y" fmla="*/ 2147483647 h 58"/>
                  <a:gd name="GluePoint3X" fmla="*/ 2147483647 w 68"/>
                  <a:gd name="GluePoint3Y" fmla="*/ 2147483647 h 58"/>
                  <a:gd name="GluePoint4X" fmla="*/ 2147483647 w 68"/>
                  <a:gd name="GluePoint4Y" fmla="*/ 2147483647 h 58"/>
                  <a:gd name="GluePoint5X" fmla="*/ 0 w 68"/>
                  <a:gd name="GluePoint5Y" fmla="*/ 2147483647 h 58"/>
                  <a:gd name="GluePoint6X" fmla="*/ 2147483647 w 68"/>
                  <a:gd name="GluePoint6Y" fmla="*/ 2147483647 h 58"/>
                  <a:gd name="GluePoint7X" fmla="*/ 2147483647 w 68"/>
                  <a:gd name="GluePoint7Y" fmla="*/ 2147483647 h 58"/>
                  <a:gd name="GluePoint8X" fmla="*/ 2147483647 w 68"/>
                  <a:gd name="GluePoint8Y" fmla="*/ 2147483647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68" h="58">
                    <a:moveTo>
                      <a:pt x="51" y="0"/>
                    </a:moveTo>
                    <a:cubicBezTo>
                      <a:pt x="58" y="9"/>
                      <a:pt x="68" y="14"/>
                      <a:pt x="66" y="27"/>
                    </a:cubicBezTo>
                    <a:cubicBezTo>
                      <a:pt x="66" y="35"/>
                      <a:pt x="60" y="35"/>
                      <a:pt x="54" y="40"/>
                    </a:cubicBezTo>
                    <a:cubicBezTo>
                      <a:pt x="48" y="46"/>
                      <a:pt x="45" y="48"/>
                      <a:pt x="36" y="49"/>
                    </a:cubicBezTo>
                    <a:cubicBezTo>
                      <a:pt x="23" y="51"/>
                      <a:pt x="10" y="51"/>
                      <a:pt x="0" y="58"/>
                    </a:cubicBezTo>
                    <a:cubicBezTo>
                      <a:pt x="12" y="43"/>
                      <a:pt x="34" y="46"/>
                      <a:pt x="50" y="36"/>
                    </a:cubicBezTo>
                    <a:cubicBezTo>
                      <a:pt x="55" y="33"/>
                      <a:pt x="60" y="28"/>
                      <a:pt x="59" y="22"/>
                    </a:cubicBezTo>
                    <a:cubicBezTo>
                      <a:pt x="59" y="20"/>
                      <a:pt x="55" y="7"/>
                      <a:pt x="53" y="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5" name="Freeform 116"/>
              <p:cNvSpPr/>
              <p:nvPr/>
            </p:nvSpPr>
            <p:spPr>
              <a:xfrm flipH="1">
                <a:off x="4464000" y="1158480"/>
                <a:ext cx="229680" cy="135720"/>
              </a:xfrm>
              <a:custGeom>
                <a:avLst/>
                <a:gdLst>
                  <a:gd name="GluePoint1X" fmla="*/ 0 w 71"/>
                  <a:gd name="GluePoint1Y" fmla="*/ 2147483647 h 40"/>
                  <a:gd name="GluePoint2X" fmla="*/ 2147483647 w 71"/>
                  <a:gd name="GluePoint2Y" fmla="*/ 2147483647 h 40"/>
                  <a:gd name="GluePoint3X" fmla="*/ 2147483647 w 71"/>
                  <a:gd name="GluePoint3Y" fmla="*/ 2147483647 h 40"/>
                  <a:gd name="GluePoint4X" fmla="*/ 2147483647 w 71"/>
                  <a:gd name="GluePoint4Y" fmla="*/ 2147483647 h 40"/>
                  <a:gd name="GluePoint5X" fmla="*/ 2147483647 w 71"/>
                  <a:gd name="GluePoint5Y" fmla="*/ 0 h 40"/>
                  <a:gd name="GluePoint6X" fmla="*/ 2147483647 w 71"/>
                  <a:gd name="GluePoint6Y" fmla="*/ 2147483647 h 40"/>
                  <a:gd name="GluePoint7X" fmla="*/ 2147483647 w 71"/>
                  <a:gd name="GluePoint7Y" fmla="*/ 2147483647 h 40"/>
                  <a:gd name="GluePoint8X" fmla="*/ 2147483647 w 71"/>
                  <a:gd name="GluePoint8Y" fmla="*/ 2147483647 h 40"/>
                  <a:gd name="GluePoint9X" fmla="*/ 1586623130 w 71"/>
                  <a:gd name="GluePoint9Y" fmla="*/ 2147483647 h 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71" h="40">
                    <a:moveTo>
                      <a:pt x="0" y="30"/>
                    </a:moveTo>
                    <a:cubicBezTo>
                      <a:pt x="4" y="32"/>
                      <a:pt x="8" y="36"/>
                      <a:pt x="13" y="37"/>
                    </a:cubicBezTo>
                    <a:cubicBezTo>
                      <a:pt x="18" y="38"/>
                      <a:pt x="25" y="37"/>
                      <a:pt x="31" y="38"/>
                    </a:cubicBezTo>
                    <a:cubicBezTo>
                      <a:pt x="38" y="39"/>
                      <a:pt x="46" y="40"/>
                      <a:pt x="54" y="38"/>
                    </a:cubicBezTo>
                    <a:cubicBezTo>
                      <a:pt x="71" y="34"/>
                      <a:pt x="71" y="16"/>
                      <a:pt x="69" y="0"/>
                    </a:cubicBezTo>
                    <a:cubicBezTo>
                      <a:pt x="69" y="6"/>
                      <a:pt x="70" y="18"/>
                      <a:pt x="66" y="23"/>
                    </a:cubicBezTo>
                    <a:cubicBezTo>
                      <a:pt x="61" y="30"/>
                      <a:pt x="54" y="30"/>
                      <a:pt x="46" y="31"/>
                    </a:cubicBezTo>
                    <a:cubicBezTo>
                      <a:pt x="41" y="32"/>
                      <a:pt x="35" y="32"/>
                      <a:pt x="30" y="33"/>
                    </a:cubicBezTo>
                    <a:cubicBezTo>
                      <a:pt x="22" y="35"/>
                      <a:pt x="15" y="33"/>
                      <a:pt x="7" y="31"/>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6" name="Freeform 117"/>
              <p:cNvSpPr/>
              <p:nvPr/>
            </p:nvSpPr>
            <p:spPr>
              <a:xfrm flipH="1">
                <a:off x="4787640" y="1060920"/>
                <a:ext cx="156960" cy="108000"/>
              </a:xfrm>
              <a:custGeom>
                <a:avLst/>
                <a:gdLst>
                  <a:gd name="GluePoint1X" fmla="*/ 0 w 48"/>
                  <a:gd name="GluePoint1Y" fmla="*/ 0 h 32"/>
                  <a:gd name="GluePoint2X" fmla="*/ 1118674480 w 48"/>
                  <a:gd name="GluePoint2Y" fmla="*/ 2147483647 h 32"/>
                  <a:gd name="GluePoint3X" fmla="*/ 1491565999 w 48"/>
                  <a:gd name="GluePoint3Y" fmla="*/ 2147483647 h 32"/>
                  <a:gd name="GluePoint4X" fmla="*/ 2147483647 w 48"/>
                  <a:gd name="GluePoint4Y" fmla="*/ 2147483647 h 32"/>
                  <a:gd name="GluePoint5X" fmla="*/ 2147483647 w 48"/>
                  <a:gd name="GluePoint5Y" fmla="*/ 2147483647 h 32"/>
                  <a:gd name="GluePoint6X" fmla="*/ 2147483647 w 48"/>
                  <a:gd name="GluePoint6Y" fmla="*/ 2147483647 h 32"/>
                  <a:gd name="GluePoint7X" fmla="*/ 2147483647 w 48"/>
                  <a:gd name="GluePoint7Y" fmla="*/ 2147483647 h 32"/>
                  <a:gd name="GluePoint8X" fmla="*/ 0 w 48"/>
                  <a:gd name="GluePoint8Y" fmla="*/ 0 h 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48" h="32">
                    <a:moveTo>
                      <a:pt x="0" y="0"/>
                    </a:moveTo>
                    <a:cubicBezTo>
                      <a:pt x="0" y="3"/>
                      <a:pt x="3" y="6"/>
                      <a:pt x="4" y="8"/>
                    </a:cubicBezTo>
                    <a:cubicBezTo>
                      <a:pt x="4" y="10"/>
                      <a:pt x="4" y="14"/>
                      <a:pt x="5" y="15"/>
                    </a:cubicBezTo>
                    <a:cubicBezTo>
                      <a:pt x="8" y="20"/>
                      <a:pt x="13" y="23"/>
                      <a:pt x="17" y="25"/>
                    </a:cubicBezTo>
                    <a:cubicBezTo>
                      <a:pt x="30" y="32"/>
                      <a:pt x="35" y="32"/>
                      <a:pt x="48" y="25"/>
                    </a:cubicBezTo>
                    <a:cubicBezTo>
                      <a:pt x="40" y="27"/>
                      <a:pt x="32" y="26"/>
                      <a:pt x="24" y="23"/>
                    </a:cubicBezTo>
                    <a:cubicBezTo>
                      <a:pt x="20" y="22"/>
                      <a:pt x="8" y="17"/>
                      <a:pt x="14" y="11"/>
                    </a:cubicBezTo>
                    <a:cubicBezTo>
                      <a:pt x="8" y="14"/>
                      <a:pt x="2" y="5"/>
                      <a:pt x="0" y="0"/>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37" name="Freeform 118"/>
              <p:cNvSpPr/>
              <p:nvPr/>
            </p:nvSpPr>
            <p:spPr>
              <a:xfrm flipH="1">
                <a:off x="5747400" y="820080"/>
                <a:ext cx="109080" cy="36720"/>
              </a:xfrm>
              <a:custGeom>
                <a:avLst/>
                <a:gdLst>
                  <a:gd name="GluePoint1X" fmla="*/ 0 w 34"/>
                  <a:gd name="GluePoint1Y" fmla="*/ 2147483647 h 11"/>
                  <a:gd name="GluePoint2X" fmla="*/ 2147483647 w 34"/>
                  <a:gd name="GluePoint2Y" fmla="*/ 1819061879 h 11"/>
                  <a:gd name="GluePoint3X" fmla="*/ 2147483647 w 34"/>
                  <a:gd name="GluePoint3Y" fmla="*/ 2147483647 h 11"/>
                  <a:gd name="GluePoint4X" fmla="*/ 603179281 w 34"/>
                  <a:gd name="GluePoint4Y" fmla="*/ 2147483647 h 11"/>
                </a:gdLst>
                <a:ahLst/>
                <a:cxnLst>
                  <a:cxn ang="0">
                    <a:pos x="GluePoint1X" y="GluePoint1Y"/>
                  </a:cxn>
                  <a:cxn ang="0">
                    <a:pos x="GluePoint2X" y="GluePoint2Y"/>
                  </a:cxn>
                  <a:cxn ang="0">
                    <a:pos x="GluePoint3X" y="GluePoint3Y"/>
                  </a:cxn>
                  <a:cxn ang="0">
                    <a:pos x="GluePoint4X" y="GluePoint4Y"/>
                  </a:cxn>
                </a:cxnLst>
                <a:rect l="l" t="t" r="r" b="b"/>
                <a:pathLst>
                  <a:path w="34" h="11">
                    <a:moveTo>
                      <a:pt x="0" y="11"/>
                    </a:moveTo>
                    <a:cubicBezTo>
                      <a:pt x="5" y="6"/>
                      <a:pt x="14" y="0"/>
                      <a:pt x="21" y="2"/>
                    </a:cubicBezTo>
                    <a:cubicBezTo>
                      <a:pt x="25" y="3"/>
                      <a:pt x="32" y="5"/>
                      <a:pt x="34" y="9"/>
                    </a:cubicBezTo>
                    <a:cubicBezTo>
                      <a:pt x="24" y="10"/>
                      <a:pt x="12" y="5"/>
                      <a:pt x="3" y="9"/>
                    </a:cubicBezTo>
                  </a:path>
                </a:pathLst>
              </a:custGeom>
              <a:solidFill>
                <a:srgbClr val="d7d4df"/>
              </a:solidFill>
              <a:ln w="0">
                <a:noFill/>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338" name="Freeform 119"/>
              <p:cNvSpPr/>
              <p:nvPr/>
            </p:nvSpPr>
            <p:spPr>
              <a:xfrm flipH="1">
                <a:off x="5370480" y="914400"/>
                <a:ext cx="93960" cy="54360"/>
              </a:xfrm>
              <a:custGeom>
                <a:avLst/>
                <a:gdLst>
                  <a:gd name="GluePoint1X" fmla="*/ 0 w 29"/>
                  <a:gd name="GluePoint1Y" fmla="*/ 2147483647 h 16"/>
                  <a:gd name="GluePoint2X" fmla="*/ 2147483647 w 29"/>
                  <a:gd name="GluePoint2Y" fmla="*/ 2147483647 h 16"/>
                  <a:gd name="GluePoint3X" fmla="*/ 2147483647 w 29"/>
                  <a:gd name="GluePoint3Y" fmla="*/ 0 h 16"/>
                </a:gdLst>
                <a:ahLst/>
                <a:cxnLst>
                  <a:cxn ang="0">
                    <a:pos x="GluePoint1X" y="GluePoint1Y"/>
                  </a:cxn>
                  <a:cxn ang="0">
                    <a:pos x="GluePoint2X" y="GluePoint2Y"/>
                  </a:cxn>
                  <a:cxn ang="0">
                    <a:pos x="GluePoint3X" y="GluePoint3Y"/>
                  </a:cxn>
                </a:cxnLst>
                <a:rect l="l" t="t" r="r" b="b"/>
                <a:pathLst>
                  <a:path w="29" h="16">
                    <a:moveTo>
                      <a:pt x="0" y="2"/>
                    </a:moveTo>
                    <a:cubicBezTo>
                      <a:pt x="9" y="7"/>
                      <a:pt x="19" y="13"/>
                      <a:pt x="29" y="16"/>
                    </a:cubicBezTo>
                    <a:cubicBezTo>
                      <a:pt x="29" y="11"/>
                      <a:pt x="23" y="5"/>
                      <a:pt x="22" y="0"/>
                    </a:cubicBezTo>
                  </a:path>
                </a:pathLst>
              </a:custGeom>
              <a:solidFill>
                <a:srgbClr val="d7d4df"/>
              </a:solidFill>
              <a:ln w="0">
                <a:noFill/>
              </a:ln>
            </p:spPr>
            <p:style>
              <a:lnRef idx="0"/>
              <a:fillRef idx="0"/>
              <a:effectRef idx="0"/>
              <a:fontRef idx="minor"/>
            </p:style>
            <p:txBody>
              <a:bodyPr lIns="90000" rIns="90000" tIns="7560" bIns="7560" anchor="t">
                <a:noAutofit/>
              </a:bodyPr>
              <a:p>
                <a:endParaRPr b="0" lang="en-US" sz="2400" strike="noStrike" u="none">
                  <a:solidFill>
                    <a:srgbClr val="ffff00"/>
                  </a:solidFill>
                  <a:effectLst/>
                  <a:uFillTx/>
                  <a:latin typeface="Times New Roman"/>
                </a:endParaRPr>
              </a:p>
            </p:txBody>
          </p:sp>
          <p:sp>
            <p:nvSpPr>
              <p:cNvPr id="339" name="Freeform 120"/>
              <p:cNvSpPr/>
              <p:nvPr/>
            </p:nvSpPr>
            <p:spPr>
              <a:xfrm flipH="1">
                <a:off x="5184720" y="1043280"/>
                <a:ext cx="95040" cy="108000"/>
              </a:xfrm>
              <a:custGeom>
                <a:avLst/>
                <a:gdLst>
                  <a:gd name="GluePoint1X" fmla="*/ 0 w 29"/>
                  <a:gd name="GluePoint1Y" fmla="*/ 0 h 32"/>
                  <a:gd name="GluePoint2X" fmla="*/ 2147483647 w 29"/>
                  <a:gd name="GluePoint2Y" fmla="*/ 2147483647 h 32"/>
                  <a:gd name="GluePoint3X" fmla="*/ 2147483647 w 29"/>
                  <a:gd name="GluePoint3Y" fmla="*/ 2147483647 h 32"/>
                  <a:gd name="GluePoint4X" fmla="*/ 2147483647 w 29"/>
                  <a:gd name="GluePoint4Y" fmla="*/ 2147483647 h 32"/>
                </a:gdLst>
                <a:ahLst/>
                <a:cxnLst>
                  <a:cxn ang="0">
                    <a:pos x="GluePoint1X" y="GluePoint1Y"/>
                  </a:cxn>
                  <a:cxn ang="0">
                    <a:pos x="GluePoint2X" y="GluePoint2Y"/>
                  </a:cxn>
                  <a:cxn ang="0">
                    <a:pos x="GluePoint3X" y="GluePoint3Y"/>
                  </a:cxn>
                  <a:cxn ang="0">
                    <a:pos x="GluePoint4X" y="GluePoint4Y"/>
                  </a:cxn>
                </a:cxnLst>
                <a:rect l="l" t="t" r="r" b="b"/>
                <a:pathLst>
                  <a:path w="29" h="32">
                    <a:moveTo>
                      <a:pt x="0" y="0"/>
                    </a:moveTo>
                    <a:cubicBezTo>
                      <a:pt x="0" y="7"/>
                      <a:pt x="16" y="29"/>
                      <a:pt x="21" y="32"/>
                    </a:cubicBezTo>
                    <a:cubicBezTo>
                      <a:pt x="21" y="26"/>
                      <a:pt x="16" y="23"/>
                      <a:pt x="20" y="17"/>
                    </a:cubicBezTo>
                    <a:cubicBezTo>
                      <a:pt x="23" y="14"/>
                      <a:pt x="27" y="15"/>
                      <a:pt x="29" y="11"/>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0" name="Freeform 121"/>
              <p:cNvSpPr/>
              <p:nvPr/>
            </p:nvSpPr>
            <p:spPr>
              <a:xfrm flipH="1">
                <a:off x="6196680" y="359640"/>
                <a:ext cx="108720" cy="97200"/>
              </a:xfrm>
              <a:custGeom>
                <a:avLst/>
                <a:gdLst>
                  <a:gd name="GluePoint1X" fmla="*/ 1187231292 w 34"/>
                  <a:gd name="GluePoint1Y" fmla="*/ 2147483647 h 29"/>
                  <a:gd name="GluePoint2X" fmla="*/ 2147483647 w 34"/>
                  <a:gd name="GluePoint2Y" fmla="*/ 0 h 29"/>
                  <a:gd name="GluePoint3X" fmla="*/ 2147483647 w 34"/>
                  <a:gd name="GluePoint3Y" fmla="*/ 2147483647 h 29"/>
                  <a:gd name="GluePoint4X" fmla="*/ 2147483647 w 34"/>
                  <a:gd name="GluePoint4Y" fmla="*/ 2147483647 h 29"/>
                  <a:gd name="GluePoint5X" fmla="*/ 2147483647 w 34"/>
                  <a:gd name="GluePoint5Y" fmla="*/ 2147483647 h 29"/>
                  <a:gd name="GluePoint6X" fmla="*/ 0 w 34"/>
                  <a:gd name="GluePoint6Y" fmla="*/ 2147483647 h 29"/>
                  <a:gd name="GluePoint7X" fmla="*/ 603179281 w 34"/>
                  <a:gd name="GluePoint7Y" fmla="*/ 2147483647 h 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4" h="29">
                    <a:moveTo>
                      <a:pt x="6" y="4"/>
                    </a:moveTo>
                    <a:cubicBezTo>
                      <a:pt x="9" y="4"/>
                      <a:pt x="11" y="2"/>
                      <a:pt x="13" y="0"/>
                    </a:cubicBezTo>
                    <a:cubicBezTo>
                      <a:pt x="13" y="5"/>
                      <a:pt x="18" y="9"/>
                      <a:pt x="20" y="12"/>
                    </a:cubicBezTo>
                    <a:cubicBezTo>
                      <a:pt x="24" y="18"/>
                      <a:pt x="29" y="24"/>
                      <a:pt x="34" y="29"/>
                    </a:cubicBezTo>
                    <a:cubicBezTo>
                      <a:pt x="27" y="24"/>
                      <a:pt x="23" y="20"/>
                      <a:pt x="18" y="14"/>
                    </a:cubicBezTo>
                    <a:cubicBezTo>
                      <a:pt x="12" y="8"/>
                      <a:pt x="7" y="9"/>
                      <a:pt x="0" y="11"/>
                    </a:cubicBezTo>
                    <a:cubicBezTo>
                      <a:pt x="1" y="10"/>
                      <a:pt x="2" y="8"/>
                      <a:pt x="3" y="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1" name="Freeform 122"/>
              <p:cNvSpPr/>
              <p:nvPr/>
            </p:nvSpPr>
            <p:spPr>
              <a:xfrm flipH="1">
                <a:off x="6553080" y="209880"/>
                <a:ext cx="64440" cy="291960"/>
              </a:xfrm>
              <a:custGeom>
                <a:avLst/>
                <a:gdLst>
                  <a:gd name="GluePoint1X" fmla="*/ 1888821702 w 20"/>
                  <a:gd name="GluePoint1Y" fmla="*/ 0 h 86"/>
                  <a:gd name="GluePoint2X" fmla="*/ 2147483647 w 20"/>
                  <a:gd name="GluePoint2Y" fmla="*/ 2147483647 h 86"/>
                  <a:gd name="GluePoint3X" fmla="*/ 2147483647 w 20"/>
                  <a:gd name="GluePoint3Y" fmla="*/ 2147483647 h 86"/>
                  <a:gd name="GluePoint4X" fmla="*/ 2147483647 w 20"/>
                  <a:gd name="GluePoint4Y" fmla="*/ 2147483647 h 86"/>
                  <a:gd name="GluePoint5X" fmla="*/ 0 w 20"/>
                  <a:gd name="GluePoint5Y" fmla="*/ 2147483647 h 86"/>
                  <a:gd name="GluePoint6X" fmla="*/ 2147483647 w 20"/>
                  <a:gd name="GluePoint6Y" fmla="*/ 2147483647 h 86"/>
                  <a:gd name="GluePoint7X" fmla="*/ 1452939815 w 20"/>
                  <a:gd name="GluePoint7Y" fmla="*/ 2147483647 h 86"/>
                  <a:gd name="GluePoint8X" fmla="*/ 1888821702 w 20"/>
                  <a:gd name="GluePoint8Y" fmla="*/ 2147483647 h 86"/>
                  <a:gd name="GluePoint9X" fmla="*/ 1452939815 w 20"/>
                  <a:gd name="GluePoint9Y" fmla="*/ 2147483647 h 86"/>
                  <a:gd name="GluePoint10X" fmla="*/ 2147483647 w 20"/>
                  <a:gd name="GluePoint10Y" fmla="*/ 2147483647 h 86"/>
                  <a:gd name="GluePoint11X" fmla="*/ 2095983323 w 20"/>
                  <a:gd name="GluePoint11Y" fmla="*/ 0 h 8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20" h="86">
                    <a:moveTo>
                      <a:pt x="9" y="0"/>
                    </a:moveTo>
                    <a:cubicBezTo>
                      <a:pt x="16" y="5"/>
                      <a:pt x="15" y="12"/>
                      <a:pt x="15" y="20"/>
                    </a:cubicBezTo>
                    <a:cubicBezTo>
                      <a:pt x="15" y="29"/>
                      <a:pt x="16" y="38"/>
                      <a:pt x="16" y="46"/>
                    </a:cubicBezTo>
                    <a:cubicBezTo>
                      <a:pt x="16" y="59"/>
                      <a:pt x="16" y="73"/>
                      <a:pt x="20" y="86"/>
                    </a:cubicBezTo>
                    <a:cubicBezTo>
                      <a:pt x="18" y="76"/>
                      <a:pt x="12" y="61"/>
                      <a:pt x="0" y="67"/>
                    </a:cubicBezTo>
                    <a:cubicBezTo>
                      <a:pt x="6" y="66"/>
                      <a:pt x="12" y="58"/>
                      <a:pt x="11" y="51"/>
                    </a:cubicBezTo>
                    <a:cubicBezTo>
                      <a:pt x="11" y="48"/>
                      <a:pt x="7" y="47"/>
                      <a:pt x="7" y="45"/>
                    </a:cubicBezTo>
                    <a:cubicBezTo>
                      <a:pt x="6" y="43"/>
                      <a:pt x="9" y="41"/>
                      <a:pt x="9" y="39"/>
                    </a:cubicBezTo>
                    <a:cubicBezTo>
                      <a:pt x="12" y="30"/>
                      <a:pt x="5" y="26"/>
                      <a:pt x="7" y="20"/>
                    </a:cubicBezTo>
                    <a:cubicBezTo>
                      <a:pt x="8" y="16"/>
                      <a:pt x="11" y="13"/>
                      <a:pt x="12" y="8"/>
                    </a:cubicBezTo>
                    <a:cubicBezTo>
                      <a:pt x="12" y="6"/>
                      <a:pt x="11" y="3"/>
                      <a:pt x="10" y="0"/>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2" name="Freeform 123"/>
              <p:cNvSpPr/>
              <p:nvPr/>
            </p:nvSpPr>
            <p:spPr>
              <a:xfrm flipH="1">
                <a:off x="6553800" y="654120"/>
                <a:ext cx="77040" cy="206640"/>
              </a:xfrm>
              <a:custGeom>
                <a:avLst/>
                <a:gdLst>
                  <a:gd name="GluePoint1X" fmla="*/ 173765254 w 24"/>
                  <a:gd name="GluePoint1Y" fmla="*/ 0 h 61"/>
                  <a:gd name="GluePoint2X" fmla="*/ 592680199 w 24"/>
                  <a:gd name="GluePoint2Y" fmla="*/ 2147483647 h 61"/>
                  <a:gd name="GluePoint3X" fmla="*/ 398212040 w 24"/>
                  <a:gd name="GluePoint3Y" fmla="*/ 2147483647 h 61"/>
                  <a:gd name="GluePoint4X" fmla="*/ 2147483647 w 24"/>
                  <a:gd name="GluePoint4Y" fmla="*/ 2147483647 h 61"/>
                  <a:gd name="GluePoint5X" fmla="*/ 1756911567 w 24"/>
                  <a:gd name="GluePoint5Y" fmla="*/ 2147483647 h 61"/>
                  <a:gd name="GluePoint6X" fmla="*/ 2147483647 w 24"/>
                  <a:gd name="GluePoint6Y" fmla="*/ 2147483647 h 61"/>
                  <a:gd name="GluePoint7X" fmla="*/ 2091304550 w 24"/>
                  <a:gd name="GluePoint7Y" fmla="*/ 2147483647 h 61"/>
                  <a:gd name="GluePoint8X" fmla="*/ 1358225456 w 24"/>
                  <a:gd name="GluePoint8Y" fmla="*/ 2147483647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24" h="61">
                    <a:moveTo>
                      <a:pt x="1" y="0"/>
                    </a:moveTo>
                    <a:cubicBezTo>
                      <a:pt x="9" y="10"/>
                      <a:pt x="4" y="26"/>
                      <a:pt x="3" y="38"/>
                    </a:cubicBezTo>
                    <a:cubicBezTo>
                      <a:pt x="2" y="42"/>
                      <a:pt x="0" y="48"/>
                      <a:pt x="2" y="51"/>
                    </a:cubicBezTo>
                    <a:cubicBezTo>
                      <a:pt x="7" y="59"/>
                      <a:pt x="18" y="55"/>
                      <a:pt x="24" y="61"/>
                    </a:cubicBezTo>
                    <a:cubicBezTo>
                      <a:pt x="19" y="59"/>
                      <a:pt x="11" y="56"/>
                      <a:pt x="9" y="51"/>
                    </a:cubicBezTo>
                    <a:cubicBezTo>
                      <a:pt x="7" y="45"/>
                      <a:pt x="12" y="39"/>
                      <a:pt x="18" y="38"/>
                    </a:cubicBezTo>
                    <a:cubicBezTo>
                      <a:pt x="7" y="43"/>
                      <a:pt x="10" y="28"/>
                      <a:pt x="11" y="24"/>
                    </a:cubicBezTo>
                    <a:cubicBezTo>
                      <a:pt x="11" y="17"/>
                      <a:pt x="7" y="11"/>
                      <a:pt x="7" y="3"/>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3" name="Freeform 124"/>
              <p:cNvSpPr/>
              <p:nvPr/>
            </p:nvSpPr>
            <p:spPr>
              <a:xfrm flipH="1">
                <a:off x="6332040" y="765000"/>
                <a:ext cx="177840" cy="119160"/>
              </a:xfrm>
              <a:custGeom>
                <a:avLst/>
                <a:gdLst>
                  <a:gd name="GluePoint1X" fmla="*/ 0 w 55"/>
                  <a:gd name="GluePoint1Y" fmla="*/ 2147483647 h 35"/>
                  <a:gd name="GluePoint2X" fmla="*/ 2147483647 w 55"/>
                  <a:gd name="GluePoint2Y" fmla="*/ 2147483647 h 35"/>
                  <a:gd name="GluePoint3X" fmla="*/ 2147483647 w 55"/>
                  <a:gd name="GluePoint3Y" fmla="*/ 2147483647 h 35"/>
                  <a:gd name="GluePoint4X" fmla="*/ 2147483647 w 55"/>
                  <a:gd name="GluePoint4Y" fmla="*/ 0 h 35"/>
                  <a:gd name="GluePoint5X" fmla="*/ 2147483647 w 55"/>
                  <a:gd name="GluePoint5Y" fmla="*/ 2147483647 h 35"/>
                  <a:gd name="GluePoint6X" fmla="*/ 2147483647 w 55"/>
                  <a:gd name="GluePoint6Y" fmla="*/ 2147483647 h 35"/>
                  <a:gd name="GluePoint7X" fmla="*/ 2147483647 w 55"/>
                  <a:gd name="GluePoint7Y" fmla="*/ 2147483647 h 35"/>
                  <a:gd name="GluePoint8X" fmla="*/ 2147483647 w 55"/>
                  <a:gd name="GluePoint8Y" fmla="*/ 2147483647 h 35"/>
                  <a:gd name="GluePoint9X" fmla="*/ 2147483647 w 55"/>
                  <a:gd name="GluePoint9Y" fmla="*/ 2147483647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55" h="35">
                    <a:moveTo>
                      <a:pt x="0" y="31"/>
                    </a:moveTo>
                    <a:cubicBezTo>
                      <a:pt x="12" y="35"/>
                      <a:pt x="22" y="22"/>
                      <a:pt x="31" y="19"/>
                    </a:cubicBezTo>
                    <a:cubicBezTo>
                      <a:pt x="36" y="17"/>
                      <a:pt x="40" y="17"/>
                      <a:pt x="45" y="14"/>
                    </a:cubicBezTo>
                    <a:cubicBezTo>
                      <a:pt x="50" y="11"/>
                      <a:pt x="52" y="6"/>
                      <a:pt x="55" y="0"/>
                    </a:cubicBezTo>
                    <a:cubicBezTo>
                      <a:pt x="51" y="4"/>
                      <a:pt x="49" y="9"/>
                      <a:pt x="42" y="11"/>
                    </a:cubicBezTo>
                    <a:cubicBezTo>
                      <a:pt x="38" y="12"/>
                      <a:pt x="32" y="13"/>
                      <a:pt x="31" y="7"/>
                    </a:cubicBezTo>
                    <a:cubicBezTo>
                      <a:pt x="30" y="11"/>
                      <a:pt x="33" y="13"/>
                      <a:pt x="29" y="16"/>
                    </a:cubicBezTo>
                    <a:cubicBezTo>
                      <a:pt x="27" y="19"/>
                      <a:pt x="19" y="21"/>
                      <a:pt x="16" y="18"/>
                    </a:cubicBezTo>
                    <a:cubicBezTo>
                      <a:pt x="17" y="23"/>
                      <a:pt x="14" y="26"/>
                      <a:pt x="10" y="2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4" name="Freeform 125"/>
              <p:cNvSpPr/>
              <p:nvPr/>
            </p:nvSpPr>
            <p:spPr>
              <a:xfrm flipH="1">
                <a:off x="7046280" y="854280"/>
                <a:ext cx="461160" cy="331200"/>
              </a:xfrm>
              <a:custGeom>
                <a:avLst/>
                <a:gdLst>
                  <a:gd name="GluePoint1X" fmla="*/ 0 w 142"/>
                  <a:gd name="GluePoint1Y" fmla="*/ 0 h 98"/>
                  <a:gd name="GluePoint2X" fmla="*/ 2147483647 w 142"/>
                  <a:gd name="GluePoint2Y" fmla="*/ 2147483647 h 98"/>
                  <a:gd name="GluePoint3X" fmla="*/ 2147483647 w 142"/>
                  <a:gd name="GluePoint3Y" fmla="*/ 2147483647 h 98"/>
                  <a:gd name="GluePoint4X" fmla="*/ 2147483647 w 142"/>
                  <a:gd name="GluePoint4Y" fmla="*/ 2147483647 h 98"/>
                  <a:gd name="GluePoint5X" fmla="*/ 2147483647 w 142"/>
                  <a:gd name="GluePoint5Y" fmla="*/ 2147483647 h 98"/>
                  <a:gd name="GluePoint6X" fmla="*/ 2147483647 w 142"/>
                  <a:gd name="GluePoint6Y" fmla="*/ 2147483647 h 98"/>
                  <a:gd name="GluePoint7X" fmla="*/ 2147483647 w 142"/>
                  <a:gd name="GluePoint7Y" fmla="*/ 2147483647 h 98"/>
                  <a:gd name="GluePoint8X" fmla="*/ 2147483647 w 142"/>
                  <a:gd name="GluePoint8Y" fmla="*/ 2147483647 h 98"/>
                  <a:gd name="GluePoint9X" fmla="*/ 2147483647 w 142"/>
                  <a:gd name="GluePoint9Y" fmla="*/ 2147483647 h 98"/>
                  <a:gd name="GluePoint10X" fmla="*/ 2147483647 w 142"/>
                  <a:gd name="GluePoint10Y" fmla="*/ 2147483647 h 98"/>
                  <a:gd name="GluePoint11X" fmla="*/ 2147483647 w 142"/>
                  <a:gd name="GluePoint11Y" fmla="*/ 2147483647 h 98"/>
                  <a:gd name="GluePoint12X" fmla="*/ 2147483647 w 142"/>
                  <a:gd name="GluePoint12Y" fmla="*/ 2147483647 h 98"/>
                  <a:gd name="GluePoint13X" fmla="*/ 2147483647 w 142"/>
                  <a:gd name="GluePoint13Y" fmla="*/ 2147483647 h 98"/>
                  <a:gd name="GluePoint14X" fmla="*/ 2147483647 w 142"/>
                  <a:gd name="GluePoint14Y" fmla="*/ 2147483647 h 98"/>
                  <a:gd name="GluePoint15X" fmla="*/ 2147483647 w 142"/>
                  <a:gd name="GluePoint15Y" fmla="*/ 2147483647 h 98"/>
                  <a:gd name="GluePoint16X" fmla="*/ 2147483647 w 142"/>
                  <a:gd name="GluePoint16Y" fmla="*/ 2147483647 h 98"/>
                  <a:gd name="GluePoint17X" fmla="*/ 2147483647 w 142"/>
                  <a:gd name="GluePoint17Y" fmla="*/ 2147483647 h 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l" t="t" r="r" b="b"/>
                <a:pathLst>
                  <a:path w="142" h="98">
                    <a:moveTo>
                      <a:pt x="0" y="0"/>
                    </a:moveTo>
                    <a:cubicBezTo>
                      <a:pt x="4" y="4"/>
                      <a:pt x="11" y="5"/>
                      <a:pt x="15" y="7"/>
                    </a:cubicBezTo>
                    <a:cubicBezTo>
                      <a:pt x="22" y="9"/>
                      <a:pt x="27" y="13"/>
                      <a:pt x="33" y="15"/>
                    </a:cubicBezTo>
                    <a:cubicBezTo>
                      <a:pt x="45" y="21"/>
                      <a:pt x="54" y="28"/>
                      <a:pt x="64" y="35"/>
                    </a:cubicBezTo>
                    <a:cubicBezTo>
                      <a:pt x="72" y="41"/>
                      <a:pt x="96" y="64"/>
                      <a:pt x="107" y="55"/>
                    </a:cubicBezTo>
                    <a:cubicBezTo>
                      <a:pt x="103" y="65"/>
                      <a:pt x="110" y="69"/>
                      <a:pt x="117" y="75"/>
                    </a:cubicBezTo>
                    <a:cubicBezTo>
                      <a:pt x="126" y="81"/>
                      <a:pt x="136" y="88"/>
                      <a:pt x="142" y="98"/>
                    </a:cubicBezTo>
                    <a:cubicBezTo>
                      <a:pt x="138" y="90"/>
                      <a:pt x="119" y="83"/>
                      <a:pt x="115" y="94"/>
                    </a:cubicBezTo>
                    <a:cubicBezTo>
                      <a:pt x="116" y="86"/>
                      <a:pt x="114" y="79"/>
                      <a:pt x="107" y="75"/>
                    </a:cubicBezTo>
                    <a:cubicBezTo>
                      <a:pt x="104" y="73"/>
                      <a:pt x="96" y="73"/>
                      <a:pt x="94" y="71"/>
                    </a:cubicBezTo>
                    <a:cubicBezTo>
                      <a:pt x="91" y="67"/>
                      <a:pt x="93" y="64"/>
                      <a:pt x="89" y="61"/>
                    </a:cubicBezTo>
                    <a:cubicBezTo>
                      <a:pt x="84" y="58"/>
                      <a:pt x="79" y="59"/>
                      <a:pt x="75" y="58"/>
                    </a:cubicBezTo>
                    <a:cubicBezTo>
                      <a:pt x="78" y="48"/>
                      <a:pt x="70" y="50"/>
                      <a:pt x="65" y="46"/>
                    </a:cubicBezTo>
                    <a:cubicBezTo>
                      <a:pt x="61" y="43"/>
                      <a:pt x="61" y="38"/>
                      <a:pt x="57" y="35"/>
                    </a:cubicBezTo>
                    <a:cubicBezTo>
                      <a:pt x="55" y="33"/>
                      <a:pt x="52" y="33"/>
                      <a:pt x="51" y="31"/>
                    </a:cubicBezTo>
                    <a:cubicBezTo>
                      <a:pt x="50" y="30"/>
                      <a:pt x="51" y="29"/>
                      <a:pt x="50" y="28"/>
                    </a:cubicBezTo>
                    <a:cubicBezTo>
                      <a:pt x="47" y="24"/>
                      <a:pt x="43" y="22"/>
                      <a:pt x="40" y="19"/>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5" name="Freeform 126"/>
              <p:cNvSpPr/>
              <p:nvPr/>
            </p:nvSpPr>
            <p:spPr>
              <a:xfrm flipH="1">
                <a:off x="7187040" y="1114560"/>
                <a:ext cx="138600" cy="192960"/>
              </a:xfrm>
              <a:custGeom>
                <a:avLst/>
                <a:gdLst>
                  <a:gd name="GluePoint1X" fmla="*/ 484767273 w 43"/>
                  <a:gd name="GluePoint1Y" fmla="*/ 2147483647 h 57"/>
                  <a:gd name="GluePoint2X" fmla="*/ 2147483647 w 43"/>
                  <a:gd name="GluePoint2Y" fmla="*/ 2147483647 h 57"/>
                  <a:gd name="GluePoint3X" fmla="*/ 2147483647 w 43"/>
                  <a:gd name="GluePoint3Y" fmla="*/ 2147483647 h 57"/>
                  <a:gd name="GluePoint4X" fmla="*/ 2147483647 w 43"/>
                  <a:gd name="GluePoint4Y" fmla="*/ 2147483647 h 57"/>
                  <a:gd name="GluePoint5X" fmla="*/ 2147483647 w 43"/>
                  <a:gd name="GluePoint5Y" fmla="*/ 2147483647 h 57"/>
                  <a:gd name="GluePoint6X" fmla="*/ 845156079 w 43"/>
                  <a:gd name="GluePoint6Y" fmla="*/ 2147483647 h 5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3" h="57">
                    <a:moveTo>
                      <a:pt x="2" y="13"/>
                    </a:moveTo>
                    <a:cubicBezTo>
                      <a:pt x="0" y="0"/>
                      <a:pt x="22" y="18"/>
                      <a:pt x="24" y="20"/>
                    </a:cubicBezTo>
                    <a:cubicBezTo>
                      <a:pt x="37" y="29"/>
                      <a:pt x="38" y="43"/>
                      <a:pt x="43" y="57"/>
                    </a:cubicBezTo>
                    <a:cubicBezTo>
                      <a:pt x="42" y="53"/>
                      <a:pt x="32" y="24"/>
                      <a:pt x="24" y="37"/>
                    </a:cubicBezTo>
                    <a:cubicBezTo>
                      <a:pt x="30" y="29"/>
                      <a:pt x="22" y="19"/>
                      <a:pt x="13" y="21"/>
                    </a:cubicBezTo>
                    <a:cubicBezTo>
                      <a:pt x="12" y="14"/>
                      <a:pt x="9" y="15"/>
                      <a:pt x="4" y="11"/>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6" name="Freeform 127"/>
              <p:cNvSpPr/>
              <p:nvPr/>
            </p:nvSpPr>
            <p:spPr>
              <a:xfrm flipH="1">
                <a:off x="7349760" y="1043280"/>
                <a:ext cx="148320" cy="155880"/>
              </a:xfrm>
              <a:custGeom>
                <a:avLst/>
                <a:gdLst>
                  <a:gd name="GluePoint1X" fmla="*/ 0 w 46"/>
                  <a:gd name="GluePoint1Y" fmla="*/ 0 h 46"/>
                  <a:gd name="GluePoint2X" fmla="*/ 2147483647 w 46"/>
                  <a:gd name="GluePoint2Y" fmla="*/ 2147483647 h 46"/>
                  <a:gd name="GluePoint3X" fmla="*/ 2147483647 w 46"/>
                  <a:gd name="GluePoint3Y" fmla="*/ 2147483647 h 46"/>
                  <a:gd name="GluePoint4X" fmla="*/ 2147483647 w 46"/>
                  <a:gd name="GluePoint4Y" fmla="*/ 2147483647 h 46"/>
                  <a:gd name="GluePoint5X" fmla="*/ 2147483647 w 46"/>
                  <a:gd name="GluePoint5Y" fmla="*/ 2147483647 h 46"/>
                  <a:gd name="GluePoint6X" fmla="*/ 2147483647 w 46"/>
                  <a:gd name="GluePoint6Y" fmla="*/ 2147483647 h 46"/>
                  <a:gd name="GluePoint7X" fmla="*/ 2147483647 w 46"/>
                  <a:gd name="GluePoint7Y" fmla="*/ 2147483647 h 46"/>
                  <a:gd name="GluePoint8X" fmla="*/ 2147483647 w 46"/>
                  <a:gd name="GluePoint8Y" fmla="*/ 2147483647 h 46"/>
                  <a:gd name="GluePoint9X" fmla="*/ 2147483647 w 46"/>
                  <a:gd name="GluePoint9Y" fmla="*/ 2147483647 h 46"/>
                  <a:gd name="GluePoint10X" fmla="*/ 658612722 w 46"/>
                  <a:gd name="GluePoint10Y" fmla="*/ 2147483647 h 4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46" h="46">
                    <a:moveTo>
                      <a:pt x="0" y="0"/>
                    </a:moveTo>
                    <a:cubicBezTo>
                      <a:pt x="3" y="3"/>
                      <a:pt x="10" y="3"/>
                      <a:pt x="14" y="4"/>
                    </a:cubicBezTo>
                    <a:cubicBezTo>
                      <a:pt x="19" y="6"/>
                      <a:pt x="24" y="10"/>
                      <a:pt x="28" y="14"/>
                    </a:cubicBezTo>
                    <a:cubicBezTo>
                      <a:pt x="37" y="22"/>
                      <a:pt x="43" y="35"/>
                      <a:pt x="46" y="46"/>
                    </a:cubicBezTo>
                    <a:cubicBezTo>
                      <a:pt x="44" y="40"/>
                      <a:pt x="32" y="20"/>
                      <a:pt x="24" y="31"/>
                    </a:cubicBezTo>
                    <a:cubicBezTo>
                      <a:pt x="27" y="29"/>
                      <a:pt x="27" y="25"/>
                      <a:pt x="26" y="21"/>
                    </a:cubicBezTo>
                    <a:cubicBezTo>
                      <a:pt x="26" y="20"/>
                      <a:pt x="24" y="17"/>
                      <a:pt x="23" y="16"/>
                    </a:cubicBezTo>
                    <a:cubicBezTo>
                      <a:pt x="21" y="14"/>
                      <a:pt x="19" y="15"/>
                      <a:pt x="17" y="14"/>
                    </a:cubicBezTo>
                    <a:cubicBezTo>
                      <a:pt x="15" y="13"/>
                      <a:pt x="14" y="11"/>
                      <a:pt x="12" y="9"/>
                    </a:cubicBezTo>
                    <a:cubicBezTo>
                      <a:pt x="10" y="6"/>
                      <a:pt x="7" y="4"/>
                      <a:pt x="3" y="2"/>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7" name="Freeform 128"/>
              <p:cNvSpPr/>
              <p:nvPr/>
            </p:nvSpPr>
            <p:spPr>
              <a:xfrm flipH="1">
                <a:off x="6627600" y="792720"/>
                <a:ext cx="295560" cy="287640"/>
              </a:xfrm>
              <a:custGeom>
                <a:avLst/>
                <a:gdLst>
                  <a:gd name="GluePoint1X" fmla="*/ 0 w 91"/>
                  <a:gd name="GluePoint1Y" fmla="*/ 2147483647 h 85"/>
                  <a:gd name="GluePoint2X" fmla="*/ 2147483647 w 91"/>
                  <a:gd name="GluePoint2Y" fmla="*/ 2147483647 h 85"/>
                  <a:gd name="GluePoint3X" fmla="*/ 2147483647 w 91"/>
                  <a:gd name="GluePoint3Y" fmla="*/ 2147483647 h 85"/>
                  <a:gd name="GluePoint4X" fmla="*/ 2147483647 w 91"/>
                  <a:gd name="GluePoint4Y" fmla="*/ 0 h 85"/>
                  <a:gd name="GluePoint5X" fmla="*/ 2147483647 w 91"/>
                  <a:gd name="GluePoint5Y" fmla="*/ 2147483647 h 85"/>
                  <a:gd name="GluePoint6X" fmla="*/ 2147483647 w 91"/>
                  <a:gd name="GluePoint6Y" fmla="*/ 2147483647 h 85"/>
                  <a:gd name="GluePoint7X" fmla="*/ 2147483647 w 91"/>
                  <a:gd name="GluePoint7Y" fmla="*/ 2147483647 h 85"/>
                  <a:gd name="GluePoint8X" fmla="*/ 2147483647 w 91"/>
                  <a:gd name="GluePoint8Y" fmla="*/ 2147483647 h 85"/>
                  <a:gd name="GluePoint9X" fmla="*/ 2147483647 w 91"/>
                  <a:gd name="GluePoint9Y" fmla="*/ 2147483647 h 85"/>
                  <a:gd name="GluePoint10X" fmla="*/ 746265405 w 91"/>
                  <a:gd name="GluePoint10Y" fmla="*/ 2147483647 h 85"/>
                  <a:gd name="GluePoint11X" fmla="*/ 244456359 w 91"/>
                  <a:gd name="GluePoint11Y" fmla="*/ 2147483647 h 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91" h="85">
                    <a:moveTo>
                      <a:pt x="0" y="85"/>
                    </a:moveTo>
                    <a:cubicBezTo>
                      <a:pt x="11" y="80"/>
                      <a:pt x="19" y="64"/>
                      <a:pt x="28" y="55"/>
                    </a:cubicBezTo>
                    <a:cubicBezTo>
                      <a:pt x="35" y="47"/>
                      <a:pt x="46" y="43"/>
                      <a:pt x="56" y="39"/>
                    </a:cubicBezTo>
                    <a:cubicBezTo>
                      <a:pt x="70" y="33"/>
                      <a:pt x="91" y="19"/>
                      <a:pt x="81" y="0"/>
                    </a:cubicBezTo>
                    <a:cubicBezTo>
                      <a:pt x="79" y="11"/>
                      <a:pt x="79" y="20"/>
                      <a:pt x="68" y="28"/>
                    </a:cubicBezTo>
                    <a:cubicBezTo>
                      <a:pt x="63" y="31"/>
                      <a:pt x="43" y="36"/>
                      <a:pt x="41" y="26"/>
                    </a:cubicBezTo>
                    <a:cubicBezTo>
                      <a:pt x="41" y="34"/>
                      <a:pt x="43" y="36"/>
                      <a:pt x="36" y="40"/>
                    </a:cubicBezTo>
                    <a:cubicBezTo>
                      <a:pt x="29" y="43"/>
                      <a:pt x="21" y="47"/>
                      <a:pt x="15" y="42"/>
                    </a:cubicBezTo>
                    <a:cubicBezTo>
                      <a:pt x="19" y="45"/>
                      <a:pt x="19" y="51"/>
                      <a:pt x="17" y="55"/>
                    </a:cubicBezTo>
                    <a:cubicBezTo>
                      <a:pt x="15" y="61"/>
                      <a:pt x="9" y="63"/>
                      <a:pt x="3" y="64"/>
                    </a:cubicBezTo>
                    <a:cubicBezTo>
                      <a:pt x="8" y="68"/>
                      <a:pt x="1" y="75"/>
                      <a:pt x="1" y="78"/>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48" name="Freeform 129"/>
              <p:cNvSpPr/>
              <p:nvPr/>
            </p:nvSpPr>
            <p:spPr>
              <a:xfrm flipH="1">
                <a:off x="6940080" y="410040"/>
                <a:ext cx="116280" cy="57600"/>
              </a:xfrm>
              <a:custGeom>
                <a:avLst/>
                <a:gdLst>
                  <a:gd name="GluePoint1X" fmla="*/ 1334261594 w 36"/>
                  <a:gd name="GluePoint1Y" fmla="*/ 0 h 17"/>
                  <a:gd name="GluePoint2X" fmla="*/ 0 w 36"/>
                  <a:gd name="GluePoint2Y" fmla="*/ 2147483647 h 17"/>
                  <a:gd name="GluePoint3X" fmla="*/ 2147483647 w 36"/>
                  <a:gd name="GluePoint3Y" fmla="*/ 2147483647 h 17"/>
                  <a:gd name="GluePoint4X" fmla="*/ 2147483647 w 36"/>
                  <a:gd name="GluePoint4Y" fmla="*/ 2147483647 h 17"/>
                  <a:gd name="GluePoint5X" fmla="*/ 2147483647 w 36"/>
                  <a:gd name="GluePoint5Y" fmla="*/ 2147483647 h 17"/>
                  <a:gd name="GluePoint6X" fmla="*/ 1998783177 w 36"/>
                  <a:gd name="GluePoint6Y" fmla="*/ 871218889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6" h="17">
                    <a:moveTo>
                      <a:pt x="6" y="0"/>
                    </a:moveTo>
                    <a:cubicBezTo>
                      <a:pt x="2" y="4"/>
                      <a:pt x="1" y="13"/>
                      <a:pt x="0" y="17"/>
                    </a:cubicBezTo>
                    <a:cubicBezTo>
                      <a:pt x="10" y="13"/>
                      <a:pt x="26" y="11"/>
                      <a:pt x="36" y="14"/>
                    </a:cubicBezTo>
                    <a:cubicBezTo>
                      <a:pt x="34" y="14"/>
                      <a:pt x="33" y="13"/>
                      <a:pt x="31" y="13"/>
                    </a:cubicBezTo>
                    <a:cubicBezTo>
                      <a:pt x="26" y="12"/>
                      <a:pt x="22" y="13"/>
                      <a:pt x="17" y="12"/>
                    </a:cubicBezTo>
                    <a:cubicBezTo>
                      <a:pt x="12" y="12"/>
                      <a:pt x="6" y="7"/>
                      <a:pt x="9" y="1"/>
                    </a:cubicBezTo>
                  </a:path>
                </a:pathLst>
              </a:custGeom>
              <a:solidFill>
                <a:srgbClr val="d7d4df"/>
              </a:solidFill>
              <a:ln w="0">
                <a:noFill/>
              </a:ln>
            </p:spPr>
            <p:style>
              <a:lnRef idx="0"/>
              <a:fillRef idx="0"/>
              <a:effectRef idx="0"/>
              <a:fontRef idx="minor"/>
            </p:style>
            <p:txBody>
              <a:bodyPr lIns="90000" rIns="90000" tIns="10800" bIns="10800" anchor="t">
                <a:noAutofit/>
              </a:bodyPr>
              <a:p>
                <a:endParaRPr b="0" lang="en-US" sz="2400" strike="noStrike" u="none">
                  <a:solidFill>
                    <a:srgbClr val="ffff00"/>
                  </a:solidFill>
                  <a:effectLst/>
                  <a:uFillTx/>
                  <a:latin typeface="Times New Roman"/>
                </a:endParaRPr>
              </a:p>
            </p:txBody>
          </p:sp>
          <p:sp>
            <p:nvSpPr>
              <p:cNvPr id="349" name="Freeform 130"/>
              <p:cNvSpPr/>
              <p:nvPr/>
            </p:nvSpPr>
            <p:spPr>
              <a:xfrm flipH="1">
                <a:off x="6906600" y="771840"/>
                <a:ext cx="477720" cy="139680"/>
              </a:xfrm>
              <a:custGeom>
                <a:avLst/>
                <a:gdLst>
                  <a:gd name="GluePoint1X" fmla="*/ 0 w 147"/>
                  <a:gd name="GluePoint1Y" fmla="*/ 2147483647 h 41"/>
                  <a:gd name="GluePoint2X" fmla="*/ 2147483647 w 147"/>
                  <a:gd name="GluePoint2Y" fmla="*/ 2147483647 h 41"/>
                  <a:gd name="GluePoint3X" fmla="*/ 2147483647 w 147"/>
                  <a:gd name="GluePoint3Y" fmla="*/ 2147483647 h 41"/>
                  <a:gd name="GluePoint4X" fmla="*/ 2147483647 w 147"/>
                  <a:gd name="GluePoint4Y" fmla="*/ 2147483647 h 41"/>
                  <a:gd name="GluePoint5X" fmla="*/ 2147483647 w 147"/>
                  <a:gd name="GluePoint5Y" fmla="*/ 2147483647 h 41"/>
                  <a:gd name="GluePoint6X" fmla="*/ 2147483647 w 147"/>
                  <a:gd name="GluePoint6Y" fmla="*/ 2147483647 h 41"/>
                  <a:gd name="GluePoint7X" fmla="*/ 2147483647 w 147"/>
                  <a:gd name="GluePoint7Y" fmla="*/ 0 h 41"/>
                  <a:gd name="GluePoint8X" fmla="*/ 2147483647 w 147"/>
                  <a:gd name="GluePoint8Y" fmla="*/ 2147483647 h 41"/>
                  <a:gd name="GluePoint9X" fmla="*/ 2147483647 w 147"/>
                  <a:gd name="GluePoint9Y" fmla="*/ 2147483647 h 41"/>
                  <a:gd name="GluePoint10X" fmla="*/ 2147483647 w 147"/>
                  <a:gd name="GluePoint10Y" fmla="*/ 2147483647 h 41"/>
                  <a:gd name="GluePoint11X" fmla="*/ 246121983 w 147"/>
                  <a:gd name="GluePoint11Y" fmla="*/ 2147483647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147" h="41">
                    <a:moveTo>
                      <a:pt x="0" y="26"/>
                    </a:moveTo>
                    <a:cubicBezTo>
                      <a:pt x="8" y="41"/>
                      <a:pt x="27" y="26"/>
                      <a:pt x="36" y="23"/>
                    </a:cubicBezTo>
                    <a:cubicBezTo>
                      <a:pt x="49" y="19"/>
                      <a:pt x="62" y="19"/>
                      <a:pt x="75" y="21"/>
                    </a:cubicBezTo>
                    <a:cubicBezTo>
                      <a:pt x="100" y="24"/>
                      <a:pt x="135" y="32"/>
                      <a:pt x="147" y="5"/>
                    </a:cubicBezTo>
                    <a:cubicBezTo>
                      <a:pt x="141" y="11"/>
                      <a:pt x="137" y="17"/>
                      <a:pt x="128" y="18"/>
                    </a:cubicBezTo>
                    <a:cubicBezTo>
                      <a:pt x="117" y="20"/>
                      <a:pt x="108" y="15"/>
                      <a:pt x="108" y="3"/>
                    </a:cubicBezTo>
                    <a:cubicBezTo>
                      <a:pt x="108" y="23"/>
                      <a:pt x="75" y="11"/>
                      <a:pt x="70" y="0"/>
                    </a:cubicBezTo>
                    <a:cubicBezTo>
                      <a:pt x="69" y="7"/>
                      <a:pt x="68" y="11"/>
                      <a:pt x="61" y="10"/>
                    </a:cubicBezTo>
                    <a:cubicBezTo>
                      <a:pt x="57" y="10"/>
                      <a:pt x="44" y="7"/>
                      <a:pt x="43" y="2"/>
                    </a:cubicBezTo>
                    <a:cubicBezTo>
                      <a:pt x="45" y="12"/>
                      <a:pt x="37" y="17"/>
                      <a:pt x="27" y="16"/>
                    </a:cubicBezTo>
                    <a:cubicBezTo>
                      <a:pt x="29" y="21"/>
                      <a:pt x="16" y="33"/>
                      <a:pt x="1" y="28"/>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0" name="Freeform 131"/>
              <p:cNvSpPr/>
              <p:nvPr/>
            </p:nvSpPr>
            <p:spPr>
              <a:xfrm flipH="1">
                <a:off x="4807440" y="385560"/>
                <a:ext cx="201600" cy="308160"/>
              </a:xfrm>
              <a:custGeom>
                <a:avLst/>
                <a:gdLst>
                  <a:gd name="GluePoint1X" fmla="*/ 2147483647 w 62"/>
                  <a:gd name="GluePoint1Y" fmla="*/ 0 h 91"/>
                  <a:gd name="GluePoint2X" fmla="*/ 2147483647 w 62"/>
                  <a:gd name="GluePoint2Y" fmla="*/ 2147483647 h 91"/>
                  <a:gd name="GluePoint3X" fmla="*/ 2147483647 w 62"/>
                  <a:gd name="GluePoint3Y" fmla="*/ 2147483647 h 91"/>
                  <a:gd name="GluePoint4X" fmla="*/ 2147483647 w 62"/>
                  <a:gd name="GluePoint4Y" fmla="*/ 2147483647 h 91"/>
                  <a:gd name="GluePoint5X" fmla="*/ 0 w 62"/>
                  <a:gd name="GluePoint5Y" fmla="*/ 2147483647 h 91"/>
                  <a:gd name="GluePoint6X" fmla="*/ 2147483647 w 62"/>
                  <a:gd name="GluePoint6Y" fmla="*/ 2147483647 h 91"/>
                  <a:gd name="GluePoint7X" fmla="*/ 2147483647 w 62"/>
                  <a:gd name="GluePoint7Y" fmla="*/ 2147483647 h 91"/>
                  <a:gd name="GluePoint8X" fmla="*/ 2147483647 w 62"/>
                  <a:gd name="GluePoint8Y" fmla="*/ 2147483647 h 91"/>
                  <a:gd name="GluePoint9X" fmla="*/ 2147483647 w 62"/>
                  <a:gd name="GluePoint9Y" fmla="*/ 2147483647 h 9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2" h="91">
                    <a:moveTo>
                      <a:pt x="26" y="0"/>
                    </a:moveTo>
                    <a:cubicBezTo>
                      <a:pt x="30" y="3"/>
                      <a:pt x="34" y="5"/>
                      <a:pt x="38" y="8"/>
                    </a:cubicBezTo>
                    <a:cubicBezTo>
                      <a:pt x="44" y="12"/>
                      <a:pt x="49" y="17"/>
                      <a:pt x="54" y="22"/>
                    </a:cubicBezTo>
                    <a:cubicBezTo>
                      <a:pt x="62" y="31"/>
                      <a:pt x="60" y="42"/>
                      <a:pt x="55" y="53"/>
                    </a:cubicBezTo>
                    <a:cubicBezTo>
                      <a:pt x="46" y="72"/>
                      <a:pt x="22" y="91"/>
                      <a:pt x="0" y="79"/>
                    </a:cubicBezTo>
                    <a:cubicBezTo>
                      <a:pt x="18" y="82"/>
                      <a:pt x="36" y="70"/>
                      <a:pt x="45" y="55"/>
                    </a:cubicBezTo>
                    <a:cubicBezTo>
                      <a:pt x="50" y="47"/>
                      <a:pt x="50" y="36"/>
                      <a:pt x="48" y="27"/>
                    </a:cubicBezTo>
                    <a:cubicBezTo>
                      <a:pt x="48" y="22"/>
                      <a:pt x="46" y="18"/>
                      <a:pt x="43" y="14"/>
                    </a:cubicBezTo>
                    <a:cubicBezTo>
                      <a:pt x="41" y="11"/>
                      <a:pt x="37" y="6"/>
                      <a:pt x="34" y="5"/>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1" name="Freeform 132"/>
              <p:cNvSpPr/>
              <p:nvPr/>
            </p:nvSpPr>
            <p:spPr>
              <a:xfrm flipH="1">
                <a:off x="5174640" y="403200"/>
                <a:ext cx="78480" cy="124560"/>
              </a:xfrm>
              <a:custGeom>
                <a:avLst/>
                <a:gdLst>
                  <a:gd name="GluePoint1X" fmla="*/ 0 w 24"/>
                  <a:gd name="GluePoint1Y" fmla="*/ 2147483647 h 37"/>
                  <a:gd name="GluePoint2X" fmla="*/ 2147483647 w 24"/>
                  <a:gd name="GluePoint2Y" fmla="*/ 0 h 37"/>
                  <a:gd name="GluePoint3X" fmla="*/ 2147483647 w 24"/>
                  <a:gd name="GluePoint3Y" fmla="*/ 2147483647 h 37"/>
                  <a:gd name="GluePoint4X" fmla="*/ 2147483647 w 24"/>
                  <a:gd name="GluePoint4Y" fmla="*/ 2147483647 h 37"/>
                  <a:gd name="GluePoint5X" fmla="*/ 1765527064 w 24"/>
                  <a:gd name="GluePoint5Y" fmla="*/ 2147483647 h 3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4" h="37">
                    <a:moveTo>
                      <a:pt x="0" y="18"/>
                    </a:moveTo>
                    <a:cubicBezTo>
                      <a:pt x="11" y="15"/>
                      <a:pt x="19" y="11"/>
                      <a:pt x="24" y="0"/>
                    </a:cubicBezTo>
                    <a:cubicBezTo>
                      <a:pt x="22" y="6"/>
                      <a:pt x="21" y="12"/>
                      <a:pt x="19" y="17"/>
                    </a:cubicBezTo>
                    <a:cubicBezTo>
                      <a:pt x="16" y="24"/>
                      <a:pt x="13" y="30"/>
                      <a:pt x="10" y="37"/>
                    </a:cubicBezTo>
                    <a:cubicBezTo>
                      <a:pt x="12" y="34"/>
                      <a:pt x="12" y="20"/>
                      <a:pt x="6" y="21"/>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2" name="Freeform 133"/>
              <p:cNvSpPr/>
              <p:nvPr/>
            </p:nvSpPr>
            <p:spPr>
              <a:xfrm flipH="1">
                <a:off x="5171760" y="569160"/>
                <a:ext cx="285840" cy="121680"/>
              </a:xfrm>
              <a:custGeom>
                <a:avLst/>
                <a:gdLst>
                  <a:gd name="GluePoint1X" fmla="*/ 0 w 88"/>
                  <a:gd name="GluePoint1Y" fmla="*/ 0 h 36"/>
                  <a:gd name="GluePoint2X" fmla="*/ 2147483647 w 88"/>
                  <a:gd name="GluePoint2Y" fmla="*/ 2147483647 h 36"/>
                  <a:gd name="GluePoint3X" fmla="*/ 2147483647 w 88"/>
                  <a:gd name="GluePoint3Y" fmla="*/ 2147483647 h 36"/>
                  <a:gd name="GluePoint4X" fmla="*/ 2147483647 w 88"/>
                  <a:gd name="GluePoint4Y" fmla="*/ 2147483647 h 36"/>
                  <a:gd name="GluePoint5X" fmla="*/ 2147483647 w 88"/>
                  <a:gd name="GluePoint5Y" fmla="*/ 2147483647 h 36"/>
                  <a:gd name="GluePoint6X" fmla="*/ 2147483647 w 88"/>
                  <a:gd name="GluePoint6Y" fmla="*/ 2147483647 h 36"/>
                  <a:gd name="GluePoint7X" fmla="*/ 2147483647 w 88"/>
                  <a:gd name="GluePoint7Y" fmla="*/ 2147483647 h 36"/>
                  <a:gd name="GluePoint8X" fmla="*/ 743519716 w 88"/>
                  <a:gd name="GluePoint8Y" fmla="*/ 0 h 3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88" h="36">
                    <a:moveTo>
                      <a:pt x="0" y="0"/>
                    </a:moveTo>
                    <a:cubicBezTo>
                      <a:pt x="4" y="23"/>
                      <a:pt x="27" y="20"/>
                      <a:pt x="45" y="26"/>
                    </a:cubicBezTo>
                    <a:cubicBezTo>
                      <a:pt x="53" y="28"/>
                      <a:pt x="60" y="33"/>
                      <a:pt x="68" y="34"/>
                    </a:cubicBezTo>
                    <a:cubicBezTo>
                      <a:pt x="78" y="36"/>
                      <a:pt x="83" y="31"/>
                      <a:pt x="88" y="23"/>
                    </a:cubicBezTo>
                    <a:cubicBezTo>
                      <a:pt x="83" y="26"/>
                      <a:pt x="75" y="31"/>
                      <a:pt x="69" y="29"/>
                    </a:cubicBezTo>
                    <a:cubicBezTo>
                      <a:pt x="65" y="27"/>
                      <a:pt x="61" y="20"/>
                      <a:pt x="64" y="15"/>
                    </a:cubicBezTo>
                    <a:cubicBezTo>
                      <a:pt x="57" y="25"/>
                      <a:pt x="36" y="21"/>
                      <a:pt x="37" y="8"/>
                    </a:cubicBezTo>
                    <a:cubicBezTo>
                      <a:pt x="24" y="21"/>
                      <a:pt x="15" y="6"/>
                      <a:pt x="3" y="0"/>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3" name="Freeform 134"/>
              <p:cNvSpPr/>
              <p:nvPr/>
            </p:nvSpPr>
            <p:spPr>
              <a:xfrm flipH="1">
                <a:off x="5447880" y="545760"/>
                <a:ext cx="361080" cy="124560"/>
              </a:xfrm>
              <a:custGeom>
                <a:avLst/>
                <a:gdLst>
                  <a:gd name="GluePoint1X" fmla="*/ 0 w 111"/>
                  <a:gd name="GluePoint1Y" fmla="*/ 2147483647 h 37"/>
                  <a:gd name="GluePoint2X" fmla="*/ 2147483647 w 111"/>
                  <a:gd name="GluePoint2Y" fmla="*/ 2147483647 h 37"/>
                  <a:gd name="GluePoint3X" fmla="*/ 2147483647 w 111"/>
                  <a:gd name="GluePoint3Y" fmla="*/ 2147483647 h 37"/>
                  <a:gd name="GluePoint4X" fmla="*/ 2147483647 w 111"/>
                  <a:gd name="GluePoint4Y" fmla="*/ 2147483647 h 37"/>
                  <a:gd name="GluePoint5X" fmla="*/ 2147483647 w 111"/>
                  <a:gd name="GluePoint5Y" fmla="*/ 2147483647 h 37"/>
                  <a:gd name="GluePoint6X" fmla="*/ 2147483647 w 111"/>
                  <a:gd name="GluePoint6Y" fmla="*/ 0 h 37"/>
                  <a:gd name="GluePoint7X" fmla="*/ 2147483647 w 111"/>
                  <a:gd name="GluePoint7Y" fmla="*/ 2147483647 h 37"/>
                  <a:gd name="GluePoint8X" fmla="*/ 2147483647 w 111"/>
                  <a:gd name="GluePoint8Y" fmla="*/ 2147483647 h 37"/>
                  <a:gd name="GluePoint9X" fmla="*/ 2147483647 w 111"/>
                  <a:gd name="GluePoint9Y" fmla="*/ 2147483647 h 37"/>
                  <a:gd name="GluePoint10X" fmla="*/ 2147483647 w 111"/>
                  <a:gd name="GluePoint10Y" fmla="*/ 2147483647 h 37"/>
                  <a:gd name="GluePoint11X" fmla="*/ 2147483647 w 111"/>
                  <a:gd name="GluePoint11Y" fmla="*/ 2147483647 h 37"/>
                  <a:gd name="GluePoint12X" fmla="*/ 2147483647 w 111"/>
                  <a:gd name="GluePoint12Y" fmla="*/ 2147483647 h 3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l" t="t" r="r" b="b"/>
                <a:pathLst>
                  <a:path w="111" h="37">
                    <a:moveTo>
                      <a:pt x="0" y="20"/>
                    </a:moveTo>
                    <a:cubicBezTo>
                      <a:pt x="8" y="25"/>
                      <a:pt x="22" y="23"/>
                      <a:pt x="32" y="24"/>
                    </a:cubicBezTo>
                    <a:cubicBezTo>
                      <a:pt x="43" y="25"/>
                      <a:pt x="54" y="25"/>
                      <a:pt x="64" y="27"/>
                    </a:cubicBezTo>
                    <a:cubicBezTo>
                      <a:pt x="72" y="29"/>
                      <a:pt x="79" y="31"/>
                      <a:pt x="86" y="34"/>
                    </a:cubicBezTo>
                    <a:cubicBezTo>
                      <a:pt x="93" y="37"/>
                      <a:pt x="105" y="37"/>
                      <a:pt x="111" y="33"/>
                    </a:cubicBezTo>
                    <a:cubicBezTo>
                      <a:pt x="97" y="26"/>
                      <a:pt x="96" y="14"/>
                      <a:pt x="94" y="0"/>
                    </a:cubicBezTo>
                    <a:cubicBezTo>
                      <a:pt x="93" y="7"/>
                      <a:pt x="94" y="20"/>
                      <a:pt x="86" y="23"/>
                    </a:cubicBezTo>
                    <a:cubicBezTo>
                      <a:pt x="80" y="25"/>
                      <a:pt x="69" y="19"/>
                      <a:pt x="70" y="12"/>
                    </a:cubicBezTo>
                    <a:cubicBezTo>
                      <a:pt x="67" y="15"/>
                      <a:pt x="66" y="20"/>
                      <a:pt x="60" y="20"/>
                    </a:cubicBezTo>
                    <a:cubicBezTo>
                      <a:pt x="54" y="21"/>
                      <a:pt x="46" y="15"/>
                      <a:pt x="44" y="10"/>
                    </a:cubicBezTo>
                    <a:cubicBezTo>
                      <a:pt x="37" y="14"/>
                      <a:pt x="35" y="18"/>
                      <a:pt x="27" y="17"/>
                    </a:cubicBezTo>
                    <a:cubicBezTo>
                      <a:pt x="23" y="17"/>
                      <a:pt x="18" y="16"/>
                      <a:pt x="13" y="15"/>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4" name="Freeform 135"/>
              <p:cNvSpPr/>
              <p:nvPr/>
            </p:nvSpPr>
            <p:spPr>
              <a:xfrm flipH="1">
                <a:off x="4924800" y="1185840"/>
                <a:ext cx="448200" cy="457560"/>
              </a:xfrm>
              <a:custGeom>
                <a:avLst/>
                <a:gdLst>
                  <a:gd name="GluePoint1X" fmla="*/ 2147483647 w 138"/>
                  <a:gd name="GluePoint1Y" fmla="*/ 0 h 135"/>
                  <a:gd name="GluePoint2X" fmla="*/ 2147483647 w 138"/>
                  <a:gd name="GluePoint2Y" fmla="*/ 2147483647 h 135"/>
                  <a:gd name="GluePoint3X" fmla="*/ 2147483647 w 138"/>
                  <a:gd name="GluePoint3Y" fmla="*/ 2147483647 h 135"/>
                  <a:gd name="GluePoint4X" fmla="*/ 2147483647 w 138"/>
                  <a:gd name="GluePoint4Y" fmla="*/ 2147483647 h 135"/>
                  <a:gd name="GluePoint5X" fmla="*/ 0 w 138"/>
                  <a:gd name="GluePoint5Y" fmla="*/ 2147483647 h 135"/>
                  <a:gd name="GluePoint6X" fmla="*/ 2147483647 w 138"/>
                  <a:gd name="GluePoint6Y" fmla="*/ 2147483647 h 135"/>
                  <a:gd name="GluePoint7X" fmla="*/ 2147483647 w 138"/>
                  <a:gd name="GluePoint7Y" fmla="*/ 2147483647 h 135"/>
                  <a:gd name="GluePoint8X" fmla="*/ 2147483647 w 138"/>
                  <a:gd name="GluePoint8Y" fmla="*/ 0 h 1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138" h="135">
                    <a:moveTo>
                      <a:pt x="124" y="0"/>
                    </a:moveTo>
                    <a:cubicBezTo>
                      <a:pt x="126" y="22"/>
                      <a:pt x="138" y="53"/>
                      <a:pt x="127" y="71"/>
                    </a:cubicBezTo>
                    <a:cubicBezTo>
                      <a:pt x="117" y="90"/>
                      <a:pt x="109" y="89"/>
                      <a:pt x="101" y="98"/>
                    </a:cubicBezTo>
                    <a:cubicBezTo>
                      <a:pt x="94" y="108"/>
                      <a:pt x="70" y="121"/>
                      <a:pt x="53" y="127"/>
                    </a:cubicBezTo>
                    <a:cubicBezTo>
                      <a:pt x="36" y="132"/>
                      <a:pt x="7" y="135"/>
                      <a:pt x="0" y="128"/>
                    </a:cubicBezTo>
                    <a:cubicBezTo>
                      <a:pt x="18" y="129"/>
                      <a:pt x="52" y="118"/>
                      <a:pt x="64" y="106"/>
                    </a:cubicBezTo>
                    <a:cubicBezTo>
                      <a:pt x="76" y="95"/>
                      <a:pt x="92" y="91"/>
                      <a:pt x="107" y="79"/>
                    </a:cubicBezTo>
                    <a:cubicBezTo>
                      <a:pt x="122" y="67"/>
                      <a:pt x="134" y="26"/>
                      <a:pt x="124" y="0"/>
                    </a:cubicBez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5" name="Freeform 136"/>
              <p:cNvSpPr/>
              <p:nvPr/>
            </p:nvSpPr>
            <p:spPr>
              <a:xfrm flipH="1">
                <a:off x="4444560" y="1342080"/>
                <a:ext cx="672480" cy="545040"/>
              </a:xfrm>
              <a:custGeom>
                <a:avLst/>
                <a:gdLst>
                  <a:gd name="GluePoint1X" fmla="*/ 0 w 207"/>
                  <a:gd name="GluePoint1Y" fmla="*/ 2147483647 h 161"/>
                  <a:gd name="GluePoint2X" fmla="*/ 2147483647 w 207"/>
                  <a:gd name="GluePoint2Y" fmla="*/ 2147483647 h 161"/>
                  <a:gd name="GluePoint3X" fmla="*/ 2147483647 w 207"/>
                  <a:gd name="GluePoint3Y" fmla="*/ 2147483647 h 161"/>
                  <a:gd name="GluePoint4X" fmla="*/ 2147483647 w 207"/>
                  <a:gd name="GluePoint4Y" fmla="*/ 2147483647 h 161"/>
                  <a:gd name="GluePoint5X" fmla="*/ 2147483647 w 207"/>
                  <a:gd name="GluePoint5Y" fmla="*/ 0 h 161"/>
                  <a:gd name="GluePoint6X" fmla="*/ 2147483647 w 207"/>
                  <a:gd name="GluePoint6Y" fmla="*/ 2147483647 h 161"/>
                  <a:gd name="GluePoint7X" fmla="*/ 2147483647 w 207"/>
                  <a:gd name="GluePoint7Y" fmla="*/ 2147483647 h 161"/>
                  <a:gd name="GluePoint8X" fmla="*/ 2147483647 w 207"/>
                  <a:gd name="GluePoint8Y" fmla="*/ 2147483647 h 161"/>
                  <a:gd name="GluePoint9X" fmla="*/ 2147483647 w 207"/>
                  <a:gd name="GluePoint9Y" fmla="*/ 2147483647 h 161"/>
                  <a:gd name="GluePoint10X" fmla="*/ 0 w 207"/>
                  <a:gd name="GluePoint10Y" fmla="*/ 2147483647 h 1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207" h="161">
                    <a:moveTo>
                      <a:pt x="0" y="158"/>
                    </a:moveTo>
                    <a:cubicBezTo>
                      <a:pt x="25" y="158"/>
                      <a:pt x="104" y="146"/>
                      <a:pt x="139" y="120"/>
                    </a:cubicBezTo>
                    <a:cubicBezTo>
                      <a:pt x="174" y="94"/>
                      <a:pt x="182" y="85"/>
                      <a:pt x="186" y="74"/>
                    </a:cubicBezTo>
                    <a:cubicBezTo>
                      <a:pt x="190" y="63"/>
                      <a:pt x="200" y="34"/>
                      <a:pt x="204" y="22"/>
                    </a:cubicBezTo>
                    <a:cubicBezTo>
                      <a:pt x="207" y="10"/>
                      <a:pt x="204" y="0"/>
                      <a:pt x="204" y="0"/>
                    </a:cubicBezTo>
                    <a:cubicBezTo>
                      <a:pt x="203" y="14"/>
                      <a:pt x="198" y="18"/>
                      <a:pt x="194" y="32"/>
                    </a:cubicBezTo>
                    <a:cubicBezTo>
                      <a:pt x="190" y="46"/>
                      <a:pt x="183" y="68"/>
                      <a:pt x="171" y="79"/>
                    </a:cubicBezTo>
                    <a:cubicBezTo>
                      <a:pt x="160" y="90"/>
                      <a:pt x="145" y="102"/>
                      <a:pt x="141" y="101"/>
                    </a:cubicBezTo>
                    <a:cubicBezTo>
                      <a:pt x="143" y="107"/>
                      <a:pt x="132" y="122"/>
                      <a:pt x="119" y="124"/>
                    </a:cubicBezTo>
                    <a:cubicBezTo>
                      <a:pt x="115" y="131"/>
                      <a:pt x="27" y="161"/>
                      <a:pt x="0" y="158"/>
                    </a:cubicBezTo>
                    <a:close/>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6" name="Freeform 137"/>
              <p:cNvSpPr/>
              <p:nvPr/>
            </p:nvSpPr>
            <p:spPr>
              <a:xfrm flipH="1">
                <a:off x="5171400" y="1832400"/>
                <a:ext cx="393480" cy="50400"/>
              </a:xfrm>
              <a:custGeom>
                <a:avLst/>
                <a:gdLst>
                  <a:gd name="GluePoint1X" fmla="*/ 0 w 121"/>
                  <a:gd name="GluePoint1Y" fmla="*/ 846749092 h 15"/>
                  <a:gd name="GluePoint2X" fmla="*/ 2147483647 w 121"/>
                  <a:gd name="GluePoint2Y" fmla="*/ 2147483647 h 15"/>
                  <a:gd name="GluePoint3X" fmla="*/ 2147483647 w 121"/>
                  <a:gd name="GluePoint3Y" fmla="*/ 2147483647 h 15"/>
                  <a:gd name="GluePoint4X" fmla="*/ 2147483647 w 121"/>
                  <a:gd name="GluePoint4Y" fmla="*/ 2147483647 h 15"/>
                  <a:gd name="GluePoint5X" fmla="*/ 2147483647 w 121"/>
                  <a:gd name="GluePoint5Y" fmla="*/ 0 h 15"/>
                  <a:gd name="GluePoint6X" fmla="*/ 2147483647 w 121"/>
                  <a:gd name="GluePoint6Y" fmla="*/ 2147483647 h 15"/>
                  <a:gd name="GluePoint7X" fmla="*/ 2147483647 w 121"/>
                  <a:gd name="GluePoint7Y" fmla="*/ 2088647760 h 15"/>
                  <a:gd name="GluePoint8X" fmla="*/ 2147483647 w 121"/>
                  <a:gd name="GluePoint8Y" fmla="*/ 0 h 15"/>
                  <a:gd name="GluePoint9X" fmla="*/ 2147483647 w 121"/>
                  <a:gd name="GluePoint9Y" fmla="*/ 2147483647 h 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121" h="15">
                    <a:moveTo>
                      <a:pt x="0" y="1"/>
                    </a:moveTo>
                    <a:cubicBezTo>
                      <a:pt x="18" y="4"/>
                      <a:pt x="36" y="8"/>
                      <a:pt x="53" y="11"/>
                    </a:cubicBezTo>
                    <a:cubicBezTo>
                      <a:pt x="64" y="13"/>
                      <a:pt x="74" y="12"/>
                      <a:pt x="84" y="12"/>
                    </a:cubicBezTo>
                    <a:cubicBezTo>
                      <a:pt x="96" y="11"/>
                      <a:pt x="110" y="14"/>
                      <a:pt x="121" y="11"/>
                    </a:cubicBezTo>
                    <a:cubicBezTo>
                      <a:pt x="112" y="10"/>
                      <a:pt x="94" y="15"/>
                      <a:pt x="96" y="0"/>
                    </a:cubicBezTo>
                    <a:cubicBezTo>
                      <a:pt x="91" y="1"/>
                      <a:pt x="90" y="7"/>
                      <a:pt x="84" y="8"/>
                    </a:cubicBezTo>
                    <a:cubicBezTo>
                      <a:pt x="79" y="10"/>
                      <a:pt x="72" y="6"/>
                      <a:pt x="69" y="2"/>
                    </a:cubicBezTo>
                    <a:cubicBezTo>
                      <a:pt x="63" y="4"/>
                      <a:pt x="43" y="13"/>
                      <a:pt x="41" y="0"/>
                    </a:cubicBezTo>
                    <a:cubicBezTo>
                      <a:pt x="36" y="3"/>
                      <a:pt x="19" y="6"/>
                      <a:pt x="14" y="3"/>
                    </a:cubicBezTo>
                  </a:path>
                </a:pathLst>
              </a:custGeom>
              <a:solidFill>
                <a:srgbClr val="d7d4df"/>
              </a:solidFill>
              <a:ln w="0">
                <a:noFill/>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357" name="Freeform 138"/>
              <p:cNvSpPr/>
              <p:nvPr/>
            </p:nvSpPr>
            <p:spPr>
              <a:xfrm flipH="1">
                <a:off x="5980320" y="843120"/>
                <a:ext cx="897120" cy="592920"/>
              </a:xfrm>
              <a:custGeom>
                <a:avLst/>
                <a:gdLst>
                  <a:gd name="GluePoint1X" fmla="*/ 2147483647 w 276"/>
                  <a:gd name="GluePoint1Y" fmla="*/ 2147483647 h 175"/>
                  <a:gd name="GluePoint2X" fmla="*/ 2147483647 w 276"/>
                  <a:gd name="GluePoint2Y" fmla="*/ 2147483647 h 175"/>
                  <a:gd name="GluePoint3X" fmla="*/ 2147483647 w 276"/>
                  <a:gd name="GluePoint3Y" fmla="*/ 2147483647 h 175"/>
                  <a:gd name="GluePoint4X" fmla="*/ 2147483647 w 276"/>
                  <a:gd name="GluePoint4Y" fmla="*/ 2147483647 h 175"/>
                  <a:gd name="GluePoint5X" fmla="*/ 2147483647 w 276"/>
                  <a:gd name="GluePoint5Y" fmla="*/ 2147483647 h 175"/>
                  <a:gd name="GluePoint6X" fmla="*/ 2147483647 w 276"/>
                  <a:gd name="GluePoint6Y" fmla="*/ 2147483647 h 1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76" h="175">
                    <a:moveTo>
                      <a:pt x="17" y="142"/>
                    </a:moveTo>
                    <a:cubicBezTo>
                      <a:pt x="43" y="63"/>
                      <a:pt x="169" y="20"/>
                      <a:pt x="276" y="8"/>
                    </a:cubicBezTo>
                    <a:cubicBezTo>
                      <a:pt x="274" y="6"/>
                      <a:pt x="269" y="3"/>
                      <a:pt x="256" y="2"/>
                    </a:cubicBezTo>
                    <a:cubicBezTo>
                      <a:pt x="239" y="0"/>
                      <a:pt x="172" y="2"/>
                      <a:pt x="75" y="58"/>
                    </a:cubicBezTo>
                    <a:cubicBezTo>
                      <a:pt x="11" y="96"/>
                      <a:pt x="0" y="143"/>
                      <a:pt x="9" y="175"/>
                    </a:cubicBezTo>
                    <a:cubicBezTo>
                      <a:pt x="9" y="162"/>
                      <a:pt x="14" y="150"/>
                      <a:pt x="17" y="142"/>
                    </a:cubicBezTo>
                    <a:close/>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8" name="Freeform 139"/>
              <p:cNvSpPr/>
              <p:nvPr/>
            </p:nvSpPr>
            <p:spPr>
              <a:xfrm flipH="1">
                <a:off x="6494400" y="965160"/>
                <a:ext cx="327960" cy="268560"/>
              </a:xfrm>
              <a:custGeom>
                <a:avLst/>
                <a:gdLst>
                  <a:gd name="GluePoint1X" fmla="*/ 0 w 101"/>
                  <a:gd name="GluePoint1Y" fmla="*/ 2147483647 h 79"/>
                  <a:gd name="GluePoint2X" fmla="*/ 977145485 w 101"/>
                  <a:gd name="GluePoint2Y" fmla="*/ 2147483647 h 79"/>
                  <a:gd name="GluePoint3X" fmla="*/ 2147483647 w 101"/>
                  <a:gd name="GluePoint3Y" fmla="*/ 2147483647 h 79"/>
                  <a:gd name="GluePoint4X" fmla="*/ 2147483647 w 101"/>
                  <a:gd name="GluePoint4Y" fmla="*/ 2147483647 h 79"/>
                  <a:gd name="GluePoint5X" fmla="*/ 2147483647 w 101"/>
                  <a:gd name="GluePoint5Y" fmla="*/ 2147483647 h 79"/>
                  <a:gd name="GluePoint6X" fmla="*/ 2147483647 w 101"/>
                  <a:gd name="GluePoint6Y" fmla="*/ 0 h 79"/>
                  <a:gd name="GluePoint7X" fmla="*/ 2147483647 w 101"/>
                  <a:gd name="GluePoint7Y" fmla="*/ 2147483647 h 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01" h="79">
                    <a:moveTo>
                      <a:pt x="0" y="79"/>
                    </a:moveTo>
                    <a:cubicBezTo>
                      <a:pt x="4" y="72"/>
                      <a:pt x="6" y="61"/>
                      <a:pt x="4" y="54"/>
                    </a:cubicBezTo>
                    <a:cubicBezTo>
                      <a:pt x="11" y="72"/>
                      <a:pt x="27" y="39"/>
                      <a:pt x="30" y="34"/>
                    </a:cubicBezTo>
                    <a:cubicBezTo>
                      <a:pt x="42" y="46"/>
                      <a:pt x="53" y="24"/>
                      <a:pt x="57" y="14"/>
                    </a:cubicBezTo>
                    <a:cubicBezTo>
                      <a:pt x="60" y="20"/>
                      <a:pt x="67" y="18"/>
                      <a:pt x="72" y="15"/>
                    </a:cubicBezTo>
                    <a:cubicBezTo>
                      <a:pt x="80" y="11"/>
                      <a:pt x="80" y="3"/>
                      <a:pt x="86" y="0"/>
                    </a:cubicBezTo>
                    <a:cubicBezTo>
                      <a:pt x="89" y="5"/>
                      <a:pt x="96" y="4"/>
                      <a:pt x="101" y="2"/>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59" name="Freeform 140"/>
              <p:cNvSpPr/>
              <p:nvPr/>
            </p:nvSpPr>
            <p:spPr>
              <a:xfrm flipH="1">
                <a:off x="6033240" y="796680"/>
                <a:ext cx="279000" cy="108000"/>
              </a:xfrm>
              <a:custGeom>
                <a:avLst/>
                <a:gdLst>
                  <a:gd name="GluePoint1X" fmla="*/ 0 w 86"/>
                  <a:gd name="GluePoint1Y" fmla="*/ 2147483647 h 32"/>
                  <a:gd name="GluePoint2X" fmla="*/ 2147483647 w 86"/>
                  <a:gd name="GluePoint2Y" fmla="*/ 2147483647 h 32"/>
                  <a:gd name="GluePoint3X" fmla="*/ 2147483647 w 86"/>
                  <a:gd name="GluePoint3Y" fmla="*/ 2147483647 h 32"/>
                  <a:gd name="GluePoint4X" fmla="*/ 2147483647 w 86"/>
                  <a:gd name="GluePoint4Y" fmla="*/ 2147483647 h 32"/>
                  <a:gd name="GluePoint5X" fmla="*/ 2147483647 w 86"/>
                  <a:gd name="GluePoint5Y" fmla="*/ 0 h 32"/>
                  <a:gd name="GluePoint6X" fmla="*/ 2147483647 w 86"/>
                  <a:gd name="GluePoint6Y" fmla="*/ 2147483647 h 32"/>
                  <a:gd name="GluePoint7X" fmla="*/ 2147483647 w 86"/>
                  <a:gd name="GluePoint7Y" fmla="*/ 2147483647 h 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86" h="32">
                    <a:moveTo>
                      <a:pt x="0" y="32"/>
                    </a:moveTo>
                    <a:cubicBezTo>
                      <a:pt x="11" y="30"/>
                      <a:pt x="30" y="21"/>
                      <a:pt x="35" y="9"/>
                    </a:cubicBezTo>
                    <a:cubicBezTo>
                      <a:pt x="38" y="15"/>
                      <a:pt x="47" y="19"/>
                      <a:pt x="52" y="16"/>
                    </a:cubicBezTo>
                    <a:cubicBezTo>
                      <a:pt x="56" y="14"/>
                      <a:pt x="57" y="8"/>
                      <a:pt x="59" y="5"/>
                    </a:cubicBezTo>
                    <a:cubicBezTo>
                      <a:pt x="63" y="8"/>
                      <a:pt x="65" y="4"/>
                      <a:pt x="65" y="0"/>
                    </a:cubicBezTo>
                    <a:cubicBezTo>
                      <a:pt x="66" y="8"/>
                      <a:pt x="79" y="16"/>
                      <a:pt x="86" y="18"/>
                    </a:cubicBezTo>
                    <a:cubicBezTo>
                      <a:pt x="64" y="25"/>
                      <a:pt x="39" y="19"/>
                      <a:pt x="17" y="27"/>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0" name="Freeform 141"/>
              <p:cNvSpPr/>
              <p:nvPr/>
            </p:nvSpPr>
            <p:spPr>
              <a:xfrm flipH="1">
                <a:off x="6484680" y="1714680"/>
                <a:ext cx="58680" cy="108360"/>
              </a:xfrm>
              <a:custGeom>
                <a:avLst/>
                <a:gdLst>
                  <a:gd name="GluePoint1X" fmla="*/ 2147483647 w 18"/>
                  <a:gd name="GluePoint1Y" fmla="*/ 2147483647 h 32"/>
                  <a:gd name="GluePoint2X" fmla="*/ 273961102 w 18"/>
                  <a:gd name="GluePoint2Y" fmla="*/ 2147483647 h 32"/>
                  <a:gd name="GluePoint3X" fmla="*/ 0 w 18"/>
                  <a:gd name="GluePoint3Y" fmla="*/ 2147483647 h 32"/>
                  <a:gd name="GluePoint4X" fmla="*/ 2147483647 w 18"/>
                  <a:gd name="GluePoint4Y" fmla="*/ 0 h 32"/>
                </a:gdLst>
                <a:ahLst/>
                <a:cxnLst>
                  <a:cxn ang="0">
                    <a:pos x="GluePoint1X" y="GluePoint1Y"/>
                  </a:cxn>
                  <a:cxn ang="0">
                    <a:pos x="GluePoint2X" y="GluePoint2Y"/>
                  </a:cxn>
                  <a:cxn ang="0">
                    <a:pos x="GluePoint3X" y="GluePoint3Y"/>
                  </a:cxn>
                  <a:cxn ang="0">
                    <a:pos x="GluePoint4X" y="GluePoint4Y"/>
                  </a:cxn>
                </a:cxnLst>
                <a:rect l="l" t="t" r="r" b="b"/>
                <a:pathLst>
                  <a:path w="18" h="32">
                    <a:moveTo>
                      <a:pt x="16" y="10"/>
                    </a:moveTo>
                    <a:cubicBezTo>
                      <a:pt x="16" y="22"/>
                      <a:pt x="10" y="26"/>
                      <a:pt x="1" y="31"/>
                    </a:cubicBezTo>
                    <a:cubicBezTo>
                      <a:pt x="0" y="27"/>
                      <a:pt x="0" y="32"/>
                      <a:pt x="0" y="29"/>
                    </a:cubicBezTo>
                    <a:cubicBezTo>
                      <a:pt x="12" y="26"/>
                      <a:pt x="10" y="4"/>
                      <a:pt x="18" y="0"/>
                    </a:cubicBezTo>
                  </a:path>
                </a:pathLst>
              </a:custGeom>
              <a:solidFill>
                <a:srgbClr val="fdddb1"/>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1" name="Freeform 142"/>
              <p:cNvSpPr/>
              <p:nvPr/>
            </p:nvSpPr>
            <p:spPr>
              <a:xfrm flipH="1">
                <a:off x="6429240" y="1606320"/>
                <a:ext cx="68400" cy="73800"/>
              </a:xfrm>
              <a:custGeom>
                <a:avLst/>
                <a:gdLst>
                  <a:gd name="GluePoint1X" fmla="*/ 639242571 w 21"/>
                  <a:gd name="GluePoint1Y" fmla="*/ 2147483647 h 22"/>
                  <a:gd name="GluePoint2X" fmla="*/ 2147483647 w 21"/>
                  <a:gd name="GluePoint2Y" fmla="*/ 2147483647 h 22"/>
                  <a:gd name="GluePoint3X" fmla="*/ 2147483647 w 21"/>
                  <a:gd name="GluePoint3Y" fmla="*/ 0 h 22"/>
                  <a:gd name="GluePoint4X" fmla="*/ 1118674480 w 21"/>
                  <a:gd name="GluePoint4Y" fmla="*/ 2147483647 h 22"/>
                </a:gdLst>
                <a:ahLst/>
                <a:cxnLst>
                  <a:cxn ang="0">
                    <a:pos x="GluePoint1X" y="GluePoint1Y"/>
                  </a:cxn>
                  <a:cxn ang="0">
                    <a:pos x="GluePoint2X" y="GluePoint2Y"/>
                  </a:cxn>
                  <a:cxn ang="0">
                    <a:pos x="GluePoint3X" y="GluePoint3Y"/>
                  </a:cxn>
                  <a:cxn ang="0">
                    <a:pos x="GluePoint4X" y="GluePoint4Y"/>
                  </a:cxn>
                </a:cxnLst>
                <a:rect l="l" t="t" r="r" b="b"/>
                <a:pathLst>
                  <a:path w="21" h="22">
                    <a:moveTo>
                      <a:pt x="2" y="9"/>
                    </a:moveTo>
                    <a:cubicBezTo>
                      <a:pt x="0" y="22"/>
                      <a:pt x="18" y="18"/>
                      <a:pt x="21" y="13"/>
                    </a:cubicBezTo>
                    <a:cubicBezTo>
                      <a:pt x="16" y="10"/>
                      <a:pt x="16" y="5"/>
                      <a:pt x="15" y="0"/>
                    </a:cubicBezTo>
                    <a:cubicBezTo>
                      <a:pt x="15" y="7"/>
                      <a:pt x="11" y="10"/>
                      <a:pt x="4" y="9"/>
                    </a:cubicBezTo>
                  </a:path>
                </a:pathLst>
              </a:custGeom>
              <a:solidFill>
                <a:srgbClr val="fdddb1"/>
              </a:solidFill>
              <a:ln w="0">
                <a:noFill/>
              </a:ln>
            </p:spPr>
            <p:style>
              <a:lnRef idx="0"/>
              <a:fillRef idx="0"/>
              <a:effectRef idx="0"/>
              <a:fontRef idx="minor"/>
            </p:style>
            <p:txBody>
              <a:bodyPr lIns="90000" rIns="90000" tIns="27000" bIns="27000" anchor="t">
                <a:noAutofit/>
              </a:bodyPr>
              <a:p>
                <a:endParaRPr b="0" lang="en-US" sz="2400" strike="noStrike" u="none">
                  <a:solidFill>
                    <a:srgbClr val="ffff00"/>
                  </a:solidFill>
                  <a:effectLst/>
                  <a:uFillTx/>
                  <a:latin typeface="Times New Roman"/>
                </a:endParaRPr>
              </a:p>
            </p:txBody>
          </p:sp>
          <p:sp>
            <p:nvSpPr>
              <p:cNvPr id="362" name="Freeform 143"/>
              <p:cNvSpPr/>
              <p:nvPr/>
            </p:nvSpPr>
            <p:spPr>
              <a:xfrm flipH="1">
                <a:off x="6426000" y="1572120"/>
                <a:ext cx="61560" cy="29880"/>
              </a:xfrm>
              <a:custGeom>
                <a:avLst/>
                <a:gdLst>
                  <a:gd name="GluePoint1X" fmla="*/ 0 w 19"/>
                  <a:gd name="GluePoint1Y" fmla="*/ 2147483647 h 9"/>
                  <a:gd name="GluePoint2X" fmla="*/ 2147483647 w 19"/>
                  <a:gd name="GluePoint2Y" fmla="*/ 2147483647 h 9"/>
                  <a:gd name="GluePoint3X" fmla="*/ 2147483647 w 19"/>
                  <a:gd name="GluePoint3Y" fmla="*/ 0 h 9"/>
                </a:gdLst>
                <a:ahLst/>
                <a:cxnLst>
                  <a:cxn ang="0">
                    <a:pos x="GluePoint1X" y="GluePoint1Y"/>
                  </a:cxn>
                  <a:cxn ang="0">
                    <a:pos x="GluePoint2X" y="GluePoint2Y"/>
                  </a:cxn>
                  <a:cxn ang="0">
                    <a:pos x="GluePoint3X" y="GluePoint3Y"/>
                  </a:cxn>
                </a:cxnLst>
                <a:rect l="l" t="t" r="r" b="b"/>
                <a:pathLst>
                  <a:path w="19" h="9">
                    <a:moveTo>
                      <a:pt x="0" y="8"/>
                    </a:moveTo>
                    <a:cubicBezTo>
                      <a:pt x="4" y="6"/>
                      <a:pt x="11" y="2"/>
                      <a:pt x="12" y="9"/>
                    </a:cubicBezTo>
                    <a:cubicBezTo>
                      <a:pt x="13" y="5"/>
                      <a:pt x="15" y="1"/>
                      <a:pt x="19" y="0"/>
                    </a:cubicBezTo>
                  </a:path>
                </a:pathLst>
              </a:custGeom>
              <a:solidFill>
                <a:srgbClr val="fdddb1"/>
              </a:solidFill>
              <a:ln w="0">
                <a:noFill/>
              </a:ln>
            </p:spPr>
            <p:style>
              <a:lnRef idx="0"/>
              <a:fillRef idx="0"/>
              <a:effectRef idx="0"/>
              <a:fontRef idx="minor"/>
            </p:style>
            <p:txBody>
              <a:bodyPr lIns="90000" rIns="90000" tIns="-16920" bIns="-16920" anchor="t">
                <a:noAutofit/>
              </a:bodyPr>
              <a:p>
                <a:endParaRPr b="0" lang="en-US" sz="2400" strike="noStrike" u="none">
                  <a:solidFill>
                    <a:srgbClr val="ffff00"/>
                  </a:solidFill>
                  <a:effectLst/>
                  <a:uFillTx/>
                  <a:latin typeface="Times New Roman"/>
                </a:endParaRPr>
              </a:p>
            </p:txBody>
          </p:sp>
          <p:sp>
            <p:nvSpPr>
              <p:cNvPr id="363" name="Freeform 144"/>
              <p:cNvSpPr/>
              <p:nvPr/>
            </p:nvSpPr>
            <p:spPr>
              <a:xfrm flipH="1">
                <a:off x="6487560" y="1850400"/>
                <a:ext cx="61560" cy="257400"/>
              </a:xfrm>
              <a:custGeom>
                <a:avLst/>
                <a:gdLst>
                  <a:gd name="GluePoint1X" fmla="*/ 2147483647 w 19"/>
                  <a:gd name="GluePoint1Y" fmla="*/ 0 h 76"/>
                  <a:gd name="GluePoint2X" fmla="*/ 2147483647 w 19"/>
                  <a:gd name="GluePoint2Y" fmla="*/ 2147483647 h 76"/>
                  <a:gd name="GluePoint3X" fmla="*/ 2147483647 w 19"/>
                  <a:gd name="GluePoint3Y" fmla="*/ 2147483647 h 76"/>
                  <a:gd name="GluePoint4X" fmla="*/ 2147483647 w 19"/>
                  <a:gd name="GluePoint4Y" fmla="*/ 2147483647 h 76"/>
                  <a:gd name="GluePoint5X" fmla="*/ 0 w 19"/>
                  <a:gd name="GluePoint5Y" fmla="*/ 2147483647 h 76"/>
                  <a:gd name="GluePoint6X" fmla="*/ 2147483647 w 19"/>
                  <a:gd name="GluePoint6Y" fmla="*/ 2147483647 h 76"/>
                  <a:gd name="GluePoint7X" fmla="*/ 730673601 w 19"/>
                  <a:gd name="GluePoint7Y" fmla="*/ 2147483647 h 76"/>
                  <a:gd name="GluePoint8X" fmla="*/ 730673601 w 19"/>
                  <a:gd name="GluePoint8Y" fmla="*/ 2147483647 h 76"/>
                  <a:gd name="GluePoint9X" fmla="*/ 2147483647 w 19"/>
                  <a:gd name="GluePoint9Y" fmla="*/ 2147483647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19" h="76">
                    <a:moveTo>
                      <a:pt x="15" y="0"/>
                    </a:moveTo>
                    <a:cubicBezTo>
                      <a:pt x="16" y="6"/>
                      <a:pt x="19" y="13"/>
                      <a:pt x="18" y="19"/>
                    </a:cubicBezTo>
                    <a:cubicBezTo>
                      <a:pt x="18" y="21"/>
                      <a:pt x="14" y="23"/>
                      <a:pt x="14" y="26"/>
                    </a:cubicBezTo>
                    <a:cubicBezTo>
                      <a:pt x="13" y="28"/>
                      <a:pt x="14" y="32"/>
                      <a:pt x="14" y="34"/>
                    </a:cubicBezTo>
                    <a:cubicBezTo>
                      <a:pt x="13" y="48"/>
                      <a:pt x="17" y="69"/>
                      <a:pt x="0" y="76"/>
                    </a:cubicBezTo>
                    <a:cubicBezTo>
                      <a:pt x="3" y="69"/>
                      <a:pt x="9" y="59"/>
                      <a:pt x="9" y="51"/>
                    </a:cubicBezTo>
                    <a:cubicBezTo>
                      <a:pt x="9" y="44"/>
                      <a:pt x="5" y="44"/>
                      <a:pt x="3" y="38"/>
                    </a:cubicBezTo>
                    <a:cubicBezTo>
                      <a:pt x="1" y="32"/>
                      <a:pt x="18" y="15"/>
                      <a:pt x="3" y="13"/>
                    </a:cubicBezTo>
                    <a:cubicBezTo>
                      <a:pt x="6" y="10"/>
                      <a:pt x="12" y="8"/>
                      <a:pt x="13" y="3"/>
                    </a:cubicBezTo>
                  </a:path>
                </a:pathLst>
              </a:custGeom>
              <a:solidFill>
                <a:srgbClr val="fdddb1"/>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4" name="Freeform 145"/>
              <p:cNvSpPr/>
              <p:nvPr/>
            </p:nvSpPr>
            <p:spPr>
              <a:xfrm flipH="1">
                <a:off x="6426360" y="1684440"/>
                <a:ext cx="41760" cy="60120"/>
              </a:xfrm>
              <a:custGeom>
                <a:avLst/>
                <a:gdLst>
                  <a:gd name="GluePoint1X" fmla="*/ 2147483647 w 13"/>
                  <a:gd name="GluePoint1Y" fmla="*/ 0 h 18"/>
                  <a:gd name="GluePoint2X" fmla="*/ 516386834 w 13"/>
                  <a:gd name="GluePoint2Y" fmla="*/ 2147483647 h 18"/>
                </a:gdLst>
                <a:ahLst/>
                <a:cxnLst>
                  <a:cxn ang="0">
                    <a:pos x="GluePoint1X" y="GluePoint1Y"/>
                  </a:cxn>
                  <a:cxn ang="0">
                    <a:pos x="GluePoint2X" y="GluePoint2Y"/>
                  </a:cxn>
                </a:cxnLst>
                <a:rect l="l" t="t" r="r" b="b"/>
                <a:pathLst>
                  <a:path w="13" h="18">
                    <a:moveTo>
                      <a:pt x="13" y="0"/>
                    </a:moveTo>
                    <a:cubicBezTo>
                      <a:pt x="7" y="4"/>
                      <a:pt x="0" y="11"/>
                      <a:pt x="2" y="18"/>
                    </a:cubicBezTo>
                  </a:path>
                </a:pathLst>
              </a:custGeom>
              <a:solidFill>
                <a:srgbClr val="ffffff"/>
              </a:solidFill>
              <a:ln w="0">
                <a:noFill/>
              </a:ln>
            </p:spPr>
            <p:style>
              <a:lnRef idx="0"/>
              <a:fillRef idx="0"/>
              <a:effectRef idx="0"/>
              <a:fontRef idx="minor"/>
            </p:style>
            <p:txBody>
              <a:bodyPr lIns="90000" rIns="90000" tIns="13320" bIns="13320" anchor="t">
                <a:noAutofit/>
              </a:bodyPr>
              <a:p>
                <a:endParaRPr b="0" lang="en-US" sz="2400" strike="noStrike" u="none">
                  <a:solidFill>
                    <a:srgbClr val="ffff00"/>
                  </a:solidFill>
                  <a:effectLst/>
                  <a:uFillTx/>
                  <a:latin typeface="Times New Roman"/>
                </a:endParaRPr>
              </a:p>
            </p:txBody>
          </p:sp>
          <p:sp>
            <p:nvSpPr>
              <p:cNvPr id="365" name="Freeform 146"/>
              <p:cNvSpPr/>
              <p:nvPr/>
            </p:nvSpPr>
            <p:spPr>
              <a:xfrm flipH="1">
                <a:off x="6462720" y="1788480"/>
                <a:ext cx="19440" cy="78120"/>
              </a:xfrm>
              <a:custGeom>
                <a:avLst/>
                <a:gdLst>
                  <a:gd name="GluePoint1X" fmla="*/ 1765527064 w 6"/>
                  <a:gd name="GluePoint1Y" fmla="*/ 0 h 23"/>
                  <a:gd name="GluePoint2X" fmla="*/ 1491565999 w 6"/>
                  <a:gd name="GluePoint2Y" fmla="*/ 2147483647 h 23"/>
                </a:gdLst>
                <a:ahLst/>
                <a:cxnLst>
                  <a:cxn ang="0">
                    <a:pos x="GluePoint1X" y="GluePoint1Y"/>
                  </a:cxn>
                  <a:cxn ang="0">
                    <a:pos x="GluePoint2X" y="GluePoint2Y"/>
                  </a:cxn>
                </a:cxnLst>
                <a:rect l="l" t="t" r="r" b="b"/>
                <a:pathLst>
                  <a:path w="6" h="23">
                    <a:moveTo>
                      <a:pt x="6" y="0"/>
                    </a:moveTo>
                    <a:cubicBezTo>
                      <a:pt x="0" y="6"/>
                      <a:pt x="2" y="16"/>
                      <a:pt x="5" y="23"/>
                    </a:cubicBezTo>
                  </a:path>
                </a:pathLst>
              </a:custGeom>
              <a:solidFill>
                <a:srgbClr val="ffffff"/>
              </a:solidFill>
              <a:ln w="0">
                <a:noFill/>
              </a:ln>
            </p:spPr>
            <p:style>
              <a:lnRef idx="0"/>
              <a:fillRef idx="0"/>
              <a:effectRef idx="0"/>
              <a:fontRef idx="minor"/>
            </p:style>
            <p:txBody>
              <a:bodyPr lIns="90000" rIns="90000" tIns="31320" bIns="31320" anchor="t">
                <a:noAutofit/>
              </a:bodyPr>
              <a:p>
                <a:endParaRPr b="0" lang="en-US" sz="2400" strike="noStrike" u="none">
                  <a:solidFill>
                    <a:srgbClr val="ffff00"/>
                  </a:solidFill>
                  <a:effectLst/>
                  <a:uFillTx/>
                  <a:latin typeface="Times New Roman"/>
                </a:endParaRPr>
              </a:p>
            </p:txBody>
          </p:sp>
          <p:sp>
            <p:nvSpPr>
              <p:cNvPr id="366" name="Freeform 147"/>
              <p:cNvSpPr/>
              <p:nvPr/>
            </p:nvSpPr>
            <p:spPr>
              <a:xfrm flipH="1">
                <a:off x="6400800" y="1581840"/>
                <a:ext cx="22320" cy="61200"/>
              </a:xfrm>
              <a:custGeom>
                <a:avLst/>
                <a:gdLst>
                  <a:gd name="GluePoint1X" fmla="*/ 861305961 w 7"/>
                  <a:gd name="GluePoint1Y" fmla="*/ 0 h 18"/>
                  <a:gd name="GluePoint2X" fmla="*/ 1284907248 w 7"/>
                  <a:gd name="GluePoint2Y" fmla="*/ 2147483647 h 18"/>
                </a:gdLst>
                <a:ahLst/>
                <a:cxnLst>
                  <a:cxn ang="0">
                    <a:pos x="GluePoint1X" y="GluePoint1Y"/>
                  </a:cxn>
                  <a:cxn ang="0">
                    <a:pos x="GluePoint2X" y="GluePoint2Y"/>
                  </a:cxn>
                </a:cxnLst>
                <a:rect l="l" t="t" r="r" b="b"/>
                <a:pathLst>
                  <a:path w="7" h="18">
                    <a:moveTo>
                      <a:pt x="5" y="0"/>
                    </a:moveTo>
                    <a:cubicBezTo>
                      <a:pt x="0" y="6"/>
                      <a:pt x="0" y="13"/>
                      <a:pt x="7" y="18"/>
                    </a:cubicBezTo>
                  </a:path>
                </a:pathLst>
              </a:custGeom>
              <a:solidFill>
                <a:srgbClr val="ffffff"/>
              </a:solidFill>
              <a:ln w="0">
                <a:noFill/>
              </a:ln>
            </p:spPr>
            <p:style>
              <a:lnRef idx="0"/>
              <a:fillRef idx="0"/>
              <a:effectRef idx="0"/>
              <a:fontRef idx="minor"/>
            </p:style>
            <p:txBody>
              <a:bodyPr lIns="90000" rIns="90000" tIns="14400" bIns="14400" anchor="t">
                <a:noAutofit/>
              </a:bodyPr>
              <a:p>
                <a:endParaRPr b="0" lang="en-US" sz="2400" strike="noStrike" u="none">
                  <a:solidFill>
                    <a:srgbClr val="ffff00"/>
                  </a:solidFill>
                  <a:effectLst/>
                  <a:uFillTx/>
                  <a:latin typeface="Times New Roman"/>
                </a:endParaRPr>
              </a:p>
            </p:txBody>
          </p:sp>
          <p:sp>
            <p:nvSpPr>
              <p:cNvPr id="367" name="Freeform 148"/>
              <p:cNvSpPr/>
              <p:nvPr/>
            </p:nvSpPr>
            <p:spPr>
              <a:xfrm flipH="1">
                <a:off x="6500160" y="1446120"/>
                <a:ext cx="26640" cy="24480"/>
              </a:xfrm>
              <a:custGeom>
                <a:avLst/>
                <a:gdLst>
                  <a:gd name="GluePoint1X" fmla="*/ 2147483647 w 8"/>
                  <a:gd name="GluePoint1Y" fmla="*/ 0 h 7"/>
                  <a:gd name="GluePoint2X" fmla="*/ 0 w 8"/>
                  <a:gd name="GluePoint2Y" fmla="*/ 2147483647 h 7"/>
                </a:gdLst>
                <a:ahLst/>
                <a:cxnLst>
                  <a:cxn ang="0">
                    <a:pos x="GluePoint1X" y="GluePoint1Y"/>
                  </a:cxn>
                  <a:cxn ang="0">
                    <a:pos x="GluePoint2X" y="GluePoint2Y"/>
                  </a:cxn>
                </a:cxnLst>
                <a:rect l="l" t="t" r="r" b="b"/>
                <a:pathLst>
                  <a:path w="8" h="7">
                    <a:moveTo>
                      <a:pt x="8" y="0"/>
                    </a:moveTo>
                    <a:cubicBezTo>
                      <a:pt x="4" y="1"/>
                      <a:pt x="0" y="1"/>
                      <a:pt x="0" y="7"/>
                    </a:cubicBezTo>
                  </a:path>
                </a:pathLst>
              </a:custGeom>
              <a:solidFill>
                <a:srgbClr val="ffffff"/>
              </a:solidFill>
              <a:ln w="0">
                <a:noFill/>
              </a:ln>
            </p:spPr>
            <p:style>
              <a:lnRef idx="0"/>
              <a:fillRef idx="0"/>
              <a:effectRef idx="0"/>
              <a:fontRef idx="minor"/>
            </p:style>
            <p:txBody>
              <a:bodyPr lIns="90000" rIns="90000" tIns="-22320" bIns="-22320" anchor="t">
                <a:noAutofit/>
              </a:bodyPr>
              <a:p>
                <a:endParaRPr b="0" lang="en-US" sz="2400" strike="noStrike" u="none">
                  <a:solidFill>
                    <a:srgbClr val="ffff00"/>
                  </a:solidFill>
                  <a:effectLst/>
                  <a:uFillTx/>
                  <a:latin typeface="Times New Roman"/>
                </a:endParaRPr>
              </a:p>
            </p:txBody>
          </p:sp>
          <p:sp>
            <p:nvSpPr>
              <p:cNvPr id="368" name="Freeform 149"/>
              <p:cNvSpPr/>
              <p:nvPr/>
            </p:nvSpPr>
            <p:spPr>
              <a:xfrm flipH="1">
                <a:off x="6442920" y="2090160"/>
                <a:ext cx="76680" cy="146160"/>
              </a:xfrm>
              <a:custGeom>
                <a:avLst/>
                <a:gdLst>
                  <a:gd name="GluePoint1X" fmla="*/ 0 w 24"/>
                  <a:gd name="GluePoint1Y" fmla="*/ 2147483647 h 43"/>
                  <a:gd name="GluePoint2X" fmla="*/ 2147483647 w 24"/>
                  <a:gd name="GluePoint2Y" fmla="*/ 0 h 43"/>
                  <a:gd name="GluePoint3X" fmla="*/ 0 w 24"/>
                  <a:gd name="GluePoint3Y" fmla="*/ 2147483647 h 43"/>
                </a:gdLst>
                <a:ahLst/>
                <a:cxnLst>
                  <a:cxn ang="0">
                    <a:pos x="GluePoint1X" y="GluePoint1Y"/>
                  </a:cxn>
                  <a:cxn ang="0">
                    <a:pos x="GluePoint2X" y="GluePoint2Y"/>
                  </a:cxn>
                  <a:cxn ang="0">
                    <a:pos x="GluePoint3X" y="GluePoint3Y"/>
                  </a:cxn>
                </a:cxnLst>
                <a:rect l="l" t="t" r="r" b="b"/>
                <a:pathLst>
                  <a:path w="24" h="43">
                    <a:moveTo>
                      <a:pt x="0" y="43"/>
                    </a:moveTo>
                    <a:cubicBezTo>
                      <a:pt x="9" y="35"/>
                      <a:pt x="20" y="18"/>
                      <a:pt x="24" y="0"/>
                    </a:cubicBezTo>
                    <a:cubicBezTo>
                      <a:pt x="24" y="9"/>
                      <a:pt x="21" y="30"/>
                      <a:pt x="0" y="43"/>
                    </a:cubicBez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69" name="Freeform 150"/>
              <p:cNvSpPr/>
              <p:nvPr/>
            </p:nvSpPr>
            <p:spPr>
              <a:xfrm flipH="1">
                <a:off x="6432840" y="2494440"/>
                <a:ext cx="29160" cy="101160"/>
              </a:xfrm>
              <a:custGeom>
                <a:avLst/>
                <a:gdLst>
                  <a:gd name="GluePoint1X" fmla="*/ 0 w 9"/>
                  <a:gd name="GluePoint1Y" fmla="*/ 0 h 30"/>
                  <a:gd name="GluePoint2X" fmla="*/ 2147483647 w 9"/>
                  <a:gd name="GluePoint2Y" fmla="*/ 0 h 30"/>
                  <a:gd name="GluePoint3X" fmla="*/ 2147483647 w 9"/>
                  <a:gd name="GluePoint3Y" fmla="*/ 2147483647 h 30"/>
                  <a:gd name="GluePoint4X" fmla="*/ 0 w 9"/>
                  <a:gd name="GluePoint4Y" fmla="*/ 2147483647 h 30"/>
                </a:gdLst>
                <a:ahLst/>
                <a:cxnLst>
                  <a:cxn ang="0">
                    <a:pos x="GluePoint1X" y="GluePoint1Y"/>
                  </a:cxn>
                  <a:cxn ang="0">
                    <a:pos x="GluePoint2X" y="GluePoint2Y"/>
                  </a:cxn>
                  <a:cxn ang="0">
                    <a:pos x="GluePoint3X" y="GluePoint3Y"/>
                  </a:cxn>
                  <a:cxn ang="0">
                    <a:pos x="GluePoint4X" y="GluePoint4Y"/>
                  </a:cxn>
                </a:cxnLst>
                <a:rect l="l" t="t" r="r" b="b"/>
                <a:pathLst>
                  <a:path w="9" h="30">
                    <a:moveTo>
                      <a:pt x="0" y="0"/>
                    </a:moveTo>
                    <a:cubicBezTo>
                      <a:pt x="2" y="8"/>
                      <a:pt x="6" y="3"/>
                      <a:pt x="8" y="0"/>
                    </a:cubicBezTo>
                    <a:cubicBezTo>
                      <a:pt x="6" y="7"/>
                      <a:pt x="9" y="13"/>
                      <a:pt x="8" y="20"/>
                    </a:cubicBezTo>
                    <a:cubicBezTo>
                      <a:pt x="7" y="30"/>
                      <a:pt x="2" y="20"/>
                      <a:pt x="0" y="14"/>
                    </a:cubicBezTo>
                  </a:path>
                </a:pathLst>
              </a:custGeom>
              <a:solidFill>
                <a:srgbClr val="f6af6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0" name="Freeform 151"/>
              <p:cNvSpPr/>
              <p:nvPr/>
            </p:nvSpPr>
            <p:spPr>
              <a:xfrm flipH="1">
                <a:off x="5393160" y="2140920"/>
                <a:ext cx="236520" cy="163080"/>
              </a:xfrm>
              <a:custGeom>
                <a:avLst/>
                <a:gdLst>
                  <a:gd name="GluePoint1X" fmla="*/ 2147483647 w 73"/>
                  <a:gd name="GluePoint1Y" fmla="*/ 0 h 48"/>
                  <a:gd name="GluePoint2X" fmla="*/ 2147483647 w 73"/>
                  <a:gd name="GluePoint2Y" fmla="*/ 2147483647 h 48"/>
                  <a:gd name="GluePoint3X" fmla="*/ 2147483647 w 73"/>
                  <a:gd name="GluePoint3Y" fmla="*/ 2147483647 h 48"/>
                  <a:gd name="GluePoint4X" fmla="*/ 2147483647 w 73"/>
                  <a:gd name="GluePoint4Y" fmla="*/ 2147483647 h 48"/>
                  <a:gd name="GluePoint5X" fmla="*/ 1681582300 w 73"/>
                  <a:gd name="GluePoint5Y" fmla="*/ 2147483647 h 48"/>
                  <a:gd name="GluePoint6X" fmla="*/ 0 w 73"/>
                  <a:gd name="GluePoint6Y" fmla="*/ 2147483647 h 48"/>
                  <a:gd name="GluePoint7X" fmla="*/ 2147483647 w 73"/>
                  <a:gd name="GluePoint7Y" fmla="*/ 2147483647 h 48"/>
                  <a:gd name="GluePoint8X" fmla="*/ 2147483647 w 73"/>
                  <a:gd name="GluePoint8Y" fmla="*/ 2147483647 h 48"/>
                  <a:gd name="GluePoint9X" fmla="*/ 2147483647 w 73"/>
                  <a:gd name="GluePoint9Y" fmla="*/ 2147483647 h 48"/>
                  <a:gd name="GluePoint10X" fmla="*/ 2147483647 w 73"/>
                  <a:gd name="GluePoint10Y" fmla="*/ 2147483647 h 4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73" h="48">
                    <a:moveTo>
                      <a:pt x="58" y="0"/>
                    </a:moveTo>
                    <a:cubicBezTo>
                      <a:pt x="63" y="7"/>
                      <a:pt x="73" y="5"/>
                      <a:pt x="65" y="15"/>
                    </a:cubicBezTo>
                    <a:cubicBezTo>
                      <a:pt x="59" y="23"/>
                      <a:pt x="51" y="29"/>
                      <a:pt x="42" y="34"/>
                    </a:cubicBezTo>
                    <a:cubicBezTo>
                      <a:pt x="33" y="39"/>
                      <a:pt x="25" y="43"/>
                      <a:pt x="16" y="46"/>
                    </a:cubicBezTo>
                    <a:cubicBezTo>
                      <a:pt x="14" y="46"/>
                      <a:pt x="8" y="48"/>
                      <a:pt x="7" y="48"/>
                    </a:cubicBezTo>
                    <a:cubicBezTo>
                      <a:pt x="4" y="47"/>
                      <a:pt x="0" y="37"/>
                      <a:pt x="0" y="36"/>
                    </a:cubicBezTo>
                    <a:cubicBezTo>
                      <a:pt x="4" y="46"/>
                      <a:pt x="26" y="32"/>
                      <a:pt x="32" y="30"/>
                    </a:cubicBezTo>
                    <a:cubicBezTo>
                      <a:pt x="39" y="27"/>
                      <a:pt x="45" y="23"/>
                      <a:pt x="51" y="19"/>
                    </a:cubicBezTo>
                    <a:cubicBezTo>
                      <a:pt x="53" y="17"/>
                      <a:pt x="55" y="16"/>
                      <a:pt x="56" y="14"/>
                    </a:cubicBezTo>
                    <a:cubicBezTo>
                      <a:pt x="59" y="11"/>
                      <a:pt x="58" y="6"/>
                      <a:pt x="62" y="4"/>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1" name="Freeform 152"/>
              <p:cNvSpPr/>
              <p:nvPr/>
            </p:nvSpPr>
            <p:spPr>
              <a:xfrm flipH="1">
                <a:off x="5106960" y="1836720"/>
                <a:ext cx="554760" cy="117720"/>
              </a:xfrm>
              <a:custGeom>
                <a:avLst/>
                <a:gdLst>
                  <a:gd name="GluePoint1X" fmla="*/ 2147483647 w 171"/>
                  <a:gd name="GluePoint1Y" fmla="*/ 2147483647 h 35"/>
                  <a:gd name="GluePoint2X" fmla="*/ 554823014 w 171"/>
                  <a:gd name="GluePoint2Y" fmla="*/ 0 h 35"/>
                  <a:gd name="GluePoint3X" fmla="*/ 961958506 w 171"/>
                  <a:gd name="GluePoint3Y" fmla="*/ 2147483647 h 35"/>
                  <a:gd name="GluePoint4X" fmla="*/ 0 w 171"/>
                  <a:gd name="GluePoint4Y" fmla="*/ 2147483647 h 35"/>
                  <a:gd name="GluePoint5X" fmla="*/ 2007605111 w 171"/>
                  <a:gd name="GluePoint5Y" fmla="*/ 2147483647 h 35"/>
                  <a:gd name="GluePoint6X" fmla="*/ 2147483647 w 171"/>
                  <a:gd name="GluePoint6Y" fmla="*/ 2147483647 h 35"/>
                  <a:gd name="GluePoint7X" fmla="*/ 2147483647 w 171"/>
                  <a:gd name="GluePoint7Y" fmla="*/ 2147483647 h 35"/>
                  <a:gd name="GluePoint8X" fmla="*/ 2147483647 w 171"/>
                  <a:gd name="GluePoint8Y" fmla="*/ 2147483647 h 35"/>
                  <a:gd name="GluePoint9X" fmla="*/ 2147483647 w 171"/>
                  <a:gd name="GluePoint9Y" fmla="*/ 2147483647 h 35"/>
                  <a:gd name="GluePoint10X" fmla="*/ 2147483647 w 171"/>
                  <a:gd name="GluePoint10Y" fmla="*/ 2147483647 h 35"/>
                  <a:gd name="GluePoint11X" fmla="*/ 2147483647 w 171"/>
                  <a:gd name="GluePoint11Y" fmla="*/ 2147483647 h 35"/>
                  <a:gd name="GluePoint12X" fmla="*/ 2147483647 w 171"/>
                  <a:gd name="GluePoint12Y" fmla="*/ 2147483647 h 35"/>
                  <a:gd name="GluePoint13X" fmla="*/ 2147483647 w 171"/>
                  <a:gd name="GluePoint13Y" fmla="*/ 2147483647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171" h="35">
                    <a:moveTo>
                      <a:pt x="93" y="18"/>
                    </a:moveTo>
                    <a:cubicBezTo>
                      <a:pt x="58" y="18"/>
                      <a:pt x="25" y="14"/>
                      <a:pt x="2" y="0"/>
                    </a:cubicBezTo>
                    <a:cubicBezTo>
                      <a:pt x="2" y="1"/>
                      <a:pt x="3" y="2"/>
                      <a:pt x="4" y="3"/>
                    </a:cubicBezTo>
                    <a:cubicBezTo>
                      <a:pt x="8" y="7"/>
                      <a:pt x="7" y="16"/>
                      <a:pt x="0" y="20"/>
                    </a:cubicBezTo>
                    <a:cubicBezTo>
                      <a:pt x="2" y="21"/>
                      <a:pt x="6" y="20"/>
                      <a:pt x="8" y="20"/>
                    </a:cubicBezTo>
                    <a:cubicBezTo>
                      <a:pt x="12" y="20"/>
                      <a:pt x="16" y="22"/>
                      <a:pt x="20" y="23"/>
                    </a:cubicBezTo>
                    <a:cubicBezTo>
                      <a:pt x="35" y="28"/>
                      <a:pt x="51" y="32"/>
                      <a:pt x="66" y="34"/>
                    </a:cubicBezTo>
                    <a:cubicBezTo>
                      <a:pt x="78" y="35"/>
                      <a:pt x="91" y="33"/>
                      <a:pt x="103" y="32"/>
                    </a:cubicBezTo>
                    <a:cubicBezTo>
                      <a:pt x="116" y="30"/>
                      <a:pt x="130" y="26"/>
                      <a:pt x="143" y="26"/>
                    </a:cubicBezTo>
                    <a:cubicBezTo>
                      <a:pt x="150" y="26"/>
                      <a:pt x="162" y="28"/>
                      <a:pt x="167" y="23"/>
                    </a:cubicBezTo>
                    <a:cubicBezTo>
                      <a:pt x="169" y="22"/>
                      <a:pt x="170" y="21"/>
                      <a:pt x="170" y="20"/>
                    </a:cubicBezTo>
                    <a:cubicBezTo>
                      <a:pt x="170" y="19"/>
                      <a:pt x="170" y="18"/>
                      <a:pt x="171" y="18"/>
                    </a:cubicBezTo>
                    <a:cubicBezTo>
                      <a:pt x="144" y="18"/>
                      <a:pt x="118" y="18"/>
                      <a:pt x="93" y="18"/>
                    </a:cubicBezTo>
                    <a:close/>
                  </a:path>
                </a:pathLst>
              </a:custGeom>
              <a:solidFill>
                <a:srgbClr val="b8b2c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2" name="Freeform 153"/>
              <p:cNvSpPr/>
              <p:nvPr/>
            </p:nvSpPr>
            <p:spPr>
              <a:xfrm flipH="1">
                <a:off x="5918760" y="1137960"/>
                <a:ext cx="361440" cy="74880"/>
              </a:xfrm>
              <a:custGeom>
                <a:avLst/>
                <a:gdLst>
                  <a:gd name="GluePoint1X" fmla="*/ 0 w 111"/>
                  <a:gd name="GluePoint1Y" fmla="*/ 2147483647 h 22"/>
                  <a:gd name="GluePoint2X" fmla="*/ 2147483647 w 111"/>
                  <a:gd name="GluePoint2Y" fmla="*/ 2147483647 h 22"/>
                  <a:gd name="GluePoint3X" fmla="*/ 2147483647 w 111"/>
                  <a:gd name="GluePoint3Y" fmla="*/ 2147483647 h 22"/>
                  <a:gd name="GluePoint4X" fmla="*/ 0 w 111"/>
                  <a:gd name="GluePoint4Y" fmla="*/ 2147483647 h 22"/>
                </a:gdLst>
                <a:ahLst/>
                <a:cxnLst>
                  <a:cxn ang="0">
                    <a:pos x="GluePoint1X" y="GluePoint1Y"/>
                  </a:cxn>
                  <a:cxn ang="0">
                    <a:pos x="GluePoint2X" y="GluePoint2Y"/>
                  </a:cxn>
                  <a:cxn ang="0">
                    <a:pos x="GluePoint3X" y="GluePoint3Y"/>
                  </a:cxn>
                  <a:cxn ang="0">
                    <a:pos x="GluePoint4X" y="GluePoint4Y"/>
                  </a:cxn>
                </a:cxnLst>
                <a:rect l="l" t="t" r="r" b="b"/>
                <a:pathLst>
                  <a:path w="111" h="22">
                    <a:moveTo>
                      <a:pt x="0" y="22"/>
                    </a:moveTo>
                    <a:cubicBezTo>
                      <a:pt x="17" y="10"/>
                      <a:pt x="36" y="3"/>
                      <a:pt x="54" y="2"/>
                    </a:cubicBezTo>
                    <a:cubicBezTo>
                      <a:pt x="75" y="2"/>
                      <a:pt x="94" y="7"/>
                      <a:pt x="111" y="20"/>
                    </a:cubicBezTo>
                    <a:cubicBezTo>
                      <a:pt x="74" y="6"/>
                      <a:pt x="49" y="0"/>
                      <a:pt x="0" y="22"/>
                    </a:cubicBezTo>
                    <a:close/>
                  </a:path>
                </a:pathLst>
              </a:custGeom>
              <a:solidFill>
                <a:srgbClr val="966c40"/>
              </a:solidFill>
              <a:ln w="0">
                <a:noFill/>
              </a:ln>
            </p:spPr>
            <p:style>
              <a:lnRef idx="0"/>
              <a:fillRef idx="0"/>
              <a:effectRef idx="0"/>
              <a:fontRef idx="minor"/>
            </p:style>
            <p:txBody>
              <a:bodyPr lIns="90000" rIns="90000" tIns="28080" bIns="28080" anchor="t">
                <a:noAutofit/>
              </a:bodyPr>
              <a:p>
                <a:endParaRPr b="0" lang="en-US" sz="2400" strike="noStrike" u="none">
                  <a:solidFill>
                    <a:srgbClr val="ffff00"/>
                  </a:solidFill>
                  <a:effectLst/>
                  <a:uFillTx/>
                  <a:latin typeface="Times New Roman"/>
                </a:endParaRPr>
              </a:p>
            </p:txBody>
          </p:sp>
          <p:sp>
            <p:nvSpPr>
              <p:cNvPr id="373" name="Freeform 154"/>
              <p:cNvSpPr/>
              <p:nvPr/>
            </p:nvSpPr>
            <p:spPr>
              <a:xfrm flipH="1">
                <a:off x="5649480" y="1131120"/>
                <a:ext cx="113400" cy="213480"/>
              </a:xfrm>
              <a:custGeom>
                <a:avLst/>
                <a:gdLst>
                  <a:gd name="GluePoint1X" fmla="*/ 0 w 35"/>
                  <a:gd name="GluePoint1Y" fmla="*/ 0 h 63"/>
                  <a:gd name="GluePoint2X" fmla="*/ 2147483647 w 35"/>
                  <a:gd name="GluePoint2Y" fmla="*/ 2147483647 h 63"/>
                  <a:gd name="GluePoint3X" fmla="*/ 0 w 35"/>
                  <a:gd name="GluePoint3Y" fmla="*/ 0 h 63"/>
                </a:gdLst>
                <a:ahLst/>
                <a:cxnLst>
                  <a:cxn ang="0">
                    <a:pos x="GluePoint1X" y="GluePoint1Y"/>
                  </a:cxn>
                  <a:cxn ang="0">
                    <a:pos x="GluePoint2X" y="GluePoint2Y"/>
                  </a:cxn>
                  <a:cxn ang="0">
                    <a:pos x="GluePoint3X" y="GluePoint3Y"/>
                  </a:cxn>
                </a:cxnLst>
                <a:rect l="l" t="t" r="r" b="b"/>
                <a:pathLst>
                  <a:path w="35" h="63">
                    <a:moveTo>
                      <a:pt x="0" y="0"/>
                    </a:moveTo>
                    <a:cubicBezTo>
                      <a:pt x="12" y="10"/>
                      <a:pt x="33" y="37"/>
                      <a:pt x="29" y="63"/>
                    </a:cubicBezTo>
                    <a:cubicBezTo>
                      <a:pt x="35" y="39"/>
                      <a:pt x="25" y="13"/>
                      <a:pt x="0" y="0"/>
                    </a:cubicBez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4" name="Freeform 155"/>
              <p:cNvSpPr/>
              <p:nvPr/>
            </p:nvSpPr>
            <p:spPr>
              <a:xfrm flipH="1">
                <a:off x="5151960" y="155520"/>
                <a:ext cx="244080" cy="204120"/>
              </a:xfrm>
              <a:custGeom>
                <a:avLst/>
                <a:gdLst>
                  <a:gd name="GluePoint1X" fmla="*/ 0 w 75"/>
                  <a:gd name="GluePoint1Y" fmla="*/ 0 h 60"/>
                  <a:gd name="GluePoint2X" fmla="*/ 2147483647 w 75"/>
                  <a:gd name="GluePoint2Y" fmla="*/ 2147483647 h 60"/>
                  <a:gd name="GluePoint3X" fmla="*/ 2147483647 w 75"/>
                  <a:gd name="GluePoint3Y" fmla="*/ 2147483647 h 60"/>
                  <a:gd name="GluePoint4X" fmla="*/ 2147483647 w 75"/>
                  <a:gd name="GluePoint4Y" fmla="*/ 2147483647 h 60"/>
                  <a:gd name="GluePoint5X" fmla="*/ 2147483647 w 75"/>
                  <a:gd name="GluePoint5Y" fmla="*/ 2147483647 h 60"/>
                  <a:gd name="GluePoint6X" fmla="*/ 2147483647 w 75"/>
                  <a:gd name="GluePoint6Y" fmla="*/ 2147483647 h 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5" h="60">
                    <a:moveTo>
                      <a:pt x="0" y="0"/>
                    </a:moveTo>
                    <a:cubicBezTo>
                      <a:pt x="18" y="7"/>
                      <a:pt x="35" y="17"/>
                      <a:pt x="53" y="24"/>
                    </a:cubicBezTo>
                    <a:cubicBezTo>
                      <a:pt x="59" y="26"/>
                      <a:pt x="69" y="27"/>
                      <a:pt x="71" y="32"/>
                    </a:cubicBezTo>
                    <a:cubicBezTo>
                      <a:pt x="75" y="42"/>
                      <a:pt x="60" y="57"/>
                      <a:pt x="53" y="60"/>
                    </a:cubicBezTo>
                    <a:cubicBezTo>
                      <a:pt x="67" y="45"/>
                      <a:pt x="62" y="37"/>
                      <a:pt x="47" y="29"/>
                    </a:cubicBezTo>
                    <a:cubicBezTo>
                      <a:pt x="36" y="24"/>
                      <a:pt x="20" y="17"/>
                      <a:pt x="10" y="10"/>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5" name="Freeform 156"/>
              <p:cNvSpPr/>
              <p:nvPr/>
            </p:nvSpPr>
            <p:spPr>
              <a:xfrm flipH="1">
                <a:off x="7371720" y="1717200"/>
                <a:ext cx="246600" cy="146520"/>
              </a:xfrm>
              <a:custGeom>
                <a:avLst/>
                <a:gdLst>
                  <a:gd name="GluePoint1X" fmla="*/ 2147483647 w 76"/>
                  <a:gd name="GluePoint1Y" fmla="*/ 0 h 43"/>
                  <a:gd name="GluePoint2X" fmla="*/ 0 w 76"/>
                  <a:gd name="GluePoint2Y" fmla="*/ 2147483647 h 43"/>
                  <a:gd name="GluePoint3X" fmla="*/ 2147483647 w 76"/>
                  <a:gd name="GluePoint3Y" fmla="*/ 2147483647 h 43"/>
                  <a:gd name="GluePoint4X" fmla="*/ 2147483647 w 76"/>
                  <a:gd name="GluePoint4Y" fmla="*/ 2147483647 h 43"/>
                  <a:gd name="GluePoint5X" fmla="*/ 2147483647 w 76"/>
                  <a:gd name="GluePoint5Y" fmla="*/ 2147483647 h 43"/>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6" h="43">
                    <a:moveTo>
                      <a:pt x="76" y="0"/>
                    </a:moveTo>
                    <a:cubicBezTo>
                      <a:pt x="45" y="8"/>
                      <a:pt x="20" y="16"/>
                      <a:pt x="0" y="43"/>
                    </a:cubicBezTo>
                    <a:cubicBezTo>
                      <a:pt x="3" y="36"/>
                      <a:pt x="19" y="29"/>
                      <a:pt x="21" y="39"/>
                    </a:cubicBezTo>
                    <a:cubicBezTo>
                      <a:pt x="14" y="28"/>
                      <a:pt x="25" y="23"/>
                      <a:pt x="35" y="25"/>
                    </a:cubicBezTo>
                    <a:cubicBezTo>
                      <a:pt x="35" y="17"/>
                      <a:pt x="40" y="13"/>
                      <a:pt x="47" y="12"/>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6" name="Freeform 157"/>
              <p:cNvSpPr/>
              <p:nvPr/>
            </p:nvSpPr>
            <p:spPr>
              <a:xfrm flipH="1">
                <a:off x="6487920" y="1450080"/>
                <a:ext cx="253440" cy="329040"/>
              </a:xfrm>
              <a:custGeom>
                <a:avLst/>
                <a:gdLst>
                  <a:gd name="GluePoint1X" fmla="*/ 2147483647 w 78"/>
                  <a:gd name="GluePoint1Y" fmla="*/ 2147483647 h 97"/>
                  <a:gd name="GluePoint2X" fmla="*/ 2147483647 w 78"/>
                  <a:gd name="GluePoint2Y" fmla="*/ 2147483647 h 97"/>
                  <a:gd name="GluePoint3X" fmla="*/ 2147483647 w 78"/>
                  <a:gd name="GluePoint3Y" fmla="*/ 2147483647 h 97"/>
                  <a:gd name="GluePoint4X" fmla="*/ 2147483647 w 78"/>
                  <a:gd name="GluePoint4Y" fmla="*/ 2147483647 h 97"/>
                  <a:gd name="GluePoint5X" fmla="*/ 2147483647 w 78"/>
                  <a:gd name="GluePoint5Y" fmla="*/ 2147483647 h 97"/>
                  <a:gd name="GluePoint6X" fmla="*/ 2147483647 w 78"/>
                  <a:gd name="GluePoint6Y" fmla="*/ 2147483647 h 97"/>
                  <a:gd name="GluePoint7X" fmla="*/ 2147483647 w 78"/>
                  <a:gd name="GluePoint7Y" fmla="*/ 2147483647 h 97"/>
                  <a:gd name="GluePoint8X" fmla="*/ 2147483647 w 78"/>
                  <a:gd name="GluePoint8Y" fmla="*/ 2147483647 h 97"/>
                  <a:gd name="GluePoint9X" fmla="*/ 2147483647 w 78"/>
                  <a:gd name="GluePoint9Y" fmla="*/ 2147483647 h 97"/>
                  <a:gd name="GluePoint10X" fmla="*/ 2147483647 w 78"/>
                  <a:gd name="GluePoint10Y" fmla="*/ 2147483647 h 97"/>
                  <a:gd name="GluePoint11X" fmla="*/ 2147483647 w 78"/>
                  <a:gd name="GluePoint11Y" fmla="*/ 2147483647 h 97"/>
                  <a:gd name="GluePoint12X" fmla="*/ 2147483647 w 78"/>
                  <a:gd name="GluePoint12Y" fmla="*/ 2147483647 h 97"/>
                  <a:gd name="GluePoint13X" fmla="*/ 0 w 78"/>
                  <a:gd name="GluePoint13Y" fmla="*/ 2147483647 h 9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l" t="t" r="r" b="b"/>
                <a:pathLst>
                  <a:path w="78" h="97">
                    <a:moveTo>
                      <a:pt x="11" y="39"/>
                    </a:moveTo>
                    <a:cubicBezTo>
                      <a:pt x="21" y="35"/>
                      <a:pt x="31" y="27"/>
                      <a:pt x="40" y="20"/>
                    </a:cubicBezTo>
                    <a:cubicBezTo>
                      <a:pt x="43" y="17"/>
                      <a:pt x="54" y="0"/>
                      <a:pt x="60" y="3"/>
                    </a:cubicBezTo>
                    <a:cubicBezTo>
                      <a:pt x="60" y="5"/>
                      <a:pt x="50" y="27"/>
                      <a:pt x="47" y="32"/>
                    </a:cubicBezTo>
                    <a:cubicBezTo>
                      <a:pt x="40" y="45"/>
                      <a:pt x="56" y="51"/>
                      <a:pt x="67" y="52"/>
                    </a:cubicBezTo>
                    <a:cubicBezTo>
                      <a:pt x="60" y="59"/>
                      <a:pt x="72" y="55"/>
                      <a:pt x="74" y="61"/>
                    </a:cubicBezTo>
                    <a:cubicBezTo>
                      <a:pt x="75" y="62"/>
                      <a:pt x="78" y="66"/>
                      <a:pt x="76" y="69"/>
                    </a:cubicBezTo>
                    <a:cubicBezTo>
                      <a:pt x="74" y="71"/>
                      <a:pt x="67" y="73"/>
                      <a:pt x="64" y="77"/>
                    </a:cubicBezTo>
                    <a:cubicBezTo>
                      <a:pt x="60" y="82"/>
                      <a:pt x="60" y="90"/>
                      <a:pt x="59" y="97"/>
                    </a:cubicBezTo>
                    <a:cubicBezTo>
                      <a:pt x="57" y="88"/>
                      <a:pt x="59" y="80"/>
                      <a:pt x="55" y="72"/>
                    </a:cubicBezTo>
                    <a:cubicBezTo>
                      <a:pt x="49" y="62"/>
                      <a:pt x="46" y="68"/>
                      <a:pt x="37" y="68"/>
                    </a:cubicBezTo>
                    <a:cubicBezTo>
                      <a:pt x="30" y="68"/>
                      <a:pt x="27" y="63"/>
                      <a:pt x="21" y="59"/>
                    </a:cubicBezTo>
                    <a:cubicBezTo>
                      <a:pt x="15" y="54"/>
                      <a:pt x="7" y="51"/>
                      <a:pt x="0" y="4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7" name="Freeform 158"/>
              <p:cNvSpPr/>
              <p:nvPr/>
            </p:nvSpPr>
            <p:spPr>
              <a:xfrm flipH="1">
                <a:off x="7179840" y="1484640"/>
                <a:ext cx="140040" cy="206280"/>
              </a:xfrm>
              <a:custGeom>
                <a:avLst/>
                <a:gdLst>
                  <a:gd name="GluePoint1X" fmla="*/ 2147483647 w 43"/>
                  <a:gd name="GluePoint1Y" fmla="*/ 2147483647 h 61"/>
                  <a:gd name="GluePoint2X" fmla="*/ 2147483647 w 43"/>
                  <a:gd name="GluePoint2Y" fmla="*/ 2147483647 h 61"/>
                  <a:gd name="GluePoint3X" fmla="*/ 2147483647 w 43"/>
                  <a:gd name="GluePoint3Y" fmla="*/ 2147483647 h 61"/>
                  <a:gd name="GluePoint4X" fmla="*/ 0 w 43"/>
                  <a:gd name="GluePoint4Y" fmla="*/ 0 h 61"/>
                  <a:gd name="GluePoint5X" fmla="*/ 2147483647 w 43"/>
                  <a:gd name="GluePoint5Y" fmla="*/ 2147483647 h 61"/>
                  <a:gd name="GluePoint6X" fmla="*/ 2147483647 w 43"/>
                  <a:gd name="GluePoint6Y" fmla="*/ 2147483647 h 61"/>
                  <a:gd name="GluePoint7X" fmla="*/ 2147483647 w 43"/>
                  <a:gd name="GluePoint7Y" fmla="*/ 2147483647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43" h="61">
                    <a:moveTo>
                      <a:pt x="43" y="61"/>
                    </a:moveTo>
                    <a:cubicBezTo>
                      <a:pt x="31" y="54"/>
                      <a:pt x="24" y="49"/>
                      <a:pt x="16" y="37"/>
                    </a:cubicBezTo>
                    <a:cubicBezTo>
                      <a:pt x="13" y="31"/>
                      <a:pt x="11" y="24"/>
                      <a:pt x="8" y="18"/>
                    </a:cubicBezTo>
                    <a:cubicBezTo>
                      <a:pt x="6" y="13"/>
                      <a:pt x="0" y="5"/>
                      <a:pt x="0" y="0"/>
                    </a:cubicBezTo>
                    <a:cubicBezTo>
                      <a:pt x="4" y="7"/>
                      <a:pt x="8" y="15"/>
                      <a:pt x="18" y="15"/>
                    </a:cubicBezTo>
                    <a:cubicBezTo>
                      <a:pt x="10" y="26"/>
                      <a:pt x="22" y="37"/>
                      <a:pt x="32" y="30"/>
                    </a:cubicBezTo>
                    <a:cubicBezTo>
                      <a:pt x="29" y="38"/>
                      <a:pt x="36" y="46"/>
                      <a:pt x="43" y="49"/>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8" name="Freeform 159"/>
              <p:cNvSpPr/>
              <p:nvPr/>
            </p:nvSpPr>
            <p:spPr>
              <a:xfrm flipH="1">
                <a:off x="6090840" y="33480"/>
                <a:ext cx="166680" cy="294480"/>
              </a:xfrm>
              <a:custGeom>
                <a:avLst/>
                <a:gdLst>
                  <a:gd name="GluePoint1X" fmla="*/ 2147483647 w 51"/>
                  <a:gd name="GluePoint1Y" fmla="*/ 0 h 87"/>
                  <a:gd name="GluePoint2X" fmla="*/ 2147483647 w 51"/>
                  <a:gd name="GluePoint2Y" fmla="*/ 2147483647 h 87"/>
                  <a:gd name="GluePoint3X" fmla="*/ 273961102 w 51"/>
                  <a:gd name="GluePoint3Y" fmla="*/ 2147483647 h 87"/>
                  <a:gd name="GluePoint4X" fmla="*/ 1765527064 w 51"/>
                  <a:gd name="GluePoint4Y" fmla="*/ 2147483647 h 87"/>
                  <a:gd name="GluePoint5X" fmla="*/ 2147483647 w 51"/>
                  <a:gd name="GluePoint5Y" fmla="*/ 2147483647 h 87"/>
                  <a:gd name="GluePoint6X" fmla="*/ 2147483647 w 51"/>
                  <a:gd name="GluePoint6Y" fmla="*/ 2147483647 h 87"/>
                  <a:gd name="GluePoint7X" fmla="*/ 2147483647 w 51"/>
                  <a:gd name="GluePoint7Y" fmla="*/ 2147483647 h 87"/>
                  <a:gd name="GluePoint8X" fmla="*/ 2147483647 w 51"/>
                  <a:gd name="GluePoint8Y" fmla="*/ 2147483647 h 87"/>
                  <a:gd name="GluePoint9X" fmla="*/ 2147483647 w 51"/>
                  <a:gd name="GluePoint9Y" fmla="*/ 2147483647 h 8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51" h="87">
                    <a:moveTo>
                      <a:pt x="51" y="0"/>
                    </a:moveTo>
                    <a:cubicBezTo>
                      <a:pt x="41" y="1"/>
                      <a:pt x="31" y="1"/>
                      <a:pt x="21" y="2"/>
                    </a:cubicBezTo>
                    <a:cubicBezTo>
                      <a:pt x="9" y="2"/>
                      <a:pt x="1" y="1"/>
                      <a:pt x="1" y="16"/>
                    </a:cubicBezTo>
                    <a:cubicBezTo>
                      <a:pt x="0" y="26"/>
                      <a:pt x="4" y="37"/>
                      <a:pt x="6" y="47"/>
                    </a:cubicBezTo>
                    <a:cubicBezTo>
                      <a:pt x="8" y="61"/>
                      <a:pt x="7" y="74"/>
                      <a:pt x="12" y="87"/>
                    </a:cubicBezTo>
                    <a:cubicBezTo>
                      <a:pt x="11" y="77"/>
                      <a:pt x="11" y="68"/>
                      <a:pt x="11" y="58"/>
                    </a:cubicBezTo>
                    <a:cubicBezTo>
                      <a:pt x="10" y="52"/>
                      <a:pt x="8" y="45"/>
                      <a:pt x="18" y="49"/>
                    </a:cubicBezTo>
                    <a:cubicBezTo>
                      <a:pt x="11" y="43"/>
                      <a:pt x="3" y="30"/>
                      <a:pt x="15" y="24"/>
                    </a:cubicBezTo>
                    <a:cubicBezTo>
                      <a:pt x="3" y="15"/>
                      <a:pt x="17" y="10"/>
                      <a:pt x="23" y="5"/>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79" name="Freeform 160"/>
              <p:cNvSpPr/>
              <p:nvPr/>
            </p:nvSpPr>
            <p:spPr>
              <a:xfrm flipH="1">
                <a:off x="5932800" y="26640"/>
                <a:ext cx="96480" cy="105120"/>
              </a:xfrm>
              <a:custGeom>
                <a:avLst/>
                <a:gdLst>
                  <a:gd name="GluePoint1X" fmla="*/ 631712963 w 30"/>
                  <a:gd name="GluePoint1Y" fmla="*/ 2147483647 h 31"/>
                  <a:gd name="GluePoint2X" fmla="*/ 2147483647 w 30"/>
                  <a:gd name="GluePoint2Y" fmla="*/ 2147483647 h 31"/>
                  <a:gd name="GluePoint3X" fmla="*/ 2147483647 w 30"/>
                  <a:gd name="GluePoint3Y" fmla="*/ 2147483647 h 31"/>
                  <a:gd name="GluePoint4X" fmla="*/ 2147483647 w 30"/>
                  <a:gd name="GluePoint4Y" fmla="*/ 2147483647 h 31"/>
                  <a:gd name="GluePoint5X" fmla="*/ 0 w 30"/>
                  <a:gd name="GluePoint5Y" fmla="*/ 2147483647 h 31"/>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0" h="31">
                    <a:moveTo>
                      <a:pt x="3" y="2"/>
                    </a:moveTo>
                    <a:cubicBezTo>
                      <a:pt x="8" y="0"/>
                      <a:pt x="20" y="0"/>
                      <a:pt x="25" y="4"/>
                    </a:cubicBezTo>
                    <a:cubicBezTo>
                      <a:pt x="30" y="9"/>
                      <a:pt x="28" y="26"/>
                      <a:pt x="24" y="31"/>
                    </a:cubicBezTo>
                    <a:cubicBezTo>
                      <a:pt x="25" y="24"/>
                      <a:pt x="25" y="8"/>
                      <a:pt x="13" y="15"/>
                    </a:cubicBezTo>
                    <a:cubicBezTo>
                      <a:pt x="15" y="7"/>
                      <a:pt x="6" y="3"/>
                      <a:pt x="0" y="5"/>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0" name="Freeform 161"/>
              <p:cNvSpPr/>
              <p:nvPr/>
            </p:nvSpPr>
            <p:spPr>
              <a:xfrm flipH="1">
                <a:off x="6263640" y="40320"/>
                <a:ext cx="146880" cy="284760"/>
              </a:xfrm>
              <a:custGeom>
                <a:avLst/>
                <a:gdLst>
                  <a:gd name="GluePoint1X" fmla="*/ 0 w 45"/>
                  <a:gd name="GluePoint1Y" fmla="*/ 2147483647 h 84"/>
                  <a:gd name="GluePoint2X" fmla="*/ 2147483647 w 45"/>
                  <a:gd name="GluePoint2Y" fmla="*/ 2147483647 h 84"/>
                  <a:gd name="GluePoint3X" fmla="*/ 2147483647 w 45"/>
                  <a:gd name="GluePoint3Y" fmla="*/ 2147483647 h 84"/>
                  <a:gd name="GluePoint4X" fmla="*/ 2147483647 w 45"/>
                  <a:gd name="GluePoint4Y" fmla="*/ 2147483647 h 84"/>
                  <a:gd name="GluePoint5X" fmla="*/ 2147483647 w 45"/>
                  <a:gd name="GluePoint5Y" fmla="*/ 2147483647 h 84"/>
                  <a:gd name="GluePoint6X" fmla="*/ 2147483647 w 45"/>
                  <a:gd name="GluePoint6Y" fmla="*/ 2147483647 h 84"/>
                  <a:gd name="GluePoint7X" fmla="*/ 2147483647 w 45"/>
                  <a:gd name="GluePoint7Y" fmla="*/ 2147483647 h 84"/>
                  <a:gd name="GluePoint8X" fmla="*/ 2147483647 w 45"/>
                  <a:gd name="GluePoint8Y" fmla="*/ 2147483647 h 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45" h="84">
                    <a:moveTo>
                      <a:pt x="0" y="7"/>
                    </a:moveTo>
                    <a:cubicBezTo>
                      <a:pt x="6" y="4"/>
                      <a:pt x="20" y="0"/>
                      <a:pt x="27" y="4"/>
                    </a:cubicBezTo>
                    <a:cubicBezTo>
                      <a:pt x="35" y="8"/>
                      <a:pt x="34" y="24"/>
                      <a:pt x="37" y="32"/>
                    </a:cubicBezTo>
                    <a:cubicBezTo>
                      <a:pt x="41" y="49"/>
                      <a:pt x="45" y="70"/>
                      <a:pt x="32" y="84"/>
                    </a:cubicBezTo>
                    <a:cubicBezTo>
                      <a:pt x="38" y="78"/>
                      <a:pt x="37" y="60"/>
                      <a:pt x="25" y="64"/>
                    </a:cubicBezTo>
                    <a:cubicBezTo>
                      <a:pt x="38" y="61"/>
                      <a:pt x="31" y="42"/>
                      <a:pt x="24" y="45"/>
                    </a:cubicBezTo>
                    <a:cubicBezTo>
                      <a:pt x="23" y="39"/>
                      <a:pt x="31" y="30"/>
                      <a:pt x="20" y="28"/>
                    </a:cubicBezTo>
                    <a:cubicBezTo>
                      <a:pt x="35" y="22"/>
                      <a:pt x="30" y="9"/>
                      <a:pt x="18" y="6"/>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1" name="Freeform 162"/>
              <p:cNvSpPr/>
              <p:nvPr/>
            </p:nvSpPr>
            <p:spPr>
              <a:xfrm flipH="1">
                <a:off x="6361560" y="115560"/>
                <a:ext cx="184680" cy="504000"/>
              </a:xfrm>
              <a:custGeom>
                <a:avLst/>
                <a:gdLst>
                  <a:gd name="GluePoint1X" fmla="*/ 2147483647 w 57"/>
                  <a:gd name="GluePoint1Y" fmla="*/ 0 h 149"/>
                  <a:gd name="GluePoint2X" fmla="*/ 239582665 w 57"/>
                  <a:gd name="GluePoint2Y" fmla="*/ 2147483647 h 149"/>
                  <a:gd name="GluePoint3X" fmla="*/ 961958506 w 57"/>
                  <a:gd name="GluePoint3Y" fmla="*/ 2147483647 h 149"/>
                  <a:gd name="GluePoint4X" fmla="*/ 1692086234 w 57"/>
                  <a:gd name="GluePoint4Y" fmla="*/ 2147483647 h 149"/>
                  <a:gd name="GluePoint5X" fmla="*/ 2147483647 w 57"/>
                  <a:gd name="GluePoint5Y" fmla="*/ 2147483647 h 149"/>
                  <a:gd name="GluePoint6X" fmla="*/ 2147483647 w 57"/>
                  <a:gd name="GluePoint6Y" fmla="*/ 2147483647 h 149"/>
                  <a:gd name="GluePoint7X" fmla="*/ 2147483647 w 57"/>
                  <a:gd name="GluePoint7Y" fmla="*/ 2147483647 h 149"/>
                  <a:gd name="GluePoint8X" fmla="*/ 2147483647 w 57"/>
                  <a:gd name="GluePoint8Y" fmla="*/ 2147483647 h 149"/>
                  <a:gd name="GluePoint9X" fmla="*/ 2147483647 w 57"/>
                  <a:gd name="GluePoint9Y" fmla="*/ 2147483647 h 149"/>
                  <a:gd name="GluePoint10X" fmla="*/ 2147483647 w 57"/>
                  <a:gd name="GluePoint10Y" fmla="*/ 2147483647 h 149"/>
                  <a:gd name="GluePoint11X" fmla="*/ 2147483647 w 57"/>
                  <a:gd name="GluePoint11Y" fmla="*/ 2147483647 h 149"/>
                  <a:gd name="GluePoint12X" fmla="*/ 1692086234 w 57"/>
                  <a:gd name="GluePoint12Y" fmla="*/ 2147483647 h 14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l" t="t" r="r" b="b"/>
                <a:pathLst>
                  <a:path w="57" h="149">
                    <a:moveTo>
                      <a:pt x="9" y="0"/>
                    </a:moveTo>
                    <a:cubicBezTo>
                      <a:pt x="0" y="4"/>
                      <a:pt x="0" y="5"/>
                      <a:pt x="1" y="14"/>
                    </a:cubicBezTo>
                    <a:cubicBezTo>
                      <a:pt x="1" y="21"/>
                      <a:pt x="3" y="29"/>
                      <a:pt x="4" y="36"/>
                    </a:cubicBezTo>
                    <a:cubicBezTo>
                      <a:pt x="6" y="52"/>
                      <a:pt x="4" y="64"/>
                      <a:pt x="7" y="80"/>
                    </a:cubicBezTo>
                    <a:cubicBezTo>
                      <a:pt x="10" y="97"/>
                      <a:pt x="9" y="113"/>
                      <a:pt x="17" y="129"/>
                    </a:cubicBezTo>
                    <a:cubicBezTo>
                      <a:pt x="19" y="133"/>
                      <a:pt x="27" y="143"/>
                      <a:pt x="32" y="146"/>
                    </a:cubicBezTo>
                    <a:cubicBezTo>
                      <a:pt x="38" y="149"/>
                      <a:pt x="49" y="145"/>
                      <a:pt x="57" y="149"/>
                    </a:cubicBezTo>
                    <a:cubicBezTo>
                      <a:pt x="49" y="140"/>
                      <a:pt x="21" y="132"/>
                      <a:pt x="37" y="114"/>
                    </a:cubicBezTo>
                    <a:cubicBezTo>
                      <a:pt x="26" y="124"/>
                      <a:pt x="21" y="101"/>
                      <a:pt x="30" y="96"/>
                    </a:cubicBezTo>
                    <a:cubicBezTo>
                      <a:pt x="20" y="105"/>
                      <a:pt x="17" y="79"/>
                      <a:pt x="28" y="72"/>
                    </a:cubicBezTo>
                    <a:cubicBezTo>
                      <a:pt x="18" y="70"/>
                      <a:pt x="5" y="52"/>
                      <a:pt x="19" y="47"/>
                    </a:cubicBezTo>
                    <a:cubicBezTo>
                      <a:pt x="9" y="38"/>
                      <a:pt x="2" y="17"/>
                      <a:pt x="7" y="4"/>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2" name="Freeform 163"/>
              <p:cNvSpPr/>
              <p:nvPr/>
            </p:nvSpPr>
            <p:spPr>
              <a:xfrm flipH="1">
                <a:off x="6699600" y="138960"/>
                <a:ext cx="68400" cy="227160"/>
              </a:xfrm>
              <a:custGeom>
                <a:avLst/>
                <a:gdLst>
                  <a:gd name="GluePoint1X" fmla="*/ 2147483647 w 21"/>
                  <a:gd name="GluePoint1Y" fmla="*/ 0 h 67"/>
                  <a:gd name="GluePoint2X" fmla="*/ 273961102 w 21"/>
                  <a:gd name="GluePoint2Y" fmla="*/ 2147483647 h 67"/>
                  <a:gd name="GluePoint3X" fmla="*/ 2147483647 w 21"/>
                  <a:gd name="GluePoint3Y" fmla="*/ 2147483647 h 67"/>
                  <a:gd name="GluePoint4X" fmla="*/ 2147483647 w 21"/>
                  <a:gd name="GluePoint4Y" fmla="*/ 2147483647 h 67"/>
                  <a:gd name="GluePoint5X" fmla="*/ 1970997908 w 21"/>
                  <a:gd name="GluePoint5Y" fmla="*/ 2147483647 h 67"/>
                  <a:gd name="GluePoint6X" fmla="*/ 2147483647 w 21"/>
                  <a:gd name="GluePoint6Y" fmla="*/ 2147483647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1" h="67">
                    <a:moveTo>
                      <a:pt x="21" y="0"/>
                    </a:moveTo>
                    <a:cubicBezTo>
                      <a:pt x="11" y="8"/>
                      <a:pt x="0" y="9"/>
                      <a:pt x="1" y="24"/>
                    </a:cubicBezTo>
                    <a:cubicBezTo>
                      <a:pt x="1" y="39"/>
                      <a:pt x="7" y="53"/>
                      <a:pt x="14" y="67"/>
                    </a:cubicBezTo>
                    <a:cubicBezTo>
                      <a:pt x="8" y="60"/>
                      <a:pt x="6" y="47"/>
                      <a:pt x="13" y="41"/>
                    </a:cubicBezTo>
                    <a:cubicBezTo>
                      <a:pt x="4" y="36"/>
                      <a:pt x="6" y="31"/>
                      <a:pt x="7" y="23"/>
                    </a:cubicBezTo>
                    <a:cubicBezTo>
                      <a:pt x="8" y="19"/>
                      <a:pt x="10" y="9"/>
                      <a:pt x="13" y="6"/>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3" name="Freeform 164"/>
              <p:cNvSpPr/>
              <p:nvPr/>
            </p:nvSpPr>
            <p:spPr>
              <a:xfrm flipH="1">
                <a:off x="7349400" y="623880"/>
                <a:ext cx="209880" cy="250560"/>
              </a:xfrm>
              <a:custGeom>
                <a:avLst/>
                <a:gdLst>
                  <a:gd name="GluePoint1X" fmla="*/ 2147483647 w 65"/>
                  <a:gd name="GluePoint1Y" fmla="*/ 2147483647 h 74"/>
                  <a:gd name="GluePoint2X" fmla="*/ 2147483647 w 65"/>
                  <a:gd name="GluePoint2Y" fmla="*/ 2147483647 h 74"/>
                  <a:gd name="GluePoint3X" fmla="*/ 2147483647 w 65"/>
                  <a:gd name="GluePoint3Y" fmla="*/ 0 h 74"/>
                  <a:gd name="GluePoint4X" fmla="*/ 2147483647 w 65"/>
                  <a:gd name="GluePoint4Y" fmla="*/ 2147483647 h 74"/>
                  <a:gd name="GluePoint5X" fmla="*/ 2147483647 w 65"/>
                  <a:gd name="GluePoint5Y" fmla="*/ 2147483647 h 74"/>
                  <a:gd name="GluePoint6X" fmla="*/ 2147483647 w 65"/>
                  <a:gd name="GluePoint6Y" fmla="*/ 2147483647 h 74"/>
                  <a:gd name="GluePoint7X" fmla="*/ 2147483647 w 65"/>
                  <a:gd name="GluePoint7Y" fmla="*/ 2147483647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65" h="74">
                    <a:moveTo>
                      <a:pt x="65" y="74"/>
                    </a:moveTo>
                    <a:cubicBezTo>
                      <a:pt x="48" y="66"/>
                      <a:pt x="25" y="61"/>
                      <a:pt x="13" y="47"/>
                    </a:cubicBezTo>
                    <a:cubicBezTo>
                      <a:pt x="0" y="32"/>
                      <a:pt x="16" y="12"/>
                      <a:pt x="28" y="0"/>
                    </a:cubicBezTo>
                    <a:cubicBezTo>
                      <a:pt x="24" y="9"/>
                      <a:pt x="16" y="21"/>
                      <a:pt x="20" y="31"/>
                    </a:cubicBezTo>
                    <a:cubicBezTo>
                      <a:pt x="23" y="39"/>
                      <a:pt x="32" y="42"/>
                      <a:pt x="36" y="32"/>
                    </a:cubicBezTo>
                    <a:cubicBezTo>
                      <a:pt x="26" y="45"/>
                      <a:pt x="31" y="62"/>
                      <a:pt x="45" y="46"/>
                    </a:cubicBezTo>
                    <a:cubicBezTo>
                      <a:pt x="41" y="55"/>
                      <a:pt x="43" y="69"/>
                      <a:pt x="56" y="68"/>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4" name="Freeform 165"/>
              <p:cNvSpPr/>
              <p:nvPr/>
            </p:nvSpPr>
            <p:spPr>
              <a:xfrm flipH="1">
                <a:off x="7374960" y="1663920"/>
                <a:ext cx="386640" cy="209520"/>
              </a:xfrm>
              <a:custGeom>
                <a:avLst/>
                <a:gdLst>
                  <a:gd name="GluePoint1X" fmla="*/ 2147483647 w 119"/>
                  <a:gd name="GluePoint1Y" fmla="*/ 2147483647 h 62"/>
                  <a:gd name="GluePoint2X" fmla="*/ 2147483647 w 119"/>
                  <a:gd name="GluePoint2Y" fmla="*/ 2147483647 h 62"/>
                  <a:gd name="GluePoint3X" fmla="*/ 2147483647 w 119"/>
                  <a:gd name="GluePoint3Y" fmla="*/ 2147483647 h 62"/>
                  <a:gd name="GluePoint4X" fmla="*/ 0 w 119"/>
                  <a:gd name="GluePoint4Y" fmla="*/ 2147483647 h 62"/>
                  <a:gd name="GluePoint5X" fmla="*/ 2147483647 w 119"/>
                  <a:gd name="GluePoint5Y" fmla="*/ 2147483647 h 62"/>
                  <a:gd name="GluePoint6X" fmla="*/ 2147483647 w 119"/>
                  <a:gd name="GluePoint6Y" fmla="*/ 2147483647 h 62"/>
                  <a:gd name="GluePoint7X" fmla="*/ 2147483647 w 119"/>
                  <a:gd name="GluePoint7Y" fmla="*/ 2147483647 h 62"/>
                  <a:gd name="GluePoint8X" fmla="*/ 2147483647 w 119"/>
                  <a:gd name="GluePoint8Y" fmla="*/ 0 h 62"/>
                  <a:gd name="GluePoint9X" fmla="*/ 2147483647 w 119"/>
                  <a:gd name="GluePoint9Y" fmla="*/ 2147483647 h 62"/>
                  <a:gd name="GluePoint10X" fmla="*/ 2147483647 w 119"/>
                  <a:gd name="GluePoint10Y" fmla="*/ 2147483647 h 62"/>
                  <a:gd name="GluePoint11X" fmla="*/ 2147483647 w 119"/>
                  <a:gd name="GluePoint11Y" fmla="*/ 2147483647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119" h="62">
                    <a:moveTo>
                      <a:pt x="119" y="4"/>
                    </a:moveTo>
                    <a:cubicBezTo>
                      <a:pt x="101" y="4"/>
                      <a:pt x="78" y="17"/>
                      <a:pt x="63" y="25"/>
                    </a:cubicBezTo>
                    <a:cubicBezTo>
                      <a:pt x="43" y="34"/>
                      <a:pt x="34" y="49"/>
                      <a:pt x="18" y="62"/>
                    </a:cubicBezTo>
                    <a:cubicBezTo>
                      <a:pt x="3" y="56"/>
                      <a:pt x="1" y="21"/>
                      <a:pt x="0" y="7"/>
                    </a:cubicBezTo>
                    <a:cubicBezTo>
                      <a:pt x="2" y="18"/>
                      <a:pt x="6" y="41"/>
                      <a:pt x="18" y="45"/>
                    </a:cubicBezTo>
                    <a:cubicBezTo>
                      <a:pt x="32" y="49"/>
                      <a:pt x="29" y="34"/>
                      <a:pt x="30" y="25"/>
                    </a:cubicBezTo>
                    <a:cubicBezTo>
                      <a:pt x="39" y="40"/>
                      <a:pt x="50" y="20"/>
                      <a:pt x="45" y="10"/>
                    </a:cubicBezTo>
                    <a:cubicBezTo>
                      <a:pt x="55" y="15"/>
                      <a:pt x="74" y="14"/>
                      <a:pt x="74" y="0"/>
                    </a:cubicBezTo>
                    <a:cubicBezTo>
                      <a:pt x="77" y="2"/>
                      <a:pt x="79" y="8"/>
                      <a:pt x="83" y="8"/>
                    </a:cubicBezTo>
                    <a:cubicBezTo>
                      <a:pt x="87" y="10"/>
                      <a:pt x="90" y="6"/>
                      <a:pt x="95" y="6"/>
                    </a:cubicBezTo>
                    <a:cubicBezTo>
                      <a:pt x="100" y="5"/>
                      <a:pt x="111" y="10"/>
                      <a:pt x="112" y="5"/>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5" name="Freeform 166"/>
              <p:cNvSpPr/>
              <p:nvPr/>
            </p:nvSpPr>
            <p:spPr>
              <a:xfrm flipH="1">
                <a:off x="6492240" y="1463760"/>
                <a:ext cx="204480" cy="257400"/>
              </a:xfrm>
              <a:custGeom>
                <a:avLst/>
                <a:gdLst>
                  <a:gd name="GluePoint1X" fmla="*/ 2147483647 w 63"/>
                  <a:gd name="GluePoint1Y" fmla="*/ 0 h 76"/>
                  <a:gd name="GluePoint2X" fmla="*/ 2147483647 w 63"/>
                  <a:gd name="GluePoint2Y" fmla="*/ 2147483647 h 76"/>
                  <a:gd name="GluePoint3X" fmla="*/ 2147483647 w 63"/>
                  <a:gd name="GluePoint3Y" fmla="*/ 2147483647 h 76"/>
                  <a:gd name="GluePoint4X" fmla="*/ 2147483647 w 63"/>
                  <a:gd name="GluePoint4Y" fmla="*/ 2147483647 h 76"/>
                  <a:gd name="GluePoint5X" fmla="*/ 2147483647 w 63"/>
                  <a:gd name="GluePoint5Y" fmla="*/ 2147483647 h 76"/>
                  <a:gd name="GluePoint6X" fmla="*/ 2147483647 w 63"/>
                  <a:gd name="GluePoint6Y" fmla="*/ 2147483647 h 76"/>
                  <a:gd name="GluePoint7X" fmla="*/ 2147483647 w 63"/>
                  <a:gd name="GluePoint7Y" fmla="*/ 2147483647 h 76"/>
                  <a:gd name="GluePoint8X" fmla="*/ 2147483647 w 63"/>
                  <a:gd name="GluePoint8Y" fmla="*/ 2147483647 h 76"/>
                  <a:gd name="GluePoint9X" fmla="*/ 2147483647 w 63"/>
                  <a:gd name="GluePoint9Y" fmla="*/ 2147483647 h 76"/>
                  <a:gd name="GluePoint10X" fmla="*/ 2147483647 w 63"/>
                  <a:gd name="GluePoint10Y" fmla="*/ 2147483647 h 76"/>
                  <a:gd name="GluePoint11X" fmla="*/ 2147483647 w 63"/>
                  <a:gd name="GluePoint11Y" fmla="*/ 2147483647 h 76"/>
                  <a:gd name="GluePoint12X" fmla="*/ 2147483647 w 63"/>
                  <a:gd name="GluePoint12Y" fmla="*/ 2147483647 h 76"/>
                  <a:gd name="GluePoint13X" fmla="*/ 2147483647 w 63"/>
                  <a:gd name="GluePoint13Y" fmla="*/ 2147483647 h 76"/>
                  <a:gd name="GluePoint14X" fmla="*/ 0 w 63"/>
                  <a:gd name="GluePoint14Y" fmla="*/ 2147483647 h 76"/>
                  <a:gd name="GluePoint15X" fmla="*/ 2147483647 w 63"/>
                  <a:gd name="GluePoint15Y" fmla="*/ 2147483647 h 76"/>
                  <a:gd name="GluePoint16X" fmla="*/ 2147483647 w 63"/>
                  <a:gd name="GluePoint16Y" fmla="*/ 2147483647 h 76"/>
                  <a:gd name="GluePoint17X" fmla="*/ 2147483647 w 63"/>
                  <a:gd name="GluePoint17Y" fmla="*/ 890812556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l" t="t" r="r" b="b"/>
                <a:pathLst>
                  <a:path w="63" h="76">
                    <a:moveTo>
                      <a:pt x="45" y="0"/>
                    </a:moveTo>
                    <a:cubicBezTo>
                      <a:pt x="48" y="12"/>
                      <a:pt x="37" y="18"/>
                      <a:pt x="33" y="28"/>
                    </a:cubicBezTo>
                    <a:cubicBezTo>
                      <a:pt x="32" y="33"/>
                      <a:pt x="33" y="39"/>
                      <a:pt x="36" y="43"/>
                    </a:cubicBezTo>
                    <a:cubicBezTo>
                      <a:pt x="39" y="46"/>
                      <a:pt x="48" y="47"/>
                      <a:pt x="48" y="52"/>
                    </a:cubicBezTo>
                    <a:cubicBezTo>
                      <a:pt x="57" y="53"/>
                      <a:pt x="60" y="48"/>
                      <a:pt x="62" y="59"/>
                    </a:cubicBezTo>
                    <a:cubicBezTo>
                      <a:pt x="63" y="65"/>
                      <a:pt x="61" y="64"/>
                      <a:pt x="57" y="67"/>
                    </a:cubicBezTo>
                    <a:cubicBezTo>
                      <a:pt x="54" y="69"/>
                      <a:pt x="51" y="72"/>
                      <a:pt x="49" y="76"/>
                    </a:cubicBezTo>
                    <a:cubicBezTo>
                      <a:pt x="53" y="67"/>
                      <a:pt x="56" y="63"/>
                      <a:pt x="45" y="59"/>
                    </a:cubicBezTo>
                    <a:cubicBezTo>
                      <a:pt x="42" y="58"/>
                      <a:pt x="41" y="58"/>
                      <a:pt x="38" y="55"/>
                    </a:cubicBezTo>
                    <a:cubicBezTo>
                      <a:pt x="37" y="54"/>
                      <a:pt x="38" y="52"/>
                      <a:pt x="36" y="51"/>
                    </a:cubicBezTo>
                    <a:cubicBezTo>
                      <a:pt x="35" y="50"/>
                      <a:pt x="33" y="49"/>
                      <a:pt x="31" y="49"/>
                    </a:cubicBezTo>
                    <a:cubicBezTo>
                      <a:pt x="28" y="47"/>
                      <a:pt x="26" y="46"/>
                      <a:pt x="24" y="43"/>
                    </a:cubicBezTo>
                    <a:cubicBezTo>
                      <a:pt x="23" y="38"/>
                      <a:pt x="26" y="37"/>
                      <a:pt x="19" y="36"/>
                    </a:cubicBezTo>
                    <a:cubicBezTo>
                      <a:pt x="13" y="35"/>
                      <a:pt x="4" y="39"/>
                      <a:pt x="0" y="33"/>
                    </a:cubicBezTo>
                    <a:cubicBezTo>
                      <a:pt x="4" y="32"/>
                      <a:pt x="7" y="29"/>
                      <a:pt x="11" y="27"/>
                    </a:cubicBezTo>
                    <a:cubicBezTo>
                      <a:pt x="15" y="25"/>
                      <a:pt x="19" y="23"/>
                      <a:pt x="22" y="20"/>
                    </a:cubicBezTo>
                    <a:cubicBezTo>
                      <a:pt x="29" y="14"/>
                      <a:pt x="34" y="7"/>
                      <a:pt x="41" y="1"/>
                    </a:cubicBezTo>
                  </a:path>
                </a:pathLst>
              </a:custGeom>
              <a:solidFill>
                <a:srgbClr val="b8b2c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6" name="Freeform 167"/>
              <p:cNvSpPr/>
              <p:nvPr/>
            </p:nvSpPr>
            <p:spPr>
              <a:xfrm flipH="1">
                <a:off x="6485040" y="1632600"/>
                <a:ext cx="337680" cy="332640"/>
              </a:xfrm>
              <a:custGeom>
                <a:avLst/>
                <a:gdLst>
                  <a:gd name="GluePoint1X" fmla="*/ 2147483647 w 104"/>
                  <a:gd name="GluePoint1Y" fmla="*/ 2147483647 h 98"/>
                  <a:gd name="GluePoint2X" fmla="*/ 2147483647 w 104"/>
                  <a:gd name="GluePoint2Y" fmla="*/ 2147483647 h 98"/>
                  <a:gd name="GluePoint3X" fmla="*/ 2147483647 w 104"/>
                  <a:gd name="GluePoint3Y" fmla="*/ 2147483647 h 98"/>
                  <a:gd name="GluePoint4X" fmla="*/ 2147483647 w 104"/>
                  <a:gd name="GluePoint4Y" fmla="*/ 2147483647 h 98"/>
                  <a:gd name="GluePoint5X" fmla="*/ 2147483647 w 104"/>
                  <a:gd name="GluePoint5Y" fmla="*/ 2147483647 h 98"/>
                  <a:gd name="GluePoint6X" fmla="*/ 2147483647 w 104"/>
                  <a:gd name="GluePoint6Y" fmla="*/ 2147483647 h 98"/>
                  <a:gd name="GluePoint7X" fmla="*/ 2147483647 w 104"/>
                  <a:gd name="GluePoint7Y" fmla="*/ 2147483647 h 98"/>
                  <a:gd name="GluePoint8X" fmla="*/ 2147483647 w 104"/>
                  <a:gd name="GluePoint8Y" fmla="*/ 2147483647 h 98"/>
                  <a:gd name="GluePoint9X" fmla="*/ 2147483647 w 104"/>
                  <a:gd name="GluePoint9Y" fmla="*/ 0 h 98"/>
                  <a:gd name="GluePoint10X" fmla="*/ 2147483647 w 104"/>
                  <a:gd name="GluePoint10Y" fmla="*/ 2147483647 h 98"/>
                  <a:gd name="GluePoint11X" fmla="*/ 2147483647 w 104"/>
                  <a:gd name="GluePoint11Y" fmla="*/ 2147483647 h 98"/>
                  <a:gd name="GluePoint12X" fmla="*/ 2147483647 w 104"/>
                  <a:gd name="GluePoint12Y" fmla="*/ 2147483647 h 98"/>
                  <a:gd name="GluePoint13X" fmla="*/ 2147483647 w 104"/>
                  <a:gd name="GluePoint13Y" fmla="*/ 2147483647 h 98"/>
                  <a:gd name="GluePoint14X" fmla="*/ 2147483647 w 104"/>
                  <a:gd name="GluePoint14Y" fmla="*/ 2147483647 h 98"/>
                  <a:gd name="GluePoint15X" fmla="*/ 0 w 104"/>
                  <a:gd name="GluePoint15Y" fmla="*/ 2147483647 h 98"/>
                  <a:gd name="GluePoint16X" fmla="*/ 0 w 104"/>
                  <a:gd name="GluePoint16Y" fmla="*/ 2147483647 h 98"/>
                  <a:gd name="GluePoint17X" fmla="*/ 980464949 w 104"/>
                  <a:gd name="GluePoint17Y" fmla="*/ 2147483647 h 98"/>
                  <a:gd name="GluePoint18X" fmla="*/ 2147483647 w 104"/>
                  <a:gd name="GluePoint18Y" fmla="*/ 2147483647 h 98"/>
                  <a:gd name="GluePoint19X" fmla="*/ 2147483647 w 104"/>
                  <a:gd name="GluePoint19Y" fmla="*/ 2147483647 h 98"/>
                  <a:gd name="GluePoint20X" fmla="*/ 2147483647 w 104"/>
                  <a:gd name="GluePoint20Y" fmla="*/ 2147483647 h 98"/>
                  <a:gd name="GluePoint21X" fmla="*/ 2147483647 w 104"/>
                  <a:gd name="GluePoint21Y" fmla="*/ 2147483647 h 98"/>
                  <a:gd name="GluePoint22X" fmla="*/ 2147483647 w 104"/>
                  <a:gd name="GluePoint22Y" fmla="*/ 2147483647 h 98"/>
                  <a:gd name="GluePoint23X" fmla="*/ 2147483647 w 104"/>
                  <a:gd name="GluePoint23Y" fmla="*/ 2147483647 h 98"/>
                  <a:gd name="GluePoint24X" fmla="*/ 2147483647 w 104"/>
                  <a:gd name="GluePoint24Y" fmla="*/ 2147483647 h 98"/>
                  <a:gd name="GluePoint25X" fmla="*/ 2147483647 w 104"/>
                  <a:gd name="GluePoint25Y" fmla="*/ 2147483647 h 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l" t="t" r="r" b="b"/>
                <a:pathLst>
                  <a:path w="104" h="98">
                    <a:moveTo>
                      <a:pt x="83" y="98"/>
                    </a:moveTo>
                    <a:cubicBezTo>
                      <a:pt x="85" y="95"/>
                      <a:pt x="85" y="95"/>
                      <a:pt x="85" y="95"/>
                    </a:cubicBezTo>
                    <a:cubicBezTo>
                      <a:pt x="86" y="95"/>
                      <a:pt x="87" y="94"/>
                      <a:pt x="87" y="93"/>
                    </a:cubicBezTo>
                    <a:cubicBezTo>
                      <a:pt x="87" y="88"/>
                      <a:pt x="87" y="88"/>
                      <a:pt x="87" y="88"/>
                    </a:cubicBezTo>
                    <a:cubicBezTo>
                      <a:pt x="83" y="77"/>
                      <a:pt x="78" y="65"/>
                      <a:pt x="81" y="56"/>
                    </a:cubicBezTo>
                    <a:cubicBezTo>
                      <a:pt x="84" y="48"/>
                      <a:pt x="84" y="46"/>
                      <a:pt x="86" y="35"/>
                    </a:cubicBezTo>
                    <a:cubicBezTo>
                      <a:pt x="88" y="23"/>
                      <a:pt x="98" y="18"/>
                      <a:pt x="104" y="12"/>
                    </a:cubicBezTo>
                    <a:cubicBezTo>
                      <a:pt x="100" y="9"/>
                      <a:pt x="98" y="8"/>
                      <a:pt x="98" y="3"/>
                    </a:cubicBezTo>
                    <a:cubicBezTo>
                      <a:pt x="97" y="3"/>
                      <a:pt x="98" y="0"/>
                      <a:pt x="97" y="0"/>
                    </a:cubicBezTo>
                    <a:cubicBezTo>
                      <a:pt x="96" y="0"/>
                      <a:pt x="90" y="1"/>
                      <a:pt x="87" y="2"/>
                    </a:cubicBezTo>
                    <a:cubicBezTo>
                      <a:pt x="85" y="2"/>
                      <a:pt x="86" y="5"/>
                      <a:pt x="85" y="5"/>
                    </a:cubicBezTo>
                    <a:cubicBezTo>
                      <a:pt x="85" y="5"/>
                      <a:pt x="84" y="6"/>
                      <a:pt x="84" y="6"/>
                    </a:cubicBezTo>
                    <a:cubicBezTo>
                      <a:pt x="74" y="13"/>
                      <a:pt x="73" y="29"/>
                      <a:pt x="66" y="34"/>
                    </a:cubicBezTo>
                    <a:cubicBezTo>
                      <a:pt x="58" y="39"/>
                      <a:pt x="54" y="48"/>
                      <a:pt x="26" y="44"/>
                    </a:cubicBezTo>
                    <a:cubicBezTo>
                      <a:pt x="18" y="42"/>
                      <a:pt x="9" y="44"/>
                      <a:pt x="0" y="47"/>
                    </a:cubicBezTo>
                    <a:cubicBezTo>
                      <a:pt x="0" y="47"/>
                      <a:pt x="0" y="47"/>
                      <a:pt x="0" y="47"/>
                    </a:cubicBezTo>
                    <a:cubicBezTo>
                      <a:pt x="1" y="46"/>
                      <a:pt x="2" y="46"/>
                      <a:pt x="4" y="46"/>
                    </a:cubicBezTo>
                    <a:cubicBezTo>
                      <a:pt x="27" y="47"/>
                      <a:pt x="27" y="50"/>
                      <a:pt x="34" y="52"/>
                    </a:cubicBezTo>
                    <a:cubicBezTo>
                      <a:pt x="41" y="54"/>
                      <a:pt x="44" y="55"/>
                      <a:pt x="46" y="60"/>
                    </a:cubicBezTo>
                    <a:cubicBezTo>
                      <a:pt x="49" y="65"/>
                      <a:pt x="50" y="65"/>
                      <a:pt x="56" y="66"/>
                    </a:cubicBezTo>
                    <a:cubicBezTo>
                      <a:pt x="62" y="68"/>
                      <a:pt x="70" y="79"/>
                      <a:pt x="72" y="88"/>
                    </a:cubicBezTo>
                    <a:cubicBezTo>
                      <a:pt x="72" y="88"/>
                      <a:pt x="72" y="88"/>
                      <a:pt x="72" y="88"/>
                    </a:cubicBezTo>
                    <a:cubicBezTo>
                      <a:pt x="73" y="90"/>
                      <a:pt x="75" y="92"/>
                      <a:pt x="78" y="94"/>
                    </a:cubicBezTo>
                    <a:cubicBezTo>
                      <a:pt x="80" y="95"/>
                      <a:pt x="80" y="95"/>
                      <a:pt x="80" y="95"/>
                    </a:cubicBezTo>
                    <a:cubicBezTo>
                      <a:pt x="81" y="95"/>
                      <a:pt x="82" y="96"/>
                      <a:pt x="83" y="98"/>
                    </a:cubicBezTo>
                    <a:close/>
                  </a:path>
                </a:pathLst>
              </a:custGeom>
              <a:solidFill>
                <a:srgbClr val="867c98"/>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7" name="Freeform 168"/>
              <p:cNvSpPr/>
              <p:nvPr/>
            </p:nvSpPr>
            <p:spPr>
              <a:xfrm flipH="1">
                <a:off x="6566400" y="1748880"/>
                <a:ext cx="90720" cy="138240"/>
              </a:xfrm>
              <a:custGeom>
                <a:avLst/>
                <a:gdLst>
                  <a:gd name="GluePoint1X" fmla="*/ 0 w 28"/>
                  <a:gd name="GluePoint1Y" fmla="*/ 2147483647 h 41"/>
                  <a:gd name="GluePoint2X" fmla="*/ 2147483647 w 28"/>
                  <a:gd name="GluePoint2Y" fmla="*/ 0 h 41"/>
                  <a:gd name="GluePoint3X" fmla="*/ 2147483647 w 28"/>
                  <a:gd name="GluePoint3Y" fmla="*/ 2147483647 h 41"/>
                  <a:gd name="GluePoint4X" fmla="*/ 249740309 w 28"/>
                  <a:gd name="GluePoint4Y" fmla="*/ 2147483647 h 41"/>
                </a:gdLst>
                <a:ahLst/>
                <a:cxnLst>
                  <a:cxn ang="0">
                    <a:pos x="GluePoint1X" y="GluePoint1Y"/>
                  </a:cxn>
                  <a:cxn ang="0">
                    <a:pos x="GluePoint2X" y="GluePoint2Y"/>
                  </a:cxn>
                  <a:cxn ang="0">
                    <a:pos x="GluePoint3X" y="GluePoint3Y"/>
                  </a:cxn>
                  <a:cxn ang="0">
                    <a:pos x="GluePoint4X" y="GluePoint4Y"/>
                  </a:cxn>
                </a:cxnLst>
                <a:rect l="l" t="t" r="r" b="b"/>
                <a:pathLst>
                  <a:path w="28" h="41">
                    <a:moveTo>
                      <a:pt x="0" y="16"/>
                    </a:moveTo>
                    <a:cubicBezTo>
                      <a:pt x="11" y="19"/>
                      <a:pt x="20" y="4"/>
                      <a:pt x="28" y="0"/>
                    </a:cubicBezTo>
                    <a:cubicBezTo>
                      <a:pt x="19" y="10"/>
                      <a:pt x="18" y="28"/>
                      <a:pt x="22" y="41"/>
                    </a:cubicBezTo>
                    <a:cubicBezTo>
                      <a:pt x="17" y="30"/>
                      <a:pt x="9" y="25"/>
                      <a:pt x="1" y="19"/>
                    </a:cubicBezTo>
                  </a:path>
                </a:pathLst>
              </a:custGeom>
              <a:solidFill>
                <a:srgbClr val="afa9bd"/>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8" name="Freeform 169"/>
              <p:cNvSpPr/>
              <p:nvPr/>
            </p:nvSpPr>
            <p:spPr>
              <a:xfrm flipH="1">
                <a:off x="5656680" y="2195640"/>
                <a:ext cx="337680" cy="124560"/>
              </a:xfrm>
              <a:custGeom>
                <a:avLst/>
                <a:gdLst>
                  <a:gd name="GluePoint1X" fmla="*/ 2147483647 w 104"/>
                  <a:gd name="GluePoint1Y" fmla="*/ 2147483647 h 37"/>
                  <a:gd name="GluePoint2X" fmla="*/ 2147483647 w 104"/>
                  <a:gd name="GluePoint2Y" fmla="*/ 2147483647 h 37"/>
                  <a:gd name="GluePoint3X" fmla="*/ 2147483647 w 104"/>
                  <a:gd name="GluePoint3Y" fmla="*/ 2147483647 h 37"/>
                  <a:gd name="GluePoint4X" fmla="*/ 2147483647 w 104"/>
                  <a:gd name="GluePoint4Y" fmla="*/ 0 h 37"/>
                  <a:gd name="GluePoint5X" fmla="*/ 2147483647 w 104"/>
                  <a:gd name="GluePoint5Y" fmla="*/ 2147483647 h 37"/>
                  <a:gd name="GluePoint6X" fmla="*/ 2147483647 w 104"/>
                  <a:gd name="GluePoint6Y" fmla="*/ 2147483647 h 37"/>
                  <a:gd name="GluePoint7X" fmla="*/ 2147483647 w 104"/>
                  <a:gd name="GluePoint7Y" fmla="*/ 2147483647 h 37"/>
                  <a:gd name="GluePoint8X" fmla="*/ 2147483647 w 104"/>
                  <a:gd name="GluePoint8Y" fmla="*/ 2147483647 h 37"/>
                  <a:gd name="GluePoint9X" fmla="*/ 2147483647 w 104"/>
                  <a:gd name="GluePoint9Y" fmla="*/ 2147483647 h 37"/>
                  <a:gd name="GluePoint10X" fmla="*/ 2147483647 w 104"/>
                  <a:gd name="GluePoint10Y" fmla="*/ 2147483647 h 3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104" h="37">
                    <a:moveTo>
                      <a:pt x="92" y="16"/>
                    </a:moveTo>
                    <a:cubicBezTo>
                      <a:pt x="98" y="22"/>
                      <a:pt x="104" y="34"/>
                      <a:pt x="91" y="36"/>
                    </a:cubicBezTo>
                    <a:cubicBezTo>
                      <a:pt x="82" y="37"/>
                      <a:pt x="69" y="33"/>
                      <a:pt x="60" y="31"/>
                    </a:cubicBezTo>
                    <a:cubicBezTo>
                      <a:pt x="45" y="28"/>
                      <a:pt x="0" y="30"/>
                      <a:pt x="18" y="0"/>
                    </a:cubicBezTo>
                    <a:cubicBezTo>
                      <a:pt x="18" y="6"/>
                      <a:pt x="16" y="19"/>
                      <a:pt x="24" y="20"/>
                    </a:cubicBezTo>
                    <a:cubicBezTo>
                      <a:pt x="30" y="20"/>
                      <a:pt x="31" y="13"/>
                      <a:pt x="35" y="9"/>
                    </a:cubicBezTo>
                    <a:cubicBezTo>
                      <a:pt x="40" y="11"/>
                      <a:pt x="41" y="21"/>
                      <a:pt x="45" y="22"/>
                    </a:cubicBezTo>
                    <a:cubicBezTo>
                      <a:pt x="51" y="24"/>
                      <a:pt x="52" y="17"/>
                      <a:pt x="55" y="14"/>
                    </a:cubicBezTo>
                    <a:cubicBezTo>
                      <a:pt x="64" y="23"/>
                      <a:pt x="64" y="30"/>
                      <a:pt x="78" y="24"/>
                    </a:cubicBezTo>
                    <a:cubicBezTo>
                      <a:pt x="81" y="22"/>
                      <a:pt x="85" y="20"/>
                      <a:pt x="89" y="17"/>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89" name="Freeform 170"/>
              <p:cNvSpPr/>
              <p:nvPr/>
            </p:nvSpPr>
            <p:spPr>
              <a:xfrm flipH="1">
                <a:off x="5769720" y="1832400"/>
                <a:ext cx="168120" cy="308160"/>
              </a:xfrm>
              <a:custGeom>
                <a:avLst/>
                <a:gdLst>
                  <a:gd name="GluePoint1X" fmla="*/ 0 w 52"/>
                  <a:gd name="GluePoint1Y" fmla="*/ 0 h 91"/>
                  <a:gd name="GluePoint2X" fmla="*/ 2147483647 w 52"/>
                  <a:gd name="GluePoint2Y" fmla="*/ 2147483647 h 91"/>
                  <a:gd name="GluePoint3X" fmla="*/ 2147483647 w 52"/>
                  <a:gd name="GluePoint3Y" fmla="*/ 2147483647 h 91"/>
                  <a:gd name="GluePoint4X" fmla="*/ 2147483647 w 52"/>
                  <a:gd name="GluePoint4Y" fmla="*/ 2147483647 h 91"/>
                  <a:gd name="GluePoint5X" fmla="*/ 2147483647 w 52"/>
                  <a:gd name="GluePoint5Y" fmla="*/ 2147483647 h 91"/>
                  <a:gd name="GluePoint6X" fmla="*/ 2147483647 w 52"/>
                  <a:gd name="GluePoint6Y" fmla="*/ 2147483647 h 91"/>
                  <a:gd name="GluePoint7X" fmla="*/ 2147483647 w 52"/>
                  <a:gd name="GluePoint7Y" fmla="*/ 2147483647 h 91"/>
                  <a:gd name="GluePoint8X" fmla="*/ 2147483647 w 52"/>
                  <a:gd name="GluePoint8Y" fmla="*/ 2147483647 h 91"/>
                  <a:gd name="GluePoint9X" fmla="*/ 223767628 w 52"/>
                  <a:gd name="GluePoint9Y" fmla="*/ 882062832 h 9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52" h="91">
                    <a:moveTo>
                      <a:pt x="0" y="0"/>
                    </a:moveTo>
                    <a:cubicBezTo>
                      <a:pt x="12" y="3"/>
                      <a:pt x="19" y="9"/>
                      <a:pt x="26" y="13"/>
                    </a:cubicBezTo>
                    <a:cubicBezTo>
                      <a:pt x="36" y="19"/>
                      <a:pt x="37" y="37"/>
                      <a:pt x="36" y="47"/>
                    </a:cubicBezTo>
                    <a:cubicBezTo>
                      <a:pt x="34" y="67"/>
                      <a:pt x="31" y="83"/>
                      <a:pt x="52" y="89"/>
                    </a:cubicBezTo>
                    <a:cubicBezTo>
                      <a:pt x="44" y="90"/>
                      <a:pt x="29" y="83"/>
                      <a:pt x="23" y="91"/>
                    </a:cubicBezTo>
                    <a:cubicBezTo>
                      <a:pt x="27" y="86"/>
                      <a:pt x="35" y="57"/>
                      <a:pt x="20" y="64"/>
                    </a:cubicBezTo>
                    <a:cubicBezTo>
                      <a:pt x="26" y="58"/>
                      <a:pt x="34" y="32"/>
                      <a:pt x="16" y="43"/>
                    </a:cubicBezTo>
                    <a:cubicBezTo>
                      <a:pt x="24" y="37"/>
                      <a:pt x="26" y="20"/>
                      <a:pt x="21" y="15"/>
                    </a:cubicBezTo>
                    <a:cubicBezTo>
                      <a:pt x="16" y="11"/>
                      <a:pt x="7" y="2"/>
                      <a:pt x="1" y="1"/>
                    </a:cubicBezTo>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0" name="Freeform 171"/>
              <p:cNvSpPr/>
              <p:nvPr/>
            </p:nvSpPr>
            <p:spPr>
              <a:xfrm flipH="1">
                <a:off x="5541480" y="1890000"/>
                <a:ext cx="166680" cy="51840"/>
              </a:xfrm>
              <a:custGeom>
                <a:avLst/>
                <a:gdLst>
                  <a:gd name="GluePoint1X" fmla="*/ 2147483647 w 51"/>
                  <a:gd name="GluePoint1Y" fmla="*/ 2147483647 h 15"/>
                  <a:gd name="GluePoint2X" fmla="*/ 2147483647 w 51"/>
                  <a:gd name="GluePoint2Y" fmla="*/ 2147483647 h 15"/>
                  <a:gd name="GluePoint3X" fmla="*/ 2147483647 w 51"/>
                  <a:gd name="GluePoint3Y" fmla="*/ 2147483647 h 15"/>
                  <a:gd name="GluePoint4X" fmla="*/ 1765527064 w 51"/>
                  <a:gd name="GluePoint4Y" fmla="*/ 2147483647 h 15"/>
                  <a:gd name="GluePoint5X" fmla="*/ 2147483647 w 51"/>
                  <a:gd name="GluePoint5Y" fmla="*/ 2147483647 h 15"/>
                  <a:gd name="GluePoint6X" fmla="*/ 2147483647 w 51"/>
                  <a:gd name="GluePoint6Y" fmla="*/ 0 h 1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1" h="15">
                    <a:moveTo>
                      <a:pt x="51" y="11"/>
                    </a:moveTo>
                    <a:cubicBezTo>
                      <a:pt x="46" y="11"/>
                      <a:pt x="41" y="11"/>
                      <a:pt x="36" y="13"/>
                    </a:cubicBezTo>
                    <a:cubicBezTo>
                      <a:pt x="32" y="14"/>
                      <a:pt x="29" y="15"/>
                      <a:pt x="25" y="15"/>
                    </a:cubicBezTo>
                    <a:cubicBezTo>
                      <a:pt x="21" y="15"/>
                      <a:pt x="0" y="12"/>
                      <a:pt x="6" y="6"/>
                    </a:cubicBezTo>
                    <a:cubicBezTo>
                      <a:pt x="10" y="7"/>
                      <a:pt x="9" y="6"/>
                      <a:pt x="13" y="4"/>
                    </a:cubicBezTo>
                    <a:cubicBezTo>
                      <a:pt x="17" y="3"/>
                      <a:pt x="20" y="1"/>
                      <a:pt x="24" y="0"/>
                    </a:cubicBezTo>
                  </a:path>
                </a:pathLst>
              </a:custGeom>
              <a:solidFill>
                <a:srgbClr val="b8b2c5"/>
              </a:solidFill>
              <a:ln w="0">
                <a:noFill/>
              </a:ln>
            </p:spPr>
            <p:style>
              <a:lnRef idx="0"/>
              <a:fillRef idx="0"/>
              <a:effectRef idx="0"/>
              <a:fontRef idx="minor"/>
            </p:style>
            <p:txBody>
              <a:bodyPr lIns="90000" rIns="90000" tIns="5040" bIns="5040" anchor="t">
                <a:noAutofit/>
              </a:bodyPr>
              <a:p>
                <a:endParaRPr b="0" lang="en-US" sz="2400" strike="noStrike" u="none">
                  <a:solidFill>
                    <a:srgbClr val="ffff00"/>
                  </a:solidFill>
                  <a:effectLst/>
                  <a:uFillTx/>
                  <a:latin typeface="Times New Roman"/>
                </a:endParaRPr>
              </a:p>
            </p:txBody>
          </p:sp>
          <p:sp>
            <p:nvSpPr>
              <p:cNvPr id="391" name="Freeform 172"/>
              <p:cNvSpPr/>
              <p:nvPr/>
            </p:nvSpPr>
            <p:spPr>
              <a:xfrm flipH="1">
                <a:off x="5999760" y="1866600"/>
                <a:ext cx="75600" cy="158760"/>
              </a:xfrm>
              <a:custGeom>
                <a:avLst/>
                <a:gdLst>
                  <a:gd name="GluePoint1X" fmla="*/ 2147483647 w 23"/>
                  <a:gd name="GluePoint1Y" fmla="*/ 0 h 47"/>
                  <a:gd name="GluePoint2X" fmla="*/ 2147483647 w 23"/>
                  <a:gd name="GluePoint2Y" fmla="*/ 2147483647 h 47"/>
                  <a:gd name="GluePoint3X" fmla="*/ 2147483647 w 23"/>
                  <a:gd name="GluePoint3Y" fmla="*/ 2147483647 h 47"/>
                  <a:gd name="GluePoint4X" fmla="*/ 2147483647 w 23"/>
                  <a:gd name="GluePoint4Y" fmla="*/ 2147483647 h 47"/>
                  <a:gd name="GluePoint5X" fmla="*/ 0 w 23"/>
                  <a:gd name="GluePoint5Y" fmla="*/ 2147483647 h 4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3" h="47">
                    <a:moveTo>
                      <a:pt x="7" y="0"/>
                    </a:moveTo>
                    <a:cubicBezTo>
                      <a:pt x="4" y="21"/>
                      <a:pt x="11" y="27"/>
                      <a:pt x="14" y="31"/>
                    </a:cubicBezTo>
                    <a:cubicBezTo>
                      <a:pt x="18" y="35"/>
                      <a:pt x="22" y="42"/>
                      <a:pt x="23" y="47"/>
                    </a:cubicBezTo>
                    <a:cubicBezTo>
                      <a:pt x="19" y="44"/>
                      <a:pt x="15" y="40"/>
                      <a:pt x="11" y="36"/>
                    </a:cubicBezTo>
                    <a:cubicBezTo>
                      <a:pt x="8" y="33"/>
                      <a:pt x="3" y="28"/>
                      <a:pt x="0" y="24"/>
                    </a:cubicBezTo>
                  </a:path>
                </a:pathLst>
              </a:custGeom>
              <a:solidFill>
                <a:srgbClr val="b8b2c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2" name="Freeform 173"/>
              <p:cNvSpPr/>
              <p:nvPr/>
            </p:nvSpPr>
            <p:spPr>
              <a:xfrm flipH="1">
                <a:off x="6575760" y="1575000"/>
                <a:ext cx="1055160" cy="671040"/>
              </a:xfrm>
              <a:custGeom>
                <a:avLst/>
                <a:gdLst>
                  <a:gd name="GluePoint1X" fmla="*/ 0 w 325"/>
                  <a:gd name="GluePoint1Y" fmla="*/ 2147483647 h 198"/>
                  <a:gd name="GluePoint2X" fmla="*/ 2147483647 w 325"/>
                  <a:gd name="GluePoint2Y" fmla="*/ 2147483647 h 198"/>
                  <a:gd name="GluePoint3X" fmla="*/ 2147483647 w 325"/>
                  <a:gd name="GluePoint3Y" fmla="*/ 2147483647 h 198"/>
                  <a:gd name="GluePoint4X" fmla="*/ 2147483647 w 325"/>
                  <a:gd name="GluePoint4Y" fmla="*/ 2147483647 h 198"/>
                  <a:gd name="GluePoint5X" fmla="*/ 2147483647 w 325"/>
                  <a:gd name="GluePoint5Y" fmla="*/ 2147483647 h 198"/>
                  <a:gd name="GluePoint6X" fmla="*/ 2147483647 w 325"/>
                  <a:gd name="GluePoint6Y" fmla="*/ 2147483647 h 198"/>
                  <a:gd name="GluePoint7X" fmla="*/ 2147483647 w 325"/>
                  <a:gd name="GluePoint7Y" fmla="*/ 2147483647 h 198"/>
                  <a:gd name="GluePoint8X" fmla="*/ 2147483647 w 325"/>
                  <a:gd name="GluePoint8Y" fmla="*/ 2147483647 h 198"/>
                  <a:gd name="GluePoint9X" fmla="*/ 2147483647 w 325"/>
                  <a:gd name="GluePoint9Y" fmla="*/ 2147483647 h 198"/>
                  <a:gd name="GluePoint10X" fmla="*/ 2147483647 w 325"/>
                  <a:gd name="GluePoint10Y" fmla="*/ 2147483647 h 198"/>
                  <a:gd name="GluePoint11X" fmla="*/ 2147483647 w 325"/>
                  <a:gd name="GluePoint11Y" fmla="*/ 2147483647 h 198"/>
                  <a:gd name="GluePoint12X" fmla="*/ 2147483647 w 325"/>
                  <a:gd name="GluePoint12Y" fmla="*/ 2147483647 h 198"/>
                  <a:gd name="GluePoint13X" fmla="*/ 2147483647 w 325"/>
                  <a:gd name="GluePoint13Y" fmla="*/ 2147483647 h 198"/>
                  <a:gd name="GluePoint14X" fmla="*/ 2147483647 w 325"/>
                  <a:gd name="GluePoint14Y" fmla="*/ 2147483647 h 198"/>
                  <a:gd name="GluePoint15X" fmla="*/ 2147483647 w 325"/>
                  <a:gd name="GluePoint15Y" fmla="*/ 2147483647 h 198"/>
                  <a:gd name="GluePoint16X" fmla="*/ 2147483647 w 325"/>
                  <a:gd name="GluePoint16Y" fmla="*/ 2147483647 h 198"/>
                  <a:gd name="GluePoint17X" fmla="*/ 2147483647 w 325"/>
                  <a:gd name="GluePoint17Y" fmla="*/ 2147483647 h 198"/>
                  <a:gd name="GluePoint18X" fmla="*/ 2147483647 w 325"/>
                  <a:gd name="GluePoint18Y" fmla="*/ 2147483647 h 19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l" t="t" r="r" b="b"/>
                <a:pathLst>
                  <a:path w="325" h="198">
                    <a:moveTo>
                      <a:pt x="0" y="142"/>
                    </a:moveTo>
                    <a:cubicBezTo>
                      <a:pt x="24" y="150"/>
                      <a:pt x="55" y="198"/>
                      <a:pt x="78" y="170"/>
                    </a:cubicBezTo>
                    <a:cubicBezTo>
                      <a:pt x="100" y="143"/>
                      <a:pt x="126" y="115"/>
                      <a:pt x="155" y="96"/>
                    </a:cubicBezTo>
                    <a:cubicBezTo>
                      <a:pt x="169" y="86"/>
                      <a:pt x="184" y="80"/>
                      <a:pt x="194" y="66"/>
                    </a:cubicBezTo>
                    <a:cubicBezTo>
                      <a:pt x="200" y="56"/>
                      <a:pt x="200" y="56"/>
                      <a:pt x="213" y="58"/>
                    </a:cubicBezTo>
                    <a:cubicBezTo>
                      <a:pt x="224" y="59"/>
                      <a:pt x="230" y="58"/>
                      <a:pt x="242" y="55"/>
                    </a:cubicBezTo>
                    <a:cubicBezTo>
                      <a:pt x="250" y="52"/>
                      <a:pt x="259" y="52"/>
                      <a:pt x="268" y="51"/>
                    </a:cubicBezTo>
                    <a:cubicBezTo>
                      <a:pt x="277" y="50"/>
                      <a:pt x="291" y="53"/>
                      <a:pt x="299" y="52"/>
                    </a:cubicBezTo>
                    <a:cubicBezTo>
                      <a:pt x="311" y="51"/>
                      <a:pt x="325" y="32"/>
                      <a:pt x="318" y="19"/>
                    </a:cubicBezTo>
                    <a:cubicBezTo>
                      <a:pt x="307" y="35"/>
                      <a:pt x="314" y="30"/>
                      <a:pt x="303" y="12"/>
                    </a:cubicBezTo>
                    <a:cubicBezTo>
                      <a:pt x="295" y="0"/>
                      <a:pt x="261" y="13"/>
                      <a:pt x="248" y="8"/>
                    </a:cubicBezTo>
                    <a:cubicBezTo>
                      <a:pt x="252" y="30"/>
                      <a:pt x="251" y="41"/>
                      <a:pt x="230" y="47"/>
                    </a:cubicBezTo>
                    <a:cubicBezTo>
                      <a:pt x="216" y="50"/>
                      <a:pt x="199" y="49"/>
                      <a:pt x="189" y="38"/>
                    </a:cubicBezTo>
                    <a:cubicBezTo>
                      <a:pt x="184" y="52"/>
                      <a:pt x="190" y="62"/>
                      <a:pt x="172" y="70"/>
                    </a:cubicBezTo>
                    <a:cubicBezTo>
                      <a:pt x="159" y="76"/>
                      <a:pt x="144" y="77"/>
                      <a:pt x="130" y="72"/>
                    </a:cubicBezTo>
                    <a:cubicBezTo>
                      <a:pt x="151" y="99"/>
                      <a:pt x="95" y="122"/>
                      <a:pt x="83" y="140"/>
                    </a:cubicBezTo>
                    <a:cubicBezTo>
                      <a:pt x="74" y="155"/>
                      <a:pt x="64" y="163"/>
                      <a:pt x="45" y="157"/>
                    </a:cubicBezTo>
                    <a:cubicBezTo>
                      <a:pt x="37" y="154"/>
                      <a:pt x="14" y="152"/>
                      <a:pt x="9" y="143"/>
                    </a:cubicBezTo>
                  </a:path>
                </a:pathLst>
              </a:custGeom>
              <a:solidFill>
                <a:srgbClr val="d7d4d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3" name="Freeform 174"/>
              <p:cNvSpPr/>
              <p:nvPr/>
            </p:nvSpPr>
            <p:spPr>
              <a:xfrm flipH="1">
                <a:off x="6556320" y="1498320"/>
                <a:ext cx="285480" cy="246240"/>
              </a:xfrm>
              <a:custGeom>
                <a:avLst/>
                <a:gdLst>
                  <a:gd name="GluePoint1X" fmla="*/ 243346530 w 88"/>
                  <a:gd name="GluePoint1Y" fmla="*/ 0 h 73"/>
                  <a:gd name="GluePoint2X" fmla="*/ 2147483647 w 88"/>
                  <a:gd name="GluePoint2Y" fmla="*/ 2147483647 h 73"/>
                  <a:gd name="GluePoint3X" fmla="*/ 2147483647 w 88"/>
                  <a:gd name="GluePoint3Y" fmla="*/ 2147483647 h 73"/>
                  <a:gd name="GluePoint4X" fmla="*/ 2147483647 w 88"/>
                  <a:gd name="GluePoint4Y" fmla="*/ 2147483647 h 73"/>
                  <a:gd name="GluePoint5X" fmla="*/ 2147483647 w 88"/>
                  <a:gd name="GluePoint5Y" fmla="*/ 2147483647 h 73"/>
                  <a:gd name="GluePoint6X" fmla="*/ 2147483647 w 88"/>
                  <a:gd name="GluePoint6Y" fmla="*/ 2147483647 h 73"/>
                  <a:gd name="GluePoint7X" fmla="*/ 2147483647 w 88"/>
                  <a:gd name="GluePoint7Y" fmla="*/ 2147483647 h 73"/>
                  <a:gd name="GluePoint8X" fmla="*/ 2147483647 w 88"/>
                  <a:gd name="GluePoint8Y" fmla="*/ 2147483647 h 73"/>
                  <a:gd name="GluePoint9X" fmla="*/ 1491279648 w 88"/>
                  <a:gd name="GluePoint9Y" fmla="*/ 2147483647 h 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88" h="73">
                    <a:moveTo>
                      <a:pt x="1" y="0"/>
                    </a:moveTo>
                    <a:cubicBezTo>
                      <a:pt x="0" y="23"/>
                      <a:pt x="20" y="38"/>
                      <a:pt x="40" y="38"/>
                    </a:cubicBezTo>
                    <a:cubicBezTo>
                      <a:pt x="58" y="39"/>
                      <a:pt x="80" y="53"/>
                      <a:pt x="63" y="73"/>
                    </a:cubicBezTo>
                    <a:cubicBezTo>
                      <a:pt x="73" y="71"/>
                      <a:pt x="87" y="52"/>
                      <a:pt x="87" y="43"/>
                    </a:cubicBezTo>
                    <a:cubicBezTo>
                      <a:pt x="88" y="38"/>
                      <a:pt x="86" y="36"/>
                      <a:pt x="83" y="34"/>
                    </a:cubicBezTo>
                    <a:cubicBezTo>
                      <a:pt x="80" y="31"/>
                      <a:pt x="77" y="29"/>
                      <a:pt x="74" y="28"/>
                    </a:cubicBezTo>
                    <a:cubicBezTo>
                      <a:pt x="66" y="24"/>
                      <a:pt x="64" y="19"/>
                      <a:pt x="58" y="14"/>
                    </a:cubicBezTo>
                    <a:cubicBezTo>
                      <a:pt x="53" y="19"/>
                      <a:pt x="45" y="23"/>
                      <a:pt x="35" y="22"/>
                    </a:cubicBezTo>
                    <a:cubicBezTo>
                      <a:pt x="22" y="21"/>
                      <a:pt x="8" y="13"/>
                      <a:pt x="6" y="4"/>
                    </a:cubicBezTo>
                  </a:path>
                </a:pathLst>
              </a:custGeom>
              <a:solidFill>
                <a:srgbClr val="b8b2c5"/>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4" name="Freeform 175"/>
              <p:cNvSpPr/>
              <p:nvPr/>
            </p:nvSpPr>
            <p:spPr>
              <a:xfrm flipH="1">
                <a:off x="6534000" y="1622880"/>
                <a:ext cx="19440" cy="16200"/>
              </a:xfrm>
              <a:custGeom>
                <a:avLst/>
                <a:gdLst>
                  <a:gd name="GluePoint1X" fmla="*/ 0 w 6"/>
                  <a:gd name="GluePoint1Y" fmla="*/ 488200423 h 5"/>
                  <a:gd name="GluePoint2X" fmla="*/ 1765527064 w 6"/>
                  <a:gd name="GluePoint2Y" fmla="*/ 0 h 5"/>
                  <a:gd name="GluePoint3X" fmla="*/ 273961102 w 6"/>
                  <a:gd name="GluePoint3Y" fmla="*/ 2147483647 h 5"/>
                </a:gdLst>
                <a:ahLst/>
                <a:cxnLst>
                  <a:cxn ang="0">
                    <a:pos x="GluePoint1X" y="GluePoint1Y"/>
                  </a:cxn>
                  <a:cxn ang="0">
                    <a:pos x="GluePoint2X" y="GluePoint2Y"/>
                  </a:cxn>
                  <a:cxn ang="0">
                    <a:pos x="GluePoint3X" y="GluePoint3Y"/>
                  </a:cxn>
                </a:cxnLst>
                <a:rect l="l" t="t" r="r" b="b"/>
                <a:pathLst>
                  <a:path w="6" h="5">
                    <a:moveTo>
                      <a:pt x="0" y="1"/>
                    </a:moveTo>
                    <a:cubicBezTo>
                      <a:pt x="2" y="1"/>
                      <a:pt x="4" y="1"/>
                      <a:pt x="6" y="0"/>
                    </a:cubicBezTo>
                    <a:cubicBezTo>
                      <a:pt x="4" y="2"/>
                      <a:pt x="3" y="4"/>
                      <a:pt x="1" y="5"/>
                    </a:cubicBezTo>
                  </a:path>
                </a:pathLst>
              </a:custGeom>
              <a:solidFill>
                <a:srgbClr val="b8b2c5"/>
              </a:solidFill>
              <a:ln w="0">
                <a:noFill/>
              </a:ln>
            </p:spPr>
            <p:style>
              <a:lnRef idx="0"/>
              <a:fillRef idx="0"/>
              <a:effectRef idx="0"/>
              <a:fontRef idx="minor"/>
            </p:style>
            <p:txBody>
              <a:bodyPr lIns="90000" rIns="90000" tIns="-30600" bIns="-30600" anchor="t">
                <a:noAutofit/>
              </a:bodyPr>
              <a:p>
                <a:endParaRPr b="0" lang="en-US" sz="2400" strike="noStrike" u="none">
                  <a:solidFill>
                    <a:srgbClr val="ffff00"/>
                  </a:solidFill>
                  <a:effectLst/>
                  <a:uFillTx/>
                  <a:latin typeface="Times New Roman"/>
                </a:endParaRPr>
              </a:p>
            </p:txBody>
          </p:sp>
          <p:sp>
            <p:nvSpPr>
              <p:cNvPr id="395" name="Freeform 176"/>
              <p:cNvSpPr/>
              <p:nvPr/>
            </p:nvSpPr>
            <p:spPr>
              <a:xfrm flipH="1">
                <a:off x="5731200" y="1107720"/>
                <a:ext cx="187200" cy="284760"/>
              </a:xfrm>
              <a:custGeom>
                <a:avLst/>
                <a:gdLst>
                  <a:gd name="GluePoint1X" fmla="*/ 0 w 58"/>
                  <a:gd name="GluePoint1Y" fmla="*/ 0 h 84"/>
                  <a:gd name="GluePoint2X" fmla="*/ 2147483647 w 58"/>
                  <a:gd name="GluePoint2Y" fmla="*/ 2147483647 h 84"/>
                  <a:gd name="GluePoint3X" fmla="*/ 2147483647 w 58"/>
                  <a:gd name="GluePoint3Y" fmla="*/ 2147483647 h 84"/>
                  <a:gd name="GluePoint4X" fmla="*/ 2147483647 w 58"/>
                  <a:gd name="GluePoint4Y" fmla="*/ 2147483647 h 84"/>
                  <a:gd name="GluePoint5X" fmla="*/ 0 w 58"/>
                  <a:gd name="GluePoint5Y" fmla="*/ 0 h 84"/>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58" h="84">
                    <a:moveTo>
                      <a:pt x="0" y="0"/>
                    </a:moveTo>
                    <a:cubicBezTo>
                      <a:pt x="17" y="8"/>
                      <a:pt x="58" y="37"/>
                      <a:pt x="57" y="78"/>
                    </a:cubicBezTo>
                    <a:cubicBezTo>
                      <a:pt x="57" y="84"/>
                      <a:pt x="54" y="84"/>
                      <a:pt x="53" y="84"/>
                    </a:cubicBezTo>
                    <a:cubicBezTo>
                      <a:pt x="55" y="83"/>
                      <a:pt x="54" y="71"/>
                      <a:pt x="52" y="62"/>
                    </a:cubicBezTo>
                    <a:cubicBezTo>
                      <a:pt x="49" y="54"/>
                      <a:pt x="38" y="20"/>
                      <a:pt x="0" y="0"/>
                    </a:cubicBezTo>
                    <a:close/>
                  </a:path>
                </a:pathLst>
              </a:custGeom>
              <a:solidFill>
                <a:srgbClr val="f7efcc"/>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6" name="Freeform 177"/>
              <p:cNvSpPr/>
              <p:nvPr/>
            </p:nvSpPr>
            <p:spPr>
              <a:xfrm flipH="1">
                <a:off x="5903280" y="1077480"/>
                <a:ext cx="207360" cy="105120"/>
              </a:xfrm>
              <a:custGeom>
                <a:avLst/>
                <a:gdLst>
                  <a:gd name="GluePoint1X" fmla="*/ 2147483647 w 64"/>
                  <a:gd name="GluePoint1Y" fmla="*/ 970155044 h 31"/>
                  <a:gd name="GluePoint2X" fmla="*/ 0 w 64"/>
                  <a:gd name="GluePoint2Y" fmla="*/ 2147483647 h 31"/>
                  <a:gd name="GluePoint3X" fmla="*/ 2147483647 w 64"/>
                  <a:gd name="GluePoint3Y" fmla="*/ 2147483647 h 31"/>
                  <a:gd name="GluePoint4X" fmla="*/ 2147483647 w 64"/>
                  <a:gd name="GluePoint4Y" fmla="*/ 970155044 h 31"/>
                </a:gdLst>
                <a:ahLst/>
                <a:cxnLst>
                  <a:cxn ang="0">
                    <a:pos x="GluePoint1X" y="GluePoint1Y"/>
                  </a:cxn>
                  <a:cxn ang="0">
                    <a:pos x="GluePoint2X" y="GluePoint2Y"/>
                  </a:cxn>
                  <a:cxn ang="0">
                    <a:pos x="GluePoint3X" y="GluePoint3Y"/>
                  </a:cxn>
                  <a:cxn ang="0">
                    <a:pos x="GluePoint4X" y="GluePoint4Y"/>
                  </a:cxn>
                </a:cxnLst>
                <a:rect l="l" t="t" r="r" b="b"/>
                <a:pathLst>
                  <a:path w="64" h="31">
                    <a:moveTo>
                      <a:pt x="34" y="1"/>
                    </a:moveTo>
                    <a:cubicBezTo>
                      <a:pt x="29" y="0"/>
                      <a:pt x="0" y="12"/>
                      <a:pt x="0" y="12"/>
                    </a:cubicBezTo>
                    <a:cubicBezTo>
                      <a:pt x="11" y="11"/>
                      <a:pt x="36" y="10"/>
                      <a:pt x="64" y="31"/>
                    </a:cubicBezTo>
                    <a:cubicBezTo>
                      <a:pt x="58" y="24"/>
                      <a:pt x="19" y="7"/>
                      <a:pt x="34" y="1"/>
                    </a:cubicBezTo>
                    <a:close/>
                  </a:path>
                </a:pathLst>
              </a:custGeom>
              <a:solidFill>
                <a:srgbClr val="c3b80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7" name="Freeform 178"/>
              <p:cNvSpPr/>
              <p:nvPr/>
            </p:nvSpPr>
            <p:spPr>
              <a:xfrm flipH="1">
                <a:off x="5632560" y="1742040"/>
                <a:ext cx="162360" cy="168120"/>
              </a:xfrm>
              <a:custGeom>
                <a:avLst/>
                <a:gdLst>
                  <a:gd name="GluePoint1X" fmla="*/ 2147483647 w 50"/>
                  <a:gd name="GluePoint1Y" fmla="*/ 2147483647 h 50"/>
                  <a:gd name="GluePoint2X" fmla="*/ 2147483647 w 50"/>
                  <a:gd name="GluePoint2Y" fmla="*/ 2147483647 h 50"/>
                  <a:gd name="GluePoint3X" fmla="*/ 1758191220 w 50"/>
                  <a:gd name="GluePoint3Y" fmla="*/ 2147483647 h 50"/>
                  <a:gd name="GluePoint4X" fmla="*/ 572040913 w 50"/>
                  <a:gd name="GluePoint4Y" fmla="*/ 2147483647 h 50"/>
                  <a:gd name="GluePoint5X" fmla="*/ 0 w 50"/>
                  <a:gd name="GluePoint5Y" fmla="*/ 2147483647 h 50"/>
                  <a:gd name="GluePoint6X" fmla="*/ 572040913 w 50"/>
                  <a:gd name="GluePoint6Y" fmla="*/ 2147483647 h 50"/>
                  <a:gd name="GluePoint7X" fmla="*/ 2147483647 w 50"/>
                  <a:gd name="GluePoint7Y" fmla="*/ 2147483647 h 50"/>
                  <a:gd name="GluePoint8X" fmla="*/ 2147483647 w 50"/>
                  <a:gd name="GluePoint8Y" fmla="*/ 2147483647 h 50"/>
                  <a:gd name="GluePoint9X" fmla="*/ 2147483647 w 50"/>
                  <a:gd name="GluePoint9Y" fmla="*/ 2147483647 h 50"/>
                  <a:gd name="GluePoint10X" fmla="*/ 2147483647 w 50"/>
                  <a:gd name="GluePoint10Y" fmla="*/ 2147483647 h 50"/>
                  <a:gd name="GluePoint11X" fmla="*/ 2147483647 w 50"/>
                  <a:gd name="GluePoint11Y" fmla="*/ 2147483647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50" h="50">
                    <a:moveTo>
                      <a:pt x="33" y="49"/>
                    </a:moveTo>
                    <a:cubicBezTo>
                      <a:pt x="24" y="49"/>
                      <a:pt x="17" y="42"/>
                      <a:pt x="13" y="36"/>
                    </a:cubicBezTo>
                    <a:cubicBezTo>
                      <a:pt x="11" y="33"/>
                      <a:pt x="8" y="30"/>
                      <a:pt x="7" y="27"/>
                    </a:cubicBezTo>
                    <a:cubicBezTo>
                      <a:pt x="6" y="23"/>
                      <a:pt x="4" y="28"/>
                      <a:pt x="2" y="25"/>
                    </a:cubicBezTo>
                    <a:cubicBezTo>
                      <a:pt x="1" y="23"/>
                      <a:pt x="1" y="11"/>
                      <a:pt x="0" y="7"/>
                    </a:cubicBezTo>
                    <a:cubicBezTo>
                      <a:pt x="0" y="6"/>
                      <a:pt x="1" y="4"/>
                      <a:pt x="2" y="3"/>
                    </a:cubicBezTo>
                    <a:cubicBezTo>
                      <a:pt x="7" y="0"/>
                      <a:pt x="18" y="7"/>
                      <a:pt x="27" y="14"/>
                    </a:cubicBezTo>
                    <a:cubicBezTo>
                      <a:pt x="27" y="14"/>
                      <a:pt x="27" y="14"/>
                      <a:pt x="27" y="13"/>
                    </a:cubicBezTo>
                    <a:cubicBezTo>
                      <a:pt x="31" y="17"/>
                      <a:pt x="35" y="21"/>
                      <a:pt x="40" y="25"/>
                    </a:cubicBezTo>
                    <a:cubicBezTo>
                      <a:pt x="42" y="27"/>
                      <a:pt x="43" y="29"/>
                      <a:pt x="45" y="31"/>
                    </a:cubicBezTo>
                    <a:cubicBezTo>
                      <a:pt x="50" y="36"/>
                      <a:pt x="47" y="50"/>
                      <a:pt x="33" y="49"/>
                    </a:cubicBezTo>
                    <a:close/>
                  </a:path>
                </a:pathLst>
              </a:custGeom>
              <a:solidFill>
                <a:srgbClr val="ffd54a"/>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98" name="Freeform 179"/>
              <p:cNvSpPr/>
              <p:nvPr/>
            </p:nvSpPr>
            <p:spPr>
              <a:xfrm flipH="1">
                <a:off x="5681880" y="1823040"/>
                <a:ext cx="81360" cy="77760"/>
              </a:xfrm>
              <a:custGeom>
                <a:avLst/>
                <a:gdLst>
                  <a:gd name="GluePoint1X" fmla="*/ 0 w 25"/>
                  <a:gd name="GluePoint1Y" fmla="*/ 0 h 23"/>
                  <a:gd name="GluePoint2X" fmla="*/ 2147483647 w 25"/>
                  <a:gd name="GluePoint2Y" fmla="*/ 2147483647 h 23"/>
                  <a:gd name="GluePoint3X" fmla="*/ 0 w 25"/>
                  <a:gd name="GluePoint3Y" fmla="*/ 0 h 23"/>
                </a:gdLst>
                <a:ahLst/>
                <a:cxnLst>
                  <a:cxn ang="0">
                    <a:pos x="GluePoint1X" y="GluePoint1Y"/>
                  </a:cxn>
                  <a:cxn ang="0">
                    <a:pos x="GluePoint2X" y="GluePoint2Y"/>
                  </a:cxn>
                  <a:cxn ang="0">
                    <a:pos x="GluePoint3X" y="GluePoint3Y"/>
                  </a:cxn>
                </a:cxnLst>
                <a:rect l="l" t="t" r="r" b="b"/>
                <a:pathLst>
                  <a:path w="25" h="23">
                    <a:moveTo>
                      <a:pt x="0" y="0"/>
                    </a:moveTo>
                    <a:cubicBezTo>
                      <a:pt x="7" y="17"/>
                      <a:pt x="21" y="23"/>
                      <a:pt x="25" y="20"/>
                    </a:cubicBezTo>
                    <a:cubicBezTo>
                      <a:pt x="18" y="18"/>
                      <a:pt x="4" y="7"/>
                      <a:pt x="0" y="0"/>
                    </a:cubicBezTo>
                    <a:close/>
                  </a:path>
                </a:pathLst>
              </a:custGeom>
              <a:solidFill>
                <a:srgbClr val="f9b500"/>
              </a:solidFill>
              <a:ln w="0">
                <a:noFill/>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399" name="Freeform 180"/>
              <p:cNvSpPr/>
              <p:nvPr/>
            </p:nvSpPr>
            <p:spPr>
              <a:xfrm flipH="1">
                <a:off x="5646960" y="1761120"/>
                <a:ext cx="123120" cy="122040"/>
              </a:xfrm>
              <a:custGeom>
                <a:avLst/>
                <a:gdLst>
                  <a:gd name="GluePoint1X" fmla="*/ 2147483647 w 38"/>
                  <a:gd name="GluePoint1Y" fmla="*/ 2147483647 h 36"/>
                  <a:gd name="GluePoint2X" fmla="*/ 0 w 38"/>
                  <a:gd name="GluePoint2Y" fmla="*/ 0 h 36"/>
                  <a:gd name="GluePoint3X" fmla="*/ 2147483647 w 38"/>
                  <a:gd name="GluePoint3Y" fmla="*/ 2147483647 h 36"/>
                </a:gdLst>
                <a:ahLst/>
                <a:cxnLst>
                  <a:cxn ang="0">
                    <a:pos x="GluePoint1X" y="GluePoint1Y"/>
                  </a:cxn>
                  <a:cxn ang="0">
                    <a:pos x="GluePoint2X" y="GluePoint2Y"/>
                  </a:cxn>
                  <a:cxn ang="0">
                    <a:pos x="GluePoint3X" y="GluePoint3Y"/>
                  </a:cxn>
                </a:cxnLst>
                <a:rect l="l" t="t" r="r" b="b"/>
                <a:pathLst>
                  <a:path w="38" h="36">
                    <a:moveTo>
                      <a:pt x="35" y="36"/>
                    </a:moveTo>
                    <a:cubicBezTo>
                      <a:pt x="38" y="28"/>
                      <a:pt x="28" y="15"/>
                      <a:pt x="0" y="0"/>
                    </a:cubicBezTo>
                    <a:cubicBezTo>
                      <a:pt x="9" y="7"/>
                      <a:pt x="37" y="27"/>
                      <a:pt x="35" y="36"/>
                    </a:cubicBezTo>
                    <a:close/>
                  </a:path>
                </a:pathLst>
              </a:custGeom>
              <a:solidFill>
                <a:srgbClr val="fff5da"/>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00" name="Freeform 181"/>
              <p:cNvSpPr/>
              <p:nvPr/>
            </p:nvSpPr>
            <p:spPr>
              <a:xfrm flipH="1">
                <a:off x="5856840" y="1121400"/>
                <a:ext cx="507240" cy="183600"/>
              </a:xfrm>
              <a:custGeom>
                <a:avLst/>
                <a:gdLst>
                  <a:gd name="GluePoint1X" fmla="*/ 0 w 156"/>
                  <a:gd name="GluePoint1Y" fmla="*/ 2147483647 h 54"/>
                  <a:gd name="GluePoint2X" fmla="*/ 2147483647 w 156"/>
                  <a:gd name="GluePoint2Y" fmla="*/ 2147483647 h 54"/>
                  <a:gd name="GluePoint3X" fmla="*/ 0 w 156"/>
                  <a:gd name="GluePoint3Y" fmla="*/ 2147483647 h 54"/>
                </a:gdLst>
                <a:ahLst/>
                <a:cxnLst>
                  <a:cxn ang="0">
                    <a:pos x="GluePoint1X" y="GluePoint1Y"/>
                  </a:cxn>
                  <a:cxn ang="0">
                    <a:pos x="GluePoint2X" y="GluePoint2Y"/>
                  </a:cxn>
                  <a:cxn ang="0">
                    <a:pos x="GluePoint3X" y="GluePoint3Y"/>
                  </a:cxn>
                </a:cxnLst>
                <a:rect l="l" t="t" r="r" b="b"/>
                <a:pathLst>
                  <a:path w="156" h="54">
                    <a:moveTo>
                      <a:pt x="0" y="54"/>
                    </a:moveTo>
                    <a:cubicBezTo>
                      <a:pt x="11" y="42"/>
                      <a:pt x="84" y="0"/>
                      <a:pt x="156" y="49"/>
                    </a:cubicBezTo>
                    <a:cubicBezTo>
                      <a:pt x="140" y="40"/>
                      <a:pt x="70" y="15"/>
                      <a:pt x="0" y="54"/>
                    </a:cubicBezTo>
                    <a:close/>
                  </a:path>
                </a:pathLst>
              </a:custGeom>
              <a:solidFill>
                <a:srgbClr val="ecafad"/>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01" name="Freeform 182"/>
              <p:cNvSpPr/>
              <p:nvPr/>
            </p:nvSpPr>
            <p:spPr>
              <a:xfrm flipH="1">
                <a:off x="5958000" y="1189800"/>
                <a:ext cx="292680" cy="50760"/>
              </a:xfrm>
              <a:custGeom>
                <a:avLst/>
                <a:gdLst>
                  <a:gd name="GluePoint1X" fmla="*/ 2147483647 w 90"/>
                  <a:gd name="GluePoint1Y" fmla="*/ 2147483647 h 15"/>
                  <a:gd name="GluePoint2X" fmla="*/ 0 w 90"/>
                  <a:gd name="GluePoint2Y" fmla="*/ 2147483647 h 15"/>
                  <a:gd name="GluePoint3X" fmla="*/ 2147483647 w 90"/>
                  <a:gd name="GluePoint3Y" fmla="*/ 2147483647 h 15"/>
                </a:gdLst>
                <a:ahLst/>
                <a:cxnLst>
                  <a:cxn ang="0">
                    <a:pos x="GluePoint1X" y="GluePoint1Y"/>
                  </a:cxn>
                  <a:cxn ang="0">
                    <a:pos x="GluePoint2X" y="GluePoint2Y"/>
                  </a:cxn>
                  <a:cxn ang="0">
                    <a:pos x="GluePoint3X" y="GluePoint3Y"/>
                  </a:cxn>
                </a:cxnLst>
                <a:rect l="l" t="t" r="r" b="b"/>
                <a:pathLst>
                  <a:path w="90" h="15">
                    <a:moveTo>
                      <a:pt x="90" y="14"/>
                    </a:moveTo>
                    <a:cubicBezTo>
                      <a:pt x="53" y="0"/>
                      <a:pt x="12" y="9"/>
                      <a:pt x="0" y="15"/>
                    </a:cubicBezTo>
                    <a:cubicBezTo>
                      <a:pt x="17" y="11"/>
                      <a:pt x="49" y="3"/>
                      <a:pt x="90" y="14"/>
                    </a:cubicBezTo>
                    <a:close/>
                  </a:path>
                </a:pathLst>
              </a:custGeom>
              <a:solidFill>
                <a:srgbClr val="ffffff"/>
              </a:solidFill>
              <a:ln w="0">
                <a:noFill/>
              </a:ln>
            </p:spPr>
            <p:style>
              <a:lnRef idx="0"/>
              <a:fillRef idx="0"/>
              <a:effectRef idx="0"/>
              <a:fontRef idx="minor"/>
            </p:style>
            <p:txBody>
              <a:bodyPr lIns="90000" rIns="90000" tIns="3960" bIns="3960" anchor="t">
                <a:noAutofit/>
              </a:bodyPr>
              <a:p>
                <a:endParaRPr b="0" lang="en-US" sz="2400" strike="noStrike" u="none">
                  <a:solidFill>
                    <a:srgbClr val="ffff00"/>
                  </a:solidFill>
                  <a:effectLst/>
                  <a:uFillTx/>
                  <a:latin typeface="Times New Roman"/>
                </a:endParaRPr>
              </a:p>
            </p:txBody>
          </p:sp>
          <p:sp>
            <p:nvSpPr>
              <p:cNvPr id="402" name="Freeform 183"/>
              <p:cNvSpPr/>
              <p:nvPr/>
            </p:nvSpPr>
            <p:spPr>
              <a:xfrm flipH="1">
                <a:off x="5802120" y="1585800"/>
                <a:ext cx="263160" cy="73800"/>
              </a:xfrm>
              <a:custGeom>
                <a:avLst/>
                <a:gdLst>
                  <a:gd name="GluePoint1X" fmla="*/ 0 w 81"/>
                  <a:gd name="GluePoint1Y" fmla="*/ 2147483647 h 22"/>
                  <a:gd name="GluePoint2X" fmla="*/ 2147483647 w 81"/>
                  <a:gd name="GluePoint2Y" fmla="*/ 0 h 22"/>
                  <a:gd name="GluePoint3X" fmla="*/ 0 w 81"/>
                  <a:gd name="GluePoint3Y" fmla="*/ 2147483647 h 22"/>
                </a:gdLst>
                <a:ahLst/>
                <a:cxnLst>
                  <a:cxn ang="0">
                    <a:pos x="GluePoint1X" y="GluePoint1Y"/>
                  </a:cxn>
                  <a:cxn ang="0">
                    <a:pos x="GluePoint2X" y="GluePoint2Y"/>
                  </a:cxn>
                  <a:cxn ang="0">
                    <a:pos x="GluePoint3X" y="GluePoint3Y"/>
                  </a:cxn>
                </a:cxnLst>
                <a:rect l="l" t="t" r="r" b="b"/>
                <a:pathLst>
                  <a:path w="81" h="22">
                    <a:moveTo>
                      <a:pt x="0" y="12"/>
                    </a:moveTo>
                    <a:cubicBezTo>
                      <a:pt x="14" y="16"/>
                      <a:pt x="60" y="22"/>
                      <a:pt x="81" y="0"/>
                    </a:cubicBezTo>
                    <a:cubicBezTo>
                      <a:pt x="68" y="7"/>
                      <a:pt x="37" y="17"/>
                      <a:pt x="0" y="12"/>
                    </a:cubicBezTo>
                    <a:close/>
                  </a:path>
                </a:pathLst>
              </a:custGeom>
              <a:solidFill>
                <a:srgbClr val="ffffff"/>
              </a:solidFill>
              <a:ln w="0">
                <a:noFill/>
              </a:ln>
            </p:spPr>
            <p:style>
              <a:lnRef idx="0"/>
              <a:fillRef idx="0"/>
              <a:effectRef idx="0"/>
              <a:fontRef idx="minor"/>
            </p:style>
            <p:txBody>
              <a:bodyPr lIns="90000" rIns="90000" tIns="27000" bIns="27000" anchor="t">
                <a:noAutofit/>
              </a:bodyPr>
              <a:p>
                <a:endParaRPr b="0" lang="en-US" sz="2400" strike="noStrike" u="none">
                  <a:solidFill>
                    <a:srgbClr val="ffff00"/>
                  </a:solidFill>
                  <a:effectLst/>
                  <a:uFillTx/>
                  <a:latin typeface="Times New Roman"/>
                </a:endParaRPr>
              </a:p>
            </p:txBody>
          </p:sp>
          <p:sp>
            <p:nvSpPr>
              <p:cNvPr id="403" name="Freeform 184"/>
              <p:cNvSpPr/>
              <p:nvPr/>
            </p:nvSpPr>
            <p:spPr>
              <a:xfrm flipH="1">
                <a:off x="5750280" y="1714680"/>
                <a:ext cx="86760" cy="78120"/>
              </a:xfrm>
              <a:custGeom>
                <a:avLst/>
                <a:gdLst>
                  <a:gd name="GluePoint1X" fmla="*/ 1562897375 w 27"/>
                  <a:gd name="GluePoint1Y" fmla="*/ 2147483647 h 23"/>
                  <a:gd name="GluePoint2X" fmla="*/ 2147483647 w 27"/>
                  <a:gd name="GluePoint2Y" fmla="*/ 2147483647 h 23"/>
                  <a:gd name="GluePoint3X" fmla="*/ 1562897375 w 27"/>
                  <a:gd name="GluePoint3Y" fmla="*/ 2147483647 h 23"/>
                </a:gdLst>
                <a:ahLst/>
                <a:cxnLst>
                  <a:cxn ang="0">
                    <a:pos x="GluePoint1X" y="GluePoint1Y"/>
                  </a:cxn>
                  <a:cxn ang="0">
                    <a:pos x="GluePoint2X" y="GluePoint2Y"/>
                  </a:cxn>
                  <a:cxn ang="0">
                    <a:pos x="GluePoint3X" y="GluePoint3Y"/>
                  </a:cxn>
                </a:cxnLst>
                <a:rect l="l" t="t" r="r" b="b"/>
                <a:pathLst>
                  <a:path w="27" h="23">
                    <a:moveTo>
                      <a:pt x="8" y="23"/>
                    </a:moveTo>
                    <a:cubicBezTo>
                      <a:pt x="6" y="10"/>
                      <a:pt x="10" y="1"/>
                      <a:pt x="27" y="9"/>
                    </a:cubicBezTo>
                    <a:cubicBezTo>
                      <a:pt x="15" y="1"/>
                      <a:pt x="0" y="0"/>
                      <a:pt x="8" y="23"/>
                    </a:cubicBezTo>
                    <a:close/>
                  </a:path>
                </a:pathLst>
              </a:custGeom>
              <a:solidFill>
                <a:srgbClr val="ffffff"/>
              </a:solidFill>
              <a:ln w="0">
                <a:noFill/>
              </a:ln>
            </p:spPr>
            <p:style>
              <a:lnRef idx="0"/>
              <a:fillRef idx="0"/>
              <a:effectRef idx="0"/>
              <a:fontRef idx="minor"/>
            </p:style>
            <p:txBody>
              <a:bodyPr lIns="90000" rIns="90000" tIns="31320" bIns="31320" anchor="t">
                <a:noAutofit/>
              </a:bodyPr>
              <a:p>
                <a:endParaRPr b="0" lang="en-US" sz="2400" strike="noStrike" u="none">
                  <a:solidFill>
                    <a:srgbClr val="ffff00"/>
                  </a:solidFill>
                  <a:effectLst/>
                  <a:uFillTx/>
                  <a:latin typeface="Times New Roman"/>
                </a:endParaRPr>
              </a:p>
            </p:txBody>
          </p:sp>
          <p:sp>
            <p:nvSpPr>
              <p:cNvPr id="404" name="Freeform 185"/>
              <p:cNvSpPr/>
              <p:nvPr/>
            </p:nvSpPr>
            <p:spPr>
              <a:xfrm flipH="1">
                <a:off x="6477840" y="1779120"/>
                <a:ext cx="75600" cy="243720"/>
              </a:xfrm>
              <a:custGeom>
                <a:avLst/>
                <a:gdLst>
                  <a:gd name="GluePoint1X" fmla="*/ 2147483647 w 23"/>
                  <a:gd name="GluePoint1Y" fmla="*/ 2147483647 h 72"/>
                  <a:gd name="GluePoint2X" fmla="*/ 2147483647 w 23"/>
                  <a:gd name="GluePoint2Y" fmla="*/ 2147483647 h 72"/>
                  <a:gd name="GluePoint3X" fmla="*/ 2147483647 w 23"/>
                  <a:gd name="GluePoint3Y" fmla="*/ 2147483647 h 72"/>
                  <a:gd name="GluePoint4X" fmla="*/ 2147483647 w 23"/>
                  <a:gd name="GluePoint4Y" fmla="*/ 2147483647 h 72"/>
                  <a:gd name="GluePoint5X" fmla="*/ 2147483647 w 23"/>
                  <a:gd name="GluePoint5Y" fmla="*/ 2147483647 h 72"/>
                  <a:gd name="GluePoint6X" fmla="*/ 728662685 w 23"/>
                  <a:gd name="GluePoint6Y" fmla="*/ 2147483647 h 72"/>
                  <a:gd name="GluePoint7X" fmla="*/ 982924118 w 23"/>
                  <a:gd name="GluePoint7Y" fmla="*/ 2147483647 h 72"/>
                  <a:gd name="GluePoint8X" fmla="*/ 982924118 w 23"/>
                  <a:gd name="GluePoint8Y" fmla="*/ 2147483647 h 72"/>
                  <a:gd name="GluePoint9X" fmla="*/ 2147483647 w 23"/>
                  <a:gd name="GluePoint9Y" fmla="*/ 2147483647 h 72"/>
                  <a:gd name="GluePoint10X" fmla="*/ 2147483647 w 23"/>
                  <a:gd name="GluePoint10Y" fmla="*/ 0 h 72"/>
                  <a:gd name="GluePoint11X" fmla="*/ 2147483647 w 23"/>
                  <a:gd name="GluePoint11Y" fmla="*/ 2147483647 h 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23" h="72">
                    <a:moveTo>
                      <a:pt x="17" y="27"/>
                    </a:moveTo>
                    <a:cubicBezTo>
                      <a:pt x="18" y="31"/>
                      <a:pt x="23" y="35"/>
                      <a:pt x="23" y="39"/>
                    </a:cubicBezTo>
                    <a:cubicBezTo>
                      <a:pt x="23" y="43"/>
                      <a:pt x="18" y="45"/>
                      <a:pt x="17" y="50"/>
                    </a:cubicBezTo>
                    <a:cubicBezTo>
                      <a:pt x="17" y="54"/>
                      <a:pt x="20" y="58"/>
                      <a:pt x="19" y="62"/>
                    </a:cubicBezTo>
                    <a:cubicBezTo>
                      <a:pt x="18" y="65"/>
                      <a:pt x="15" y="69"/>
                      <a:pt x="13" y="72"/>
                    </a:cubicBezTo>
                    <a:cubicBezTo>
                      <a:pt x="9" y="67"/>
                      <a:pt x="0" y="62"/>
                      <a:pt x="2" y="54"/>
                    </a:cubicBezTo>
                    <a:cubicBezTo>
                      <a:pt x="3" y="50"/>
                      <a:pt x="5" y="49"/>
                      <a:pt x="3" y="45"/>
                    </a:cubicBezTo>
                    <a:cubicBezTo>
                      <a:pt x="2" y="42"/>
                      <a:pt x="1" y="40"/>
                      <a:pt x="3" y="37"/>
                    </a:cubicBezTo>
                    <a:cubicBezTo>
                      <a:pt x="5" y="31"/>
                      <a:pt x="12" y="29"/>
                      <a:pt x="12" y="22"/>
                    </a:cubicBezTo>
                    <a:cubicBezTo>
                      <a:pt x="12" y="14"/>
                      <a:pt x="10" y="7"/>
                      <a:pt x="18" y="0"/>
                    </a:cubicBezTo>
                    <a:cubicBezTo>
                      <a:pt x="14" y="6"/>
                      <a:pt x="14" y="15"/>
                      <a:pt x="17" y="21"/>
                    </a:cubicBezTo>
                  </a:path>
                </a:pathLst>
              </a:custGeom>
              <a:solidFill>
                <a:srgbClr val="fdddb1"/>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05" name="Freeform 186"/>
              <p:cNvSpPr/>
              <p:nvPr/>
            </p:nvSpPr>
            <p:spPr>
              <a:xfrm flipH="1">
                <a:off x="6546600" y="1548720"/>
                <a:ext cx="41760" cy="57240"/>
              </a:xfrm>
              <a:custGeom>
                <a:avLst/>
                <a:gdLst>
                  <a:gd name="GluePoint1X" fmla="*/ 1557183584 w 13"/>
                  <a:gd name="GluePoint1Y" fmla="*/ 0 h 17"/>
                  <a:gd name="GluePoint2X" fmla="*/ 2147483647 w 13"/>
                  <a:gd name="GluePoint2Y" fmla="*/ 2147483647 h 17"/>
                  <a:gd name="GluePoint3X" fmla="*/ 1191661925 w 13"/>
                  <a:gd name="GluePoint3Y" fmla="*/ 2147483647 h 17"/>
                </a:gdLst>
                <a:ahLst/>
                <a:cxnLst>
                  <a:cxn ang="0">
                    <a:pos x="GluePoint1X" y="GluePoint1Y"/>
                  </a:cxn>
                  <a:cxn ang="0">
                    <a:pos x="GluePoint2X" y="GluePoint2Y"/>
                  </a:cxn>
                  <a:cxn ang="0">
                    <a:pos x="GluePoint3X" y="GluePoint3Y"/>
                  </a:cxn>
                </a:cxnLst>
                <a:rect l="l" t="t" r="r" b="b"/>
                <a:pathLst>
                  <a:path w="13" h="17">
                    <a:moveTo>
                      <a:pt x="7" y="0"/>
                    </a:moveTo>
                    <a:cubicBezTo>
                      <a:pt x="0" y="5"/>
                      <a:pt x="5" y="16"/>
                      <a:pt x="13" y="17"/>
                    </a:cubicBezTo>
                    <a:cubicBezTo>
                      <a:pt x="7" y="13"/>
                      <a:pt x="7" y="9"/>
                      <a:pt x="5" y="2"/>
                    </a:cubicBezTo>
                  </a:path>
                </a:pathLst>
              </a:custGeom>
              <a:solidFill>
                <a:srgbClr val="ffffff"/>
              </a:solidFill>
              <a:ln w="0">
                <a:noFill/>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406" name="Freeform 187"/>
              <p:cNvSpPr/>
              <p:nvPr/>
            </p:nvSpPr>
            <p:spPr>
              <a:xfrm flipH="1">
                <a:off x="6499800" y="2018520"/>
                <a:ext cx="39240" cy="91800"/>
              </a:xfrm>
              <a:custGeom>
                <a:avLst/>
                <a:gdLst>
                  <a:gd name="GluePoint1X" fmla="*/ 1970997908 w 12"/>
                  <a:gd name="GluePoint1Y" fmla="*/ 2147483647 h 27"/>
                  <a:gd name="GluePoint2X" fmla="*/ 639242571 w 12"/>
                  <a:gd name="GluePoint2Y" fmla="*/ 2147483647 h 27"/>
                  <a:gd name="GluePoint3X" fmla="*/ 639242571 w 12"/>
                  <a:gd name="GluePoint3Y" fmla="*/ 2147483647 h 27"/>
                  <a:gd name="GluePoint4X" fmla="*/ 639242571 w 12"/>
                  <a:gd name="GluePoint4Y" fmla="*/ 2147483647 h 27"/>
                  <a:gd name="GluePoint5X" fmla="*/ 1970997908 w 12"/>
                  <a:gd name="GluePoint5Y" fmla="*/ 2147483647 h 27"/>
                  <a:gd name="GluePoint6X" fmla="*/ 2147483647 w 12"/>
                  <a:gd name="GluePoint6Y" fmla="*/ 2147483647 h 27"/>
                  <a:gd name="GluePoint7X" fmla="*/ 2147483647 w 12"/>
                  <a:gd name="GluePoint7Y" fmla="*/ 0 h 2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2" h="27">
                    <a:moveTo>
                      <a:pt x="7" y="5"/>
                    </a:moveTo>
                    <a:cubicBezTo>
                      <a:pt x="5" y="6"/>
                      <a:pt x="3" y="7"/>
                      <a:pt x="2" y="9"/>
                    </a:cubicBezTo>
                    <a:cubicBezTo>
                      <a:pt x="0" y="11"/>
                      <a:pt x="2" y="11"/>
                      <a:pt x="2" y="14"/>
                    </a:cubicBezTo>
                    <a:cubicBezTo>
                      <a:pt x="3" y="18"/>
                      <a:pt x="1" y="23"/>
                      <a:pt x="2" y="27"/>
                    </a:cubicBezTo>
                    <a:cubicBezTo>
                      <a:pt x="7" y="25"/>
                      <a:pt x="5" y="16"/>
                      <a:pt x="7" y="13"/>
                    </a:cubicBezTo>
                    <a:cubicBezTo>
                      <a:pt x="9" y="11"/>
                      <a:pt x="11" y="10"/>
                      <a:pt x="11" y="7"/>
                    </a:cubicBezTo>
                    <a:cubicBezTo>
                      <a:pt x="12" y="4"/>
                      <a:pt x="9" y="3"/>
                      <a:pt x="9" y="0"/>
                    </a:cubicBezTo>
                  </a:path>
                </a:pathLst>
              </a:custGeom>
              <a:solidFill>
                <a:srgbClr val="fdddb1"/>
              </a:solidFill>
              <a:ln w="0">
                <a:noFill/>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407" name="Freeform 188"/>
              <p:cNvSpPr/>
              <p:nvPr/>
            </p:nvSpPr>
            <p:spPr>
              <a:xfrm flipH="1">
                <a:off x="6748200" y="2666880"/>
                <a:ext cx="34920" cy="175320"/>
              </a:xfrm>
              <a:custGeom>
                <a:avLst/>
                <a:gdLst>
                  <a:gd name="GluePoint1X" fmla="*/ 607135836 w 11"/>
                  <a:gd name="GluePoint1Y" fmla="*/ 0 h 52"/>
                  <a:gd name="GluePoint2X" fmla="*/ 0 w 11"/>
                  <a:gd name="GluePoint2Y" fmla="*/ 2147483647 h 52"/>
                  <a:gd name="GluePoint3X" fmla="*/ 607135836 w 11"/>
                  <a:gd name="GluePoint3Y" fmla="*/ 2147483647 h 52"/>
                </a:gdLst>
                <a:ahLst/>
                <a:cxnLst>
                  <a:cxn ang="0">
                    <a:pos x="GluePoint1X" y="GluePoint1Y"/>
                  </a:cxn>
                  <a:cxn ang="0">
                    <a:pos x="GluePoint2X" y="GluePoint2Y"/>
                  </a:cxn>
                  <a:cxn ang="0">
                    <a:pos x="GluePoint3X" y="GluePoint3Y"/>
                  </a:cxn>
                </a:cxnLst>
                <a:rect l="l" t="t" r="r" b="b"/>
                <a:pathLst>
                  <a:path w="11" h="52">
                    <a:moveTo>
                      <a:pt x="4" y="0"/>
                    </a:moveTo>
                    <a:cubicBezTo>
                      <a:pt x="3" y="7"/>
                      <a:pt x="0" y="16"/>
                      <a:pt x="0" y="22"/>
                    </a:cubicBezTo>
                    <a:cubicBezTo>
                      <a:pt x="0" y="30"/>
                      <a:pt x="11" y="44"/>
                      <a:pt x="4" y="52"/>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08" name="Freeform 189"/>
              <p:cNvSpPr/>
              <p:nvPr/>
            </p:nvSpPr>
            <p:spPr>
              <a:xfrm flipH="1">
                <a:off x="7246080" y="2412000"/>
                <a:ext cx="126000" cy="70920"/>
              </a:xfrm>
              <a:custGeom>
                <a:avLst/>
                <a:gdLst>
                  <a:gd name="GluePoint1X" fmla="*/ 2147483647 w 39"/>
                  <a:gd name="GluePoint1Y" fmla="*/ 0 h 21"/>
                  <a:gd name="GluePoint2X" fmla="*/ 2147483647 w 39"/>
                  <a:gd name="GluePoint2Y" fmla="*/ 2147483647 h 21"/>
                  <a:gd name="GluePoint3X" fmla="*/ 0 w 39"/>
                  <a:gd name="GluePoint3Y" fmla="*/ 2147483647 h 21"/>
                </a:gdLst>
                <a:ahLst/>
                <a:cxnLst>
                  <a:cxn ang="0">
                    <a:pos x="GluePoint1X" y="GluePoint1Y"/>
                  </a:cxn>
                  <a:cxn ang="0">
                    <a:pos x="GluePoint2X" y="GluePoint2Y"/>
                  </a:cxn>
                  <a:cxn ang="0">
                    <a:pos x="GluePoint3X" y="GluePoint3Y"/>
                  </a:cxn>
                </a:cxnLst>
                <a:rect l="l" t="t" r="r" b="b"/>
                <a:pathLst>
                  <a:path w="39" h="21">
                    <a:moveTo>
                      <a:pt x="39" y="0"/>
                    </a:moveTo>
                    <a:cubicBezTo>
                      <a:pt x="34" y="8"/>
                      <a:pt x="29" y="3"/>
                      <a:pt x="23" y="7"/>
                    </a:cubicBezTo>
                    <a:cubicBezTo>
                      <a:pt x="18" y="9"/>
                      <a:pt x="6" y="21"/>
                      <a:pt x="0" y="21"/>
                    </a:cubicBezTo>
                  </a:path>
                </a:pathLst>
              </a:custGeom>
              <a:noFill/>
              <a:ln cap="rnd" w="7920">
                <a:solidFill>
                  <a:srgbClr val="d7c1c4"/>
                </a:solidFill>
                <a:round/>
              </a:ln>
            </p:spPr>
            <p:style>
              <a:lnRef idx="0"/>
              <a:fillRef idx="0"/>
              <a:effectRef idx="0"/>
              <a:fontRef idx="minor"/>
            </p:style>
            <p:txBody>
              <a:bodyPr lIns="90000" rIns="90000" tIns="24120" bIns="24120" anchor="t">
                <a:noAutofit/>
              </a:bodyPr>
              <a:p>
                <a:endParaRPr b="0" lang="en-US" sz="2400" strike="noStrike" u="none">
                  <a:solidFill>
                    <a:srgbClr val="ffff00"/>
                  </a:solidFill>
                  <a:effectLst/>
                  <a:uFillTx/>
                  <a:latin typeface="Times New Roman"/>
                </a:endParaRPr>
              </a:p>
            </p:txBody>
          </p:sp>
          <p:sp>
            <p:nvSpPr>
              <p:cNvPr id="409" name="Freeform 190"/>
              <p:cNvSpPr/>
              <p:nvPr/>
            </p:nvSpPr>
            <p:spPr>
              <a:xfrm flipH="1">
                <a:off x="7273800" y="2294280"/>
                <a:ext cx="140040" cy="57240"/>
              </a:xfrm>
              <a:custGeom>
                <a:avLst/>
                <a:gdLst>
                  <a:gd name="GluePoint1X" fmla="*/ 2147483647 w 43"/>
                  <a:gd name="GluePoint1Y" fmla="*/ 871218889 h 17"/>
                  <a:gd name="GluePoint2X" fmla="*/ 0 w 43"/>
                  <a:gd name="GluePoint2Y" fmla="*/ 2147483647 h 17"/>
                </a:gdLst>
                <a:ahLst/>
                <a:cxnLst>
                  <a:cxn ang="0">
                    <a:pos x="GluePoint1X" y="GluePoint1Y"/>
                  </a:cxn>
                  <a:cxn ang="0">
                    <a:pos x="GluePoint2X" y="GluePoint2Y"/>
                  </a:cxn>
                </a:cxnLst>
                <a:rect l="l" t="t" r="r" b="b"/>
                <a:pathLst>
                  <a:path w="43" h="17">
                    <a:moveTo>
                      <a:pt x="43" y="1"/>
                    </a:moveTo>
                    <a:cubicBezTo>
                      <a:pt x="33" y="0"/>
                      <a:pt x="13" y="17"/>
                      <a:pt x="0" y="6"/>
                    </a:cubicBezTo>
                  </a:path>
                </a:pathLst>
              </a:custGeom>
              <a:noFill/>
              <a:ln cap="rnd" w="7920">
                <a:solidFill>
                  <a:srgbClr val="d7c1c4"/>
                </a:solidFill>
                <a:round/>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410" name="Freeform 191"/>
              <p:cNvSpPr/>
              <p:nvPr/>
            </p:nvSpPr>
            <p:spPr>
              <a:xfrm flipH="1">
                <a:off x="6566400" y="2660040"/>
                <a:ext cx="38880" cy="158760"/>
              </a:xfrm>
              <a:custGeom>
                <a:avLst/>
                <a:gdLst>
                  <a:gd name="GluePoint1X" fmla="*/ 0 w 12"/>
                  <a:gd name="GluePoint1Y" fmla="*/ 0 h 47"/>
                  <a:gd name="GluePoint2X" fmla="*/ 1765527064 w 12"/>
                  <a:gd name="GluePoint2Y" fmla="*/ 2147483647 h 47"/>
                </a:gdLst>
                <a:ahLst/>
                <a:cxnLst>
                  <a:cxn ang="0">
                    <a:pos x="GluePoint1X" y="GluePoint1Y"/>
                  </a:cxn>
                  <a:cxn ang="0">
                    <a:pos x="GluePoint2X" y="GluePoint2Y"/>
                  </a:cxn>
                </a:cxnLst>
                <a:rect l="l" t="t" r="r" b="b"/>
                <a:pathLst>
                  <a:path w="12" h="47">
                    <a:moveTo>
                      <a:pt x="0" y="0"/>
                    </a:moveTo>
                    <a:cubicBezTo>
                      <a:pt x="12" y="18"/>
                      <a:pt x="8" y="34"/>
                      <a:pt x="6" y="47"/>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1" name="Freeform 192"/>
              <p:cNvSpPr/>
              <p:nvPr/>
            </p:nvSpPr>
            <p:spPr>
              <a:xfrm flipH="1">
                <a:off x="6611400" y="2666880"/>
                <a:ext cx="41760" cy="165600"/>
              </a:xfrm>
              <a:custGeom>
                <a:avLst/>
                <a:gdLst>
                  <a:gd name="GluePoint1X" fmla="*/ 223767628 w 13"/>
                  <a:gd name="GluePoint1Y" fmla="*/ 0 h 49"/>
                  <a:gd name="GluePoint2X" fmla="*/ 0 w 13"/>
                  <a:gd name="GluePoint2Y" fmla="*/ 2147483647 h 49"/>
                </a:gdLst>
                <a:ahLst/>
                <a:cxnLst>
                  <a:cxn ang="0">
                    <a:pos x="GluePoint1X" y="GluePoint1Y"/>
                  </a:cxn>
                  <a:cxn ang="0">
                    <a:pos x="GluePoint2X" y="GluePoint2Y"/>
                  </a:cxn>
                </a:cxnLst>
                <a:rect l="l" t="t" r="r" b="b"/>
                <a:pathLst>
                  <a:path w="13" h="49">
                    <a:moveTo>
                      <a:pt x="1" y="0"/>
                    </a:moveTo>
                    <a:cubicBezTo>
                      <a:pt x="6" y="11"/>
                      <a:pt x="13" y="38"/>
                      <a:pt x="0" y="49"/>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2" name="Freeform 193"/>
              <p:cNvSpPr/>
              <p:nvPr/>
            </p:nvSpPr>
            <p:spPr>
              <a:xfrm flipH="1">
                <a:off x="6689520" y="2680560"/>
                <a:ext cx="19080" cy="161640"/>
              </a:xfrm>
              <a:custGeom>
                <a:avLst/>
                <a:gdLst>
                  <a:gd name="GluePoint1X" fmla="*/ 1118674480 w 6"/>
                  <a:gd name="GluePoint1Y" fmla="*/ 0 h 48"/>
                  <a:gd name="GluePoint2X" fmla="*/ 1765527064 w 6"/>
                  <a:gd name="GluePoint2Y" fmla="*/ 2147483647 h 48"/>
                </a:gdLst>
                <a:ahLst/>
                <a:cxnLst>
                  <a:cxn ang="0">
                    <a:pos x="GluePoint1X" y="GluePoint1Y"/>
                  </a:cxn>
                  <a:cxn ang="0">
                    <a:pos x="GluePoint2X" y="GluePoint2Y"/>
                  </a:cxn>
                </a:cxnLst>
                <a:rect l="l" t="t" r="r" b="b"/>
                <a:pathLst>
                  <a:path w="6" h="48">
                    <a:moveTo>
                      <a:pt x="4" y="0"/>
                    </a:moveTo>
                    <a:cubicBezTo>
                      <a:pt x="0" y="12"/>
                      <a:pt x="5" y="35"/>
                      <a:pt x="6" y="48"/>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3" name="Freeform 194"/>
              <p:cNvSpPr/>
              <p:nvPr/>
            </p:nvSpPr>
            <p:spPr>
              <a:xfrm flipH="1">
                <a:off x="6509880" y="2622960"/>
                <a:ext cx="39240" cy="198360"/>
              </a:xfrm>
              <a:custGeom>
                <a:avLst/>
                <a:gdLst>
                  <a:gd name="GluePoint1X" fmla="*/ 0 w 12"/>
                  <a:gd name="GluePoint1Y" fmla="*/ 0 h 59"/>
                  <a:gd name="GluePoint2X" fmla="*/ 0 w 12"/>
                  <a:gd name="GluePoint2Y" fmla="*/ 2147483647 h 59"/>
                </a:gdLst>
                <a:ahLst/>
                <a:cxnLst>
                  <a:cxn ang="0">
                    <a:pos x="GluePoint1X" y="GluePoint1Y"/>
                  </a:cxn>
                  <a:cxn ang="0">
                    <a:pos x="GluePoint2X" y="GluePoint2Y"/>
                  </a:cxn>
                </a:cxnLst>
                <a:rect l="l" t="t" r="r" b="b"/>
                <a:pathLst>
                  <a:path w="12" h="59">
                    <a:moveTo>
                      <a:pt x="0" y="0"/>
                    </a:moveTo>
                    <a:cubicBezTo>
                      <a:pt x="12" y="27"/>
                      <a:pt x="5" y="46"/>
                      <a:pt x="0" y="59"/>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4" name="Freeform 195"/>
              <p:cNvSpPr/>
              <p:nvPr/>
            </p:nvSpPr>
            <p:spPr>
              <a:xfrm flipH="1">
                <a:off x="6852240" y="2669760"/>
                <a:ext cx="19440" cy="151920"/>
              </a:xfrm>
              <a:custGeom>
                <a:avLst/>
                <a:gdLst>
                  <a:gd name="GluePoint1X" fmla="*/ 844713389 w 6"/>
                  <a:gd name="GluePoint1Y" fmla="*/ 0 h 45"/>
                  <a:gd name="GluePoint2X" fmla="*/ 1765527064 w 6"/>
                  <a:gd name="GluePoint2Y" fmla="*/ 2147483647 h 45"/>
                </a:gdLst>
                <a:ahLst/>
                <a:cxnLst>
                  <a:cxn ang="0">
                    <a:pos x="GluePoint1X" y="GluePoint1Y"/>
                  </a:cxn>
                  <a:cxn ang="0">
                    <a:pos x="GluePoint2X" y="GluePoint2Y"/>
                  </a:cxn>
                </a:cxnLst>
                <a:rect l="l" t="t" r="r" b="b"/>
                <a:pathLst>
                  <a:path w="6" h="45">
                    <a:moveTo>
                      <a:pt x="3" y="0"/>
                    </a:moveTo>
                    <a:cubicBezTo>
                      <a:pt x="0" y="12"/>
                      <a:pt x="2" y="33"/>
                      <a:pt x="6" y="45"/>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5" name="Freeform 196"/>
              <p:cNvSpPr/>
              <p:nvPr/>
            </p:nvSpPr>
            <p:spPr>
              <a:xfrm flipH="1">
                <a:off x="6965280" y="2625840"/>
                <a:ext cx="36360" cy="169920"/>
              </a:xfrm>
              <a:custGeom>
                <a:avLst/>
                <a:gdLst>
                  <a:gd name="GluePoint1X" fmla="*/ 2147483647 w 11"/>
                  <a:gd name="GluePoint1Y" fmla="*/ 0 h 50"/>
                  <a:gd name="GluePoint2X" fmla="*/ 2147483647 w 11"/>
                  <a:gd name="GluePoint2Y" fmla="*/ 2147483647 h 50"/>
                </a:gdLst>
                <a:ahLst/>
                <a:cxnLst>
                  <a:cxn ang="0">
                    <a:pos x="GluePoint1X" y="GluePoint1Y"/>
                  </a:cxn>
                  <a:cxn ang="0">
                    <a:pos x="GluePoint2X" y="GluePoint2Y"/>
                  </a:cxn>
                </a:cxnLst>
                <a:rect l="l" t="t" r="r" b="b"/>
                <a:pathLst>
                  <a:path w="11" h="50">
                    <a:moveTo>
                      <a:pt x="11" y="0"/>
                    </a:moveTo>
                    <a:cubicBezTo>
                      <a:pt x="3" y="11"/>
                      <a:pt x="0" y="40"/>
                      <a:pt x="9" y="50"/>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6" name="Freeform 197"/>
              <p:cNvSpPr/>
              <p:nvPr/>
            </p:nvSpPr>
            <p:spPr>
              <a:xfrm flipH="1">
                <a:off x="7043760" y="2612160"/>
                <a:ext cx="34920" cy="94320"/>
              </a:xfrm>
              <a:custGeom>
                <a:avLst/>
                <a:gdLst>
                  <a:gd name="GluePoint1X" fmla="*/ 1753728611 w 11"/>
                  <a:gd name="GluePoint1Y" fmla="*/ 0 h 28"/>
                  <a:gd name="GluePoint2X" fmla="*/ 0 w 11"/>
                  <a:gd name="GluePoint2Y" fmla="*/ 2147483647 h 28"/>
                </a:gdLst>
                <a:ahLst/>
                <a:cxnLst>
                  <a:cxn ang="0">
                    <a:pos x="GluePoint1X" y="GluePoint1Y"/>
                  </a:cxn>
                  <a:cxn ang="0">
                    <a:pos x="GluePoint2X" y="GluePoint2Y"/>
                  </a:cxn>
                </a:cxnLst>
                <a:rect l="l" t="t" r="r" b="b"/>
                <a:pathLst>
                  <a:path w="11" h="28">
                    <a:moveTo>
                      <a:pt x="11" y="0"/>
                    </a:moveTo>
                    <a:cubicBezTo>
                      <a:pt x="7" y="5"/>
                      <a:pt x="5" y="27"/>
                      <a:pt x="0" y="28"/>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7" name="Freeform 198"/>
              <p:cNvSpPr/>
              <p:nvPr/>
            </p:nvSpPr>
            <p:spPr>
              <a:xfrm flipH="1">
                <a:off x="7135200" y="2575080"/>
                <a:ext cx="29520" cy="111960"/>
              </a:xfrm>
              <a:custGeom>
                <a:avLst/>
                <a:gdLst>
                  <a:gd name="GluePoint1X" fmla="*/ 2147483647 w 9"/>
                  <a:gd name="GluePoint1Y" fmla="*/ 0 h 33"/>
                  <a:gd name="GluePoint2X" fmla="*/ 273961102 w 9"/>
                  <a:gd name="GluePoint2Y" fmla="*/ 2147483647 h 33"/>
                </a:gdLst>
                <a:ahLst/>
                <a:cxnLst>
                  <a:cxn ang="0">
                    <a:pos x="GluePoint1X" y="GluePoint1Y"/>
                  </a:cxn>
                  <a:cxn ang="0">
                    <a:pos x="GluePoint2X" y="GluePoint2Y"/>
                  </a:cxn>
                </a:cxnLst>
                <a:rect l="l" t="t" r="r" b="b"/>
                <a:pathLst>
                  <a:path w="9" h="33">
                    <a:moveTo>
                      <a:pt x="9" y="0"/>
                    </a:moveTo>
                    <a:cubicBezTo>
                      <a:pt x="4" y="11"/>
                      <a:pt x="0" y="24"/>
                      <a:pt x="1" y="33"/>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8" name="Freeform 199"/>
              <p:cNvSpPr/>
              <p:nvPr/>
            </p:nvSpPr>
            <p:spPr>
              <a:xfrm flipH="1">
                <a:off x="7155000" y="2538360"/>
                <a:ext cx="44640" cy="104040"/>
              </a:xfrm>
              <a:custGeom>
                <a:avLst/>
                <a:gdLst>
                  <a:gd name="GluePoint1X" fmla="*/ 2147483647 w 14"/>
                  <a:gd name="GluePoint1Y" fmla="*/ 0 h 31"/>
                  <a:gd name="GluePoint2X" fmla="*/ 0 w 14"/>
                  <a:gd name="GluePoint2Y" fmla="*/ 2147483647 h 31"/>
                </a:gdLst>
                <a:ahLst/>
                <a:cxnLst>
                  <a:cxn ang="0">
                    <a:pos x="GluePoint1X" y="GluePoint1Y"/>
                  </a:cxn>
                  <a:cxn ang="0">
                    <a:pos x="GluePoint2X" y="GluePoint2Y"/>
                  </a:cxn>
                </a:cxnLst>
                <a:rect l="l" t="t" r="r" b="b"/>
                <a:pathLst>
                  <a:path w="14" h="31">
                    <a:moveTo>
                      <a:pt x="14" y="0"/>
                    </a:moveTo>
                    <a:cubicBezTo>
                      <a:pt x="14" y="5"/>
                      <a:pt x="7" y="31"/>
                      <a:pt x="0" y="30"/>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19" name="Freeform 200"/>
              <p:cNvSpPr/>
              <p:nvPr/>
            </p:nvSpPr>
            <p:spPr>
              <a:xfrm flipH="1">
                <a:off x="7180200" y="2090160"/>
                <a:ext cx="97920" cy="24480"/>
              </a:xfrm>
              <a:custGeom>
                <a:avLst/>
                <a:gdLst>
                  <a:gd name="GluePoint1X" fmla="*/ 2147483647 w 30"/>
                  <a:gd name="GluePoint1Y" fmla="*/ 2147483647 h 7"/>
                  <a:gd name="GluePoint2X" fmla="*/ 0 w 30"/>
                  <a:gd name="GluePoint2Y" fmla="*/ 2147483647 h 7"/>
                  <a:gd name="GluePoint3X" fmla="*/ 844713389 w 30"/>
                  <a:gd name="GluePoint3Y" fmla="*/ 0 h 7"/>
                </a:gdLst>
                <a:ahLst/>
                <a:cxnLst>
                  <a:cxn ang="0">
                    <a:pos x="GluePoint1X" y="GluePoint1Y"/>
                  </a:cxn>
                  <a:cxn ang="0">
                    <a:pos x="GluePoint2X" y="GluePoint2Y"/>
                  </a:cxn>
                  <a:cxn ang="0">
                    <a:pos x="GluePoint3X" y="GluePoint3Y"/>
                  </a:cxn>
                </a:cxnLst>
                <a:rect l="l" t="t" r="r" b="b"/>
                <a:pathLst>
                  <a:path w="30" h="7">
                    <a:moveTo>
                      <a:pt x="30" y="1"/>
                    </a:moveTo>
                    <a:cubicBezTo>
                      <a:pt x="19" y="1"/>
                      <a:pt x="11" y="7"/>
                      <a:pt x="0" y="2"/>
                    </a:cubicBezTo>
                    <a:cubicBezTo>
                      <a:pt x="1" y="1"/>
                      <a:pt x="2" y="1"/>
                      <a:pt x="3" y="0"/>
                    </a:cubicBezTo>
                  </a:path>
                </a:pathLst>
              </a:custGeom>
              <a:noFill/>
              <a:ln cap="rnd" w="7920">
                <a:solidFill>
                  <a:srgbClr val="d7c1c4"/>
                </a:solidFill>
                <a:round/>
              </a:ln>
            </p:spPr>
            <p:style>
              <a:lnRef idx="0"/>
              <a:fillRef idx="0"/>
              <a:effectRef idx="0"/>
              <a:fontRef idx="minor"/>
            </p:style>
            <p:txBody>
              <a:bodyPr lIns="90000" rIns="90000" tIns="-22320" bIns="-22320" anchor="t">
                <a:noAutofit/>
              </a:bodyPr>
              <a:p>
                <a:endParaRPr b="0" lang="en-US" sz="2400" strike="noStrike" u="none">
                  <a:solidFill>
                    <a:srgbClr val="ffff00"/>
                  </a:solidFill>
                  <a:effectLst/>
                  <a:uFillTx/>
                  <a:latin typeface="Times New Roman"/>
                </a:endParaRPr>
              </a:p>
            </p:txBody>
          </p:sp>
          <p:sp>
            <p:nvSpPr>
              <p:cNvPr id="420" name="Freeform 201"/>
              <p:cNvSpPr/>
              <p:nvPr/>
            </p:nvSpPr>
            <p:spPr>
              <a:xfrm flipH="1">
                <a:off x="7105680" y="1961280"/>
                <a:ext cx="34920" cy="17640"/>
              </a:xfrm>
              <a:custGeom>
                <a:avLst/>
                <a:gdLst>
                  <a:gd name="GluePoint1X" fmla="*/ 1753728611 w 11"/>
                  <a:gd name="GluePoint1Y" fmla="*/ 2147483647 h 5"/>
                  <a:gd name="GluePoint2X" fmla="*/ 339521859 w 11"/>
                  <a:gd name="GluePoint2Y" fmla="*/ 0 h 5"/>
                </a:gdLst>
                <a:ahLst/>
                <a:cxnLst>
                  <a:cxn ang="0">
                    <a:pos x="GluePoint1X" y="GluePoint1Y"/>
                  </a:cxn>
                  <a:cxn ang="0">
                    <a:pos x="GluePoint2X" y="GluePoint2Y"/>
                  </a:cxn>
                </a:cxnLst>
                <a:rect l="l" t="t" r="r" b="b"/>
                <a:pathLst>
                  <a:path w="11" h="5">
                    <a:moveTo>
                      <a:pt x="11" y="5"/>
                    </a:moveTo>
                    <a:cubicBezTo>
                      <a:pt x="8" y="4"/>
                      <a:pt x="0" y="5"/>
                      <a:pt x="2" y="0"/>
                    </a:cubicBezTo>
                  </a:path>
                </a:pathLst>
              </a:custGeom>
              <a:noFill/>
              <a:ln cap="rnd" w="7920">
                <a:solidFill>
                  <a:srgbClr val="d7c1c4"/>
                </a:solidFill>
                <a:round/>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421" name="Freeform 202"/>
              <p:cNvSpPr/>
              <p:nvPr/>
            </p:nvSpPr>
            <p:spPr>
              <a:xfrm flipH="1">
                <a:off x="7017840" y="1896840"/>
                <a:ext cx="36000" cy="17640"/>
              </a:xfrm>
              <a:custGeom>
                <a:avLst/>
                <a:gdLst>
                  <a:gd name="GluePoint1X" fmla="*/ 2147483647 w 11"/>
                  <a:gd name="GluePoint1Y" fmla="*/ 2147483647 h 5"/>
                  <a:gd name="GluePoint2X" fmla="*/ 0 w 11"/>
                  <a:gd name="GluePoint2Y" fmla="*/ 2147483647 h 5"/>
                </a:gdLst>
                <a:ahLst/>
                <a:cxnLst>
                  <a:cxn ang="0">
                    <a:pos x="GluePoint1X" y="GluePoint1Y"/>
                  </a:cxn>
                  <a:cxn ang="0">
                    <a:pos x="GluePoint2X" y="GluePoint2Y"/>
                  </a:cxn>
                </a:cxnLst>
                <a:rect l="l" t="t" r="r" b="b"/>
                <a:pathLst>
                  <a:path w="11" h="5">
                    <a:moveTo>
                      <a:pt x="11" y="5"/>
                    </a:moveTo>
                    <a:cubicBezTo>
                      <a:pt x="7" y="3"/>
                      <a:pt x="4" y="0"/>
                      <a:pt x="0" y="1"/>
                    </a:cubicBezTo>
                  </a:path>
                </a:pathLst>
              </a:custGeom>
              <a:noFill/>
              <a:ln cap="rnd" w="7920">
                <a:solidFill>
                  <a:srgbClr val="d7c1c4"/>
                </a:solidFill>
                <a:round/>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422" name="Freeform 203"/>
              <p:cNvSpPr/>
              <p:nvPr/>
            </p:nvSpPr>
            <p:spPr>
              <a:xfrm flipH="1">
                <a:off x="6835320" y="1799640"/>
                <a:ext cx="29520" cy="25920"/>
              </a:xfrm>
              <a:custGeom>
                <a:avLst/>
                <a:gdLst>
                  <a:gd name="GluePoint1X" fmla="*/ 2147483647 w 9"/>
                  <a:gd name="GluePoint1Y" fmla="*/ 2147483647 h 8"/>
                  <a:gd name="GluePoint2X" fmla="*/ 0 w 9"/>
                  <a:gd name="GluePoint2Y" fmla="*/ 399541505 h 8"/>
                </a:gdLst>
                <a:ahLst/>
                <a:cxnLst>
                  <a:cxn ang="0">
                    <a:pos x="GluePoint1X" y="GluePoint1Y"/>
                  </a:cxn>
                  <a:cxn ang="0">
                    <a:pos x="GluePoint2X" y="GluePoint2Y"/>
                  </a:cxn>
                </a:cxnLst>
                <a:rect l="l" t="t" r="r" b="b"/>
                <a:pathLst>
                  <a:path w="9" h="8">
                    <a:moveTo>
                      <a:pt x="9" y="8"/>
                    </a:moveTo>
                    <a:cubicBezTo>
                      <a:pt x="8" y="3"/>
                      <a:pt x="5" y="0"/>
                      <a:pt x="0" y="1"/>
                    </a:cubicBezTo>
                  </a:path>
                </a:pathLst>
              </a:custGeom>
              <a:noFill/>
              <a:ln cap="rnd" w="7920">
                <a:solidFill>
                  <a:srgbClr val="d7c1c4"/>
                </a:solidFill>
                <a:round/>
              </a:ln>
            </p:spPr>
            <p:style>
              <a:lnRef idx="0"/>
              <a:fillRef idx="0"/>
              <a:effectRef idx="0"/>
              <a:fontRef idx="minor"/>
            </p:style>
            <p:txBody>
              <a:bodyPr lIns="90000" rIns="90000" tIns="-20880" bIns="-20880" anchor="t">
                <a:noAutofit/>
              </a:bodyPr>
              <a:p>
                <a:endParaRPr b="0" lang="en-US" sz="2400" strike="noStrike" u="none">
                  <a:solidFill>
                    <a:srgbClr val="ffff00"/>
                  </a:solidFill>
                  <a:effectLst/>
                  <a:uFillTx/>
                  <a:latin typeface="Times New Roman"/>
                </a:endParaRPr>
              </a:p>
            </p:txBody>
          </p:sp>
          <p:sp>
            <p:nvSpPr>
              <p:cNvPr id="423" name="Freeform 204"/>
              <p:cNvSpPr/>
              <p:nvPr/>
            </p:nvSpPr>
            <p:spPr>
              <a:xfrm flipH="1">
                <a:off x="6881760" y="1802520"/>
                <a:ext cx="41760" cy="36720"/>
              </a:xfrm>
              <a:custGeom>
                <a:avLst/>
                <a:gdLst>
                  <a:gd name="GluePoint1X" fmla="*/ 2147483647 w 13"/>
                  <a:gd name="GluePoint1Y" fmla="*/ 2147483647 h 11"/>
                  <a:gd name="GluePoint2X" fmla="*/ 0 w 13"/>
                  <a:gd name="GluePoint2Y" fmla="*/ 0 h 11"/>
                </a:gdLst>
                <a:ahLst/>
                <a:cxnLst>
                  <a:cxn ang="0">
                    <a:pos x="GluePoint1X" y="GluePoint1Y"/>
                  </a:cxn>
                  <a:cxn ang="0">
                    <a:pos x="GluePoint2X" y="GluePoint2Y"/>
                  </a:cxn>
                </a:cxnLst>
                <a:rect l="l" t="t" r="r" b="b"/>
                <a:pathLst>
                  <a:path w="13" h="11">
                    <a:moveTo>
                      <a:pt x="13" y="11"/>
                    </a:moveTo>
                    <a:cubicBezTo>
                      <a:pt x="9" y="9"/>
                      <a:pt x="6" y="3"/>
                      <a:pt x="0" y="0"/>
                    </a:cubicBezTo>
                  </a:path>
                </a:pathLst>
              </a:custGeom>
              <a:noFill/>
              <a:ln cap="rnd" w="7920">
                <a:solidFill>
                  <a:srgbClr val="d7c1c4"/>
                </a:solidFill>
                <a:round/>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grpSp>
        <p:grpSp>
          <p:nvGrpSpPr>
            <p:cNvPr id="424" name="Group 205"/>
            <p:cNvGrpSpPr/>
            <p:nvPr/>
          </p:nvGrpSpPr>
          <p:grpSpPr>
            <a:xfrm>
              <a:off x="4437000" y="-3240"/>
              <a:ext cx="3360960" cy="3180960"/>
              <a:chOff x="4437000" y="-3240"/>
              <a:chExt cx="3360960" cy="3180960"/>
            </a:xfrm>
          </p:grpSpPr>
          <p:sp>
            <p:nvSpPr>
              <p:cNvPr id="425" name="Freeform 206"/>
              <p:cNvSpPr/>
              <p:nvPr/>
            </p:nvSpPr>
            <p:spPr>
              <a:xfrm flipH="1">
                <a:off x="6699600" y="1816200"/>
                <a:ext cx="9360" cy="23040"/>
              </a:xfrm>
              <a:custGeom>
                <a:avLst/>
                <a:gdLst>
                  <a:gd name="GluePoint1X" fmla="*/ 844713389 w 3"/>
                  <a:gd name="GluePoint1Y" fmla="*/ 2147483647 h 7"/>
                  <a:gd name="GluePoint2X" fmla="*/ 0 w 3"/>
                  <a:gd name="GluePoint2Y" fmla="*/ 0 h 7"/>
                </a:gdLst>
                <a:ahLst/>
                <a:cxnLst>
                  <a:cxn ang="0">
                    <a:pos x="GluePoint1X" y="GluePoint1Y"/>
                  </a:cxn>
                  <a:cxn ang="0">
                    <a:pos x="GluePoint2X" y="GluePoint2Y"/>
                  </a:cxn>
                </a:cxnLst>
                <a:rect l="l" t="t" r="r" b="b"/>
                <a:pathLst>
                  <a:path w="3" h="7">
                    <a:moveTo>
                      <a:pt x="3" y="7"/>
                    </a:moveTo>
                    <a:cubicBezTo>
                      <a:pt x="3" y="3"/>
                      <a:pt x="2" y="1"/>
                      <a:pt x="0" y="0"/>
                    </a:cubicBezTo>
                  </a:path>
                </a:pathLst>
              </a:custGeom>
              <a:noFill/>
              <a:ln cap="rnd" w="7920">
                <a:solidFill>
                  <a:srgbClr val="d7c1c4"/>
                </a:solidFill>
                <a:round/>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426" name="Freeform 207"/>
              <p:cNvSpPr/>
              <p:nvPr/>
            </p:nvSpPr>
            <p:spPr>
              <a:xfrm flipH="1">
                <a:off x="6656760" y="1846080"/>
                <a:ext cx="9720" cy="36720"/>
              </a:xfrm>
              <a:custGeom>
                <a:avLst/>
                <a:gdLst>
                  <a:gd name="GluePoint1X" fmla="*/ 639242571 w 3"/>
                  <a:gd name="GluePoint1Y" fmla="*/ 2147483647 h 11"/>
                  <a:gd name="GluePoint2X" fmla="*/ 0 w 3"/>
                  <a:gd name="GluePoint2Y" fmla="*/ 0 h 11"/>
                </a:gdLst>
                <a:ahLst/>
                <a:cxnLst>
                  <a:cxn ang="0">
                    <a:pos x="GluePoint1X" y="GluePoint1Y"/>
                  </a:cxn>
                  <a:cxn ang="0">
                    <a:pos x="GluePoint2X" y="GluePoint2Y"/>
                  </a:cxn>
                </a:cxnLst>
                <a:rect l="l" t="t" r="r" b="b"/>
                <a:pathLst>
                  <a:path w="3" h="11">
                    <a:moveTo>
                      <a:pt x="2" y="11"/>
                    </a:moveTo>
                    <a:cubicBezTo>
                      <a:pt x="3" y="7"/>
                      <a:pt x="3" y="2"/>
                      <a:pt x="0" y="0"/>
                    </a:cubicBezTo>
                  </a:path>
                </a:pathLst>
              </a:custGeom>
              <a:noFill/>
              <a:ln cap="rnd" w="7920">
                <a:solidFill>
                  <a:srgbClr val="58585a"/>
                </a:solidFill>
                <a:round/>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427" name="Freeform 208"/>
              <p:cNvSpPr/>
              <p:nvPr/>
            </p:nvSpPr>
            <p:spPr>
              <a:xfrm flipH="1">
                <a:off x="6805800" y="2673720"/>
                <a:ext cx="23760" cy="161640"/>
              </a:xfrm>
              <a:custGeom>
                <a:avLst/>
                <a:gdLst>
                  <a:gd name="GluePoint1X" fmla="*/ 2147483647 w 7"/>
                  <a:gd name="GluePoint1Y" fmla="*/ 0 h 48"/>
                  <a:gd name="GluePoint2X" fmla="*/ 2147483647 w 7"/>
                  <a:gd name="GluePoint2Y" fmla="*/ 2147483647 h 48"/>
                </a:gdLst>
                <a:ahLst/>
                <a:cxnLst>
                  <a:cxn ang="0">
                    <a:pos x="GluePoint1X" y="GluePoint1Y"/>
                  </a:cxn>
                  <a:cxn ang="0">
                    <a:pos x="GluePoint2X" y="GluePoint2Y"/>
                  </a:cxn>
                </a:cxnLst>
                <a:rect l="l" t="t" r="r" b="b"/>
                <a:pathLst>
                  <a:path w="7" h="48">
                    <a:moveTo>
                      <a:pt x="4" y="0"/>
                    </a:moveTo>
                    <a:cubicBezTo>
                      <a:pt x="4" y="14"/>
                      <a:pt x="0" y="35"/>
                      <a:pt x="7" y="48"/>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8" name="Freeform 209"/>
              <p:cNvSpPr/>
              <p:nvPr/>
            </p:nvSpPr>
            <p:spPr>
              <a:xfrm flipH="1">
                <a:off x="6916680" y="2646360"/>
                <a:ext cx="19440" cy="163080"/>
              </a:xfrm>
              <a:custGeom>
                <a:avLst/>
                <a:gdLst>
                  <a:gd name="GluePoint1X" fmla="*/ 639242571 w 6"/>
                  <a:gd name="GluePoint1Y" fmla="*/ 0 h 48"/>
                  <a:gd name="GluePoint2X" fmla="*/ 844713389 w 6"/>
                  <a:gd name="GluePoint2Y" fmla="*/ 2147483647 h 48"/>
                  <a:gd name="GluePoint3X" fmla="*/ 1491565999 w 6"/>
                  <a:gd name="GluePoint3Y" fmla="*/ 2147483647 h 48"/>
                </a:gdLst>
                <a:ahLst/>
                <a:cxnLst>
                  <a:cxn ang="0">
                    <a:pos x="GluePoint1X" y="GluePoint1Y"/>
                  </a:cxn>
                  <a:cxn ang="0">
                    <a:pos x="GluePoint2X" y="GluePoint2Y"/>
                  </a:cxn>
                  <a:cxn ang="0">
                    <a:pos x="GluePoint3X" y="GluePoint3Y"/>
                  </a:cxn>
                </a:cxnLst>
                <a:rect l="l" t="t" r="r" b="b"/>
                <a:pathLst>
                  <a:path w="6" h="48">
                    <a:moveTo>
                      <a:pt x="2" y="0"/>
                    </a:moveTo>
                    <a:cubicBezTo>
                      <a:pt x="1" y="13"/>
                      <a:pt x="0" y="25"/>
                      <a:pt x="3" y="38"/>
                    </a:cubicBezTo>
                    <a:cubicBezTo>
                      <a:pt x="4" y="41"/>
                      <a:pt x="6" y="47"/>
                      <a:pt x="5" y="48"/>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29" name="Freeform 210"/>
              <p:cNvSpPr/>
              <p:nvPr/>
            </p:nvSpPr>
            <p:spPr>
              <a:xfrm flipH="1">
                <a:off x="7226280" y="2462760"/>
                <a:ext cx="51480" cy="84600"/>
              </a:xfrm>
              <a:custGeom>
                <a:avLst/>
                <a:gdLst>
                  <a:gd name="GluePoint1X" fmla="*/ 2147483647 w 16"/>
                  <a:gd name="GluePoint1Y" fmla="*/ 0 h 25"/>
                  <a:gd name="GluePoint2X" fmla="*/ 0 w 16"/>
                  <a:gd name="GluePoint2Y" fmla="*/ 2147483647 h 25"/>
                </a:gdLst>
                <a:ahLst/>
                <a:cxnLst>
                  <a:cxn ang="0">
                    <a:pos x="GluePoint1X" y="GluePoint1Y"/>
                  </a:cxn>
                  <a:cxn ang="0">
                    <a:pos x="GluePoint2X" y="GluePoint2Y"/>
                  </a:cxn>
                </a:cxnLst>
                <a:rect l="l" t="t" r="r" b="b"/>
                <a:pathLst>
                  <a:path w="16" h="25">
                    <a:moveTo>
                      <a:pt x="16" y="0"/>
                    </a:moveTo>
                    <a:cubicBezTo>
                      <a:pt x="9" y="5"/>
                      <a:pt x="3" y="16"/>
                      <a:pt x="0" y="25"/>
                    </a:cubicBezTo>
                  </a:path>
                </a:pathLst>
              </a:custGeom>
              <a:noFill/>
              <a:ln cap="rnd" w="7920">
                <a:solidFill>
                  <a:srgbClr val="d7c1c4"/>
                </a:solidFill>
                <a:round/>
              </a:ln>
            </p:spPr>
            <p:style>
              <a:lnRef idx="0"/>
              <a:fillRef idx="0"/>
              <a:effectRef idx="0"/>
              <a:fontRef idx="minor"/>
            </p:style>
            <p:txBody>
              <a:bodyPr lIns="90000" rIns="90000" tIns="37800" bIns="37800" anchor="t">
                <a:noAutofit/>
              </a:bodyPr>
              <a:p>
                <a:endParaRPr b="0" lang="en-US" sz="2400" strike="noStrike" u="none">
                  <a:solidFill>
                    <a:srgbClr val="ffff00"/>
                  </a:solidFill>
                  <a:effectLst/>
                  <a:uFillTx/>
                  <a:latin typeface="Times New Roman"/>
                </a:endParaRPr>
              </a:p>
            </p:txBody>
          </p:sp>
          <p:sp>
            <p:nvSpPr>
              <p:cNvPr id="430" name="Freeform 211"/>
              <p:cNvSpPr/>
              <p:nvPr/>
            </p:nvSpPr>
            <p:spPr>
              <a:xfrm flipH="1">
                <a:off x="7206480" y="2483280"/>
                <a:ext cx="57240" cy="82080"/>
              </a:xfrm>
              <a:custGeom>
                <a:avLst/>
                <a:gdLst>
                  <a:gd name="GluePoint1X" fmla="*/ 2147483647 w 18"/>
                  <a:gd name="GluePoint1Y" fmla="*/ 0 h 24"/>
                  <a:gd name="GluePoint2X" fmla="*/ 0 w 18"/>
                  <a:gd name="GluePoint2Y" fmla="*/ 2147483647 h 24"/>
                </a:gdLst>
                <a:ahLst/>
                <a:cxnLst>
                  <a:cxn ang="0">
                    <a:pos x="GluePoint1X" y="GluePoint1Y"/>
                  </a:cxn>
                  <a:cxn ang="0">
                    <a:pos x="GluePoint2X" y="GluePoint2Y"/>
                  </a:cxn>
                </a:cxnLst>
                <a:rect l="l" t="t" r="r" b="b"/>
                <a:pathLst>
                  <a:path w="18" h="24">
                    <a:moveTo>
                      <a:pt x="18" y="0"/>
                    </a:moveTo>
                    <a:cubicBezTo>
                      <a:pt x="16" y="9"/>
                      <a:pt x="6" y="20"/>
                      <a:pt x="0" y="24"/>
                    </a:cubicBezTo>
                  </a:path>
                </a:pathLst>
              </a:custGeom>
              <a:noFill/>
              <a:ln cap="rnd" w="7920">
                <a:solidFill>
                  <a:srgbClr val="d7c1c4"/>
                </a:solidFill>
                <a:round/>
              </a:ln>
            </p:spPr>
            <p:style>
              <a:lnRef idx="0"/>
              <a:fillRef idx="0"/>
              <a:effectRef idx="0"/>
              <a:fontRef idx="minor"/>
            </p:style>
            <p:txBody>
              <a:bodyPr lIns="90000" rIns="90000" tIns="35280" bIns="35280" anchor="t">
                <a:noAutofit/>
              </a:bodyPr>
              <a:p>
                <a:endParaRPr b="0" lang="en-US" sz="2400" strike="noStrike" u="none">
                  <a:solidFill>
                    <a:srgbClr val="ffff00"/>
                  </a:solidFill>
                  <a:effectLst/>
                  <a:uFillTx/>
                  <a:latin typeface="Times New Roman"/>
                </a:endParaRPr>
              </a:p>
            </p:txBody>
          </p:sp>
          <p:sp>
            <p:nvSpPr>
              <p:cNvPr id="431" name="Freeform 212"/>
              <p:cNvSpPr/>
              <p:nvPr/>
            </p:nvSpPr>
            <p:spPr>
              <a:xfrm flipH="1">
                <a:off x="7277760" y="2225520"/>
                <a:ext cx="116280" cy="50400"/>
              </a:xfrm>
              <a:custGeom>
                <a:avLst/>
                <a:gdLst>
                  <a:gd name="GluePoint1X" fmla="*/ 2147483647 w 36"/>
                  <a:gd name="GluePoint1Y" fmla="*/ 2088647760 h 15"/>
                  <a:gd name="GluePoint2X" fmla="*/ 1172720700 w 36"/>
                  <a:gd name="GluePoint2Y" fmla="*/ 0 h 15"/>
                </a:gdLst>
                <a:ahLst/>
                <a:cxnLst>
                  <a:cxn ang="0">
                    <a:pos x="GluePoint1X" y="GluePoint1Y"/>
                  </a:cxn>
                  <a:cxn ang="0">
                    <a:pos x="GluePoint2X" y="GluePoint2Y"/>
                  </a:cxn>
                </a:cxnLst>
                <a:rect l="l" t="t" r="r" b="b"/>
                <a:pathLst>
                  <a:path w="36" h="15">
                    <a:moveTo>
                      <a:pt x="36" y="2"/>
                    </a:moveTo>
                    <a:cubicBezTo>
                      <a:pt x="31" y="4"/>
                      <a:pt x="0" y="15"/>
                      <a:pt x="5" y="0"/>
                    </a:cubicBezTo>
                  </a:path>
                </a:pathLst>
              </a:custGeom>
              <a:noFill/>
              <a:ln cap="rnd" w="7920">
                <a:solidFill>
                  <a:srgbClr val="d7c1c4"/>
                </a:solidFill>
                <a:round/>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432" name="Freeform 213"/>
              <p:cNvSpPr/>
              <p:nvPr/>
            </p:nvSpPr>
            <p:spPr>
              <a:xfrm flipH="1">
                <a:off x="7254000" y="2175120"/>
                <a:ext cx="85320" cy="20160"/>
              </a:xfrm>
              <a:custGeom>
                <a:avLst/>
                <a:gdLst>
                  <a:gd name="GluePoint1X" fmla="*/ 2147483647 w 26"/>
                  <a:gd name="GluePoint1Y" fmla="*/ 2147483647 h 6"/>
                  <a:gd name="GluePoint2X" fmla="*/ 306860979 w 26"/>
                  <a:gd name="GluePoint2Y" fmla="*/ 2147483647 h 6"/>
                  <a:gd name="GluePoint3X" fmla="*/ 0 w 26"/>
                  <a:gd name="GluePoint3Y" fmla="*/ 0 h 6"/>
                </a:gdLst>
                <a:ahLst/>
                <a:cxnLst>
                  <a:cxn ang="0">
                    <a:pos x="GluePoint1X" y="GluePoint1Y"/>
                  </a:cxn>
                  <a:cxn ang="0">
                    <a:pos x="GluePoint2X" y="GluePoint2Y"/>
                  </a:cxn>
                  <a:cxn ang="0">
                    <a:pos x="GluePoint3X" y="GluePoint3Y"/>
                  </a:cxn>
                </a:cxnLst>
                <a:rect l="l" t="t" r="r" b="b"/>
                <a:pathLst>
                  <a:path w="26" h="6">
                    <a:moveTo>
                      <a:pt x="26" y="3"/>
                    </a:moveTo>
                    <a:cubicBezTo>
                      <a:pt x="18" y="5"/>
                      <a:pt x="9" y="4"/>
                      <a:pt x="1" y="6"/>
                    </a:cubicBezTo>
                    <a:cubicBezTo>
                      <a:pt x="0" y="4"/>
                      <a:pt x="0" y="2"/>
                      <a:pt x="0" y="0"/>
                    </a:cubicBezTo>
                  </a:path>
                </a:pathLst>
              </a:custGeom>
              <a:noFill/>
              <a:ln cap="rnd" w="7920">
                <a:solidFill>
                  <a:srgbClr val="d7c1c4"/>
                </a:solidFill>
                <a:round/>
              </a:ln>
            </p:spPr>
            <p:style>
              <a:lnRef idx="0"/>
              <a:fillRef idx="0"/>
              <a:effectRef idx="0"/>
              <a:fontRef idx="minor"/>
            </p:style>
            <p:txBody>
              <a:bodyPr lIns="90000" rIns="90000" tIns="-26640" bIns="-26640" anchor="t">
                <a:noAutofit/>
              </a:bodyPr>
              <a:p>
                <a:endParaRPr b="0" lang="en-US" sz="2400" strike="noStrike" u="none">
                  <a:solidFill>
                    <a:srgbClr val="ffff00"/>
                  </a:solidFill>
                  <a:effectLst/>
                  <a:uFillTx/>
                  <a:latin typeface="Times New Roman"/>
                </a:endParaRPr>
              </a:p>
            </p:txBody>
          </p:sp>
          <p:sp>
            <p:nvSpPr>
              <p:cNvPr id="433" name="Freeform 214"/>
              <p:cNvSpPr/>
              <p:nvPr/>
            </p:nvSpPr>
            <p:spPr>
              <a:xfrm flipH="1">
                <a:off x="7157520" y="2016360"/>
                <a:ext cx="34920" cy="22680"/>
              </a:xfrm>
              <a:custGeom>
                <a:avLst/>
                <a:gdLst>
                  <a:gd name="GluePoint1X" fmla="*/ 1753728611 w 11"/>
                  <a:gd name="GluePoint1Y" fmla="*/ 2147483647 h 7"/>
                  <a:gd name="GluePoint2X" fmla="*/ 0 w 11"/>
                  <a:gd name="GluePoint2Y" fmla="*/ 0 h 7"/>
                </a:gdLst>
                <a:ahLst/>
                <a:cxnLst>
                  <a:cxn ang="0">
                    <a:pos x="GluePoint1X" y="GluePoint1Y"/>
                  </a:cxn>
                  <a:cxn ang="0">
                    <a:pos x="GluePoint2X" y="GluePoint2Y"/>
                  </a:cxn>
                </a:cxnLst>
                <a:rect l="l" t="t" r="r" b="b"/>
                <a:pathLst>
                  <a:path w="11" h="7">
                    <a:moveTo>
                      <a:pt x="11" y="6"/>
                    </a:moveTo>
                    <a:cubicBezTo>
                      <a:pt x="7" y="7"/>
                      <a:pt x="0" y="5"/>
                      <a:pt x="0" y="0"/>
                    </a:cubicBezTo>
                  </a:path>
                </a:pathLst>
              </a:custGeom>
              <a:noFill/>
              <a:ln cap="rnd" w="7920">
                <a:solidFill>
                  <a:srgbClr val="d7c1c4"/>
                </a:solidFill>
                <a:round/>
              </a:ln>
            </p:spPr>
            <p:style>
              <a:lnRef idx="0"/>
              <a:fillRef idx="0"/>
              <a:effectRef idx="0"/>
              <a:fontRef idx="minor"/>
            </p:style>
            <p:txBody>
              <a:bodyPr lIns="90000" rIns="90000" tIns="-24120" bIns="-24120" anchor="t">
                <a:noAutofit/>
              </a:bodyPr>
              <a:p>
                <a:endParaRPr b="0" lang="en-US" sz="2400" strike="noStrike" u="none">
                  <a:solidFill>
                    <a:srgbClr val="ffff00"/>
                  </a:solidFill>
                  <a:effectLst/>
                  <a:uFillTx/>
                  <a:latin typeface="Times New Roman"/>
                </a:endParaRPr>
              </a:p>
            </p:txBody>
          </p:sp>
          <p:sp>
            <p:nvSpPr>
              <p:cNvPr id="434" name="Freeform 215"/>
              <p:cNvSpPr/>
              <p:nvPr/>
            </p:nvSpPr>
            <p:spPr>
              <a:xfrm flipH="1">
                <a:off x="6741720" y="1792800"/>
                <a:ext cx="19440" cy="23040"/>
              </a:xfrm>
              <a:custGeom>
                <a:avLst/>
                <a:gdLst>
                  <a:gd name="GluePoint1X" fmla="*/ 1765527064 w 6"/>
                  <a:gd name="GluePoint1Y" fmla="*/ 2147483647 h 7"/>
                  <a:gd name="GluePoint2X" fmla="*/ 0 w 6"/>
                  <a:gd name="GluePoint2Y" fmla="*/ 0 h 7"/>
                </a:gdLst>
                <a:ahLst/>
                <a:cxnLst>
                  <a:cxn ang="0">
                    <a:pos x="GluePoint1X" y="GluePoint1Y"/>
                  </a:cxn>
                  <a:cxn ang="0">
                    <a:pos x="GluePoint2X" y="GluePoint2Y"/>
                  </a:cxn>
                </a:cxnLst>
                <a:rect l="l" t="t" r="r" b="b"/>
                <a:pathLst>
                  <a:path w="6" h="7">
                    <a:moveTo>
                      <a:pt x="6" y="7"/>
                    </a:moveTo>
                    <a:cubicBezTo>
                      <a:pt x="5" y="4"/>
                      <a:pt x="3" y="1"/>
                      <a:pt x="0" y="0"/>
                    </a:cubicBezTo>
                  </a:path>
                </a:pathLst>
              </a:custGeom>
              <a:noFill/>
              <a:ln cap="rnd" w="7920">
                <a:solidFill>
                  <a:srgbClr val="d7c1c4"/>
                </a:solidFill>
                <a:round/>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435" name="Freeform 216"/>
              <p:cNvSpPr/>
              <p:nvPr/>
            </p:nvSpPr>
            <p:spPr>
              <a:xfrm flipH="1">
                <a:off x="6975000" y="1852920"/>
                <a:ext cx="6840" cy="3960"/>
              </a:xfrm>
              <a:custGeom>
                <a:avLst/>
                <a:gdLst>
                  <a:gd name="GluePoint1X" fmla="*/ 2147483647 w 2"/>
                  <a:gd name="GluePoint1Y" fmla="*/ 2147483647 h 1"/>
                  <a:gd name="GluePoint2X" fmla="*/ 0 w 2"/>
                  <a:gd name="GluePoint2Y" fmla="*/ 0 h 1"/>
                </a:gdLst>
                <a:ahLst/>
                <a:cxnLst>
                  <a:cxn ang="0">
                    <a:pos x="GluePoint1X" y="GluePoint1Y"/>
                  </a:cxn>
                  <a:cxn ang="0">
                    <a:pos x="GluePoint2X" y="GluePoint2Y"/>
                  </a:cxn>
                </a:cxnLst>
                <a:rect l="l" t="t" r="r" b="b"/>
                <a:pathLst>
                  <a:path w="2" h="1">
                    <a:moveTo>
                      <a:pt x="2" y="1"/>
                    </a:moveTo>
                    <a:cubicBezTo>
                      <a:pt x="1" y="1"/>
                      <a:pt x="0" y="1"/>
                      <a:pt x="0" y="0"/>
                    </a:cubicBezTo>
                  </a:path>
                </a:pathLst>
              </a:custGeom>
              <a:noFill/>
              <a:ln cap="rnd" w="7920">
                <a:solidFill>
                  <a:srgbClr val="d7c1c4"/>
                </a:solidFill>
                <a:round/>
              </a:ln>
            </p:spPr>
            <p:style>
              <a:lnRef idx="0"/>
              <a:fillRef idx="0"/>
              <a:effectRef idx="0"/>
              <a:fontRef idx="minor"/>
            </p:style>
            <p:txBody>
              <a:bodyPr lIns="90000" rIns="90000" tIns="-42840" bIns="-42840" anchor="t">
                <a:noAutofit/>
              </a:bodyPr>
              <a:p>
                <a:endParaRPr b="0" lang="en-US" sz="2400" strike="noStrike" u="none">
                  <a:solidFill>
                    <a:srgbClr val="ffff00"/>
                  </a:solidFill>
                  <a:effectLst/>
                  <a:uFillTx/>
                  <a:latin typeface="Times New Roman"/>
                </a:endParaRPr>
              </a:p>
            </p:txBody>
          </p:sp>
          <p:sp>
            <p:nvSpPr>
              <p:cNvPr id="436" name="Freeform 217"/>
              <p:cNvSpPr/>
              <p:nvPr/>
            </p:nvSpPr>
            <p:spPr>
              <a:xfrm flipH="1">
                <a:off x="6462000" y="2575080"/>
                <a:ext cx="61560" cy="131400"/>
              </a:xfrm>
              <a:custGeom>
                <a:avLst/>
                <a:gdLst>
                  <a:gd name="GluePoint1X" fmla="*/ 0 w 19"/>
                  <a:gd name="GluePoint1Y" fmla="*/ 0 h 39"/>
                  <a:gd name="GluePoint2X" fmla="*/ 2147483647 w 19"/>
                  <a:gd name="GluePoint2Y" fmla="*/ 2147483647 h 39"/>
                </a:gdLst>
                <a:ahLst/>
                <a:cxnLst>
                  <a:cxn ang="0">
                    <a:pos x="GluePoint1X" y="GluePoint1Y"/>
                  </a:cxn>
                  <a:cxn ang="0">
                    <a:pos x="GluePoint2X" y="GluePoint2Y"/>
                  </a:cxn>
                </a:cxnLst>
                <a:rect l="l" t="t" r="r" b="b"/>
                <a:pathLst>
                  <a:path w="19" h="39">
                    <a:moveTo>
                      <a:pt x="0" y="0"/>
                    </a:moveTo>
                    <a:cubicBezTo>
                      <a:pt x="4" y="10"/>
                      <a:pt x="19" y="29"/>
                      <a:pt x="15" y="3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7" name="Freeform 218"/>
              <p:cNvSpPr/>
              <p:nvPr/>
            </p:nvSpPr>
            <p:spPr>
              <a:xfrm flipH="1">
                <a:off x="7089120" y="2595600"/>
                <a:ext cx="21960" cy="117720"/>
              </a:xfrm>
              <a:custGeom>
                <a:avLst/>
                <a:gdLst>
                  <a:gd name="GluePoint1X" fmla="*/ 1107397079 w 7"/>
                  <a:gd name="GluePoint1Y" fmla="*/ 0 h 35"/>
                  <a:gd name="GluePoint2X" fmla="*/ 728328594 w 7"/>
                  <a:gd name="GluePoint2Y" fmla="*/ 2147483647 h 35"/>
                  <a:gd name="GluePoint3X" fmla="*/ 0 w 7"/>
                  <a:gd name="GluePoint3Y" fmla="*/ 2147483647 h 35"/>
                </a:gdLst>
                <a:ahLst/>
                <a:cxnLst>
                  <a:cxn ang="0">
                    <a:pos x="GluePoint1X" y="GluePoint1Y"/>
                  </a:cxn>
                  <a:cxn ang="0">
                    <a:pos x="GluePoint2X" y="GluePoint2Y"/>
                  </a:cxn>
                  <a:cxn ang="0">
                    <a:pos x="GluePoint3X" y="GluePoint3Y"/>
                  </a:cxn>
                </a:cxnLst>
                <a:rect l="l" t="t" r="r" b="b"/>
                <a:pathLst>
                  <a:path w="7" h="35">
                    <a:moveTo>
                      <a:pt x="6" y="0"/>
                    </a:moveTo>
                    <a:cubicBezTo>
                      <a:pt x="7" y="5"/>
                      <a:pt x="4" y="16"/>
                      <a:pt x="4" y="22"/>
                    </a:cubicBezTo>
                    <a:cubicBezTo>
                      <a:pt x="4" y="27"/>
                      <a:pt x="3" y="31"/>
                      <a:pt x="0" y="35"/>
                    </a:cubicBezTo>
                  </a:path>
                </a:pathLst>
              </a:custGeom>
              <a:noFill/>
              <a:ln cap="rnd" w="7920">
                <a:solidFill>
                  <a:srgbClr val="d7c1c4"/>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38" name="Freeform 219"/>
              <p:cNvSpPr/>
              <p:nvPr/>
            </p:nvSpPr>
            <p:spPr>
              <a:xfrm flipH="1">
                <a:off x="7277760" y="2372400"/>
                <a:ext cx="142920" cy="46440"/>
              </a:xfrm>
              <a:custGeom>
                <a:avLst/>
                <a:gdLst>
                  <a:gd name="GluePoint1X" fmla="*/ 2147483647 w 44"/>
                  <a:gd name="GluePoint1Y" fmla="*/ 0 h 14"/>
                  <a:gd name="GluePoint2X" fmla="*/ 0 w 44"/>
                  <a:gd name="GluePoint2Y" fmla="*/ 1468666140 h 14"/>
                </a:gdLst>
                <a:ahLst/>
                <a:cxnLst>
                  <a:cxn ang="0">
                    <a:pos x="GluePoint1X" y="GluePoint1Y"/>
                  </a:cxn>
                  <a:cxn ang="0">
                    <a:pos x="GluePoint2X" y="GluePoint2Y"/>
                  </a:cxn>
                </a:cxnLst>
                <a:rect l="l" t="t" r="r" b="b"/>
                <a:pathLst>
                  <a:path w="44" h="14">
                    <a:moveTo>
                      <a:pt x="44" y="0"/>
                    </a:moveTo>
                    <a:cubicBezTo>
                      <a:pt x="35" y="2"/>
                      <a:pt x="5" y="14"/>
                      <a:pt x="0" y="2"/>
                    </a:cubicBezTo>
                  </a:path>
                </a:pathLst>
              </a:custGeom>
              <a:noFill/>
              <a:ln cap="rnd" w="7920">
                <a:solidFill>
                  <a:srgbClr val="d7c1c4"/>
                </a:solidFill>
                <a:round/>
              </a:ln>
            </p:spPr>
            <p:style>
              <a:lnRef idx="0"/>
              <a:fillRef idx="0"/>
              <a:effectRef idx="0"/>
              <a:fontRef idx="minor"/>
            </p:style>
            <p:txBody>
              <a:bodyPr lIns="90000" rIns="90000" tIns="-360" bIns="-360" anchor="t">
                <a:noAutofit/>
              </a:bodyPr>
              <a:p>
                <a:endParaRPr b="0" lang="en-US" sz="2400" strike="noStrike" u="none">
                  <a:solidFill>
                    <a:srgbClr val="ffff00"/>
                  </a:solidFill>
                  <a:effectLst/>
                  <a:uFillTx/>
                  <a:latin typeface="Times New Roman"/>
                </a:endParaRPr>
              </a:p>
            </p:txBody>
          </p:sp>
          <p:sp>
            <p:nvSpPr>
              <p:cNvPr id="439" name="Freeform 220"/>
              <p:cNvSpPr/>
              <p:nvPr/>
            </p:nvSpPr>
            <p:spPr>
              <a:xfrm flipH="1">
                <a:off x="6910920" y="1974960"/>
                <a:ext cx="51840" cy="47880"/>
              </a:xfrm>
              <a:custGeom>
                <a:avLst/>
                <a:gdLst>
                  <a:gd name="GluePoint1X" fmla="*/ 0 w 16"/>
                  <a:gd name="GluePoint1Y" fmla="*/ 0 h 14"/>
                  <a:gd name="GluePoint2X" fmla="*/ 232020826 w 16"/>
                  <a:gd name="GluePoint2Y" fmla="*/ 2147483647 h 14"/>
                  <a:gd name="GluePoint3X" fmla="*/ 2147483647 w 16"/>
                  <a:gd name="GluePoint3Y" fmla="*/ 2147483647 h 14"/>
                  <a:gd name="GluePoint4X" fmla="*/ 2147483647 w 16"/>
                  <a:gd name="GluePoint4Y" fmla="*/ 2147483647 h 14"/>
                </a:gdLst>
                <a:ahLst/>
                <a:cxnLst>
                  <a:cxn ang="0">
                    <a:pos x="GluePoint1X" y="GluePoint1Y"/>
                  </a:cxn>
                  <a:cxn ang="0">
                    <a:pos x="GluePoint2X" y="GluePoint2Y"/>
                  </a:cxn>
                  <a:cxn ang="0">
                    <a:pos x="GluePoint3X" y="GluePoint3Y"/>
                  </a:cxn>
                  <a:cxn ang="0">
                    <a:pos x="GluePoint4X" y="GluePoint4Y"/>
                  </a:cxn>
                </a:cxnLst>
                <a:rect l="l" t="t" r="r" b="b"/>
                <a:pathLst>
                  <a:path w="16" h="14">
                    <a:moveTo>
                      <a:pt x="0" y="0"/>
                    </a:moveTo>
                    <a:cubicBezTo>
                      <a:pt x="0" y="1"/>
                      <a:pt x="1" y="3"/>
                      <a:pt x="1" y="5"/>
                    </a:cubicBezTo>
                    <a:cubicBezTo>
                      <a:pt x="4" y="6"/>
                      <a:pt x="8" y="5"/>
                      <a:pt x="12" y="7"/>
                    </a:cubicBezTo>
                    <a:cubicBezTo>
                      <a:pt x="10" y="11"/>
                      <a:pt x="12" y="13"/>
                      <a:pt x="16" y="14"/>
                    </a:cubicBezTo>
                  </a:path>
                </a:pathLst>
              </a:custGeom>
              <a:noFill/>
              <a:ln cap="rnd" w="7920">
                <a:solidFill>
                  <a:srgbClr val="58585a"/>
                </a:solidFill>
                <a:round/>
              </a:ln>
            </p:spPr>
            <p:style>
              <a:lnRef idx="0"/>
              <a:fillRef idx="0"/>
              <a:effectRef idx="0"/>
              <a:fontRef idx="minor"/>
            </p:style>
            <p:txBody>
              <a:bodyPr lIns="90000" rIns="90000" tIns="1080" bIns="1080" anchor="t">
                <a:noAutofit/>
              </a:bodyPr>
              <a:p>
                <a:endParaRPr b="0" lang="en-US" sz="2400" strike="noStrike" u="none">
                  <a:solidFill>
                    <a:srgbClr val="ffff00"/>
                  </a:solidFill>
                  <a:effectLst/>
                  <a:uFillTx/>
                  <a:latin typeface="Times New Roman"/>
                </a:endParaRPr>
              </a:p>
            </p:txBody>
          </p:sp>
          <p:sp>
            <p:nvSpPr>
              <p:cNvPr id="440" name="Freeform 221"/>
              <p:cNvSpPr/>
              <p:nvPr/>
            </p:nvSpPr>
            <p:spPr>
              <a:xfrm flipH="1">
                <a:off x="7046640" y="2107800"/>
                <a:ext cx="54360" cy="13320"/>
              </a:xfrm>
              <a:custGeom>
                <a:avLst/>
                <a:gdLst>
                  <a:gd name="GluePoint1X" fmla="*/ 2147483647 w 17"/>
                  <a:gd name="GluePoint1Y" fmla="*/ 2147483647 h 4"/>
                  <a:gd name="GluePoint2X" fmla="*/ 1790753713 w 17"/>
                  <a:gd name="GluePoint2Y" fmla="*/ 0 h 4"/>
                  <a:gd name="GluePoint3X" fmla="*/ 1383764233 w 17"/>
                  <a:gd name="GluePoint3Y" fmla="*/ 2147483647 h 4"/>
                  <a:gd name="GluePoint4X" fmla="*/ 0 w 17"/>
                  <a:gd name="GluePoint4Y" fmla="*/ 0 h 4"/>
                </a:gdLst>
                <a:ahLst/>
                <a:cxnLst>
                  <a:cxn ang="0">
                    <a:pos x="GluePoint1X" y="GluePoint1Y"/>
                  </a:cxn>
                  <a:cxn ang="0">
                    <a:pos x="GluePoint2X" y="GluePoint2Y"/>
                  </a:cxn>
                  <a:cxn ang="0">
                    <a:pos x="GluePoint3X" y="GluePoint3Y"/>
                  </a:cxn>
                  <a:cxn ang="0">
                    <a:pos x="GluePoint4X" y="GluePoint4Y"/>
                  </a:cxn>
                </a:cxnLst>
                <a:rect l="l" t="t" r="r" b="b"/>
                <a:pathLst>
                  <a:path w="17" h="4">
                    <a:moveTo>
                      <a:pt x="17" y="3"/>
                    </a:moveTo>
                    <a:cubicBezTo>
                      <a:pt x="14" y="2"/>
                      <a:pt x="12" y="1"/>
                      <a:pt x="9" y="0"/>
                    </a:cubicBezTo>
                    <a:cubicBezTo>
                      <a:pt x="9" y="2"/>
                      <a:pt x="7" y="3"/>
                      <a:pt x="7" y="4"/>
                    </a:cubicBezTo>
                    <a:cubicBezTo>
                      <a:pt x="5" y="1"/>
                      <a:pt x="3" y="0"/>
                      <a:pt x="0" y="0"/>
                    </a:cubicBezTo>
                  </a:path>
                </a:pathLst>
              </a:custGeom>
              <a:noFill/>
              <a:ln cap="rnd" w="7920">
                <a:solidFill>
                  <a:srgbClr val="58585a"/>
                </a:solidFill>
                <a:round/>
              </a:ln>
            </p:spPr>
            <p:style>
              <a:lnRef idx="0"/>
              <a:fillRef idx="0"/>
              <a:effectRef idx="0"/>
              <a:fontRef idx="minor"/>
            </p:style>
            <p:txBody>
              <a:bodyPr lIns="90000" rIns="90000" tIns="-33480" bIns="-33480" anchor="t">
                <a:noAutofit/>
              </a:bodyPr>
              <a:p>
                <a:endParaRPr b="0" lang="en-US" sz="2400" strike="noStrike" u="none">
                  <a:solidFill>
                    <a:srgbClr val="ffff00"/>
                  </a:solidFill>
                  <a:effectLst/>
                  <a:uFillTx/>
                  <a:latin typeface="Times New Roman"/>
                </a:endParaRPr>
              </a:p>
            </p:txBody>
          </p:sp>
          <p:sp>
            <p:nvSpPr>
              <p:cNvPr id="441" name="Freeform 222"/>
              <p:cNvSpPr/>
              <p:nvPr/>
            </p:nvSpPr>
            <p:spPr>
              <a:xfrm flipH="1">
                <a:off x="6945840" y="2412000"/>
                <a:ext cx="51480" cy="91440"/>
              </a:xfrm>
              <a:custGeom>
                <a:avLst/>
                <a:gdLst>
                  <a:gd name="GluePoint1X" fmla="*/ 2147483647 w 16"/>
                  <a:gd name="GluePoint1Y" fmla="*/ 0 h 27"/>
                  <a:gd name="GluePoint2X" fmla="*/ 1240767620 w 16"/>
                  <a:gd name="GluePoint2Y" fmla="*/ 2147483647 h 27"/>
                  <a:gd name="GluePoint3X" fmla="*/ 2147483647 w 16"/>
                  <a:gd name="GluePoint3Y" fmla="*/ 2147483647 h 27"/>
                  <a:gd name="GluePoint4X" fmla="*/ 536548160 w 16"/>
                  <a:gd name="GluePoint4Y" fmla="*/ 2147483647 h 27"/>
                  <a:gd name="GluePoint5X" fmla="*/ 232020826 w 16"/>
                  <a:gd name="GluePoint5Y" fmla="*/ 2147483647 h 2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6" h="27">
                    <a:moveTo>
                      <a:pt x="16" y="0"/>
                    </a:moveTo>
                    <a:cubicBezTo>
                      <a:pt x="13" y="3"/>
                      <a:pt x="9" y="5"/>
                      <a:pt x="5" y="6"/>
                    </a:cubicBezTo>
                    <a:cubicBezTo>
                      <a:pt x="7" y="7"/>
                      <a:pt x="9" y="10"/>
                      <a:pt x="11" y="10"/>
                    </a:cubicBezTo>
                    <a:cubicBezTo>
                      <a:pt x="8" y="15"/>
                      <a:pt x="0" y="19"/>
                      <a:pt x="2" y="26"/>
                    </a:cubicBezTo>
                    <a:cubicBezTo>
                      <a:pt x="1" y="27"/>
                      <a:pt x="1" y="26"/>
                      <a:pt x="1" y="26"/>
                    </a:cubicBezTo>
                  </a:path>
                </a:pathLst>
              </a:custGeom>
              <a:noFill/>
              <a:ln cap="rnd" w="7920">
                <a:solidFill>
                  <a:srgbClr val="58585a"/>
                </a:solidFill>
                <a:round/>
              </a:ln>
            </p:spPr>
            <p:style>
              <a:lnRef idx="0"/>
              <a:fillRef idx="0"/>
              <a:effectRef idx="0"/>
              <a:fontRef idx="minor"/>
            </p:style>
            <p:txBody>
              <a:bodyPr lIns="90000" rIns="90000" tIns="44640" bIns="44640" anchor="t">
                <a:noAutofit/>
              </a:bodyPr>
              <a:p>
                <a:endParaRPr b="0" lang="en-US" sz="2400" strike="noStrike" u="none">
                  <a:solidFill>
                    <a:srgbClr val="ffff00"/>
                  </a:solidFill>
                  <a:effectLst/>
                  <a:uFillTx/>
                  <a:latin typeface="Times New Roman"/>
                </a:endParaRPr>
              </a:p>
            </p:txBody>
          </p:sp>
          <p:sp>
            <p:nvSpPr>
              <p:cNvPr id="442" name="Freeform 223"/>
              <p:cNvSpPr/>
              <p:nvPr/>
            </p:nvSpPr>
            <p:spPr>
              <a:xfrm flipH="1">
                <a:off x="7131240" y="2259720"/>
                <a:ext cx="117360" cy="34200"/>
              </a:xfrm>
              <a:custGeom>
                <a:avLst/>
                <a:gdLst>
                  <a:gd name="GluePoint1X" fmla="*/ 2147483647 w 36"/>
                  <a:gd name="GluePoint1Y" fmla="*/ 2147483647 h 10"/>
                  <a:gd name="GluePoint2X" fmla="*/ 2147483647 w 36"/>
                  <a:gd name="GluePoint2Y" fmla="*/ 2147483647 h 10"/>
                  <a:gd name="GluePoint3X" fmla="*/ 2147483647 w 36"/>
                  <a:gd name="GluePoint3Y" fmla="*/ 2147483647 h 10"/>
                  <a:gd name="GluePoint4X" fmla="*/ 2147483647 w 36"/>
                  <a:gd name="GluePoint4Y" fmla="*/ 0 h 10"/>
                  <a:gd name="GluePoint5X" fmla="*/ 0 w 36"/>
                  <a:gd name="GluePoint5Y" fmla="*/ 2147483647 h 1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36" h="10">
                    <a:moveTo>
                      <a:pt x="36" y="2"/>
                    </a:moveTo>
                    <a:cubicBezTo>
                      <a:pt x="31" y="2"/>
                      <a:pt x="26" y="2"/>
                      <a:pt x="21" y="2"/>
                    </a:cubicBezTo>
                    <a:cubicBezTo>
                      <a:pt x="21" y="3"/>
                      <a:pt x="21" y="4"/>
                      <a:pt x="21" y="5"/>
                    </a:cubicBezTo>
                    <a:cubicBezTo>
                      <a:pt x="19" y="4"/>
                      <a:pt x="17" y="2"/>
                      <a:pt x="15" y="0"/>
                    </a:cubicBezTo>
                    <a:cubicBezTo>
                      <a:pt x="16" y="6"/>
                      <a:pt x="5" y="7"/>
                      <a:pt x="0" y="10"/>
                    </a:cubicBezTo>
                  </a:path>
                </a:pathLst>
              </a:custGeom>
              <a:noFill/>
              <a:ln cap="rnd" w="7920">
                <a:solidFill>
                  <a:srgbClr val="58585a"/>
                </a:solidFill>
                <a:round/>
              </a:ln>
            </p:spPr>
            <p:style>
              <a:lnRef idx="0"/>
              <a:fillRef idx="0"/>
              <a:effectRef idx="0"/>
              <a:fontRef idx="minor"/>
            </p:style>
            <p:txBody>
              <a:bodyPr lIns="90000" rIns="90000" tIns="-12600" bIns="-12600" anchor="t">
                <a:noAutofit/>
              </a:bodyPr>
              <a:p>
                <a:endParaRPr b="0" lang="en-US" sz="2400" strike="noStrike" u="none">
                  <a:solidFill>
                    <a:srgbClr val="ffff00"/>
                  </a:solidFill>
                  <a:effectLst/>
                  <a:uFillTx/>
                  <a:latin typeface="Times New Roman"/>
                </a:endParaRPr>
              </a:p>
            </p:txBody>
          </p:sp>
          <p:sp>
            <p:nvSpPr>
              <p:cNvPr id="443" name="Freeform 224"/>
              <p:cNvSpPr/>
              <p:nvPr/>
            </p:nvSpPr>
            <p:spPr>
              <a:xfrm flipH="1">
                <a:off x="7101720" y="2243520"/>
                <a:ext cx="23760" cy="36720"/>
              </a:xfrm>
              <a:custGeom>
                <a:avLst/>
                <a:gdLst>
                  <a:gd name="GluePoint1X" fmla="*/ 2147483647 w 7"/>
                  <a:gd name="GluePoint1Y" fmla="*/ 0 h 11"/>
                  <a:gd name="GluePoint2X" fmla="*/ 0 w 7"/>
                  <a:gd name="GluePoint2Y" fmla="*/ 2147483647 h 11"/>
                  <a:gd name="GluePoint3X" fmla="*/ 2098094904 w 7"/>
                  <a:gd name="GluePoint3Y" fmla="*/ 2147483647 h 11"/>
                  <a:gd name="GluePoint4X" fmla="*/ 2147483647 w 7"/>
                  <a:gd name="GluePoint4Y" fmla="*/ 2147483647 h 11"/>
                </a:gdLst>
                <a:ahLst/>
                <a:cxnLst>
                  <a:cxn ang="0">
                    <a:pos x="GluePoint1X" y="GluePoint1Y"/>
                  </a:cxn>
                  <a:cxn ang="0">
                    <a:pos x="GluePoint2X" y="GluePoint2Y"/>
                  </a:cxn>
                  <a:cxn ang="0">
                    <a:pos x="GluePoint3X" y="GluePoint3Y"/>
                  </a:cxn>
                  <a:cxn ang="0">
                    <a:pos x="GluePoint4X" y="GluePoint4Y"/>
                  </a:cxn>
                </a:cxnLst>
                <a:rect l="l" t="t" r="r" b="b"/>
                <a:pathLst>
                  <a:path w="7" h="11">
                    <a:moveTo>
                      <a:pt x="7" y="0"/>
                    </a:moveTo>
                    <a:cubicBezTo>
                      <a:pt x="5" y="2"/>
                      <a:pt x="2" y="4"/>
                      <a:pt x="0" y="7"/>
                    </a:cubicBezTo>
                    <a:cubicBezTo>
                      <a:pt x="1" y="8"/>
                      <a:pt x="2" y="10"/>
                      <a:pt x="3" y="10"/>
                    </a:cubicBezTo>
                    <a:cubicBezTo>
                      <a:pt x="3" y="11"/>
                      <a:pt x="4" y="10"/>
                      <a:pt x="5" y="11"/>
                    </a:cubicBezTo>
                  </a:path>
                </a:pathLst>
              </a:custGeom>
              <a:noFill/>
              <a:ln cap="rnd" w="7920">
                <a:solidFill>
                  <a:srgbClr val="58585a"/>
                </a:solidFill>
                <a:round/>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444" name="Freeform 225"/>
              <p:cNvSpPr/>
              <p:nvPr/>
            </p:nvSpPr>
            <p:spPr>
              <a:xfrm flipH="1">
                <a:off x="7154640" y="2340720"/>
                <a:ext cx="76680" cy="64080"/>
              </a:xfrm>
              <a:custGeom>
                <a:avLst/>
                <a:gdLst>
                  <a:gd name="GluePoint1X" fmla="*/ 2147483647 w 24"/>
                  <a:gd name="GluePoint1Y" fmla="*/ 2147483647 h 19"/>
                  <a:gd name="GluePoint2X" fmla="*/ 912569258 w 24"/>
                  <a:gd name="GluePoint2Y" fmla="*/ 2147483647 h 19"/>
                  <a:gd name="GluePoint3X" fmla="*/ 1164317268 w 24"/>
                  <a:gd name="GluePoint3Y" fmla="*/ 2147483647 h 19"/>
                  <a:gd name="GluePoint4X" fmla="*/ 0 w 24"/>
                  <a:gd name="GluePoint4Y" fmla="*/ 2147483647 h 19"/>
                </a:gdLst>
                <a:ahLst/>
                <a:cxnLst>
                  <a:cxn ang="0">
                    <a:pos x="GluePoint1X" y="GluePoint1Y"/>
                  </a:cxn>
                  <a:cxn ang="0">
                    <a:pos x="GluePoint2X" y="GluePoint2Y"/>
                  </a:cxn>
                  <a:cxn ang="0">
                    <a:pos x="GluePoint3X" y="GluePoint3Y"/>
                  </a:cxn>
                  <a:cxn ang="0">
                    <a:pos x="GluePoint4X" y="GluePoint4Y"/>
                  </a:cxn>
                </a:cxnLst>
                <a:rect l="l" t="t" r="r" b="b"/>
                <a:pathLst>
                  <a:path w="24" h="19">
                    <a:moveTo>
                      <a:pt x="24" y="4"/>
                    </a:moveTo>
                    <a:cubicBezTo>
                      <a:pt x="13" y="0"/>
                      <a:pt x="13" y="10"/>
                      <a:pt x="5" y="13"/>
                    </a:cubicBezTo>
                    <a:cubicBezTo>
                      <a:pt x="6" y="13"/>
                      <a:pt x="6" y="14"/>
                      <a:pt x="6" y="15"/>
                    </a:cubicBezTo>
                    <a:cubicBezTo>
                      <a:pt x="3" y="15"/>
                      <a:pt x="2" y="17"/>
                      <a:pt x="0" y="19"/>
                    </a:cubicBezTo>
                  </a:path>
                </a:pathLst>
              </a:custGeom>
              <a:noFill/>
              <a:ln cap="rnd" w="7920">
                <a:solidFill>
                  <a:srgbClr val="58585a"/>
                </a:solidFill>
                <a:round/>
              </a:ln>
            </p:spPr>
            <p:style>
              <a:lnRef idx="0"/>
              <a:fillRef idx="0"/>
              <a:effectRef idx="0"/>
              <a:fontRef idx="minor"/>
            </p:style>
            <p:txBody>
              <a:bodyPr lIns="90000" rIns="90000" tIns="17280" bIns="17280" anchor="t">
                <a:noAutofit/>
              </a:bodyPr>
              <a:p>
                <a:endParaRPr b="0" lang="en-US" sz="2400" strike="noStrike" u="none">
                  <a:solidFill>
                    <a:srgbClr val="ffff00"/>
                  </a:solidFill>
                  <a:effectLst/>
                  <a:uFillTx/>
                  <a:latin typeface="Times New Roman"/>
                </a:endParaRPr>
              </a:p>
            </p:txBody>
          </p:sp>
          <p:sp>
            <p:nvSpPr>
              <p:cNvPr id="445" name="Freeform 226"/>
              <p:cNvSpPr/>
              <p:nvPr/>
            </p:nvSpPr>
            <p:spPr>
              <a:xfrm flipH="1">
                <a:off x="7089120" y="2466720"/>
                <a:ext cx="38880" cy="57600"/>
              </a:xfrm>
              <a:custGeom>
                <a:avLst/>
                <a:gdLst>
                  <a:gd name="GluePoint1X" fmla="*/ 2147483647 w 12"/>
                  <a:gd name="GluePoint1Y" fmla="*/ 0 h 17"/>
                  <a:gd name="GluePoint2X" fmla="*/ 1765527064 w 12"/>
                  <a:gd name="GluePoint2Y" fmla="*/ 2147483647 h 17"/>
                  <a:gd name="GluePoint3X" fmla="*/ 273961102 w 12"/>
                  <a:gd name="GluePoint3Y" fmla="*/ 2147483647 h 17"/>
                  <a:gd name="GluePoint4X" fmla="*/ 844713389 w 12"/>
                  <a:gd name="GluePoint4Y" fmla="*/ 2147483647 h 17"/>
                  <a:gd name="GluePoint5X" fmla="*/ 0 w 12"/>
                  <a:gd name="GluePoint5Y" fmla="*/ 2147483647 h 1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2" h="17">
                    <a:moveTo>
                      <a:pt x="12" y="0"/>
                    </a:moveTo>
                    <a:cubicBezTo>
                      <a:pt x="10" y="0"/>
                      <a:pt x="7" y="2"/>
                      <a:pt x="6" y="4"/>
                    </a:cubicBezTo>
                    <a:cubicBezTo>
                      <a:pt x="12" y="9"/>
                      <a:pt x="6" y="12"/>
                      <a:pt x="1" y="13"/>
                    </a:cubicBezTo>
                    <a:cubicBezTo>
                      <a:pt x="2" y="13"/>
                      <a:pt x="2" y="14"/>
                      <a:pt x="3" y="15"/>
                    </a:cubicBezTo>
                    <a:cubicBezTo>
                      <a:pt x="2" y="16"/>
                      <a:pt x="1" y="17"/>
                      <a:pt x="0" y="17"/>
                    </a:cubicBezTo>
                  </a:path>
                </a:pathLst>
              </a:custGeom>
              <a:noFill/>
              <a:ln cap="rnd" w="7920">
                <a:solidFill>
                  <a:srgbClr val="58585a"/>
                </a:solidFill>
                <a:round/>
              </a:ln>
            </p:spPr>
            <p:style>
              <a:lnRef idx="0"/>
              <a:fillRef idx="0"/>
              <a:effectRef idx="0"/>
              <a:fontRef idx="minor"/>
            </p:style>
            <p:txBody>
              <a:bodyPr lIns="90000" rIns="90000" tIns="10800" bIns="10800" anchor="t">
                <a:noAutofit/>
              </a:bodyPr>
              <a:p>
                <a:endParaRPr b="0" lang="en-US" sz="2400" strike="noStrike" u="none">
                  <a:solidFill>
                    <a:srgbClr val="ffff00"/>
                  </a:solidFill>
                  <a:effectLst/>
                  <a:uFillTx/>
                  <a:latin typeface="Times New Roman"/>
                </a:endParaRPr>
              </a:p>
            </p:txBody>
          </p:sp>
          <p:sp>
            <p:nvSpPr>
              <p:cNvPr id="446" name="Freeform 227"/>
              <p:cNvSpPr/>
              <p:nvPr/>
            </p:nvSpPr>
            <p:spPr>
              <a:xfrm flipH="1">
                <a:off x="6621120" y="2588760"/>
                <a:ext cx="41760" cy="60120"/>
              </a:xfrm>
              <a:custGeom>
                <a:avLst/>
                <a:gdLst>
                  <a:gd name="GluePoint1X" fmla="*/ 2147483647 w 13"/>
                  <a:gd name="GluePoint1Y" fmla="*/ 2147483647 h 18"/>
                  <a:gd name="GluePoint2X" fmla="*/ 2147483647 w 13"/>
                  <a:gd name="GluePoint2Y" fmla="*/ 2147483647 h 18"/>
                  <a:gd name="GluePoint3X" fmla="*/ 1191661925 w 13"/>
                  <a:gd name="GluePoint3Y" fmla="*/ 0 h 18"/>
                </a:gdLst>
                <a:ahLst/>
                <a:cxnLst>
                  <a:cxn ang="0">
                    <a:pos x="GluePoint1X" y="GluePoint1Y"/>
                  </a:cxn>
                  <a:cxn ang="0">
                    <a:pos x="GluePoint2X" y="GluePoint2Y"/>
                  </a:cxn>
                  <a:cxn ang="0">
                    <a:pos x="GluePoint3X" y="GluePoint3Y"/>
                  </a:cxn>
                </a:cxnLst>
                <a:rect l="l" t="t" r="r" b="b"/>
                <a:pathLst>
                  <a:path w="13" h="18">
                    <a:moveTo>
                      <a:pt x="12" y="18"/>
                    </a:moveTo>
                    <a:cubicBezTo>
                      <a:pt x="13" y="16"/>
                      <a:pt x="13" y="14"/>
                      <a:pt x="13" y="12"/>
                    </a:cubicBezTo>
                    <a:cubicBezTo>
                      <a:pt x="0" y="11"/>
                      <a:pt x="10" y="5"/>
                      <a:pt x="5" y="0"/>
                    </a:cubicBezTo>
                  </a:path>
                </a:pathLst>
              </a:custGeom>
              <a:noFill/>
              <a:ln cap="rnd" w="7920">
                <a:solidFill>
                  <a:srgbClr val="58585a"/>
                </a:solidFill>
                <a:round/>
              </a:ln>
            </p:spPr>
            <p:style>
              <a:lnRef idx="0"/>
              <a:fillRef idx="0"/>
              <a:effectRef idx="0"/>
              <a:fontRef idx="minor"/>
            </p:style>
            <p:txBody>
              <a:bodyPr lIns="90000" rIns="90000" tIns="13320" bIns="13320" anchor="t">
                <a:noAutofit/>
              </a:bodyPr>
              <a:p>
                <a:endParaRPr b="0" lang="en-US" sz="2400" strike="noStrike" u="none">
                  <a:solidFill>
                    <a:srgbClr val="ffff00"/>
                  </a:solidFill>
                  <a:effectLst/>
                  <a:uFillTx/>
                  <a:latin typeface="Times New Roman"/>
                </a:endParaRPr>
              </a:p>
            </p:txBody>
          </p:sp>
          <p:sp>
            <p:nvSpPr>
              <p:cNvPr id="447" name="Freeform 228"/>
              <p:cNvSpPr/>
              <p:nvPr/>
            </p:nvSpPr>
            <p:spPr>
              <a:xfrm flipH="1">
                <a:off x="6546600" y="2398320"/>
                <a:ext cx="81360" cy="54360"/>
              </a:xfrm>
              <a:custGeom>
                <a:avLst/>
                <a:gdLst>
                  <a:gd name="GluePoint1X" fmla="*/ 2147483647 w 25"/>
                  <a:gd name="GluePoint1Y" fmla="*/ 2147483647 h 16"/>
                  <a:gd name="GluePoint2X" fmla="*/ 2147483647 w 25"/>
                  <a:gd name="GluePoint2Y" fmla="*/ 2147483647 h 16"/>
                  <a:gd name="GluePoint3X" fmla="*/ 0 w 25"/>
                  <a:gd name="GluePoint3Y" fmla="*/ 0 h 16"/>
                </a:gdLst>
                <a:ahLst/>
                <a:cxnLst>
                  <a:cxn ang="0">
                    <a:pos x="GluePoint1X" y="GluePoint1Y"/>
                  </a:cxn>
                  <a:cxn ang="0">
                    <a:pos x="GluePoint2X" y="GluePoint2Y"/>
                  </a:cxn>
                  <a:cxn ang="0">
                    <a:pos x="GluePoint3X" y="GluePoint3Y"/>
                  </a:cxn>
                </a:cxnLst>
                <a:rect l="l" t="t" r="r" b="b"/>
                <a:pathLst>
                  <a:path w="25" h="16">
                    <a:moveTo>
                      <a:pt x="25" y="16"/>
                    </a:moveTo>
                    <a:cubicBezTo>
                      <a:pt x="19" y="14"/>
                      <a:pt x="17" y="9"/>
                      <a:pt x="13" y="7"/>
                    </a:cubicBezTo>
                    <a:cubicBezTo>
                      <a:pt x="8" y="4"/>
                      <a:pt x="4" y="6"/>
                      <a:pt x="0" y="0"/>
                    </a:cubicBezTo>
                  </a:path>
                </a:pathLst>
              </a:custGeom>
              <a:noFill/>
              <a:ln cap="rnd" w="7920">
                <a:solidFill>
                  <a:srgbClr val="58585a"/>
                </a:solidFill>
                <a:round/>
              </a:ln>
            </p:spPr>
            <p:style>
              <a:lnRef idx="0"/>
              <a:fillRef idx="0"/>
              <a:effectRef idx="0"/>
              <a:fontRef idx="minor"/>
            </p:style>
            <p:txBody>
              <a:bodyPr lIns="90000" rIns="90000" tIns="7560" bIns="7560" anchor="t">
                <a:noAutofit/>
              </a:bodyPr>
              <a:p>
                <a:endParaRPr b="0" lang="en-US" sz="2400" strike="noStrike" u="none">
                  <a:solidFill>
                    <a:srgbClr val="ffff00"/>
                  </a:solidFill>
                  <a:effectLst/>
                  <a:uFillTx/>
                  <a:latin typeface="Times New Roman"/>
                </a:endParaRPr>
              </a:p>
            </p:txBody>
          </p:sp>
          <p:sp>
            <p:nvSpPr>
              <p:cNvPr id="448" name="Freeform 229"/>
              <p:cNvSpPr/>
              <p:nvPr/>
            </p:nvSpPr>
            <p:spPr>
              <a:xfrm flipH="1">
                <a:off x="6933600" y="2531520"/>
                <a:ext cx="22320" cy="84600"/>
              </a:xfrm>
              <a:custGeom>
                <a:avLst/>
                <a:gdLst>
                  <a:gd name="GluePoint1X" fmla="*/ 861305961 w 7"/>
                  <a:gd name="GluePoint1Y" fmla="*/ 0 h 25"/>
                  <a:gd name="GluePoint2X" fmla="*/ 1284907248 w 7"/>
                  <a:gd name="GluePoint2Y" fmla="*/ 2147483647 h 25"/>
                  <a:gd name="GluePoint3X" fmla="*/ 164859344 w 7"/>
                  <a:gd name="GluePoint3Y" fmla="*/ 2147483647 h 25"/>
                  <a:gd name="GluePoint4X" fmla="*/ 1284907248 w 7"/>
                  <a:gd name="GluePoint4Y" fmla="*/ 2147483647 h 25"/>
                  <a:gd name="GluePoint5X" fmla="*/ 0 w 7"/>
                  <a:gd name="GluePoint5Y" fmla="*/ 2147483647 h 25"/>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 h="25">
                    <a:moveTo>
                      <a:pt x="5" y="0"/>
                    </a:moveTo>
                    <a:cubicBezTo>
                      <a:pt x="6" y="1"/>
                      <a:pt x="7" y="2"/>
                      <a:pt x="7" y="3"/>
                    </a:cubicBezTo>
                    <a:cubicBezTo>
                      <a:pt x="6" y="5"/>
                      <a:pt x="3" y="7"/>
                      <a:pt x="1" y="9"/>
                    </a:cubicBezTo>
                    <a:cubicBezTo>
                      <a:pt x="4" y="10"/>
                      <a:pt x="6" y="12"/>
                      <a:pt x="7" y="14"/>
                    </a:cubicBezTo>
                    <a:cubicBezTo>
                      <a:pt x="2" y="17"/>
                      <a:pt x="4" y="22"/>
                      <a:pt x="0" y="25"/>
                    </a:cubicBezTo>
                  </a:path>
                </a:pathLst>
              </a:custGeom>
              <a:noFill/>
              <a:ln cap="rnd" w="7920">
                <a:solidFill>
                  <a:srgbClr val="58585a"/>
                </a:solidFill>
                <a:round/>
              </a:ln>
            </p:spPr>
            <p:style>
              <a:lnRef idx="0"/>
              <a:fillRef idx="0"/>
              <a:effectRef idx="0"/>
              <a:fontRef idx="minor"/>
            </p:style>
            <p:txBody>
              <a:bodyPr lIns="90000" rIns="90000" tIns="37800" bIns="37800" anchor="t">
                <a:noAutofit/>
              </a:bodyPr>
              <a:p>
                <a:endParaRPr b="0" lang="en-US" sz="2400" strike="noStrike" u="none">
                  <a:solidFill>
                    <a:srgbClr val="ffff00"/>
                  </a:solidFill>
                  <a:effectLst/>
                  <a:uFillTx/>
                  <a:latin typeface="Times New Roman"/>
                </a:endParaRPr>
              </a:p>
            </p:txBody>
          </p:sp>
          <p:sp>
            <p:nvSpPr>
              <p:cNvPr id="449" name="Freeform 230"/>
              <p:cNvSpPr/>
              <p:nvPr/>
            </p:nvSpPr>
            <p:spPr>
              <a:xfrm flipH="1">
                <a:off x="6832440" y="1877760"/>
                <a:ext cx="16200" cy="73800"/>
              </a:xfrm>
              <a:custGeom>
                <a:avLst/>
                <a:gdLst>
                  <a:gd name="GluePoint1X" fmla="*/ 0 w 5"/>
                  <a:gd name="GluePoint1Y" fmla="*/ 0 h 22"/>
                  <a:gd name="GluePoint2X" fmla="*/ 1171681015 w 5"/>
                  <a:gd name="GluePoint2Y" fmla="*/ 2147483647 h 22"/>
                  <a:gd name="GluePoint3X" fmla="*/ 0 w 5"/>
                  <a:gd name="GluePoint3Y" fmla="*/ 2147483647 h 22"/>
                  <a:gd name="GluePoint4X" fmla="*/ 488200423 w 5"/>
                  <a:gd name="GluePoint4Y" fmla="*/ 2147483647 h 22"/>
                </a:gdLst>
                <a:ahLst/>
                <a:cxnLst>
                  <a:cxn ang="0">
                    <a:pos x="GluePoint1X" y="GluePoint1Y"/>
                  </a:cxn>
                  <a:cxn ang="0">
                    <a:pos x="GluePoint2X" y="GluePoint2Y"/>
                  </a:cxn>
                  <a:cxn ang="0">
                    <a:pos x="GluePoint3X" y="GluePoint3Y"/>
                  </a:cxn>
                  <a:cxn ang="0">
                    <a:pos x="GluePoint4X" y="GluePoint4Y"/>
                  </a:cxn>
                </a:cxnLst>
                <a:rect l="l" t="t" r="r" b="b"/>
                <a:pathLst>
                  <a:path w="5" h="22">
                    <a:moveTo>
                      <a:pt x="0" y="0"/>
                    </a:moveTo>
                    <a:cubicBezTo>
                      <a:pt x="1" y="3"/>
                      <a:pt x="2" y="10"/>
                      <a:pt x="2" y="13"/>
                    </a:cubicBezTo>
                    <a:cubicBezTo>
                      <a:pt x="2" y="16"/>
                      <a:pt x="5" y="17"/>
                      <a:pt x="0" y="20"/>
                    </a:cubicBezTo>
                    <a:cubicBezTo>
                      <a:pt x="0" y="21"/>
                      <a:pt x="1" y="21"/>
                      <a:pt x="1" y="22"/>
                    </a:cubicBezTo>
                  </a:path>
                </a:pathLst>
              </a:custGeom>
              <a:noFill/>
              <a:ln cap="rnd" w="7920">
                <a:solidFill>
                  <a:srgbClr val="58585a"/>
                </a:solidFill>
                <a:round/>
              </a:ln>
            </p:spPr>
            <p:style>
              <a:lnRef idx="0"/>
              <a:fillRef idx="0"/>
              <a:effectRef idx="0"/>
              <a:fontRef idx="minor"/>
            </p:style>
            <p:txBody>
              <a:bodyPr lIns="90000" rIns="90000" tIns="27000" bIns="27000" anchor="t">
                <a:noAutofit/>
              </a:bodyPr>
              <a:p>
                <a:endParaRPr b="0" lang="en-US" sz="2400" strike="noStrike" u="none">
                  <a:solidFill>
                    <a:srgbClr val="ffff00"/>
                  </a:solidFill>
                  <a:effectLst/>
                  <a:uFillTx/>
                  <a:latin typeface="Times New Roman"/>
                </a:endParaRPr>
              </a:p>
            </p:txBody>
          </p:sp>
          <p:sp>
            <p:nvSpPr>
              <p:cNvPr id="450" name="Freeform 231"/>
              <p:cNvSpPr/>
              <p:nvPr/>
            </p:nvSpPr>
            <p:spPr>
              <a:xfrm flipH="1">
                <a:off x="7044120" y="1981800"/>
                <a:ext cx="51840" cy="27000"/>
              </a:xfrm>
              <a:custGeom>
                <a:avLst/>
                <a:gdLst>
                  <a:gd name="GluePoint1X" fmla="*/ 2147483647 w 16"/>
                  <a:gd name="GluePoint1Y" fmla="*/ 2147483647 h 8"/>
                  <a:gd name="GluePoint2X" fmla="*/ 934513743 w 16"/>
                  <a:gd name="GluePoint2Y" fmla="*/ 2147483647 h 8"/>
                  <a:gd name="GluePoint3X" fmla="*/ 0 w 16"/>
                  <a:gd name="GluePoint3Y" fmla="*/ 0 h 8"/>
                </a:gdLst>
                <a:ahLst/>
                <a:cxnLst>
                  <a:cxn ang="0">
                    <a:pos x="GluePoint1X" y="GluePoint1Y"/>
                  </a:cxn>
                  <a:cxn ang="0">
                    <a:pos x="GluePoint2X" y="GluePoint2Y"/>
                  </a:cxn>
                  <a:cxn ang="0">
                    <a:pos x="GluePoint3X" y="GluePoint3Y"/>
                  </a:cxn>
                </a:cxnLst>
                <a:rect l="l" t="t" r="r" b="b"/>
                <a:pathLst>
                  <a:path w="16" h="8">
                    <a:moveTo>
                      <a:pt x="16" y="8"/>
                    </a:moveTo>
                    <a:cubicBezTo>
                      <a:pt x="13" y="8"/>
                      <a:pt x="6" y="8"/>
                      <a:pt x="4" y="7"/>
                    </a:cubicBezTo>
                    <a:cubicBezTo>
                      <a:pt x="2" y="5"/>
                      <a:pt x="3" y="1"/>
                      <a:pt x="0" y="0"/>
                    </a:cubicBezTo>
                  </a:path>
                </a:pathLst>
              </a:custGeom>
              <a:noFill/>
              <a:ln cap="rnd" w="7920">
                <a:solidFill>
                  <a:srgbClr val="58585a"/>
                </a:solidFill>
                <a:round/>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451" name="Freeform 232"/>
              <p:cNvSpPr/>
              <p:nvPr/>
            </p:nvSpPr>
            <p:spPr>
              <a:xfrm flipH="1">
                <a:off x="6728760" y="2459880"/>
                <a:ext cx="22320" cy="175320"/>
              </a:xfrm>
              <a:custGeom>
                <a:avLst/>
                <a:gdLst>
                  <a:gd name="GluePoint1X" fmla="*/ 1107397079 w 7"/>
                  <a:gd name="GluePoint1Y" fmla="*/ 2147483647 h 52"/>
                  <a:gd name="GluePoint2X" fmla="*/ 1107397079 w 7"/>
                  <a:gd name="GluePoint2Y" fmla="*/ 2147483647 h 52"/>
                  <a:gd name="GluePoint3X" fmla="*/ 562146921 w 7"/>
                  <a:gd name="GluePoint3Y" fmla="*/ 2147483647 h 52"/>
                  <a:gd name="GluePoint4X" fmla="*/ 861305961 w 7"/>
                  <a:gd name="GluePoint4Y" fmla="*/ 2147483647 h 52"/>
                  <a:gd name="GluePoint5X" fmla="*/ 861305961 w 7"/>
                  <a:gd name="GluePoint5Y" fmla="*/ 2147483647 h 52"/>
                  <a:gd name="GluePoint6X" fmla="*/ 164859344 w 7"/>
                  <a:gd name="GluePoint6Y" fmla="*/ 2147483647 h 52"/>
                  <a:gd name="GluePoint7X" fmla="*/ 164859344 w 7"/>
                  <a:gd name="GluePoint7Y" fmla="*/ 0 h 5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7" h="52">
                    <a:moveTo>
                      <a:pt x="6" y="52"/>
                    </a:moveTo>
                    <a:cubicBezTo>
                      <a:pt x="6" y="48"/>
                      <a:pt x="7" y="42"/>
                      <a:pt x="6" y="38"/>
                    </a:cubicBezTo>
                    <a:cubicBezTo>
                      <a:pt x="6" y="37"/>
                      <a:pt x="3" y="35"/>
                      <a:pt x="3" y="33"/>
                    </a:cubicBezTo>
                    <a:cubicBezTo>
                      <a:pt x="3" y="31"/>
                      <a:pt x="5" y="29"/>
                      <a:pt x="5" y="27"/>
                    </a:cubicBezTo>
                    <a:cubicBezTo>
                      <a:pt x="6" y="25"/>
                      <a:pt x="6" y="23"/>
                      <a:pt x="5" y="21"/>
                    </a:cubicBezTo>
                    <a:cubicBezTo>
                      <a:pt x="5" y="18"/>
                      <a:pt x="1" y="19"/>
                      <a:pt x="1" y="17"/>
                    </a:cubicBezTo>
                    <a:cubicBezTo>
                      <a:pt x="0" y="12"/>
                      <a:pt x="3" y="6"/>
                      <a:pt x="1"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2" name="Freeform 233"/>
              <p:cNvSpPr/>
              <p:nvPr/>
            </p:nvSpPr>
            <p:spPr>
              <a:xfrm flipH="1">
                <a:off x="6734880" y="2405160"/>
                <a:ext cx="43200" cy="50400"/>
              </a:xfrm>
              <a:custGeom>
                <a:avLst/>
                <a:gdLst>
                  <a:gd name="GluePoint1X" fmla="*/ 2147483647 w 13"/>
                  <a:gd name="GluePoint1Y" fmla="*/ 2147483647 h 15"/>
                  <a:gd name="GluePoint2X" fmla="*/ 2147483647 w 13"/>
                  <a:gd name="GluePoint2Y" fmla="*/ 2147483647 h 15"/>
                  <a:gd name="GluePoint3X" fmla="*/ 0 w 13"/>
                  <a:gd name="GluePoint3Y" fmla="*/ 2147483647 h 15"/>
                  <a:gd name="GluePoint4X" fmla="*/ 429468723 w 13"/>
                  <a:gd name="GluePoint4Y" fmla="*/ 0 h 15"/>
                </a:gdLst>
                <a:ahLst/>
                <a:cxnLst>
                  <a:cxn ang="0">
                    <a:pos x="GluePoint1X" y="GluePoint1Y"/>
                  </a:cxn>
                  <a:cxn ang="0">
                    <a:pos x="GluePoint2X" y="GluePoint2Y"/>
                  </a:cxn>
                  <a:cxn ang="0">
                    <a:pos x="GluePoint3X" y="GluePoint3Y"/>
                  </a:cxn>
                  <a:cxn ang="0">
                    <a:pos x="GluePoint4X" y="GluePoint4Y"/>
                  </a:cxn>
                </a:cxnLst>
                <a:rect l="l" t="t" r="r" b="b"/>
                <a:pathLst>
                  <a:path w="13" h="15">
                    <a:moveTo>
                      <a:pt x="13" y="7"/>
                    </a:moveTo>
                    <a:cubicBezTo>
                      <a:pt x="10" y="9"/>
                      <a:pt x="10" y="13"/>
                      <a:pt x="9" y="15"/>
                    </a:cubicBezTo>
                    <a:cubicBezTo>
                      <a:pt x="10" y="9"/>
                      <a:pt x="5" y="7"/>
                      <a:pt x="0" y="7"/>
                    </a:cubicBezTo>
                    <a:cubicBezTo>
                      <a:pt x="1" y="4"/>
                      <a:pt x="1" y="2"/>
                      <a:pt x="1" y="0"/>
                    </a:cubicBezTo>
                  </a:path>
                </a:pathLst>
              </a:custGeom>
              <a:noFill/>
              <a:ln cap="rnd" w="7920">
                <a:solidFill>
                  <a:srgbClr val="58585a"/>
                </a:solidFill>
                <a:round/>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453" name="Freeform 234"/>
              <p:cNvSpPr/>
              <p:nvPr/>
            </p:nvSpPr>
            <p:spPr>
              <a:xfrm flipH="1">
                <a:off x="6625080" y="2333880"/>
                <a:ext cx="21960" cy="70920"/>
              </a:xfrm>
              <a:custGeom>
                <a:avLst/>
                <a:gdLst>
                  <a:gd name="GluePoint1X" fmla="*/ 1284907248 w 7"/>
                  <a:gd name="GluePoint1Y" fmla="*/ 2147483647 h 21"/>
                  <a:gd name="GluePoint2X" fmla="*/ 0 w 7"/>
                  <a:gd name="GluePoint2Y" fmla="*/ 2147483647 h 21"/>
                  <a:gd name="GluePoint3X" fmla="*/ 0 w 7"/>
                  <a:gd name="GluePoint3Y" fmla="*/ 0 h 21"/>
                </a:gdLst>
                <a:ahLst/>
                <a:cxnLst>
                  <a:cxn ang="0">
                    <a:pos x="GluePoint1X" y="GluePoint1Y"/>
                  </a:cxn>
                  <a:cxn ang="0">
                    <a:pos x="GluePoint2X" y="GluePoint2Y"/>
                  </a:cxn>
                  <a:cxn ang="0">
                    <a:pos x="GluePoint3X" y="GluePoint3Y"/>
                  </a:cxn>
                </a:cxnLst>
                <a:rect l="l" t="t" r="r" b="b"/>
                <a:pathLst>
                  <a:path w="7" h="21">
                    <a:moveTo>
                      <a:pt x="7" y="21"/>
                    </a:moveTo>
                    <a:cubicBezTo>
                      <a:pt x="6" y="17"/>
                      <a:pt x="3" y="15"/>
                      <a:pt x="0" y="14"/>
                    </a:cubicBezTo>
                    <a:cubicBezTo>
                      <a:pt x="2" y="10"/>
                      <a:pt x="2" y="4"/>
                      <a:pt x="0" y="0"/>
                    </a:cubicBezTo>
                  </a:path>
                </a:pathLst>
              </a:custGeom>
              <a:noFill/>
              <a:ln cap="rnd" w="7920">
                <a:solidFill>
                  <a:srgbClr val="58585a"/>
                </a:solidFill>
                <a:round/>
              </a:ln>
            </p:spPr>
            <p:style>
              <a:lnRef idx="0"/>
              <a:fillRef idx="0"/>
              <a:effectRef idx="0"/>
              <a:fontRef idx="minor"/>
            </p:style>
            <p:txBody>
              <a:bodyPr lIns="90000" rIns="90000" tIns="24120" bIns="24120" anchor="t">
                <a:noAutofit/>
              </a:bodyPr>
              <a:p>
                <a:endParaRPr b="0" lang="en-US" sz="2400" strike="noStrike" u="none">
                  <a:solidFill>
                    <a:srgbClr val="ffff00"/>
                  </a:solidFill>
                  <a:effectLst/>
                  <a:uFillTx/>
                  <a:latin typeface="Times New Roman"/>
                </a:endParaRPr>
              </a:p>
            </p:txBody>
          </p:sp>
          <p:sp>
            <p:nvSpPr>
              <p:cNvPr id="454" name="Freeform 235"/>
              <p:cNvSpPr/>
              <p:nvPr/>
            </p:nvSpPr>
            <p:spPr>
              <a:xfrm flipH="1">
                <a:off x="6647400" y="2358720"/>
                <a:ext cx="25200" cy="23040"/>
              </a:xfrm>
              <a:custGeom>
                <a:avLst/>
                <a:gdLst>
                  <a:gd name="GluePoint1X" fmla="*/ 1018247189 w 8"/>
                  <a:gd name="GluePoint1Y" fmla="*/ 2147483647 h 7"/>
                  <a:gd name="GluePoint2X" fmla="*/ 0 w 8"/>
                  <a:gd name="GluePoint2Y" fmla="*/ 0 h 7"/>
                </a:gdLst>
                <a:ahLst/>
                <a:cxnLst>
                  <a:cxn ang="0">
                    <a:pos x="GluePoint1X" y="GluePoint1Y"/>
                  </a:cxn>
                  <a:cxn ang="0">
                    <a:pos x="GluePoint2X" y="GluePoint2Y"/>
                  </a:cxn>
                </a:cxnLst>
                <a:rect l="l" t="t" r="r" b="b"/>
                <a:pathLst>
                  <a:path w="8" h="7">
                    <a:moveTo>
                      <a:pt x="8" y="7"/>
                    </a:moveTo>
                    <a:cubicBezTo>
                      <a:pt x="6" y="4"/>
                      <a:pt x="3" y="2"/>
                      <a:pt x="0" y="0"/>
                    </a:cubicBezTo>
                  </a:path>
                </a:pathLst>
              </a:custGeom>
              <a:noFill/>
              <a:ln cap="rnd" w="7920">
                <a:solidFill>
                  <a:srgbClr val="58585a"/>
                </a:solidFill>
                <a:round/>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455" name="Freeform 236"/>
              <p:cNvSpPr/>
              <p:nvPr/>
            </p:nvSpPr>
            <p:spPr>
              <a:xfrm flipH="1">
                <a:off x="6692040" y="2036880"/>
                <a:ext cx="6840" cy="23040"/>
              </a:xfrm>
              <a:custGeom>
                <a:avLst/>
                <a:gdLst>
                  <a:gd name="GluePoint1X" fmla="*/ 1823616533 w 2"/>
                  <a:gd name="GluePoint1Y" fmla="*/ 0 h 7"/>
                  <a:gd name="GluePoint2X" fmla="*/ 0 w 2"/>
                  <a:gd name="GluePoint2Y" fmla="*/ 2147483647 h 7"/>
                </a:gdLst>
                <a:ahLst/>
                <a:cxnLst>
                  <a:cxn ang="0">
                    <a:pos x="GluePoint1X" y="GluePoint1Y"/>
                  </a:cxn>
                  <a:cxn ang="0">
                    <a:pos x="GluePoint2X" y="GluePoint2Y"/>
                  </a:cxn>
                </a:cxnLst>
                <a:rect l="l" t="t" r="r" b="b"/>
                <a:pathLst>
                  <a:path w="2" h="7">
                    <a:moveTo>
                      <a:pt x="1" y="0"/>
                    </a:moveTo>
                    <a:cubicBezTo>
                      <a:pt x="2" y="3"/>
                      <a:pt x="2" y="6"/>
                      <a:pt x="0" y="7"/>
                    </a:cubicBezTo>
                  </a:path>
                </a:pathLst>
              </a:custGeom>
              <a:noFill/>
              <a:ln cap="rnd" w="7920">
                <a:solidFill>
                  <a:srgbClr val="58585a"/>
                </a:solidFill>
                <a:round/>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456" name="Freeform 237"/>
              <p:cNvSpPr/>
              <p:nvPr/>
            </p:nvSpPr>
            <p:spPr>
              <a:xfrm flipH="1">
                <a:off x="6699240" y="2018520"/>
                <a:ext cx="34920" cy="27360"/>
              </a:xfrm>
              <a:custGeom>
                <a:avLst/>
                <a:gdLst>
                  <a:gd name="GluePoint1X" fmla="*/ 1753728611 w 11"/>
                  <a:gd name="GluePoint1Y" fmla="*/ 0 h 8"/>
                  <a:gd name="GluePoint2X" fmla="*/ 0 w 11"/>
                  <a:gd name="GluePoint2Y" fmla="*/ 2147483647 h 8"/>
                </a:gdLst>
                <a:ahLst/>
                <a:cxnLst>
                  <a:cxn ang="0">
                    <a:pos x="GluePoint1X" y="GluePoint1Y"/>
                  </a:cxn>
                  <a:cxn ang="0">
                    <a:pos x="GluePoint2X" y="GluePoint2Y"/>
                  </a:cxn>
                </a:cxnLst>
                <a:rect l="l" t="t" r="r" b="b"/>
                <a:pathLst>
                  <a:path w="11" h="8">
                    <a:moveTo>
                      <a:pt x="11" y="0"/>
                    </a:moveTo>
                    <a:cubicBezTo>
                      <a:pt x="11" y="7"/>
                      <a:pt x="5" y="6"/>
                      <a:pt x="0" y="8"/>
                    </a:cubicBezTo>
                  </a:path>
                </a:pathLst>
              </a:custGeom>
              <a:noFill/>
              <a:ln cap="rnd" w="7920">
                <a:solidFill>
                  <a:srgbClr val="58585a"/>
                </a:solidFill>
                <a:round/>
              </a:ln>
            </p:spPr>
            <p:style>
              <a:lnRef idx="0"/>
              <a:fillRef idx="0"/>
              <a:effectRef idx="0"/>
              <a:fontRef idx="minor"/>
            </p:style>
            <p:txBody>
              <a:bodyPr lIns="90000" rIns="90000" tIns="-19440" bIns="-19440" anchor="t">
                <a:noAutofit/>
              </a:bodyPr>
              <a:p>
                <a:endParaRPr b="0" lang="en-US" sz="2400" strike="noStrike" u="none">
                  <a:solidFill>
                    <a:srgbClr val="ffff00"/>
                  </a:solidFill>
                  <a:effectLst/>
                  <a:uFillTx/>
                  <a:latin typeface="Times New Roman"/>
                </a:endParaRPr>
              </a:p>
            </p:txBody>
          </p:sp>
          <p:sp>
            <p:nvSpPr>
              <p:cNvPr id="457" name="Freeform 238"/>
              <p:cNvSpPr/>
              <p:nvPr/>
            </p:nvSpPr>
            <p:spPr>
              <a:xfrm flipH="1">
                <a:off x="6523920" y="1802520"/>
                <a:ext cx="766800" cy="884880"/>
              </a:xfrm>
              <a:custGeom>
                <a:avLst/>
                <a:gdLst>
                  <a:gd name="GluePoint1X" fmla="*/ 2147483647 w 236"/>
                  <a:gd name="GluePoint1Y" fmla="*/ 2147483647 h 261"/>
                  <a:gd name="GluePoint2X" fmla="*/ 2147483647 w 236"/>
                  <a:gd name="GluePoint2Y" fmla="*/ 2147483647 h 261"/>
                  <a:gd name="GluePoint3X" fmla="*/ 2147483647 w 236"/>
                  <a:gd name="GluePoint3Y" fmla="*/ 2147483647 h 261"/>
                  <a:gd name="GluePoint4X" fmla="*/ 2147483647 w 236"/>
                  <a:gd name="GluePoint4Y" fmla="*/ 2147483647 h 261"/>
                  <a:gd name="GluePoint5X" fmla="*/ 2147483647 w 236"/>
                  <a:gd name="GluePoint5Y" fmla="*/ 2147483647 h 261"/>
                  <a:gd name="GluePoint6X" fmla="*/ 2147483647 w 236"/>
                  <a:gd name="GluePoint6Y" fmla="*/ 2147483647 h 261"/>
                  <a:gd name="GluePoint7X" fmla="*/ 2147483647 w 236"/>
                  <a:gd name="GluePoint7Y" fmla="*/ 2147483647 h 261"/>
                  <a:gd name="GluePoint8X" fmla="*/ 2147483647 w 236"/>
                  <a:gd name="GluePoint8Y" fmla="*/ 2147483647 h 261"/>
                  <a:gd name="GluePoint9X" fmla="*/ 2147483647 w 236"/>
                  <a:gd name="GluePoint9Y" fmla="*/ 2147483647 h 261"/>
                  <a:gd name="GluePoint10X" fmla="*/ 2147483647 w 236"/>
                  <a:gd name="GluePoint10Y" fmla="*/ 2147483647 h 261"/>
                  <a:gd name="GluePoint11X" fmla="*/ 2147483647 w 236"/>
                  <a:gd name="GluePoint11Y" fmla="*/ 2147483647 h 261"/>
                  <a:gd name="GluePoint12X" fmla="*/ 2147483647 w 236"/>
                  <a:gd name="GluePoint12Y" fmla="*/ 2147483647 h 261"/>
                  <a:gd name="GluePoint13X" fmla="*/ 2147483647 w 236"/>
                  <a:gd name="GluePoint13Y" fmla="*/ 2147483647 h 261"/>
                  <a:gd name="GluePoint14X" fmla="*/ 2147483647 w 236"/>
                  <a:gd name="GluePoint14Y" fmla="*/ 2147483647 h 261"/>
                  <a:gd name="GluePoint15X" fmla="*/ 2147483647 w 236"/>
                  <a:gd name="GluePoint15Y" fmla="*/ 2147483647 h 261"/>
                  <a:gd name="GluePoint16X" fmla="*/ 2147483647 w 236"/>
                  <a:gd name="GluePoint16Y" fmla="*/ 2147483647 h 261"/>
                  <a:gd name="GluePoint17X" fmla="*/ 2147483647 w 236"/>
                  <a:gd name="GluePoint17Y" fmla="*/ 2147483647 h 261"/>
                  <a:gd name="GluePoint18X" fmla="*/ 2147483647 w 236"/>
                  <a:gd name="GluePoint18Y" fmla="*/ 2147483647 h 261"/>
                  <a:gd name="GluePoint19X" fmla="*/ 983882563 w 236"/>
                  <a:gd name="GluePoint19Y" fmla="*/ 2147483647 h 261"/>
                  <a:gd name="GluePoint20X" fmla="*/ 2147483647 w 236"/>
                  <a:gd name="GluePoint20Y" fmla="*/ 2147483647 h 261"/>
                  <a:gd name="GluePoint21X" fmla="*/ 1304146655 w 236"/>
                  <a:gd name="GluePoint21Y" fmla="*/ 2147483647 h 261"/>
                  <a:gd name="GluePoint22X" fmla="*/ 2147483647 w 236"/>
                  <a:gd name="GluePoint22Y" fmla="*/ 2147483647 h 261"/>
                  <a:gd name="GluePoint23X" fmla="*/ 2147483647 w 236"/>
                  <a:gd name="GluePoint23Y" fmla="*/ 2147483647 h 261"/>
                  <a:gd name="GluePoint24X" fmla="*/ 2147483647 w 236"/>
                  <a:gd name="GluePoint24Y" fmla="*/ 2147483647 h 261"/>
                  <a:gd name="GluePoint25X" fmla="*/ 2147483647 w 236"/>
                  <a:gd name="GluePoint25Y" fmla="*/ 2147483647 h 261"/>
                  <a:gd name="GluePoint26X" fmla="*/ 2147483647 w 236"/>
                  <a:gd name="GluePoint26Y" fmla="*/ 2147483647 h 261"/>
                  <a:gd name="GluePoint27X" fmla="*/ 2147483647 w 236"/>
                  <a:gd name="GluePoint27Y" fmla="*/ 2147483647 h 261"/>
                  <a:gd name="GluePoint28X" fmla="*/ 2147483647 w 236"/>
                  <a:gd name="GluePoint28Y" fmla="*/ 2147483647 h 261"/>
                  <a:gd name="GluePoint29X" fmla="*/ 2147483647 w 236"/>
                  <a:gd name="GluePoint29Y" fmla="*/ 2147483647 h 261"/>
                  <a:gd name="GluePoint30X" fmla="*/ 2147483647 w 236"/>
                  <a:gd name="GluePoint30Y" fmla="*/ 2147483647 h 261"/>
                  <a:gd name="GluePoint31X" fmla="*/ 2147483647 w 236"/>
                  <a:gd name="GluePoint31Y" fmla="*/ 2147483647 h 261"/>
                  <a:gd name="GluePoint32X" fmla="*/ 2147483647 w 236"/>
                  <a:gd name="GluePoint32Y" fmla="*/ 2147483647 h 261"/>
                  <a:gd name="GluePoint33X" fmla="*/ 2147483647 w 236"/>
                  <a:gd name="GluePoint33Y" fmla="*/ 2147483647 h 261"/>
                  <a:gd name="GluePoint34X" fmla="*/ 2147483647 w 236"/>
                  <a:gd name="GluePoint34Y" fmla="*/ 2147483647 h 261"/>
                  <a:gd name="GluePoint35X" fmla="*/ 2147483647 w 236"/>
                  <a:gd name="GluePoint35Y" fmla="*/ 2147483647 h 261"/>
                  <a:gd name="GluePoint36X" fmla="*/ 2147483647 w 236"/>
                  <a:gd name="GluePoint36Y" fmla="*/ 2147483647 h 261"/>
                  <a:gd name="GluePoint37X" fmla="*/ 2147483647 w 236"/>
                  <a:gd name="GluePoint37Y" fmla="*/ 2147483647 h 261"/>
                  <a:gd name="GluePoint38X" fmla="*/ 2147483647 w 236"/>
                  <a:gd name="GluePoint38Y" fmla="*/ 2147483647 h 261"/>
                  <a:gd name="GluePoint39X" fmla="*/ 2147483647 w 236"/>
                  <a:gd name="GluePoint39Y" fmla="*/ 2147483647 h 2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Lst>
                <a:rect l="l" t="t" r="r" b="b"/>
                <a:pathLst>
                  <a:path w="236" h="261">
                    <a:moveTo>
                      <a:pt x="218" y="145"/>
                    </a:moveTo>
                    <a:cubicBezTo>
                      <a:pt x="222" y="154"/>
                      <a:pt x="227" y="169"/>
                      <a:pt x="228" y="173"/>
                    </a:cubicBezTo>
                    <a:cubicBezTo>
                      <a:pt x="229" y="175"/>
                      <a:pt x="231" y="181"/>
                      <a:pt x="231" y="184"/>
                    </a:cubicBezTo>
                    <a:cubicBezTo>
                      <a:pt x="232" y="187"/>
                      <a:pt x="230" y="189"/>
                      <a:pt x="230" y="192"/>
                    </a:cubicBezTo>
                    <a:cubicBezTo>
                      <a:pt x="230" y="194"/>
                      <a:pt x="232" y="197"/>
                      <a:pt x="233" y="200"/>
                    </a:cubicBezTo>
                    <a:cubicBezTo>
                      <a:pt x="235" y="207"/>
                      <a:pt x="235" y="216"/>
                      <a:pt x="236" y="224"/>
                    </a:cubicBezTo>
                    <a:cubicBezTo>
                      <a:pt x="236" y="228"/>
                      <a:pt x="235" y="228"/>
                      <a:pt x="233" y="232"/>
                    </a:cubicBezTo>
                    <a:cubicBezTo>
                      <a:pt x="231" y="235"/>
                      <a:pt x="230" y="240"/>
                      <a:pt x="228" y="242"/>
                    </a:cubicBezTo>
                    <a:cubicBezTo>
                      <a:pt x="225" y="245"/>
                      <a:pt x="223" y="244"/>
                      <a:pt x="220" y="245"/>
                    </a:cubicBezTo>
                    <a:cubicBezTo>
                      <a:pt x="219" y="246"/>
                      <a:pt x="218" y="245"/>
                      <a:pt x="217" y="246"/>
                    </a:cubicBezTo>
                    <a:cubicBezTo>
                      <a:pt x="216" y="246"/>
                      <a:pt x="217" y="249"/>
                      <a:pt x="216" y="250"/>
                    </a:cubicBezTo>
                    <a:cubicBezTo>
                      <a:pt x="213" y="251"/>
                      <a:pt x="214" y="253"/>
                      <a:pt x="211" y="253"/>
                    </a:cubicBezTo>
                    <a:cubicBezTo>
                      <a:pt x="209" y="253"/>
                      <a:pt x="206" y="249"/>
                      <a:pt x="204" y="250"/>
                    </a:cubicBezTo>
                    <a:cubicBezTo>
                      <a:pt x="201" y="250"/>
                      <a:pt x="199" y="253"/>
                      <a:pt x="197" y="253"/>
                    </a:cubicBezTo>
                    <a:cubicBezTo>
                      <a:pt x="195" y="254"/>
                      <a:pt x="192" y="254"/>
                      <a:pt x="191" y="254"/>
                    </a:cubicBezTo>
                    <a:cubicBezTo>
                      <a:pt x="187" y="255"/>
                      <a:pt x="182" y="258"/>
                      <a:pt x="178" y="258"/>
                    </a:cubicBezTo>
                    <a:cubicBezTo>
                      <a:pt x="171" y="258"/>
                      <a:pt x="168" y="253"/>
                      <a:pt x="170" y="246"/>
                    </a:cubicBezTo>
                    <a:cubicBezTo>
                      <a:pt x="169" y="248"/>
                      <a:pt x="167" y="251"/>
                      <a:pt x="165" y="253"/>
                    </a:cubicBezTo>
                    <a:cubicBezTo>
                      <a:pt x="163" y="251"/>
                      <a:pt x="162" y="250"/>
                      <a:pt x="160" y="248"/>
                    </a:cubicBezTo>
                    <a:cubicBezTo>
                      <a:pt x="161" y="251"/>
                      <a:pt x="161" y="254"/>
                      <a:pt x="160" y="257"/>
                    </a:cubicBezTo>
                    <a:cubicBezTo>
                      <a:pt x="153" y="257"/>
                      <a:pt x="150" y="261"/>
                      <a:pt x="143" y="258"/>
                    </a:cubicBezTo>
                    <a:cubicBezTo>
                      <a:pt x="138" y="255"/>
                      <a:pt x="134" y="253"/>
                      <a:pt x="128" y="253"/>
                    </a:cubicBezTo>
                    <a:cubicBezTo>
                      <a:pt x="119" y="254"/>
                      <a:pt x="120" y="251"/>
                      <a:pt x="114" y="247"/>
                    </a:cubicBezTo>
                    <a:cubicBezTo>
                      <a:pt x="113" y="247"/>
                      <a:pt x="110" y="248"/>
                      <a:pt x="108" y="247"/>
                    </a:cubicBezTo>
                    <a:cubicBezTo>
                      <a:pt x="106" y="246"/>
                      <a:pt x="105" y="242"/>
                      <a:pt x="104" y="240"/>
                    </a:cubicBezTo>
                    <a:cubicBezTo>
                      <a:pt x="100" y="246"/>
                      <a:pt x="93" y="247"/>
                      <a:pt x="87" y="243"/>
                    </a:cubicBezTo>
                    <a:cubicBezTo>
                      <a:pt x="80" y="239"/>
                      <a:pt x="86" y="230"/>
                      <a:pt x="87" y="224"/>
                    </a:cubicBezTo>
                    <a:cubicBezTo>
                      <a:pt x="89" y="219"/>
                      <a:pt x="91" y="214"/>
                      <a:pt x="92" y="209"/>
                    </a:cubicBezTo>
                    <a:cubicBezTo>
                      <a:pt x="93" y="203"/>
                      <a:pt x="90" y="204"/>
                      <a:pt x="87" y="209"/>
                    </a:cubicBezTo>
                    <a:cubicBezTo>
                      <a:pt x="82" y="218"/>
                      <a:pt x="84" y="245"/>
                      <a:pt x="68" y="237"/>
                    </a:cubicBezTo>
                    <a:cubicBezTo>
                      <a:pt x="65" y="236"/>
                      <a:pt x="64" y="234"/>
                      <a:pt x="60" y="233"/>
                    </a:cubicBezTo>
                    <a:cubicBezTo>
                      <a:pt x="57" y="233"/>
                      <a:pt x="53" y="233"/>
                      <a:pt x="50" y="231"/>
                    </a:cubicBezTo>
                    <a:cubicBezTo>
                      <a:pt x="43" y="226"/>
                      <a:pt x="47" y="220"/>
                      <a:pt x="49" y="213"/>
                    </a:cubicBezTo>
                    <a:cubicBezTo>
                      <a:pt x="40" y="221"/>
                      <a:pt x="39" y="216"/>
                      <a:pt x="33" y="209"/>
                    </a:cubicBezTo>
                    <a:cubicBezTo>
                      <a:pt x="29" y="204"/>
                      <a:pt x="24" y="204"/>
                      <a:pt x="24" y="195"/>
                    </a:cubicBezTo>
                    <a:cubicBezTo>
                      <a:pt x="17" y="200"/>
                      <a:pt x="14" y="184"/>
                      <a:pt x="19" y="177"/>
                    </a:cubicBezTo>
                    <a:cubicBezTo>
                      <a:pt x="17" y="179"/>
                      <a:pt x="15" y="183"/>
                      <a:pt x="10" y="181"/>
                    </a:cubicBezTo>
                    <a:cubicBezTo>
                      <a:pt x="5" y="180"/>
                      <a:pt x="4" y="175"/>
                      <a:pt x="4" y="171"/>
                    </a:cubicBezTo>
                    <a:cubicBezTo>
                      <a:pt x="3" y="166"/>
                      <a:pt x="0" y="154"/>
                      <a:pt x="2" y="149"/>
                    </a:cubicBezTo>
                    <a:cubicBezTo>
                      <a:pt x="4" y="144"/>
                      <a:pt x="9" y="144"/>
                      <a:pt x="15" y="143"/>
                    </a:cubicBezTo>
                    <a:cubicBezTo>
                      <a:pt x="12" y="143"/>
                      <a:pt x="8" y="143"/>
                      <a:pt x="5" y="142"/>
                    </a:cubicBezTo>
                    <a:cubicBezTo>
                      <a:pt x="6" y="136"/>
                      <a:pt x="3" y="131"/>
                      <a:pt x="5" y="125"/>
                    </a:cubicBezTo>
                    <a:cubicBezTo>
                      <a:pt x="6" y="123"/>
                      <a:pt x="9" y="123"/>
                      <a:pt x="10" y="121"/>
                    </a:cubicBezTo>
                    <a:cubicBezTo>
                      <a:pt x="11" y="119"/>
                      <a:pt x="10" y="117"/>
                      <a:pt x="11" y="114"/>
                    </a:cubicBezTo>
                    <a:cubicBezTo>
                      <a:pt x="12" y="110"/>
                      <a:pt x="14" y="109"/>
                      <a:pt x="16" y="105"/>
                    </a:cubicBezTo>
                    <a:cubicBezTo>
                      <a:pt x="20" y="100"/>
                      <a:pt x="21" y="93"/>
                      <a:pt x="27" y="89"/>
                    </a:cubicBezTo>
                    <a:cubicBezTo>
                      <a:pt x="37" y="83"/>
                      <a:pt x="52" y="90"/>
                      <a:pt x="62" y="91"/>
                    </a:cubicBezTo>
                    <a:cubicBezTo>
                      <a:pt x="57" y="89"/>
                      <a:pt x="53" y="86"/>
                      <a:pt x="47" y="86"/>
                    </a:cubicBezTo>
                    <a:cubicBezTo>
                      <a:pt x="44" y="85"/>
                      <a:pt x="42" y="87"/>
                      <a:pt x="39" y="85"/>
                    </a:cubicBezTo>
                    <a:cubicBezTo>
                      <a:pt x="35" y="82"/>
                      <a:pt x="37" y="78"/>
                      <a:pt x="38" y="74"/>
                    </a:cubicBezTo>
                    <a:cubicBezTo>
                      <a:pt x="40" y="68"/>
                      <a:pt x="43" y="70"/>
                      <a:pt x="47" y="64"/>
                    </a:cubicBezTo>
                    <a:cubicBezTo>
                      <a:pt x="52" y="58"/>
                      <a:pt x="50" y="52"/>
                      <a:pt x="60" y="53"/>
                    </a:cubicBezTo>
                    <a:cubicBezTo>
                      <a:pt x="60" y="51"/>
                      <a:pt x="60" y="49"/>
                      <a:pt x="58" y="47"/>
                    </a:cubicBezTo>
                    <a:cubicBezTo>
                      <a:pt x="68" y="41"/>
                      <a:pt x="71" y="31"/>
                      <a:pt x="84" y="34"/>
                    </a:cubicBezTo>
                    <a:cubicBezTo>
                      <a:pt x="91" y="36"/>
                      <a:pt x="97" y="45"/>
                      <a:pt x="102" y="51"/>
                    </a:cubicBezTo>
                    <a:cubicBezTo>
                      <a:pt x="99" y="46"/>
                      <a:pt x="97" y="40"/>
                      <a:pt x="93" y="36"/>
                    </a:cubicBezTo>
                    <a:cubicBezTo>
                      <a:pt x="87" y="31"/>
                      <a:pt x="85" y="32"/>
                      <a:pt x="90" y="25"/>
                    </a:cubicBezTo>
                    <a:cubicBezTo>
                      <a:pt x="91" y="23"/>
                      <a:pt x="94" y="19"/>
                      <a:pt x="96" y="18"/>
                    </a:cubicBezTo>
                    <a:cubicBezTo>
                      <a:pt x="98" y="17"/>
                      <a:pt x="100" y="20"/>
                      <a:pt x="102" y="19"/>
                    </a:cubicBezTo>
                    <a:cubicBezTo>
                      <a:pt x="105" y="18"/>
                      <a:pt x="106" y="13"/>
                      <a:pt x="109" y="12"/>
                    </a:cubicBezTo>
                    <a:cubicBezTo>
                      <a:pt x="112" y="11"/>
                      <a:pt x="116" y="13"/>
                      <a:pt x="118" y="14"/>
                    </a:cubicBezTo>
                    <a:cubicBezTo>
                      <a:pt x="120" y="7"/>
                      <a:pt x="127" y="10"/>
                      <a:pt x="130" y="14"/>
                    </a:cubicBezTo>
                    <a:cubicBezTo>
                      <a:pt x="132" y="16"/>
                      <a:pt x="134" y="20"/>
                      <a:pt x="135" y="23"/>
                    </a:cubicBezTo>
                    <a:cubicBezTo>
                      <a:pt x="135" y="22"/>
                      <a:pt x="135" y="22"/>
                      <a:pt x="136" y="21"/>
                    </a:cubicBezTo>
                    <a:cubicBezTo>
                      <a:pt x="137" y="17"/>
                      <a:pt x="138" y="16"/>
                      <a:pt x="138" y="13"/>
                    </a:cubicBezTo>
                    <a:cubicBezTo>
                      <a:pt x="138" y="13"/>
                      <a:pt x="136" y="11"/>
                      <a:pt x="137" y="10"/>
                    </a:cubicBezTo>
                    <a:cubicBezTo>
                      <a:pt x="139" y="0"/>
                      <a:pt x="150" y="7"/>
                      <a:pt x="155" y="11"/>
                    </a:cubicBezTo>
                    <a:cubicBezTo>
                      <a:pt x="157" y="6"/>
                      <a:pt x="161" y="8"/>
                      <a:pt x="164" y="10"/>
                    </a:cubicBezTo>
                    <a:cubicBezTo>
                      <a:pt x="165" y="8"/>
                      <a:pt x="167" y="7"/>
                      <a:pt x="167" y="5"/>
                    </a:cubicBezTo>
                    <a:cubicBezTo>
                      <a:pt x="176" y="3"/>
                      <a:pt x="171" y="19"/>
                      <a:pt x="181" y="10"/>
                    </a:cubicBezTo>
                    <a:cubicBezTo>
                      <a:pt x="184" y="16"/>
                      <a:pt x="182" y="22"/>
                      <a:pt x="184" y="28"/>
                    </a:cubicBezTo>
                    <a:cubicBezTo>
                      <a:pt x="185" y="33"/>
                      <a:pt x="188" y="35"/>
                      <a:pt x="187" y="41"/>
                    </a:cubicBezTo>
                    <a:cubicBezTo>
                      <a:pt x="186" y="47"/>
                      <a:pt x="182" y="52"/>
                      <a:pt x="182" y="59"/>
                    </a:cubicBezTo>
                    <a:cubicBezTo>
                      <a:pt x="182" y="62"/>
                      <a:pt x="183" y="66"/>
                      <a:pt x="183" y="70"/>
                    </a:cubicBezTo>
                    <a:cubicBezTo>
                      <a:pt x="184" y="58"/>
                      <a:pt x="187" y="47"/>
                      <a:pt x="192" y="37"/>
                    </a:cubicBezTo>
                    <a:cubicBezTo>
                      <a:pt x="193" y="35"/>
                      <a:pt x="195" y="34"/>
                      <a:pt x="195" y="32"/>
                    </a:cubicBezTo>
                    <a:cubicBezTo>
                      <a:pt x="195" y="31"/>
                      <a:pt x="194" y="29"/>
                      <a:pt x="194" y="28"/>
                    </a:cubicBezTo>
                    <a:cubicBezTo>
                      <a:pt x="195" y="24"/>
                      <a:pt x="195" y="23"/>
                      <a:pt x="200" y="22"/>
                    </a:cubicBezTo>
                    <a:cubicBezTo>
                      <a:pt x="209" y="21"/>
                      <a:pt x="211" y="27"/>
                      <a:pt x="214" y="33"/>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58" name="Freeform 239"/>
              <p:cNvSpPr/>
              <p:nvPr/>
            </p:nvSpPr>
            <p:spPr>
              <a:xfrm flipH="1">
                <a:off x="7046640" y="1992960"/>
                <a:ext cx="9720" cy="32400"/>
              </a:xfrm>
              <a:custGeom>
                <a:avLst/>
                <a:gdLst>
                  <a:gd name="GluePoint1X" fmla="*/ 844713389 w 3"/>
                  <a:gd name="GluePoint1Y" fmla="*/ 0 h 10"/>
                  <a:gd name="GluePoint2X" fmla="*/ 0 w 3"/>
                  <a:gd name="GluePoint2Y" fmla="*/ 2147483647 h 10"/>
                </a:gdLst>
                <a:ahLst/>
                <a:cxnLst>
                  <a:cxn ang="0">
                    <a:pos x="GluePoint1X" y="GluePoint1Y"/>
                  </a:cxn>
                  <a:cxn ang="0">
                    <a:pos x="GluePoint2X" y="GluePoint2Y"/>
                  </a:cxn>
                </a:cxnLst>
                <a:rect l="l" t="t" r="r" b="b"/>
                <a:pathLst>
                  <a:path w="3" h="10">
                    <a:moveTo>
                      <a:pt x="3" y="0"/>
                    </a:moveTo>
                    <a:cubicBezTo>
                      <a:pt x="1" y="3"/>
                      <a:pt x="0" y="7"/>
                      <a:pt x="0" y="10"/>
                    </a:cubicBezTo>
                  </a:path>
                </a:pathLst>
              </a:custGeom>
              <a:solidFill>
                <a:srgbClr val="e2bab1"/>
              </a:solidFill>
              <a:ln w="14400">
                <a:solidFill>
                  <a:srgbClr val="e2bab1"/>
                </a:solidFill>
                <a:miter/>
              </a:ln>
            </p:spPr>
            <p:style>
              <a:lnRef idx="0"/>
              <a:fillRef idx="0"/>
              <a:effectRef idx="0"/>
              <a:fontRef idx="minor"/>
            </p:style>
            <p:txBody>
              <a:bodyPr lIns="90000" rIns="90000" tIns="-14400" bIns="-14400" anchor="t">
                <a:noAutofit/>
              </a:bodyPr>
              <a:p>
                <a:endParaRPr b="0" lang="en-US" sz="2400" strike="noStrike" u="none">
                  <a:solidFill>
                    <a:srgbClr val="ffff00"/>
                  </a:solidFill>
                  <a:effectLst/>
                  <a:uFillTx/>
                  <a:latin typeface="Times New Roman"/>
                </a:endParaRPr>
              </a:p>
            </p:txBody>
          </p:sp>
          <p:sp>
            <p:nvSpPr>
              <p:cNvPr id="459" name="Freeform 240"/>
              <p:cNvSpPr/>
              <p:nvPr/>
            </p:nvSpPr>
            <p:spPr>
              <a:xfrm flipH="1">
                <a:off x="7046640" y="1992960"/>
                <a:ext cx="9720" cy="32400"/>
              </a:xfrm>
              <a:custGeom>
                <a:avLst/>
                <a:gdLst>
                  <a:gd name="GluePoint1X" fmla="*/ 844713389 w 3"/>
                  <a:gd name="GluePoint1Y" fmla="*/ 0 h 10"/>
                  <a:gd name="GluePoint2X" fmla="*/ 0 w 3"/>
                  <a:gd name="GluePoint2Y" fmla="*/ 2147483647 h 10"/>
                </a:gdLst>
                <a:ahLst/>
                <a:cxnLst>
                  <a:cxn ang="0">
                    <a:pos x="GluePoint1X" y="GluePoint1Y"/>
                  </a:cxn>
                  <a:cxn ang="0">
                    <a:pos x="GluePoint2X" y="GluePoint2Y"/>
                  </a:cxn>
                </a:cxnLst>
                <a:rect l="l" t="t" r="r" b="b"/>
                <a:pathLst>
                  <a:path w="3" h="10">
                    <a:moveTo>
                      <a:pt x="3" y="0"/>
                    </a:moveTo>
                    <a:cubicBezTo>
                      <a:pt x="1" y="3"/>
                      <a:pt x="0" y="7"/>
                      <a:pt x="0" y="10"/>
                    </a:cubicBezTo>
                  </a:path>
                </a:pathLst>
              </a:custGeom>
              <a:noFill/>
              <a:ln w="14400">
                <a:solidFill>
                  <a:srgbClr val="e2bab1"/>
                </a:solidFill>
                <a:miter/>
              </a:ln>
            </p:spPr>
            <p:style>
              <a:lnRef idx="0"/>
              <a:fillRef idx="0"/>
              <a:effectRef idx="0"/>
              <a:fontRef idx="minor"/>
            </p:style>
            <p:txBody>
              <a:bodyPr lIns="90000" rIns="90000" tIns="-14400" bIns="-14400" anchor="t">
                <a:noAutofit/>
              </a:bodyPr>
              <a:p>
                <a:endParaRPr b="0" lang="en-US" sz="2400" strike="noStrike" u="none">
                  <a:solidFill>
                    <a:srgbClr val="ffff00"/>
                  </a:solidFill>
                  <a:effectLst/>
                  <a:uFillTx/>
                  <a:latin typeface="Times New Roman"/>
                </a:endParaRPr>
              </a:p>
            </p:txBody>
          </p:sp>
          <p:sp>
            <p:nvSpPr>
              <p:cNvPr id="460" name="Freeform 241"/>
              <p:cNvSpPr/>
              <p:nvPr/>
            </p:nvSpPr>
            <p:spPr>
              <a:xfrm flipH="1">
                <a:off x="6953040" y="2405160"/>
                <a:ext cx="12240" cy="33840"/>
              </a:xfrm>
              <a:custGeom>
                <a:avLst/>
                <a:gdLst>
                  <a:gd name="GluePoint1X" fmla="*/ 0 w 4"/>
                  <a:gd name="GluePoint1Y" fmla="*/ 0 h 10"/>
                  <a:gd name="GluePoint2X" fmla="*/ 496271561 w 4"/>
                  <a:gd name="GluePoint2Y" fmla="*/ 2147483647 h 10"/>
                </a:gdLst>
                <a:ahLst/>
                <a:cxnLst>
                  <a:cxn ang="0">
                    <a:pos x="GluePoint1X" y="GluePoint1Y"/>
                  </a:cxn>
                  <a:cxn ang="0">
                    <a:pos x="GluePoint2X" y="GluePoint2Y"/>
                  </a:cxn>
                </a:cxnLst>
                <a:rect l="l" t="t" r="r" b="b"/>
                <a:pathLst>
                  <a:path w="4" h="10">
                    <a:moveTo>
                      <a:pt x="0" y="0"/>
                    </a:moveTo>
                    <a:cubicBezTo>
                      <a:pt x="1" y="3"/>
                      <a:pt x="3" y="6"/>
                      <a:pt x="4" y="10"/>
                    </a:cubicBezTo>
                  </a:path>
                </a:pathLst>
              </a:custGeom>
              <a:solidFill>
                <a:srgbClr val="e2bab1"/>
              </a:solidFill>
              <a:ln w="14400">
                <a:solidFill>
                  <a:srgbClr val="e2bab1"/>
                </a:solidFill>
                <a:miter/>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461" name="Freeform 242"/>
              <p:cNvSpPr/>
              <p:nvPr/>
            </p:nvSpPr>
            <p:spPr>
              <a:xfrm flipH="1">
                <a:off x="6953040" y="2405160"/>
                <a:ext cx="12240" cy="33840"/>
              </a:xfrm>
              <a:custGeom>
                <a:avLst/>
                <a:gdLst>
                  <a:gd name="GluePoint1X" fmla="*/ 0 w 4"/>
                  <a:gd name="GluePoint1Y" fmla="*/ 0 h 10"/>
                  <a:gd name="GluePoint2X" fmla="*/ 496271561 w 4"/>
                  <a:gd name="GluePoint2Y" fmla="*/ 2147483647 h 10"/>
                </a:gdLst>
                <a:ahLst/>
                <a:cxnLst>
                  <a:cxn ang="0">
                    <a:pos x="GluePoint1X" y="GluePoint1Y"/>
                  </a:cxn>
                  <a:cxn ang="0">
                    <a:pos x="GluePoint2X" y="GluePoint2Y"/>
                  </a:cxn>
                </a:cxnLst>
                <a:rect l="l" t="t" r="r" b="b"/>
                <a:pathLst>
                  <a:path w="4" h="10">
                    <a:moveTo>
                      <a:pt x="0" y="0"/>
                    </a:moveTo>
                    <a:cubicBezTo>
                      <a:pt x="1" y="3"/>
                      <a:pt x="3" y="6"/>
                      <a:pt x="4" y="10"/>
                    </a:cubicBezTo>
                  </a:path>
                </a:pathLst>
              </a:custGeom>
              <a:noFill/>
              <a:ln w="14400">
                <a:solidFill>
                  <a:srgbClr val="e2bab1"/>
                </a:solidFill>
                <a:miter/>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462" name="Freeform 243"/>
              <p:cNvSpPr/>
              <p:nvPr/>
            </p:nvSpPr>
            <p:spPr>
              <a:xfrm flipH="1">
                <a:off x="6624720" y="2338200"/>
                <a:ext cx="34920" cy="6480"/>
              </a:xfrm>
              <a:custGeom>
                <a:avLst/>
                <a:gdLst>
                  <a:gd name="GluePoint1X" fmla="*/ 0 w 11"/>
                  <a:gd name="GluePoint1Y" fmla="*/ 2147483647 h 2"/>
                  <a:gd name="GluePoint2X" fmla="*/ 1753728611 w 11"/>
                  <a:gd name="GluePoint2Y" fmla="*/ 0 h 2"/>
                </a:gdLst>
                <a:ahLst/>
                <a:cxnLst>
                  <a:cxn ang="0">
                    <a:pos x="GluePoint1X" y="GluePoint1Y"/>
                  </a:cxn>
                  <a:cxn ang="0">
                    <a:pos x="GluePoint2X" y="GluePoint2Y"/>
                  </a:cxn>
                </a:cxnLst>
                <a:rect l="l" t="t" r="r" b="b"/>
                <a:pathLst>
                  <a:path w="11" h="2">
                    <a:moveTo>
                      <a:pt x="0" y="2"/>
                    </a:moveTo>
                    <a:cubicBezTo>
                      <a:pt x="4" y="2"/>
                      <a:pt x="8" y="1"/>
                      <a:pt x="11" y="0"/>
                    </a:cubicBezTo>
                  </a:path>
                </a:pathLst>
              </a:custGeom>
              <a:solidFill>
                <a:srgbClr val="e2bab1"/>
              </a:solidFill>
              <a:ln w="14400">
                <a:solidFill>
                  <a:srgbClr val="e2bab1"/>
                </a:solidFill>
                <a:miter/>
              </a:ln>
            </p:spPr>
            <p:style>
              <a:lnRef idx="0"/>
              <a:fillRef idx="0"/>
              <a:effectRef idx="0"/>
              <a:fontRef idx="minor"/>
            </p:style>
            <p:txBody>
              <a:bodyPr lIns="90000" rIns="90000" tIns="-40320" bIns="-40320" anchor="t">
                <a:noAutofit/>
              </a:bodyPr>
              <a:p>
                <a:endParaRPr b="0" lang="en-US" sz="2400" strike="noStrike" u="none">
                  <a:solidFill>
                    <a:srgbClr val="ffff00"/>
                  </a:solidFill>
                  <a:effectLst/>
                  <a:uFillTx/>
                  <a:latin typeface="Times New Roman"/>
                </a:endParaRPr>
              </a:p>
            </p:txBody>
          </p:sp>
          <p:sp>
            <p:nvSpPr>
              <p:cNvPr id="463" name="Freeform 244"/>
              <p:cNvSpPr/>
              <p:nvPr/>
            </p:nvSpPr>
            <p:spPr>
              <a:xfrm flipH="1">
                <a:off x="6624720" y="2338200"/>
                <a:ext cx="34920" cy="6480"/>
              </a:xfrm>
              <a:custGeom>
                <a:avLst/>
                <a:gdLst>
                  <a:gd name="GluePoint1X" fmla="*/ 0 w 11"/>
                  <a:gd name="GluePoint1Y" fmla="*/ 2147483647 h 2"/>
                  <a:gd name="GluePoint2X" fmla="*/ 1753728611 w 11"/>
                  <a:gd name="GluePoint2Y" fmla="*/ 0 h 2"/>
                </a:gdLst>
                <a:ahLst/>
                <a:cxnLst>
                  <a:cxn ang="0">
                    <a:pos x="GluePoint1X" y="GluePoint1Y"/>
                  </a:cxn>
                  <a:cxn ang="0">
                    <a:pos x="GluePoint2X" y="GluePoint2Y"/>
                  </a:cxn>
                </a:cxnLst>
                <a:rect l="l" t="t" r="r" b="b"/>
                <a:pathLst>
                  <a:path w="11" h="2">
                    <a:moveTo>
                      <a:pt x="0" y="2"/>
                    </a:moveTo>
                    <a:cubicBezTo>
                      <a:pt x="4" y="2"/>
                      <a:pt x="8" y="1"/>
                      <a:pt x="11" y="0"/>
                    </a:cubicBezTo>
                  </a:path>
                </a:pathLst>
              </a:custGeom>
              <a:noFill/>
              <a:ln w="14400">
                <a:solidFill>
                  <a:srgbClr val="e2bab1"/>
                </a:solidFill>
                <a:miter/>
              </a:ln>
            </p:spPr>
            <p:style>
              <a:lnRef idx="0"/>
              <a:fillRef idx="0"/>
              <a:effectRef idx="0"/>
              <a:fontRef idx="minor"/>
            </p:style>
            <p:txBody>
              <a:bodyPr lIns="90000" rIns="90000" tIns="-40320" bIns="-40320" anchor="t">
                <a:noAutofit/>
              </a:bodyPr>
              <a:p>
                <a:endParaRPr b="0" lang="en-US" sz="2400" strike="noStrike" u="none">
                  <a:solidFill>
                    <a:srgbClr val="ffff00"/>
                  </a:solidFill>
                  <a:effectLst/>
                  <a:uFillTx/>
                  <a:latin typeface="Times New Roman"/>
                </a:endParaRPr>
              </a:p>
            </p:txBody>
          </p:sp>
          <p:sp>
            <p:nvSpPr>
              <p:cNvPr id="464" name="Freeform 245"/>
              <p:cNvSpPr/>
              <p:nvPr/>
            </p:nvSpPr>
            <p:spPr>
              <a:xfrm flipH="1">
                <a:off x="6666840" y="2351880"/>
                <a:ext cx="9720" cy="23040"/>
              </a:xfrm>
              <a:custGeom>
                <a:avLst/>
                <a:gdLst>
                  <a:gd name="GluePoint1X" fmla="*/ 844713389 w 3"/>
                  <a:gd name="GluePoint1Y" fmla="*/ 0 h 7"/>
                  <a:gd name="GluePoint2X" fmla="*/ 0 w 3"/>
                  <a:gd name="GluePoint2Y" fmla="*/ 2147483647 h 7"/>
                </a:gdLst>
                <a:ahLst/>
                <a:cxnLst>
                  <a:cxn ang="0">
                    <a:pos x="GluePoint1X" y="GluePoint1Y"/>
                  </a:cxn>
                  <a:cxn ang="0">
                    <a:pos x="GluePoint2X" y="GluePoint2Y"/>
                  </a:cxn>
                </a:cxnLst>
                <a:rect l="l" t="t" r="r" b="b"/>
                <a:pathLst>
                  <a:path w="3" h="7">
                    <a:moveTo>
                      <a:pt x="3" y="0"/>
                    </a:moveTo>
                    <a:cubicBezTo>
                      <a:pt x="2" y="2"/>
                      <a:pt x="1" y="5"/>
                      <a:pt x="0" y="7"/>
                    </a:cubicBezTo>
                  </a:path>
                </a:pathLst>
              </a:custGeom>
              <a:solidFill>
                <a:srgbClr val="e2bab1"/>
              </a:solidFill>
              <a:ln w="14400">
                <a:solidFill>
                  <a:srgbClr val="e2bab1"/>
                </a:solidFill>
                <a:miter/>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465" name="Freeform 246"/>
              <p:cNvSpPr/>
              <p:nvPr/>
            </p:nvSpPr>
            <p:spPr>
              <a:xfrm flipH="1">
                <a:off x="6666840" y="2351880"/>
                <a:ext cx="9720" cy="23040"/>
              </a:xfrm>
              <a:custGeom>
                <a:avLst/>
                <a:gdLst>
                  <a:gd name="GluePoint1X" fmla="*/ 844713389 w 3"/>
                  <a:gd name="GluePoint1Y" fmla="*/ 0 h 7"/>
                  <a:gd name="GluePoint2X" fmla="*/ 0 w 3"/>
                  <a:gd name="GluePoint2Y" fmla="*/ 2147483647 h 7"/>
                </a:gdLst>
                <a:ahLst/>
                <a:cxnLst>
                  <a:cxn ang="0">
                    <a:pos x="GluePoint1X" y="GluePoint1Y"/>
                  </a:cxn>
                  <a:cxn ang="0">
                    <a:pos x="GluePoint2X" y="GluePoint2Y"/>
                  </a:cxn>
                </a:cxnLst>
                <a:rect l="l" t="t" r="r" b="b"/>
                <a:pathLst>
                  <a:path w="3" h="7">
                    <a:moveTo>
                      <a:pt x="3" y="0"/>
                    </a:moveTo>
                    <a:cubicBezTo>
                      <a:pt x="2" y="2"/>
                      <a:pt x="1" y="5"/>
                      <a:pt x="0" y="7"/>
                    </a:cubicBezTo>
                  </a:path>
                </a:pathLst>
              </a:custGeom>
              <a:noFill/>
              <a:ln w="14400">
                <a:solidFill>
                  <a:srgbClr val="e2bab1"/>
                </a:solidFill>
                <a:miter/>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466" name="Freeform 247"/>
              <p:cNvSpPr/>
              <p:nvPr/>
            </p:nvSpPr>
            <p:spPr>
              <a:xfrm flipH="1">
                <a:off x="6721560" y="2032200"/>
                <a:ext cx="2520" cy="24840"/>
              </a:xfrm>
              <a:custGeom>
                <a:avLst/>
                <a:gdLst>
                  <a:gd name="GluePoint1X" fmla="*/ 0 w 1"/>
                  <a:gd name="GluePoint1Y" fmla="*/ 0 h 7"/>
                  <a:gd name="GluePoint2X" fmla="*/ 8388608 w 1"/>
                  <a:gd name="GluePoint2Y" fmla="*/ 2147483647 h 7"/>
                </a:gdLst>
                <a:ahLst/>
                <a:cxnLst>
                  <a:cxn ang="0">
                    <a:pos x="GluePoint1X" y="GluePoint1Y"/>
                  </a:cxn>
                  <a:cxn ang="0">
                    <a:pos x="GluePoint2X" y="GluePoint2Y"/>
                  </a:cxn>
                </a:cxnLst>
                <a:rect l="l" t="t" r="r" b="b"/>
                <a:pathLst>
                  <a:path w="1" h="7">
                    <a:moveTo>
                      <a:pt x="0" y="0"/>
                    </a:moveTo>
                    <a:cubicBezTo>
                      <a:pt x="0" y="2"/>
                      <a:pt x="0" y="5"/>
                      <a:pt x="1" y="7"/>
                    </a:cubicBezTo>
                  </a:path>
                </a:pathLst>
              </a:custGeom>
              <a:solidFill>
                <a:srgbClr val="e2bab1"/>
              </a:solidFill>
              <a:ln w="14400">
                <a:solidFill>
                  <a:srgbClr val="e2bab1"/>
                </a:solidFill>
                <a:miter/>
              </a:ln>
            </p:spPr>
            <p:style>
              <a:lnRef idx="0"/>
              <a:fillRef idx="0"/>
              <a:effectRef idx="0"/>
              <a:fontRef idx="minor"/>
            </p:style>
            <p:txBody>
              <a:bodyPr lIns="90000" rIns="90000" tIns="-21960" bIns="-21960" anchor="t">
                <a:noAutofit/>
              </a:bodyPr>
              <a:p>
                <a:endParaRPr b="0" lang="en-US" sz="2400" strike="noStrike" u="none">
                  <a:solidFill>
                    <a:srgbClr val="ffff00"/>
                  </a:solidFill>
                  <a:effectLst/>
                  <a:uFillTx/>
                  <a:latin typeface="Times New Roman"/>
                </a:endParaRPr>
              </a:p>
            </p:txBody>
          </p:sp>
          <p:sp>
            <p:nvSpPr>
              <p:cNvPr id="467" name="Freeform 248"/>
              <p:cNvSpPr/>
              <p:nvPr/>
            </p:nvSpPr>
            <p:spPr>
              <a:xfrm flipH="1">
                <a:off x="6721560" y="2032200"/>
                <a:ext cx="2520" cy="24840"/>
              </a:xfrm>
              <a:custGeom>
                <a:avLst/>
                <a:gdLst>
                  <a:gd name="GluePoint1X" fmla="*/ 0 w 1"/>
                  <a:gd name="GluePoint1Y" fmla="*/ 0 h 7"/>
                  <a:gd name="GluePoint2X" fmla="*/ 8388608 w 1"/>
                  <a:gd name="GluePoint2Y" fmla="*/ 2147483647 h 7"/>
                </a:gdLst>
                <a:ahLst/>
                <a:cxnLst>
                  <a:cxn ang="0">
                    <a:pos x="GluePoint1X" y="GluePoint1Y"/>
                  </a:cxn>
                  <a:cxn ang="0">
                    <a:pos x="GluePoint2X" y="GluePoint2Y"/>
                  </a:cxn>
                </a:cxnLst>
                <a:rect l="l" t="t" r="r" b="b"/>
                <a:pathLst>
                  <a:path w="1" h="7">
                    <a:moveTo>
                      <a:pt x="0" y="0"/>
                    </a:moveTo>
                    <a:cubicBezTo>
                      <a:pt x="0" y="2"/>
                      <a:pt x="0" y="5"/>
                      <a:pt x="1" y="7"/>
                    </a:cubicBezTo>
                  </a:path>
                </a:pathLst>
              </a:custGeom>
              <a:noFill/>
              <a:ln w="14400">
                <a:solidFill>
                  <a:srgbClr val="e2bab1"/>
                </a:solidFill>
                <a:miter/>
              </a:ln>
            </p:spPr>
            <p:style>
              <a:lnRef idx="0"/>
              <a:fillRef idx="0"/>
              <a:effectRef idx="0"/>
              <a:fontRef idx="minor"/>
            </p:style>
            <p:txBody>
              <a:bodyPr lIns="90000" rIns="90000" tIns="-21960" bIns="-21960" anchor="t">
                <a:noAutofit/>
              </a:bodyPr>
              <a:p>
                <a:endParaRPr b="0" lang="en-US" sz="2400" strike="noStrike" u="none">
                  <a:solidFill>
                    <a:srgbClr val="ffff00"/>
                  </a:solidFill>
                  <a:effectLst/>
                  <a:uFillTx/>
                  <a:latin typeface="Times New Roman"/>
                </a:endParaRPr>
              </a:p>
            </p:txBody>
          </p:sp>
          <p:sp>
            <p:nvSpPr>
              <p:cNvPr id="468" name="Freeform 249"/>
              <p:cNvSpPr/>
              <p:nvPr/>
            </p:nvSpPr>
            <p:spPr>
              <a:xfrm flipH="1">
                <a:off x="7164360" y="2340720"/>
                <a:ext cx="32040" cy="38160"/>
              </a:xfrm>
              <a:custGeom>
                <a:avLst/>
                <a:gdLst>
                  <a:gd name="GluePoint1X" fmla="*/ 2095983323 w 10"/>
                  <a:gd name="GluePoint1Y" fmla="*/ 0 h 11"/>
                  <a:gd name="GluePoint2X" fmla="*/ 1888821702 w 10"/>
                  <a:gd name="GluePoint2Y" fmla="*/ 2147483647 h 11"/>
                  <a:gd name="GluePoint3X" fmla="*/ 0 w 10"/>
                  <a:gd name="GluePoint3Y" fmla="*/ 2147483647 h 11"/>
                </a:gdLst>
                <a:ahLst/>
                <a:cxnLst>
                  <a:cxn ang="0">
                    <a:pos x="GluePoint1X" y="GluePoint1Y"/>
                  </a:cxn>
                  <a:cxn ang="0">
                    <a:pos x="GluePoint2X" y="GluePoint2Y"/>
                  </a:cxn>
                  <a:cxn ang="0">
                    <a:pos x="GluePoint3X" y="GluePoint3Y"/>
                  </a:cxn>
                </a:cxnLst>
                <a:rect l="l" t="t" r="r" b="b"/>
                <a:pathLst>
                  <a:path w="10" h="11">
                    <a:moveTo>
                      <a:pt x="10" y="0"/>
                    </a:moveTo>
                    <a:cubicBezTo>
                      <a:pt x="9" y="2"/>
                      <a:pt x="9" y="6"/>
                      <a:pt x="9" y="9"/>
                    </a:cubicBezTo>
                    <a:cubicBezTo>
                      <a:pt x="5" y="11"/>
                      <a:pt x="1" y="5"/>
                      <a:pt x="0" y="1"/>
                    </a:cubicBezTo>
                  </a:path>
                </a:pathLst>
              </a:custGeom>
              <a:noFill/>
              <a:ln w="14400">
                <a:solidFill>
                  <a:srgbClr val="e2bab1"/>
                </a:solidFill>
                <a:miter/>
              </a:ln>
            </p:spPr>
            <p:style>
              <a:lnRef idx="0"/>
              <a:fillRef idx="0"/>
              <a:effectRef idx="0"/>
              <a:fontRef idx="minor"/>
            </p:style>
            <p:txBody>
              <a:bodyPr lIns="90000" rIns="90000" tIns="-8640" bIns="-8640" anchor="t">
                <a:noAutofit/>
              </a:bodyPr>
              <a:p>
                <a:endParaRPr b="0" lang="en-US" sz="2400" strike="noStrike" u="none">
                  <a:solidFill>
                    <a:srgbClr val="ffff00"/>
                  </a:solidFill>
                  <a:effectLst/>
                  <a:uFillTx/>
                  <a:latin typeface="Times New Roman"/>
                </a:endParaRPr>
              </a:p>
            </p:txBody>
          </p:sp>
          <p:sp>
            <p:nvSpPr>
              <p:cNvPr id="469" name="Freeform 250"/>
              <p:cNvSpPr/>
              <p:nvPr/>
            </p:nvSpPr>
            <p:spPr>
              <a:xfrm flipH="1">
                <a:off x="6539760" y="1636560"/>
                <a:ext cx="822240" cy="565560"/>
              </a:xfrm>
              <a:custGeom>
                <a:avLst/>
                <a:gdLst>
                  <a:gd name="GluePoint1X" fmla="*/ 0 w 253"/>
                  <a:gd name="GluePoint1Y" fmla="*/ 2147483647 h 167"/>
                  <a:gd name="GluePoint2X" fmla="*/ 2147483647 w 253"/>
                  <a:gd name="GluePoint2Y" fmla="*/ 2147483647 h 167"/>
                  <a:gd name="GluePoint3X" fmla="*/ 2147483647 w 253"/>
                  <a:gd name="GluePoint3Y" fmla="*/ 2147483647 h 167"/>
                  <a:gd name="GluePoint4X" fmla="*/ 2147483647 w 253"/>
                  <a:gd name="GluePoint4Y" fmla="*/ 2147483647 h 167"/>
                  <a:gd name="GluePoint5X" fmla="*/ 2147483647 w 253"/>
                  <a:gd name="GluePoint5Y" fmla="*/ 2147483647 h 167"/>
                  <a:gd name="GluePoint6X" fmla="*/ 2147483647 w 253"/>
                  <a:gd name="GluePoint6Y" fmla="*/ 2147483647 h 167"/>
                  <a:gd name="GluePoint7X" fmla="*/ 2147483647 w 253"/>
                  <a:gd name="GluePoint7Y" fmla="*/ 2147483647 h 167"/>
                  <a:gd name="GluePoint8X" fmla="*/ 2147483647 w 253"/>
                  <a:gd name="GluePoint8Y" fmla="*/ 2147483647 h 167"/>
                  <a:gd name="GluePoint9X" fmla="*/ 2147483647 w 253"/>
                  <a:gd name="GluePoint9Y" fmla="*/ 0 h 1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253" h="167">
                    <a:moveTo>
                      <a:pt x="0" y="167"/>
                    </a:moveTo>
                    <a:cubicBezTo>
                      <a:pt x="6" y="157"/>
                      <a:pt x="30" y="131"/>
                      <a:pt x="38" y="122"/>
                    </a:cubicBezTo>
                    <a:cubicBezTo>
                      <a:pt x="50" y="112"/>
                      <a:pt x="66" y="98"/>
                      <a:pt x="84" y="84"/>
                    </a:cubicBezTo>
                    <a:cubicBezTo>
                      <a:pt x="98" y="74"/>
                      <a:pt x="117" y="65"/>
                      <a:pt x="121" y="57"/>
                    </a:cubicBezTo>
                    <a:cubicBezTo>
                      <a:pt x="124" y="48"/>
                      <a:pt x="126" y="48"/>
                      <a:pt x="126" y="48"/>
                    </a:cubicBezTo>
                    <a:cubicBezTo>
                      <a:pt x="147" y="55"/>
                      <a:pt x="174" y="40"/>
                      <a:pt x="192" y="43"/>
                    </a:cubicBezTo>
                    <a:cubicBezTo>
                      <a:pt x="220" y="47"/>
                      <a:pt x="224" y="38"/>
                      <a:pt x="232" y="33"/>
                    </a:cubicBezTo>
                    <a:cubicBezTo>
                      <a:pt x="239" y="28"/>
                      <a:pt x="240" y="12"/>
                      <a:pt x="250" y="5"/>
                    </a:cubicBezTo>
                    <a:cubicBezTo>
                      <a:pt x="253" y="3"/>
                      <a:pt x="250" y="3"/>
                      <a:pt x="253"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0" name="Freeform 251"/>
              <p:cNvSpPr/>
              <p:nvPr/>
            </p:nvSpPr>
            <p:spPr>
              <a:xfrm flipH="1">
                <a:off x="6524280" y="1914480"/>
                <a:ext cx="71280" cy="253440"/>
              </a:xfrm>
              <a:custGeom>
                <a:avLst/>
                <a:gdLst>
                  <a:gd name="GluePoint1X" fmla="*/ 0 w 22"/>
                  <a:gd name="GluePoint1Y" fmla="*/ 0 h 75"/>
                  <a:gd name="GluePoint2X" fmla="*/ 2044347882 w 22"/>
                  <a:gd name="GluePoint2Y" fmla="*/ 2147483647 h 75"/>
                  <a:gd name="GluePoint3X" fmla="*/ 2147483647 w 22"/>
                  <a:gd name="GluePoint3Y" fmla="*/ 2147483647 h 75"/>
                  <a:gd name="GluePoint4X" fmla="*/ 2147483647 w 22"/>
                  <a:gd name="GluePoint4Y" fmla="*/ 2147483647 h 75"/>
                  <a:gd name="GluePoint5X" fmla="*/ 2147483647 w 22"/>
                  <a:gd name="GluePoint5Y" fmla="*/ 2147483647 h 75"/>
                  <a:gd name="GluePoint6X" fmla="*/ 2147483647 w 22"/>
                  <a:gd name="GluePoint6Y" fmla="*/ 2147483647 h 75"/>
                  <a:gd name="GluePoint7X" fmla="*/ 2147483647 w 22"/>
                  <a:gd name="GluePoint7Y" fmla="*/ 2147483647 h 75"/>
                  <a:gd name="GluePoint8X" fmla="*/ 2147483647 w 22"/>
                  <a:gd name="GluePoint8Y" fmla="*/ 2147483647 h 75"/>
                  <a:gd name="GluePoint9X" fmla="*/ 2147483647 w 22"/>
                  <a:gd name="GluePoint9Y" fmla="*/ 2147483647 h 75"/>
                  <a:gd name="GluePoint10X" fmla="*/ 2147483647 w 22"/>
                  <a:gd name="GluePoint10Y" fmla="*/ 2147483647 h 7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22" h="75">
                    <a:moveTo>
                      <a:pt x="0" y="0"/>
                    </a:moveTo>
                    <a:cubicBezTo>
                      <a:pt x="1" y="5"/>
                      <a:pt x="3" y="9"/>
                      <a:pt x="8" y="11"/>
                    </a:cubicBezTo>
                    <a:cubicBezTo>
                      <a:pt x="10" y="12"/>
                      <a:pt x="10" y="12"/>
                      <a:pt x="10" y="12"/>
                    </a:cubicBezTo>
                    <a:cubicBezTo>
                      <a:pt x="11" y="13"/>
                      <a:pt x="13" y="14"/>
                      <a:pt x="14" y="15"/>
                    </a:cubicBezTo>
                    <a:cubicBezTo>
                      <a:pt x="15" y="17"/>
                      <a:pt x="14" y="19"/>
                      <a:pt x="15" y="21"/>
                    </a:cubicBezTo>
                    <a:cubicBezTo>
                      <a:pt x="16" y="24"/>
                      <a:pt x="16" y="23"/>
                      <a:pt x="18" y="25"/>
                    </a:cubicBezTo>
                    <a:cubicBezTo>
                      <a:pt x="19" y="27"/>
                      <a:pt x="22" y="28"/>
                      <a:pt x="22" y="32"/>
                    </a:cubicBezTo>
                    <a:cubicBezTo>
                      <a:pt x="22" y="36"/>
                      <a:pt x="19" y="37"/>
                      <a:pt x="18" y="40"/>
                    </a:cubicBezTo>
                    <a:cubicBezTo>
                      <a:pt x="17" y="41"/>
                      <a:pt x="19" y="43"/>
                      <a:pt x="18" y="45"/>
                    </a:cubicBezTo>
                    <a:cubicBezTo>
                      <a:pt x="17" y="50"/>
                      <a:pt x="14" y="67"/>
                      <a:pt x="9" y="75"/>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1" name="Freeform 252"/>
              <p:cNvSpPr/>
              <p:nvPr/>
            </p:nvSpPr>
            <p:spPr>
              <a:xfrm flipH="1">
                <a:off x="6471720" y="1788480"/>
                <a:ext cx="954360" cy="1071360"/>
              </a:xfrm>
              <a:custGeom>
                <a:avLst/>
                <a:gdLst>
                  <a:gd name="GluePoint1X" fmla="*/ 2147483647 w 294"/>
                  <a:gd name="GluePoint1Y" fmla="*/ 2147483647 h 316"/>
                  <a:gd name="GluePoint2X" fmla="*/ 2147483647 w 294"/>
                  <a:gd name="GluePoint2Y" fmla="*/ 2147483647 h 316"/>
                  <a:gd name="GluePoint3X" fmla="*/ 2147483647 w 294"/>
                  <a:gd name="GluePoint3Y" fmla="*/ 2147483647 h 316"/>
                  <a:gd name="GluePoint4X" fmla="*/ 2147483647 w 294"/>
                  <a:gd name="GluePoint4Y" fmla="*/ 2147483647 h 316"/>
                  <a:gd name="GluePoint5X" fmla="*/ 2147483647 w 294"/>
                  <a:gd name="GluePoint5Y" fmla="*/ 2147483647 h 316"/>
                  <a:gd name="GluePoint6X" fmla="*/ 2147483647 w 294"/>
                  <a:gd name="GluePoint6Y" fmla="*/ 2147483647 h 316"/>
                  <a:gd name="GluePoint7X" fmla="*/ 2147483647 w 294"/>
                  <a:gd name="GluePoint7Y" fmla="*/ 2147483647 h 316"/>
                  <a:gd name="GluePoint8X" fmla="*/ 2147483647 w 294"/>
                  <a:gd name="GluePoint8Y" fmla="*/ 2147483647 h 316"/>
                  <a:gd name="GluePoint9X" fmla="*/ 2147483647 w 294"/>
                  <a:gd name="GluePoint9Y" fmla="*/ 2147483647 h 316"/>
                  <a:gd name="GluePoint10X" fmla="*/ 2147483647 w 294"/>
                  <a:gd name="GluePoint10Y" fmla="*/ 2147483647 h 316"/>
                  <a:gd name="GluePoint11X" fmla="*/ 2147483647 w 294"/>
                  <a:gd name="GluePoint11Y" fmla="*/ 2147483647 h 316"/>
                  <a:gd name="GluePoint12X" fmla="*/ 2147483647 w 294"/>
                  <a:gd name="GluePoint12Y" fmla="*/ 2147483647 h 316"/>
                  <a:gd name="GluePoint13X" fmla="*/ 2147483647 w 294"/>
                  <a:gd name="GluePoint13Y" fmla="*/ 2147483647 h 316"/>
                  <a:gd name="GluePoint14X" fmla="*/ 2147483647 w 294"/>
                  <a:gd name="GluePoint14Y" fmla="*/ 2147483647 h 316"/>
                  <a:gd name="GluePoint15X" fmla="*/ 2147483647 w 294"/>
                  <a:gd name="GluePoint15Y" fmla="*/ 2147483647 h 316"/>
                  <a:gd name="GluePoint16X" fmla="*/ 2147483647 w 294"/>
                  <a:gd name="GluePoint16Y" fmla="*/ 2147483647 h 316"/>
                  <a:gd name="GluePoint17X" fmla="*/ 2147483647 w 294"/>
                  <a:gd name="GluePoint17Y" fmla="*/ 2147483647 h 316"/>
                  <a:gd name="GluePoint18X" fmla="*/ 2147483647 w 294"/>
                  <a:gd name="GluePoint18Y" fmla="*/ 2147483647 h 316"/>
                  <a:gd name="GluePoint19X" fmla="*/ 0 w 294"/>
                  <a:gd name="GluePoint19Y" fmla="*/ 2147483647 h 316"/>
                  <a:gd name="GluePoint20X" fmla="*/ 240495736 w 294"/>
                  <a:gd name="GluePoint20Y" fmla="*/ 2147483647 h 316"/>
                  <a:gd name="GluePoint21X" fmla="*/ 2147483647 w 294"/>
                  <a:gd name="GluePoint21Y" fmla="*/ 2147483647 h 316"/>
                  <a:gd name="GluePoint22X" fmla="*/ 2147483647 w 294"/>
                  <a:gd name="GluePoint22Y" fmla="*/ 2147483647 h 316"/>
                  <a:gd name="GluePoint23X" fmla="*/ 2147483647 w 294"/>
                  <a:gd name="GluePoint23Y" fmla="*/ 2147483647 h 316"/>
                  <a:gd name="GluePoint24X" fmla="*/ 2147483647 w 294"/>
                  <a:gd name="GluePoint24Y" fmla="*/ 2147483647 h 316"/>
                  <a:gd name="GluePoint25X" fmla="*/ 2147483647 w 294"/>
                  <a:gd name="GluePoint25Y" fmla="*/ 2147483647 h 316"/>
                  <a:gd name="GluePoint26X" fmla="*/ 2147483647 w 294"/>
                  <a:gd name="GluePoint26Y" fmla="*/ 2147483647 h 316"/>
                  <a:gd name="GluePoint27X" fmla="*/ 2147483647 w 294"/>
                  <a:gd name="GluePoint27Y" fmla="*/ 2147483647 h 316"/>
                  <a:gd name="GluePoint28X" fmla="*/ 2147483647 w 294"/>
                  <a:gd name="GluePoint28Y" fmla="*/ 2147483647 h 316"/>
                  <a:gd name="GluePoint29X" fmla="*/ 2147483647 w 294"/>
                  <a:gd name="GluePoint29Y" fmla="*/ 0 h 316"/>
                  <a:gd name="GluePoint30X" fmla="*/ 2147483647 w 294"/>
                  <a:gd name="GluePoint30Y" fmla="*/ 2147483647 h 316"/>
                  <a:gd name="GluePoint31X" fmla="*/ 2147483647 w 294"/>
                  <a:gd name="GluePoint31Y" fmla="*/ 2147483647 h 316"/>
                  <a:gd name="GluePoint32X" fmla="*/ 2147483647 w 294"/>
                  <a:gd name="GluePoint32Y" fmla="*/ 2147483647 h 316"/>
                  <a:gd name="GluePoint33X" fmla="*/ 2147483647 w 294"/>
                  <a:gd name="GluePoint33Y" fmla="*/ 2147483647 h 3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Lst>
                <a:rect l="l" t="t" r="r" b="b"/>
                <a:pathLst>
                  <a:path w="294" h="316">
                    <a:moveTo>
                      <a:pt x="262" y="151"/>
                    </a:moveTo>
                    <a:cubicBezTo>
                      <a:pt x="269" y="163"/>
                      <a:pt x="276" y="181"/>
                      <a:pt x="281" y="198"/>
                    </a:cubicBezTo>
                    <a:cubicBezTo>
                      <a:pt x="285" y="213"/>
                      <a:pt x="291" y="245"/>
                      <a:pt x="294" y="265"/>
                    </a:cubicBezTo>
                    <a:cubicBezTo>
                      <a:pt x="291" y="275"/>
                      <a:pt x="279" y="301"/>
                      <a:pt x="271" y="304"/>
                    </a:cubicBezTo>
                    <a:cubicBezTo>
                      <a:pt x="266" y="306"/>
                      <a:pt x="263" y="303"/>
                      <a:pt x="258" y="305"/>
                    </a:cubicBezTo>
                    <a:cubicBezTo>
                      <a:pt x="252" y="306"/>
                      <a:pt x="241" y="316"/>
                      <a:pt x="237" y="307"/>
                    </a:cubicBezTo>
                    <a:cubicBezTo>
                      <a:pt x="230" y="313"/>
                      <a:pt x="223" y="310"/>
                      <a:pt x="215" y="309"/>
                    </a:cubicBezTo>
                    <a:cubicBezTo>
                      <a:pt x="215" y="309"/>
                      <a:pt x="207" y="310"/>
                      <a:pt x="207" y="310"/>
                    </a:cubicBezTo>
                    <a:cubicBezTo>
                      <a:pt x="209" y="310"/>
                      <a:pt x="198" y="312"/>
                      <a:pt x="200" y="312"/>
                    </a:cubicBezTo>
                    <a:cubicBezTo>
                      <a:pt x="195" y="311"/>
                      <a:pt x="192" y="308"/>
                      <a:pt x="187" y="307"/>
                    </a:cubicBezTo>
                    <a:cubicBezTo>
                      <a:pt x="181" y="305"/>
                      <a:pt x="174" y="302"/>
                      <a:pt x="167" y="302"/>
                    </a:cubicBezTo>
                    <a:cubicBezTo>
                      <a:pt x="155" y="303"/>
                      <a:pt x="129" y="297"/>
                      <a:pt x="120" y="289"/>
                    </a:cubicBezTo>
                    <a:cubicBezTo>
                      <a:pt x="113" y="282"/>
                      <a:pt x="111" y="276"/>
                      <a:pt x="115" y="266"/>
                    </a:cubicBezTo>
                    <a:cubicBezTo>
                      <a:pt x="109" y="270"/>
                      <a:pt x="110" y="273"/>
                      <a:pt x="101" y="274"/>
                    </a:cubicBezTo>
                    <a:cubicBezTo>
                      <a:pt x="94" y="274"/>
                      <a:pt x="92" y="272"/>
                      <a:pt x="86" y="268"/>
                    </a:cubicBezTo>
                    <a:cubicBezTo>
                      <a:pt x="74" y="258"/>
                      <a:pt x="62" y="249"/>
                      <a:pt x="53" y="236"/>
                    </a:cubicBezTo>
                    <a:cubicBezTo>
                      <a:pt x="49" y="230"/>
                      <a:pt x="46" y="225"/>
                      <a:pt x="41" y="221"/>
                    </a:cubicBezTo>
                    <a:cubicBezTo>
                      <a:pt x="33" y="216"/>
                      <a:pt x="26" y="212"/>
                      <a:pt x="19" y="206"/>
                    </a:cubicBezTo>
                    <a:cubicBezTo>
                      <a:pt x="4" y="195"/>
                      <a:pt x="4" y="190"/>
                      <a:pt x="0" y="175"/>
                    </a:cubicBezTo>
                    <a:cubicBezTo>
                      <a:pt x="1" y="174"/>
                      <a:pt x="1" y="174"/>
                      <a:pt x="1" y="174"/>
                    </a:cubicBezTo>
                    <a:cubicBezTo>
                      <a:pt x="4" y="164"/>
                      <a:pt x="4" y="145"/>
                      <a:pt x="11" y="137"/>
                    </a:cubicBezTo>
                    <a:cubicBezTo>
                      <a:pt x="12" y="136"/>
                      <a:pt x="12" y="134"/>
                      <a:pt x="13" y="133"/>
                    </a:cubicBezTo>
                    <a:cubicBezTo>
                      <a:pt x="13" y="132"/>
                      <a:pt x="14" y="131"/>
                      <a:pt x="15" y="130"/>
                    </a:cubicBezTo>
                    <a:cubicBezTo>
                      <a:pt x="17" y="127"/>
                      <a:pt x="18" y="124"/>
                      <a:pt x="20" y="122"/>
                    </a:cubicBezTo>
                    <a:cubicBezTo>
                      <a:pt x="26" y="112"/>
                      <a:pt x="50" y="86"/>
                      <a:pt x="58" y="77"/>
                    </a:cubicBezTo>
                    <a:cubicBezTo>
                      <a:pt x="70" y="67"/>
                      <a:pt x="86" y="53"/>
                      <a:pt x="104" y="39"/>
                    </a:cubicBezTo>
                    <a:cubicBezTo>
                      <a:pt x="118" y="29"/>
                      <a:pt x="137" y="20"/>
                      <a:pt x="141" y="12"/>
                    </a:cubicBezTo>
                    <a:cubicBezTo>
                      <a:pt x="144" y="3"/>
                      <a:pt x="146" y="3"/>
                      <a:pt x="146" y="3"/>
                    </a:cubicBezTo>
                    <a:cubicBezTo>
                      <a:pt x="159" y="8"/>
                      <a:pt x="175" y="3"/>
                      <a:pt x="190" y="0"/>
                    </a:cubicBezTo>
                    <a:cubicBezTo>
                      <a:pt x="213" y="1"/>
                      <a:pt x="213" y="4"/>
                      <a:pt x="220" y="6"/>
                    </a:cubicBezTo>
                    <a:cubicBezTo>
                      <a:pt x="227" y="8"/>
                      <a:pt x="230" y="9"/>
                      <a:pt x="232" y="14"/>
                    </a:cubicBezTo>
                    <a:cubicBezTo>
                      <a:pt x="235" y="19"/>
                      <a:pt x="236" y="19"/>
                      <a:pt x="242" y="20"/>
                    </a:cubicBezTo>
                    <a:cubicBezTo>
                      <a:pt x="248" y="22"/>
                      <a:pt x="254" y="31"/>
                      <a:pt x="257" y="3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2" name="Freeform 253"/>
              <p:cNvSpPr/>
              <p:nvPr/>
            </p:nvSpPr>
            <p:spPr>
              <a:xfrm flipH="1">
                <a:off x="7017840" y="2602440"/>
                <a:ext cx="36000" cy="91440"/>
              </a:xfrm>
              <a:custGeom>
                <a:avLst/>
                <a:gdLst>
                  <a:gd name="GluePoint1X" fmla="*/ 2147483647 w 11"/>
                  <a:gd name="GluePoint1Y" fmla="*/ 0 h 27"/>
                  <a:gd name="GluePoint2X" fmla="*/ 1192818347 w 11"/>
                  <a:gd name="GluePoint2Y" fmla="*/ 2147483647 h 27"/>
                  <a:gd name="GluePoint3X" fmla="*/ 0 w 11"/>
                  <a:gd name="GluePoint3Y" fmla="*/ 2147483647 h 27"/>
                </a:gdLst>
                <a:ahLst/>
                <a:cxnLst>
                  <a:cxn ang="0">
                    <a:pos x="GluePoint1X" y="GluePoint1Y"/>
                  </a:cxn>
                  <a:cxn ang="0">
                    <a:pos x="GluePoint2X" y="GluePoint2Y"/>
                  </a:cxn>
                  <a:cxn ang="0">
                    <a:pos x="GluePoint3X" y="GluePoint3Y"/>
                  </a:cxn>
                </a:cxnLst>
                <a:rect l="l" t="t" r="r" b="b"/>
                <a:pathLst>
                  <a:path w="11" h="27">
                    <a:moveTo>
                      <a:pt x="11" y="0"/>
                    </a:moveTo>
                    <a:cubicBezTo>
                      <a:pt x="10" y="6"/>
                      <a:pt x="5" y="11"/>
                      <a:pt x="3" y="18"/>
                    </a:cubicBezTo>
                    <a:cubicBezTo>
                      <a:pt x="2" y="22"/>
                      <a:pt x="2" y="24"/>
                      <a:pt x="0" y="27"/>
                    </a:cubicBezTo>
                  </a:path>
                </a:pathLst>
              </a:custGeom>
              <a:noFill/>
              <a:ln cap="rnd" w="7920">
                <a:solidFill>
                  <a:srgbClr val="58585a"/>
                </a:solidFill>
                <a:round/>
              </a:ln>
            </p:spPr>
            <p:style>
              <a:lnRef idx="0"/>
              <a:fillRef idx="0"/>
              <a:effectRef idx="0"/>
              <a:fontRef idx="minor"/>
            </p:style>
            <p:txBody>
              <a:bodyPr lIns="90000" rIns="90000" tIns="44640" bIns="44640" anchor="t">
                <a:noAutofit/>
              </a:bodyPr>
              <a:p>
                <a:endParaRPr b="0" lang="en-US" sz="2400" strike="noStrike" u="none">
                  <a:solidFill>
                    <a:srgbClr val="ffff00"/>
                  </a:solidFill>
                  <a:effectLst/>
                  <a:uFillTx/>
                  <a:latin typeface="Times New Roman"/>
                </a:endParaRPr>
              </a:p>
            </p:txBody>
          </p:sp>
          <p:sp>
            <p:nvSpPr>
              <p:cNvPr id="473" name="Freeform 254"/>
              <p:cNvSpPr/>
              <p:nvPr/>
            </p:nvSpPr>
            <p:spPr>
              <a:xfrm flipH="1">
                <a:off x="5184720" y="907560"/>
                <a:ext cx="204480" cy="169920"/>
              </a:xfrm>
              <a:custGeom>
                <a:avLst/>
                <a:gdLst>
                  <a:gd name="GluePoint1X" fmla="*/ 0 w 63"/>
                  <a:gd name="GluePoint1Y" fmla="*/ 0 h 50"/>
                  <a:gd name="GluePoint2X" fmla="*/ 2147483647 w 63"/>
                  <a:gd name="GluePoint2Y" fmla="*/ 2147483647 h 50"/>
                  <a:gd name="GluePoint3X" fmla="*/ 2147483647 w 63"/>
                  <a:gd name="GluePoint3Y" fmla="*/ 2147483647 h 50"/>
                </a:gdLst>
                <a:ahLst/>
                <a:cxnLst>
                  <a:cxn ang="0">
                    <a:pos x="GluePoint1X" y="GluePoint1Y"/>
                  </a:cxn>
                  <a:cxn ang="0">
                    <a:pos x="GluePoint2X" y="GluePoint2Y"/>
                  </a:cxn>
                  <a:cxn ang="0">
                    <a:pos x="GluePoint3X" y="GluePoint3Y"/>
                  </a:cxn>
                </a:cxnLst>
                <a:rect l="l" t="t" r="r" b="b"/>
                <a:pathLst>
                  <a:path w="63" h="50">
                    <a:moveTo>
                      <a:pt x="0" y="0"/>
                    </a:moveTo>
                    <a:cubicBezTo>
                      <a:pt x="5" y="13"/>
                      <a:pt x="6" y="18"/>
                      <a:pt x="17" y="27"/>
                    </a:cubicBezTo>
                    <a:cubicBezTo>
                      <a:pt x="29" y="38"/>
                      <a:pt x="45" y="50"/>
                      <a:pt x="63" y="48"/>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4" name="Freeform 255"/>
              <p:cNvSpPr/>
              <p:nvPr/>
            </p:nvSpPr>
            <p:spPr>
              <a:xfrm flipH="1">
                <a:off x="5363640" y="817200"/>
                <a:ext cx="419040" cy="127080"/>
              </a:xfrm>
              <a:custGeom>
                <a:avLst/>
                <a:gdLst>
                  <a:gd name="GluePoint1X" fmla="*/ 2147483647 w 129"/>
                  <a:gd name="GluePoint1Y" fmla="*/ 2147483647 h 38"/>
                  <a:gd name="GluePoint2X" fmla="*/ 2147483647 w 129"/>
                  <a:gd name="GluePoint2Y" fmla="*/ 2147483647 h 38"/>
                  <a:gd name="GluePoint3X" fmla="*/ 2147483647 w 129"/>
                  <a:gd name="GluePoint3Y" fmla="*/ 2147483647 h 38"/>
                  <a:gd name="GluePoint4X" fmla="*/ 2147483647 w 129"/>
                  <a:gd name="GluePoint4Y" fmla="*/ 2147483647 h 38"/>
                  <a:gd name="GluePoint5X" fmla="*/ 0 w 129"/>
                  <a:gd name="GluePoint5Y" fmla="*/ 0 h 3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29" h="38">
                    <a:moveTo>
                      <a:pt x="129" y="20"/>
                    </a:moveTo>
                    <a:cubicBezTo>
                      <a:pt x="112" y="38"/>
                      <a:pt x="90" y="26"/>
                      <a:pt x="70" y="21"/>
                    </a:cubicBezTo>
                    <a:cubicBezTo>
                      <a:pt x="57" y="17"/>
                      <a:pt x="39" y="15"/>
                      <a:pt x="27" y="13"/>
                    </a:cubicBezTo>
                    <a:cubicBezTo>
                      <a:pt x="21" y="12"/>
                      <a:pt x="15" y="13"/>
                      <a:pt x="9" y="9"/>
                    </a:cubicBezTo>
                    <a:cubicBezTo>
                      <a:pt x="5" y="6"/>
                      <a:pt x="4" y="2"/>
                      <a:pt x="0"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5" name="Freeform 256"/>
              <p:cNvSpPr/>
              <p:nvPr/>
            </p:nvSpPr>
            <p:spPr>
              <a:xfrm flipH="1">
                <a:off x="5760720" y="799560"/>
                <a:ext cx="298080" cy="77760"/>
              </a:xfrm>
              <a:custGeom>
                <a:avLst/>
                <a:gdLst>
                  <a:gd name="GluePoint1X" fmla="*/ 2147483647 w 92"/>
                  <a:gd name="GluePoint1Y" fmla="*/ 0 h 23"/>
                  <a:gd name="GluePoint2X" fmla="*/ 2147483647 w 92"/>
                  <a:gd name="GluePoint2Y" fmla="*/ 2147483647 h 23"/>
                  <a:gd name="GluePoint3X" fmla="*/ 0 w 92"/>
                  <a:gd name="GluePoint3Y" fmla="*/ 2147483647 h 23"/>
                </a:gdLst>
                <a:ahLst/>
                <a:cxnLst>
                  <a:cxn ang="0">
                    <a:pos x="GluePoint1X" y="GluePoint1Y"/>
                  </a:cxn>
                  <a:cxn ang="0">
                    <a:pos x="GluePoint2X" y="GluePoint2Y"/>
                  </a:cxn>
                  <a:cxn ang="0">
                    <a:pos x="GluePoint3X" y="GluePoint3Y"/>
                  </a:cxn>
                </a:cxnLst>
                <a:rect l="l" t="t" r="r" b="b"/>
                <a:pathLst>
                  <a:path w="92" h="23">
                    <a:moveTo>
                      <a:pt x="92" y="0"/>
                    </a:moveTo>
                    <a:cubicBezTo>
                      <a:pt x="78" y="5"/>
                      <a:pt x="68" y="14"/>
                      <a:pt x="54" y="17"/>
                    </a:cubicBezTo>
                    <a:cubicBezTo>
                      <a:pt x="36" y="21"/>
                      <a:pt x="14" y="23"/>
                      <a:pt x="0" y="13"/>
                    </a:cubicBezTo>
                  </a:path>
                </a:pathLst>
              </a:custGeom>
              <a:noFill/>
              <a:ln cap="rnd" w="7920">
                <a:solidFill>
                  <a:srgbClr val="58585a"/>
                </a:solidFill>
                <a:round/>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476" name="Freeform 257"/>
              <p:cNvSpPr/>
              <p:nvPr/>
            </p:nvSpPr>
            <p:spPr>
              <a:xfrm flipH="1">
                <a:off x="6420240" y="1555560"/>
                <a:ext cx="148680" cy="616320"/>
              </a:xfrm>
              <a:custGeom>
                <a:avLst/>
                <a:gdLst>
                  <a:gd name="GluePoint1X" fmla="*/ 1980961275 w 46"/>
                  <a:gd name="GluePoint1Y" fmla="*/ 2147483647 h 182"/>
                  <a:gd name="GluePoint2X" fmla="*/ 2147483647 w 46"/>
                  <a:gd name="GluePoint2Y" fmla="*/ 2147483647 h 182"/>
                  <a:gd name="GluePoint3X" fmla="*/ 1980961275 w 46"/>
                  <a:gd name="GluePoint3Y" fmla="*/ 2147483647 h 182"/>
                  <a:gd name="GluePoint4X" fmla="*/ 1517672794 w 46"/>
                  <a:gd name="GluePoint4Y" fmla="*/ 2147483647 h 182"/>
                  <a:gd name="GluePoint5X" fmla="*/ 1161088442 w 46"/>
                  <a:gd name="GluePoint5Y" fmla="*/ 2147483647 h 182"/>
                  <a:gd name="GluePoint6X" fmla="*/ 1161088442 w 46"/>
                  <a:gd name="GluePoint6Y" fmla="*/ 2147483647 h 182"/>
                  <a:gd name="GluePoint7X" fmla="*/ 1517672794 w 46"/>
                  <a:gd name="GluePoint7Y" fmla="*/ 2147483647 h 182"/>
                  <a:gd name="GluePoint8X" fmla="*/ 1980961275 w 46"/>
                  <a:gd name="GluePoint8Y" fmla="*/ 2147483647 h 182"/>
                  <a:gd name="GluePoint9X" fmla="*/ 1678158700 w 46"/>
                  <a:gd name="GluePoint9Y" fmla="*/ 2147483647 h 182"/>
                  <a:gd name="GluePoint10X" fmla="*/ 658612722 w 46"/>
                  <a:gd name="GluePoint10Y" fmla="*/ 2147483647 h 182"/>
                  <a:gd name="GluePoint11X" fmla="*/ 1517672794 w 46"/>
                  <a:gd name="GluePoint11Y" fmla="*/ 2147483647 h 182"/>
                  <a:gd name="GluePoint12X" fmla="*/ 2147483647 w 46"/>
                  <a:gd name="GluePoint12Y" fmla="*/ 2147483647 h 182"/>
                  <a:gd name="GluePoint13X" fmla="*/ 2147483647 w 46"/>
                  <a:gd name="GluePoint13Y" fmla="*/ 2147483647 h 182"/>
                  <a:gd name="GluePoint14X" fmla="*/ 1980961275 w 46"/>
                  <a:gd name="GluePoint14Y" fmla="*/ 2147483647 h 182"/>
                  <a:gd name="GluePoint15X" fmla="*/ 2147483647 w 46"/>
                  <a:gd name="GluePoint15Y" fmla="*/ 2147483647 h 182"/>
                  <a:gd name="GluePoint16X" fmla="*/ 2147483647 w 46"/>
                  <a:gd name="GluePoint16Y" fmla="*/ 2147483647 h 182"/>
                  <a:gd name="GluePoint17X" fmla="*/ 2147483647 w 46"/>
                  <a:gd name="GluePoint17Y" fmla="*/ 2147483647 h 182"/>
                  <a:gd name="GluePoint18X" fmla="*/ 2147483647 w 46"/>
                  <a:gd name="GluePoint18Y" fmla="*/ 2147483647 h 182"/>
                  <a:gd name="GluePoint19X" fmla="*/ 2147483647 w 46"/>
                  <a:gd name="GluePoint19Y" fmla="*/ 2147483647 h 182"/>
                  <a:gd name="GluePoint20X" fmla="*/ 2147483647 w 46"/>
                  <a:gd name="GluePoint20Y" fmla="*/ 2147483647 h 182"/>
                  <a:gd name="GluePoint21X" fmla="*/ 2147483647 w 46"/>
                  <a:gd name="GluePoint21Y" fmla="*/ 2147483647 h 182"/>
                  <a:gd name="GluePoint22X" fmla="*/ 2147483647 w 46"/>
                  <a:gd name="GluePoint22Y" fmla="*/ 2147483647 h 182"/>
                  <a:gd name="GluePoint23X" fmla="*/ 2147483647 w 46"/>
                  <a:gd name="GluePoint23Y" fmla="*/ 2147483647 h 182"/>
                  <a:gd name="GluePoint24X" fmla="*/ 2147483647 w 46"/>
                  <a:gd name="GluePoint24Y" fmla="*/ 2147483647 h 182"/>
                  <a:gd name="GluePoint25X" fmla="*/ 2147483647 w 46"/>
                  <a:gd name="GluePoint25Y" fmla="*/ 2147483647 h 182"/>
                  <a:gd name="GluePoint26X" fmla="*/ 2147483647 w 46"/>
                  <a:gd name="GluePoint26Y" fmla="*/ 2147483647 h 182"/>
                  <a:gd name="GluePoint27X" fmla="*/ 2147483647 w 46"/>
                  <a:gd name="GluePoint27Y" fmla="*/ 2147483647 h 182"/>
                  <a:gd name="GluePoint28X" fmla="*/ 2147483647 w 46"/>
                  <a:gd name="GluePoint28Y" fmla="*/ 2147483647 h 182"/>
                  <a:gd name="GluePoint29X" fmla="*/ 2147483647 w 46"/>
                  <a:gd name="GluePoint29Y" fmla="*/ 2147483647 h 182"/>
                  <a:gd name="GluePoint30X" fmla="*/ 1161088442 w 46"/>
                  <a:gd name="GluePoint30Y" fmla="*/ 2147483647 h 182"/>
                  <a:gd name="GluePoint31X" fmla="*/ 218659945 w 46"/>
                  <a:gd name="GluePoint31Y" fmla="*/ 2147483647 h 182"/>
                  <a:gd name="GluePoint32X" fmla="*/ 2147483647 w 46"/>
                  <a:gd name="GluePoint32Y" fmla="*/ 2147483647 h 182"/>
                  <a:gd name="GluePoint33X" fmla="*/ 1980961275 w 46"/>
                  <a:gd name="GluePoint33Y" fmla="*/ 2147483647 h 1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Lst>
                <a:rect l="l" t="t" r="r" b="b"/>
                <a:pathLst>
                  <a:path w="46" h="182">
                    <a:moveTo>
                      <a:pt x="9" y="146"/>
                    </a:moveTo>
                    <a:cubicBezTo>
                      <a:pt x="11" y="143"/>
                      <a:pt x="14" y="142"/>
                      <a:pt x="14" y="137"/>
                    </a:cubicBezTo>
                    <a:cubicBezTo>
                      <a:pt x="13" y="134"/>
                      <a:pt x="11" y="133"/>
                      <a:pt x="9" y="131"/>
                    </a:cubicBezTo>
                    <a:cubicBezTo>
                      <a:pt x="8" y="129"/>
                      <a:pt x="8" y="129"/>
                      <a:pt x="7" y="127"/>
                    </a:cubicBezTo>
                    <a:cubicBezTo>
                      <a:pt x="6" y="125"/>
                      <a:pt x="6" y="123"/>
                      <a:pt x="5" y="121"/>
                    </a:cubicBezTo>
                    <a:cubicBezTo>
                      <a:pt x="5" y="121"/>
                      <a:pt x="5" y="120"/>
                      <a:pt x="5" y="120"/>
                    </a:cubicBezTo>
                    <a:cubicBezTo>
                      <a:pt x="7" y="118"/>
                      <a:pt x="7" y="118"/>
                      <a:pt x="7" y="118"/>
                    </a:cubicBezTo>
                    <a:cubicBezTo>
                      <a:pt x="8" y="117"/>
                      <a:pt x="8" y="116"/>
                      <a:pt x="9" y="116"/>
                    </a:cubicBezTo>
                    <a:cubicBezTo>
                      <a:pt x="8" y="110"/>
                      <a:pt x="8" y="110"/>
                      <a:pt x="8" y="110"/>
                    </a:cubicBezTo>
                    <a:cubicBezTo>
                      <a:pt x="4" y="99"/>
                      <a:pt x="0" y="86"/>
                      <a:pt x="3" y="78"/>
                    </a:cubicBezTo>
                    <a:cubicBezTo>
                      <a:pt x="6" y="69"/>
                      <a:pt x="5" y="68"/>
                      <a:pt x="7" y="56"/>
                    </a:cubicBezTo>
                    <a:cubicBezTo>
                      <a:pt x="10" y="44"/>
                      <a:pt x="20" y="41"/>
                      <a:pt x="26" y="35"/>
                    </a:cubicBezTo>
                    <a:cubicBezTo>
                      <a:pt x="22" y="32"/>
                      <a:pt x="20" y="28"/>
                      <a:pt x="20" y="22"/>
                    </a:cubicBezTo>
                    <a:cubicBezTo>
                      <a:pt x="17" y="24"/>
                      <a:pt x="13" y="25"/>
                      <a:pt x="9" y="24"/>
                    </a:cubicBezTo>
                    <a:cubicBezTo>
                      <a:pt x="10" y="23"/>
                      <a:pt x="12" y="21"/>
                      <a:pt x="14" y="20"/>
                    </a:cubicBezTo>
                    <a:cubicBezTo>
                      <a:pt x="17" y="19"/>
                      <a:pt x="20" y="17"/>
                      <a:pt x="23" y="14"/>
                    </a:cubicBezTo>
                    <a:cubicBezTo>
                      <a:pt x="29" y="5"/>
                      <a:pt x="40" y="0"/>
                      <a:pt x="46" y="5"/>
                    </a:cubicBezTo>
                    <a:cubicBezTo>
                      <a:pt x="39" y="8"/>
                      <a:pt x="40" y="22"/>
                      <a:pt x="46" y="28"/>
                    </a:cubicBezTo>
                    <a:cubicBezTo>
                      <a:pt x="41" y="34"/>
                      <a:pt x="30" y="37"/>
                      <a:pt x="28" y="49"/>
                    </a:cubicBezTo>
                    <a:cubicBezTo>
                      <a:pt x="26" y="60"/>
                      <a:pt x="26" y="62"/>
                      <a:pt x="23" y="71"/>
                    </a:cubicBezTo>
                    <a:cubicBezTo>
                      <a:pt x="20" y="79"/>
                      <a:pt x="25" y="92"/>
                      <a:pt x="29" y="103"/>
                    </a:cubicBezTo>
                    <a:cubicBezTo>
                      <a:pt x="29" y="108"/>
                      <a:pt x="29" y="108"/>
                      <a:pt x="29" y="108"/>
                    </a:cubicBezTo>
                    <a:cubicBezTo>
                      <a:pt x="27" y="111"/>
                      <a:pt x="23" y="115"/>
                      <a:pt x="23" y="118"/>
                    </a:cubicBezTo>
                    <a:cubicBezTo>
                      <a:pt x="24" y="122"/>
                      <a:pt x="26" y="122"/>
                      <a:pt x="26" y="126"/>
                    </a:cubicBezTo>
                    <a:cubicBezTo>
                      <a:pt x="25" y="129"/>
                      <a:pt x="21" y="132"/>
                      <a:pt x="21" y="136"/>
                    </a:cubicBezTo>
                    <a:cubicBezTo>
                      <a:pt x="21" y="138"/>
                      <a:pt x="23" y="142"/>
                      <a:pt x="22" y="144"/>
                    </a:cubicBezTo>
                    <a:cubicBezTo>
                      <a:pt x="22" y="147"/>
                      <a:pt x="21" y="147"/>
                      <a:pt x="19" y="149"/>
                    </a:cubicBezTo>
                    <a:cubicBezTo>
                      <a:pt x="16" y="153"/>
                      <a:pt x="18" y="155"/>
                      <a:pt x="16" y="159"/>
                    </a:cubicBezTo>
                    <a:cubicBezTo>
                      <a:pt x="15" y="162"/>
                      <a:pt x="13" y="161"/>
                      <a:pt x="11" y="164"/>
                    </a:cubicBezTo>
                    <a:cubicBezTo>
                      <a:pt x="7" y="167"/>
                      <a:pt x="5" y="170"/>
                      <a:pt x="5" y="175"/>
                    </a:cubicBezTo>
                    <a:cubicBezTo>
                      <a:pt x="4" y="178"/>
                      <a:pt x="3" y="180"/>
                      <a:pt x="1" y="182"/>
                    </a:cubicBezTo>
                    <a:cubicBezTo>
                      <a:pt x="6" y="173"/>
                      <a:pt x="9" y="157"/>
                      <a:pt x="10" y="151"/>
                    </a:cubicBezTo>
                    <a:cubicBezTo>
                      <a:pt x="10" y="150"/>
                      <a:pt x="9" y="147"/>
                      <a:pt x="9" y="146"/>
                    </a:cubicBezTo>
                    <a:close/>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7" name="Freeform 258"/>
              <p:cNvSpPr/>
              <p:nvPr/>
            </p:nvSpPr>
            <p:spPr>
              <a:xfrm flipH="1">
                <a:off x="5106960" y="1758240"/>
                <a:ext cx="981000" cy="616680"/>
              </a:xfrm>
              <a:custGeom>
                <a:avLst/>
                <a:gdLst>
                  <a:gd name="GluePoint1X" fmla="*/ 2147483647 w 302"/>
                  <a:gd name="GluePoint1Y" fmla="*/ 2147483647 h 182"/>
                  <a:gd name="GluePoint2X" fmla="*/ 242919758 w 302"/>
                  <a:gd name="GluePoint2Y" fmla="*/ 2147483647 h 182"/>
                  <a:gd name="GluePoint3X" fmla="*/ 2039986381 w 302"/>
                  <a:gd name="GluePoint3Y" fmla="*/ 2147483647 h 182"/>
                  <a:gd name="GluePoint4X" fmla="*/ 2147483647 w 302"/>
                  <a:gd name="GluePoint4Y" fmla="*/ 2147483647 h 182"/>
                  <a:gd name="GluePoint5X" fmla="*/ 2147483647 w 302"/>
                  <a:gd name="GluePoint5Y" fmla="*/ 2147483647 h 182"/>
                  <a:gd name="GluePoint6X" fmla="*/ 2147483647 w 302"/>
                  <a:gd name="GluePoint6Y" fmla="*/ 2147483647 h 182"/>
                  <a:gd name="GluePoint7X" fmla="*/ 2147483647 w 302"/>
                  <a:gd name="GluePoint7Y" fmla="*/ 2147483647 h 182"/>
                  <a:gd name="GluePoint8X" fmla="*/ 2147483647 w 302"/>
                  <a:gd name="GluePoint8Y" fmla="*/ 2147483647 h 182"/>
                  <a:gd name="GluePoint9X" fmla="*/ 2147483647 w 302"/>
                  <a:gd name="GluePoint9Y" fmla="*/ 2147483647 h 182"/>
                  <a:gd name="GluePoint10X" fmla="*/ 2147483647 w 302"/>
                  <a:gd name="GluePoint10Y" fmla="*/ 2147483647 h 182"/>
                  <a:gd name="GluePoint11X" fmla="*/ 2147483647 w 302"/>
                  <a:gd name="GluePoint11Y" fmla="*/ 2147483647 h 182"/>
                  <a:gd name="GluePoint12X" fmla="*/ 2147483647 w 302"/>
                  <a:gd name="GluePoint12Y" fmla="*/ 2147483647 h 182"/>
                  <a:gd name="GluePoint13X" fmla="*/ 2147483647 w 302"/>
                  <a:gd name="GluePoint13Y" fmla="*/ 2147483647 h 182"/>
                  <a:gd name="GluePoint14X" fmla="*/ 2147483647 w 302"/>
                  <a:gd name="GluePoint14Y" fmla="*/ 2147483647 h 182"/>
                  <a:gd name="GluePoint15X" fmla="*/ 2147483647 w 302"/>
                  <a:gd name="GluePoint15Y" fmla="*/ 2147483647 h 182"/>
                  <a:gd name="GluePoint16X" fmla="*/ 2147483647 w 302"/>
                  <a:gd name="GluePoint16Y" fmla="*/ 2147483647 h 182"/>
                  <a:gd name="GluePoint17X" fmla="*/ 2147483647 w 302"/>
                  <a:gd name="GluePoint17Y" fmla="*/ 2147483647 h 182"/>
                  <a:gd name="GluePoint18X" fmla="*/ 2147483647 w 302"/>
                  <a:gd name="GluePoint18Y" fmla="*/ 2147483647 h 182"/>
                  <a:gd name="GluePoint19X" fmla="*/ 2147483647 w 302"/>
                  <a:gd name="GluePoint19Y" fmla="*/ 2147483647 h 182"/>
                  <a:gd name="GluePoint20X" fmla="*/ 2147483647 w 302"/>
                  <a:gd name="GluePoint20Y" fmla="*/ 2147483647 h 182"/>
                  <a:gd name="GluePoint21X" fmla="*/ 2147483647 w 302"/>
                  <a:gd name="GluePoint21Y" fmla="*/ 2147483647 h 182"/>
                  <a:gd name="GluePoint22X" fmla="*/ 2147483647 w 302"/>
                  <a:gd name="GluePoint22Y" fmla="*/ 2147483647 h 182"/>
                  <a:gd name="GluePoint23X" fmla="*/ 2147483647 w 302"/>
                  <a:gd name="GluePoint23Y" fmla="*/ 2147483647 h 1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l" t="t" r="r" b="b"/>
                <a:pathLst>
                  <a:path w="302" h="182">
                    <a:moveTo>
                      <a:pt x="35" y="119"/>
                    </a:moveTo>
                    <a:cubicBezTo>
                      <a:pt x="36" y="69"/>
                      <a:pt x="0" y="64"/>
                      <a:pt x="1" y="52"/>
                    </a:cubicBezTo>
                    <a:cubicBezTo>
                      <a:pt x="2" y="39"/>
                      <a:pt x="3" y="27"/>
                      <a:pt x="8" y="20"/>
                    </a:cubicBezTo>
                    <a:cubicBezTo>
                      <a:pt x="13" y="11"/>
                      <a:pt x="14" y="0"/>
                      <a:pt x="32" y="5"/>
                    </a:cubicBezTo>
                    <a:cubicBezTo>
                      <a:pt x="50" y="10"/>
                      <a:pt x="73" y="19"/>
                      <a:pt x="81" y="23"/>
                    </a:cubicBezTo>
                    <a:cubicBezTo>
                      <a:pt x="87" y="27"/>
                      <a:pt x="93" y="44"/>
                      <a:pt x="96" y="55"/>
                    </a:cubicBezTo>
                    <a:cubicBezTo>
                      <a:pt x="96" y="59"/>
                      <a:pt x="94" y="68"/>
                      <a:pt x="93" y="71"/>
                    </a:cubicBezTo>
                    <a:cubicBezTo>
                      <a:pt x="90" y="78"/>
                      <a:pt x="88" y="88"/>
                      <a:pt x="94" y="93"/>
                    </a:cubicBezTo>
                    <a:cubicBezTo>
                      <a:pt x="110" y="104"/>
                      <a:pt x="119" y="96"/>
                      <a:pt x="120" y="92"/>
                    </a:cubicBezTo>
                    <a:cubicBezTo>
                      <a:pt x="124" y="92"/>
                      <a:pt x="135" y="84"/>
                      <a:pt x="131" y="74"/>
                    </a:cubicBezTo>
                    <a:cubicBezTo>
                      <a:pt x="129" y="67"/>
                      <a:pt x="123" y="64"/>
                      <a:pt x="117" y="63"/>
                    </a:cubicBezTo>
                    <a:cubicBezTo>
                      <a:pt x="115" y="62"/>
                      <a:pt x="111" y="61"/>
                      <a:pt x="110" y="58"/>
                    </a:cubicBezTo>
                    <a:cubicBezTo>
                      <a:pt x="108" y="51"/>
                      <a:pt x="105" y="41"/>
                      <a:pt x="102" y="33"/>
                    </a:cubicBezTo>
                    <a:cubicBezTo>
                      <a:pt x="102" y="31"/>
                      <a:pt x="101" y="30"/>
                      <a:pt x="101" y="28"/>
                    </a:cubicBezTo>
                    <a:cubicBezTo>
                      <a:pt x="105" y="34"/>
                      <a:pt x="112" y="44"/>
                      <a:pt x="123" y="44"/>
                    </a:cubicBezTo>
                    <a:cubicBezTo>
                      <a:pt x="137" y="45"/>
                      <a:pt x="140" y="31"/>
                      <a:pt x="135" y="26"/>
                    </a:cubicBezTo>
                    <a:cubicBezTo>
                      <a:pt x="134" y="25"/>
                      <a:pt x="133" y="24"/>
                      <a:pt x="133" y="23"/>
                    </a:cubicBezTo>
                    <a:cubicBezTo>
                      <a:pt x="156" y="37"/>
                      <a:pt x="189" y="41"/>
                      <a:pt x="224" y="41"/>
                    </a:cubicBezTo>
                    <a:cubicBezTo>
                      <a:pt x="249" y="41"/>
                      <a:pt x="275" y="41"/>
                      <a:pt x="302" y="41"/>
                    </a:cubicBezTo>
                    <a:cubicBezTo>
                      <a:pt x="295" y="90"/>
                      <a:pt x="249" y="124"/>
                      <a:pt x="222" y="118"/>
                    </a:cubicBezTo>
                    <a:cubicBezTo>
                      <a:pt x="222" y="135"/>
                      <a:pt x="168" y="172"/>
                      <a:pt x="138" y="168"/>
                    </a:cubicBezTo>
                    <a:cubicBezTo>
                      <a:pt x="136" y="182"/>
                      <a:pt x="61" y="167"/>
                      <a:pt x="31" y="157"/>
                    </a:cubicBezTo>
                    <a:cubicBezTo>
                      <a:pt x="34" y="145"/>
                      <a:pt x="35" y="132"/>
                      <a:pt x="35" y="119"/>
                    </a:cubicBezTo>
                    <a:close/>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8" name="Freeform 259"/>
              <p:cNvSpPr/>
              <p:nvPr/>
            </p:nvSpPr>
            <p:spPr>
              <a:xfrm flipH="1">
                <a:off x="4437000" y="-3240"/>
                <a:ext cx="3360960" cy="2235600"/>
              </a:xfrm>
              <a:custGeom>
                <a:avLst/>
                <a:gdLst>
                  <a:gd name="GluePoint1X" fmla="*/ 2147483647 w 1034"/>
                  <a:gd name="GluePoint1Y" fmla="*/ 2147483647 h 660"/>
                  <a:gd name="GluePoint2X" fmla="*/ 2147483647 w 1034"/>
                  <a:gd name="GluePoint2Y" fmla="*/ 2147483647 h 660"/>
                  <a:gd name="GluePoint3X" fmla="*/ 2147483647 w 1034"/>
                  <a:gd name="GluePoint3Y" fmla="*/ 2147483647 h 660"/>
                  <a:gd name="GluePoint4X" fmla="*/ 2147483647 w 1034"/>
                  <a:gd name="GluePoint4Y" fmla="*/ 2147483647 h 660"/>
                  <a:gd name="GluePoint5X" fmla="*/ 2147483647 w 1034"/>
                  <a:gd name="GluePoint5Y" fmla="*/ 2147483647 h 660"/>
                  <a:gd name="GluePoint6X" fmla="*/ 2147483647 w 1034"/>
                  <a:gd name="GluePoint6Y" fmla="*/ 2147483647 h 660"/>
                  <a:gd name="GluePoint7X" fmla="*/ 2147483647 w 1034"/>
                  <a:gd name="GluePoint7Y" fmla="*/ 2147483647 h 660"/>
                  <a:gd name="GluePoint8X" fmla="*/ 2147483647 w 1034"/>
                  <a:gd name="GluePoint8Y" fmla="*/ 2147483647 h 660"/>
                  <a:gd name="GluePoint9X" fmla="*/ 2147483647 w 1034"/>
                  <a:gd name="GluePoint9Y" fmla="*/ 2147483647 h 660"/>
                  <a:gd name="GluePoint10X" fmla="*/ 2147483647 w 1034"/>
                  <a:gd name="GluePoint10Y" fmla="*/ 2147483647 h 660"/>
                  <a:gd name="GluePoint11X" fmla="*/ 2147483647 w 1034"/>
                  <a:gd name="GluePoint11Y" fmla="*/ 2147483647 h 660"/>
                  <a:gd name="GluePoint12X" fmla="*/ 2147483647 w 1034"/>
                  <a:gd name="GluePoint12Y" fmla="*/ 2147483647 h 660"/>
                  <a:gd name="GluePoint13X" fmla="*/ 2147483647 w 1034"/>
                  <a:gd name="GluePoint13Y" fmla="*/ 2147483647 h 660"/>
                  <a:gd name="GluePoint14X" fmla="*/ 2147483647 w 1034"/>
                  <a:gd name="GluePoint14Y" fmla="*/ 2147483647 h 660"/>
                  <a:gd name="GluePoint15X" fmla="*/ 2147483647 w 1034"/>
                  <a:gd name="GluePoint15Y" fmla="*/ 2147483647 h 660"/>
                  <a:gd name="GluePoint16X" fmla="*/ 2147483647 w 1034"/>
                  <a:gd name="GluePoint16Y" fmla="*/ 2147483647 h 660"/>
                  <a:gd name="GluePoint17X" fmla="*/ 2147483647 w 1034"/>
                  <a:gd name="GluePoint17Y" fmla="*/ 2147483647 h 660"/>
                  <a:gd name="GluePoint18X" fmla="*/ 2147483647 w 1034"/>
                  <a:gd name="GluePoint18Y" fmla="*/ 2147483647 h 660"/>
                  <a:gd name="GluePoint19X" fmla="*/ 2147483647 w 1034"/>
                  <a:gd name="GluePoint19Y" fmla="*/ 2147483647 h 660"/>
                  <a:gd name="GluePoint20X" fmla="*/ 2147483647 w 1034"/>
                  <a:gd name="GluePoint20Y" fmla="*/ 2147483647 h 660"/>
                  <a:gd name="GluePoint21X" fmla="*/ 2147483647 w 1034"/>
                  <a:gd name="GluePoint21Y" fmla="*/ 2147483647 h 660"/>
                  <a:gd name="GluePoint22X" fmla="*/ 2147483647 w 1034"/>
                  <a:gd name="GluePoint22Y" fmla="*/ 2147483647 h 660"/>
                  <a:gd name="GluePoint23X" fmla="*/ 2147483647 w 1034"/>
                  <a:gd name="GluePoint23Y" fmla="*/ 2147483647 h 660"/>
                  <a:gd name="GluePoint24X" fmla="*/ 2147483647 w 1034"/>
                  <a:gd name="GluePoint24Y" fmla="*/ 2147483647 h 660"/>
                  <a:gd name="GluePoint25X" fmla="*/ 2147483647 w 1034"/>
                  <a:gd name="GluePoint25Y" fmla="*/ 2147483647 h 660"/>
                  <a:gd name="GluePoint26X" fmla="*/ 2147483647 w 1034"/>
                  <a:gd name="GluePoint26Y" fmla="*/ 2147483647 h 660"/>
                  <a:gd name="GluePoint27X" fmla="*/ 2147483647 w 1034"/>
                  <a:gd name="GluePoint27Y" fmla="*/ 2147483647 h 660"/>
                  <a:gd name="GluePoint28X" fmla="*/ 2147483647 w 1034"/>
                  <a:gd name="GluePoint28Y" fmla="*/ 2147483647 h 660"/>
                  <a:gd name="GluePoint29X" fmla="*/ 2147483647 w 1034"/>
                  <a:gd name="GluePoint29Y" fmla="*/ 2147483647 h 660"/>
                  <a:gd name="GluePoint30X" fmla="*/ 2147483647 w 1034"/>
                  <a:gd name="GluePoint30Y" fmla="*/ 2147483647 h 660"/>
                  <a:gd name="GluePoint31X" fmla="*/ 2147483647 w 1034"/>
                  <a:gd name="GluePoint31Y" fmla="*/ 2147483647 h 660"/>
                  <a:gd name="GluePoint32X" fmla="*/ 2147483647 w 1034"/>
                  <a:gd name="GluePoint32Y" fmla="*/ 2147483647 h 660"/>
                  <a:gd name="GluePoint33X" fmla="*/ 2147483647 w 1034"/>
                  <a:gd name="GluePoint33Y" fmla="*/ 2147483647 h 660"/>
                  <a:gd name="GluePoint34X" fmla="*/ 2147483647 w 1034"/>
                  <a:gd name="GluePoint34Y" fmla="*/ 2147483647 h 660"/>
                  <a:gd name="GluePoint35X" fmla="*/ 245166478 w 1034"/>
                  <a:gd name="GluePoint35Y" fmla="*/ 2147483647 h 660"/>
                  <a:gd name="GluePoint36X" fmla="*/ 993683699 w 1034"/>
                  <a:gd name="GluePoint36Y" fmla="*/ 2147483647 h 660"/>
                  <a:gd name="GluePoint37X" fmla="*/ 2147483647 w 1034"/>
                  <a:gd name="GluePoint37Y" fmla="*/ 2147483647 h 660"/>
                  <a:gd name="GluePoint38X" fmla="*/ 2147483647 w 1034"/>
                  <a:gd name="GluePoint38Y" fmla="*/ 2147483647 h 660"/>
                  <a:gd name="GluePoint39X" fmla="*/ 2147483647 w 1034"/>
                  <a:gd name="GluePoint39Y" fmla="*/ 2147483647 h 6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Lst>
                <a:rect l="l" t="t" r="r" b="b"/>
                <a:pathLst>
                  <a:path w="1034" h="660">
                    <a:moveTo>
                      <a:pt x="660" y="544"/>
                    </a:moveTo>
                    <a:cubicBezTo>
                      <a:pt x="683" y="557"/>
                      <a:pt x="716" y="561"/>
                      <a:pt x="750" y="561"/>
                    </a:cubicBezTo>
                    <a:cubicBezTo>
                      <a:pt x="780" y="561"/>
                      <a:pt x="814" y="562"/>
                      <a:pt x="846" y="560"/>
                    </a:cubicBezTo>
                    <a:cubicBezTo>
                      <a:pt x="873" y="558"/>
                      <a:pt x="893" y="553"/>
                      <a:pt x="917" y="546"/>
                    </a:cubicBezTo>
                    <a:cubicBezTo>
                      <a:pt x="952" y="537"/>
                      <a:pt x="1011" y="502"/>
                      <a:pt x="1020" y="465"/>
                    </a:cubicBezTo>
                    <a:cubicBezTo>
                      <a:pt x="1029" y="428"/>
                      <a:pt x="1033" y="436"/>
                      <a:pt x="1034" y="399"/>
                    </a:cubicBezTo>
                    <a:cubicBezTo>
                      <a:pt x="1034" y="388"/>
                      <a:pt x="1033" y="380"/>
                      <a:pt x="1027" y="379"/>
                    </a:cubicBezTo>
                    <a:cubicBezTo>
                      <a:pt x="1033" y="374"/>
                      <a:pt x="1033" y="360"/>
                      <a:pt x="1029" y="330"/>
                    </a:cubicBezTo>
                    <a:cubicBezTo>
                      <a:pt x="1026" y="300"/>
                      <a:pt x="1019" y="259"/>
                      <a:pt x="1007" y="259"/>
                    </a:cubicBezTo>
                    <a:cubicBezTo>
                      <a:pt x="1012" y="249"/>
                      <a:pt x="997" y="225"/>
                      <a:pt x="978" y="204"/>
                    </a:cubicBezTo>
                    <a:cubicBezTo>
                      <a:pt x="963" y="188"/>
                      <a:pt x="948" y="144"/>
                      <a:pt x="930" y="154"/>
                    </a:cubicBezTo>
                    <a:cubicBezTo>
                      <a:pt x="942" y="135"/>
                      <a:pt x="894" y="109"/>
                      <a:pt x="878" y="100"/>
                    </a:cubicBezTo>
                    <a:cubicBezTo>
                      <a:pt x="861" y="91"/>
                      <a:pt x="836" y="73"/>
                      <a:pt x="822" y="89"/>
                    </a:cubicBezTo>
                    <a:cubicBezTo>
                      <a:pt x="845" y="69"/>
                      <a:pt x="786" y="58"/>
                      <a:pt x="773" y="53"/>
                    </a:cubicBezTo>
                    <a:cubicBezTo>
                      <a:pt x="752" y="45"/>
                      <a:pt x="699" y="5"/>
                      <a:pt x="681" y="30"/>
                    </a:cubicBezTo>
                    <a:cubicBezTo>
                      <a:pt x="686" y="16"/>
                      <a:pt x="656" y="16"/>
                      <a:pt x="631" y="12"/>
                    </a:cubicBezTo>
                    <a:cubicBezTo>
                      <a:pt x="605" y="9"/>
                      <a:pt x="583" y="4"/>
                      <a:pt x="583" y="17"/>
                    </a:cubicBezTo>
                    <a:cubicBezTo>
                      <a:pt x="583" y="17"/>
                      <a:pt x="583" y="17"/>
                      <a:pt x="583" y="17"/>
                    </a:cubicBezTo>
                    <a:cubicBezTo>
                      <a:pt x="582" y="5"/>
                      <a:pt x="554" y="1"/>
                      <a:pt x="525" y="5"/>
                    </a:cubicBezTo>
                    <a:cubicBezTo>
                      <a:pt x="500" y="9"/>
                      <a:pt x="464" y="0"/>
                      <a:pt x="463" y="14"/>
                    </a:cubicBezTo>
                    <a:cubicBezTo>
                      <a:pt x="461" y="3"/>
                      <a:pt x="438" y="11"/>
                      <a:pt x="414" y="17"/>
                    </a:cubicBezTo>
                    <a:cubicBezTo>
                      <a:pt x="394" y="23"/>
                      <a:pt x="378" y="24"/>
                      <a:pt x="377" y="35"/>
                    </a:cubicBezTo>
                    <a:cubicBezTo>
                      <a:pt x="374" y="24"/>
                      <a:pt x="348" y="33"/>
                      <a:pt x="332" y="38"/>
                    </a:cubicBezTo>
                    <a:cubicBezTo>
                      <a:pt x="318" y="42"/>
                      <a:pt x="309" y="52"/>
                      <a:pt x="311" y="63"/>
                    </a:cubicBezTo>
                    <a:cubicBezTo>
                      <a:pt x="299" y="47"/>
                      <a:pt x="264" y="63"/>
                      <a:pt x="242" y="72"/>
                    </a:cubicBezTo>
                    <a:cubicBezTo>
                      <a:pt x="217" y="82"/>
                      <a:pt x="171" y="108"/>
                      <a:pt x="171" y="129"/>
                    </a:cubicBezTo>
                    <a:cubicBezTo>
                      <a:pt x="159" y="117"/>
                      <a:pt x="121" y="147"/>
                      <a:pt x="129" y="161"/>
                    </a:cubicBezTo>
                    <a:cubicBezTo>
                      <a:pt x="115" y="151"/>
                      <a:pt x="56" y="217"/>
                      <a:pt x="74" y="236"/>
                    </a:cubicBezTo>
                    <a:cubicBezTo>
                      <a:pt x="68" y="236"/>
                      <a:pt x="65" y="235"/>
                      <a:pt x="52" y="259"/>
                    </a:cubicBezTo>
                    <a:cubicBezTo>
                      <a:pt x="39" y="283"/>
                      <a:pt x="22" y="312"/>
                      <a:pt x="21" y="319"/>
                    </a:cubicBezTo>
                    <a:cubicBezTo>
                      <a:pt x="19" y="326"/>
                      <a:pt x="27" y="332"/>
                      <a:pt x="27" y="332"/>
                    </a:cubicBezTo>
                    <a:cubicBezTo>
                      <a:pt x="27" y="332"/>
                      <a:pt x="22" y="331"/>
                      <a:pt x="17" y="341"/>
                    </a:cubicBezTo>
                    <a:cubicBezTo>
                      <a:pt x="12" y="353"/>
                      <a:pt x="11" y="364"/>
                      <a:pt x="10" y="377"/>
                    </a:cubicBezTo>
                    <a:cubicBezTo>
                      <a:pt x="10" y="384"/>
                      <a:pt x="12" y="392"/>
                      <a:pt x="11" y="398"/>
                    </a:cubicBezTo>
                    <a:cubicBezTo>
                      <a:pt x="10" y="412"/>
                      <a:pt x="2" y="424"/>
                      <a:pt x="1" y="439"/>
                    </a:cubicBezTo>
                    <a:cubicBezTo>
                      <a:pt x="0" y="458"/>
                      <a:pt x="2" y="477"/>
                      <a:pt x="4" y="495"/>
                    </a:cubicBezTo>
                    <a:cubicBezTo>
                      <a:pt x="6" y="515"/>
                      <a:pt x="10" y="554"/>
                      <a:pt x="33" y="560"/>
                    </a:cubicBezTo>
                    <a:cubicBezTo>
                      <a:pt x="26" y="582"/>
                      <a:pt x="29" y="592"/>
                      <a:pt x="45" y="610"/>
                    </a:cubicBezTo>
                    <a:cubicBezTo>
                      <a:pt x="62" y="625"/>
                      <a:pt x="92" y="657"/>
                      <a:pt x="126" y="66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79" name="Freeform 260"/>
              <p:cNvSpPr/>
              <p:nvPr/>
            </p:nvSpPr>
            <p:spPr>
              <a:xfrm flipH="1">
                <a:off x="5178600" y="843120"/>
                <a:ext cx="1708560" cy="2334600"/>
              </a:xfrm>
              <a:custGeom>
                <a:avLst/>
                <a:gdLst>
                  <a:gd name="GluePoint1X" fmla="*/ 2147483647 w 526"/>
                  <a:gd name="GluePoint1Y" fmla="*/ 2147483647 h 689"/>
                  <a:gd name="GluePoint2X" fmla="*/ 2147483647 w 526"/>
                  <a:gd name="GluePoint2Y" fmla="*/ 2147483647 h 689"/>
                  <a:gd name="GluePoint3X" fmla="*/ 2147483647 w 526"/>
                  <a:gd name="GluePoint3Y" fmla="*/ 2147483647 h 689"/>
                  <a:gd name="GluePoint4X" fmla="*/ 2147483647 w 526"/>
                  <a:gd name="GluePoint4Y" fmla="*/ 2147483647 h 689"/>
                  <a:gd name="GluePoint5X" fmla="*/ 2147483647 w 526"/>
                  <a:gd name="GluePoint5Y" fmla="*/ 2147483647 h 689"/>
                  <a:gd name="GluePoint6X" fmla="*/ 2147483647 w 526"/>
                  <a:gd name="GluePoint6Y" fmla="*/ 2147483647 h 689"/>
                  <a:gd name="GluePoint7X" fmla="*/ 2147483647 w 526"/>
                  <a:gd name="GluePoint7Y" fmla="*/ 2147483647 h 689"/>
                  <a:gd name="GluePoint8X" fmla="*/ 2147483647 w 526"/>
                  <a:gd name="GluePoint8Y" fmla="*/ 2147483647 h 689"/>
                  <a:gd name="GluePoint9X" fmla="*/ 2147483647 w 526"/>
                  <a:gd name="GluePoint9Y" fmla="*/ 2147483647 h 689"/>
                  <a:gd name="GluePoint10X" fmla="*/ 2147483647 w 526"/>
                  <a:gd name="GluePoint10Y" fmla="*/ 2147483647 h 689"/>
                  <a:gd name="GluePoint11X" fmla="*/ 2147483647 w 526"/>
                  <a:gd name="GluePoint11Y" fmla="*/ 2147483647 h 689"/>
                  <a:gd name="GluePoint12X" fmla="*/ 2147483647 w 526"/>
                  <a:gd name="GluePoint12Y" fmla="*/ 2147483647 h 689"/>
                  <a:gd name="GluePoint13X" fmla="*/ 2147483647 w 526"/>
                  <a:gd name="GluePoint13Y" fmla="*/ 2147483647 h 689"/>
                  <a:gd name="GluePoint14X" fmla="*/ 2147483647 w 526"/>
                  <a:gd name="GluePoint14Y" fmla="*/ 2147483647 h 689"/>
                  <a:gd name="GluePoint15X" fmla="*/ 2147483647 w 526"/>
                  <a:gd name="GluePoint15Y" fmla="*/ 2147483647 h 689"/>
                  <a:gd name="GluePoint16X" fmla="*/ 2147483647 w 526"/>
                  <a:gd name="GluePoint16Y" fmla="*/ 2147483647 h 689"/>
                  <a:gd name="GluePoint17X" fmla="*/ 2147483647 w 526"/>
                  <a:gd name="GluePoint17Y" fmla="*/ 2147483647 h 689"/>
                  <a:gd name="GluePoint18X" fmla="*/ 2147483647 w 526"/>
                  <a:gd name="GluePoint18Y" fmla="*/ 2147483647 h 689"/>
                  <a:gd name="GluePoint19X" fmla="*/ 2147483647 w 526"/>
                  <a:gd name="GluePoint19Y" fmla="*/ 2147483647 h 689"/>
                  <a:gd name="GluePoint20X" fmla="*/ 2147483647 w 526"/>
                  <a:gd name="GluePoint20Y" fmla="*/ 2147483647 h 689"/>
                  <a:gd name="GluePoint21X" fmla="*/ 2147483647 w 526"/>
                  <a:gd name="GluePoint21Y" fmla="*/ 2147483647 h 689"/>
                  <a:gd name="GluePoint22X" fmla="*/ 2147483647 w 526"/>
                  <a:gd name="GluePoint22Y" fmla="*/ 2147483647 h 689"/>
                  <a:gd name="GluePoint23X" fmla="*/ 2147483647 w 526"/>
                  <a:gd name="GluePoint23Y" fmla="*/ 2147483647 h 689"/>
                  <a:gd name="GluePoint24X" fmla="*/ 2147483647 w 526"/>
                  <a:gd name="GluePoint24Y" fmla="*/ 2147483647 h 689"/>
                  <a:gd name="GluePoint25X" fmla="*/ 2147483647 w 526"/>
                  <a:gd name="GluePoint25Y" fmla="*/ 2147483647 h 689"/>
                  <a:gd name="GluePoint26X" fmla="*/ 2147483647 w 526"/>
                  <a:gd name="GluePoint26Y" fmla="*/ 2147483647 h 689"/>
                  <a:gd name="GluePoint27X" fmla="*/ 2147483647 w 526"/>
                  <a:gd name="GluePoint27Y" fmla="*/ 2147483647 h 689"/>
                  <a:gd name="GluePoint28X" fmla="*/ 2147483647 w 526"/>
                  <a:gd name="GluePoint28Y" fmla="*/ 2147483647 h 689"/>
                  <a:gd name="GluePoint29X" fmla="*/ 2147483647 w 526"/>
                  <a:gd name="GluePoint29Y" fmla="*/ 2147483647 h 689"/>
                  <a:gd name="GluePoint30X" fmla="*/ 2147483647 w 526"/>
                  <a:gd name="GluePoint30Y" fmla="*/ 2147483647 h 689"/>
                  <a:gd name="GluePoint31X" fmla="*/ 2147483647 w 526"/>
                  <a:gd name="GluePoint31Y" fmla="*/ 2147483647 h 689"/>
                  <a:gd name="GluePoint32X" fmla="*/ 2147483647 w 526"/>
                  <a:gd name="GluePoint32Y" fmla="*/ 2147483647 h 689"/>
                  <a:gd name="GluePoint33X" fmla="*/ 2147483647 w 526"/>
                  <a:gd name="GluePoint33Y" fmla="*/ 2147483647 h 689"/>
                  <a:gd name="GluePoint34X" fmla="*/ 2147483647 w 526"/>
                  <a:gd name="GluePoint34Y" fmla="*/ 2147483647 h 689"/>
                  <a:gd name="GluePoint35X" fmla="*/ 2147483647 w 526"/>
                  <a:gd name="GluePoint35Y" fmla="*/ 2147483647 h 689"/>
                  <a:gd name="GluePoint36X" fmla="*/ 2147483647 w 526"/>
                  <a:gd name="GluePoint36Y" fmla="*/ 2147483647 h 689"/>
                  <a:gd name="GluePoint37X" fmla="*/ 2147483647 w 526"/>
                  <a:gd name="GluePoint37Y" fmla="*/ 2147483647 h 689"/>
                  <a:gd name="GluePoint38X" fmla="*/ 2147483647 w 526"/>
                  <a:gd name="GluePoint38Y" fmla="*/ 2147483647 h 689"/>
                  <a:gd name="GluePoint39X" fmla="*/ 2147483647 w 526"/>
                  <a:gd name="GluePoint39Y" fmla="*/ 2147483647 h 689"/>
                  <a:gd name="GluePoint40X" fmla="*/ 2147483647 w 526"/>
                  <a:gd name="GluePoint40Y" fmla="*/ 2147483647 h 689"/>
                  <a:gd name="GluePoint41X" fmla="*/ 2147483647 w 526"/>
                  <a:gd name="GluePoint41Y" fmla="*/ 2147483647 h 689"/>
                  <a:gd name="GluePoint42X" fmla="*/ 2147483647 w 526"/>
                  <a:gd name="GluePoint42Y" fmla="*/ 2147483647 h 689"/>
                  <a:gd name="GluePoint43X" fmla="*/ 2147483647 w 526"/>
                  <a:gd name="GluePoint43Y" fmla="*/ 2147483647 h 689"/>
                  <a:gd name="GluePoint44X" fmla="*/ 2147483647 w 526"/>
                  <a:gd name="GluePoint44Y" fmla="*/ 2147483647 h 689"/>
                  <a:gd name="GluePoint45X" fmla="*/ 2147483647 w 526"/>
                  <a:gd name="GluePoint45Y" fmla="*/ 2147483647 h 689"/>
                  <a:gd name="GluePoint46X" fmla="*/ 2147483647 w 526"/>
                  <a:gd name="GluePoint46Y" fmla="*/ 2147483647 h 689"/>
                  <a:gd name="GluePoint47X" fmla="*/ 2147483647 w 526"/>
                  <a:gd name="GluePoint47Y" fmla="*/ 2147483647 h 6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l" t="t" r="r" b="b"/>
                <a:pathLst>
                  <a:path w="526" h="689">
                    <a:moveTo>
                      <a:pt x="124" y="689"/>
                    </a:moveTo>
                    <a:cubicBezTo>
                      <a:pt x="132" y="665"/>
                      <a:pt x="126" y="551"/>
                      <a:pt x="129" y="532"/>
                    </a:cubicBezTo>
                    <a:cubicBezTo>
                      <a:pt x="132" y="512"/>
                      <a:pt x="138" y="516"/>
                      <a:pt x="139" y="527"/>
                    </a:cubicBezTo>
                    <a:cubicBezTo>
                      <a:pt x="140" y="535"/>
                      <a:pt x="141" y="558"/>
                      <a:pt x="143" y="574"/>
                    </a:cubicBezTo>
                    <a:cubicBezTo>
                      <a:pt x="143" y="578"/>
                      <a:pt x="145" y="577"/>
                      <a:pt x="145" y="573"/>
                    </a:cubicBezTo>
                    <a:cubicBezTo>
                      <a:pt x="147" y="545"/>
                      <a:pt x="145" y="492"/>
                      <a:pt x="141" y="461"/>
                    </a:cubicBezTo>
                    <a:cubicBezTo>
                      <a:pt x="137" y="427"/>
                      <a:pt x="142" y="335"/>
                      <a:pt x="159" y="288"/>
                    </a:cubicBezTo>
                    <a:cubicBezTo>
                      <a:pt x="181" y="229"/>
                      <a:pt x="248" y="241"/>
                      <a:pt x="269" y="249"/>
                    </a:cubicBezTo>
                    <a:cubicBezTo>
                      <a:pt x="307" y="262"/>
                      <a:pt x="315" y="278"/>
                      <a:pt x="325" y="284"/>
                    </a:cubicBezTo>
                    <a:cubicBezTo>
                      <a:pt x="336" y="290"/>
                      <a:pt x="344" y="316"/>
                      <a:pt x="347" y="325"/>
                    </a:cubicBezTo>
                    <a:cubicBezTo>
                      <a:pt x="346" y="315"/>
                      <a:pt x="340" y="298"/>
                      <a:pt x="338" y="288"/>
                    </a:cubicBezTo>
                    <a:cubicBezTo>
                      <a:pt x="335" y="278"/>
                      <a:pt x="334" y="271"/>
                      <a:pt x="338" y="268"/>
                    </a:cubicBezTo>
                    <a:cubicBezTo>
                      <a:pt x="343" y="265"/>
                      <a:pt x="354" y="272"/>
                      <a:pt x="363" y="279"/>
                    </a:cubicBezTo>
                    <a:cubicBezTo>
                      <a:pt x="363" y="279"/>
                      <a:pt x="353" y="259"/>
                      <a:pt x="351" y="250"/>
                    </a:cubicBezTo>
                    <a:cubicBezTo>
                      <a:pt x="350" y="240"/>
                      <a:pt x="352" y="234"/>
                      <a:pt x="345" y="229"/>
                    </a:cubicBezTo>
                    <a:cubicBezTo>
                      <a:pt x="341" y="224"/>
                      <a:pt x="338" y="215"/>
                      <a:pt x="340" y="209"/>
                    </a:cubicBezTo>
                    <a:cubicBezTo>
                      <a:pt x="344" y="199"/>
                      <a:pt x="355" y="201"/>
                      <a:pt x="361" y="191"/>
                    </a:cubicBezTo>
                    <a:cubicBezTo>
                      <a:pt x="369" y="180"/>
                      <a:pt x="378" y="174"/>
                      <a:pt x="393" y="171"/>
                    </a:cubicBezTo>
                    <a:cubicBezTo>
                      <a:pt x="408" y="171"/>
                      <a:pt x="422" y="168"/>
                      <a:pt x="438" y="157"/>
                    </a:cubicBezTo>
                    <a:cubicBezTo>
                      <a:pt x="470" y="133"/>
                      <a:pt x="470" y="89"/>
                      <a:pt x="376" y="64"/>
                    </a:cubicBezTo>
                    <a:cubicBezTo>
                      <a:pt x="283" y="39"/>
                      <a:pt x="157" y="110"/>
                      <a:pt x="124" y="153"/>
                    </a:cubicBezTo>
                    <a:cubicBezTo>
                      <a:pt x="95" y="191"/>
                      <a:pt x="64" y="230"/>
                      <a:pt x="32" y="209"/>
                    </a:cubicBezTo>
                    <a:cubicBezTo>
                      <a:pt x="0" y="188"/>
                      <a:pt x="15" y="157"/>
                      <a:pt x="20" y="142"/>
                    </a:cubicBezTo>
                    <a:cubicBezTo>
                      <a:pt x="50" y="51"/>
                      <a:pt x="213" y="8"/>
                      <a:pt x="326" y="4"/>
                    </a:cubicBezTo>
                    <a:cubicBezTo>
                      <a:pt x="461" y="0"/>
                      <a:pt x="518" y="76"/>
                      <a:pt x="522" y="117"/>
                    </a:cubicBezTo>
                    <a:cubicBezTo>
                      <a:pt x="526" y="155"/>
                      <a:pt x="496" y="186"/>
                      <a:pt x="454" y="196"/>
                    </a:cubicBezTo>
                    <a:cubicBezTo>
                      <a:pt x="410" y="207"/>
                      <a:pt x="398" y="171"/>
                      <a:pt x="379" y="188"/>
                    </a:cubicBezTo>
                    <a:cubicBezTo>
                      <a:pt x="369" y="198"/>
                      <a:pt x="353" y="210"/>
                      <a:pt x="357" y="240"/>
                    </a:cubicBezTo>
                    <a:cubicBezTo>
                      <a:pt x="361" y="269"/>
                      <a:pt x="375" y="291"/>
                      <a:pt x="381" y="296"/>
                    </a:cubicBezTo>
                    <a:cubicBezTo>
                      <a:pt x="386" y="301"/>
                      <a:pt x="383" y="315"/>
                      <a:pt x="369" y="314"/>
                    </a:cubicBezTo>
                    <a:cubicBezTo>
                      <a:pt x="358" y="314"/>
                      <a:pt x="351" y="304"/>
                      <a:pt x="347" y="298"/>
                    </a:cubicBezTo>
                    <a:cubicBezTo>
                      <a:pt x="347" y="300"/>
                      <a:pt x="348" y="301"/>
                      <a:pt x="348" y="303"/>
                    </a:cubicBezTo>
                    <a:cubicBezTo>
                      <a:pt x="351" y="311"/>
                      <a:pt x="354" y="321"/>
                      <a:pt x="356" y="328"/>
                    </a:cubicBezTo>
                    <a:cubicBezTo>
                      <a:pt x="357" y="331"/>
                      <a:pt x="361" y="332"/>
                      <a:pt x="363" y="333"/>
                    </a:cubicBezTo>
                    <a:cubicBezTo>
                      <a:pt x="369" y="334"/>
                      <a:pt x="375" y="337"/>
                      <a:pt x="377" y="344"/>
                    </a:cubicBezTo>
                    <a:cubicBezTo>
                      <a:pt x="381" y="354"/>
                      <a:pt x="370" y="362"/>
                      <a:pt x="366" y="362"/>
                    </a:cubicBezTo>
                    <a:cubicBezTo>
                      <a:pt x="365" y="366"/>
                      <a:pt x="356" y="374"/>
                      <a:pt x="340" y="363"/>
                    </a:cubicBezTo>
                    <a:cubicBezTo>
                      <a:pt x="334" y="358"/>
                      <a:pt x="336" y="348"/>
                      <a:pt x="339" y="341"/>
                    </a:cubicBezTo>
                    <a:cubicBezTo>
                      <a:pt x="340" y="338"/>
                      <a:pt x="342" y="329"/>
                      <a:pt x="342" y="325"/>
                    </a:cubicBezTo>
                    <a:cubicBezTo>
                      <a:pt x="339" y="314"/>
                      <a:pt x="333" y="297"/>
                      <a:pt x="327" y="293"/>
                    </a:cubicBezTo>
                    <a:cubicBezTo>
                      <a:pt x="319" y="289"/>
                      <a:pt x="296" y="280"/>
                      <a:pt x="278" y="275"/>
                    </a:cubicBezTo>
                    <a:cubicBezTo>
                      <a:pt x="260" y="270"/>
                      <a:pt x="259" y="281"/>
                      <a:pt x="254" y="290"/>
                    </a:cubicBezTo>
                    <a:cubicBezTo>
                      <a:pt x="249" y="297"/>
                      <a:pt x="248" y="309"/>
                      <a:pt x="247" y="322"/>
                    </a:cubicBezTo>
                    <a:cubicBezTo>
                      <a:pt x="246" y="334"/>
                      <a:pt x="282" y="339"/>
                      <a:pt x="281" y="389"/>
                    </a:cubicBezTo>
                    <a:cubicBezTo>
                      <a:pt x="281" y="439"/>
                      <a:pt x="259" y="492"/>
                      <a:pt x="228" y="496"/>
                    </a:cubicBezTo>
                    <a:cubicBezTo>
                      <a:pt x="234" y="503"/>
                      <a:pt x="241" y="526"/>
                      <a:pt x="224" y="574"/>
                    </a:cubicBezTo>
                    <a:cubicBezTo>
                      <a:pt x="206" y="622"/>
                      <a:pt x="201" y="689"/>
                      <a:pt x="201" y="68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0" name="Freeform 261"/>
              <p:cNvSpPr/>
              <p:nvPr/>
            </p:nvSpPr>
            <p:spPr>
              <a:xfrm flipH="1">
                <a:off x="5723280" y="1070640"/>
                <a:ext cx="438840" cy="349200"/>
              </a:xfrm>
              <a:custGeom>
                <a:avLst/>
                <a:gdLst>
                  <a:gd name="GluePoint1X" fmla="*/ 2147483647 w 135"/>
                  <a:gd name="GluePoint1Y" fmla="*/ 0 h 103"/>
                  <a:gd name="GluePoint2X" fmla="*/ 2147483647 w 135"/>
                  <a:gd name="GluePoint2Y" fmla="*/ 2147483647 h 103"/>
                  <a:gd name="GluePoint3X" fmla="*/ 2147483647 w 135"/>
                  <a:gd name="GluePoint3Y" fmla="*/ 2147483647 h 103"/>
                  <a:gd name="GluePoint4X" fmla="*/ 0 w 135"/>
                  <a:gd name="GluePoint4Y" fmla="*/ 2147483647 h 103"/>
                </a:gdLst>
                <a:ahLst/>
                <a:cxnLst>
                  <a:cxn ang="0">
                    <a:pos x="GluePoint1X" y="GluePoint1Y"/>
                  </a:cxn>
                  <a:cxn ang="0">
                    <a:pos x="GluePoint2X" y="GluePoint2Y"/>
                  </a:cxn>
                  <a:cxn ang="0">
                    <a:pos x="GluePoint3X" y="GluePoint3Y"/>
                  </a:cxn>
                  <a:cxn ang="0">
                    <a:pos x="GluePoint4X" y="GluePoint4Y"/>
                  </a:cxn>
                </a:cxnLst>
                <a:rect l="l" t="t" r="r" b="b"/>
                <a:pathLst>
                  <a:path w="135" h="103">
                    <a:moveTo>
                      <a:pt x="51" y="0"/>
                    </a:moveTo>
                    <a:cubicBezTo>
                      <a:pt x="76" y="3"/>
                      <a:pt x="133" y="35"/>
                      <a:pt x="135" y="87"/>
                    </a:cubicBezTo>
                    <a:cubicBezTo>
                      <a:pt x="135" y="102"/>
                      <a:pt x="125" y="103"/>
                      <a:pt x="118" y="88"/>
                    </a:cubicBezTo>
                    <a:cubicBezTo>
                      <a:pt x="103" y="50"/>
                      <a:pt x="63" y="4"/>
                      <a:pt x="0" y="18"/>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1" name="Freeform 262"/>
              <p:cNvSpPr/>
              <p:nvPr/>
            </p:nvSpPr>
            <p:spPr>
              <a:xfrm flipH="1">
                <a:off x="5688360" y="2025360"/>
                <a:ext cx="9720" cy="43560"/>
              </a:xfrm>
              <a:custGeom>
                <a:avLst/>
                <a:gdLst>
                  <a:gd name="GluePoint1X" fmla="*/ 273961102 w 3"/>
                  <a:gd name="GluePoint1Y" fmla="*/ 0 h 13"/>
                  <a:gd name="GluePoint2X" fmla="*/ 0 w 3"/>
                  <a:gd name="GluePoint2Y" fmla="*/ 2147483647 h 13"/>
                </a:gdLst>
                <a:ahLst/>
                <a:cxnLst>
                  <a:cxn ang="0">
                    <a:pos x="GluePoint1X" y="GluePoint1Y"/>
                  </a:cxn>
                  <a:cxn ang="0">
                    <a:pos x="GluePoint2X" y="GluePoint2Y"/>
                  </a:cxn>
                </a:cxnLst>
                <a:rect l="l" t="t" r="r" b="b"/>
                <a:pathLst>
                  <a:path w="3" h="13">
                    <a:moveTo>
                      <a:pt x="1" y="0"/>
                    </a:moveTo>
                    <a:cubicBezTo>
                      <a:pt x="2" y="3"/>
                      <a:pt x="3" y="11"/>
                      <a:pt x="0" y="13"/>
                    </a:cubicBezTo>
                  </a:path>
                </a:pathLst>
              </a:custGeom>
              <a:noFill/>
              <a:ln cap="rnd" w="7920">
                <a:solidFill>
                  <a:srgbClr val="58585a"/>
                </a:solidFill>
                <a:round/>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482" name="Freeform 263"/>
              <p:cNvSpPr/>
              <p:nvPr/>
            </p:nvSpPr>
            <p:spPr>
              <a:xfrm flipH="1">
                <a:off x="5740560" y="1399320"/>
                <a:ext cx="32400" cy="138240"/>
              </a:xfrm>
              <a:custGeom>
                <a:avLst/>
                <a:gdLst>
                  <a:gd name="GluePoint1X" fmla="*/ 1095884648 w 10"/>
                  <a:gd name="GluePoint1Y" fmla="*/ 0 h 41"/>
                  <a:gd name="GluePoint2X" fmla="*/ 0 w 10"/>
                  <a:gd name="GluePoint2Y" fmla="*/ 2147483647 h 41"/>
                </a:gdLst>
                <a:ahLst/>
                <a:cxnLst>
                  <a:cxn ang="0">
                    <a:pos x="GluePoint1X" y="GluePoint1Y"/>
                  </a:cxn>
                  <a:cxn ang="0">
                    <a:pos x="GluePoint2X" y="GluePoint2Y"/>
                  </a:cxn>
                </a:cxnLst>
                <a:rect l="l" t="t" r="r" b="b"/>
                <a:pathLst>
                  <a:path w="10" h="41">
                    <a:moveTo>
                      <a:pt x="5" y="0"/>
                    </a:moveTo>
                    <a:cubicBezTo>
                      <a:pt x="9" y="4"/>
                      <a:pt x="10" y="23"/>
                      <a:pt x="0" y="41"/>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3" name="Freeform 264"/>
              <p:cNvSpPr/>
              <p:nvPr/>
            </p:nvSpPr>
            <p:spPr>
              <a:xfrm flipH="1">
                <a:off x="5770080" y="1528560"/>
                <a:ext cx="386640" cy="124560"/>
              </a:xfrm>
              <a:custGeom>
                <a:avLst/>
                <a:gdLst>
                  <a:gd name="GluePoint1X" fmla="*/ 2147483647 w 119"/>
                  <a:gd name="GluePoint1Y" fmla="*/ 0 h 37"/>
                  <a:gd name="GluePoint2X" fmla="*/ 0 w 119"/>
                  <a:gd name="GluePoint2Y" fmla="*/ 2147483647 h 37"/>
                </a:gdLst>
                <a:ahLst/>
                <a:cxnLst>
                  <a:cxn ang="0">
                    <a:pos x="GluePoint1X" y="GluePoint1Y"/>
                  </a:cxn>
                  <a:cxn ang="0">
                    <a:pos x="GluePoint2X" y="GluePoint2Y"/>
                  </a:cxn>
                </a:cxnLst>
                <a:rect l="l" t="t" r="r" b="b"/>
                <a:pathLst>
                  <a:path w="119" h="37">
                    <a:moveTo>
                      <a:pt x="119" y="0"/>
                    </a:moveTo>
                    <a:cubicBezTo>
                      <a:pt x="115" y="9"/>
                      <a:pt x="85" y="37"/>
                      <a:pt x="0" y="1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4" name="Freeform 265"/>
              <p:cNvSpPr/>
              <p:nvPr/>
            </p:nvSpPr>
            <p:spPr>
              <a:xfrm flipH="1">
                <a:off x="5780160" y="1091160"/>
                <a:ext cx="749520" cy="344880"/>
              </a:xfrm>
              <a:custGeom>
                <a:avLst/>
                <a:gdLst>
                  <a:gd name="GluePoint1X" fmla="*/ 2147483647 w 231"/>
                  <a:gd name="GluePoint1Y" fmla="*/ 2147483647 h 102"/>
                  <a:gd name="GluePoint2X" fmla="*/ 2147483647 w 231"/>
                  <a:gd name="GluePoint2Y" fmla="*/ 2147483647 h 102"/>
                  <a:gd name="GluePoint3X" fmla="*/ 0 w 231"/>
                  <a:gd name="GluePoint3Y" fmla="*/ 2147483647 h 102"/>
                </a:gdLst>
                <a:ahLst/>
                <a:cxnLst>
                  <a:cxn ang="0">
                    <a:pos x="GluePoint1X" y="GluePoint1Y"/>
                  </a:cxn>
                  <a:cxn ang="0">
                    <a:pos x="GluePoint2X" y="GluePoint2Y"/>
                  </a:cxn>
                  <a:cxn ang="0">
                    <a:pos x="GluePoint3X" y="GluePoint3Y"/>
                  </a:cxn>
                </a:cxnLst>
                <a:rect l="l" t="t" r="r" b="b"/>
                <a:pathLst>
                  <a:path w="231" h="102">
                    <a:moveTo>
                      <a:pt x="231" y="82"/>
                    </a:moveTo>
                    <a:cubicBezTo>
                      <a:pt x="203" y="20"/>
                      <a:pt x="88" y="0"/>
                      <a:pt x="12" y="90"/>
                    </a:cubicBezTo>
                    <a:cubicBezTo>
                      <a:pt x="6" y="96"/>
                      <a:pt x="5" y="98"/>
                      <a:pt x="0" y="102"/>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5" name="Freeform 266"/>
              <p:cNvSpPr/>
              <p:nvPr/>
            </p:nvSpPr>
            <p:spPr>
              <a:xfrm flipH="1">
                <a:off x="6328800" y="1422720"/>
                <a:ext cx="276120" cy="1283760"/>
              </a:xfrm>
              <a:custGeom>
                <a:avLst/>
                <a:gdLst>
                  <a:gd name="GluePoint1X" fmla="*/ 2147483647 w 85"/>
                  <a:gd name="GluePoint1Y" fmla="*/ 2147483647 h 379"/>
                  <a:gd name="GluePoint2X" fmla="*/ 2147483647 w 85"/>
                  <a:gd name="GluePoint2Y" fmla="*/ 2147483647 h 379"/>
                  <a:gd name="GluePoint3X" fmla="*/ 2147483647 w 85"/>
                  <a:gd name="GluePoint3Y" fmla="*/ 2147483647 h 379"/>
                  <a:gd name="GluePoint4X" fmla="*/ 2147483647 w 85"/>
                  <a:gd name="GluePoint4Y" fmla="*/ 2147483647 h 379"/>
                  <a:gd name="GluePoint5X" fmla="*/ 2147483647 w 85"/>
                  <a:gd name="GluePoint5Y" fmla="*/ 2147483647 h 379"/>
                  <a:gd name="GluePoint6X" fmla="*/ 2147483647 w 85"/>
                  <a:gd name="GluePoint6Y" fmla="*/ 2147483647 h 379"/>
                  <a:gd name="GluePoint7X" fmla="*/ 2147483647 w 85"/>
                  <a:gd name="GluePoint7Y" fmla="*/ 2147483647 h 379"/>
                  <a:gd name="GluePoint8X" fmla="*/ 2147483647 w 85"/>
                  <a:gd name="GluePoint8Y" fmla="*/ 2147483647 h 379"/>
                  <a:gd name="GluePoint9X" fmla="*/ 2147483647 w 85"/>
                  <a:gd name="GluePoint9Y" fmla="*/ 2147483647 h 379"/>
                  <a:gd name="GluePoint10X" fmla="*/ 2147483647 w 85"/>
                  <a:gd name="GluePoint10Y" fmla="*/ 2147483647 h 379"/>
                  <a:gd name="GluePoint11X" fmla="*/ 2147483647 w 85"/>
                  <a:gd name="GluePoint11Y" fmla="*/ 2147483647 h 379"/>
                  <a:gd name="GluePoint12X" fmla="*/ 2147483647 w 85"/>
                  <a:gd name="GluePoint12Y" fmla="*/ 2147483647 h 379"/>
                  <a:gd name="GluePoint13X" fmla="*/ 2147483647 w 85"/>
                  <a:gd name="GluePoint13Y" fmla="*/ 2147483647 h 379"/>
                  <a:gd name="GluePoint14X" fmla="*/ 2147483647 w 85"/>
                  <a:gd name="GluePoint14Y" fmla="*/ 2147483647 h 379"/>
                  <a:gd name="GluePoint15X" fmla="*/ 2147483647 w 85"/>
                  <a:gd name="GluePoint15Y" fmla="*/ 2147483647 h 379"/>
                  <a:gd name="GluePoint16X" fmla="*/ 2147483647 w 85"/>
                  <a:gd name="GluePoint16Y" fmla="*/ 2147483647 h 379"/>
                  <a:gd name="GluePoint17X" fmla="*/ 2147483647 w 85"/>
                  <a:gd name="GluePoint17Y" fmla="*/ 2147483647 h 379"/>
                  <a:gd name="GluePoint18X" fmla="*/ 2147483647 w 85"/>
                  <a:gd name="GluePoint18Y" fmla="*/ 2147483647 h 379"/>
                  <a:gd name="GluePoint19X" fmla="*/ 2147483647 w 85"/>
                  <a:gd name="GluePoint19Y" fmla="*/ 2147483647 h 379"/>
                  <a:gd name="GluePoint20X" fmla="*/ 2147483647 w 85"/>
                  <a:gd name="GluePoint20Y" fmla="*/ 2147483647 h 379"/>
                  <a:gd name="GluePoint21X" fmla="*/ 2147483647 w 85"/>
                  <a:gd name="GluePoint21Y" fmla="*/ 2147483647 h 379"/>
                  <a:gd name="GluePoint22X" fmla="*/ 2147483647 w 85"/>
                  <a:gd name="GluePoint22Y" fmla="*/ 2147483647 h 379"/>
                  <a:gd name="GluePoint23X" fmla="*/ 2147483647 w 85"/>
                  <a:gd name="GluePoint23Y" fmla="*/ 2147483647 h 379"/>
                  <a:gd name="GluePoint24X" fmla="*/ 2147483647 w 85"/>
                  <a:gd name="GluePoint24Y" fmla="*/ 2147483647 h 379"/>
                  <a:gd name="GluePoint25X" fmla="*/ 2147483647 w 85"/>
                  <a:gd name="GluePoint25Y" fmla="*/ 2147483647 h 379"/>
                  <a:gd name="GluePoint26X" fmla="*/ 2147483647 w 85"/>
                  <a:gd name="GluePoint26Y" fmla="*/ 2147483647 h 379"/>
                  <a:gd name="GluePoint27X" fmla="*/ 2147483647 w 85"/>
                  <a:gd name="GluePoint27Y" fmla="*/ 2147483647 h 379"/>
                  <a:gd name="GluePoint28X" fmla="*/ 2147483647 w 85"/>
                  <a:gd name="GluePoint28Y" fmla="*/ 2147483647 h 379"/>
                  <a:gd name="GluePoint29X" fmla="*/ 2147483647 w 85"/>
                  <a:gd name="GluePoint29Y" fmla="*/ 2147483647 h 379"/>
                  <a:gd name="GluePoint30X" fmla="*/ 2147483647 w 85"/>
                  <a:gd name="GluePoint30Y" fmla="*/ 2147483647 h 379"/>
                  <a:gd name="GluePoint31X" fmla="*/ 2147483647 w 85"/>
                  <a:gd name="GluePoint31Y" fmla="*/ 2147483647 h 379"/>
                  <a:gd name="GluePoint32X" fmla="*/ 2147483647 w 85"/>
                  <a:gd name="GluePoint32Y" fmla="*/ 2147483647 h 379"/>
                  <a:gd name="GluePoint33X" fmla="*/ 2147483647 w 85"/>
                  <a:gd name="GluePoint33Y" fmla="*/ 2147483647 h 379"/>
                  <a:gd name="GluePoint34X" fmla="*/ 2036989324 w 85"/>
                  <a:gd name="GluePoint34Y" fmla="*/ 2147483647 h 3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l" t="t" r="r" b="b"/>
                <a:pathLst>
                  <a:path w="85" h="379">
                    <a:moveTo>
                      <a:pt x="13" y="220"/>
                    </a:moveTo>
                    <a:cubicBezTo>
                      <a:pt x="15" y="218"/>
                      <a:pt x="15" y="216"/>
                      <a:pt x="16" y="214"/>
                    </a:cubicBezTo>
                    <a:cubicBezTo>
                      <a:pt x="16" y="209"/>
                      <a:pt x="18" y="206"/>
                      <a:pt x="22" y="203"/>
                    </a:cubicBezTo>
                    <a:cubicBezTo>
                      <a:pt x="24" y="200"/>
                      <a:pt x="26" y="201"/>
                      <a:pt x="27" y="198"/>
                    </a:cubicBezTo>
                    <a:cubicBezTo>
                      <a:pt x="29" y="194"/>
                      <a:pt x="27" y="192"/>
                      <a:pt x="30" y="188"/>
                    </a:cubicBezTo>
                    <a:cubicBezTo>
                      <a:pt x="32" y="186"/>
                      <a:pt x="33" y="186"/>
                      <a:pt x="33" y="183"/>
                    </a:cubicBezTo>
                    <a:cubicBezTo>
                      <a:pt x="34" y="181"/>
                      <a:pt x="32" y="177"/>
                      <a:pt x="32" y="175"/>
                    </a:cubicBezTo>
                    <a:cubicBezTo>
                      <a:pt x="32" y="171"/>
                      <a:pt x="36" y="168"/>
                      <a:pt x="37" y="165"/>
                    </a:cubicBezTo>
                    <a:cubicBezTo>
                      <a:pt x="37" y="161"/>
                      <a:pt x="35" y="161"/>
                      <a:pt x="34" y="157"/>
                    </a:cubicBezTo>
                    <a:cubicBezTo>
                      <a:pt x="34" y="154"/>
                      <a:pt x="38" y="150"/>
                      <a:pt x="40" y="147"/>
                    </a:cubicBezTo>
                    <a:cubicBezTo>
                      <a:pt x="40" y="142"/>
                      <a:pt x="40" y="142"/>
                      <a:pt x="40" y="142"/>
                    </a:cubicBezTo>
                    <a:cubicBezTo>
                      <a:pt x="36" y="131"/>
                      <a:pt x="31" y="118"/>
                      <a:pt x="34" y="110"/>
                    </a:cubicBezTo>
                    <a:cubicBezTo>
                      <a:pt x="37" y="101"/>
                      <a:pt x="37" y="99"/>
                      <a:pt x="39" y="88"/>
                    </a:cubicBezTo>
                    <a:cubicBezTo>
                      <a:pt x="41" y="76"/>
                      <a:pt x="52" y="73"/>
                      <a:pt x="57" y="67"/>
                    </a:cubicBezTo>
                    <a:cubicBezTo>
                      <a:pt x="51" y="61"/>
                      <a:pt x="50" y="47"/>
                      <a:pt x="57" y="44"/>
                    </a:cubicBezTo>
                    <a:cubicBezTo>
                      <a:pt x="51" y="39"/>
                      <a:pt x="40" y="44"/>
                      <a:pt x="34" y="53"/>
                    </a:cubicBezTo>
                    <a:cubicBezTo>
                      <a:pt x="27" y="61"/>
                      <a:pt x="18" y="61"/>
                      <a:pt x="9" y="55"/>
                    </a:cubicBezTo>
                    <a:cubicBezTo>
                      <a:pt x="0" y="49"/>
                      <a:pt x="6" y="35"/>
                      <a:pt x="12" y="31"/>
                    </a:cubicBezTo>
                    <a:cubicBezTo>
                      <a:pt x="20" y="18"/>
                      <a:pt x="17" y="23"/>
                      <a:pt x="18" y="13"/>
                    </a:cubicBezTo>
                    <a:cubicBezTo>
                      <a:pt x="19" y="9"/>
                      <a:pt x="21" y="7"/>
                      <a:pt x="23" y="4"/>
                    </a:cubicBezTo>
                    <a:cubicBezTo>
                      <a:pt x="28" y="0"/>
                      <a:pt x="36" y="0"/>
                      <a:pt x="38" y="9"/>
                    </a:cubicBezTo>
                    <a:cubicBezTo>
                      <a:pt x="40" y="16"/>
                      <a:pt x="34" y="21"/>
                      <a:pt x="27" y="29"/>
                    </a:cubicBezTo>
                    <a:cubicBezTo>
                      <a:pt x="29" y="28"/>
                      <a:pt x="34" y="36"/>
                      <a:pt x="44" y="34"/>
                    </a:cubicBezTo>
                    <a:cubicBezTo>
                      <a:pt x="53" y="32"/>
                      <a:pt x="71" y="22"/>
                      <a:pt x="78" y="34"/>
                    </a:cubicBezTo>
                    <a:cubicBezTo>
                      <a:pt x="85" y="47"/>
                      <a:pt x="81" y="52"/>
                      <a:pt x="75" y="69"/>
                    </a:cubicBezTo>
                    <a:cubicBezTo>
                      <a:pt x="70" y="85"/>
                      <a:pt x="63" y="95"/>
                      <a:pt x="60" y="116"/>
                    </a:cubicBezTo>
                    <a:cubicBezTo>
                      <a:pt x="57" y="137"/>
                      <a:pt x="50" y="170"/>
                      <a:pt x="44" y="192"/>
                    </a:cubicBezTo>
                    <a:cubicBezTo>
                      <a:pt x="35" y="223"/>
                      <a:pt x="19" y="234"/>
                      <a:pt x="11" y="237"/>
                    </a:cubicBezTo>
                    <a:cubicBezTo>
                      <a:pt x="3" y="241"/>
                      <a:pt x="15" y="250"/>
                      <a:pt x="25" y="272"/>
                    </a:cubicBezTo>
                    <a:cubicBezTo>
                      <a:pt x="33" y="290"/>
                      <a:pt x="39" y="323"/>
                      <a:pt x="44" y="353"/>
                    </a:cubicBezTo>
                    <a:cubicBezTo>
                      <a:pt x="43" y="355"/>
                      <a:pt x="43" y="357"/>
                      <a:pt x="42" y="361"/>
                    </a:cubicBezTo>
                    <a:cubicBezTo>
                      <a:pt x="42" y="364"/>
                      <a:pt x="41" y="370"/>
                      <a:pt x="41" y="379"/>
                    </a:cubicBezTo>
                    <a:cubicBezTo>
                      <a:pt x="38" y="357"/>
                      <a:pt x="32" y="325"/>
                      <a:pt x="28" y="309"/>
                    </a:cubicBezTo>
                    <a:cubicBezTo>
                      <a:pt x="23" y="291"/>
                      <a:pt x="15" y="273"/>
                      <a:pt x="8" y="26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6" name="Freeform 267"/>
              <p:cNvSpPr/>
              <p:nvPr/>
            </p:nvSpPr>
            <p:spPr>
              <a:xfrm flipH="1">
                <a:off x="5080680" y="111600"/>
                <a:ext cx="1492560" cy="827280"/>
              </a:xfrm>
              <a:custGeom>
                <a:avLst/>
                <a:gdLst>
                  <a:gd name="GluePoint1X" fmla="*/ 2147483647 w 459"/>
                  <a:gd name="GluePoint1Y" fmla="*/ 2147483647 h 244"/>
                  <a:gd name="GluePoint2X" fmla="*/ 2147483647 w 459"/>
                  <a:gd name="GluePoint2Y" fmla="*/ 2147483647 h 244"/>
                  <a:gd name="GluePoint3X" fmla="*/ 2147483647 w 459"/>
                  <a:gd name="GluePoint3Y" fmla="*/ 2147483647 h 244"/>
                  <a:gd name="GluePoint4X" fmla="*/ 2147483647 w 459"/>
                  <a:gd name="GluePoint4Y" fmla="*/ 2147483647 h 244"/>
                  <a:gd name="GluePoint5X" fmla="*/ 2147483647 w 459"/>
                  <a:gd name="GluePoint5Y" fmla="*/ 2147483647 h 244"/>
                  <a:gd name="GluePoint6X" fmla="*/ 2147483647 w 459"/>
                  <a:gd name="GluePoint6Y" fmla="*/ 2147483647 h 244"/>
                  <a:gd name="GluePoint7X" fmla="*/ 2147483647 w 459"/>
                  <a:gd name="GluePoint7Y" fmla="*/ 2147483647 h 244"/>
                  <a:gd name="GluePoint8X" fmla="*/ 2147483647 w 459"/>
                  <a:gd name="GluePoint8Y" fmla="*/ 2147483647 h 244"/>
                  <a:gd name="GluePoint9X" fmla="*/ 2147483647 w 459"/>
                  <a:gd name="GluePoint9Y" fmla="*/ 2147483647 h 244"/>
                  <a:gd name="GluePoint10X" fmla="*/ 2147483647 w 459"/>
                  <a:gd name="GluePoint10Y" fmla="*/ 2147483647 h 244"/>
                  <a:gd name="GluePoint11X" fmla="*/ 2147483647 w 459"/>
                  <a:gd name="GluePoint11Y" fmla="*/ 2147483647 h 244"/>
                  <a:gd name="GluePoint12X" fmla="*/ 2147483647 w 459"/>
                  <a:gd name="GluePoint12Y" fmla="*/ 2147483647 h 244"/>
                  <a:gd name="GluePoint13X" fmla="*/ 2147483647 w 459"/>
                  <a:gd name="GluePoint13Y" fmla="*/ 2147483647 h 244"/>
                  <a:gd name="GluePoint14X" fmla="*/ 1763320168 w 459"/>
                  <a:gd name="GluePoint14Y" fmla="*/ 2147483647 h 244"/>
                  <a:gd name="GluePoint15X" fmla="*/ 0 w 459"/>
                  <a:gd name="GluePoint15Y" fmla="*/ 0 h 24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l" t="t" r="r" b="b"/>
                <a:pathLst>
                  <a:path w="459" h="244">
                    <a:moveTo>
                      <a:pt x="459" y="244"/>
                    </a:moveTo>
                    <a:cubicBezTo>
                      <a:pt x="436" y="216"/>
                      <a:pt x="429" y="188"/>
                      <a:pt x="393" y="172"/>
                    </a:cubicBezTo>
                    <a:cubicBezTo>
                      <a:pt x="377" y="165"/>
                      <a:pt x="364" y="162"/>
                      <a:pt x="348" y="166"/>
                    </a:cubicBezTo>
                    <a:cubicBezTo>
                      <a:pt x="342" y="167"/>
                      <a:pt x="336" y="170"/>
                      <a:pt x="330" y="170"/>
                    </a:cubicBezTo>
                    <a:cubicBezTo>
                      <a:pt x="322" y="170"/>
                      <a:pt x="316" y="163"/>
                      <a:pt x="309" y="161"/>
                    </a:cubicBezTo>
                    <a:cubicBezTo>
                      <a:pt x="300" y="157"/>
                      <a:pt x="291" y="158"/>
                      <a:pt x="281" y="158"/>
                    </a:cubicBezTo>
                    <a:cubicBezTo>
                      <a:pt x="245" y="156"/>
                      <a:pt x="194" y="146"/>
                      <a:pt x="161" y="162"/>
                    </a:cubicBezTo>
                    <a:cubicBezTo>
                      <a:pt x="153" y="166"/>
                      <a:pt x="152" y="169"/>
                      <a:pt x="145" y="169"/>
                    </a:cubicBezTo>
                    <a:cubicBezTo>
                      <a:pt x="141" y="169"/>
                      <a:pt x="134" y="166"/>
                      <a:pt x="131" y="166"/>
                    </a:cubicBezTo>
                    <a:cubicBezTo>
                      <a:pt x="122" y="165"/>
                      <a:pt x="114" y="166"/>
                      <a:pt x="106" y="168"/>
                    </a:cubicBezTo>
                    <a:cubicBezTo>
                      <a:pt x="92" y="172"/>
                      <a:pt x="66" y="172"/>
                      <a:pt x="60" y="163"/>
                    </a:cubicBezTo>
                    <a:cubicBezTo>
                      <a:pt x="53" y="156"/>
                      <a:pt x="46" y="159"/>
                      <a:pt x="38" y="156"/>
                    </a:cubicBezTo>
                    <a:cubicBezTo>
                      <a:pt x="28" y="153"/>
                      <a:pt x="25" y="147"/>
                      <a:pt x="20" y="138"/>
                    </a:cubicBezTo>
                    <a:cubicBezTo>
                      <a:pt x="12" y="122"/>
                      <a:pt x="10" y="104"/>
                      <a:pt x="7" y="86"/>
                    </a:cubicBezTo>
                    <a:cubicBezTo>
                      <a:pt x="5" y="71"/>
                      <a:pt x="4" y="14"/>
                      <a:pt x="0"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7" name="Freeform 268"/>
              <p:cNvSpPr/>
              <p:nvPr/>
            </p:nvSpPr>
            <p:spPr>
              <a:xfrm flipH="1">
                <a:off x="5837400" y="51120"/>
                <a:ext cx="137160" cy="579240"/>
              </a:xfrm>
              <a:custGeom>
                <a:avLst/>
                <a:gdLst>
                  <a:gd name="GluePoint1X" fmla="*/ 2147483647 w 42"/>
                  <a:gd name="GluePoint1Y" fmla="*/ 0 h 171"/>
                  <a:gd name="GluePoint2X" fmla="*/ 2147483647 w 42"/>
                  <a:gd name="GluePoint2Y" fmla="*/ 2147483647 h 171"/>
                  <a:gd name="GluePoint3X" fmla="*/ 2147483647 w 42"/>
                  <a:gd name="GluePoint3Y" fmla="*/ 2147483647 h 171"/>
                  <a:gd name="GluePoint4X" fmla="*/ 2147483647 w 42"/>
                  <a:gd name="GluePoint4Y" fmla="*/ 2147483647 h 171"/>
                </a:gdLst>
                <a:ahLst/>
                <a:cxnLst>
                  <a:cxn ang="0">
                    <a:pos x="GluePoint1X" y="GluePoint1Y"/>
                  </a:cxn>
                  <a:cxn ang="0">
                    <a:pos x="GluePoint2X" y="GluePoint2Y"/>
                  </a:cxn>
                  <a:cxn ang="0">
                    <a:pos x="GluePoint3X" y="GluePoint3Y"/>
                  </a:cxn>
                  <a:cxn ang="0">
                    <a:pos x="GluePoint4X" y="GluePoint4Y"/>
                  </a:cxn>
                </a:cxnLst>
                <a:rect l="l" t="t" r="r" b="b"/>
                <a:pathLst>
                  <a:path w="42" h="171">
                    <a:moveTo>
                      <a:pt x="22" y="0"/>
                    </a:moveTo>
                    <a:cubicBezTo>
                      <a:pt x="24" y="35"/>
                      <a:pt x="0" y="100"/>
                      <a:pt x="19" y="133"/>
                    </a:cubicBezTo>
                    <a:cubicBezTo>
                      <a:pt x="24" y="142"/>
                      <a:pt x="25" y="143"/>
                      <a:pt x="26" y="153"/>
                    </a:cubicBezTo>
                    <a:cubicBezTo>
                      <a:pt x="27" y="164"/>
                      <a:pt x="30" y="170"/>
                      <a:pt x="42" y="171"/>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88" name="Freeform 269"/>
              <p:cNvSpPr/>
              <p:nvPr/>
            </p:nvSpPr>
            <p:spPr>
              <a:xfrm flipH="1">
                <a:off x="5890680" y="576000"/>
                <a:ext cx="44640" cy="57240"/>
              </a:xfrm>
              <a:custGeom>
                <a:avLst/>
                <a:gdLst>
                  <a:gd name="GluePoint1X" fmla="*/ 2147483647 w 14"/>
                  <a:gd name="GluePoint1Y" fmla="*/ 0 h 17"/>
                  <a:gd name="GluePoint2X" fmla="*/ 0 w 14"/>
                  <a:gd name="GluePoint2Y" fmla="*/ 2147483647 h 17"/>
                </a:gdLst>
                <a:ahLst/>
                <a:cxnLst>
                  <a:cxn ang="0">
                    <a:pos x="GluePoint1X" y="GluePoint1Y"/>
                  </a:cxn>
                  <a:cxn ang="0">
                    <a:pos x="GluePoint2X" y="GluePoint2Y"/>
                  </a:cxn>
                </a:cxnLst>
                <a:rect l="l" t="t" r="r" b="b"/>
                <a:pathLst>
                  <a:path w="14" h="17">
                    <a:moveTo>
                      <a:pt x="14" y="0"/>
                    </a:moveTo>
                    <a:cubicBezTo>
                      <a:pt x="12" y="9"/>
                      <a:pt x="9" y="16"/>
                      <a:pt x="0" y="17"/>
                    </a:cubicBezTo>
                  </a:path>
                </a:pathLst>
              </a:custGeom>
              <a:noFill/>
              <a:ln cap="rnd" w="7920">
                <a:solidFill>
                  <a:srgbClr val="58585a"/>
                </a:solidFill>
                <a:round/>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489" name="Freeform 270"/>
              <p:cNvSpPr/>
              <p:nvPr/>
            </p:nvSpPr>
            <p:spPr>
              <a:xfrm flipH="1">
                <a:off x="4930560" y="938880"/>
                <a:ext cx="467640" cy="704160"/>
              </a:xfrm>
              <a:custGeom>
                <a:avLst/>
                <a:gdLst>
                  <a:gd name="GluePoint1X" fmla="*/ 2147483647 w 144"/>
                  <a:gd name="GluePoint1Y" fmla="*/ 0 h 208"/>
                  <a:gd name="GluePoint2X" fmla="*/ 2147483647 w 144"/>
                  <a:gd name="GluePoint2Y" fmla="*/ 2147483647 h 208"/>
                  <a:gd name="GluePoint3X" fmla="*/ 2147483647 w 144"/>
                  <a:gd name="GluePoint3Y" fmla="*/ 2147483647 h 208"/>
                  <a:gd name="GluePoint4X" fmla="*/ 2147483647 w 144"/>
                  <a:gd name="GluePoint4Y" fmla="*/ 2147483647 h 208"/>
                  <a:gd name="GluePoint5X" fmla="*/ 2147483647 w 144"/>
                  <a:gd name="GluePoint5Y" fmla="*/ 2147483647 h 208"/>
                  <a:gd name="GluePoint6X" fmla="*/ 2147483647 w 144"/>
                  <a:gd name="GluePoint6Y" fmla="*/ 2147483647 h 208"/>
                  <a:gd name="GluePoint7X" fmla="*/ 2147483647 w 144"/>
                  <a:gd name="GluePoint7Y" fmla="*/ 2147483647 h 208"/>
                  <a:gd name="GluePoint8X" fmla="*/ 2147483647 w 144"/>
                  <a:gd name="GluePoint8Y" fmla="*/ 2147483647 h 208"/>
                  <a:gd name="GluePoint9X" fmla="*/ 0 w 144"/>
                  <a:gd name="GluePoint9Y" fmla="*/ 2147483647 h 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144" h="208">
                    <a:moveTo>
                      <a:pt x="99" y="0"/>
                    </a:moveTo>
                    <a:cubicBezTo>
                      <a:pt x="108" y="4"/>
                      <a:pt x="114" y="3"/>
                      <a:pt x="121" y="11"/>
                    </a:cubicBezTo>
                    <a:cubicBezTo>
                      <a:pt x="129" y="20"/>
                      <a:pt x="133" y="29"/>
                      <a:pt x="135" y="42"/>
                    </a:cubicBezTo>
                    <a:cubicBezTo>
                      <a:pt x="137" y="60"/>
                      <a:pt x="136" y="78"/>
                      <a:pt x="139" y="97"/>
                    </a:cubicBezTo>
                    <a:cubicBezTo>
                      <a:pt x="142" y="114"/>
                      <a:pt x="144" y="132"/>
                      <a:pt x="137" y="149"/>
                    </a:cubicBezTo>
                    <a:cubicBezTo>
                      <a:pt x="132" y="162"/>
                      <a:pt x="121" y="165"/>
                      <a:pt x="113" y="175"/>
                    </a:cubicBezTo>
                    <a:cubicBezTo>
                      <a:pt x="108" y="181"/>
                      <a:pt x="77" y="198"/>
                      <a:pt x="68" y="201"/>
                    </a:cubicBezTo>
                    <a:cubicBezTo>
                      <a:pt x="52" y="208"/>
                      <a:pt x="43" y="207"/>
                      <a:pt x="26" y="207"/>
                    </a:cubicBezTo>
                    <a:cubicBezTo>
                      <a:pt x="18" y="207"/>
                      <a:pt x="5" y="208"/>
                      <a:pt x="0" y="20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0" name="Freeform 271"/>
              <p:cNvSpPr/>
              <p:nvPr/>
            </p:nvSpPr>
            <p:spPr>
              <a:xfrm flipH="1">
                <a:off x="4775040" y="514080"/>
                <a:ext cx="241200" cy="282240"/>
              </a:xfrm>
              <a:custGeom>
                <a:avLst/>
                <a:gdLst>
                  <a:gd name="GluePoint1X" fmla="*/ 2147483647 w 74"/>
                  <a:gd name="GluePoint1Y" fmla="*/ 0 h 83"/>
                  <a:gd name="GluePoint2X" fmla="*/ 2147483647 w 74"/>
                  <a:gd name="GluePoint2Y" fmla="*/ 2147483647 h 83"/>
                  <a:gd name="GluePoint3X" fmla="*/ 2147483647 w 74"/>
                  <a:gd name="GluePoint3Y" fmla="*/ 2147483647 h 83"/>
                  <a:gd name="GluePoint4X" fmla="*/ 0 w 74"/>
                  <a:gd name="GluePoint4Y" fmla="*/ 2147483647 h 83"/>
                </a:gdLst>
                <a:ahLst/>
                <a:cxnLst>
                  <a:cxn ang="0">
                    <a:pos x="GluePoint1X" y="GluePoint1Y"/>
                  </a:cxn>
                  <a:cxn ang="0">
                    <a:pos x="GluePoint2X" y="GluePoint2Y"/>
                  </a:cxn>
                  <a:cxn ang="0">
                    <a:pos x="GluePoint3X" y="GluePoint3Y"/>
                  </a:cxn>
                  <a:cxn ang="0">
                    <a:pos x="GluePoint4X" y="GluePoint4Y"/>
                  </a:cxn>
                </a:cxnLst>
                <a:rect l="l" t="t" r="r" b="b"/>
                <a:pathLst>
                  <a:path w="74" h="83">
                    <a:moveTo>
                      <a:pt x="74" y="0"/>
                    </a:moveTo>
                    <a:cubicBezTo>
                      <a:pt x="66" y="10"/>
                      <a:pt x="58" y="28"/>
                      <a:pt x="47" y="37"/>
                    </a:cubicBezTo>
                    <a:cubicBezTo>
                      <a:pt x="37" y="44"/>
                      <a:pt x="28" y="53"/>
                      <a:pt x="16" y="55"/>
                    </a:cubicBezTo>
                    <a:cubicBezTo>
                      <a:pt x="21" y="64"/>
                      <a:pt x="5" y="83"/>
                      <a:pt x="0" y="83"/>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1" name="Freeform 272"/>
              <p:cNvSpPr/>
              <p:nvPr/>
            </p:nvSpPr>
            <p:spPr>
              <a:xfrm flipH="1">
                <a:off x="4787280" y="843120"/>
                <a:ext cx="273240" cy="356040"/>
              </a:xfrm>
              <a:custGeom>
                <a:avLst/>
                <a:gdLst>
                  <a:gd name="GluePoint1X" fmla="*/ 2147483647 w 84"/>
                  <a:gd name="GluePoint1Y" fmla="*/ 0 h 105"/>
                  <a:gd name="GluePoint2X" fmla="*/ 2147483647 w 84"/>
                  <a:gd name="GluePoint2Y" fmla="*/ 2147483647 h 105"/>
                  <a:gd name="GluePoint3X" fmla="*/ 2147483647 w 84"/>
                  <a:gd name="GluePoint3Y" fmla="*/ 2147483647 h 105"/>
                  <a:gd name="GluePoint4X" fmla="*/ 2147483647 w 84"/>
                  <a:gd name="GluePoint4Y" fmla="*/ 2147483647 h 105"/>
                </a:gdLst>
                <a:ahLst/>
                <a:cxnLst>
                  <a:cxn ang="0">
                    <a:pos x="GluePoint1X" y="GluePoint1Y"/>
                  </a:cxn>
                  <a:cxn ang="0">
                    <a:pos x="GluePoint2X" y="GluePoint2Y"/>
                  </a:cxn>
                  <a:cxn ang="0">
                    <a:pos x="GluePoint3X" y="GluePoint3Y"/>
                  </a:cxn>
                  <a:cxn ang="0">
                    <a:pos x="GluePoint4X" y="GluePoint4Y"/>
                  </a:cxn>
                </a:cxnLst>
                <a:rect l="l" t="t" r="r" b="b"/>
                <a:pathLst>
                  <a:path w="84" h="105">
                    <a:moveTo>
                      <a:pt x="11" y="0"/>
                    </a:moveTo>
                    <a:cubicBezTo>
                      <a:pt x="0" y="12"/>
                      <a:pt x="15" y="34"/>
                      <a:pt x="24" y="45"/>
                    </a:cubicBezTo>
                    <a:cubicBezTo>
                      <a:pt x="32" y="56"/>
                      <a:pt x="32" y="66"/>
                      <a:pt x="36" y="79"/>
                    </a:cubicBezTo>
                    <a:cubicBezTo>
                      <a:pt x="41" y="93"/>
                      <a:pt x="71" y="105"/>
                      <a:pt x="84" y="96"/>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2" name="Freeform 273"/>
              <p:cNvSpPr/>
              <p:nvPr/>
            </p:nvSpPr>
            <p:spPr>
              <a:xfrm flipH="1">
                <a:off x="4521600" y="874800"/>
                <a:ext cx="231120" cy="108360"/>
              </a:xfrm>
              <a:custGeom>
                <a:avLst/>
                <a:gdLst>
                  <a:gd name="GluePoint1X" fmla="*/ 2147483647 w 71"/>
                  <a:gd name="GluePoint1Y" fmla="*/ 0 h 32"/>
                  <a:gd name="GluePoint2X" fmla="*/ 2147483647 w 71"/>
                  <a:gd name="GluePoint2Y" fmla="*/ 2147483647 h 32"/>
                  <a:gd name="GluePoint3X" fmla="*/ 0 w 71"/>
                  <a:gd name="GluePoint3Y" fmla="*/ 2147483647 h 32"/>
                </a:gdLst>
                <a:ahLst/>
                <a:cxnLst>
                  <a:cxn ang="0">
                    <a:pos x="GluePoint1X" y="GluePoint1Y"/>
                  </a:cxn>
                  <a:cxn ang="0">
                    <a:pos x="GluePoint2X" y="GluePoint2Y"/>
                  </a:cxn>
                  <a:cxn ang="0">
                    <a:pos x="GluePoint3X" y="GluePoint3Y"/>
                  </a:cxn>
                </a:cxnLst>
                <a:rect l="l" t="t" r="r" b="b"/>
                <a:pathLst>
                  <a:path w="71" h="32">
                    <a:moveTo>
                      <a:pt x="71" y="0"/>
                    </a:moveTo>
                    <a:cubicBezTo>
                      <a:pt x="61" y="3"/>
                      <a:pt x="54" y="13"/>
                      <a:pt x="44" y="18"/>
                    </a:cubicBezTo>
                    <a:cubicBezTo>
                      <a:pt x="31" y="24"/>
                      <a:pt x="9" y="18"/>
                      <a:pt x="0" y="32"/>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3" name="Freeform 274"/>
              <p:cNvSpPr/>
              <p:nvPr/>
            </p:nvSpPr>
            <p:spPr>
              <a:xfrm flipH="1">
                <a:off x="4459320" y="1280160"/>
                <a:ext cx="218520" cy="71280"/>
              </a:xfrm>
              <a:custGeom>
                <a:avLst/>
                <a:gdLst>
                  <a:gd name="GluePoint1X" fmla="*/ 2147483647 w 67"/>
                  <a:gd name="GluePoint1Y" fmla="*/ 0 h 21"/>
                  <a:gd name="GluePoint2X" fmla="*/ 2147483647 w 67"/>
                  <a:gd name="GluePoint2Y" fmla="*/ 2147483647 h 21"/>
                  <a:gd name="GluePoint3X" fmla="*/ 0 w 67"/>
                  <a:gd name="GluePoint3Y" fmla="*/ 2147483647 h 21"/>
                </a:gdLst>
                <a:ahLst/>
                <a:cxnLst>
                  <a:cxn ang="0">
                    <a:pos x="GluePoint1X" y="GluePoint1Y"/>
                  </a:cxn>
                  <a:cxn ang="0">
                    <a:pos x="GluePoint2X" y="GluePoint2Y"/>
                  </a:cxn>
                  <a:cxn ang="0">
                    <a:pos x="GluePoint3X" y="GluePoint3Y"/>
                  </a:cxn>
                </a:cxnLst>
                <a:rect l="l" t="t" r="r" b="b"/>
                <a:pathLst>
                  <a:path w="67" h="21">
                    <a:moveTo>
                      <a:pt x="67" y="0"/>
                    </a:moveTo>
                    <a:cubicBezTo>
                      <a:pt x="61" y="6"/>
                      <a:pt x="47" y="6"/>
                      <a:pt x="40" y="7"/>
                    </a:cubicBezTo>
                    <a:cubicBezTo>
                      <a:pt x="27" y="9"/>
                      <a:pt x="11" y="12"/>
                      <a:pt x="0" y="21"/>
                    </a:cubicBezTo>
                  </a:path>
                </a:pathLst>
              </a:custGeom>
              <a:noFill/>
              <a:ln cap="rnd" w="7920">
                <a:solidFill>
                  <a:srgbClr val="58585a"/>
                </a:solidFill>
                <a:round/>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494" name="Freeform 275"/>
              <p:cNvSpPr/>
              <p:nvPr/>
            </p:nvSpPr>
            <p:spPr>
              <a:xfrm flipH="1">
                <a:off x="4745520" y="941760"/>
                <a:ext cx="56160" cy="84960"/>
              </a:xfrm>
              <a:custGeom>
                <a:avLst/>
                <a:gdLst>
                  <a:gd name="GluePoint1X" fmla="*/ 2147483647 w 17"/>
                  <a:gd name="GluePoint1Y" fmla="*/ 2147483647 h 25"/>
                  <a:gd name="GluePoint2X" fmla="*/ 2147483647 w 17"/>
                  <a:gd name="GluePoint2Y" fmla="*/ 2147483647 h 25"/>
                  <a:gd name="GluePoint3X" fmla="*/ 0 w 17"/>
                  <a:gd name="GluePoint3Y" fmla="*/ 0 h 25"/>
                </a:gdLst>
                <a:ahLst/>
                <a:cxnLst>
                  <a:cxn ang="0">
                    <a:pos x="GluePoint1X" y="GluePoint1Y"/>
                  </a:cxn>
                  <a:cxn ang="0">
                    <a:pos x="GluePoint2X" y="GluePoint2Y"/>
                  </a:cxn>
                  <a:cxn ang="0">
                    <a:pos x="GluePoint3X" y="GluePoint3Y"/>
                  </a:cxn>
                </a:cxnLst>
                <a:rect l="l" t="t" r="r" b="b"/>
                <a:pathLst>
                  <a:path w="17" h="25">
                    <a:moveTo>
                      <a:pt x="15" y="25"/>
                    </a:moveTo>
                    <a:cubicBezTo>
                      <a:pt x="15" y="20"/>
                      <a:pt x="13" y="14"/>
                      <a:pt x="17" y="10"/>
                    </a:cubicBezTo>
                    <a:cubicBezTo>
                      <a:pt x="11" y="11"/>
                      <a:pt x="3" y="6"/>
                      <a:pt x="0" y="0"/>
                    </a:cubicBezTo>
                  </a:path>
                </a:pathLst>
              </a:custGeom>
              <a:noFill/>
              <a:ln cap="rnd" w="7920">
                <a:solidFill>
                  <a:srgbClr val="58585a"/>
                </a:solidFill>
                <a:round/>
              </a:ln>
            </p:spPr>
            <p:style>
              <a:lnRef idx="0"/>
              <a:fillRef idx="0"/>
              <a:effectRef idx="0"/>
              <a:fontRef idx="minor"/>
            </p:style>
            <p:txBody>
              <a:bodyPr lIns="90000" rIns="90000" tIns="38160" bIns="38160" anchor="t">
                <a:noAutofit/>
              </a:bodyPr>
              <a:p>
                <a:endParaRPr b="0" lang="en-US" sz="2400" strike="noStrike" u="none">
                  <a:solidFill>
                    <a:srgbClr val="ffff00"/>
                  </a:solidFill>
                  <a:effectLst/>
                  <a:uFillTx/>
                  <a:latin typeface="Times New Roman"/>
                </a:endParaRPr>
              </a:p>
            </p:txBody>
          </p:sp>
          <p:sp>
            <p:nvSpPr>
              <p:cNvPr id="495" name="Freeform 276"/>
              <p:cNvSpPr/>
              <p:nvPr/>
            </p:nvSpPr>
            <p:spPr>
              <a:xfrm flipH="1">
                <a:off x="5122800" y="291240"/>
                <a:ext cx="90720" cy="243720"/>
              </a:xfrm>
              <a:custGeom>
                <a:avLst/>
                <a:gdLst>
                  <a:gd name="GluePoint1X" fmla="*/ 2147483647 w 28"/>
                  <a:gd name="GluePoint1Y" fmla="*/ 0 h 72"/>
                  <a:gd name="GluePoint2X" fmla="*/ 2147483647 w 28"/>
                  <a:gd name="GluePoint2Y" fmla="*/ 2147483647 h 72"/>
                  <a:gd name="GluePoint3X" fmla="*/ 2147483647 w 28"/>
                  <a:gd name="GluePoint3Y" fmla="*/ 2147483647 h 72"/>
                  <a:gd name="GluePoint4X" fmla="*/ 0 w 28"/>
                  <a:gd name="GluePoint4Y" fmla="*/ 2147483647 h 72"/>
                </a:gdLst>
                <a:ahLst/>
                <a:cxnLst>
                  <a:cxn ang="0">
                    <a:pos x="GluePoint1X" y="GluePoint1Y"/>
                  </a:cxn>
                  <a:cxn ang="0">
                    <a:pos x="GluePoint2X" y="GluePoint2Y"/>
                  </a:cxn>
                  <a:cxn ang="0">
                    <a:pos x="GluePoint3X" y="GluePoint3Y"/>
                  </a:cxn>
                  <a:cxn ang="0">
                    <a:pos x="GluePoint4X" y="GluePoint4Y"/>
                  </a:cxn>
                </a:cxnLst>
                <a:rect l="l" t="t" r="r" b="b"/>
                <a:pathLst>
                  <a:path w="28" h="72">
                    <a:moveTo>
                      <a:pt x="28" y="0"/>
                    </a:moveTo>
                    <a:cubicBezTo>
                      <a:pt x="24" y="5"/>
                      <a:pt x="22" y="6"/>
                      <a:pt x="19" y="11"/>
                    </a:cubicBezTo>
                    <a:cubicBezTo>
                      <a:pt x="14" y="17"/>
                      <a:pt x="14" y="23"/>
                      <a:pt x="14" y="30"/>
                    </a:cubicBezTo>
                    <a:cubicBezTo>
                      <a:pt x="12" y="46"/>
                      <a:pt x="6" y="57"/>
                      <a:pt x="0" y="72"/>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6" name="Freeform 277"/>
              <p:cNvSpPr/>
              <p:nvPr/>
            </p:nvSpPr>
            <p:spPr>
              <a:xfrm flipH="1">
                <a:off x="5139360" y="491040"/>
                <a:ext cx="363960" cy="271440"/>
              </a:xfrm>
              <a:custGeom>
                <a:avLst/>
                <a:gdLst>
                  <a:gd name="GluePoint1X" fmla="*/ 2147483647 w 112"/>
                  <a:gd name="GluePoint1Y" fmla="*/ 2147483647 h 80"/>
                  <a:gd name="GluePoint2X" fmla="*/ 2147483647 w 112"/>
                  <a:gd name="GluePoint2Y" fmla="*/ 2147483647 h 80"/>
                  <a:gd name="GluePoint3X" fmla="*/ 2147483647 w 112"/>
                  <a:gd name="GluePoint3Y" fmla="*/ 2147483647 h 80"/>
                  <a:gd name="GluePoint4X" fmla="*/ 579754289 w 112"/>
                  <a:gd name="GluePoint4Y" fmla="*/ 2147483647 h 80"/>
                  <a:gd name="GluePoint5X" fmla="*/ 0 w 112"/>
                  <a:gd name="GluePoint5Y" fmla="*/ 0 h 8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12" h="80">
                    <a:moveTo>
                      <a:pt x="112" y="51"/>
                    </a:moveTo>
                    <a:cubicBezTo>
                      <a:pt x="93" y="80"/>
                      <a:pt x="67" y="58"/>
                      <a:pt x="43" y="51"/>
                    </a:cubicBezTo>
                    <a:cubicBezTo>
                      <a:pt x="29" y="47"/>
                      <a:pt x="23" y="52"/>
                      <a:pt x="12" y="41"/>
                    </a:cubicBezTo>
                    <a:cubicBezTo>
                      <a:pt x="5" y="34"/>
                      <a:pt x="3" y="29"/>
                      <a:pt x="2" y="19"/>
                    </a:cubicBezTo>
                    <a:cubicBezTo>
                      <a:pt x="1" y="13"/>
                      <a:pt x="4" y="6"/>
                      <a:pt x="0"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7" name="Freeform 278"/>
              <p:cNvSpPr/>
              <p:nvPr/>
            </p:nvSpPr>
            <p:spPr>
              <a:xfrm flipH="1">
                <a:off x="5581080" y="91080"/>
                <a:ext cx="75600" cy="406800"/>
              </a:xfrm>
              <a:custGeom>
                <a:avLst/>
                <a:gdLst>
                  <a:gd name="GluePoint1X" fmla="*/ 2147483647 w 23"/>
                  <a:gd name="GluePoint1Y" fmla="*/ 0 h 120"/>
                  <a:gd name="GluePoint2X" fmla="*/ 2147483647 w 23"/>
                  <a:gd name="GluePoint2Y" fmla="*/ 2147483647 h 120"/>
                  <a:gd name="GluePoint3X" fmla="*/ 0 w 23"/>
                  <a:gd name="GluePoint3Y" fmla="*/ 2147483647 h 120"/>
                </a:gdLst>
                <a:ahLst/>
                <a:cxnLst>
                  <a:cxn ang="0">
                    <a:pos x="GluePoint1X" y="GluePoint1Y"/>
                  </a:cxn>
                  <a:cxn ang="0">
                    <a:pos x="GluePoint2X" y="GluePoint2Y"/>
                  </a:cxn>
                  <a:cxn ang="0">
                    <a:pos x="GluePoint3X" y="GluePoint3Y"/>
                  </a:cxn>
                </a:cxnLst>
                <a:rect l="l" t="t" r="r" b="b"/>
                <a:pathLst>
                  <a:path w="23" h="120">
                    <a:moveTo>
                      <a:pt x="23" y="0"/>
                    </a:moveTo>
                    <a:cubicBezTo>
                      <a:pt x="17" y="14"/>
                      <a:pt x="14" y="42"/>
                      <a:pt x="13" y="56"/>
                    </a:cubicBezTo>
                    <a:cubicBezTo>
                      <a:pt x="13" y="65"/>
                      <a:pt x="8" y="114"/>
                      <a:pt x="0" y="12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8" name="Freeform 279"/>
              <p:cNvSpPr/>
              <p:nvPr/>
            </p:nvSpPr>
            <p:spPr>
              <a:xfrm flipH="1">
                <a:off x="6218640" y="40320"/>
                <a:ext cx="77040" cy="321840"/>
              </a:xfrm>
              <a:custGeom>
                <a:avLst/>
                <a:gdLst>
                  <a:gd name="GluePoint1X" fmla="*/ 398212040 w 24"/>
                  <a:gd name="GluePoint1Y" fmla="*/ 0 h 95"/>
                  <a:gd name="GluePoint2X" fmla="*/ 0 w 24"/>
                  <a:gd name="GluePoint2Y" fmla="*/ 2147483647 h 95"/>
                </a:gdLst>
                <a:ahLst/>
                <a:cxnLst>
                  <a:cxn ang="0">
                    <a:pos x="GluePoint1X" y="GluePoint1Y"/>
                  </a:cxn>
                  <a:cxn ang="0">
                    <a:pos x="GluePoint2X" y="GluePoint2Y"/>
                  </a:cxn>
                </a:cxnLst>
                <a:rect l="l" t="t" r="r" b="b"/>
                <a:pathLst>
                  <a:path w="24" h="95">
                    <a:moveTo>
                      <a:pt x="2" y="0"/>
                    </a:moveTo>
                    <a:cubicBezTo>
                      <a:pt x="5" y="20"/>
                      <a:pt x="24" y="84"/>
                      <a:pt x="0" y="95"/>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499" name="Freeform 280"/>
              <p:cNvSpPr/>
              <p:nvPr/>
            </p:nvSpPr>
            <p:spPr>
              <a:xfrm flipH="1">
                <a:off x="4719960" y="1530720"/>
                <a:ext cx="539640" cy="241200"/>
              </a:xfrm>
              <a:custGeom>
                <a:avLst/>
                <a:gdLst>
                  <a:gd name="GluePoint1X" fmla="*/ 2147483647 w 166"/>
                  <a:gd name="GluePoint1Y" fmla="*/ 0 h 71"/>
                  <a:gd name="GluePoint2X" fmla="*/ 2147483647 w 166"/>
                  <a:gd name="GluePoint2Y" fmla="*/ 2147483647 h 71"/>
                  <a:gd name="GluePoint3X" fmla="*/ 2147483647 w 166"/>
                  <a:gd name="GluePoint3Y" fmla="*/ 2147483647 h 71"/>
                  <a:gd name="GluePoint4X" fmla="*/ 2147483647 w 166"/>
                  <a:gd name="GluePoint4Y" fmla="*/ 2147483647 h 71"/>
                  <a:gd name="GluePoint5X" fmla="*/ 0 w 166"/>
                  <a:gd name="GluePoint5Y" fmla="*/ 2147483647 h 71"/>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66" h="71">
                    <a:moveTo>
                      <a:pt x="166" y="0"/>
                    </a:moveTo>
                    <a:cubicBezTo>
                      <a:pt x="164" y="11"/>
                      <a:pt x="149" y="26"/>
                      <a:pt x="142" y="33"/>
                    </a:cubicBezTo>
                    <a:cubicBezTo>
                      <a:pt x="126" y="48"/>
                      <a:pt x="105" y="53"/>
                      <a:pt x="85" y="58"/>
                    </a:cubicBezTo>
                    <a:cubicBezTo>
                      <a:pt x="67" y="63"/>
                      <a:pt x="48" y="69"/>
                      <a:pt x="30" y="70"/>
                    </a:cubicBezTo>
                    <a:cubicBezTo>
                      <a:pt x="13" y="71"/>
                      <a:pt x="1" y="65"/>
                      <a:pt x="0" y="5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0" name="Freeform 281"/>
              <p:cNvSpPr/>
              <p:nvPr/>
            </p:nvSpPr>
            <p:spPr>
              <a:xfrm flipH="1">
                <a:off x="4678560" y="1494000"/>
                <a:ext cx="74160" cy="36720"/>
              </a:xfrm>
              <a:custGeom>
                <a:avLst/>
                <a:gdLst>
                  <a:gd name="GluePoint1X" fmla="*/ 2147483647 w 23"/>
                  <a:gd name="GluePoint1Y" fmla="*/ 2147483647 h 11"/>
                  <a:gd name="GluePoint2X" fmla="*/ 2147483647 w 23"/>
                  <a:gd name="GluePoint2Y" fmla="*/ 2147483647 h 11"/>
                  <a:gd name="GluePoint3X" fmla="*/ 0 w 23"/>
                  <a:gd name="GluePoint3Y" fmla="*/ 0 h 11"/>
                </a:gdLst>
                <a:ahLst/>
                <a:cxnLst>
                  <a:cxn ang="0">
                    <a:pos x="GluePoint1X" y="GluePoint1Y"/>
                  </a:cxn>
                  <a:cxn ang="0">
                    <a:pos x="GluePoint2X" y="GluePoint2Y"/>
                  </a:cxn>
                  <a:cxn ang="0">
                    <a:pos x="GluePoint3X" y="GluePoint3Y"/>
                  </a:cxn>
                </a:cxnLst>
                <a:rect l="l" t="t" r="r" b="b"/>
                <a:pathLst>
                  <a:path w="23" h="11">
                    <a:moveTo>
                      <a:pt x="23" y="5"/>
                    </a:moveTo>
                    <a:cubicBezTo>
                      <a:pt x="18" y="5"/>
                      <a:pt x="14" y="8"/>
                      <a:pt x="10" y="11"/>
                    </a:cubicBezTo>
                    <a:cubicBezTo>
                      <a:pt x="9" y="6"/>
                      <a:pt x="5" y="0"/>
                      <a:pt x="0" y="0"/>
                    </a:cubicBezTo>
                  </a:path>
                </a:pathLst>
              </a:custGeom>
              <a:noFill/>
              <a:ln cap="rnd" w="7920">
                <a:solidFill>
                  <a:srgbClr val="58585a"/>
                </a:solidFill>
                <a:round/>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501" name="Freeform 282"/>
              <p:cNvSpPr/>
              <p:nvPr/>
            </p:nvSpPr>
            <p:spPr>
              <a:xfrm flipH="1">
                <a:off x="6965640" y="792720"/>
                <a:ext cx="591120" cy="392760"/>
              </a:xfrm>
              <a:custGeom>
                <a:avLst/>
                <a:gdLst>
                  <a:gd name="GluePoint1X" fmla="*/ 2147483647 w 182"/>
                  <a:gd name="GluePoint1Y" fmla="*/ 2147483647 h 116"/>
                  <a:gd name="GluePoint2X" fmla="*/ 2147483647 w 182"/>
                  <a:gd name="GluePoint2Y" fmla="*/ 2147483647 h 116"/>
                  <a:gd name="GluePoint3X" fmla="*/ 2147483647 w 182"/>
                  <a:gd name="GluePoint3Y" fmla="*/ 2147483647 h 116"/>
                  <a:gd name="GluePoint4X" fmla="*/ 2147483647 w 182"/>
                  <a:gd name="GluePoint4Y" fmla="*/ 2147483647 h 116"/>
                  <a:gd name="GluePoint5X" fmla="*/ 0 w 182"/>
                  <a:gd name="GluePoint5Y" fmla="*/ 0 h 116"/>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82" h="116">
                    <a:moveTo>
                      <a:pt x="182" y="116"/>
                    </a:moveTo>
                    <a:cubicBezTo>
                      <a:pt x="165" y="116"/>
                      <a:pt x="155" y="107"/>
                      <a:pt x="143" y="97"/>
                    </a:cubicBezTo>
                    <a:cubicBezTo>
                      <a:pt x="134" y="90"/>
                      <a:pt x="117" y="80"/>
                      <a:pt x="124" y="67"/>
                    </a:cubicBezTo>
                    <a:cubicBezTo>
                      <a:pt x="122" y="88"/>
                      <a:pt x="71" y="40"/>
                      <a:pt x="66" y="37"/>
                    </a:cubicBezTo>
                    <a:cubicBezTo>
                      <a:pt x="58" y="31"/>
                      <a:pt x="4" y="11"/>
                      <a:pt x="0"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2" name="Freeform 283"/>
              <p:cNvSpPr/>
              <p:nvPr/>
            </p:nvSpPr>
            <p:spPr>
              <a:xfrm flipH="1">
                <a:off x="7293600" y="1121400"/>
                <a:ext cx="419040" cy="179280"/>
              </a:xfrm>
              <a:custGeom>
                <a:avLst/>
                <a:gdLst>
                  <a:gd name="GluePoint1X" fmla="*/ 0 w 129"/>
                  <a:gd name="GluePoint1Y" fmla="*/ 0 h 53"/>
                  <a:gd name="GluePoint2X" fmla="*/ 2147483647 w 129"/>
                  <a:gd name="GluePoint2Y" fmla="*/ 2147483647 h 53"/>
                  <a:gd name="GluePoint3X" fmla="*/ 2147483647 w 129"/>
                  <a:gd name="GluePoint3Y" fmla="*/ 2147483647 h 53"/>
                  <a:gd name="GluePoint4X" fmla="*/ 2147483647 w 129"/>
                  <a:gd name="GluePoint4Y" fmla="*/ 2147483647 h 53"/>
                </a:gdLst>
                <a:ahLst/>
                <a:cxnLst>
                  <a:cxn ang="0">
                    <a:pos x="GluePoint1X" y="GluePoint1Y"/>
                  </a:cxn>
                  <a:cxn ang="0">
                    <a:pos x="GluePoint2X" y="GluePoint2Y"/>
                  </a:cxn>
                  <a:cxn ang="0">
                    <a:pos x="GluePoint3X" y="GluePoint3Y"/>
                  </a:cxn>
                  <a:cxn ang="0">
                    <a:pos x="GluePoint4X" y="GluePoint4Y"/>
                  </a:cxn>
                </a:cxnLst>
                <a:rect l="l" t="t" r="r" b="b"/>
                <a:pathLst>
                  <a:path w="129" h="53">
                    <a:moveTo>
                      <a:pt x="0" y="0"/>
                    </a:moveTo>
                    <a:cubicBezTo>
                      <a:pt x="21" y="14"/>
                      <a:pt x="47" y="19"/>
                      <a:pt x="67" y="35"/>
                    </a:cubicBezTo>
                    <a:cubicBezTo>
                      <a:pt x="72" y="39"/>
                      <a:pt x="77" y="45"/>
                      <a:pt x="83" y="48"/>
                    </a:cubicBezTo>
                    <a:cubicBezTo>
                      <a:pt x="96" y="53"/>
                      <a:pt x="114" y="45"/>
                      <a:pt x="129" y="44"/>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3" name="Freeform 284"/>
              <p:cNvSpPr/>
              <p:nvPr/>
            </p:nvSpPr>
            <p:spPr>
              <a:xfrm flipH="1">
                <a:off x="7527240" y="944640"/>
                <a:ext cx="32040" cy="123120"/>
              </a:xfrm>
              <a:custGeom>
                <a:avLst/>
                <a:gdLst>
                  <a:gd name="GluePoint1X" fmla="*/ 0 w 10"/>
                  <a:gd name="GluePoint1Y" fmla="*/ 0 h 36"/>
                  <a:gd name="GluePoint2X" fmla="*/ 631712963 w 10"/>
                  <a:gd name="GluePoint2Y" fmla="*/ 2147483647 h 36"/>
                </a:gdLst>
                <a:ahLst/>
                <a:cxnLst>
                  <a:cxn ang="0">
                    <a:pos x="GluePoint1X" y="GluePoint1Y"/>
                  </a:cxn>
                  <a:cxn ang="0">
                    <a:pos x="GluePoint2X" y="GluePoint2Y"/>
                  </a:cxn>
                </a:cxnLst>
                <a:rect l="l" t="t" r="r" b="b"/>
                <a:pathLst>
                  <a:path w="10" h="36">
                    <a:moveTo>
                      <a:pt x="0" y="0"/>
                    </a:moveTo>
                    <a:cubicBezTo>
                      <a:pt x="10" y="9"/>
                      <a:pt x="10" y="26"/>
                      <a:pt x="3" y="36"/>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4" name="Freeform 285"/>
              <p:cNvSpPr/>
              <p:nvPr/>
            </p:nvSpPr>
            <p:spPr>
              <a:xfrm flipH="1">
                <a:off x="7167600" y="1008720"/>
                <a:ext cx="367200" cy="291960"/>
              </a:xfrm>
              <a:custGeom>
                <a:avLst/>
                <a:gdLst>
                  <a:gd name="GluePoint1X" fmla="*/ 0 w 113"/>
                  <a:gd name="GluePoint1Y" fmla="*/ 0 h 86"/>
                  <a:gd name="GluePoint2X" fmla="*/ 2147483647 w 113"/>
                  <a:gd name="GluePoint2Y" fmla="*/ 2147483647 h 86"/>
                  <a:gd name="GluePoint3X" fmla="*/ 2147483647 w 113"/>
                  <a:gd name="GluePoint3Y" fmla="*/ 2147483647 h 86"/>
                  <a:gd name="GluePoint4X" fmla="*/ 2147483647 w 113"/>
                  <a:gd name="GluePoint4Y" fmla="*/ 2147483647 h 86"/>
                  <a:gd name="GluePoint5X" fmla="*/ 2147483647 w 113"/>
                  <a:gd name="GluePoint5Y" fmla="*/ 2147483647 h 86"/>
                  <a:gd name="GluePoint6X" fmla="*/ 2147483647 w 113"/>
                  <a:gd name="GluePoint6Y" fmla="*/ 2147483647 h 8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13" h="86">
                    <a:moveTo>
                      <a:pt x="0" y="0"/>
                    </a:moveTo>
                    <a:cubicBezTo>
                      <a:pt x="9" y="9"/>
                      <a:pt x="25" y="7"/>
                      <a:pt x="35" y="15"/>
                    </a:cubicBezTo>
                    <a:cubicBezTo>
                      <a:pt x="44" y="22"/>
                      <a:pt x="48" y="30"/>
                      <a:pt x="60" y="34"/>
                    </a:cubicBezTo>
                    <a:cubicBezTo>
                      <a:pt x="69" y="38"/>
                      <a:pt x="76" y="36"/>
                      <a:pt x="84" y="43"/>
                    </a:cubicBezTo>
                    <a:cubicBezTo>
                      <a:pt x="89" y="47"/>
                      <a:pt x="96" y="53"/>
                      <a:pt x="100" y="59"/>
                    </a:cubicBezTo>
                    <a:cubicBezTo>
                      <a:pt x="107" y="67"/>
                      <a:pt x="107" y="78"/>
                      <a:pt x="113" y="86"/>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5" name="Freeform 286"/>
              <p:cNvSpPr/>
              <p:nvPr/>
            </p:nvSpPr>
            <p:spPr>
              <a:xfrm flipH="1">
                <a:off x="7333200" y="1111680"/>
                <a:ext cx="36000" cy="80640"/>
              </a:xfrm>
              <a:custGeom>
                <a:avLst/>
                <a:gdLst>
                  <a:gd name="GluePoint1X" fmla="*/ 0 w 11"/>
                  <a:gd name="GluePoint1Y" fmla="*/ 0 h 24"/>
                  <a:gd name="GluePoint2X" fmla="*/ 2147483647 w 11"/>
                  <a:gd name="GluePoint2Y" fmla="*/ 2147483647 h 24"/>
                </a:gdLst>
                <a:ahLst/>
                <a:cxnLst>
                  <a:cxn ang="0">
                    <a:pos x="GluePoint1X" y="GluePoint1Y"/>
                  </a:cxn>
                  <a:cxn ang="0">
                    <a:pos x="GluePoint2X" y="GluePoint2Y"/>
                  </a:cxn>
                </a:cxnLst>
                <a:rect l="l" t="t" r="r" b="b"/>
                <a:pathLst>
                  <a:path w="11" h="24">
                    <a:moveTo>
                      <a:pt x="0" y="0"/>
                    </a:moveTo>
                    <a:cubicBezTo>
                      <a:pt x="7" y="6"/>
                      <a:pt x="11" y="15"/>
                      <a:pt x="10" y="24"/>
                    </a:cubicBezTo>
                  </a:path>
                </a:pathLst>
              </a:custGeom>
              <a:noFill/>
              <a:ln cap="rnd" w="7920">
                <a:solidFill>
                  <a:srgbClr val="58585a"/>
                </a:solidFill>
                <a:round/>
              </a:ln>
            </p:spPr>
            <p:style>
              <a:lnRef idx="0"/>
              <a:fillRef idx="0"/>
              <a:effectRef idx="0"/>
              <a:fontRef idx="minor"/>
            </p:style>
            <p:txBody>
              <a:bodyPr lIns="90000" rIns="90000" tIns="33840" bIns="33840" anchor="t">
                <a:noAutofit/>
              </a:bodyPr>
              <a:p>
                <a:endParaRPr b="0" lang="en-US" sz="2400" strike="noStrike" u="none">
                  <a:solidFill>
                    <a:srgbClr val="ffff00"/>
                  </a:solidFill>
                  <a:effectLst/>
                  <a:uFillTx/>
                  <a:latin typeface="Times New Roman"/>
                </a:endParaRPr>
              </a:p>
            </p:txBody>
          </p:sp>
          <p:sp>
            <p:nvSpPr>
              <p:cNvPr id="506" name="Freeform 287"/>
              <p:cNvSpPr/>
              <p:nvPr/>
            </p:nvSpPr>
            <p:spPr>
              <a:xfrm flipH="1">
                <a:off x="7524720" y="1385640"/>
                <a:ext cx="103320" cy="223200"/>
              </a:xfrm>
              <a:custGeom>
                <a:avLst/>
                <a:gdLst>
                  <a:gd name="GluePoint1X" fmla="*/ 2147483647 w 32"/>
                  <a:gd name="GluePoint1Y" fmla="*/ 0 h 66"/>
                  <a:gd name="GluePoint2X" fmla="*/ 1240767620 w 32"/>
                  <a:gd name="GluePoint2Y" fmla="*/ 2147483647 h 66"/>
                  <a:gd name="GluePoint3X" fmla="*/ 2147483647 w 32"/>
                  <a:gd name="GluePoint3Y" fmla="*/ 2147483647 h 66"/>
                </a:gdLst>
                <a:ahLst/>
                <a:cxnLst>
                  <a:cxn ang="0">
                    <a:pos x="GluePoint1X" y="GluePoint1Y"/>
                  </a:cxn>
                  <a:cxn ang="0">
                    <a:pos x="GluePoint2X" y="GluePoint2Y"/>
                  </a:cxn>
                  <a:cxn ang="0">
                    <a:pos x="GluePoint3X" y="GluePoint3Y"/>
                  </a:cxn>
                </a:cxnLst>
                <a:rect l="l" t="t" r="r" b="b"/>
                <a:pathLst>
                  <a:path w="32" h="66">
                    <a:moveTo>
                      <a:pt x="18" y="0"/>
                    </a:moveTo>
                    <a:cubicBezTo>
                      <a:pt x="17" y="11"/>
                      <a:pt x="0" y="18"/>
                      <a:pt x="5" y="31"/>
                    </a:cubicBezTo>
                    <a:cubicBezTo>
                      <a:pt x="11" y="45"/>
                      <a:pt x="29" y="48"/>
                      <a:pt x="32" y="66"/>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7" name="Freeform 288"/>
              <p:cNvSpPr/>
              <p:nvPr/>
            </p:nvSpPr>
            <p:spPr>
              <a:xfrm flipH="1">
                <a:off x="7615800" y="1452960"/>
                <a:ext cx="73800" cy="31680"/>
              </a:xfrm>
              <a:custGeom>
                <a:avLst/>
                <a:gdLst>
                  <a:gd name="GluePoint1X" fmla="*/ 2147483647 w 23"/>
                  <a:gd name="GluePoint1Y" fmla="*/ 2147483647 h 9"/>
                  <a:gd name="GluePoint2X" fmla="*/ 0 w 23"/>
                  <a:gd name="GluePoint2Y" fmla="*/ 0 h 9"/>
                </a:gdLst>
                <a:ahLst/>
                <a:cxnLst>
                  <a:cxn ang="0">
                    <a:pos x="GluePoint1X" y="GluePoint1Y"/>
                  </a:cxn>
                  <a:cxn ang="0">
                    <a:pos x="GluePoint2X" y="GluePoint2Y"/>
                  </a:cxn>
                </a:cxnLst>
                <a:rect l="l" t="t" r="r" b="b"/>
                <a:pathLst>
                  <a:path w="23" h="9">
                    <a:moveTo>
                      <a:pt x="23" y="9"/>
                    </a:moveTo>
                    <a:cubicBezTo>
                      <a:pt x="17" y="3"/>
                      <a:pt x="8" y="1"/>
                      <a:pt x="0" y="0"/>
                    </a:cubicBezTo>
                  </a:path>
                </a:pathLst>
              </a:custGeom>
              <a:noFill/>
              <a:ln cap="rnd" w="7920">
                <a:solidFill>
                  <a:srgbClr val="58585a"/>
                </a:solidFill>
                <a:round/>
              </a:ln>
            </p:spPr>
            <p:style>
              <a:lnRef idx="0"/>
              <a:fillRef idx="0"/>
              <a:effectRef idx="0"/>
              <a:fontRef idx="minor"/>
            </p:style>
            <p:txBody>
              <a:bodyPr lIns="90000" rIns="90000" tIns="-15120" bIns="-15120" anchor="t">
                <a:noAutofit/>
              </a:bodyPr>
              <a:p>
                <a:endParaRPr b="0" lang="en-US" sz="2400" strike="noStrike" u="none">
                  <a:solidFill>
                    <a:srgbClr val="ffff00"/>
                  </a:solidFill>
                  <a:effectLst/>
                  <a:uFillTx/>
                  <a:latin typeface="Times New Roman"/>
                </a:endParaRPr>
              </a:p>
            </p:txBody>
          </p:sp>
          <p:sp>
            <p:nvSpPr>
              <p:cNvPr id="508" name="Freeform 289"/>
              <p:cNvSpPr/>
              <p:nvPr/>
            </p:nvSpPr>
            <p:spPr>
              <a:xfrm flipH="1">
                <a:off x="6295680" y="833760"/>
                <a:ext cx="627480" cy="372240"/>
              </a:xfrm>
              <a:custGeom>
                <a:avLst/>
                <a:gdLst>
                  <a:gd name="GluePoint1X" fmla="*/ 2147483647 w 193"/>
                  <a:gd name="GluePoint1Y" fmla="*/ 2147483647 h 110"/>
                  <a:gd name="GluePoint2X" fmla="*/ 2147483647 w 193"/>
                  <a:gd name="GluePoint2Y" fmla="*/ 2147483647 h 110"/>
                  <a:gd name="GluePoint3X" fmla="*/ 2147483647 w 193"/>
                  <a:gd name="GluePoint3Y" fmla="*/ 2147483647 h 110"/>
                  <a:gd name="GluePoint4X" fmla="*/ 2147483647 w 193"/>
                  <a:gd name="GluePoint4Y" fmla="*/ 2147483647 h 110"/>
                  <a:gd name="GluePoint5X" fmla="*/ 2147483647 w 193"/>
                  <a:gd name="GluePoint5Y" fmla="*/ 2147483647 h 110"/>
                  <a:gd name="GluePoint6X" fmla="*/ 2147483647 w 193"/>
                  <a:gd name="GluePoint6Y" fmla="*/ 2147483647 h 110"/>
                  <a:gd name="GluePoint7X" fmla="*/ 579101464 w 193"/>
                  <a:gd name="GluePoint7Y" fmla="*/ 2147483647 h 11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93" h="110">
                    <a:moveTo>
                      <a:pt x="193" y="2"/>
                    </a:moveTo>
                    <a:cubicBezTo>
                      <a:pt x="182" y="2"/>
                      <a:pt x="170" y="0"/>
                      <a:pt x="160" y="5"/>
                    </a:cubicBezTo>
                    <a:cubicBezTo>
                      <a:pt x="148" y="11"/>
                      <a:pt x="145" y="18"/>
                      <a:pt x="129" y="17"/>
                    </a:cubicBezTo>
                    <a:cubicBezTo>
                      <a:pt x="116" y="16"/>
                      <a:pt x="99" y="12"/>
                      <a:pt x="86" y="9"/>
                    </a:cubicBezTo>
                    <a:cubicBezTo>
                      <a:pt x="76" y="28"/>
                      <a:pt x="49" y="30"/>
                      <a:pt x="34" y="43"/>
                    </a:cubicBezTo>
                    <a:cubicBezTo>
                      <a:pt x="25" y="50"/>
                      <a:pt x="20" y="61"/>
                      <a:pt x="12" y="69"/>
                    </a:cubicBezTo>
                    <a:cubicBezTo>
                      <a:pt x="0" y="83"/>
                      <a:pt x="2" y="92"/>
                      <a:pt x="2" y="11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09" name="Freeform 290"/>
              <p:cNvSpPr/>
              <p:nvPr/>
            </p:nvSpPr>
            <p:spPr>
              <a:xfrm flipH="1">
                <a:off x="6627600" y="603360"/>
                <a:ext cx="473400" cy="257400"/>
              </a:xfrm>
              <a:custGeom>
                <a:avLst/>
                <a:gdLst>
                  <a:gd name="GluePoint1X" fmla="*/ 2147483647 w 146"/>
                  <a:gd name="GluePoint1Y" fmla="*/ 2147483647 h 76"/>
                  <a:gd name="GluePoint2X" fmla="*/ 2147483647 w 146"/>
                  <a:gd name="GluePoint2Y" fmla="*/ 2147483647 h 76"/>
                  <a:gd name="GluePoint3X" fmla="*/ 2147483647 w 146"/>
                  <a:gd name="GluePoint3Y" fmla="*/ 2147483647 h 76"/>
                  <a:gd name="GluePoint4X" fmla="*/ 2147483647 w 146"/>
                  <a:gd name="GluePoint4Y" fmla="*/ 2147483647 h 76"/>
                  <a:gd name="GluePoint5X" fmla="*/ 2147483647 w 146"/>
                  <a:gd name="GluePoint5Y" fmla="*/ 2147483647 h 76"/>
                  <a:gd name="GluePoint6X" fmla="*/ 0 w 146"/>
                  <a:gd name="GluePoint6Y" fmla="*/ 2147483647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46" h="76">
                    <a:moveTo>
                      <a:pt x="141" y="76"/>
                    </a:moveTo>
                    <a:cubicBezTo>
                      <a:pt x="144" y="67"/>
                      <a:pt x="141" y="57"/>
                      <a:pt x="142" y="47"/>
                    </a:cubicBezTo>
                    <a:cubicBezTo>
                      <a:pt x="143" y="36"/>
                      <a:pt x="146" y="28"/>
                      <a:pt x="141" y="17"/>
                    </a:cubicBezTo>
                    <a:cubicBezTo>
                      <a:pt x="133" y="0"/>
                      <a:pt x="120" y="1"/>
                      <a:pt x="104" y="3"/>
                    </a:cubicBezTo>
                    <a:cubicBezTo>
                      <a:pt x="89" y="6"/>
                      <a:pt x="75" y="10"/>
                      <a:pt x="60" y="12"/>
                    </a:cubicBezTo>
                    <a:cubicBezTo>
                      <a:pt x="40" y="15"/>
                      <a:pt x="19" y="6"/>
                      <a:pt x="0" y="11"/>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0" name="Freeform 291"/>
              <p:cNvSpPr/>
              <p:nvPr/>
            </p:nvSpPr>
            <p:spPr>
              <a:xfrm flipH="1">
                <a:off x="6861960" y="783000"/>
                <a:ext cx="44640" cy="98280"/>
              </a:xfrm>
              <a:custGeom>
                <a:avLst/>
                <a:gdLst>
                  <a:gd name="GluePoint1X" fmla="*/ 2147483647 w 14"/>
                  <a:gd name="GluePoint1Y" fmla="*/ 0 h 29"/>
                  <a:gd name="GluePoint2X" fmla="*/ 0 w 14"/>
                  <a:gd name="GluePoint2Y" fmla="*/ 2147483647 h 29"/>
                  <a:gd name="GluePoint3X" fmla="*/ 1968699339 w 14"/>
                  <a:gd name="GluePoint3Y" fmla="*/ 2147483647 h 29"/>
                </a:gdLst>
                <a:ahLst/>
                <a:cxnLst>
                  <a:cxn ang="0">
                    <a:pos x="GluePoint1X" y="GluePoint1Y"/>
                  </a:cxn>
                  <a:cxn ang="0">
                    <a:pos x="GluePoint2X" y="GluePoint2Y"/>
                  </a:cxn>
                  <a:cxn ang="0">
                    <a:pos x="GluePoint3X" y="GluePoint3Y"/>
                  </a:cxn>
                </a:cxnLst>
                <a:rect l="l" t="t" r="r" b="b"/>
                <a:pathLst>
                  <a:path w="14" h="29">
                    <a:moveTo>
                      <a:pt x="14" y="0"/>
                    </a:moveTo>
                    <a:cubicBezTo>
                      <a:pt x="10" y="5"/>
                      <a:pt x="4" y="8"/>
                      <a:pt x="0" y="14"/>
                    </a:cubicBezTo>
                    <a:cubicBezTo>
                      <a:pt x="6" y="17"/>
                      <a:pt x="10" y="23"/>
                      <a:pt x="11" y="2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11" name="Freeform 292"/>
              <p:cNvSpPr/>
              <p:nvPr/>
            </p:nvSpPr>
            <p:spPr>
              <a:xfrm flipH="1">
                <a:off x="5598000" y="1843560"/>
                <a:ext cx="48600" cy="33840"/>
              </a:xfrm>
              <a:custGeom>
                <a:avLst/>
                <a:gdLst>
                  <a:gd name="GluePoint1X" fmla="*/ 2147483647 w 15"/>
                  <a:gd name="GluePoint1Y" fmla="*/ 2147483647 h 10"/>
                  <a:gd name="GluePoint2X" fmla="*/ 273961102 w 15"/>
                  <a:gd name="GluePoint2Y" fmla="*/ 2147483647 h 10"/>
                  <a:gd name="GluePoint3X" fmla="*/ 0 w 15"/>
                  <a:gd name="GluePoint3Y" fmla="*/ 0 h 10"/>
                </a:gdLst>
                <a:ahLst/>
                <a:cxnLst>
                  <a:cxn ang="0">
                    <a:pos x="GluePoint1X" y="GluePoint1Y"/>
                  </a:cxn>
                  <a:cxn ang="0">
                    <a:pos x="GluePoint2X" y="GluePoint2Y"/>
                  </a:cxn>
                  <a:cxn ang="0">
                    <a:pos x="GluePoint3X" y="GluePoint3Y"/>
                  </a:cxn>
                </a:cxnLst>
                <a:rect l="l" t="t" r="r" b="b"/>
                <a:pathLst>
                  <a:path w="15" h="10">
                    <a:moveTo>
                      <a:pt x="15" y="7"/>
                    </a:moveTo>
                    <a:cubicBezTo>
                      <a:pt x="9" y="7"/>
                      <a:pt x="5" y="5"/>
                      <a:pt x="1" y="10"/>
                    </a:cubicBezTo>
                    <a:cubicBezTo>
                      <a:pt x="3" y="6"/>
                      <a:pt x="0" y="1"/>
                      <a:pt x="0" y="0"/>
                    </a:cubicBezTo>
                  </a:path>
                </a:pathLst>
              </a:custGeom>
              <a:solidFill>
                <a:srgbClr val="58585a"/>
              </a:solidFill>
              <a:ln w="0">
                <a:noFill/>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512" name="Freeform 293"/>
              <p:cNvSpPr/>
              <p:nvPr/>
            </p:nvSpPr>
            <p:spPr>
              <a:xfrm flipH="1">
                <a:off x="5720760" y="1870920"/>
                <a:ext cx="34920" cy="90360"/>
              </a:xfrm>
              <a:custGeom>
                <a:avLst/>
                <a:gdLst>
                  <a:gd name="GluePoint1X" fmla="*/ 1753728611 w 11"/>
                  <a:gd name="GluePoint1Y" fmla="*/ 2147483647 h 27"/>
                  <a:gd name="GluePoint2X" fmla="*/ 1256522702 w 11"/>
                  <a:gd name="GluePoint2Y" fmla="*/ 2147483647 h 27"/>
                  <a:gd name="GluePoint3X" fmla="*/ 0 w 11"/>
                  <a:gd name="GluePoint3Y" fmla="*/ 0 h 27"/>
                </a:gdLst>
                <a:ahLst/>
                <a:cxnLst>
                  <a:cxn ang="0">
                    <a:pos x="GluePoint1X" y="GluePoint1Y"/>
                  </a:cxn>
                  <a:cxn ang="0">
                    <a:pos x="GluePoint2X" y="GluePoint2Y"/>
                  </a:cxn>
                  <a:cxn ang="0">
                    <a:pos x="GluePoint3X" y="GluePoint3Y"/>
                  </a:cxn>
                </a:cxnLst>
                <a:rect l="l" t="t" r="r" b="b"/>
                <a:pathLst>
                  <a:path w="11" h="27">
                    <a:moveTo>
                      <a:pt x="11" y="8"/>
                    </a:moveTo>
                    <a:cubicBezTo>
                      <a:pt x="4" y="10"/>
                      <a:pt x="9" y="22"/>
                      <a:pt x="8" y="27"/>
                    </a:cubicBezTo>
                    <a:cubicBezTo>
                      <a:pt x="5" y="21"/>
                      <a:pt x="4" y="6"/>
                      <a:pt x="0" y="0"/>
                    </a:cubicBezTo>
                  </a:path>
                </a:pathLst>
              </a:custGeom>
              <a:solidFill>
                <a:srgbClr val="58585a"/>
              </a:solidFill>
              <a:ln w="0">
                <a:noFill/>
              </a:ln>
            </p:spPr>
            <p:style>
              <a:lnRef idx="0"/>
              <a:fillRef idx="0"/>
              <a:effectRef idx="0"/>
              <a:fontRef idx="minor"/>
            </p:style>
            <p:txBody>
              <a:bodyPr lIns="90000" rIns="90000" tIns="43560" bIns="43560" anchor="t">
                <a:noAutofit/>
              </a:bodyPr>
              <a:p>
                <a:endParaRPr b="0" lang="en-US" sz="2400" strike="noStrike" u="none">
                  <a:solidFill>
                    <a:srgbClr val="ffff00"/>
                  </a:solidFill>
                  <a:effectLst/>
                  <a:uFillTx/>
                  <a:latin typeface="Times New Roman"/>
                </a:endParaRPr>
              </a:p>
            </p:txBody>
          </p:sp>
          <p:sp>
            <p:nvSpPr>
              <p:cNvPr id="513" name="Freeform 294"/>
              <p:cNvSpPr/>
              <p:nvPr/>
            </p:nvSpPr>
            <p:spPr>
              <a:xfrm flipH="1">
                <a:off x="5863680" y="585720"/>
                <a:ext cx="54360" cy="45000"/>
              </a:xfrm>
              <a:custGeom>
                <a:avLst/>
                <a:gdLst>
                  <a:gd name="GluePoint1X" fmla="*/ 1536990883 w 17"/>
                  <a:gd name="GluePoint1Y" fmla="*/ 0 h 13"/>
                  <a:gd name="GluePoint2X" fmla="*/ 0 w 17"/>
                  <a:gd name="GluePoint2Y" fmla="*/ 2147483647 h 13"/>
                  <a:gd name="GluePoint3X" fmla="*/ 2147483647 w 17"/>
                  <a:gd name="GluePoint3Y" fmla="*/ 2147483647 h 13"/>
                  <a:gd name="GluePoint4X" fmla="*/ 1989092508 w 17"/>
                  <a:gd name="GluePoint4Y" fmla="*/ 0 h 13"/>
                </a:gdLst>
                <a:ahLst/>
                <a:cxnLst>
                  <a:cxn ang="0">
                    <a:pos x="GluePoint1X" y="GluePoint1Y"/>
                  </a:cxn>
                  <a:cxn ang="0">
                    <a:pos x="GluePoint2X" y="GluePoint2Y"/>
                  </a:cxn>
                  <a:cxn ang="0">
                    <a:pos x="GluePoint3X" y="GluePoint3Y"/>
                  </a:cxn>
                  <a:cxn ang="0">
                    <a:pos x="GluePoint4X" y="GluePoint4Y"/>
                  </a:cxn>
                </a:cxnLst>
                <a:rect l="l" t="t" r="r" b="b"/>
                <a:pathLst>
                  <a:path w="17" h="13">
                    <a:moveTo>
                      <a:pt x="8" y="0"/>
                    </a:moveTo>
                    <a:cubicBezTo>
                      <a:pt x="6" y="5"/>
                      <a:pt x="3" y="8"/>
                      <a:pt x="0" y="12"/>
                    </a:cubicBezTo>
                    <a:cubicBezTo>
                      <a:pt x="6" y="13"/>
                      <a:pt x="12" y="13"/>
                      <a:pt x="17" y="12"/>
                    </a:cubicBezTo>
                    <a:cubicBezTo>
                      <a:pt x="13" y="10"/>
                      <a:pt x="9" y="5"/>
                      <a:pt x="10" y="0"/>
                    </a:cubicBezTo>
                  </a:path>
                </a:pathLst>
              </a:custGeom>
              <a:solidFill>
                <a:srgbClr val="58585a"/>
              </a:solidFill>
              <a:ln w="0">
                <a:noFill/>
              </a:ln>
            </p:spPr>
            <p:style>
              <a:lnRef idx="0"/>
              <a:fillRef idx="0"/>
              <a:effectRef idx="0"/>
              <a:fontRef idx="minor"/>
            </p:style>
            <p:txBody>
              <a:bodyPr lIns="90000" rIns="90000" tIns="-1800" bIns="-1800" anchor="t">
                <a:noAutofit/>
              </a:bodyPr>
              <a:p>
                <a:endParaRPr b="0" lang="en-US" sz="2400" strike="noStrike" u="none">
                  <a:solidFill>
                    <a:srgbClr val="ffff00"/>
                  </a:solidFill>
                  <a:effectLst/>
                  <a:uFillTx/>
                  <a:latin typeface="Times New Roman"/>
                </a:endParaRPr>
              </a:p>
            </p:txBody>
          </p:sp>
          <p:sp>
            <p:nvSpPr>
              <p:cNvPr id="514" name="Freeform 295"/>
              <p:cNvSpPr/>
              <p:nvPr/>
            </p:nvSpPr>
            <p:spPr>
              <a:xfrm flipH="1">
                <a:off x="5383440" y="643320"/>
                <a:ext cx="74160" cy="33840"/>
              </a:xfrm>
              <a:custGeom>
                <a:avLst/>
                <a:gdLst>
                  <a:gd name="GluePoint1X" fmla="*/ 0 w 23"/>
                  <a:gd name="GluePoint1Y" fmla="*/ 0 h 10"/>
                  <a:gd name="GluePoint2X" fmla="*/ 503868569 w 23"/>
                  <a:gd name="GluePoint2Y" fmla="*/ 2147483647 h 10"/>
                  <a:gd name="GluePoint3X" fmla="*/ 2147483647 w 23"/>
                  <a:gd name="GluePoint3Y" fmla="*/ 2147483647 h 10"/>
                  <a:gd name="GluePoint4X" fmla="*/ 859662440 w 23"/>
                  <a:gd name="GluePoint4Y" fmla="*/ 2147483647 h 10"/>
                </a:gdLst>
                <a:ahLst/>
                <a:cxnLst>
                  <a:cxn ang="0">
                    <a:pos x="GluePoint1X" y="GluePoint1Y"/>
                  </a:cxn>
                  <a:cxn ang="0">
                    <a:pos x="GluePoint2X" y="GluePoint2Y"/>
                  </a:cxn>
                  <a:cxn ang="0">
                    <a:pos x="GluePoint3X" y="GluePoint3Y"/>
                  </a:cxn>
                  <a:cxn ang="0">
                    <a:pos x="GluePoint4X" y="GluePoint4Y"/>
                  </a:cxn>
                </a:cxnLst>
                <a:rect l="l" t="t" r="r" b="b"/>
                <a:pathLst>
                  <a:path w="23" h="10">
                    <a:moveTo>
                      <a:pt x="0" y="0"/>
                    </a:moveTo>
                    <a:cubicBezTo>
                      <a:pt x="4" y="3"/>
                      <a:pt x="4" y="6"/>
                      <a:pt x="2" y="10"/>
                    </a:cubicBezTo>
                    <a:cubicBezTo>
                      <a:pt x="6" y="5"/>
                      <a:pt x="17" y="6"/>
                      <a:pt x="23" y="6"/>
                    </a:cubicBezTo>
                    <a:cubicBezTo>
                      <a:pt x="17" y="4"/>
                      <a:pt x="10" y="4"/>
                      <a:pt x="4" y="2"/>
                    </a:cubicBezTo>
                  </a:path>
                </a:pathLst>
              </a:custGeom>
              <a:solidFill>
                <a:srgbClr val="58585a"/>
              </a:solidFill>
              <a:ln w="0">
                <a:noFill/>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515" name="Freeform 296"/>
              <p:cNvSpPr/>
              <p:nvPr/>
            </p:nvSpPr>
            <p:spPr>
              <a:xfrm flipH="1">
                <a:off x="5627160" y="389520"/>
                <a:ext cx="25200" cy="47880"/>
              </a:xfrm>
              <a:custGeom>
                <a:avLst/>
                <a:gdLst>
                  <a:gd name="GluePoint1X" fmla="*/ 0 w 8"/>
                  <a:gd name="GluePoint1Y" fmla="*/ 2147483647 h 14"/>
                  <a:gd name="GluePoint2X" fmla="*/ 620506449 w 8"/>
                  <a:gd name="GluePoint2Y" fmla="*/ 2147483647 h 14"/>
                  <a:gd name="GluePoint3X" fmla="*/ 896047171 w 8"/>
                  <a:gd name="GluePoint3Y" fmla="*/ 0 h 14"/>
                </a:gdLst>
                <a:ahLst/>
                <a:cxnLst>
                  <a:cxn ang="0">
                    <a:pos x="GluePoint1X" y="GluePoint1Y"/>
                  </a:cxn>
                  <a:cxn ang="0">
                    <a:pos x="GluePoint2X" y="GluePoint2Y"/>
                  </a:cxn>
                  <a:cxn ang="0">
                    <a:pos x="GluePoint3X" y="GluePoint3Y"/>
                  </a:cxn>
                </a:cxnLst>
                <a:rect l="l" t="t" r="r" b="b"/>
                <a:pathLst>
                  <a:path w="8" h="14">
                    <a:moveTo>
                      <a:pt x="0" y="5"/>
                    </a:moveTo>
                    <a:cubicBezTo>
                      <a:pt x="5" y="6"/>
                      <a:pt x="6" y="10"/>
                      <a:pt x="5" y="14"/>
                    </a:cubicBezTo>
                    <a:cubicBezTo>
                      <a:pt x="7" y="11"/>
                      <a:pt x="8" y="4"/>
                      <a:pt x="7" y="0"/>
                    </a:cubicBezTo>
                  </a:path>
                </a:pathLst>
              </a:custGeom>
              <a:solidFill>
                <a:srgbClr val="58585a"/>
              </a:solidFill>
              <a:ln w="0">
                <a:noFill/>
              </a:ln>
            </p:spPr>
            <p:style>
              <a:lnRef idx="0"/>
              <a:fillRef idx="0"/>
              <a:effectRef idx="0"/>
              <a:fontRef idx="minor"/>
            </p:style>
            <p:txBody>
              <a:bodyPr lIns="90000" rIns="90000" tIns="1080" bIns="1080" anchor="t">
                <a:noAutofit/>
              </a:bodyPr>
              <a:p>
                <a:endParaRPr b="0" lang="en-US" sz="2400" strike="noStrike" u="none">
                  <a:solidFill>
                    <a:srgbClr val="ffff00"/>
                  </a:solidFill>
                  <a:effectLst/>
                  <a:uFillTx/>
                  <a:latin typeface="Times New Roman"/>
                </a:endParaRPr>
              </a:p>
            </p:txBody>
          </p:sp>
          <p:sp>
            <p:nvSpPr>
              <p:cNvPr id="516" name="Freeform 297"/>
              <p:cNvSpPr/>
              <p:nvPr/>
            </p:nvSpPr>
            <p:spPr>
              <a:xfrm flipH="1">
                <a:off x="6248160" y="318600"/>
                <a:ext cx="27720" cy="40680"/>
              </a:xfrm>
              <a:custGeom>
                <a:avLst/>
                <a:gdLst>
                  <a:gd name="GluePoint1X" fmla="*/ 0 w 9"/>
                  <a:gd name="GluePoint1Y" fmla="*/ 2147483647 h 12"/>
                  <a:gd name="GluePoint2X" fmla="*/ 845611807 w 9"/>
                  <a:gd name="GluePoint2Y" fmla="*/ 2147483647 h 12"/>
                  <a:gd name="GluePoint3X" fmla="*/ 551740060 w 9"/>
                  <a:gd name="GluePoint3Y" fmla="*/ 0 h 12"/>
                </a:gdLst>
                <a:ahLst/>
                <a:cxnLst>
                  <a:cxn ang="0">
                    <a:pos x="GluePoint1X" y="GluePoint1Y"/>
                  </a:cxn>
                  <a:cxn ang="0">
                    <a:pos x="GluePoint2X" y="GluePoint2Y"/>
                  </a:cxn>
                  <a:cxn ang="0">
                    <a:pos x="GluePoint3X" y="GluePoint3Y"/>
                  </a:cxn>
                </a:cxnLst>
                <a:rect l="l" t="t" r="r" b="b"/>
                <a:pathLst>
                  <a:path w="9" h="12">
                    <a:moveTo>
                      <a:pt x="0" y="8"/>
                    </a:moveTo>
                    <a:cubicBezTo>
                      <a:pt x="5" y="5"/>
                      <a:pt x="6" y="9"/>
                      <a:pt x="9" y="12"/>
                    </a:cubicBezTo>
                    <a:cubicBezTo>
                      <a:pt x="7" y="9"/>
                      <a:pt x="5" y="4"/>
                      <a:pt x="6" y="0"/>
                    </a:cubicBezTo>
                  </a:path>
                </a:pathLst>
              </a:custGeom>
              <a:solidFill>
                <a:srgbClr val="58585a"/>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517" name="Freeform 298"/>
              <p:cNvSpPr/>
              <p:nvPr/>
            </p:nvSpPr>
            <p:spPr>
              <a:xfrm flipH="1">
                <a:off x="6611040" y="863640"/>
                <a:ext cx="51480" cy="29880"/>
              </a:xfrm>
              <a:custGeom>
                <a:avLst/>
                <a:gdLst>
                  <a:gd name="GluePoint1X" fmla="*/ 0 w 16"/>
                  <a:gd name="GluePoint1Y" fmla="*/ 2147483647 h 9"/>
                  <a:gd name="GluePoint2X" fmla="*/ 2147483647 w 16"/>
                  <a:gd name="GluePoint2Y" fmla="*/ 2147483647 h 9"/>
                  <a:gd name="GluePoint3X" fmla="*/ 1412007926 w 16"/>
                  <a:gd name="GluePoint3Y" fmla="*/ 0 h 9"/>
                </a:gdLst>
                <a:ahLst/>
                <a:cxnLst>
                  <a:cxn ang="0">
                    <a:pos x="GluePoint1X" y="GluePoint1Y"/>
                  </a:cxn>
                  <a:cxn ang="0">
                    <a:pos x="GluePoint2X" y="GluePoint2Y"/>
                  </a:cxn>
                  <a:cxn ang="0">
                    <a:pos x="GluePoint3X" y="GluePoint3Y"/>
                  </a:cxn>
                </a:cxnLst>
                <a:rect l="l" t="t" r="r" b="b"/>
                <a:pathLst>
                  <a:path w="16" h="9">
                    <a:moveTo>
                      <a:pt x="0" y="9"/>
                    </a:moveTo>
                    <a:cubicBezTo>
                      <a:pt x="4" y="3"/>
                      <a:pt x="10" y="4"/>
                      <a:pt x="16" y="3"/>
                    </a:cubicBezTo>
                    <a:cubicBezTo>
                      <a:pt x="13" y="3"/>
                      <a:pt x="8" y="2"/>
                      <a:pt x="6" y="0"/>
                    </a:cubicBezTo>
                  </a:path>
                </a:pathLst>
              </a:custGeom>
              <a:solidFill>
                <a:srgbClr val="58585a"/>
              </a:solidFill>
              <a:ln w="0">
                <a:noFill/>
              </a:ln>
            </p:spPr>
            <p:style>
              <a:lnRef idx="0"/>
              <a:fillRef idx="0"/>
              <a:effectRef idx="0"/>
              <a:fontRef idx="minor"/>
            </p:style>
            <p:txBody>
              <a:bodyPr lIns="90000" rIns="90000" tIns="-16920" bIns="-16920" anchor="t">
                <a:noAutofit/>
              </a:bodyPr>
              <a:p>
                <a:endParaRPr b="0" lang="en-US" sz="2400" strike="noStrike" u="none">
                  <a:solidFill>
                    <a:srgbClr val="ffff00"/>
                  </a:solidFill>
                  <a:effectLst/>
                  <a:uFillTx/>
                  <a:latin typeface="Times New Roman"/>
                </a:endParaRPr>
              </a:p>
            </p:txBody>
          </p:sp>
          <p:sp>
            <p:nvSpPr>
              <p:cNvPr id="518" name="Freeform 299"/>
              <p:cNvSpPr/>
              <p:nvPr/>
            </p:nvSpPr>
            <p:spPr>
              <a:xfrm flipH="1">
                <a:off x="6881400" y="806400"/>
                <a:ext cx="29160" cy="40680"/>
              </a:xfrm>
              <a:custGeom>
                <a:avLst/>
                <a:gdLst>
                  <a:gd name="GluePoint1X" fmla="*/ 2147483647 w 9"/>
                  <a:gd name="GluePoint1Y" fmla="*/ 0 h 12"/>
                  <a:gd name="GluePoint2X" fmla="*/ 1765527064 w 9"/>
                  <a:gd name="GluePoint2Y" fmla="*/ 2147483647 h 12"/>
                  <a:gd name="GluePoint3X" fmla="*/ 0 w 9"/>
                  <a:gd name="GluePoint3Y" fmla="*/ 2147483647 h 12"/>
                </a:gdLst>
                <a:ahLst/>
                <a:cxnLst>
                  <a:cxn ang="0">
                    <a:pos x="GluePoint1X" y="GluePoint1Y"/>
                  </a:cxn>
                  <a:cxn ang="0">
                    <a:pos x="GluePoint2X" y="GluePoint2Y"/>
                  </a:cxn>
                  <a:cxn ang="0">
                    <a:pos x="GluePoint3X" y="GluePoint3Y"/>
                  </a:cxn>
                </a:cxnLst>
                <a:rect l="l" t="t" r="r" b="b"/>
                <a:pathLst>
                  <a:path w="9" h="12">
                    <a:moveTo>
                      <a:pt x="9" y="0"/>
                    </a:moveTo>
                    <a:cubicBezTo>
                      <a:pt x="6" y="3"/>
                      <a:pt x="5" y="8"/>
                      <a:pt x="6" y="12"/>
                    </a:cubicBezTo>
                    <a:cubicBezTo>
                      <a:pt x="5" y="10"/>
                      <a:pt x="2" y="7"/>
                      <a:pt x="0" y="7"/>
                    </a:cubicBezTo>
                  </a:path>
                </a:pathLst>
              </a:custGeom>
              <a:solidFill>
                <a:srgbClr val="58585a"/>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519" name="Freeform 300"/>
              <p:cNvSpPr/>
              <p:nvPr/>
            </p:nvSpPr>
            <p:spPr>
              <a:xfrm flipH="1">
                <a:off x="7313040" y="900720"/>
                <a:ext cx="36360" cy="38160"/>
              </a:xfrm>
              <a:custGeom>
                <a:avLst/>
                <a:gdLst>
                  <a:gd name="GluePoint1X" fmla="*/ 2147483647 w 11"/>
                  <a:gd name="GluePoint1Y" fmla="*/ 0 h 11"/>
                  <a:gd name="GluePoint2X" fmla="*/ 2147483647 w 11"/>
                  <a:gd name="GluePoint2Y" fmla="*/ 2147483647 h 11"/>
                  <a:gd name="GluePoint3X" fmla="*/ 0 w 11"/>
                  <a:gd name="GluePoint3Y" fmla="*/ 2147483647 h 11"/>
                </a:gdLst>
                <a:ahLst/>
                <a:cxnLst>
                  <a:cxn ang="0">
                    <a:pos x="GluePoint1X" y="GluePoint1Y"/>
                  </a:cxn>
                  <a:cxn ang="0">
                    <a:pos x="GluePoint2X" y="GluePoint2Y"/>
                  </a:cxn>
                  <a:cxn ang="0">
                    <a:pos x="GluePoint3X" y="GluePoint3Y"/>
                  </a:cxn>
                </a:cxnLst>
                <a:rect l="l" t="t" r="r" b="b"/>
                <a:pathLst>
                  <a:path w="11" h="11">
                    <a:moveTo>
                      <a:pt x="11" y="0"/>
                    </a:moveTo>
                    <a:cubicBezTo>
                      <a:pt x="8" y="3"/>
                      <a:pt x="7" y="8"/>
                      <a:pt x="9" y="11"/>
                    </a:cubicBezTo>
                    <a:cubicBezTo>
                      <a:pt x="8" y="8"/>
                      <a:pt x="3" y="5"/>
                      <a:pt x="0" y="5"/>
                    </a:cubicBezTo>
                  </a:path>
                </a:pathLst>
              </a:custGeom>
              <a:solidFill>
                <a:srgbClr val="58585a"/>
              </a:solidFill>
              <a:ln w="0">
                <a:noFill/>
              </a:ln>
            </p:spPr>
            <p:style>
              <a:lnRef idx="0"/>
              <a:fillRef idx="0"/>
              <a:effectRef idx="0"/>
              <a:fontRef idx="minor"/>
            </p:style>
            <p:txBody>
              <a:bodyPr lIns="90000" rIns="90000" tIns="-8640" bIns="-8640" anchor="t">
                <a:noAutofit/>
              </a:bodyPr>
              <a:p>
                <a:endParaRPr b="0" lang="en-US" sz="2400" strike="noStrike" u="none">
                  <a:solidFill>
                    <a:srgbClr val="ffff00"/>
                  </a:solidFill>
                  <a:effectLst/>
                  <a:uFillTx/>
                  <a:latin typeface="Times New Roman"/>
                </a:endParaRPr>
              </a:p>
            </p:txBody>
          </p:sp>
          <p:sp>
            <p:nvSpPr>
              <p:cNvPr id="520" name="Freeform 301"/>
              <p:cNvSpPr/>
              <p:nvPr/>
            </p:nvSpPr>
            <p:spPr>
              <a:xfrm flipH="1">
                <a:off x="7274160" y="647280"/>
                <a:ext cx="33120" cy="40680"/>
              </a:xfrm>
              <a:custGeom>
                <a:avLst/>
                <a:gdLst>
                  <a:gd name="GluePoint1X" fmla="*/ 2147483647 w 10"/>
                  <a:gd name="GluePoint1Y" fmla="*/ 2147483647 h 12"/>
                  <a:gd name="GluePoint2X" fmla="*/ 2147483647 w 10"/>
                  <a:gd name="GluePoint2Y" fmla="*/ 2147483647 h 12"/>
                  <a:gd name="GluePoint3X" fmla="*/ 0 w 10"/>
                  <a:gd name="GluePoint3Y" fmla="*/ 0 h 12"/>
                </a:gdLst>
                <a:ahLst/>
                <a:cxnLst>
                  <a:cxn ang="0">
                    <a:pos x="GluePoint1X" y="GluePoint1Y"/>
                  </a:cxn>
                  <a:cxn ang="0">
                    <a:pos x="GluePoint2X" y="GluePoint2Y"/>
                  </a:cxn>
                  <a:cxn ang="0">
                    <a:pos x="GluePoint3X" y="GluePoint3Y"/>
                  </a:cxn>
                </a:cxnLst>
                <a:rect l="l" t="t" r="r" b="b"/>
                <a:pathLst>
                  <a:path w="10" h="12">
                    <a:moveTo>
                      <a:pt x="4" y="12"/>
                    </a:moveTo>
                    <a:cubicBezTo>
                      <a:pt x="3" y="8"/>
                      <a:pt x="6" y="5"/>
                      <a:pt x="10" y="6"/>
                    </a:cubicBezTo>
                    <a:cubicBezTo>
                      <a:pt x="7" y="5"/>
                      <a:pt x="1" y="3"/>
                      <a:pt x="0" y="0"/>
                    </a:cubicBezTo>
                  </a:path>
                </a:pathLst>
              </a:custGeom>
              <a:solidFill>
                <a:srgbClr val="58585a"/>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521" name="Freeform 302"/>
              <p:cNvSpPr/>
              <p:nvPr/>
            </p:nvSpPr>
            <p:spPr>
              <a:xfrm flipH="1">
                <a:off x="7512120" y="1013400"/>
                <a:ext cx="34920" cy="43560"/>
              </a:xfrm>
              <a:custGeom>
                <a:avLst/>
                <a:gdLst>
                  <a:gd name="GluePoint1X" fmla="*/ 0 w 11"/>
                  <a:gd name="GluePoint1Y" fmla="*/ 2147483647 h 13"/>
                  <a:gd name="GluePoint2X" fmla="*/ 1753728611 w 11"/>
                  <a:gd name="GluePoint2Y" fmla="*/ 2147483647 h 13"/>
                  <a:gd name="GluePoint3X" fmla="*/ 486970532 w 11"/>
                  <a:gd name="GluePoint3Y" fmla="*/ 0 h 13"/>
                </a:gdLst>
                <a:ahLst/>
                <a:cxnLst>
                  <a:cxn ang="0">
                    <a:pos x="GluePoint1X" y="GluePoint1Y"/>
                  </a:cxn>
                  <a:cxn ang="0">
                    <a:pos x="GluePoint2X" y="GluePoint2Y"/>
                  </a:cxn>
                  <a:cxn ang="0">
                    <a:pos x="GluePoint3X" y="GluePoint3Y"/>
                  </a:cxn>
                </a:cxnLst>
                <a:rect l="l" t="t" r="r" b="b"/>
                <a:pathLst>
                  <a:path w="11" h="13">
                    <a:moveTo>
                      <a:pt x="0" y="13"/>
                    </a:moveTo>
                    <a:cubicBezTo>
                      <a:pt x="4" y="11"/>
                      <a:pt x="6" y="3"/>
                      <a:pt x="11" y="4"/>
                    </a:cubicBezTo>
                    <a:cubicBezTo>
                      <a:pt x="9" y="4"/>
                      <a:pt x="5" y="2"/>
                      <a:pt x="3" y="0"/>
                    </a:cubicBezTo>
                  </a:path>
                </a:pathLst>
              </a:custGeom>
              <a:solidFill>
                <a:srgbClr val="58585a"/>
              </a:solidFill>
              <a:ln w="0">
                <a:noFill/>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522" name="Freeform 303"/>
              <p:cNvSpPr/>
              <p:nvPr/>
            </p:nvSpPr>
            <p:spPr>
              <a:xfrm flipH="1">
                <a:off x="7317000" y="1121400"/>
                <a:ext cx="37800" cy="40680"/>
              </a:xfrm>
              <a:custGeom>
                <a:avLst/>
                <a:gdLst>
                  <a:gd name="GluePoint1X" fmla="*/ 620506449 w 12"/>
                  <a:gd name="GluePoint1Y" fmla="*/ 2147483647 h 12"/>
                  <a:gd name="GluePoint2X" fmla="*/ 1513491561 w 12"/>
                  <a:gd name="GluePoint2Y" fmla="*/ 2147483647 h 12"/>
                  <a:gd name="GluePoint3X" fmla="*/ 0 w 12"/>
                  <a:gd name="GluePoint3Y" fmla="*/ 0 h 12"/>
                </a:gdLst>
                <a:ahLst/>
                <a:cxnLst>
                  <a:cxn ang="0">
                    <a:pos x="GluePoint1X" y="GluePoint1Y"/>
                  </a:cxn>
                  <a:cxn ang="0">
                    <a:pos x="GluePoint2X" y="GluePoint2Y"/>
                  </a:cxn>
                  <a:cxn ang="0">
                    <a:pos x="GluePoint3X" y="GluePoint3Y"/>
                  </a:cxn>
                </a:cxnLst>
                <a:rect l="l" t="t" r="r" b="b"/>
                <a:pathLst>
                  <a:path w="12" h="12">
                    <a:moveTo>
                      <a:pt x="5" y="12"/>
                    </a:moveTo>
                    <a:cubicBezTo>
                      <a:pt x="6" y="6"/>
                      <a:pt x="7" y="5"/>
                      <a:pt x="12" y="3"/>
                    </a:cubicBezTo>
                    <a:cubicBezTo>
                      <a:pt x="8" y="4"/>
                      <a:pt x="2" y="3"/>
                      <a:pt x="0" y="0"/>
                    </a:cubicBezTo>
                  </a:path>
                </a:pathLst>
              </a:custGeom>
              <a:solidFill>
                <a:srgbClr val="58585a"/>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523" name="Freeform 304"/>
              <p:cNvSpPr/>
              <p:nvPr/>
            </p:nvSpPr>
            <p:spPr>
              <a:xfrm flipH="1">
                <a:off x="7394760" y="1287360"/>
                <a:ext cx="41760" cy="31320"/>
              </a:xfrm>
              <a:custGeom>
                <a:avLst/>
                <a:gdLst>
                  <a:gd name="GluePoint1X" fmla="*/ 2147483647 w 13"/>
                  <a:gd name="GluePoint1Y" fmla="*/ 2147483647 h 9"/>
                  <a:gd name="GluePoint2X" fmla="*/ 2147483647 w 13"/>
                  <a:gd name="GluePoint2Y" fmla="*/ 0 h 9"/>
                  <a:gd name="GluePoint3X" fmla="*/ 1780947404 w 13"/>
                  <a:gd name="GluePoint3Y" fmla="*/ 2147483647 h 9"/>
                  <a:gd name="GluePoint4X" fmla="*/ 1191661925 w 13"/>
                  <a:gd name="GluePoint4Y" fmla="*/ 2147483647 h 9"/>
                  <a:gd name="GluePoint5X" fmla="*/ 0 w 13"/>
                  <a:gd name="GluePoint5Y" fmla="*/ 2147483647 h 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 h="9">
                    <a:moveTo>
                      <a:pt x="12" y="1"/>
                    </a:moveTo>
                    <a:cubicBezTo>
                      <a:pt x="13" y="1"/>
                      <a:pt x="13" y="1"/>
                      <a:pt x="13" y="0"/>
                    </a:cubicBezTo>
                    <a:cubicBezTo>
                      <a:pt x="9" y="0"/>
                      <a:pt x="7" y="6"/>
                      <a:pt x="8" y="9"/>
                    </a:cubicBezTo>
                    <a:cubicBezTo>
                      <a:pt x="7" y="8"/>
                      <a:pt x="7" y="6"/>
                      <a:pt x="5" y="5"/>
                    </a:cubicBezTo>
                    <a:cubicBezTo>
                      <a:pt x="4" y="3"/>
                      <a:pt x="1" y="3"/>
                      <a:pt x="0" y="2"/>
                    </a:cubicBezTo>
                  </a:path>
                </a:pathLst>
              </a:custGeom>
              <a:solidFill>
                <a:srgbClr val="58585a"/>
              </a:solidFill>
              <a:ln w="0">
                <a:noFill/>
              </a:ln>
            </p:spPr>
            <p:style>
              <a:lnRef idx="0"/>
              <a:fillRef idx="0"/>
              <a:effectRef idx="0"/>
              <a:fontRef idx="minor"/>
            </p:style>
            <p:txBody>
              <a:bodyPr lIns="90000" rIns="90000" tIns="-15480" bIns="-15480" anchor="t">
                <a:noAutofit/>
              </a:bodyPr>
              <a:p>
                <a:endParaRPr b="0" lang="en-US" sz="2400" strike="noStrike" u="none">
                  <a:solidFill>
                    <a:srgbClr val="ffff00"/>
                  </a:solidFill>
                  <a:effectLst/>
                  <a:uFillTx/>
                  <a:latin typeface="Times New Roman"/>
                </a:endParaRPr>
              </a:p>
            </p:txBody>
          </p:sp>
          <p:sp>
            <p:nvSpPr>
              <p:cNvPr id="524" name="Freeform 305"/>
              <p:cNvSpPr/>
              <p:nvPr/>
            </p:nvSpPr>
            <p:spPr>
              <a:xfrm flipH="1">
                <a:off x="7606440" y="1440360"/>
                <a:ext cx="41760" cy="46440"/>
              </a:xfrm>
              <a:custGeom>
                <a:avLst/>
                <a:gdLst>
                  <a:gd name="GluePoint1X" fmla="*/ 0 w 13"/>
                  <a:gd name="GluePoint1Y" fmla="*/ 2147483647 h 14"/>
                  <a:gd name="GluePoint2X" fmla="*/ 2147483647 w 13"/>
                  <a:gd name="GluePoint2Y" fmla="*/ 604744881 h 14"/>
                  <a:gd name="GluePoint3X" fmla="*/ 2147483647 w 13"/>
                  <a:gd name="GluePoint3Y" fmla="*/ 2147483647 h 14"/>
                </a:gdLst>
                <a:ahLst/>
                <a:cxnLst>
                  <a:cxn ang="0">
                    <a:pos x="GluePoint1X" y="GluePoint1Y"/>
                  </a:cxn>
                  <a:cxn ang="0">
                    <a:pos x="GluePoint2X" y="GluePoint2Y"/>
                  </a:cxn>
                  <a:cxn ang="0">
                    <a:pos x="GluePoint3X" y="GluePoint3Y"/>
                  </a:cxn>
                </a:cxnLst>
                <a:rect l="l" t="t" r="r" b="b"/>
                <a:pathLst>
                  <a:path w="13" h="14">
                    <a:moveTo>
                      <a:pt x="0" y="7"/>
                    </a:moveTo>
                    <a:cubicBezTo>
                      <a:pt x="5" y="11"/>
                      <a:pt x="9" y="0"/>
                      <a:pt x="13" y="1"/>
                    </a:cubicBezTo>
                    <a:cubicBezTo>
                      <a:pt x="10" y="4"/>
                      <a:pt x="10" y="10"/>
                      <a:pt x="10" y="14"/>
                    </a:cubicBezTo>
                  </a:path>
                </a:pathLst>
              </a:custGeom>
              <a:solidFill>
                <a:srgbClr val="58585a"/>
              </a:solidFill>
              <a:ln w="0">
                <a:noFill/>
              </a:ln>
            </p:spPr>
            <p:style>
              <a:lnRef idx="0"/>
              <a:fillRef idx="0"/>
              <a:effectRef idx="0"/>
              <a:fontRef idx="minor"/>
            </p:style>
            <p:txBody>
              <a:bodyPr lIns="90000" rIns="90000" tIns="-360" bIns="-360" anchor="t">
                <a:noAutofit/>
              </a:bodyPr>
              <a:p>
                <a:endParaRPr b="0" lang="en-US" sz="2400" strike="noStrike" u="none">
                  <a:solidFill>
                    <a:srgbClr val="ffff00"/>
                  </a:solidFill>
                  <a:effectLst/>
                  <a:uFillTx/>
                  <a:latin typeface="Times New Roman"/>
                </a:endParaRPr>
              </a:p>
            </p:txBody>
          </p:sp>
          <p:sp>
            <p:nvSpPr>
              <p:cNvPr id="525" name="Freeform 306"/>
              <p:cNvSpPr/>
              <p:nvPr/>
            </p:nvSpPr>
            <p:spPr>
              <a:xfrm flipH="1">
                <a:off x="6913800" y="1595520"/>
                <a:ext cx="32400" cy="31320"/>
              </a:xfrm>
              <a:custGeom>
                <a:avLst/>
                <a:gdLst>
                  <a:gd name="GluePoint1X" fmla="*/ 631712963 w 10"/>
                  <a:gd name="GluePoint1Y" fmla="*/ 0 h 9"/>
                  <a:gd name="GluePoint2X" fmla="*/ 2095983323 w 10"/>
                  <a:gd name="GluePoint2Y" fmla="*/ 2147483647 h 9"/>
                  <a:gd name="GluePoint3X" fmla="*/ 0 w 10"/>
                  <a:gd name="GluePoint3Y" fmla="*/ 2147483647 h 9"/>
                </a:gdLst>
                <a:ahLst/>
                <a:cxnLst>
                  <a:cxn ang="0">
                    <a:pos x="GluePoint1X" y="GluePoint1Y"/>
                  </a:cxn>
                  <a:cxn ang="0">
                    <a:pos x="GluePoint2X" y="GluePoint2Y"/>
                  </a:cxn>
                  <a:cxn ang="0">
                    <a:pos x="GluePoint3X" y="GluePoint3Y"/>
                  </a:cxn>
                </a:cxnLst>
                <a:rect l="l" t="t" r="r" b="b"/>
                <a:pathLst>
                  <a:path w="10" h="9">
                    <a:moveTo>
                      <a:pt x="3" y="0"/>
                    </a:moveTo>
                    <a:cubicBezTo>
                      <a:pt x="2" y="3"/>
                      <a:pt x="6" y="7"/>
                      <a:pt x="10" y="7"/>
                    </a:cubicBezTo>
                    <a:cubicBezTo>
                      <a:pt x="7" y="6"/>
                      <a:pt x="2" y="7"/>
                      <a:pt x="0" y="9"/>
                    </a:cubicBezTo>
                  </a:path>
                </a:pathLst>
              </a:custGeom>
              <a:solidFill>
                <a:srgbClr val="58585a"/>
              </a:solidFill>
              <a:ln w="0">
                <a:noFill/>
              </a:ln>
            </p:spPr>
            <p:style>
              <a:lnRef idx="0"/>
              <a:fillRef idx="0"/>
              <a:effectRef idx="0"/>
              <a:fontRef idx="minor"/>
            </p:style>
            <p:txBody>
              <a:bodyPr lIns="90000" rIns="90000" tIns="-15480" bIns="-15480" anchor="t">
                <a:noAutofit/>
              </a:bodyPr>
              <a:p>
                <a:endParaRPr b="0" lang="en-US" sz="2400" strike="noStrike" u="none">
                  <a:solidFill>
                    <a:srgbClr val="ffff00"/>
                  </a:solidFill>
                  <a:effectLst/>
                  <a:uFillTx/>
                  <a:latin typeface="Times New Roman"/>
                </a:endParaRPr>
              </a:p>
            </p:txBody>
          </p:sp>
          <p:sp>
            <p:nvSpPr>
              <p:cNvPr id="526" name="Freeform 307"/>
              <p:cNvSpPr/>
              <p:nvPr/>
            </p:nvSpPr>
            <p:spPr>
              <a:xfrm flipH="1">
                <a:off x="7404480" y="1924200"/>
                <a:ext cx="38880" cy="33840"/>
              </a:xfrm>
              <a:custGeom>
                <a:avLst/>
                <a:gdLst>
                  <a:gd name="GluePoint1X" fmla="*/ 0 w 12"/>
                  <a:gd name="GluePoint1Y" fmla="*/ 2147483647 h 10"/>
                  <a:gd name="GluePoint2X" fmla="*/ 2147483647 w 12"/>
                  <a:gd name="GluePoint2Y" fmla="*/ 0 h 10"/>
                  <a:gd name="GluePoint3X" fmla="*/ 1765527064 w 12"/>
                  <a:gd name="GluePoint3Y" fmla="*/ 2147483647 h 10"/>
                </a:gdLst>
                <a:ahLst/>
                <a:cxnLst>
                  <a:cxn ang="0">
                    <a:pos x="GluePoint1X" y="GluePoint1Y"/>
                  </a:cxn>
                  <a:cxn ang="0">
                    <a:pos x="GluePoint2X" y="GluePoint2Y"/>
                  </a:cxn>
                  <a:cxn ang="0">
                    <a:pos x="GluePoint3X" y="GluePoint3Y"/>
                  </a:cxn>
                </a:cxnLst>
                <a:rect l="l" t="t" r="r" b="b"/>
                <a:pathLst>
                  <a:path w="12" h="10">
                    <a:moveTo>
                      <a:pt x="0" y="5"/>
                    </a:moveTo>
                    <a:cubicBezTo>
                      <a:pt x="4" y="6"/>
                      <a:pt x="9" y="2"/>
                      <a:pt x="12" y="0"/>
                    </a:cubicBezTo>
                    <a:cubicBezTo>
                      <a:pt x="10" y="3"/>
                      <a:pt x="7" y="6"/>
                      <a:pt x="6" y="10"/>
                    </a:cubicBezTo>
                  </a:path>
                </a:pathLst>
              </a:custGeom>
              <a:solidFill>
                <a:srgbClr val="58585a"/>
              </a:solidFill>
              <a:ln w="0">
                <a:noFill/>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527" name="Freeform 308"/>
              <p:cNvSpPr/>
              <p:nvPr/>
            </p:nvSpPr>
            <p:spPr>
              <a:xfrm flipH="1">
                <a:off x="5765760" y="813240"/>
                <a:ext cx="58680" cy="23040"/>
              </a:xfrm>
              <a:custGeom>
                <a:avLst/>
                <a:gdLst>
                  <a:gd name="GluePoint1X" fmla="*/ 0 w 18"/>
                  <a:gd name="GluePoint1Y" fmla="*/ 2147483647 h 7"/>
                  <a:gd name="GluePoint2X" fmla="*/ 2147483647 w 18"/>
                  <a:gd name="GluePoint2Y" fmla="*/ 2147483647 h 7"/>
                  <a:gd name="GluePoint3X" fmla="*/ 2147483647 w 18"/>
                  <a:gd name="GluePoint3Y" fmla="*/ 0 h 7"/>
                </a:gdLst>
                <a:ahLst/>
                <a:cxnLst>
                  <a:cxn ang="0">
                    <a:pos x="GluePoint1X" y="GluePoint1Y"/>
                  </a:cxn>
                  <a:cxn ang="0">
                    <a:pos x="GluePoint2X" y="GluePoint2Y"/>
                  </a:cxn>
                  <a:cxn ang="0">
                    <a:pos x="GluePoint3X" y="GluePoint3Y"/>
                  </a:cxn>
                </a:cxnLst>
                <a:rect l="l" t="t" r="r" b="b"/>
                <a:pathLst>
                  <a:path w="18" h="7">
                    <a:moveTo>
                      <a:pt x="0" y="7"/>
                    </a:moveTo>
                    <a:cubicBezTo>
                      <a:pt x="6" y="5"/>
                      <a:pt x="12" y="2"/>
                      <a:pt x="18" y="7"/>
                    </a:cubicBezTo>
                    <a:cubicBezTo>
                      <a:pt x="15" y="5"/>
                      <a:pt x="14" y="2"/>
                      <a:pt x="11" y="0"/>
                    </a:cubicBezTo>
                  </a:path>
                </a:pathLst>
              </a:custGeom>
              <a:solidFill>
                <a:srgbClr val="58585a"/>
              </a:solidFill>
              <a:ln w="0">
                <a:noFill/>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528" name="Freeform 309"/>
              <p:cNvSpPr/>
              <p:nvPr/>
            </p:nvSpPr>
            <p:spPr>
              <a:xfrm flipH="1">
                <a:off x="5370480" y="907560"/>
                <a:ext cx="51480" cy="47520"/>
              </a:xfrm>
              <a:custGeom>
                <a:avLst/>
                <a:gdLst>
                  <a:gd name="GluePoint1X" fmla="*/ 0 w 16"/>
                  <a:gd name="GluePoint1Y" fmla="*/ 2147483647 h 14"/>
                  <a:gd name="GluePoint2X" fmla="*/ 2147483647 w 16"/>
                  <a:gd name="GluePoint2Y" fmla="*/ 2147483647 h 14"/>
                  <a:gd name="GluePoint3X" fmla="*/ 2147483647 w 16"/>
                  <a:gd name="GluePoint3Y" fmla="*/ 0 h 14"/>
                </a:gdLst>
                <a:ahLst/>
                <a:cxnLst>
                  <a:cxn ang="0">
                    <a:pos x="GluePoint1X" y="GluePoint1Y"/>
                  </a:cxn>
                  <a:cxn ang="0">
                    <a:pos x="GluePoint2X" y="GluePoint2Y"/>
                  </a:cxn>
                  <a:cxn ang="0">
                    <a:pos x="GluePoint3X" y="GluePoint3Y"/>
                  </a:cxn>
                </a:cxnLst>
                <a:rect l="l" t="t" r="r" b="b"/>
                <a:pathLst>
                  <a:path w="16" h="14">
                    <a:moveTo>
                      <a:pt x="0" y="3"/>
                    </a:moveTo>
                    <a:cubicBezTo>
                      <a:pt x="6" y="1"/>
                      <a:pt x="12" y="10"/>
                      <a:pt x="16" y="14"/>
                    </a:cubicBezTo>
                    <a:cubicBezTo>
                      <a:pt x="14" y="11"/>
                      <a:pt x="10" y="3"/>
                      <a:pt x="11" y="0"/>
                    </a:cubicBezTo>
                  </a:path>
                </a:pathLst>
              </a:custGeom>
              <a:solidFill>
                <a:srgbClr val="58585a"/>
              </a:solidFill>
              <a:ln w="0">
                <a:noFill/>
              </a:ln>
            </p:spPr>
            <p:style>
              <a:lnRef idx="0"/>
              <a:fillRef idx="0"/>
              <a:effectRef idx="0"/>
              <a:fontRef idx="minor"/>
            </p:style>
            <p:txBody>
              <a:bodyPr lIns="90000" rIns="90000" tIns="720" bIns="720" anchor="t">
                <a:noAutofit/>
              </a:bodyPr>
              <a:p>
                <a:endParaRPr b="0" lang="en-US" sz="2400" strike="noStrike" u="none">
                  <a:solidFill>
                    <a:srgbClr val="ffff00"/>
                  </a:solidFill>
                  <a:effectLst/>
                  <a:uFillTx/>
                  <a:latin typeface="Times New Roman"/>
                </a:endParaRPr>
              </a:p>
            </p:txBody>
          </p:sp>
          <p:sp>
            <p:nvSpPr>
              <p:cNvPr id="529" name="Freeform 310"/>
              <p:cNvSpPr/>
              <p:nvPr/>
            </p:nvSpPr>
            <p:spPr>
              <a:xfrm flipH="1">
                <a:off x="5194440" y="711360"/>
                <a:ext cx="68400" cy="43920"/>
              </a:xfrm>
              <a:custGeom>
                <a:avLst/>
                <a:gdLst>
                  <a:gd name="GluePoint1X" fmla="*/ 2147483647 w 21"/>
                  <a:gd name="GluePoint1Y" fmla="*/ 0 h 13"/>
                  <a:gd name="GluePoint2X" fmla="*/ 2147483647 w 21"/>
                  <a:gd name="GluePoint2Y" fmla="*/ 2147483647 h 13"/>
                  <a:gd name="GluePoint3X" fmla="*/ 1970997908 w 21"/>
                  <a:gd name="GluePoint3Y" fmla="*/ 2147483647 h 13"/>
                  <a:gd name="GluePoint4X" fmla="*/ 0 w 21"/>
                  <a:gd name="GluePoint4Y" fmla="*/ 0 h 13"/>
                </a:gdLst>
                <a:ahLst/>
                <a:cxnLst>
                  <a:cxn ang="0">
                    <a:pos x="GluePoint1X" y="GluePoint1Y"/>
                  </a:cxn>
                  <a:cxn ang="0">
                    <a:pos x="GluePoint2X" y="GluePoint2Y"/>
                  </a:cxn>
                  <a:cxn ang="0">
                    <a:pos x="GluePoint3X" y="GluePoint3Y"/>
                  </a:cxn>
                  <a:cxn ang="0">
                    <a:pos x="GluePoint4X" y="GluePoint4Y"/>
                  </a:cxn>
                </a:cxnLst>
                <a:rect l="l" t="t" r="r" b="b"/>
                <a:pathLst>
                  <a:path w="21" h="13">
                    <a:moveTo>
                      <a:pt x="21" y="0"/>
                    </a:moveTo>
                    <a:cubicBezTo>
                      <a:pt x="18" y="2"/>
                      <a:pt x="13" y="9"/>
                      <a:pt x="16" y="13"/>
                    </a:cubicBezTo>
                    <a:cubicBezTo>
                      <a:pt x="15" y="8"/>
                      <a:pt x="10" y="7"/>
                      <a:pt x="7" y="4"/>
                    </a:cubicBezTo>
                    <a:cubicBezTo>
                      <a:pt x="4" y="3"/>
                      <a:pt x="3" y="1"/>
                      <a:pt x="0" y="0"/>
                    </a:cubicBezTo>
                  </a:path>
                </a:pathLst>
              </a:custGeom>
              <a:solidFill>
                <a:srgbClr val="58585a"/>
              </a:solidFill>
              <a:ln w="0">
                <a:noFill/>
              </a:ln>
            </p:spPr>
            <p:style>
              <a:lnRef idx="0"/>
              <a:fillRef idx="0"/>
              <a:effectRef idx="0"/>
              <a:fontRef idx="minor"/>
            </p:style>
            <p:txBody>
              <a:bodyPr lIns="90000" rIns="90000" tIns="-2880" bIns="-2880" anchor="t">
                <a:noAutofit/>
              </a:bodyPr>
              <a:p>
                <a:endParaRPr b="0" lang="en-US" sz="2400" strike="noStrike" u="none">
                  <a:solidFill>
                    <a:srgbClr val="ffff00"/>
                  </a:solidFill>
                  <a:effectLst/>
                  <a:uFillTx/>
                  <a:latin typeface="Times New Roman"/>
                </a:endParaRPr>
              </a:p>
            </p:txBody>
          </p:sp>
          <p:sp>
            <p:nvSpPr>
              <p:cNvPr id="530" name="Freeform 311"/>
              <p:cNvSpPr/>
              <p:nvPr/>
            </p:nvSpPr>
            <p:spPr>
              <a:xfrm flipH="1">
                <a:off x="4959720" y="693720"/>
                <a:ext cx="33480" cy="47520"/>
              </a:xfrm>
              <a:custGeom>
                <a:avLst/>
                <a:gdLst>
                  <a:gd name="GluePoint1X" fmla="*/ 0 w 10"/>
                  <a:gd name="GluePoint1Y" fmla="*/ 0 h 14"/>
                  <a:gd name="GluePoint2X" fmla="*/ 2147483647 w 10"/>
                  <a:gd name="GluePoint2Y" fmla="*/ 2147483647 h 14"/>
                  <a:gd name="GluePoint3X" fmla="*/ 2147483647 w 10"/>
                  <a:gd name="GluePoint3Y" fmla="*/ 1823616533 h 14"/>
                </a:gdLst>
                <a:ahLst/>
                <a:cxnLst>
                  <a:cxn ang="0">
                    <a:pos x="GluePoint1X" y="GluePoint1Y"/>
                  </a:cxn>
                  <a:cxn ang="0">
                    <a:pos x="GluePoint2X" y="GluePoint2Y"/>
                  </a:cxn>
                  <a:cxn ang="0">
                    <a:pos x="GluePoint3X" y="GluePoint3Y"/>
                  </a:cxn>
                </a:cxnLst>
                <a:rect l="l" t="t" r="r" b="b"/>
                <a:pathLst>
                  <a:path w="10" h="14">
                    <a:moveTo>
                      <a:pt x="0" y="0"/>
                    </a:moveTo>
                    <a:cubicBezTo>
                      <a:pt x="4" y="4"/>
                      <a:pt x="8" y="7"/>
                      <a:pt x="6" y="14"/>
                    </a:cubicBezTo>
                    <a:cubicBezTo>
                      <a:pt x="10" y="12"/>
                      <a:pt x="10" y="5"/>
                      <a:pt x="9" y="1"/>
                    </a:cubicBezTo>
                  </a:path>
                </a:pathLst>
              </a:custGeom>
              <a:solidFill>
                <a:srgbClr val="58585a"/>
              </a:solidFill>
              <a:ln w="0">
                <a:noFill/>
              </a:ln>
            </p:spPr>
            <p:style>
              <a:lnRef idx="0"/>
              <a:fillRef idx="0"/>
              <a:effectRef idx="0"/>
              <a:fontRef idx="minor"/>
            </p:style>
            <p:txBody>
              <a:bodyPr lIns="90000" rIns="90000" tIns="720" bIns="720" anchor="t">
                <a:noAutofit/>
              </a:bodyPr>
              <a:p>
                <a:endParaRPr b="0" lang="en-US" sz="2400" strike="noStrike" u="none">
                  <a:solidFill>
                    <a:srgbClr val="ffff00"/>
                  </a:solidFill>
                  <a:effectLst/>
                  <a:uFillTx/>
                  <a:latin typeface="Times New Roman"/>
                </a:endParaRPr>
              </a:p>
            </p:txBody>
          </p:sp>
          <p:sp>
            <p:nvSpPr>
              <p:cNvPr id="531" name="Freeform 312"/>
              <p:cNvSpPr/>
              <p:nvPr/>
            </p:nvSpPr>
            <p:spPr>
              <a:xfrm flipH="1">
                <a:off x="5011920" y="907560"/>
                <a:ext cx="71280" cy="64080"/>
              </a:xfrm>
              <a:custGeom>
                <a:avLst/>
                <a:gdLst>
                  <a:gd name="GluePoint1X" fmla="*/ 0 w 22"/>
                  <a:gd name="GluePoint1Y" fmla="*/ 2147483647 h 19"/>
                  <a:gd name="GluePoint2X" fmla="*/ 2147483647 w 22"/>
                  <a:gd name="GluePoint2Y" fmla="*/ 0 h 19"/>
                  <a:gd name="GluePoint3X" fmla="*/ 2147483647 w 22"/>
                  <a:gd name="GluePoint3Y" fmla="*/ 2147483647 h 19"/>
                </a:gdLst>
                <a:ahLst/>
                <a:cxnLst>
                  <a:cxn ang="0">
                    <a:pos x="GluePoint1X" y="GluePoint1Y"/>
                  </a:cxn>
                  <a:cxn ang="0">
                    <a:pos x="GluePoint2X" y="GluePoint2Y"/>
                  </a:cxn>
                  <a:cxn ang="0">
                    <a:pos x="GluePoint3X" y="GluePoint3Y"/>
                  </a:cxn>
                </a:cxnLst>
                <a:rect l="l" t="t" r="r" b="b"/>
                <a:pathLst>
                  <a:path w="22" h="19">
                    <a:moveTo>
                      <a:pt x="0" y="7"/>
                    </a:moveTo>
                    <a:cubicBezTo>
                      <a:pt x="4" y="13"/>
                      <a:pt x="15" y="6"/>
                      <a:pt x="14" y="0"/>
                    </a:cubicBezTo>
                    <a:cubicBezTo>
                      <a:pt x="16" y="7"/>
                      <a:pt x="21" y="12"/>
                      <a:pt x="22" y="19"/>
                    </a:cubicBezTo>
                  </a:path>
                </a:pathLst>
              </a:custGeom>
              <a:solidFill>
                <a:srgbClr val="58585a"/>
              </a:solidFill>
              <a:ln w="0">
                <a:noFill/>
              </a:ln>
            </p:spPr>
            <p:style>
              <a:lnRef idx="0"/>
              <a:fillRef idx="0"/>
              <a:effectRef idx="0"/>
              <a:fontRef idx="minor"/>
            </p:style>
            <p:txBody>
              <a:bodyPr lIns="90000" rIns="90000" tIns="17280" bIns="17280" anchor="t">
                <a:noAutofit/>
              </a:bodyPr>
              <a:p>
                <a:endParaRPr b="0" lang="en-US" sz="2400" strike="noStrike" u="none">
                  <a:solidFill>
                    <a:srgbClr val="ffff00"/>
                  </a:solidFill>
                  <a:effectLst/>
                  <a:uFillTx/>
                  <a:latin typeface="Times New Roman"/>
                </a:endParaRPr>
              </a:p>
            </p:txBody>
          </p:sp>
          <p:sp>
            <p:nvSpPr>
              <p:cNvPr id="532" name="Freeform 313"/>
              <p:cNvSpPr/>
              <p:nvPr/>
            </p:nvSpPr>
            <p:spPr>
              <a:xfrm flipH="1">
                <a:off x="4937760" y="1063800"/>
                <a:ext cx="21960" cy="98280"/>
              </a:xfrm>
              <a:custGeom>
                <a:avLst/>
                <a:gdLst>
                  <a:gd name="GluePoint1X" fmla="*/ 0 w 7"/>
                  <a:gd name="GluePoint1Y" fmla="*/ 0 h 29"/>
                  <a:gd name="GluePoint2X" fmla="*/ 164859344 w 7"/>
                  <a:gd name="GluePoint2Y" fmla="*/ 2147483647 h 29"/>
                  <a:gd name="GluePoint3X" fmla="*/ 1284907248 w 7"/>
                  <a:gd name="GluePoint3Y" fmla="*/ 2147483647 h 29"/>
                  <a:gd name="GluePoint4X" fmla="*/ 861305961 w 7"/>
                  <a:gd name="GluePoint4Y" fmla="*/ 2147483647 h 29"/>
                  <a:gd name="GluePoint5X" fmla="*/ 164859344 w 7"/>
                  <a:gd name="GluePoint5Y" fmla="*/ 2147483647 h 2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 h="29">
                    <a:moveTo>
                      <a:pt x="0" y="0"/>
                    </a:moveTo>
                    <a:cubicBezTo>
                      <a:pt x="0" y="9"/>
                      <a:pt x="3" y="20"/>
                      <a:pt x="1" y="29"/>
                    </a:cubicBezTo>
                    <a:cubicBezTo>
                      <a:pt x="4" y="26"/>
                      <a:pt x="1" y="19"/>
                      <a:pt x="7" y="19"/>
                    </a:cubicBezTo>
                    <a:cubicBezTo>
                      <a:pt x="6" y="17"/>
                      <a:pt x="5" y="16"/>
                      <a:pt x="5" y="14"/>
                    </a:cubicBezTo>
                    <a:cubicBezTo>
                      <a:pt x="3" y="10"/>
                      <a:pt x="3" y="7"/>
                      <a:pt x="1" y="3"/>
                    </a:cubicBezTo>
                  </a:path>
                </a:pathLst>
              </a:custGeom>
              <a:solidFill>
                <a:srgbClr val="58585a"/>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33" name="Freeform 314"/>
              <p:cNvSpPr/>
              <p:nvPr/>
            </p:nvSpPr>
            <p:spPr>
              <a:xfrm flipH="1">
                <a:off x="4749840" y="972000"/>
                <a:ext cx="27720" cy="36720"/>
              </a:xfrm>
              <a:custGeom>
                <a:avLst/>
                <a:gdLst>
                  <a:gd name="GluePoint1X" fmla="*/ 0 w 9"/>
                  <a:gd name="GluePoint1Y" fmla="*/ 0 h 11"/>
                  <a:gd name="GluePoint2X" fmla="*/ 551740060 w 9"/>
                  <a:gd name="GluePoint2Y" fmla="*/ 2147483647 h 11"/>
                  <a:gd name="GluePoint3X" fmla="*/ 845611807 w 9"/>
                  <a:gd name="GluePoint3Y" fmla="*/ 741099284 h 11"/>
                </a:gdLst>
                <a:ahLst/>
                <a:cxnLst>
                  <a:cxn ang="0">
                    <a:pos x="GluePoint1X" y="GluePoint1Y"/>
                  </a:cxn>
                  <a:cxn ang="0">
                    <a:pos x="GluePoint2X" y="GluePoint2Y"/>
                  </a:cxn>
                  <a:cxn ang="0">
                    <a:pos x="GluePoint3X" y="GluePoint3Y"/>
                  </a:cxn>
                </a:cxnLst>
                <a:rect l="l" t="t" r="r" b="b"/>
                <a:pathLst>
                  <a:path w="9" h="11">
                    <a:moveTo>
                      <a:pt x="0" y="0"/>
                    </a:moveTo>
                    <a:cubicBezTo>
                      <a:pt x="3" y="3"/>
                      <a:pt x="5" y="7"/>
                      <a:pt x="6" y="11"/>
                    </a:cubicBezTo>
                    <a:cubicBezTo>
                      <a:pt x="7" y="8"/>
                      <a:pt x="6" y="4"/>
                      <a:pt x="9" y="1"/>
                    </a:cubicBezTo>
                  </a:path>
                </a:pathLst>
              </a:custGeom>
              <a:solidFill>
                <a:srgbClr val="58585a"/>
              </a:solidFill>
              <a:ln w="0">
                <a:noFill/>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534" name="Freeform 315"/>
              <p:cNvSpPr/>
              <p:nvPr/>
            </p:nvSpPr>
            <p:spPr>
              <a:xfrm flipH="1">
                <a:off x="4570200" y="1301040"/>
                <a:ext cx="61560" cy="27000"/>
              </a:xfrm>
              <a:custGeom>
                <a:avLst/>
                <a:gdLst>
                  <a:gd name="GluePoint1X" fmla="*/ 554823014 w 19"/>
                  <a:gd name="GluePoint1Y" fmla="*/ 1823616533 h 8"/>
                  <a:gd name="GluePoint2X" fmla="*/ 0 w 19"/>
                  <a:gd name="GluePoint2Y" fmla="*/ 2147483647 h 8"/>
                  <a:gd name="GluePoint3X" fmla="*/ 2147483647 w 19"/>
                  <a:gd name="GluePoint3Y" fmla="*/ 2147483647 h 8"/>
                  <a:gd name="GluePoint4X" fmla="*/ 2147483647 w 19"/>
                  <a:gd name="GluePoint4Y" fmla="*/ 1823616533 h 8"/>
                </a:gdLst>
                <a:ahLst/>
                <a:cxnLst>
                  <a:cxn ang="0">
                    <a:pos x="GluePoint1X" y="GluePoint1Y"/>
                  </a:cxn>
                  <a:cxn ang="0">
                    <a:pos x="GluePoint2X" y="GluePoint2Y"/>
                  </a:cxn>
                  <a:cxn ang="0">
                    <a:pos x="GluePoint3X" y="GluePoint3Y"/>
                  </a:cxn>
                  <a:cxn ang="0">
                    <a:pos x="GluePoint4X" y="GluePoint4Y"/>
                  </a:cxn>
                </a:cxnLst>
                <a:rect l="l" t="t" r="r" b="b"/>
                <a:pathLst>
                  <a:path w="19" h="8">
                    <a:moveTo>
                      <a:pt x="2" y="1"/>
                    </a:moveTo>
                    <a:cubicBezTo>
                      <a:pt x="4" y="4"/>
                      <a:pt x="2" y="6"/>
                      <a:pt x="0" y="8"/>
                    </a:cubicBezTo>
                    <a:cubicBezTo>
                      <a:pt x="5" y="3"/>
                      <a:pt x="13" y="4"/>
                      <a:pt x="19" y="2"/>
                    </a:cubicBezTo>
                    <a:cubicBezTo>
                      <a:pt x="16" y="2"/>
                      <a:pt x="13" y="0"/>
                      <a:pt x="11" y="1"/>
                    </a:cubicBezTo>
                  </a:path>
                </a:pathLst>
              </a:custGeom>
              <a:solidFill>
                <a:srgbClr val="58585a"/>
              </a:solidFill>
              <a:ln w="0">
                <a:noFill/>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535" name="Freeform 316"/>
              <p:cNvSpPr/>
              <p:nvPr/>
            </p:nvSpPr>
            <p:spPr>
              <a:xfrm flipH="1">
                <a:off x="4681080" y="1500840"/>
                <a:ext cx="51480" cy="34200"/>
              </a:xfrm>
              <a:custGeom>
                <a:avLst/>
                <a:gdLst>
                  <a:gd name="GluePoint1X" fmla="*/ 0 w 16"/>
                  <a:gd name="GluePoint1Y" fmla="*/ 0 h 10"/>
                  <a:gd name="GluePoint2X" fmla="*/ 2147483647 w 16"/>
                  <a:gd name="GluePoint2Y" fmla="*/ 2147483647 h 10"/>
                  <a:gd name="GluePoint3X" fmla="*/ 2147483647 w 16"/>
                  <a:gd name="GluePoint3Y" fmla="*/ 2147483647 h 10"/>
                  <a:gd name="GluePoint4X" fmla="*/ 711746437 w 16"/>
                  <a:gd name="GluePoint4Y" fmla="*/ 2147483647 h 10"/>
                </a:gdLst>
                <a:ahLst/>
                <a:cxnLst>
                  <a:cxn ang="0">
                    <a:pos x="GluePoint1X" y="GluePoint1Y"/>
                  </a:cxn>
                  <a:cxn ang="0">
                    <a:pos x="GluePoint2X" y="GluePoint2Y"/>
                  </a:cxn>
                  <a:cxn ang="0">
                    <a:pos x="GluePoint3X" y="GluePoint3Y"/>
                  </a:cxn>
                  <a:cxn ang="0">
                    <a:pos x="GluePoint4X" y="GluePoint4Y"/>
                  </a:cxn>
                </a:cxnLst>
                <a:rect l="l" t="t" r="r" b="b"/>
                <a:pathLst>
                  <a:path w="16" h="10">
                    <a:moveTo>
                      <a:pt x="0" y="0"/>
                    </a:moveTo>
                    <a:cubicBezTo>
                      <a:pt x="3" y="2"/>
                      <a:pt x="6" y="3"/>
                      <a:pt x="9" y="3"/>
                    </a:cubicBezTo>
                    <a:cubicBezTo>
                      <a:pt x="12" y="3"/>
                      <a:pt x="14" y="2"/>
                      <a:pt x="16" y="4"/>
                    </a:cubicBezTo>
                    <a:cubicBezTo>
                      <a:pt x="12" y="4"/>
                      <a:pt x="4" y="7"/>
                      <a:pt x="3" y="10"/>
                    </a:cubicBezTo>
                  </a:path>
                </a:pathLst>
              </a:custGeom>
              <a:solidFill>
                <a:srgbClr val="58585a"/>
              </a:solidFill>
              <a:ln w="0">
                <a:noFill/>
              </a:ln>
            </p:spPr>
            <p:style>
              <a:lnRef idx="0"/>
              <a:fillRef idx="0"/>
              <a:effectRef idx="0"/>
              <a:fontRef idx="minor"/>
            </p:style>
            <p:txBody>
              <a:bodyPr lIns="90000" rIns="90000" tIns="-12600" bIns="-12600" anchor="t">
                <a:noAutofit/>
              </a:bodyPr>
              <a:p>
                <a:endParaRPr b="0" lang="en-US" sz="2400" strike="noStrike" u="none">
                  <a:solidFill>
                    <a:srgbClr val="ffff00"/>
                  </a:solidFill>
                  <a:effectLst/>
                  <a:uFillTx/>
                  <a:latin typeface="Times New Roman"/>
                </a:endParaRPr>
              </a:p>
            </p:txBody>
          </p:sp>
          <p:sp>
            <p:nvSpPr>
              <p:cNvPr id="536" name="Freeform 317"/>
              <p:cNvSpPr/>
              <p:nvPr/>
            </p:nvSpPr>
            <p:spPr>
              <a:xfrm flipH="1">
                <a:off x="7039800" y="447120"/>
                <a:ext cx="26640" cy="27360"/>
              </a:xfrm>
              <a:custGeom>
                <a:avLst/>
                <a:gdLst>
                  <a:gd name="GluePoint1X" fmla="*/ 1854894589 w 8"/>
                  <a:gd name="GluePoint1Y" fmla="*/ 0 h 8"/>
                  <a:gd name="GluePoint2X" fmla="*/ 2147483647 w 8"/>
                  <a:gd name="GluePoint2Y" fmla="*/ 2147483647 h 8"/>
                  <a:gd name="GluePoint3X" fmla="*/ 0 w 8"/>
                  <a:gd name="GluePoint3Y" fmla="*/ 2147483647 h 8"/>
                </a:gdLst>
                <a:ahLst/>
                <a:cxnLst>
                  <a:cxn ang="0">
                    <a:pos x="GluePoint1X" y="GluePoint1Y"/>
                  </a:cxn>
                  <a:cxn ang="0">
                    <a:pos x="GluePoint2X" y="GluePoint2Y"/>
                  </a:cxn>
                  <a:cxn ang="0">
                    <a:pos x="GluePoint3X" y="GluePoint3Y"/>
                  </a:cxn>
                </a:cxnLst>
                <a:rect l="l" t="t" r="r" b="b"/>
                <a:pathLst>
                  <a:path w="8" h="8">
                    <a:moveTo>
                      <a:pt x="4" y="0"/>
                    </a:moveTo>
                    <a:cubicBezTo>
                      <a:pt x="2" y="3"/>
                      <a:pt x="5" y="5"/>
                      <a:pt x="8" y="6"/>
                    </a:cubicBezTo>
                    <a:cubicBezTo>
                      <a:pt x="6" y="7"/>
                      <a:pt x="2" y="7"/>
                      <a:pt x="0" y="8"/>
                    </a:cubicBezTo>
                  </a:path>
                </a:pathLst>
              </a:custGeom>
              <a:solidFill>
                <a:srgbClr val="58585a"/>
              </a:solidFill>
              <a:ln w="0">
                <a:noFill/>
              </a:ln>
            </p:spPr>
            <p:style>
              <a:lnRef idx="0"/>
              <a:fillRef idx="0"/>
              <a:effectRef idx="0"/>
              <a:fontRef idx="minor"/>
            </p:style>
            <p:txBody>
              <a:bodyPr lIns="90000" rIns="90000" tIns="-19440" bIns="-19440" anchor="t">
                <a:noAutofit/>
              </a:bodyPr>
              <a:p>
                <a:endParaRPr b="0" lang="en-US" sz="2400" strike="noStrike" u="none">
                  <a:solidFill>
                    <a:srgbClr val="ffff00"/>
                  </a:solidFill>
                  <a:effectLst/>
                  <a:uFillTx/>
                  <a:latin typeface="Times New Roman"/>
                </a:endParaRPr>
              </a:p>
            </p:txBody>
          </p:sp>
          <p:sp>
            <p:nvSpPr>
              <p:cNvPr id="537" name="Freeform 318"/>
              <p:cNvSpPr/>
              <p:nvPr/>
            </p:nvSpPr>
            <p:spPr>
              <a:xfrm flipH="1">
                <a:off x="6630480" y="626760"/>
                <a:ext cx="32040" cy="27000"/>
              </a:xfrm>
              <a:custGeom>
                <a:avLst/>
                <a:gdLst>
                  <a:gd name="GluePoint1X" fmla="*/ 0 w 10"/>
                  <a:gd name="GluePoint1Y" fmla="*/ 0 h 8"/>
                  <a:gd name="GluePoint2X" fmla="*/ 2095983323 w 10"/>
                  <a:gd name="GluePoint2Y" fmla="*/ 0 h 8"/>
                  <a:gd name="GluePoint3X" fmla="*/ 1268151821 w 10"/>
                  <a:gd name="GluePoint3Y" fmla="*/ 2147483647 h 8"/>
                </a:gdLst>
                <a:ahLst/>
                <a:cxnLst>
                  <a:cxn ang="0">
                    <a:pos x="GluePoint1X" y="GluePoint1Y"/>
                  </a:cxn>
                  <a:cxn ang="0">
                    <a:pos x="GluePoint2X" y="GluePoint2Y"/>
                  </a:cxn>
                  <a:cxn ang="0">
                    <a:pos x="GluePoint3X" y="GluePoint3Y"/>
                  </a:cxn>
                </a:cxnLst>
                <a:rect l="l" t="t" r="r" b="b"/>
                <a:pathLst>
                  <a:path w="10" h="8">
                    <a:moveTo>
                      <a:pt x="0" y="0"/>
                    </a:moveTo>
                    <a:cubicBezTo>
                      <a:pt x="3" y="2"/>
                      <a:pt x="7" y="0"/>
                      <a:pt x="10" y="0"/>
                    </a:cubicBezTo>
                    <a:cubicBezTo>
                      <a:pt x="8" y="2"/>
                      <a:pt x="7" y="5"/>
                      <a:pt x="6" y="8"/>
                    </a:cubicBezTo>
                  </a:path>
                </a:pathLst>
              </a:custGeom>
              <a:solidFill>
                <a:srgbClr val="58585a"/>
              </a:solidFill>
              <a:ln w="0">
                <a:noFill/>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538" name="Freeform 319"/>
              <p:cNvSpPr/>
              <p:nvPr/>
            </p:nvSpPr>
            <p:spPr>
              <a:xfrm flipH="1">
                <a:off x="6321960" y="820080"/>
                <a:ext cx="42120" cy="20160"/>
              </a:xfrm>
              <a:custGeom>
                <a:avLst/>
                <a:gdLst>
                  <a:gd name="GluePoint1X" fmla="*/ 0 w 13"/>
                  <a:gd name="GluePoint1Y" fmla="*/ 2147483647 h 6"/>
                  <a:gd name="GluePoint2X" fmla="*/ 2036522956 w 13"/>
                  <a:gd name="GluePoint2Y" fmla="*/ 0 h 6"/>
                  <a:gd name="GluePoint3X" fmla="*/ 2147483647 w 13"/>
                  <a:gd name="GluePoint3Y" fmla="*/ 2147483647 h 6"/>
                  <a:gd name="GluePoint4X" fmla="*/ 2036522956 w 13"/>
                  <a:gd name="GluePoint4Y" fmla="*/ 2147483647 h 6"/>
                </a:gdLst>
                <a:ahLst/>
                <a:cxnLst>
                  <a:cxn ang="0">
                    <a:pos x="GluePoint1X" y="GluePoint1Y"/>
                  </a:cxn>
                  <a:cxn ang="0">
                    <a:pos x="GluePoint2X" y="GluePoint2Y"/>
                  </a:cxn>
                  <a:cxn ang="0">
                    <a:pos x="GluePoint3X" y="GluePoint3Y"/>
                  </a:cxn>
                  <a:cxn ang="0">
                    <a:pos x="GluePoint4X" y="GluePoint4Y"/>
                  </a:cxn>
                </a:cxnLst>
                <a:rect l="l" t="t" r="r" b="b"/>
                <a:pathLst>
                  <a:path w="13" h="6">
                    <a:moveTo>
                      <a:pt x="0" y="5"/>
                    </a:moveTo>
                    <a:cubicBezTo>
                      <a:pt x="3" y="6"/>
                      <a:pt x="6" y="1"/>
                      <a:pt x="9" y="0"/>
                    </a:cubicBezTo>
                    <a:cubicBezTo>
                      <a:pt x="9" y="3"/>
                      <a:pt x="11" y="5"/>
                      <a:pt x="13" y="6"/>
                    </a:cubicBezTo>
                    <a:cubicBezTo>
                      <a:pt x="11" y="6"/>
                      <a:pt x="10" y="5"/>
                      <a:pt x="9" y="5"/>
                    </a:cubicBezTo>
                  </a:path>
                </a:pathLst>
              </a:custGeom>
              <a:solidFill>
                <a:srgbClr val="58585a"/>
              </a:solidFill>
              <a:ln w="0">
                <a:noFill/>
              </a:ln>
            </p:spPr>
            <p:style>
              <a:lnRef idx="0"/>
              <a:fillRef idx="0"/>
              <a:effectRef idx="0"/>
              <a:fontRef idx="minor"/>
            </p:style>
            <p:txBody>
              <a:bodyPr lIns="90000" rIns="90000" tIns="-26640" bIns="-26640" anchor="t">
                <a:noAutofit/>
              </a:bodyPr>
              <a:p>
                <a:endParaRPr b="0" lang="en-US" sz="2400" strike="noStrike" u="none">
                  <a:solidFill>
                    <a:srgbClr val="ffff00"/>
                  </a:solidFill>
                  <a:effectLst/>
                  <a:uFillTx/>
                  <a:latin typeface="Times New Roman"/>
                </a:endParaRPr>
              </a:p>
            </p:txBody>
          </p:sp>
          <p:sp>
            <p:nvSpPr>
              <p:cNvPr id="539" name="Freeform 320"/>
              <p:cNvSpPr/>
              <p:nvPr/>
            </p:nvSpPr>
            <p:spPr>
              <a:xfrm flipH="1">
                <a:off x="5242680" y="1737720"/>
                <a:ext cx="32040" cy="20160"/>
              </a:xfrm>
              <a:custGeom>
                <a:avLst/>
                <a:gdLst>
                  <a:gd name="GluePoint1X" fmla="*/ 0 w 10"/>
                  <a:gd name="GluePoint1Y" fmla="*/ 2147483647 h 6"/>
                  <a:gd name="GluePoint2X" fmla="*/ 1452939815 w 10"/>
                  <a:gd name="GluePoint2Y" fmla="*/ 0 h 6"/>
                  <a:gd name="GluePoint3X" fmla="*/ 2095983323 w 10"/>
                  <a:gd name="GluePoint3Y" fmla="*/ 2147483647 h 6"/>
                </a:gdLst>
                <a:ahLst/>
                <a:cxnLst>
                  <a:cxn ang="0">
                    <a:pos x="GluePoint1X" y="GluePoint1Y"/>
                  </a:cxn>
                  <a:cxn ang="0">
                    <a:pos x="GluePoint2X" y="GluePoint2Y"/>
                  </a:cxn>
                  <a:cxn ang="0">
                    <a:pos x="GluePoint3X" y="GluePoint3Y"/>
                  </a:cxn>
                </a:cxnLst>
                <a:rect l="l" t="t" r="r" b="b"/>
                <a:pathLst>
                  <a:path w="10" h="6">
                    <a:moveTo>
                      <a:pt x="0" y="6"/>
                    </a:moveTo>
                    <a:cubicBezTo>
                      <a:pt x="3" y="6"/>
                      <a:pt x="5" y="3"/>
                      <a:pt x="7" y="0"/>
                    </a:cubicBezTo>
                    <a:cubicBezTo>
                      <a:pt x="7" y="2"/>
                      <a:pt x="8" y="3"/>
                      <a:pt x="10" y="4"/>
                    </a:cubicBezTo>
                  </a:path>
                </a:pathLst>
              </a:custGeom>
              <a:solidFill>
                <a:srgbClr val="58585a"/>
              </a:solidFill>
              <a:ln w="0">
                <a:noFill/>
              </a:ln>
            </p:spPr>
            <p:style>
              <a:lnRef idx="0"/>
              <a:fillRef idx="0"/>
              <a:effectRef idx="0"/>
              <a:fontRef idx="minor"/>
            </p:style>
            <p:txBody>
              <a:bodyPr lIns="90000" rIns="90000" tIns="-26640" bIns="-26640" anchor="t">
                <a:noAutofit/>
              </a:bodyPr>
              <a:p>
                <a:endParaRPr b="0" lang="en-US" sz="2400" strike="noStrike" u="none">
                  <a:solidFill>
                    <a:srgbClr val="ffff00"/>
                  </a:solidFill>
                  <a:effectLst/>
                  <a:uFillTx/>
                  <a:latin typeface="Times New Roman"/>
                </a:endParaRPr>
              </a:p>
            </p:txBody>
          </p:sp>
          <p:sp>
            <p:nvSpPr>
              <p:cNvPr id="540" name="Freeform 321"/>
              <p:cNvSpPr/>
              <p:nvPr/>
            </p:nvSpPr>
            <p:spPr>
              <a:xfrm flipH="1">
                <a:off x="7206840" y="1639440"/>
                <a:ext cx="41760" cy="45000"/>
              </a:xfrm>
              <a:custGeom>
                <a:avLst/>
                <a:gdLst>
                  <a:gd name="GluePoint1X" fmla="*/ 223767628 w 13"/>
                  <a:gd name="GluePoint1Y" fmla="*/ 0 h 13"/>
                  <a:gd name="GluePoint2X" fmla="*/ 0 w 13"/>
                  <a:gd name="GluePoint2Y" fmla="*/ 2147483647 h 13"/>
                  <a:gd name="GluePoint3X" fmla="*/ 2147483647 w 13"/>
                  <a:gd name="GluePoint3Y" fmla="*/ 2147483647 h 13"/>
                </a:gdLst>
                <a:ahLst/>
                <a:cxnLst>
                  <a:cxn ang="0">
                    <a:pos x="GluePoint1X" y="GluePoint1Y"/>
                  </a:cxn>
                  <a:cxn ang="0">
                    <a:pos x="GluePoint2X" y="GluePoint2Y"/>
                  </a:cxn>
                  <a:cxn ang="0">
                    <a:pos x="GluePoint3X" y="GluePoint3Y"/>
                  </a:cxn>
                </a:cxnLst>
                <a:rect l="l" t="t" r="r" b="b"/>
                <a:pathLst>
                  <a:path w="13" h="13">
                    <a:moveTo>
                      <a:pt x="1" y="0"/>
                    </a:moveTo>
                    <a:cubicBezTo>
                      <a:pt x="3" y="4"/>
                      <a:pt x="6" y="9"/>
                      <a:pt x="0" y="13"/>
                    </a:cubicBezTo>
                    <a:cubicBezTo>
                      <a:pt x="4" y="10"/>
                      <a:pt x="9" y="13"/>
                      <a:pt x="13" y="12"/>
                    </a:cubicBezTo>
                  </a:path>
                </a:pathLst>
              </a:custGeom>
              <a:solidFill>
                <a:srgbClr val="58585a"/>
              </a:solidFill>
              <a:ln w="0">
                <a:noFill/>
              </a:ln>
            </p:spPr>
            <p:style>
              <a:lnRef idx="0"/>
              <a:fillRef idx="0"/>
              <a:effectRef idx="0"/>
              <a:fontRef idx="minor"/>
            </p:style>
            <p:txBody>
              <a:bodyPr lIns="90000" rIns="90000" tIns="-1800" bIns="-1800" anchor="t">
                <a:noAutofit/>
              </a:bodyPr>
              <a:p>
                <a:endParaRPr b="0" lang="en-US" sz="2400" strike="noStrike" u="none">
                  <a:solidFill>
                    <a:srgbClr val="ffff00"/>
                  </a:solidFill>
                  <a:effectLst/>
                  <a:uFillTx/>
                  <a:latin typeface="Times New Roman"/>
                </a:endParaRPr>
              </a:p>
            </p:txBody>
          </p:sp>
          <p:sp>
            <p:nvSpPr>
              <p:cNvPr id="541" name="Freeform 322"/>
              <p:cNvSpPr/>
              <p:nvPr/>
            </p:nvSpPr>
            <p:spPr>
              <a:xfrm flipH="1">
                <a:off x="5243040" y="1040400"/>
                <a:ext cx="46080" cy="50400"/>
              </a:xfrm>
              <a:custGeom>
                <a:avLst/>
                <a:gdLst>
                  <a:gd name="GluePoint1X" fmla="*/ 2147483647 w 14"/>
                  <a:gd name="GluePoint1Y" fmla="*/ 2147483647 h 15"/>
                  <a:gd name="GluePoint2X" fmla="*/ 2147483647 w 14"/>
                  <a:gd name="GluePoint2Y" fmla="*/ 2147483647 h 15"/>
                  <a:gd name="GluePoint3X" fmla="*/ 2147483647 w 14"/>
                  <a:gd name="GluePoint3Y" fmla="*/ 2147483647 h 15"/>
                  <a:gd name="GluePoint4X" fmla="*/ 0 w 14"/>
                  <a:gd name="GluePoint4Y" fmla="*/ 0 h 15"/>
                </a:gdLst>
                <a:ahLst/>
                <a:cxnLst>
                  <a:cxn ang="0">
                    <a:pos x="GluePoint1X" y="GluePoint1Y"/>
                  </a:cxn>
                  <a:cxn ang="0">
                    <a:pos x="GluePoint2X" y="GluePoint2Y"/>
                  </a:cxn>
                  <a:cxn ang="0">
                    <a:pos x="GluePoint3X" y="GluePoint3Y"/>
                  </a:cxn>
                  <a:cxn ang="0">
                    <a:pos x="GluePoint4X" y="GluePoint4Y"/>
                  </a:cxn>
                </a:cxnLst>
                <a:rect l="l" t="t" r="r" b="b"/>
                <a:pathLst>
                  <a:path w="14" h="15">
                    <a:moveTo>
                      <a:pt x="14" y="7"/>
                    </a:moveTo>
                    <a:cubicBezTo>
                      <a:pt x="12" y="10"/>
                      <a:pt x="12" y="12"/>
                      <a:pt x="14" y="15"/>
                    </a:cubicBezTo>
                    <a:cubicBezTo>
                      <a:pt x="11" y="14"/>
                      <a:pt x="9" y="10"/>
                      <a:pt x="7" y="8"/>
                    </a:cubicBezTo>
                    <a:cubicBezTo>
                      <a:pt x="4" y="5"/>
                      <a:pt x="2" y="3"/>
                      <a:pt x="0" y="0"/>
                    </a:cubicBezTo>
                  </a:path>
                </a:pathLst>
              </a:custGeom>
              <a:solidFill>
                <a:srgbClr val="58585a"/>
              </a:solidFill>
              <a:ln w="0">
                <a:noFill/>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542" name="Freeform 323"/>
              <p:cNvSpPr/>
              <p:nvPr/>
            </p:nvSpPr>
            <p:spPr>
              <a:xfrm flipH="1">
                <a:off x="5109840" y="1893960"/>
                <a:ext cx="32040" cy="40680"/>
              </a:xfrm>
              <a:custGeom>
                <a:avLst/>
                <a:gdLst>
                  <a:gd name="GluePoint1X" fmla="*/ 1612307392 w 10"/>
                  <a:gd name="GluePoint1Y" fmla="*/ 2147483647 h 12"/>
                  <a:gd name="GluePoint2X" fmla="*/ 0 w 10"/>
                  <a:gd name="GluePoint2Y" fmla="*/ 2147483647 h 12"/>
                  <a:gd name="GluePoint3X" fmla="*/ 2095983323 w 10"/>
                  <a:gd name="GluePoint3Y" fmla="*/ 1823616533 h 12"/>
                </a:gdLst>
                <a:ahLst/>
                <a:cxnLst>
                  <a:cxn ang="0">
                    <a:pos x="GluePoint1X" y="GluePoint1Y"/>
                  </a:cxn>
                  <a:cxn ang="0">
                    <a:pos x="GluePoint2X" y="GluePoint2Y"/>
                  </a:cxn>
                  <a:cxn ang="0">
                    <a:pos x="GluePoint3X" y="GluePoint3Y"/>
                  </a:cxn>
                </a:cxnLst>
                <a:rect l="l" t="t" r="r" b="b"/>
                <a:pathLst>
                  <a:path w="10" h="12">
                    <a:moveTo>
                      <a:pt x="8" y="12"/>
                    </a:moveTo>
                    <a:cubicBezTo>
                      <a:pt x="8" y="7"/>
                      <a:pt x="5" y="3"/>
                      <a:pt x="0" y="2"/>
                    </a:cubicBezTo>
                    <a:cubicBezTo>
                      <a:pt x="3" y="1"/>
                      <a:pt x="6" y="0"/>
                      <a:pt x="10" y="1"/>
                    </a:cubicBezTo>
                  </a:path>
                </a:pathLst>
              </a:custGeom>
              <a:solidFill>
                <a:srgbClr val="58585a"/>
              </a:solidFill>
              <a:ln w="0">
                <a:noFill/>
              </a:ln>
            </p:spPr>
            <p:style>
              <a:lnRef idx="0"/>
              <a:fillRef idx="0"/>
              <a:effectRef idx="0"/>
              <a:fontRef idx="minor"/>
            </p:style>
            <p:txBody>
              <a:bodyPr lIns="90000" rIns="90000" tIns="-6120" bIns="-6120" anchor="t">
                <a:noAutofit/>
              </a:bodyPr>
              <a:p>
                <a:endParaRPr b="0" lang="en-US" sz="2400" strike="noStrike" u="none">
                  <a:solidFill>
                    <a:srgbClr val="ffff00"/>
                  </a:solidFill>
                  <a:effectLst/>
                  <a:uFillTx/>
                  <a:latin typeface="Times New Roman"/>
                </a:endParaRPr>
              </a:p>
            </p:txBody>
          </p:sp>
          <p:sp>
            <p:nvSpPr>
              <p:cNvPr id="543" name="Freeform 324"/>
              <p:cNvSpPr/>
              <p:nvPr/>
            </p:nvSpPr>
            <p:spPr>
              <a:xfrm flipH="1">
                <a:off x="6896880" y="822600"/>
                <a:ext cx="448560" cy="88560"/>
              </a:xfrm>
              <a:custGeom>
                <a:avLst/>
                <a:gdLst>
                  <a:gd name="GluePoint1X" fmla="*/ 2147483647 w 138"/>
                  <a:gd name="GluePoint1Y" fmla="*/ 0 h 26"/>
                  <a:gd name="GluePoint2X" fmla="*/ 2147483647 w 138"/>
                  <a:gd name="GluePoint2Y" fmla="*/ 2147483647 h 26"/>
                  <a:gd name="GluePoint3X" fmla="*/ 0 w 138"/>
                  <a:gd name="GluePoint3Y" fmla="*/ 2147483647 h 26"/>
                </a:gdLst>
                <a:ahLst/>
                <a:cxnLst>
                  <a:cxn ang="0">
                    <a:pos x="GluePoint1X" y="GluePoint1Y"/>
                  </a:cxn>
                  <a:cxn ang="0">
                    <a:pos x="GluePoint2X" y="GluePoint2Y"/>
                  </a:cxn>
                  <a:cxn ang="0">
                    <a:pos x="GluePoint3X" y="GluePoint3Y"/>
                  </a:cxn>
                </a:cxnLst>
                <a:rect l="l" t="t" r="r" b="b"/>
                <a:pathLst>
                  <a:path w="138" h="26">
                    <a:moveTo>
                      <a:pt x="138" y="0"/>
                    </a:moveTo>
                    <a:cubicBezTo>
                      <a:pt x="113" y="25"/>
                      <a:pt x="61" y="3"/>
                      <a:pt x="29" y="11"/>
                    </a:cubicBezTo>
                    <a:cubicBezTo>
                      <a:pt x="17" y="14"/>
                      <a:pt x="11" y="25"/>
                      <a:pt x="0" y="26"/>
                    </a:cubicBezTo>
                  </a:path>
                </a:pathLst>
              </a:custGeom>
              <a:noFill/>
              <a:ln cap="rnd" w="7920">
                <a:solidFill>
                  <a:srgbClr val="58585a"/>
                </a:solidFill>
                <a:round/>
              </a:ln>
            </p:spPr>
            <p:style>
              <a:lnRef idx="0"/>
              <a:fillRef idx="0"/>
              <a:effectRef idx="0"/>
              <a:fontRef idx="minor"/>
            </p:style>
            <p:txBody>
              <a:bodyPr lIns="90000" rIns="90000" tIns="41760" bIns="41760" anchor="t">
                <a:noAutofit/>
              </a:bodyPr>
              <a:p>
                <a:endParaRPr b="0" lang="en-US" sz="2400" strike="noStrike" u="none">
                  <a:solidFill>
                    <a:srgbClr val="ffff00"/>
                  </a:solidFill>
                  <a:effectLst/>
                  <a:uFillTx/>
                  <a:latin typeface="Times New Roman"/>
                </a:endParaRPr>
              </a:p>
            </p:txBody>
          </p:sp>
          <p:sp>
            <p:nvSpPr>
              <p:cNvPr id="544" name="Freeform 325"/>
              <p:cNvSpPr/>
              <p:nvPr/>
            </p:nvSpPr>
            <p:spPr>
              <a:xfrm flipH="1">
                <a:off x="5503680" y="251280"/>
                <a:ext cx="106200" cy="133920"/>
              </a:xfrm>
              <a:custGeom>
                <a:avLst/>
                <a:gdLst>
                  <a:gd name="GluePoint1X" fmla="*/ 0 w 33"/>
                  <a:gd name="GluePoint1Y" fmla="*/ 0 h 40"/>
                  <a:gd name="GluePoint2X" fmla="*/ 1302707398 w 33"/>
                  <a:gd name="GluePoint2Y" fmla="*/ 2147483647 h 40"/>
                  <a:gd name="GluePoint3X" fmla="*/ 2147483647 w 33"/>
                  <a:gd name="GluePoint3Y" fmla="*/ 2147483647 h 40"/>
                </a:gdLst>
                <a:ahLst/>
                <a:cxnLst>
                  <a:cxn ang="0">
                    <a:pos x="GluePoint1X" y="GluePoint1Y"/>
                  </a:cxn>
                  <a:cxn ang="0">
                    <a:pos x="GluePoint2X" y="GluePoint2Y"/>
                  </a:cxn>
                  <a:cxn ang="0">
                    <a:pos x="GluePoint3X" y="GluePoint3Y"/>
                  </a:cxn>
                </a:cxnLst>
                <a:rect l="l" t="t" r="r" b="b"/>
                <a:pathLst>
                  <a:path w="33" h="40">
                    <a:moveTo>
                      <a:pt x="0" y="0"/>
                    </a:moveTo>
                    <a:cubicBezTo>
                      <a:pt x="1" y="9"/>
                      <a:pt x="0" y="21"/>
                      <a:pt x="6" y="27"/>
                    </a:cubicBezTo>
                    <a:cubicBezTo>
                      <a:pt x="12" y="35"/>
                      <a:pt x="25" y="35"/>
                      <a:pt x="33" y="4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5" name="Freeform 326"/>
              <p:cNvSpPr/>
              <p:nvPr/>
            </p:nvSpPr>
            <p:spPr>
              <a:xfrm flipH="1">
                <a:off x="5613120" y="321120"/>
                <a:ext cx="75600" cy="102240"/>
              </a:xfrm>
              <a:custGeom>
                <a:avLst/>
                <a:gdLst>
                  <a:gd name="GluePoint1X" fmla="*/ 2147483647 w 23"/>
                  <a:gd name="GluePoint1Y" fmla="*/ 0 h 30"/>
                  <a:gd name="GluePoint2X" fmla="*/ 2147483647 w 23"/>
                  <a:gd name="GluePoint2Y" fmla="*/ 2147483647 h 30"/>
                  <a:gd name="GluePoint3X" fmla="*/ 0 w 23"/>
                  <a:gd name="GluePoint3Y" fmla="*/ 2147483647 h 30"/>
                </a:gdLst>
                <a:ahLst/>
                <a:cxnLst>
                  <a:cxn ang="0">
                    <a:pos x="GluePoint1X" y="GluePoint1Y"/>
                  </a:cxn>
                  <a:cxn ang="0">
                    <a:pos x="GluePoint2X" y="GluePoint2Y"/>
                  </a:cxn>
                  <a:cxn ang="0">
                    <a:pos x="GluePoint3X" y="GluePoint3Y"/>
                  </a:cxn>
                </a:cxnLst>
                <a:rect l="l" t="t" r="r" b="b"/>
                <a:pathLst>
                  <a:path w="23" h="30">
                    <a:moveTo>
                      <a:pt x="23" y="0"/>
                    </a:moveTo>
                    <a:cubicBezTo>
                      <a:pt x="18" y="7"/>
                      <a:pt x="22" y="16"/>
                      <a:pt x="15" y="23"/>
                    </a:cubicBezTo>
                    <a:cubicBezTo>
                      <a:pt x="11" y="27"/>
                      <a:pt x="5" y="27"/>
                      <a:pt x="0" y="3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6" name="Freeform 327"/>
              <p:cNvSpPr/>
              <p:nvPr/>
            </p:nvSpPr>
            <p:spPr>
              <a:xfrm flipH="1">
                <a:off x="5164560" y="352800"/>
                <a:ext cx="105120" cy="101160"/>
              </a:xfrm>
              <a:custGeom>
                <a:avLst/>
                <a:gdLst>
                  <a:gd name="GluePoint1X" fmla="*/ 2147483647 w 32"/>
                  <a:gd name="GluePoint1Y" fmla="*/ 0 h 30"/>
                  <a:gd name="GluePoint2X" fmla="*/ 2147483647 w 32"/>
                  <a:gd name="GluePoint2Y" fmla="*/ 2147483647 h 30"/>
                  <a:gd name="GluePoint3X" fmla="*/ 0 w 32"/>
                  <a:gd name="GluePoint3Y" fmla="*/ 2147483647 h 30"/>
                </a:gdLst>
                <a:ahLst/>
                <a:cxnLst>
                  <a:cxn ang="0">
                    <a:pos x="GluePoint1X" y="GluePoint1Y"/>
                  </a:cxn>
                  <a:cxn ang="0">
                    <a:pos x="GluePoint2X" y="GluePoint2Y"/>
                  </a:cxn>
                  <a:cxn ang="0">
                    <a:pos x="GluePoint3X" y="GluePoint3Y"/>
                  </a:cxn>
                </a:cxnLst>
                <a:rect l="l" t="t" r="r" b="b"/>
                <a:pathLst>
                  <a:path w="32" h="30">
                    <a:moveTo>
                      <a:pt x="32" y="0"/>
                    </a:moveTo>
                    <a:cubicBezTo>
                      <a:pt x="30" y="8"/>
                      <a:pt x="26" y="20"/>
                      <a:pt x="19" y="25"/>
                    </a:cubicBezTo>
                    <a:cubicBezTo>
                      <a:pt x="12" y="30"/>
                      <a:pt x="7" y="27"/>
                      <a:pt x="0" y="29"/>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47" name="Freeform 328"/>
              <p:cNvSpPr/>
              <p:nvPr/>
            </p:nvSpPr>
            <p:spPr>
              <a:xfrm flipH="1">
                <a:off x="4959720" y="660960"/>
                <a:ext cx="91080" cy="36720"/>
              </a:xfrm>
              <a:custGeom>
                <a:avLst/>
                <a:gdLst>
                  <a:gd name="GluePoint1X" fmla="*/ 2147483647 w 28"/>
                  <a:gd name="GluePoint1Y" fmla="*/ 2147483647 h 11"/>
                  <a:gd name="GluePoint2X" fmla="*/ 0 w 28"/>
                  <a:gd name="GluePoint2Y" fmla="*/ 0 h 11"/>
                </a:gdLst>
                <a:ahLst/>
                <a:cxnLst>
                  <a:cxn ang="0">
                    <a:pos x="GluePoint1X" y="GluePoint1Y"/>
                  </a:cxn>
                  <a:cxn ang="0">
                    <a:pos x="GluePoint2X" y="GluePoint2Y"/>
                  </a:cxn>
                </a:cxnLst>
                <a:rect l="l" t="t" r="r" b="b"/>
                <a:pathLst>
                  <a:path w="28" h="11">
                    <a:moveTo>
                      <a:pt x="28" y="11"/>
                    </a:moveTo>
                    <a:cubicBezTo>
                      <a:pt x="19" y="9"/>
                      <a:pt x="7" y="8"/>
                      <a:pt x="0" y="0"/>
                    </a:cubicBezTo>
                  </a:path>
                </a:pathLst>
              </a:custGeom>
              <a:noFill/>
              <a:ln cap="rnd" w="7920">
                <a:solidFill>
                  <a:srgbClr val="58585a"/>
                </a:solidFill>
                <a:round/>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548" name="Freeform 329"/>
              <p:cNvSpPr/>
              <p:nvPr/>
            </p:nvSpPr>
            <p:spPr>
              <a:xfrm flipH="1">
                <a:off x="4592880" y="1247400"/>
                <a:ext cx="129960" cy="60120"/>
              </a:xfrm>
              <a:custGeom>
                <a:avLst/>
                <a:gdLst>
                  <a:gd name="GluePoint1X" fmla="*/ 2147483647 w 40"/>
                  <a:gd name="GluePoint1Y" fmla="*/ 2147483647 h 18"/>
                  <a:gd name="GluePoint2X" fmla="*/ 2147483647 w 40"/>
                  <a:gd name="GluePoint2Y" fmla="*/ 2147483647 h 18"/>
                  <a:gd name="GluePoint3X" fmla="*/ 0 w 40"/>
                  <a:gd name="GluePoint3Y" fmla="*/ 0 h 18"/>
                </a:gdLst>
                <a:ahLst/>
                <a:cxnLst>
                  <a:cxn ang="0">
                    <a:pos x="GluePoint1X" y="GluePoint1Y"/>
                  </a:cxn>
                  <a:cxn ang="0">
                    <a:pos x="GluePoint2X" y="GluePoint2Y"/>
                  </a:cxn>
                  <a:cxn ang="0">
                    <a:pos x="GluePoint3X" y="GluePoint3Y"/>
                  </a:cxn>
                </a:cxnLst>
                <a:rect l="l" t="t" r="r" b="b"/>
                <a:pathLst>
                  <a:path w="40" h="18">
                    <a:moveTo>
                      <a:pt x="40" y="18"/>
                    </a:moveTo>
                    <a:cubicBezTo>
                      <a:pt x="32" y="16"/>
                      <a:pt x="21" y="18"/>
                      <a:pt x="15" y="15"/>
                    </a:cubicBezTo>
                    <a:cubicBezTo>
                      <a:pt x="8" y="12"/>
                      <a:pt x="6" y="4"/>
                      <a:pt x="0" y="0"/>
                    </a:cubicBezTo>
                  </a:path>
                </a:pathLst>
              </a:custGeom>
              <a:noFill/>
              <a:ln cap="rnd" w="7920">
                <a:solidFill>
                  <a:srgbClr val="58585a"/>
                </a:solidFill>
                <a:round/>
              </a:ln>
            </p:spPr>
            <p:style>
              <a:lnRef idx="0"/>
              <a:fillRef idx="0"/>
              <a:effectRef idx="0"/>
              <a:fontRef idx="minor"/>
            </p:style>
            <p:txBody>
              <a:bodyPr lIns="90000" rIns="90000" tIns="13320" bIns="13320" anchor="t">
                <a:noAutofit/>
              </a:bodyPr>
              <a:p>
                <a:endParaRPr b="0" lang="en-US" sz="2400" strike="noStrike" u="none">
                  <a:solidFill>
                    <a:srgbClr val="ffff00"/>
                  </a:solidFill>
                  <a:effectLst/>
                  <a:uFillTx/>
                  <a:latin typeface="Times New Roman"/>
                </a:endParaRPr>
              </a:p>
            </p:txBody>
          </p:sp>
          <p:sp>
            <p:nvSpPr>
              <p:cNvPr id="549" name="Freeform 330"/>
              <p:cNvSpPr/>
              <p:nvPr/>
            </p:nvSpPr>
            <p:spPr>
              <a:xfrm flipH="1">
                <a:off x="6176880" y="284400"/>
                <a:ext cx="93600" cy="162720"/>
              </a:xfrm>
              <a:custGeom>
                <a:avLst/>
                <a:gdLst>
                  <a:gd name="GluePoint1X" fmla="*/ 917798239 w 29"/>
                  <a:gd name="GluePoint1Y" fmla="*/ 0 h 48"/>
                  <a:gd name="GluePoint2X" fmla="*/ 2147483647 w 29"/>
                  <a:gd name="GluePoint2Y" fmla="*/ 2147483647 h 48"/>
                </a:gdLst>
                <a:ahLst/>
                <a:cxnLst>
                  <a:cxn ang="0">
                    <a:pos x="GluePoint1X" y="GluePoint1Y"/>
                  </a:cxn>
                  <a:cxn ang="0">
                    <a:pos x="GluePoint2X" y="GluePoint2Y"/>
                  </a:cxn>
                </a:cxnLst>
                <a:rect l="l" t="t" r="r" b="b"/>
                <a:pathLst>
                  <a:path w="29" h="48">
                    <a:moveTo>
                      <a:pt x="4" y="0"/>
                    </a:moveTo>
                    <a:cubicBezTo>
                      <a:pt x="0" y="16"/>
                      <a:pt x="15" y="39"/>
                      <a:pt x="29" y="48"/>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0" name="Freeform 331"/>
              <p:cNvSpPr/>
              <p:nvPr/>
            </p:nvSpPr>
            <p:spPr>
              <a:xfrm flipH="1">
                <a:off x="7221960" y="541800"/>
                <a:ext cx="162720" cy="162720"/>
              </a:xfrm>
              <a:custGeom>
                <a:avLst/>
                <a:gdLst>
                  <a:gd name="GluePoint1X" fmla="*/ 0 w 50"/>
                  <a:gd name="GluePoint1Y" fmla="*/ 0 h 48"/>
                  <a:gd name="GluePoint2X" fmla="*/ 2147483647 w 50"/>
                  <a:gd name="GluePoint2Y" fmla="*/ 2147483647 h 48"/>
                  <a:gd name="GluePoint3X" fmla="*/ 2147483647 w 50"/>
                  <a:gd name="GluePoint3Y" fmla="*/ 2147483647 h 48"/>
                </a:gdLst>
                <a:ahLst/>
                <a:cxnLst>
                  <a:cxn ang="0">
                    <a:pos x="GluePoint1X" y="GluePoint1Y"/>
                  </a:cxn>
                  <a:cxn ang="0">
                    <a:pos x="GluePoint2X" y="GluePoint2Y"/>
                  </a:cxn>
                  <a:cxn ang="0">
                    <a:pos x="GluePoint3X" y="GluePoint3Y"/>
                  </a:cxn>
                </a:cxnLst>
                <a:rect l="l" t="t" r="r" b="b"/>
                <a:pathLst>
                  <a:path w="50" h="48">
                    <a:moveTo>
                      <a:pt x="0" y="0"/>
                    </a:moveTo>
                    <a:cubicBezTo>
                      <a:pt x="9" y="7"/>
                      <a:pt x="12" y="18"/>
                      <a:pt x="20" y="27"/>
                    </a:cubicBezTo>
                    <a:cubicBezTo>
                      <a:pt x="28" y="36"/>
                      <a:pt x="43" y="37"/>
                      <a:pt x="50" y="48"/>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1" name="Freeform 332"/>
              <p:cNvSpPr/>
              <p:nvPr/>
            </p:nvSpPr>
            <p:spPr>
              <a:xfrm flipH="1">
                <a:off x="7281000" y="619920"/>
                <a:ext cx="48600" cy="91440"/>
              </a:xfrm>
              <a:custGeom>
                <a:avLst/>
                <a:gdLst>
                  <a:gd name="GluePoint1X" fmla="*/ 0 w 15"/>
                  <a:gd name="GluePoint1Y" fmla="*/ 0 h 27"/>
                  <a:gd name="GluePoint2X" fmla="*/ 1765527064 w 15"/>
                  <a:gd name="GluePoint2Y" fmla="*/ 2147483647 h 27"/>
                </a:gdLst>
                <a:ahLst/>
                <a:cxnLst>
                  <a:cxn ang="0">
                    <a:pos x="GluePoint1X" y="GluePoint1Y"/>
                  </a:cxn>
                  <a:cxn ang="0">
                    <a:pos x="GluePoint2X" y="GluePoint2Y"/>
                  </a:cxn>
                </a:cxnLst>
                <a:rect l="l" t="t" r="r" b="b"/>
                <a:pathLst>
                  <a:path w="15" h="27">
                    <a:moveTo>
                      <a:pt x="0" y="0"/>
                    </a:moveTo>
                    <a:cubicBezTo>
                      <a:pt x="6" y="8"/>
                      <a:pt x="15" y="19"/>
                      <a:pt x="6" y="27"/>
                    </a:cubicBezTo>
                  </a:path>
                </a:pathLst>
              </a:custGeom>
              <a:noFill/>
              <a:ln cap="rnd" w="7920">
                <a:solidFill>
                  <a:srgbClr val="58585a"/>
                </a:solidFill>
                <a:round/>
              </a:ln>
            </p:spPr>
            <p:style>
              <a:lnRef idx="0"/>
              <a:fillRef idx="0"/>
              <a:effectRef idx="0"/>
              <a:fontRef idx="minor"/>
            </p:style>
            <p:txBody>
              <a:bodyPr lIns="90000" rIns="90000" tIns="44640" bIns="44640" anchor="t">
                <a:noAutofit/>
              </a:bodyPr>
              <a:p>
                <a:endParaRPr b="0" lang="en-US" sz="2400" strike="noStrike" u="none">
                  <a:solidFill>
                    <a:srgbClr val="ffff00"/>
                  </a:solidFill>
                  <a:effectLst/>
                  <a:uFillTx/>
                  <a:latin typeface="Times New Roman"/>
                </a:endParaRPr>
              </a:p>
            </p:txBody>
          </p:sp>
          <p:sp>
            <p:nvSpPr>
              <p:cNvPr id="552" name="Freeform 333"/>
              <p:cNvSpPr/>
              <p:nvPr/>
            </p:nvSpPr>
            <p:spPr>
              <a:xfrm flipH="1">
                <a:off x="7369200" y="1277640"/>
                <a:ext cx="81360" cy="114840"/>
              </a:xfrm>
              <a:custGeom>
                <a:avLst/>
                <a:gdLst>
                  <a:gd name="GluePoint1X" fmla="*/ 0 w 25"/>
                  <a:gd name="GluePoint1Y" fmla="*/ 0 h 34"/>
                  <a:gd name="GluePoint2X" fmla="*/ 2147483647 w 25"/>
                  <a:gd name="GluePoint2Y" fmla="*/ 2147483647 h 34"/>
                </a:gdLst>
                <a:ahLst/>
                <a:cxnLst>
                  <a:cxn ang="0">
                    <a:pos x="GluePoint1X" y="GluePoint1Y"/>
                  </a:cxn>
                  <a:cxn ang="0">
                    <a:pos x="GluePoint2X" y="GluePoint2Y"/>
                  </a:cxn>
                </a:cxnLst>
                <a:rect l="l" t="t" r="r" b="b"/>
                <a:pathLst>
                  <a:path w="25" h="34">
                    <a:moveTo>
                      <a:pt x="0" y="0"/>
                    </a:moveTo>
                    <a:cubicBezTo>
                      <a:pt x="13" y="9"/>
                      <a:pt x="19" y="19"/>
                      <a:pt x="25" y="34"/>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3" name="Freeform 334"/>
              <p:cNvSpPr/>
              <p:nvPr/>
            </p:nvSpPr>
            <p:spPr>
              <a:xfrm flipH="1">
                <a:off x="5760000" y="1809360"/>
                <a:ext cx="12600" cy="43560"/>
              </a:xfrm>
              <a:custGeom>
                <a:avLst/>
                <a:gdLst>
                  <a:gd name="GluePoint1X" fmla="*/ 0 w 4"/>
                  <a:gd name="GluePoint1Y" fmla="*/ 0 h 13"/>
                  <a:gd name="GluePoint2X" fmla="*/ 496271561 w 4"/>
                  <a:gd name="GluePoint2Y" fmla="*/ 2147483647 h 13"/>
                </a:gdLst>
                <a:ahLst/>
                <a:cxnLst>
                  <a:cxn ang="0">
                    <a:pos x="GluePoint1X" y="GluePoint1Y"/>
                  </a:cxn>
                  <a:cxn ang="0">
                    <a:pos x="GluePoint2X" y="GluePoint2Y"/>
                  </a:cxn>
                </a:cxnLst>
                <a:rect l="l" t="t" r="r" b="b"/>
                <a:pathLst>
                  <a:path w="4" h="13">
                    <a:moveTo>
                      <a:pt x="0" y="0"/>
                    </a:moveTo>
                    <a:cubicBezTo>
                      <a:pt x="0" y="3"/>
                      <a:pt x="2" y="10"/>
                      <a:pt x="4" y="13"/>
                    </a:cubicBezTo>
                  </a:path>
                </a:pathLst>
              </a:custGeom>
              <a:noFill/>
              <a:ln cap="rnd" w="7920">
                <a:solidFill>
                  <a:srgbClr val="58585a"/>
                </a:solidFill>
                <a:round/>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554" name="Freeform 335"/>
              <p:cNvSpPr/>
              <p:nvPr/>
            </p:nvSpPr>
            <p:spPr>
              <a:xfrm flipH="1">
                <a:off x="6415920" y="1413000"/>
                <a:ext cx="83880" cy="91800"/>
              </a:xfrm>
              <a:custGeom>
                <a:avLst/>
                <a:gdLst>
                  <a:gd name="GluePoint1X" fmla="*/ 2147483647 w 26"/>
                  <a:gd name="GluePoint1Y" fmla="*/ 0 h 27"/>
                  <a:gd name="GluePoint2X" fmla="*/ 0 w 26"/>
                  <a:gd name="GluePoint2Y" fmla="*/ 2147483647 h 27"/>
                </a:gdLst>
                <a:ahLst/>
                <a:cxnLst>
                  <a:cxn ang="0">
                    <a:pos x="GluePoint1X" y="GluePoint1Y"/>
                  </a:cxn>
                  <a:cxn ang="0">
                    <a:pos x="GluePoint2X" y="GluePoint2Y"/>
                  </a:cxn>
                </a:cxnLst>
                <a:rect l="l" t="t" r="r" b="b"/>
                <a:pathLst>
                  <a:path w="26" h="27">
                    <a:moveTo>
                      <a:pt x="25" y="0"/>
                    </a:moveTo>
                    <a:cubicBezTo>
                      <a:pt x="26" y="12"/>
                      <a:pt x="9" y="24"/>
                      <a:pt x="0" y="27"/>
                    </a:cubicBezTo>
                  </a:path>
                </a:pathLst>
              </a:custGeom>
              <a:noFill/>
              <a:ln cap="rnd" w="7920">
                <a:solidFill>
                  <a:srgbClr val="58585a"/>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555" name="Freeform 336"/>
              <p:cNvSpPr/>
              <p:nvPr/>
            </p:nvSpPr>
            <p:spPr>
              <a:xfrm flipH="1">
                <a:off x="6309360" y="1517040"/>
                <a:ext cx="81000" cy="20520"/>
              </a:xfrm>
              <a:custGeom>
                <a:avLst/>
                <a:gdLst>
                  <a:gd name="GluePoint1X" fmla="*/ 2147483647 w 25"/>
                  <a:gd name="GluePoint1Y" fmla="*/ 2147483647 h 6"/>
                  <a:gd name="GluePoint2X" fmla="*/ 0 w 25"/>
                  <a:gd name="GluePoint2Y" fmla="*/ 0 h 6"/>
                </a:gdLst>
                <a:ahLst/>
                <a:cxnLst>
                  <a:cxn ang="0">
                    <a:pos x="GluePoint1X" y="GluePoint1Y"/>
                  </a:cxn>
                  <a:cxn ang="0">
                    <a:pos x="GluePoint2X" y="GluePoint2Y"/>
                  </a:cxn>
                </a:cxnLst>
                <a:rect l="l" t="t" r="r" b="b"/>
                <a:pathLst>
                  <a:path w="25" h="6">
                    <a:moveTo>
                      <a:pt x="25" y="6"/>
                    </a:moveTo>
                    <a:cubicBezTo>
                      <a:pt x="14" y="0"/>
                      <a:pt x="0" y="0"/>
                      <a:pt x="0" y="0"/>
                    </a:cubicBezTo>
                  </a:path>
                </a:pathLst>
              </a:custGeom>
              <a:noFill/>
              <a:ln cap="rnd" w="7920">
                <a:solidFill>
                  <a:srgbClr val="58585a"/>
                </a:solidFill>
                <a:round/>
              </a:ln>
            </p:spPr>
            <p:style>
              <a:lnRef idx="0"/>
              <a:fillRef idx="0"/>
              <a:effectRef idx="0"/>
              <a:fontRef idx="minor"/>
            </p:style>
            <p:txBody>
              <a:bodyPr lIns="90000" rIns="90000" tIns="-26280" bIns="-26280" anchor="t">
                <a:noAutofit/>
              </a:bodyPr>
              <a:p>
                <a:endParaRPr b="0" lang="en-US" sz="2400" strike="noStrike" u="none">
                  <a:solidFill>
                    <a:srgbClr val="ffff00"/>
                  </a:solidFill>
                  <a:effectLst/>
                  <a:uFillTx/>
                  <a:latin typeface="Times New Roman"/>
                </a:endParaRPr>
              </a:p>
            </p:txBody>
          </p:sp>
          <p:sp>
            <p:nvSpPr>
              <p:cNvPr id="556" name="Freeform 337"/>
              <p:cNvSpPr/>
              <p:nvPr/>
            </p:nvSpPr>
            <p:spPr>
              <a:xfrm flipH="1">
                <a:off x="5366160" y="2083320"/>
                <a:ext cx="165240" cy="74880"/>
              </a:xfrm>
              <a:custGeom>
                <a:avLst/>
                <a:gdLst>
                  <a:gd name="GluePoint1X" fmla="*/ 2147483647 w 51"/>
                  <a:gd name="GluePoint1Y" fmla="*/ 2147483647 h 22"/>
                  <a:gd name="GluePoint2X" fmla="*/ 0 w 51"/>
                  <a:gd name="GluePoint2Y" fmla="*/ 2147483647 h 22"/>
                </a:gdLst>
                <a:ahLst/>
                <a:cxnLst>
                  <a:cxn ang="0">
                    <a:pos x="GluePoint1X" y="GluePoint1Y"/>
                  </a:cxn>
                  <a:cxn ang="0">
                    <a:pos x="GluePoint2X" y="GluePoint2Y"/>
                  </a:cxn>
                </a:cxnLst>
                <a:rect l="l" t="t" r="r" b="b"/>
                <a:pathLst>
                  <a:path w="51" h="22">
                    <a:moveTo>
                      <a:pt x="51" y="22"/>
                    </a:moveTo>
                    <a:cubicBezTo>
                      <a:pt x="31" y="15"/>
                      <a:pt x="23" y="0"/>
                      <a:pt x="0" y="4"/>
                    </a:cubicBezTo>
                  </a:path>
                </a:pathLst>
              </a:custGeom>
              <a:noFill/>
              <a:ln cap="rnd" w="7920">
                <a:solidFill>
                  <a:srgbClr val="58585a"/>
                </a:solidFill>
                <a:round/>
              </a:ln>
            </p:spPr>
            <p:style>
              <a:lnRef idx="0"/>
              <a:fillRef idx="0"/>
              <a:effectRef idx="0"/>
              <a:fontRef idx="minor"/>
            </p:style>
            <p:txBody>
              <a:bodyPr lIns="90000" rIns="90000" tIns="28080" bIns="28080" anchor="t">
                <a:noAutofit/>
              </a:bodyPr>
              <a:p>
                <a:endParaRPr b="0" lang="en-US" sz="2400" strike="noStrike" u="none">
                  <a:solidFill>
                    <a:srgbClr val="ffff00"/>
                  </a:solidFill>
                  <a:effectLst/>
                  <a:uFillTx/>
                  <a:latin typeface="Times New Roman"/>
                </a:endParaRPr>
              </a:p>
            </p:txBody>
          </p:sp>
          <p:sp>
            <p:nvSpPr>
              <p:cNvPr id="557" name="Freeform 338"/>
              <p:cNvSpPr/>
              <p:nvPr/>
            </p:nvSpPr>
            <p:spPr>
              <a:xfrm flipH="1">
                <a:off x="5640120" y="2229480"/>
                <a:ext cx="44640" cy="104040"/>
              </a:xfrm>
              <a:custGeom>
                <a:avLst/>
                <a:gdLst>
                  <a:gd name="GluePoint1X" fmla="*/ 0 w 14"/>
                  <a:gd name="GluePoint1Y" fmla="*/ 0 h 31"/>
                  <a:gd name="GluePoint2X" fmla="*/ 2147483647 w 14"/>
                  <a:gd name="GluePoint2Y" fmla="*/ 2147483647 h 31"/>
                </a:gdLst>
                <a:ahLst/>
                <a:cxnLst>
                  <a:cxn ang="0">
                    <a:pos x="GluePoint1X" y="GluePoint1Y"/>
                  </a:cxn>
                  <a:cxn ang="0">
                    <a:pos x="GluePoint2X" y="GluePoint2Y"/>
                  </a:cxn>
                </a:cxnLst>
                <a:rect l="l" t="t" r="r" b="b"/>
                <a:pathLst>
                  <a:path w="14" h="31">
                    <a:moveTo>
                      <a:pt x="0" y="0"/>
                    </a:moveTo>
                    <a:cubicBezTo>
                      <a:pt x="10" y="6"/>
                      <a:pt x="14" y="19"/>
                      <a:pt x="13" y="31"/>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8" name="Freeform 339"/>
              <p:cNvSpPr/>
              <p:nvPr/>
            </p:nvSpPr>
            <p:spPr>
              <a:xfrm flipH="1">
                <a:off x="6708960" y="203040"/>
                <a:ext cx="81360" cy="220320"/>
              </a:xfrm>
              <a:custGeom>
                <a:avLst/>
                <a:gdLst>
                  <a:gd name="GluePoint1X" fmla="*/ 0 w 25"/>
                  <a:gd name="GluePoint1Y" fmla="*/ 0 h 65"/>
                  <a:gd name="GluePoint2X" fmla="*/ 2147483647 w 25"/>
                  <a:gd name="GluePoint2Y" fmla="*/ 2147483647 h 65"/>
                </a:gdLst>
                <a:ahLst/>
                <a:cxnLst>
                  <a:cxn ang="0">
                    <a:pos x="GluePoint1X" y="GluePoint1Y"/>
                  </a:cxn>
                  <a:cxn ang="0">
                    <a:pos x="GluePoint2X" y="GluePoint2Y"/>
                  </a:cxn>
                </a:cxnLst>
                <a:rect l="l" t="t" r="r" b="b"/>
                <a:pathLst>
                  <a:path w="25" h="65">
                    <a:moveTo>
                      <a:pt x="0" y="0"/>
                    </a:moveTo>
                    <a:cubicBezTo>
                      <a:pt x="5" y="17"/>
                      <a:pt x="1" y="61"/>
                      <a:pt x="25" y="65"/>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59" name="Freeform 340"/>
              <p:cNvSpPr/>
              <p:nvPr/>
            </p:nvSpPr>
            <p:spPr>
              <a:xfrm flipH="1">
                <a:off x="6930000" y="456840"/>
                <a:ext cx="197640" cy="41040"/>
              </a:xfrm>
              <a:custGeom>
                <a:avLst/>
                <a:gdLst>
                  <a:gd name="GluePoint1X" fmla="*/ 2147483647 w 61"/>
                  <a:gd name="GluePoint1Y" fmla="*/ 1823616533 h 12"/>
                  <a:gd name="GluePoint2X" fmla="*/ 0 w 61"/>
                  <a:gd name="GluePoint2Y" fmla="*/ 2147483647 h 12"/>
                </a:gdLst>
                <a:ahLst/>
                <a:cxnLst>
                  <a:cxn ang="0">
                    <a:pos x="GluePoint1X" y="GluePoint1Y"/>
                  </a:cxn>
                  <a:cxn ang="0">
                    <a:pos x="GluePoint2X" y="GluePoint2Y"/>
                  </a:cxn>
                </a:cxnLst>
                <a:rect l="l" t="t" r="r" b="b"/>
                <a:pathLst>
                  <a:path w="61" h="12">
                    <a:moveTo>
                      <a:pt x="61" y="1"/>
                    </a:moveTo>
                    <a:cubicBezTo>
                      <a:pt x="36" y="0"/>
                      <a:pt x="23" y="4"/>
                      <a:pt x="0" y="12"/>
                    </a:cubicBezTo>
                  </a:path>
                </a:pathLst>
              </a:custGeom>
              <a:noFill/>
              <a:ln cap="rnd" w="7920">
                <a:solidFill>
                  <a:srgbClr val="58585a"/>
                </a:solidFill>
                <a:round/>
              </a:ln>
            </p:spPr>
            <p:style>
              <a:lnRef idx="0"/>
              <a:fillRef idx="0"/>
              <a:effectRef idx="0"/>
              <a:fontRef idx="minor"/>
            </p:style>
            <p:txBody>
              <a:bodyPr lIns="90000" rIns="90000" tIns="-5760" bIns="-5760" anchor="t">
                <a:noAutofit/>
              </a:bodyPr>
              <a:p>
                <a:endParaRPr b="0" lang="en-US" sz="2400" strike="noStrike" u="none">
                  <a:solidFill>
                    <a:srgbClr val="ffff00"/>
                  </a:solidFill>
                  <a:effectLst/>
                  <a:uFillTx/>
                  <a:latin typeface="Times New Roman"/>
                </a:endParaRPr>
              </a:p>
            </p:txBody>
          </p:sp>
          <p:sp>
            <p:nvSpPr>
              <p:cNvPr id="560" name="Freeform 341"/>
              <p:cNvSpPr/>
              <p:nvPr/>
            </p:nvSpPr>
            <p:spPr>
              <a:xfrm flipH="1">
                <a:off x="7039800" y="392400"/>
                <a:ext cx="26640" cy="82080"/>
              </a:xfrm>
              <a:custGeom>
                <a:avLst/>
                <a:gdLst>
                  <a:gd name="GluePoint1X" fmla="*/ 2147483647 w 8"/>
                  <a:gd name="GluePoint1Y" fmla="*/ 0 h 24"/>
                  <a:gd name="GluePoint2X" fmla="*/ 0 w 8"/>
                  <a:gd name="GluePoint2Y" fmla="*/ 2147483647 h 24"/>
                </a:gdLst>
                <a:ahLst/>
                <a:cxnLst>
                  <a:cxn ang="0">
                    <a:pos x="GluePoint1X" y="GluePoint1Y"/>
                  </a:cxn>
                  <a:cxn ang="0">
                    <a:pos x="GluePoint2X" y="GluePoint2Y"/>
                  </a:cxn>
                </a:cxnLst>
                <a:rect l="l" t="t" r="r" b="b"/>
                <a:pathLst>
                  <a:path w="8" h="24">
                    <a:moveTo>
                      <a:pt x="7" y="0"/>
                    </a:moveTo>
                    <a:cubicBezTo>
                      <a:pt x="8" y="9"/>
                      <a:pt x="1" y="21"/>
                      <a:pt x="0" y="24"/>
                    </a:cubicBezTo>
                  </a:path>
                </a:pathLst>
              </a:custGeom>
              <a:noFill/>
              <a:ln cap="rnd" w="7920">
                <a:solidFill>
                  <a:srgbClr val="58585a"/>
                </a:solidFill>
                <a:round/>
              </a:ln>
            </p:spPr>
            <p:style>
              <a:lnRef idx="0"/>
              <a:fillRef idx="0"/>
              <a:effectRef idx="0"/>
              <a:fontRef idx="minor"/>
            </p:style>
            <p:txBody>
              <a:bodyPr lIns="90000" rIns="90000" tIns="35280" bIns="35280" anchor="t">
                <a:noAutofit/>
              </a:bodyPr>
              <a:p>
                <a:endParaRPr b="0" lang="en-US" sz="2400" strike="noStrike" u="none">
                  <a:solidFill>
                    <a:srgbClr val="ffff00"/>
                  </a:solidFill>
                  <a:effectLst/>
                  <a:uFillTx/>
                  <a:latin typeface="Times New Roman"/>
                </a:endParaRPr>
              </a:p>
            </p:txBody>
          </p:sp>
          <p:sp>
            <p:nvSpPr>
              <p:cNvPr id="561" name="Freeform 342"/>
              <p:cNvSpPr/>
              <p:nvPr/>
            </p:nvSpPr>
            <p:spPr>
              <a:xfrm flipH="1">
                <a:off x="7332840" y="1866600"/>
                <a:ext cx="100440" cy="158760"/>
              </a:xfrm>
              <a:custGeom>
                <a:avLst/>
                <a:gdLst>
                  <a:gd name="GluePoint1X" fmla="*/ 2147483647 w 31"/>
                  <a:gd name="GluePoint1Y" fmla="*/ 0 h 47"/>
                  <a:gd name="GluePoint2X" fmla="*/ 1798264047 w 31"/>
                  <a:gd name="GluePoint2Y" fmla="*/ 2147483647 h 47"/>
                  <a:gd name="GluePoint3X" fmla="*/ 0 w 31"/>
                  <a:gd name="GluePoint3Y" fmla="*/ 2147483647 h 47"/>
                </a:gdLst>
                <a:ahLst/>
                <a:cxnLst>
                  <a:cxn ang="0">
                    <a:pos x="GluePoint1X" y="GluePoint1Y"/>
                  </a:cxn>
                  <a:cxn ang="0">
                    <a:pos x="GluePoint2X" y="GluePoint2Y"/>
                  </a:cxn>
                  <a:cxn ang="0">
                    <a:pos x="GluePoint3X" y="GluePoint3Y"/>
                  </a:cxn>
                </a:cxnLst>
                <a:rect l="l" t="t" r="r" b="b"/>
                <a:pathLst>
                  <a:path w="31" h="47">
                    <a:moveTo>
                      <a:pt x="31" y="0"/>
                    </a:moveTo>
                    <a:cubicBezTo>
                      <a:pt x="25" y="9"/>
                      <a:pt x="13" y="11"/>
                      <a:pt x="7" y="21"/>
                    </a:cubicBezTo>
                    <a:cubicBezTo>
                      <a:pt x="2" y="29"/>
                      <a:pt x="3" y="38"/>
                      <a:pt x="0" y="47"/>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2" name="Freeform 343"/>
              <p:cNvSpPr/>
              <p:nvPr/>
            </p:nvSpPr>
            <p:spPr>
              <a:xfrm flipH="1">
                <a:off x="7423560" y="1935000"/>
                <a:ext cx="64440" cy="16200"/>
              </a:xfrm>
              <a:custGeom>
                <a:avLst/>
                <a:gdLst>
                  <a:gd name="GluePoint1X" fmla="*/ 2147483647 w 20"/>
                  <a:gd name="GluePoint1Y" fmla="*/ 2147483647 h 5"/>
                  <a:gd name="GluePoint2X" fmla="*/ 0 w 20"/>
                  <a:gd name="GluePoint2Y" fmla="*/ 488200423 h 5"/>
                </a:gdLst>
                <a:ahLst/>
                <a:cxnLst>
                  <a:cxn ang="0">
                    <a:pos x="GluePoint1X" y="GluePoint1Y"/>
                  </a:cxn>
                  <a:cxn ang="0">
                    <a:pos x="GluePoint2X" y="GluePoint2Y"/>
                  </a:cxn>
                </a:cxnLst>
                <a:rect l="l" t="t" r="r" b="b"/>
                <a:pathLst>
                  <a:path w="20" h="5">
                    <a:moveTo>
                      <a:pt x="20" y="5"/>
                    </a:moveTo>
                    <a:cubicBezTo>
                      <a:pt x="15" y="0"/>
                      <a:pt x="7" y="1"/>
                      <a:pt x="0" y="1"/>
                    </a:cubicBezTo>
                  </a:path>
                </a:pathLst>
              </a:custGeom>
              <a:noFill/>
              <a:ln cap="rnd" w="7920">
                <a:solidFill>
                  <a:srgbClr val="58585a"/>
                </a:solidFill>
                <a:round/>
              </a:ln>
            </p:spPr>
            <p:style>
              <a:lnRef idx="0"/>
              <a:fillRef idx="0"/>
              <a:effectRef idx="0"/>
              <a:fontRef idx="minor"/>
            </p:style>
            <p:txBody>
              <a:bodyPr lIns="90000" rIns="90000" tIns="-30600" bIns="-30600" anchor="t">
                <a:noAutofit/>
              </a:bodyPr>
              <a:p>
                <a:endParaRPr b="0" lang="en-US" sz="2400" strike="noStrike" u="none">
                  <a:solidFill>
                    <a:srgbClr val="ffff00"/>
                  </a:solidFill>
                  <a:effectLst/>
                  <a:uFillTx/>
                  <a:latin typeface="Times New Roman"/>
                </a:endParaRPr>
              </a:p>
            </p:txBody>
          </p:sp>
          <p:sp>
            <p:nvSpPr>
              <p:cNvPr id="563" name="Freeform 344"/>
              <p:cNvSpPr/>
              <p:nvPr/>
            </p:nvSpPr>
            <p:spPr>
              <a:xfrm flipH="1">
                <a:off x="6926040" y="1565280"/>
                <a:ext cx="55800" cy="87480"/>
              </a:xfrm>
              <a:custGeom>
                <a:avLst/>
                <a:gdLst>
                  <a:gd name="GluePoint1X" fmla="*/ 2147483647 w 17"/>
                  <a:gd name="GluePoint1Y" fmla="*/ 0 h 26"/>
                  <a:gd name="GluePoint2X" fmla="*/ 0 w 17"/>
                  <a:gd name="GluePoint2Y" fmla="*/ 2147483647 h 26"/>
                </a:gdLst>
                <a:ahLst/>
                <a:cxnLst>
                  <a:cxn ang="0">
                    <a:pos x="GluePoint1X" y="GluePoint1Y"/>
                  </a:cxn>
                  <a:cxn ang="0">
                    <a:pos x="GluePoint2X" y="GluePoint2Y"/>
                  </a:cxn>
                </a:cxnLst>
                <a:rect l="l" t="t" r="r" b="b"/>
                <a:pathLst>
                  <a:path w="17" h="26">
                    <a:moveTo>
                      <a:pt x="17" y="0"/>
                    </a:moveTo>
                    <a:cubicBezTo>
                      <a:pt x="16" y="11"/>
                      <a:pt x="9" y="20"/>
                      <a:pt x="0" y="26"/>
                    </a:cubicBezTo>
                  </a:path>
                </a:pathLst>
              </a:custGeom>
              <a:noFill/>
              <a:ln cap="rnd" w="7920">
                <a:solidFill>
                  <a:srgbClr val="58585a"/>
                </a:solidFill>
                <a:round/>
              </a:ln>
            </p:spPr>
            <p:style>
              <a:lnRef idx="0"/>
              <a:fillRef idx="0"/>
              <a:effectRef idx="0"/>
              <a:fontRef idx="minor"/>
            </p:style>
            <p:txBody>
              <a:bodyPr lIns="90000" rIns="90000" tIns="40680" bIns="40680" anchor="t">
                <a:noAutofit/>
              </a:bodyPr>
              <a:p>
                <a:endParaRPr b="0" lang="en-US" sz="2400" strike="noStrike" u="none">
                  <a:solidFill>
                    <a:srgbClr val="ffff00"/>
                  </a:solidFill>
                  <a:effectLst/>
                  <a:uFillTx/>
                  <a:latin typeface="Times New Roman"/>
                </a:endParaRPr>
              </a:p>
            </p:txBody>
          </p:sp>
          <p:sp>
            <p:nvSpPr>
              <p:cNvPr id="564" name="Freeform 345"/>
              <p:cNvSpPr/>
              <p:nvPr/>
            </p:nvSpPr>
            <p:spPr>
              <a:xfrm flipH="1">
                <a:off x="6829560" y="1602360"/>
                <a:ext cx="116280" cy="36720"/>
              </a:xfrm>
              <a:custGeom>
                <a:avLst/>
                <a:gdLst>
                  <a:gd name="GluePoint1X" fmla="*/ 2147483647 w 36"/>
                  <a:gd name="GluePoint1Y" fmla="*/ 2147483647 h 11"/>
                  <a:gd name="GluePoint2X" fmla="*/ 0 w 36"/>
                  <a:gd name="GluePoint2Y" fmla="*/ 2147483647 h 11"/>
                </a:gdLst>
                <a:ahLst/>
                <a:cxnLst>
                  <a:cxn ang="0">
                    <a:pos x="GluePoint1X" y="GluePoint1Y"/>
                  </a:cxn>
                  <a:cxn ang="0">
                    <a:pos x="GluePoint2X" y="GluePoint2Y"/>
                  </a:cxn>
                </a:cxnLst>
                <a:rect l="l" t="t" r="r" b="b"/>
                <a:pathLst>
                  <a:path w="36" h="11">
                    <a:moveTo>
                      <a:pt x="36" y="11"/>
                    </a:moveTo>
                    <a:cubicBezTo>
                      <a:pt x="24" y="0"/>
                      <a:pt x="14" y="4"/>
                      <a:pt x="0" y="6"/>
                    </a:cubicBezTo>
                  </a:path>
                </a:pathLst>
              </a:custGeom>
              <a:noFill/>
              <a:ln cap="rnd" w="7920">
                <a:solidFill>
                  <a:srgbClr val="58585a"/>
                </a:solidFill>
                <a:round/>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565" name="Freeform 346"/>
              <p:cNvSpPr/>
              <p:nvPr/>
            </p:nvSpPr>
            <p:spPr>
              <a:xfrm flipH="1">
                <a:off x="6610680" y="603360"/>
                <a:ext cx="29160" cy="57240"/>
              </a:xfrm>
              <a:custGeom>
                <a:avLst/>
                <a:gdLst>
                  <a:gd name="GluePoint1X" fmla="*/ 2147483647 w 9"/>
                  <a:gd name="GluePoint1Y" fmla="*/ 0 h 17"/>
                  <a:gd name="GluePoint2X" fmla="*/ 0 w 9"/>
                  <a:gd name="GluePoint2Y" fmla="*/ 2147483647 h 17"/>
                  <a:gd name="GluePoint3X" fmla="*/ 0 w 9"/>
                  <a:gd name="GluePoint3Y" fmla="*/ 2147483647 h 17"/>
                </a:gdLst>
                <a:ahLst/>
                <a:cxnLst>
                  <a:cxn ang="0">
                    <a:pos x="GluePoint1X" y="GluePoint1Y"/>
                  </a:cxn>
                  <a:cxn ang="0">
                    <a:pos x="GluePoint2X" y="GluePoint2Y"/>
                  </a:cxn>
                  <a:cxn ang="0">
                    <a:pos x="GluePoint3X" y="GluePoint3Y"/>
                  </a:cxn>
                </a:cxnLst>
                <a:rect l="l" t="t" r="r" b="b"/>
                <a:pathLst>
                  <a:path w="9" h="17">
                    <a:moveTo>
                      <a:pt x="9" y="0"/>
                    </a:moveTo>
                    <a:cubicBezTo>
                      <a:pt x="3" y="3"/>
                      <a:pt x="1" y="7"/>
                      <a:pt x="0" y="12"/>
                    </a:cubicBezTo>
                    <a:cubicBezTo>
                      <a:pt x="0" y="14"/>
                      <a:pt x="0" y="16"/>
                      <a:pt x="0" y="17"/>
                    </a:cubicBezTo>
                  </a:path>
                </a:pathLst>
              </a:custGeom>
              <a:noFill/>
              <a:ln cap="rnd" w="7920">
                <a:solidFill>
                  <a:srgbClr val="58585a"/>
                </a:solidFill>
                <a:round/>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566" name="Freeform 347"/>
              <p:cNvSpPr/>
              <p:nvPr/>
            </p:nvSpPr>
            <p:spPr>
              <a:xfrm flipH="1">
                <a:off x="6329160" y="803520"/>
                <a:ext cx="37800" cy="32760"/>
              </a:xfrm>
              <a:custGeom>
                <a:avLst/>
                <a:gdLst>
                  <a:gd name="GluePoint1X" fmla="*/ 0 w 12"/>
                  <a:gd name="GluePoint1Y" fmla="*/ 2147483647 h 10"/>
                  <a:gd name="GluePoint2X" fmla="*/ 1513491561 w 12"/>
                  <a:gd name="GluePoint2Y" fmla="*/ 0 h 10"/>
                </a:gdLst>
                <a:ahLst/>
                <a:cxnLst>
                  <a:cxn ang="0">
                    <a:pos x="GluePoint1X" y="GluePoint1Y"/>
                  </a:cxn>
                  <a:cxn ang="0">
                    <a:pos x="GluePoint2X" y="GluePoint2Y"/>
                  </a:cxn>
                </a:cxnLst>
                <a:rect l="l" t="t" r="r" b="b"/>
                <a:pathLst>
                  <a:path w="12" h="10">
                    <a:moveTo>
                      <a:pt x="0" y="10"/>
                    </a:moveTo>
                    <a:cubicBezTo>
                      <a:pt x="6" y="9"/>
                      <a:pt x="10" y="5"/>
                      <a:pt x="12" y="0"/>
                    </a:cubicBezTo>
                  </a:path>
                </a:pathLst>
              </a:custGeom>
              <a:noFill/>
              <a:ln cap="rnd" w="7920">
                <a:solidFill>
                  <a:srgbClr val="58585a"/>
                </a:solidFill>
                <a:round/>
              </a:ln>
            </p:spPr>
            <p:style>
              <a:lnRef idx="0"/>
              <a:fillRef idx="0"/>
              <a:effectRef idx="0"/>
              <a:fontRef idx="minor"/>
            </p:style>
            <p:txBody>
              <a:bodyPr lIns="90000" rIns="90000" tIns="-14040" bIns="-14040" anchor="t">
                <a:noAutofit/>
              </a:bodyPr>
              <a:p>
                <a:endParaRPr b="0" lang="en-US" sz="2400" strike="noStrike" u="none">
                  <a:solidFill>
                    <a:srgbClr val="ffff00"/>
                  </a:solidFill>
                  <a:effectLst/>
                  <a:uFillTx/>
                  <a:latin typeface="Times New Roman"/>
                </a:endParaRPr>
              </a:p>
            </p:txBody>
          </p:sp>
          <p:sp>
            <p:nvSpPr>
              <p:cNvPr id="567" name="Freeform 348"/>
              <p:cNvSpPr/>
              <p:nvPr/>
            </p:nvSpPr>
            <p:spPr>
              <a:xfrm flipH="1">
                <a:off x="5233680" y="1755720"/>
                <a:ext cx="155520" cy="16200"/>
              </a:xfrm>
              <a:custGeom>
                <a:avLst/>
                <a:gdLst>
                  <a:gd name="GluePoint1X" fmla="*/ 0 w 48"/>
                  <a:gd name="GluePoint1Y" fmla="*/ 488200423 h 5"/>
                  <a:gd name="GluePoint2X" fmla="*/ 2147483647 w 48"/>
                  <a:gd name="GluePoint2Y" fmla="*/ 2147483647 h 5"/>
                  <a:gd name="GluePoint3X" fmla="*/ 2147483647 w 48"/>
                  <a:gd name="GluePoint3Y" fmla="*/ 488200423 h 5"/>
                  <a:gd name="GluePoint4X" fmla="*/ 2147483647 w 48"/>
                  <a:gd name="GluePoint4Y" fmla="*/ 488200423 h 5"/>
                </a:gdLst>
                <a:ahLst/>
                <a:cxnLst>
                  <a:cxn ang="0">
                    <a:pos x="GluePoint1X" y="GluePoint1Y"/>
                  </a:cxn>
                  <a:cxn ang="0">
                    <a:pos x="GluePoint2X" y="GluePoint2Y"/>
                  </a:cxn>
                  <a:cxn ang="0">
                    <a:pos x="GluePoint3X" y="GluePoint3Y"/>
                  </a:cxn>
                  <a:cxn ang="0">
                    <a:pos x="GluePoint4X" y="GluePoint4Y"/>
                  </a:cxn>
                </a:cxnLst>
                <a:rect l="l" t="t" r="r" b="b"/>
                <a:pathLst>
                  <a:path w="48" h="5">
                    <a:moveTo>
                      <a:pt x="0" y="1"/>
                    </a:moveTo>
                    <a:cubicBezTo>
                      <a:pt x="3" y="5"/>
                      <a:pt x="12" y="5"/>
                      <a:pt x="16" y="5"/>
                    </a:cubicBezTo>
                    <a:cubicBezTo>
                      <a:pt x="23" y="5"/>
                      <a:pt x="29" y="2"/>
                      <a:pt x="36" y="1"/>
                    </a:cubicBezTo>
                    <a:cubicBezTo>
                      <a:pt x="40" y="0"/>
                      <a:pt x="44" y="1"/>
                      <a:pt x="48" y="1"/>
                    </a:cubicBezTo>
                  </a:path>
                </a:pathLst>
              </a:custGeom>
              <a:noFill/>
              <a:ln cap="rnd" w="7920">
                <a:solidFill>
                  <a:srgbClr val="58585a"/>
                </a:solidFill>
                <a:round/>
              </a:ln>
            </p:spPr>
            <p:style>
              <a:lnRef idx="0"/>
              <a:fillRef idx="0"/>
              <a:effectRef idx="0"/>
              <a:fontRef idx="minor"/>
            </p:style>
            <p:txBody>
              <a:bodyPr lIns="90000" rIns="90000" tIns="-30600" bIns="-30600" anchor="t">
                <a:noAutofit/>
              </a:bodyPr>
              <a:p>
                <a:endParaRPr b="0" lang="en-US" sz="2400" strike="noStrike" u="none">
                  <a:solidFill>
                    <a:srgbClr val="ffff00"/>
                  </a:solidFill>
                  <a:effectLst/>
                  <a:uFillTx/>
                  <a:latin typeface="Times New Roman"/>
                </a:endParaRPr>
              </a:p>
            </p:txBody>
          </p:sp>
          <p:sp>
            <p:nvSpPr>
              <p:cNvPr id="568" name="Freeform 349"/>
              <p:cNvSpPr/>
              <p:nvPr/>
            </p:nvSpPr>
            <p:spPr>
              <a:xfrm flipH="1">
                <a:off x="7125120" y="1330920"/>
                <a:ext cx="273240" cy="383400"/>
              </a:xfrm>
              <a:custGeom>
                <a:avLst/>
                <a:gdLst>
                  <a:gd name="GluePoint1X" fmla="*/ 2147483647 w 84"/>
                  <a:gd name="GluePoint1Y" fmla="*/ 2147483647 h 113"/>
                  <a:gd name="GluePoint2X" fmla="*/ 0 w 84"/>
                  <a:gd name="GluePoint2Y" fmla="*/ 0 h 113"/>
                </a:gdLst>
                <a:ahLst/>
                <a:cxnLst>
                  <a:cxn ang="0">
                    <a:pos x="GluePoint1X" y="GluePoint1Y"/>
                  </a:cxn>
                  <a:cxn ang="0">
                    <a:pos x="GluePoint2X" y="GluePoint2Y"/>
                  </a:cxn>
                </a:cxnLst>
                <a:rect l="l" t="t" r="r" b="b"/>
                <a:pathLst>
                  <a:path w="84" h="113">
                    <a:moveTo>
                      <a:pt x="84" y="113"/>
                    </a:moveTo>
                    <a:cubicBezTo>
                      <a:pt x="35" y="109"/>
                      <a:pt x="22" y="32"/>
                      <a:pt x="0" y="0"/>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69" name="Freeform 350"/>
              <p:cNvSpPr/>
              <p:nvPr/>
            </p:nvSpPr>
            <p:spPr>
              <a:xfrm flipH="1">
                <a:off x="7199640" y="1670760"/>
                <a:ext cx="490320" cy="223200"/>
              </a:xfrm>
              <a:custGeom>
                <a:avLst/>
                <a:gdLst>
                  <a:gd name="GluePoint1X" fmla="*/ 2147483647 w 151"/>
                  <a:gd name="GluePoint1Y" fmla="*/ 2147483647 h 66"/>
                  <a:gd name="GluePoint2X" fmla="*/ 0 w 151"/>
                  <a:gd name="GluePoint2Y" fmla="*/ 2147483647 h 66"/>
                </a:gdLst>
                <a:ahLst/>
                <a:cxnLst>
                  <a:cxn ang="0">
                    <a:pos x="GluePoint1X" y="GluePoint1Y"/>
                  </a:cxn>
                  <a:cxn ang="0">
                    <a:pos x="GluePoint2X" y="GluePoint2Y"/>
                  </a:cxn>
                </a:cxnLst>
                <a:rect l="l" t="t" r="r" b="b"/>
                <a:pathLst>
                  <a:path w="151" h="66">
                    <a:moveTo>
                      <a:pt x="151" y="5"/>
                    </a:moveTo>
                    <a:cubicBezTo>
                      <a:pt x="121" y="0"/>
                      <a:pt x="41" y="9"/>
                      <a:pt x="0" y="66"/>
                    </a:cubicBezTo>
                  </a:path>
                </a:pathLst>
              </a:custGeom>
              <a:noFill/>
              <a:ln cap="rnd" w="7920">
                <a:solidFill>
                  <a:srgbClr val="58585a"/>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570" name="Freeform 351"/>
              <p:cNvSpPr/>
              <p:nvPr/>
            </p:nvSpPr>
            <p:spPr>
              <a:xfrm flipH="1">
                <a:off x="5499360" y="334800"/>
                <a:ext cx="85320" cy="64080"/>
              </a:xfrm>
              <a:custGeom>
                <a:avLst/>
                <a:gdLst>
                  <a:gd name="GluePoint1X" fmla="*/ 2147483647 w 26"/>
                  <a:gd name="GluePoint1Y" fmla="*/ 2147483647 h 19"/>
                  <a:gd name="GluePoint2X" fmla="*/ 2147483647 w 26"/>
                  <a:gd name="GluePoint2Y" fmla="*/ 2147483647 h 19"/>
                  <a:gd name="GluePoint3X" fmla="*/ 2147483647 w 26"/>
                  <a:gd name="GluePoint3Y" fmla="*/ 2147483647 h 19"/>
                  <a:gd name="GluePoint4X" fmla="*/ 2147483647 w 26"/>
                  <a:gd name="GluePoint4Y" fmla="*/ 0 h 19"/>
                  <a:gd name="GluePoint5X" fmla="*/ 0 w 26"/>
                  <a:gd name="GluePoint5Y" fmla="*/ 2147483647 h 1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6" h="19">
                    <a:moveTo>
                      <a:pt x="20" y="17"/>
                    </a:moveTo>
                    <a:cubicBezTo>
                      <a:pt x="24" y="13"/>
                      <a:pt x="26" y="8"/>
                      <a:pt x="24" y="3"/>
                    </a:cubicBezTo>
                    <a:cubicBezTo>
                      <a:pt x="18" y="5"/>
                      <a:pt x="13" y="13"/>
                      <a:pt x="12" y="19"/>
                    </a:cubicBezTo>
                    <a:cubicBezTo>
                      <a:pt x="16" y="15"/>
                      <a:pt x="15" y="4"/>
                      <a:pt x="12" y="0"/>
                    </a:cubicBezTo>
                    <a:cubicBezTo>
                      <a:pt x="7" y="4"/>
                      <a:pt x="4" y="11"/>
                      <a:pt x="0" y="17"/>
                    </a:cubicBezTo>
                  </a:path>
                </a:pathLst>
              </a:custGeom>
              <a:noFill/>
              <a:ln w="14400">
                <a:solidFill>
                  <a:srgbClr val="edecf1"/>
                </a:solidFill>
                <a:miter/>
              </a:ln>
            </p:spPr>
            <p:style>
              <a:lnRef idx="0"/>
              <a:fillRef idx="0"/>
              <a:effectRef idx="0"/>
              <a:fontRef idx="minor"/>
            </p:style>
            <p:txBody>
              <a:bodyPr lIns="90000" rIns="90000" tIns="17280" bIns="17280" anchor="t">
                <a:noAutofit/>
              </a:bodyPr>
              <a:p>
                <a:endParaRPr b="0" lang="en-US" sz="2400" strike="noStrike" u="none">
                  <a:solidFill>
                    <a:srgbClr val="ffff00"/>
                  </a:solidFill>
                  <a:effectLst/>
                  <a:uFillTx/>
                  <a:latin typeface="Times New Roman"/>
                </a:endParaRPr>
              </a:p>
            </p:txBody>
          </p:sp>
          <p:sp>
            <p:nvSpPr>
              <p:cNvPr id="571" name="Freeform 352"/>
              <p:cNvSpPr/>
              <p:nvPr/>
            </p:nvSpPr>
            <p:spPr>
              <a:xfrm flipH="1">
                <a:off x="6172560" y="406080"/>
                <a:ext cx="38880" cy="50400"/>
              </a:xfrm>
              <a:custGeom>
                <a:avLst/>
                <a:gdLst>
                  <a:gd name="GluePoint1X" fmla="*/ 2147483647 w 12"/>
                  <a:gd name="GluePoint1Y" fmla="*/ 2147483647 h 15"/>
                  <a:gd name="GluePoint2X" fmla="*/ 2147483647 w 12"/>
                  <a:gd name="GluePoint2Y" fmla="*/ 2147483647 h 15"/>
                  <a:gd name="GluePoint3X" fmla="*/ 639242571 w 12"/>
                  <a:gd name="GluePoint3Y" fmla="*/ 2147483647 h 15"/>
                  <a:gd name="GluePoint4X" fmla="*/ 1491565999 w 12"/>
                  <a:gd name="GluePoint4Y" fmla="*/ 846749092 h 15"/>
                  <a:gd name="GluePoint5X" fmla="*/ 0 w 12"/>
                  <a:gd name="GluePoint5Y" fmla="*/ 2147483647 h 15"/>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2" h="15">
                    <a:moveTo>
                      <a:pt x="11" y="15"/>
                    </a:moveTo>
                    <a:cubicBezTo>
                      <a:pt x="12" y="12"/>
                      <a:pt x="12" y="9"/>
                      <a:pt x="11" y="7"/>
                    </a:cubicBezTo>
                    <a:cubicBezTo>
                      <a:pt x="7" y="7"/>
                      <a:pt x="4" y="9"/>
                      <a:pt x="2" y="12"/>
                    </a:cubicBezTo>
                    <a:cubicBezTo>
                      <a:pt x="5" y="9"/>
                      <a:pt x="7" y="5"/>
                      <a:pt x="5" y="1"/>
                    </a:cubicBezTo>
                    <a:cubicBezTo>
                      <a:pt x="3" y="0"/>
                      <a:pt x="2" y="2"/>
                      <a:pt x="0" y="3"/>
                    </a:cubicBezTo>
                  </a:path>
                </a:pathLst>
              </a:custGeom>
              <a:noFill/>
              <a:ln w="14400">
                <a:solidFill>
                  <a:srgbClr val="edecf1"/>
                </a:solidFill>
                <a:miter/>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572" name="Freeform 353"/>
              <p:cNvSpPr/>
              <p:nvPr/>
            </p:nvSpPr>
            <p:spPr>
              <a:xfrm flipH="1">
                <a:off x="5632920" y="468000"/>
                <a:ext cx="36000" cy="33840"/>
              </a:xfrm>
              <a:custGeom>
                <a:avLst/>
                <a:gdLst>
                  <a:gd name="GluePoint1X" fmla="*/ 0 w 11"/>
                  <a:gd name="GluePoint1Y" fmla="*/ 2147483647 h 10"/>
                  <a:gd name="GluePoint2X" fmla="*/ 2147483647 w 11"/>
                  <a:gd name="GluePoint2Y" fmla="*/ 2147483647 h 10"/>
                  <a:gd name="GluePoint3X" fmla="*/ 0 w 11"/>
                  <a:gd name="GluePoint3Y" fmla="*/ 1823616533 h 10"/>
                </a:gdLst>
                <a:ahLst/>
                <a:cxnLst>
                  <a:cxn ang="0">
                    <a:pos x="GluePoint1X" y="GluePoint1Y"/>
                  </a:cxn>
                  <a:cxn ang="0">
                    <a:pos x="GluePoint2X" y="GluePoint2Y"/>
                  </a:cxn>
                  <a:cxn ang="0">
                    <a:pos x="GluePoint3X" y="GluePoint3Y"/>
                  </a:cxn>
                </a:cxnLst>
                <a:rect l="l" t="t" r="r" b="b"/>
                <a:pathLst>
                  <a:path w="11" h="10">
                    <a:moveTo>
                      <a:pt x="0" y="6"/>
                    </a:moveTo>
                    <a:cubicBezTo>
                      <a:pt x="4" y="8"/>
                      <a:pt x="7" y="10"/>
                      <a:pt x="11" y="9"/>
                    </a:cubicBezTo>
                    <a:cubicBezTo>
                      <a:pt x="11" y="4"/>
                      <a:pt x="5" y="0"/>
                      <a:pt x="0" y="1"/>
                    </a:cubicBezTo>
                  </a:path>
                </a:pathLst>
              </a:custGeom>
              <a:noFill/>
              <a:ln w="14400">
                <a:solidFill>
                  <a:srgbClr val="edecf1"/>
                </a:solidFill>
                <a:miter/>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573" name="Freeform 354"/>
              <p:cNvSpPr/>
              <p:nvPr/>
            </p:nvSpPr>
            <p:spPr>
              <a:xfrm flipH="1">
                <a:off x="5460120" y="495360"/>
                <a:ext cx="68760" cy="43560"/>
              </a:xfrm>
              <a:custGeom>
                <a:avLst/>
                <a:gdLst>
                  <a:gd name="GluePoint1X" fmla="*/ 844713389 w 21"/>
                  <a:gd name="GluePoint1Y" fmla="*/ 2147483647 h 13"/>
                  <a:gd name="GluePoint2X" fmla="*/ 2147483647 w 21"/>
                  <a:gd name="GluePoint2Y" fmla="*/ 2147483647 h 13"/>
                  <a:gd name="GluePoint3X" fmla="*/ 0 w 21"/>
                  <a:gd name="GluePoint3Y" fmla="*/ 2147483647 h 13"/>
                </a:gdLst>
                <a:ahLst/>
                <a:cxnLst>
                  <a:cxn ang="0">
                    <a:pos x="GluePoint1X" y="GluePoint1Y"/>
                  </a:cxn>
                  <a:cxn ang="0">
                    <a:pos x="GluePoint2X" y="GluePoint2Y"/>
                  </a:cxn>
                  <a:cxn ang="0">
                    <a:pos x="GluePoint3X" y="GluePoint3Y"/>
                  </a:cxn>
                </a:cxnLst>
                <a:rect l="l" t="t" r="r" b="b"/>
                <a:pathLst>
                  <a:path w="21" h="13">
                    <a:moveTo>
                      <a:pt x="3" y="3"/>
                    </a:moveTo>
                    <a:cubicBezTo>
                      <a:pt x="8" y="3"/>
                      <a:pt x="16" y="0"/>
                      <a:pt x="21" y="3"/>
                    </a:cubicBezTo>
                    <a:cubicBezTo>
                      <a:pt x="20" y="10"/>
                      <a:pt x="7" y="13"/>
                      <a:pt x="0" y="13"/>
                    </a:cubicBezTo>
                  </a:path>
                </a:pathLst>
              </a:custGeom>
              <a:noFill/>
              <a:ln w="14400">
                <a:solidFill>
                  <a:srgbClr val="edecf1"/>
                </a:solidFill>
                <a:miter/>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574" name="Freeform 355"/>
              <p:cNvSpPr/>
              <p:nvPr/>
            </p:nvSpPr>
            <p:spPr>
              <a:xfrm flipH="1">
                <a:off x="5253120" y="430560"/>
                <a:ext cx="12240" cy="43920"/>
              </a:xfrm>
              <a:custGeom>
                <a:avLst/>
                <a:gdLst>
                  <a:gd name="GluePoint1X" fmla="*/ 398243187 w 4"/>
                  <a:gd name="GluePoint1Y" fmla="*/ 0 h 13"/>
                  <a:gd name="GluePoint2X" fmla="*/ 398243187 w 4"/>
                  <a:gd name="GluePoint2Y" fmla="*/ 2147483647 h 13"/>
                </a:gdLst>
                <a:ahLst/>
                <a:cxnLst>
                  <a:cxn ang="0">
                    <a:pos x="GluePoint1X" y="GluePoint1Y"/>
                  </a:cxn>
                  <a:cxn ang="0">
                    <a:pos x="GluePoint2X" y="GluePoint2Y"/>
                  </a:cxn>
                </a:cxnLst>
                <a:rect l="l" t="t" r="r" b="b"/>
                <a:pathLst>
                  <a:path w="4" h="13">
                    <a:moveTo>
                      <a:pt x="3" y="0"/>
                    </a:moveTo>
                    <a:cubicBezTo>
                      <a:pt x="4" y="4"/>
                      <a:pt x="0" y="9"/>
                      <a:pt x="3" y="13"/>
                    </a:cubicBezTo>
                  </a:path>
                </a:pathLst>
              </a:custGeom>
              <a:noFill/>
              <a:ln w="14400">
                <a:solidFill>
                  <a:srgbClr val="edecf1"/>
                </a:solidFill>
                <a:miter/>
              </a:ln>
            </p:spPr>
            <p:style>
              <a:lnRef idx="0"/>
              <a:fillRef idx="0"/>
              <a:effectRef idx="0"/>
              <a:fontRef idx="minor"/>
            </p:style>
            <p:txBody>
              <a:bodyPr lIns="90000" rIns="90000" tIns="-2880" bIns="-2880" anchor="t">
                <a:noAutofit/>
              </a:bodyPr>
              <a:p>
                <a:endParaRPr b="0" lang="en-US" sz="2400" strike="noStrike" u="none">
                  <a:solidFill>
                    <a:srgbClr val="ffff00"/>
                  </a:solidFill>
                  <a:effectLst/>
                  <a:uFillTx/>
                  <a:latin typeface="Times New Roman"/>
                </a:endParaRPr>
              </a:p>
            </p:txBody>
          </p:sp>
          <p:sp>
            <p:nvSpPr>
              <p:cNvPr id="575" name="Freeform 356"/>
              <p:cNvSpPr/>
              <p:nvPr/>
            </p:nvSpPr>
            <p:spPr>
              <a:xfrm flipH="1">
                <a:off x="5184360" y="518400"/>
                <a:ext cx="41760" cy="9360"/>
              </a:xfrm>
              <a:custGeom>
                <a:avLst/>
                <a:gdLst>
                  <a:gd name="GluePoint1X" fmla="*/ 0 w 13"/>
                  <a:gd name="GluePoint1Y" fmla="*/ 273961102 h 3"/>
                  <a:gd name="GluePoint2X" fmla="*/ 2147483647 w 13"/>
                  <a:gd name="GluePoint2Y" fmla="*/ 844713389 h 3"/>
                </a:gdLst>
                <a:ahLst/>
                <a:cxnLst>
                  <a:cxn ang="0">
                    <a:pos x="GluePoint1X" y="GluePoint1Y"/>
                  </a:cxn>
                  <a:cxn ang="0">
                    <a:pos x="GluePoint2X" y="GluePoint2Y"/>
                  </a:cxn>
                </a:cxnLst>
                <a:rect l="l" t="t" r="r" b="b"/>
                <a:pathLst>
                  <a:path w="13" h="3">
                    <a:moveTo>
                      <a:pt x="0" y="1"/>
                    </a:moveTo>
                    <a:cubicBezTo>
                      <a:pt x="4" y="2"/>
                      <a:pt x="9" y="0"/>
                      <a:pt x="13" y="3"/>
                    </a:cubicBezTo>
                  </a:path>
                </a:pathLst>
              </a:custGeom>
              <a:noFill/>
              <a:ln w="14400">
                <a:solidFill>
                  <a:srgbClr val="edecf1"/>
                </a:solidFill>
                <a:miter/>
              </a:ln>
            </p:spPr>
            <p:style>
              <a:lnRef idx="0"/>
              <a:fillRef idx="0"/>
              <a:effectRef idx="0"/>
              <a:fontRef idx="minor"/>
            </p:style>
            <p:txBody>
              <a:bodyPr lIns="90000" rIns="90000" tIns="-37440" bIns="-37440" anchor="t">
                <a:noAutofit/>
              </a:bodyPr>
              <a:p>
                <a:endParaRPr b="0" lang="en-US" sz="2400" strike="noStrike" u="none">
                  <a:solidFill>
                    <a:srgbClr val="ffff00"/>
                  </a:solidFill>
                  <a:effectLst/>
                  <a:uFillTx/>
                  <a:latin typeface="Times New Roman"/>
                </a:endParaRPr>
              </a:p>
            </p:txBody>
          </p:sp>
          <p:sp>
            <p:nvSpPr>
              <p:cNvPr id="576" name="Freeform 357"/>
              <p:cNvSpPr/>
              <p:nvPr/>
            </p:nvSpPr>
            <p:spPr>
              <a:xfrm flipH="1">
                <a:off x="5018400" y="654120"/>
                <a:ext cx="39240" cy="36720"/>
              </a:xfrm>
              <a:custGeom>
                <a:avLst/>
                <a:gdLst>
                  <a:gd name="GluePoint1X" fmla="*/ 639242571 w 12"/>
                  <a:gd name="GluePoint1Y" fmla="*/ 2147483647 h 11"/>
                  <a:gd name="GluePoint2X" fmla="*/ 2147483647 w 12"/>
                  <a:gd name="GluePoint2Y" fmla="*/ 0 h 11"/>
                </a:gdLst>
                <a:ahLst/>
                <a:cxnLst>
                  <a:cxn ang="0">
                    <a:pos x="GluePoint1X" y="GluePoint1Y"/>
                  </a:cxn>
                  <a:cxn ang="0">
                    <a:pos x="GluePoint2X" y="GluePoint2Y"/>
                  </a:cxn>
                </a:cxnLst>
                <a:rect l="l" t="t" r="r" b="b"/>
                <a:pathLst>
                  <a:path w="12" h="11">
                    <a:moveTo>
                      <a:pt x="2" y="11"/>
                    </a:moveTo>
                    <a:cubicBezTo>
                      <a:pt x="0" y="7"/>
                      <a:pt x="8" y="2"/>
                      <a:pt x="12" y="0"/>
                    </a:cubicBezTo>
                  </a:path>
                </a:pathLst>
              </a:custGeom>
              <a:noFill/>
              <a:ln w="14400">
                <a:solidFill>
                  <a:srgbClr val="edecf1"/>
                </a:solidFill>
                <a:miter/>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577" name="Freeform 358"/>
              <p:cNvSpPr/>
              <p:nvPr/>
            </p:nvSpPr>
            <p:spPr>
              <a:xfrm flipH="1">
                <a:off x="5116680" y="663840"/>
                <a:ext cx="37800" cy="27000"/>
              </a:xfrm>
              <a:custGeom>
                <a:avLst/>
                <a:gdLst>
                  <a:gd name="GluePoint1X" fmla="*/ 0 w 12"/>
                  <a:gd name="GluePoint1Y" fmla="*/ 0 h 8"/>
                  <a:gd name="GluePoint2X" fmla="*/ 1513491561 w 12"/>
                  <a:gd name="GluePoint2Y" fmla="*/ 2147483647 h 8"/>
                </a:gdLst>
                <a:ahLst/>
                <a:cxnLst>
                  <a:cxn ang="0">
                    <a:pos x="GluePoint1X" y="GluePoint1Y"/>
                  </a:cxn>
                  <a:cxn ang="0">
                    <a:pos x="GluePoint2X" y="GluePoint2Y"/>
                  </a:cxn>
                </a:cxnLst>
                <a:rect l="l" t="t" r="r" b="b"/>
                <a:pathLst>
                  <a:path w="12" h="8">
                    <a:moveTo>
                      <a:pt x="0" y="0"/>
                    </a:moveTo>
                    <a:cubicBezTo>
                      <a:pt x="3" y="4"/>
                      <a:pt x="7" y="7"/>
                      <a:pt x="12" y="8"/>
                    </a:cubicBezTo>
                  </a:path>
                </a:pathLst>
              </a:custGeom>
              <a:noFill/>
              <a:ln w="14400">
                <a:solidFill>
                  <a:srgbClr val="edecf1"/>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578" name="Freeform 359"/>
              <p:cNvSpPr/>
              <p:nvPr/>
            </p:nvSpPr>
            <p:spPr>
              <a:xfrm flipH="1">
                <a:off x="6279840" y="341640"/>
                <a:ext cx="15480" cy="27000"/>
              </a:xfrm>
              <a:custGeom>
                <a:avLst/>
                <a:gdLst>
                  <a:gd name="GluePoint1X" fmla="*/ 0 w 5"/>
                  <a:gd name="GluePoint1Y" fmla="*/ 0 h 8"/>
                  <a:gd name="GluePoint2X" fmla="*/ 374349054 w 5"/>
                  <a:gd name="GluePoint2Y" fmla="*/ 2147483647 h 8"/>
                </a:gdLst>
                <a:ahLst/>
                <a:cxnLst>
                  <a:cxn ang="0">
                    <a:pos x="GluePoint1X" y="GluePoint1Y"/>
                  </a:cxn>
                  <a:cxn ang="0">
                    <a:pos x="GluePoint2X" y="GluePoint2Y"/>
                  </a:cxn>
                </a:cxnLst>
                <a:rect l="l" t="t" r="r" b="b"/>
                <a:pathLst>
                  <a:path w="5" h="8">
                    <a:moveTo>
                      <a:pt x="0" y="0"/>
                    </a:moveTo>
                    <a:cubicBezTo>
                      <a:pt x="3" y="2"/>
                      <a:pt x="4" y="5"/>
                      <a:pt x="5" y="8"/>
                    </a:cubicBezTo>
                  </a:path>
                </a:pathLst>
              </a:custGeom>
              <a:noFill/>
              <a:ln w="14400">
                <a:solidFill>
                  <a:srgbClr val="edecf1"/>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579" name="Freeform 360"/>
              <p:cNvSpPr/>
              <p:nvPr/>
            </p:nvSpPr>
            <p:spPr>
              <a:xfrm flipH="1">
                <a:off x="6716160" y="396360"/>
                <a:ext cx="27720" cy="36720"/>
              </a:xfrm>
              <a:custGeom>
                <a:avLst/>
                <a:gdLst>
                  <a:gd name="GluePoint1X" fmla="*/ 551740060 w 9"/>
                  <a:gd name="GluePoint1Y" fmla="*/ 2147483647 h 11"/>
                  <a:gd name="GluePoint2X" fmla="*/ 845611807 w 9"/>
                  <a:gd name="GluePoint2Y" fmla="*/ 0 h 11"/>
                  <a:gd name="GluePoint3X" fmla="*/ 77056376 w 9"/>
                  <a:gd name="GluePoint3Y" fmla="*/ 2147483647 h 11"/>
                </a:gdLst>
                <a:ahLst/>
                <a:cxnLst>
                  <a:cxn ang="0">
                    <a:pos x="GluePoint1X" y="GluePoint1Y"/>
                  </a:cxn>
                  <a:cxn ang="0">
                    <a:pos x="GluePoint2X" y="GluePoint2Y"/>
                  </a:cxn>
                  <a:cxn ang="0">
                    <a:pos x="GluePoint3X" y="GluePoint3Y"/>
                  </a:cxn>
                </a:cxnLst>
                <a:rect l="l" t="t" r="r" b="b"/>
                <a:pathLst>
                  <a:path w="9" h="11">
                    <a:moveTo>
                      <a:pt x="6" y="11"/>
                    </a:moveTo>
                    <a:cubicBezTo>
                      <a:pt x="8" y="8"/>
                      <a:pt x="9" y="4"/>
                      <a:pt x="9" y="0"/>
                    </a:cubicBezTo>
                    <a:cubicBezTo>
                      <a:pt x="4" y="0"/>
                      <a:pt x="0" y="2"/>
                      <a:pt x="1" y="6"/>
                    </a:cubicBezTo>
                  </a:path>
                </a:pathLst>
              </a:custGeom>
              <a:noFill/>
              <a:ln w="14400">
                <a:solidFill>
                  <a:srgbClr val="edecf1"/>
                </a:solidFill>
                <a:miter/>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580" name="Freeform 361"/>
              <p:cNvSpPr/>
              <p:nvPr/>
            </p:nvSpPr>
            <p:spPr>
              <a:xfrm flipH="1">
                <a:off x="6608520" y="596520"/>
                <a:ext cx="19440" cy="27000"/>
              </a:xfrm>
              <a:custGeom>
                <a:avLst/>
                <a:gdLst>
                  <a:gd name="GluePoint1X" fmla="*/ 0 w 6"/>
                  <a:gd name="GluePoint1Y" fmla="*/ 0 h 8"/>
                  <a:gd name="GluePoint2X" fmla="*/ 1765527064 w 6"/>
                  <a:gd name="GluePoint2Y" fmla="*/ 2147483647 h 8"/>
                </a:gdLst>
                <a:ahLst/>
                <a:cxnLst>
                  <a:cxn ang="0">
                    <a:pos x="GluePoint1X" y="GluePoint1Y"/>
                  </a:cxn>
                  <a:cxn ang="0">
                    <a:pos x="GluePoint2X" y="GluePoint2Y"/>
                  </a:cxn>
                </a:cxnLst>
                <a:rect l="l" t="t" r="r" b="b"/>
                <a:pathLst>
                  <a:path w="6" h="8">
                    <a:moveTo>
                      <a:pt x="0" y="0"/>
                    </a:moveTo>
                    <a:cubicBezTo>
                      <a:pt x="0" y="4"/>
                      <a:pt x="3" y="7"/>
                      <a:pt x="6" y="8"/>
                    </a:cubicBezTo>
                  </a:path>
                </a:pathLst>
              </a:custGeom>
              <a:noFill/>
              <a:ln w="14400">
                <a:solidFill>
                  <a:srgbClr val="edecf1"/>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581" name="Freeform 362"/>
              <p:cNvSpPr/>
              <p:nvPr/>
            </p:nvSpPr>
            <p:spPr>
              <a:xfrm flipH="1">
                <a:off x="6944760" y="447120"/>
                <a:ext cx="1440" cy="20520"/>
              </a:xfrm>
              <a:custGeom>
                <a:avLst/>
                <a:gdLst>
                  <a:gd name="GluePoint1X" fmla="*/ 0 w 1"/>
                  <a:gd name="GluePoint1Y" fmla="*/ 0 h 6"/>
                  <a:gd name="GluePoint2X" fmla="*/ 0 w 1"/>
                  <a:gd name="GluePoint2Y" fmla="*/ 2147483647 h 6"/>
                </a:gdLst>
                <a:ahLst/>
                <a:cxnLst>
                  <a:cxn ang="0">
                    <a:pos x="GluePoint1X" y="GluePoint1Y"/>
                  </a:cxn>
                  <a:cxn ang="0">
                    <a:pos x="GluePoint2X" y="GluePoint2Y"/>
                  </a:cxn>
                </a:cxnLst>
                <a:rect l="l" t="t" r="r" b="b"/>
                <a:pathLst>
                  <a:path w="1" h="6">
                    <a:moveTo>
                      <a:pt x="0" y="0"/>
                    </a:moveTo>
                    <a:cubicBezTo>
                      <a:pt x="0" y="2"/>
                      <a:pt x="0" y="4"/>
                      <a:pt x="0" y="6"/>
                    </a:cubicBezTo>
                  </a:path>
                </a:pathLst>
              </a:custGeom>
              <a:noFill/>
              <a:ln w="14400">
                <a:solidFill>
                  <a:srgbClr val="edecf1"/>
                </a:solidFill>
                <a:miter/>
              </a:ln>
            </p:spPr>
            <p:style>
              <a:lnRef idx="0"/>
              <a:fillRef idx="0"/>
              <a:effectRef idx="0"/>
              <a:fontRef idx="minor"/>
            </p:style>
            <p:txBody>
              <a:bodyPr lIns="90000" rIns="90000" tIns="-26280" bIns="-26280" anchor="t">
                <a:noAutofit/>
              </a:bodyPr>
              <a:p>
                <a:endParaRPr b="0" lang="en-US" sz="2400" strike="noStrike" u="none">
                  <a:solidFill>
                    <a:srgbClr val="ffff00"/>
                  </a:solidFill>
                  <a:effectLst/>
                  <a:uFillTx/>
                  <a:latin typeface="Times New Roman"/>
                </a:endParaRPr>
              </a:p>
            </p:txBody>
          </p:sp>
          <p:sp>
            <p:nvSpPr>
              <p:cNvPr id="582" name="Freeform 363"/>
              <p:cNvSpPr/>
              <p:nvPr/>
            </p:nvSpPr>
            <p:spPr>
              <a:xfrm flipH="1">
                <a:off x="7111080" y="481680"/>
                <a:ext cx="3960" cy="23040"/>
              </a:xfrm>
              <a:custGeom>
                <a:avLst/>
                <a:gdLst>
                  <a:gd name="GluePoint1X" fmla="*/ 2147483647 w 1"/>
                  <a:gd name="GluePoint1Y" fmla="*/ 2147483647 h 7"/>
                  <a:gd name="GluePoint2X" fmla="*/ 2147483647 w 1"/>
                  <a:gd name="GluePoint2Y" fmla="*/ 0 h 7"/>
                </a:gdLst>
                <a:ahLst/>
                <a:cxnLst>
                  <a:cxn ang="0">
                    <a:pos x="GluePoint1X" y="GluePoint1Y"/>
                  </a:cxn>
                  <a:cxn ang="0">
                    <a:pos x="GluePoint2X" y="GluePoint2Y"/>
                  </a:cxn>
                </a:cxnLst>
                <a:rect l="l" t="t" r="r" b="b"/>
                <a:pathLst>
                  <a:path w="1" h="7">
                    <a:moveTo>
                      <a:pt x="1" y="7"/>
                    </a:moveTo>
                    <a:cubicBezTo>
                      <a:pt x="0" y="4"/>
                      <a:pt x="0" y="1"/>
                      <a:pt x="1" y="0"/>
                    </a:cubicBezTo>
                  </a:path>
                </a:pathLst>
              </a:custGeom>
              <a:noFill/>
              <a:ln w="14400">
                <a:solidFill>
                  <a:srgbClr val="edecf1"/>
                </a:solidFill>
                <a:miter/>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583" name="Freeform 364"/>
              <p:cNvSpPr/>
              <p:nvPr/>
            </p:nvSpPr>
            <p:spPr>
              <a:xfrm flipH="1">
                <a:off x="7014240" y="603360"/>
                <a:ext cx="83880" cy="57240"/>
              </a:xfrm>
              <a:custGeom>
                <a:avLst/>
                <a:gdLst>
                  <a:gd name="GluePoint1X" fmla="*/ 0 w 26"/>
                  <a:gd name="GluePoint1Y" fmla="*/ 2147483647 h 17"/>
                  <a:gd name="GluePoint2X" fmla="*/ 1361903363 w 26"/>
                  <a:gd name="GluePoint2Y" fmla="*/ 2147483647 h 17"/>
                  <a:gd name="GluePoint3X" fmla="*/ 2147483647 w 26"/>
                  <a:gd name="GluePoint3Y" fmla="*/ 2147483647 h 17"/>
                  <a:gd name="GluePoint4X" fmla="*/ 2147483647 w 26"/>
                  <a:gd name="GluePoint4Y" fmla="*/ 871218889 h 17"/>
                  <a:gd name="GluePoint5X" fmla="*/ 2147483647 w 26"/>
                  <a:gd name="GluePoint5Y" fmla="*/ 0 h 1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6" h="17">
                    <a:moveTo>
                      <a:pt x="0" y="17"/>
                    </a:moveTo>
                    <a:cubicBezTo>
                      <a:pt x="3" y="12"/>
                      <a:pt x="2" y="5"/>
                      <a:pt x="6" y="2"/>
                    </a:cubicBezTo>
                    <a:cubicBezTo>
                      <a:pt x="10" y="6"/>
                      <a:pt x="9" y="11"/>
                      <a:pt x="13" y="15"/>
                    </a:cubicBezTo>
                    <a:cubicBezTo>
                      <a:pt x="20" y="15"/>
                      <a:pt x="21" y="6"/>
                      <a:pt x="23" y="1"/>
                    </a:cubicBezTo>
                    <a:cubicBezTo>
                      <a:pt x="24" y="0"/>
                      <a:pt x="25" y="0"/>
                      <a:pt x="26" y="0"/>
                    </a:cubicBezTo>
                  </a:path>
                </a:pathLst>
              </a:custGeom>
              <a:noFill/>
              <a:ln w="14400">
                <a:solidFill>
                  <a:srgbClr val="edecf1"/>
                </a:solidFill>
                <a:miter/>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584" name="Freeform 365"/>
              <p:cNvSpPr/>
              <p:nvPr/>
            </p:nvSpPr>
            <p:spPr>
              <a:xfrm flipH="1">
                <a:off x="7297920" y="700560"/>
                <a:ext cx="21960" cy="3960"/>
              </a:xfrm>
              <a:custGeom>
                <a:avLst/>
                <a:gdLst>
                  <a:gd name="GluePoint1X" fmla="*/ 0 w 7"/>
                  <a:gd name="GluePoint1Y" fmla="*/ 0 h 1"/>
                  <a:gd name="GluePoint2X" fmla="*/ 1284907248 w 7"/>
                  <a:gd name="GluePoint2Y" fmla="*/ 2147483647 h 1"/>
                </a:gdLst>
                <a:ahLst/>
                <a:cxnLst>
                  <a:cxn ang="0">
                    <a:pos x="GluePoint1X" y="GluePoint1Y"/>
                  </a:cxn>
                  <a:cxn ang="0">
                    <a:pos x="GluePoint2X" y="GluePoint2Y"/>
                  </a:cxn>
                </a:cxnLst>
                <a:rect l="l" t="t" r="r" b="b"/>
                <a:pathLst>
                  <a:path w="7" h="1">
                    <a:moveTo>
                      <a:pt x="0" y="0"/>
                    </a:moveTo>
                    <a:cubicBezTo>
                      <a:pt x="2" y="1"/>
                      <a:pt x="4" y="1"/>
                      <a:pt x="7" y="1"/>
                    </a:cubicBezTo>
                  </a:path>
                </a:pathLst>
              </a:custGeom>
              <a:noFill/>
              <a:ln w="14400">
                <a:solidFill>
                  <a:srgbClr val="edecf1"/>
                </a:solidFill>
                <a:miter/>
              </a:ln>
            </p:spPr>
            <p:style>
              <a:lnRef idx="0"/>
              <a:fillRef idx="0"/>
              <a:effectRef idx="0"/>
              <a:fontRef idx="minor"/>
            </p:style>
            <p:txBody>
              <a:bodyPr lIns="90000" rIns="90000" tIns="-42840" bIns="-42840" anchor="t">
                <a:noAutofit/>
              </a:bodyPr>
              <a:p>
                <a:endParaRPr b="0" lang="en-US" sz="2400" strike="noStrike" u="none">
                  <a:solidFill>
                    <a:srgbClr val="ffff00"/>
                  </a:solidFill>
                  <a:effectLst/>
                  <a:uFillTx/>
                  <a:latin typeface="Times New Roman"/>
                </a:endParaRPr>
              </a:p>
            </p:txBody>
          </p:sp>
          <p:sp>
            <p:nvSpPr>
              <p:cNvPr id="585" name="Freeform 366"/>
              <p:cNvSpPr/>
              <p:nvPr/>
            </p:nvSpPr>
            <p:spPr>
              <a:xfrm flipH="1">
                <a:off x="7216200" y="690840"/>
                <a:ext cx="29160" cy="13320"/>
              </a:xfrm>
              <a:custGeom>
                <a:avLst/>
                <a:gdLst>
                  <a:gd name="GluePoint1X" fmla="*/ 2147483647 w 9"/>
                  <a:gd name="GluePoint1Y" fmla="*/ 0 h 4"/>
                  <a:gd name="GluePoint2X" fmla="*/ 0 w 9"/>
                  <a:gd name="GluePoint2Y" fmla="*/ 2147483647 h 4"/>
                </a:gdLst>
                <a:ahLst/>
                <a:cxnLst>
                  <a:cxn ang="0">
                    <a:pos x="GluePoint1X" y="GluePoint1Y"/>
                  </a:cxn>
                  <a:cxn ang="0">
                    <a:pos x="GluePoint2X" y="GluePoint2Y"/>
                  </a:cxn>
                </a:cxnLst>
                <a:rect l="l" t="t" r="r" b="b"/>
                <a:pathLst>
                  <a:path w="9" h="4">
                    <a:moveTo>
                      <a:pt x="9" y="0"/>
                    </a:moveTo>
                    <a:cubicBezTo>
                      <a:pt x="6" y="1"/>
                      <a:pt x="3" y="2"/>
                      <a:pt x="0" y="4"/>
                    </a:cubicBezTo>
                  </a:path>
                </a:pathLst>
              </a:custGeom>
              <a:noFill/>
              <a:ln w="14400">
                <a:solidFill>
                  <a:srgbClr val="edecf1"/>
                </a:solidFill>
                <a:miter/>
              </a:ln>
            </p:spPr>
            <p:style>
              <a:lnRef idx="0"/>
              <a:fillRef idx="0"/>
              <a:effectRef idx="0"/>
              <a:fontRef idx="minor"/>
            </p:style>
            <p:txBody>
              <a:bodyPr lIns="90000" rIns="90000" tIns="-33480" bIns="-33480" anchor="t">
                <a:noAutofit/>
              </a:bodyPr>
              <a:p>
                <a:endParaRPr b="0" lang="en-US" sz="2400" strike="noStrike" u="none">
                  <a:solidFill>
                    <a:srgbClr val="ffff00"/>
                  </a:solidFill>
                  <a:effectLst/>
                  <a:uFillTx/>
                  <a:latin typeface="Times New Roman"/>
                </a:endParaRPr>
              </a:p>
            </p:txBody>
          </p:sp>
          <p:sp>
            <p:nvSpPr>
              <p:cNvPr id="586" name="Freeform 367"/>
              <p:cNvSpPr/>
              <p:nvPr/>
            </p:nvSpPr>
            <p:spPr>
              <a:xfrm flipH="1">
                <a:off x="6868440" y="785880"/>
                <a:ext cx="15480" cy="20160"/>
              </a:xfrm>
              <a:custGeom>
                <a:avLst/>
                <a:gdLst>
                  <a:gd name="GluePoint1X" fmla="*/ 374349054 w 5"/>
                  <a:gd name="GluePoint1Y" fmla="*/ 2147483647 h 6"/>
                  <a:gd name="GluePoint2X" fmla="*/ 0 w 5"/>
                  <a:gd name="GluePoint2Y" fmla="*/ 0 h 6"/>
                </a:gdLst>
                <a:ahLst/>
                <a:cxnLst>
                  <a:cxn ang="0">
                    <a:pos x="GluePoint1X" y="GluePoint1Y"/>
                  </a:cxn>
                  <a:cxn ang="0">
                    <a:pos x="GluePoint2X" y="GluePoint2Y"/>
                  </a:cxn>
                </a:cxnLst>
                <a:rect l="l" t="t" r="r" b="b"/>
                <a:pathLst>
                  <a:path w="5" h="6">
                    <a:moveTo>
                      <a:pt x="5" y="6"/>
                    </a:moveTo>
                    <a:cubicBezTo>
                      <a:pt x="3" y="4"/>
                      <a:pt x="2" y="2"/>
                      <a:pt x="0" y="0"/>
                    </a:cubicBezTo>
                  </a:path>
                </a:pathLst>
              </a:custGeom>
              <a:noFill/>
              <a:ln w="14400">
                <a:solidFill>
                  <a:srgbClr val="edecf1"/>
                </a:solidFill>
                <a:miter/>
              </a:ln>
            </p:spPr>
            <p:style>
              <a:lnRef idx="0"/>
              <a:fillRef idx="0"/>
              <a:effectRef idx="0"/>
              <a:fontRef idx="minor"/>
            </p:style>
            <p:txBody>
              <a:bodyPr lIns="90000" rIns="90000" tIns="-26640" bIns="-26640" anchor="t">
                <a:noAutofit/>
              </a:bodyPr>
              <a:p>
                <a:endParaRPr b="0" lang="en-US" sz="2400" strike="noStrike" u="none">
                  <a:solidFill>
                    <a:srgbClr val="ffff00"/>
                  </a:solidFill>
                  <a:effectLst/>
                  <a:uFillTx/>
                  <a:latin typeface="Times New Roman"/>
                </a:endParaRPr>
              </a:p>
            </p:txBody>
          </p:sp>
          <p:sp>
            <p:nvSpPr>
              <p:cNvPr id="587" name="Freeform 368"/>
              <p:cNvSpPr/>
              <p:nvPr/>
            </p:nvSpPr>
            <p:spPr>
              <a:xfrm flipH="1">
                <a:off x="6859080" y="856800"/>
                <a:ext cx="34920" cy="17640"/>
              </a:xfrm>
              <a:custGeom>
                <a:avLst/>
                <a:gdLst>
                  <a:gd name="GluePoint1X" fmla="*/ 0 w 11"/>
                  <a:gd name="GluePoint1Y" fmla="*/ 2147483647 h 5"/>
                  <a:gd name="GluePoint2X" fmla="*/ 1753728611 w 11"/>
                  <a:gd name="GluePoint2Y" fmla="*/ 0 h 5"/>
                </a:gdLst>
                <a:ahLst/>
                <a:cxnLst>
                  <a:cxn ang="0">
                    <a:pos x="GluePoint1X" y="GluePoint1Y"/>
                  </a:cxn>
                  <a:cxn ang="0">
                    <a:pos x="GluePoint2X" y="GluePoint2Y"/>
                  </a:cxn>
                </a:cxnLst>
                <a:rect l="l" t="t" r="r" b="b"/>
                <a:pathLst>
                  <a:path w="11" h="5">
                    <a:moveTo>
                      <a:pt x="0" y="5"/>
                    </a:moveTo>
                    <a:cubicBezTo>
                      <a:pt x="3" y="3"/>
                      <a:pt x="7" y="1"/>
                      <a:pt x="11" y="0"/>
                    </a:cubicBezTo>
                  </a:path>
                </a:pathLst>
              </a:custGeom>
              <a:noFill/>
              <a:ln w="14400">
                <a:solidFill>
                  <a:srgbClr val="edecf1"/>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588" name="Freeform 369"/>
              <p:cNvSpPr/>
              <p:nvPr/>
            </p:nvSpPr>
            <p:spPr>
              <a:xfrm flipH="1">
                <a:off x="6891480" y="1141920"/>
                <a:ext cx="48600" cy="66960"/>
              </a:xfrm>
              <a:custGeom>
                <a:avLst/>
                <a:gdLst>
                  <a:gd name="GluePoint1X" fmla="*/ 639242571 w 15"/>
                  <a:gd name="GluePoint1Y" fmla="*/ 2147483647 h 20"/>
                  <a:gd name="GluePoint2X" fmla="*/ 2147483647 w 15"/>
                  <a:gd name="GluePoint2Y" fmla="*/ 2147483647 h 20"/>
                  <a:gd name="GluePoint3X" fmla="*/ 0 w 15"/>
                  <a:gd name="GluePoint3Y" fmla="*/ 2147483647 h 20"/>
                  <a:gd name="GluePoint4X" fmla="*/ 639242571 w 15"/>
                  <a:gd name="GluePoint4Y" fmla="*/ 0 h 20"/>
                  <a:gd name="GluePoint5X" fmla="*/ 2147483647 w 15"/>
                  <a:gd name="GluePoint5Y" fmla="*/ 2147483647 h 2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5" h="20">
                    <a:moveTo>
                      <a:pt x="2" y="20"/>
                    </a:moveTo>
                    <a:cubicBezTo>
                      <a:pt x="3" y="15"/>
                      <a:pt x="10" y="19"/>
                      <a:pt x="11" y="16"/>
                    </a:cubicBezTo>
                    <a:cubicBezTo>
                      <a:pt x="15" y="10"/>
                      <a:pt x="3" y="10"/>
                      <a:pt x="0" y="9"/>
                    </a:cubicBezTo>
                    <a:cubicBezTo>
                      <a:pt x="1" y="6"/>
                      <a:pt x="1" y="3"/>
                      <a:pt x="2" y="0"/>
                    </a:cubicBezTo>
                    <a:cubicBezTo>
                      <a:pt x="6" y="2"/>
                      <a:pt x="9" y="5"/>
                      <a:pt x="13" y="4"/>
                    </a:cubicBezTo>
                  </a:path>
                </a:pathLst>
              </a:custGeom>
              <a:noFill/>
              <a:ln w="14400">
                <a:solidFill>
                  <a:srgbClr val="edecf1"/>
                </a:solidFill>
                <a:miter/>
              </a:ln>
            </p:spPr>
            <p:style>
              <a:lnRef idx="0"/>
              <a:fillRef idx="0"/>
              <a:effectRef idx="0"/>
              <a:fontRef idx="minor"/>
            </p:style>
            <p:txBody>
              <a:bodyPr lIns="90000" rIns="90000" tIns="20160" bIns="20160" anchor="t">
                <a:noAutofit/>
              </a:bodyPr>
              <a:p>
                <a:endParaRPr b="0" lang="en-US" sz="2400" strike="noStrike" u="none">
                  <a:solidFill>
                    <a:srgbClr val="ffff00"/>
                  </a:solidFill>
                  <a:effectLst/>
                  <a:uFillTx/>
                  <a:latin typeface="Times New Roman"/>
                </a:endParaRPr>
              </a:p>
            </p:txBody>
          </p:sp>
          <p:sp>
            <p:nvSpPr>
              <p:cNvPr id="589" name="Freeform 370"/>
              <p:cNvSpPr/>
              <p:nvPr/>
            </p:nvSpPr>
            <p:spPr>
              <a:xfrm flipH="1">
                <a:off x="6972840" y="1148760"/>
                <a:ext cx="38880" cy="66960"/>
              </a:xfrm>
              <a:custGeom>
                <a:avLst/>
                <a:gdLst>
                  <a:gd name="GluePoint1X" fmla="*/ 2147483647 w 12"/>
                  <a:gd name="GluePoint1Y" fmla="*/ 2147483647 h 20"/>
                  <a:gd name="GluePoint2X" fmla="*/ 2147483647 w 12"/>
                  <a:gd name="GluePoint2Y" fmla="*/ 2147483647 h 20"/>
                  <a:gd name="GluePoint3X" fmla="*/ 1118674480 w 12"/>
                  <a:gd name="GluePoint3Y" fmla="*/ 0 h 20"/>
                </a:gdLst>
                <a:ahLst/>
                <a:cxnLst>
                  <a:cxn ang="0">
                    <a:pos x="GluePoint1X" y="GluePoint1Y"/>
                  </a:cxn>
                  <a:cxn ang="0">
                    <a:pos x="GluePoint2X" y="GluePoint2Y"/>
                  </a:cxn>
                  <a:cxn ang="0">
                    <a:pos x="GluePoint3X" y="GluePoint3Y"/>
                  </a:cxn>
                </a:cxnLst>
                <a:rect l="l" t="t" r="r" b="b"/>
                <a:pathLst>
                  <a:path w="12" h="20">
                    <a:moveTo>
                      <a:pt x="12" y="6"/>
                    </a:moveTo>
                    <a:cubicBezTo>
                      <a:pt x="11" y="9"/>
                      <a:pt x="12" y="17"/>
                      <a:pt x="8" y="18"/>
                    </a:cubicBezTo>
                    <a:cubicBezTo>
                      <a:pt x="0" y="20"/>
                      <a:pt x="3" y="3"/>
                      <a:pt x="4" y="0"/>
                    </a:cubicBezTo>
                  </a:path>
                </a:pathLst>
              </a:custGeom>
              <a:noFill/>
              <a:ln w="14400">
                <a:solidFill>
                  <a:srgbClr val="edecf1"/>
                </a:solidFill>
                <a:miter/>
              </a:ln>
            </p:spPr>
            <p:style>
              <a:lnRef idx="0"/>
              <a:fillRef idx="0"/>
              <a:effectRef idx="0"/>
              <a:fontRef idx="minor"/>
            </p:style>
            <p:txBody>
              <a:bodyPr lIns="90000" rIns="90000" tIns="20160" bIns="20160" anchor="t">
                <a:noAutofit/>
              </a:bodyPr>
              <a:p>
                <a:endParaRPr b="0" lang="en-US" sz="2400" strike="noStrike" u="none">
                  <a:solidFill>
                    <a:srgbClr val="ffff00"/>
                  </a:solidFill>
                  <a:effectLst/>
                  <a:uFillTx/>
                  <a:latin typeface="Times New Roman"/>
                </a:endParaRPr>
              </a:p>
            </p:txBody>
          </p:sp>
          <p:sp>
            <p:nvSpPr>
              <p:cNvPr id="590" name="Freeform 371"/>
              <p:cNvSpPr/>
              <p:nvPr/>
            </p:nvSpPr>
            <p:spPr>
              <a:xfrm flipH="1">
                <a:off x="7151040" y="1259640"/>
                <a:ext cx="41760" cy="38520"/>
              </a:xfrm>
              <a:custGeom>
                <a:avLst/>
                <a:gdLst>
                  <a:gd name="GluePoint1X" fmla="*/ 223767628 w 13"/>
                  <a:gd name="GluePoint1Y" fmla="*/ 2147483647 h 11"/>
                  <a:gd name="GluePoint2X" fmla="*/ 2036522956 w 13"/>
                  <a:gd name="GluePoint2Y" fmla="*/ 0 h 11"/>
                  <a:gd name="GluePoint3X" fmla="*/ 0 w 13"/>
                  <a:gd name="GluePoint3Y" fmla="*/ 2147483647 h 11"/>
                </a:gdLst>
                <a:ahLst/>
                <a:cxnLst>
                  <a:cxn ang="0">
                    <a:pos x="GluePoint1X" y="GluePoint1Y"/>
                  </a:cxn>
                  <a:cxn ang="0">
                    <a:pos x="GluePoint2X" y="GluePoint2Y"/>
                  </a:cxn>
                  <a:cxn ang="0">
                    <a:pos x="GluePoint3X" y="GluePoint3Y"/>
                  </a:cxn>
                </a:cxnLst>
                <a:rect l="l" t="t" r="r" b="b"/>
                <a:pathLst>
                  <a:path w="13" h="11">
                    <a:moveTo>
                      <a:pt x="1" y="11"/>
                    </a:moveTo>
                    <a:cubicBezTo>
                      <a:pt x="6" y="11"/>
                      <a:pt x="13" y="6"/>
                      <a:pt x="9" y="0"/>
                    </a:cubicBezTo>
                    <a:cubicBezTo>
                      <a:pt x="5" y="1"/>
                      <a:pt x="3" y="3"/>
                      <a:pt x="0" y="6"/>
                    </a:cubicBezTo>
                  </a:path>
                </a:pathLst>
              </a:custGeom>
              <a:noFill/>
              <a:ln w="14400">
                <a:solidFill>
                  <a:srgbClr val="edecf1"/>
                </a:solidFill>
                <a:miter/>
              </a:ln>
            </p:spPr>
            <p:style>
              <a:lnRef idx="0"/>
              <a:fillRef idx="0"/>
              <a:effectRef idx="0"/>
              <a:fontRef idx="minor"/>
            </p:style>
            <p:txBody>
              <a:bodyPr lIns="90000" rIns="90000" tIns="-8280" bIns="-8280" anchor="t">
                <a:noAutofit/>
              </a:bodyPr>
              <a:p>
                <a:endParaRPr b="0" lang="en-US" sz="2400" strike="noStrike" u="none">
                  <a:solidFill>
                    <a:srgbClr val="ffff00"/>
                  </a:solidFill>
                  <a:effectLst/>
                  <a:uFillTx/>
                  <a:latin typeface="Times New Roman"/>
                </a:endParaRPr>
              </a:p>
            </p:txBody>
          </p:sp>
          <p:sp>
            <p:nvSpPr>
              <p:cNvPr id="591" name="Freeform 372"/>
              <p:cNvSpPr/>
              <p:nvPr/>
            </p:nvSpPr>
            <p:spPr>
              <a:xfrm flipH="1">
                <a:off x="7534440" y="1050120"/>
                <a:ext cx="24840" cy="13320"/>
              </a:xfrm>
              <a:custGeom>
                <a:avLst/>
                <a:gdLst>
                  <a:gd name="GluePoint1X" fmla="*/ 0 w 8"/>
                  <a:gd name="GluePoint1Y" fmla="*/ 1823616533 h 4"/>
                  <a:gd name="GluePoint2X" fmla="*/ 1018247189 w 8"/>
                  <a:gd name="GluePoint2Y" fmla="*/ 2147483647 h 4"/>
                </a:gdLst>
                <a:ahLst/>
                <a:cxnLst>
                  <a:cxn ang="0">
                    <a:pos x="GluePoint1X" y="GluePoint1Y"/>
                  </a:cxn>
                  <a:cxn ang="0">
                    <a:pos x="GluePoint2X" y="GluePoint2Y"/>
                  </a:cxn>
                </a:cxnLst>
                <a:rect l="l" t="t" r="r" b="b"/>
                <a:pathLst>
                  <a:path w="8" h="4">
                    <a:moveTo>
                      <a:pt x="0" y="1"/>
                    </a:moveTo>
                    <a:cubicBezTo>
                      <a:pt x="3" y="0"/>
                      <a:pt x="6" y="2"/>
                      <a:pt x="8" y="4"/>
                    </a:cubicBezTo>
                  </a:path>
                </a:pathLst>
              </a:custGeom>
              <a:noFill/>
              <a:ln w="14400">
                <a:solidFill>
                  <a:srgbClr val="edecf1"/>
                </a:solidFill>
                <a:miter/>
              </a:ln>
            </p:spPr>
            <p:style>
              <a:lnRef idx="0"/>
              <a:fillRef idx="0"/>
              <a:effectRef idx="0"/>
              <a:fontRef idx="minor"/>
            </p:style>
            <p:txBody>
              <a:bodyPr lIns="90000" rIns="90000" tIns="-33480" bIns="-33480" anchor="t">
                <a:noAutofit/>
              </a:bodyPr>
              <a:p>
                <a:endParaRPr b="0" lang="en-US" sz="2400" strike="noStrike" u="none">
                  <a:solidFill>
                    <a:srgbClr val="ffff00"/>
                  </a:solidFill>
                  <a:effectLst/>
                  <a:uFillTx/>
                  <a:latin typeface="Times New Roman"/>
                </a:endParaRPr>
              </a:p>
            </p:txBody>
          </p:sp>
          <p:sp>
            <p:nvSpPr>
              <p:cNvPr id="592" name="Freeform 373"/>
              <p:cNvSpPr/>
              <p:nvPr/>
            </p:nvSpPr>
            <p:spPr>
              <a:xfrm flipH="1">
                <a:off x="7517520" y="938880"/>
                <a:ext cx="55800" cy="29880"/>
              </a:xfrm>
              <a:custGeom>
                <a:avLst/>
                <a:gdLst>
                  <a:gd name="GluePoint1X" fmla="*/ 0 w 17"/>
                  <a:gd name="GluePoint1Y" fmla="*/ 2147483647 h 9"/>
                  <a:gd name="GluePoint2X" fmla="*/ 2147483647 w 17"/>
                  <a:gd name="GluePoint2Y" fmla="*/ 0 h 9"/>
                </a:gdLst>
                <a:ahLst/>
                <a:cxnLst>
                  <a:cxn ang="0">
                    <a:pos x="GluePoint1X" y="GluePoint1Y"/>
                  </a:cxn>
                  <a:cxn ang="0">
                    <a:pos x="GluePoint2X" y="GluePoint2Y"/>
                  </a:cxn>
                </a:cxnLst>
                <a:rect l="l" t="t" r="r" b="b"/>
                <a:pathLst>
                  <a:path w="17" h="9">
                    <a:moveTo>
                      <a:pt x="0" y="9"/>
                    </a:moveTo>
                    <a:cubicBezTo>
                      <a:pt x="6" y="8"/>
                      <a:pt x="11" y="3"/>
                      <a:pt x="17" y="0"/>
                    </a:cubicBezTo>
                  </a:path>
                </a:pathLst>
              </a:custGeom>
              <a:noFill/>
              <a:ln w="14400">
                <a:solidFill>
                  <a:srgbClr val="edecf1"/>
                </a:solidFill>
                <a:miter/>
              </a:ln>
            </p:spPr>
            <p:style>
              <a:lnRef idx="0"/>
              <a:fillRef idx="0"/>
              <a:effectRef idx="0"/>
              <a:fontRef idx="minor"/>
            </p:style>
            <p:txBody>
              <a:bodyPr lIns="90000" rIns="90000" tIns="-16920" bIns="-16920" anchor="t">
                <a:noAutofit/>
              </a:bodyPr>
              <a:p>
                <a:endParaRPr b="0" lang="en-US" sz="2400" strike="noStrike" u="none">
                  <a:solidFill>
                    <a:srgbClr val="ffff00"/>
                  </a:solidFill>
                  <a:effectLst/>
                  <a:uFillTx/>
                  <a:latin typeface="Times New Roman"/>
                </a:endParaRPr>
              </a:p>
            </p:txBody>
          </p:sp>
          <p:sp>
            <p:nvSpPr>
              <p:cNvPr id="593" name="Freeform 374"/>
              <p:cNvSpPr/>
              <p:nvPr/>
            </p:nvSpPr>
            <p:spPr>
              <a:xfrm flipH="1">
                <a:off x="7349760" y="1335240"/>
                <a:ext cx="51480" cy="50400"/>
              </a:xfrm>
              <a:custGeom>
                <a:avLst/>
                <a:gdLst>
                  <a:gd name="GluePoint1X" fmla="*/ 1412007926 w 16"/>
                  <a:gd name="GluePoint1Y" fmla="*/ 2147483647 h 15"/>
                  <a:gd name="GluePoint2X" fmla="*/ 0 w 16"/>
                  <a:gd name="GluePoint2Y" fmla="*/ 2147483647 h 15"/>
                </a:gdLst>
                <a:ahLst/>
                <a:cxnLst>
                  <a:cxn ang="0">
                    <a:pos x="GluePoint1X" y="GluePoint1Y"/>
                  </a:cxn>
                  <a:cxn ang="0">
                    <a:pos x="GluePoint2X" y="GluePoint2Y"/>
                  </a:cxn>
                </a:cxnLst>
                <a:rect l="l" t="t" r="r" b="b"/>
                <a:pathLst>
                  <a:path w="16" h="15">
                    <a:moveTo>
                      <a:pt x="6" y="15"/>
                    </a:moveTo>
                    <a:cubicBezTo>
                      <a:pt x="16" y="14"/>
                      <a:pt x="12" y="0"/>
                      <a:pt x="0" y="12"/>
                    </a:cubicBezTo>
                  </a:path>
                </a:pathLst>
              </a:custGeom>
              <a:noFill/>
              <a:ln w="14400">
                <a:solidFill>
                  <a:srgbClr val="edecf1"/>
                </a:solidFill>
                <a:miter/>
              </a:ln>
            </p:spPr>
            <p:style>
              <a:lnRef idx="0"/>
              <a:fillRef idx="0"/>
              <a:effectRef idx="0"/>
              <a:fontRef idx="minor"/>
            </p:style>
            <p:txBody>
              <a:bodyPr lIns="90000" rIns="90000" tIns="3600" bIns="3600" anchor="t">
                <a:noAutofit/>
              </a:bodyPr>
              <a:p>
                <a:endParaRPr b="0" lang="en-US" sz="2400" strike="noStrike" u="none">
                  <a:solidFill>
                    <a:srgbClr val="ffff00"/>
                  </a:solidFill>
                  <a:effectLst/>
                  <a:uFillTx/>
                  <a:latin typeface="Times New Roman"/>
                </a:endParaRPr>
              </a:p>
            </p:txBody>
          </p:sp>
          <p:sp>
            <p:nvSpPr>
              <p:cNvPr id="594" name="Freeform 375"/>
              <p:cNvSpPr/>
              <p:nvPr/>
            </p:nvSpPr>
            <p:spPr>
              <a:xfrm flipH="1">
                <a:off x="7293240" y="1247400"/>
                <a:ext cx="65880" cy="46440"/>
              </a:xfrm>
              <a:custGeom>
                <a:avLst/>
                <a:gdLst>
                  <a:gd name="GluePoint1X" fmla="*/ 2147483647 w 20"/>
                  <a:gd name="GluePoint1Y" fmla="*/ 2147483647 h 14"/>
                  <a:gd name="GluePoint2X" fmla="*/ 2147483647 w 20"/>
                  <a:gd name="GluePoint2Y" fmla="*/ 2147483647 h 14"/>
                  <a:gd name="GluePoint3X" fmla="*/ 2147483647 w 20"/>
                  <a:gd name="GluePoint3Y" fmla="*/ 0 h 14"/>
                  <a:gd name="GluePoint4X" fmla="*/ 2147483647 w 20"/>
                  <a:gd name="GluePoint4Y" fmla="*/ 2147483647 h 14"/>
                  <a:gd name="GluePoint5X" fmla="*/ 998412869 w 20"/>
                  <a:gd name="GluePoint5Y" fmla="*/ 1468666140 h 14"/>
                  <a:gd name="GluePoint6X" fmla="*/ 0 w 20"/>
                  <a:gd name="GluePoint6Y" fmla="*/ 2147483647 h 1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0" h="14">
                    <a:moveTo>
                      <a:pt x="18" y="10"/>
                    </a:moveTo>
                    <a:cubicBezTo>
                      <a:pt x="17" y="11"/>
                      <a:pt x="17" y="11"/>
                      <a:pt x="18" y="12"/>
                    </a:cubicBezTo>
                    <a:cubicBezTo>
                      <a:pt x="20" y="8"/>
                      <a:pt x="19" y="3"/>
                      <a:pt x="16" y="0"/>
                    </a:cubicBezTo>
                    <a:cubicBezTo>
                      <a:pt x="11" y="2"/>
                      <a:pt x="8" y="8"/>
                      <a:pt x="9" y="13"/>
                    </a:cubicBezTo>
                    <a:cubicBezTo>
                      <a:pt x="9" y="9"/>
                      <a:pt x="7" y="5"/>
                      <a:pt x="3" y="2"/>
                    </a:cubicBezTo>
                    <a:cubicBezTo>
                      <a:pt x="0" y="5"/>
                      <a:pt x="0" y="9"/>
                      <a:pt x="0" y="14"/>
                    </a:cubicBezTo>
                  </a:path>
                </a:pathLst>
              </a:custGeom>
              <a:noFill/>
              <a:ln w="14400">
                <a:solidFill>
                  <a:srgbClr val="edecf1"/>
                </a:solidFill>
                <a:miter/>
              </a:ln>
            </p:spPr>
            <p:style>
              <a:lnRef idx="0"/>
              <a:fillRef idx="0"/>
              <a:effectRef idx="0"/>
              <a:fontRef idx="minor"/>
            </p:style>
            <p:txBody>
              <a:bodyPr lIns="90000" rIns="90000" tIns="-360" bIns="-360" anchor="t">
                <a:noAutofit/>
              </a:bodyPr>
              <a:p>
                <a:endParaRPr b="0" lang="en-US" sz="2400" strike="noStrike" u="none">
                  <a:solidFill>
                    <a:srgbClr val="ffff00"/>
                  </a:solidFill>
                  <a:effectLst/>
                  <a:uFillTx/>
                  <a:latin typeface="Times New Roman"/>
                </a:endParaRPr>
              </a:p>
            </p:txBody>
          </p:sp>
          <p:sp>
            <p:nvSpPr>
              <p:cNvPr id="595" name="Freeform 376"/>
              <p:cNvSpPr/>
              <p:nvPr/>
            </p:nvSpPr>
            <p:spPr>
              <a:xfrm flipH="1">
                <a:off x="7330320" y="1182960"/>
                <a:ext cx="19440" cy="2520"/>
              </a:xfrm>
              <a:custGeom>
                <a:avLst/>
                <a:gdLst>
                  <a:gd name="GluePoint1X" fmla="*/ 0 w 6"/>
                  <a:gd name="GluePoint1Y" fmla="*/ 8388608 h 1"/>
                  <a:gd name="GluePoint2X" fmla="*/ 1765527064 w 6"/>
                  <a:gd name="GluePoint2Y" fmla="*/ 0 h 1"/>
                </a:gdLst>
                <a:ahLst/>
                <a:cxnLst>
                  <a:cxn ang="0">
                    <a:pos x="GluePoint1X" y="GluePoint1Y"/>
                  </a:cxn>
                  <a:cxn ang="0">
                    <a:pos x="GluePoint2X" y="GluePoint2Y"/>
                  </a:cxn>
                </a:cxnLst>
                <a:rect l="l" t="t" r="r" b="b"/>
                <a:pathLst>
                  <a:path w="6" h="1">
                    <a:moveTo>
                      <a:pt x="0" y="1"/>
                    </a:moveTo>
                    <a:cubicBezTo>
                      <a:pt x="2" y="0"/>
                      <a:pt x="4" y="0"/>
                      <a:pt x="6" y="0"/>
                    </a:cubicBezTo>
                  </a:path>
                </a:pathLst>
              </a:custGeom>
              <a:noFill/>
              <a:ln w="14400">
                <a:solidFill>
                  <a:srgbClr val="edecf1"/>
                </a:solidFill>
                <a:miter/>
              </a:ln>
            </p:spPr>
            <p:style>
              <a:lnRef idx="0"/>
              <a:fillRef idx="0"/>
              <a:effectRef idx="0"/>
              <a:fontRef idx="minor"/>
            </p:style>
            <p:txBody>
              <a:bodyPr lIns="90000" rIns="90000" tIns="-44280" bIns="-44280" anchor="t">
                <a:noAutofit/>
              </a:bodyPr>
              <a:p>
                <a:endParaRPr b="0" lang="en-US" sz="2400" strike="noStrike" u="none">
                  <a:solidFill>
                    <a:srgbClr val="ffff00"/>
                  </a:solidFill>
                  <a:effectLst/>
                  <a:uFillTx/>
                  <a:latin typeface="Times New Roman"/>
                </a:endParaRPr>
              </a:p>
            </p:txBody>
          </p:sp>
          <p:sp>
            <p:nvSpPr>
              <p:cNvPr id="596" name="Freeform 377"/>
              <p:cNvSpPr/>
              <p:nvPr/>
            </p:nvSpPr>
            <p:spPr>
              <a:xfrm flipH="1">
                <a:off x="7655040" y="1440360"/>
                <a:ext cx="24840" cy="60120"/>
              </a:xfrm>
              <a:custGeom>
                <a:avLst/>
                <a:gdLst>
                  <a:gd name="GluePoint1X" fmla="*/ 0 w 8"/>
                  <a:gd name="GluePoint1Y" fmla="*/ 2147483647 h 18"/>
                  <a:gd name="GluePoint2X" fmla="*/ 796928074 w 8"/>
                  <a:gd name="GluePoint2Y" fmla="*/ 0 h 18"/>
                  <a:gd name="GluePoint3X" fmla="*/ 496271561 w 8"/>
                  <a:gd name="GluePoint3Y" fmla="*/ 2147483647 h 18"/>
                </a:gdLst>
                <a:ahLst/>
                <a:cxnLst>
                  <a:cxn ang="0">
                    <a:pos x="GluePoint1X" y="GluePoint1Y"/>
                  </a:cxn>
                  <a:cxn ang="0">
                    <a:pos x="GluePoint2X" y="GluePoint2Y"/>
                  </a:cxn>
                  <a:cxn ang="0">
                    <a:pos x="GluePoint3X" y="GluePoint3Y"/>
                  </a:cxn>
                </a:cxnLst>
                <a:rect l="l" t="t" r="r" b="b"/>
                <a:pathLst>
                  <a:path w="8" h="18">
                    <a:moveTo>
                      <a:pt x="0" y="10"/>
                    </a:moveTo>
                    <a:cubicBezTo>
                      <a:pt x="0" y="6"/>
                      <a:pt x="2" y="2"/>
                      <a:pt x="6" y="0"/>
                    </a:cubicBezTo>
                    <a:cubicBezTo>
                      <a:pt x="8" y="5"/>
                      <a:pt x="6" y="12"/>
                      <a:pt x="4" y="18"/>
                    </a:cubicBezTo>
                  </a:path>
                </a:pathLst>
              </a:custGeom>
              <a:noFill/>
              <a:ln w="14400">
                <a:solidFill>
                  <a:srgbClr val="edecf1"/>
                </a:solidFill>
                <a:miter/>
              </a:ln>
            </p:spPr>
            <p:style>
              <a:lnRef idx="0"/>
              <a:fillRef idx="0"/>
              <a:effectRef idx="0"/>
              <a:fontRef idx="minor"/>
            </p:style>
            <p:txBody>
              <a:bodyPr lIns="90000" rIns="90000" tIns="13320" bIns="13320" anchor="t">
                <a:noAutofit/>
              </a:bodyPr>
              <a:p>
                <a:endParaRPr b="0" lang="en-US" sz="2400" strike="noStrike" u="none">
                  <a:solidFill>
                    <a:srgbClr val="ffff00"/>
                  </a:solidFill>
                  <a:effectLst/>
                  <a:uFillTx/>
                  <a:latin typeface="Times New Roman"/>
                </a:endParaRPr>
              </a:p>
            </p:txBody>
          </p:sp>
          <p:sp>
            <p:nvSpPr>
              <p:cNvPr id="597" name="Freeform 378"/>
              <p:cNvSpPr/>
              <p:nvPr/>
            </p:nvSpPr>
            <p:spPr>
              <a:xfrm flipH="1">
                <a:off x="7554240" y="1392480"/>
                <a:ext cx="48600" cy="57240"/>
              </a:xfrm>
              <a:custGeom>
                <a:avLst/>
                <a:gdLst>
                  <a:gd name="GluePoint1X" fmla="*/ 1118674480 w 15"/>
                  <a:gd name="GluePoint1Y" fmla="*/ 0 h 17"/>
                  <a:gd name="GluePoint2X" fmla="*/ 2147483647 w 15"/>
                  <a:gd name="GluePoint2Y" fmla="*/ 2147483647 h 17"/>
                  <a:gd name="GluePoint3X" fmla="*/ 0 w 15"/>
                  <a:gd name="GluePoint3Y" fmla="*/ 2147483647 h 17"/>
                </a:gdLst>
                <a:ahLst/>
                <a:cxnLst>
                  <a:cxn ang="0">
                    <a:pos x="GluePoint1X" y="GluePoint1Y"/>
                  </a:cxn>
                  <a:cxn ang="0">
                    <a:pos x="GluePoint2X" y="GluePoint2Y"/>
                  </a:cxn>
                  <a:cxn ang="0">
                    <a:pos x="GluePoint3X" y="GluePoint3Y"/>
                  </a:cxn>
                </a:cxnLst>
                <a:rect l="l" t="t" r="r" b="b"/>
                <a:pathLst>
                  <a:path w="15" h="17">
                    <a:moveTo>
                      <a:pt x="4" y="0"/>
                    </a:moveTo>
                    <a:cubicBezTo>
                      <a:pt x="7" y="2"/>
                      <a:pt x="15" y="5"/>
                      <a:pt x="14" y="9"/>
                    </a:cubicBezTo>
                    <a:cubicBezTo>
                      <a:pt x="13" y="17"/>
                      <a:pt x="2" y="9"/>
                      <a:pt x="0" y="6"/>
                    </a:cubicBezTo>
                  </a:path>
                </a:pathLst>
              </a:custGeom>
              <a:noFill/>
              <a:ln w="14400">
                <a:solidFill>
                  <a:srgbClr val="edecf1"/>
                </a:solidFill>
                <a:miter/>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598" name="Freeform 379"/>
              <p:cNvSpPr/>
              <p:nvPr/>
            </p:nvSpPr>
            <p:spPr>
              <a:xfrm flipH="1">
                <a:off x="7492680" y="1523880"/>
                <a:ext cx="66960" cy="71280"/>
              </a:xfrm>
              <a:custGeom>
                <a:avLst/>
                <a:gdLst>
                  <a:gd name="GluePoint1X" fmla="*/ 1107397079 w 21"/>
                  <a:gd name="GluePoint1Y" fmla="*/ 2147483647 h 21"/>
                  <a:gd name="GluePoint2X" fmla="*/ 0 w 21"/>
                  <a:gd name="GluePoint2Y" fmla="*/ 2147483647 h 21"/>
                </a:gdLst>
                <a:ahLst/>
                <a:cxnLst>
                  <a:cxn ang="0">
                    <a:pos x="GluePoint1X" y="GluePoint1Y"/>
                  </a:cxn>
                  <a:cxn ang="0">
                    <a:pos x="GluePoint2X" y="GluePoint2Y"/>
                  </a:cxn>
                </a:cxnLst>
                <a:rect l="l" t="t" r="r" b="b"/>
                <a:pathLst>
                  <a:path w="21" h="21">
                    <a:moveTo>
                      <a:pt x="6" y="21"/>
                    </a:moveTo>
                    <a:cubicBezTo>
                      <a:pt x="21" y="9"/>
                      <a:pt x="7" y="0"/>
                      <a:pt x="0" y="16"/>
                    </a:cubicBezTo>
                  </a:path>
                </a:pathLst>
              </a:custGeom>
              <a:noFill/>
              <a:ln w="14400">
                <a:solidFill>
                  <a:srgbClr val="edecf1"/>
                </a:solidFill>
                <a:miter/>
              </a:ln>
            </p:spPr>
            <p:style>
              <a:lnRef idx="0"/>
              <a:fillRef idx="0"/>
              <a:effectRef idx="0"/>
              <a:fontRef idx="minor"/>
            </p:style>
            <p:txBody>
              <a:bodyPr lIns="90000" rIns="90000" tIns="24480" bIns="24480" anchor="t">
                <a:noAutofit/>
              </a:bodyPr>
              <a:p>
                <a:endParaRPr b="0" lang="en-US" sz="2400" strike="noStrike" u="none">
                  <a:solidFill>
                    <a:srgbClr val="ffff00"/>
                  </a:solidFill>
                  <a:effectLst/>
                  <a:uFillTx/>
                  <a:latin typeface="Times New Roman"/>
                </a:endParaRPr>
              </a:p>
            </p:txBody>
          </p:sp>
          <p:sp>
            <p:nvSpPr>
              <p:cNvPr id="599" name="Freeform 380"/>
              <p:cNvSpPr/>
              <p:nvPr/>
            </p:nvSpPr>
            <p:spPr>
              <a:xfrm flipH="1">
                <a:off x="6916680" y="1575000"/>
                <a:ext cx="29520" cy="3960"/>
              </a:xfrm>
              <a:custGeom>
                <a:avLst/>
                <a:gdLst>
                  <a:gd name="GluePoint1X" fmla="*/ 0 w 9"/>
                  <a:gd name="GluePoint1Y" fmla="*/ 0 h 1"/>
                  <a:gd name="GluePoint2X" fmla="*/ 2147483647 w 9"/>
                  <a:gd name="GluePoint2Y" fmla="*/ 2147483647 h 1"/>
                </a:gdLst>
                <a:ahLst/>
                <a:cxnLst>
                  <a:cxn ang="0">
                    <a:pos x="GluePoint1X" y="GluePoint1Y"/>
                  </a:cxn>
                  <a:cxn ang="0">
                    <a:pos x="GluePoint2X" y="GluePoint2Y"/>
                  </a:cxn>
                </a:cxnLst>
                <a:rect l="l" t="t" r="r" b="b"/>
                <a:pathLst>
                  <a:path w="9" h="1">
                    <a:moveTo>
                      <a:pt x="0" y="0"/>
                    </a:moveTo>
                    <a:cubicBezTo>
                      <a:pt x="3" y="1"/>
                      <a:pt x="6" y="1"/>
                      <a:pt x="9" y="1"/>
                    </a:cubicBezTo>
                  </a:path>
                </a:pathLst>
              </a:custGeom>
              <a:noFill/>
              <a:ln w="14400">
                <a:solidFill>
                  <a:srgbClr val="edecf1"/>
                </a:solidFill>
                <a:miter/>
              </a:ln>
            </p:spPr>
            <p:style>
              <a:lnRef idx="0"/>
              <a:fillRef idx="0"/>
              <a:effectRef idx="0"/>
              <a:fontRef idx="minor"/>
            </p:style>
            <p:txBody>
              <a:bodyPr lIns="90000" rIns="90000" tIns="-42840" bIns="-42840" anchor="t">
                <a:noAutofit/>
              </a:bodyPr>
              <a:p>
                <a:endParaRPr b="0" lang="en-US" sz="2400" strike="noStrike" u="none">
                  <a:solidFill>
                    <a:srgbClr val="ffff00"/>
                  </a:solidFill>
                  <a:effectLst/>
                  <a:uFillTx/>
                  <a:latin typeface="Times New Roman"/>
                </a:endParaRPr>
              </a:p>
            </p:txBody>
          </p:sp>
          <p:sp>
            <p:nvSpPr>
              <p:cNvPr id="600" name="Freeform 381"/>
              <p:cNvSpPr/>
              <p:nvPr/>
            </p:nvSpPr>
            <p:spPr>
              <a:xfrm flipH="1">
                <a:off x="6958800" y="1632600"/>
                <a:ext cx="19440" cy="27000"/>
              </a:xfrm>
              <a:custGeom>
                <a:avLst/>
                <a:gdLst>
                  <a:gd name="GluePoint1X" fmla="*/ 0 w 6"/>
                  <a:gd name="GluePoint1Y" fmla="*/ 0 h 8"/>
                  <a:gd name="GluePoint2X" fmla="*/ 1765527064 w 6"/>
                  <a:gd name="GluePoint2Y" fmla="*/ 2147483647 h 8"/>
                </a:gdLst>
                <a:ahLst/>
                <a:cxnLst>
                  <a:cxn ang="0">
                    <a:pos x="GluePoint1X" y="GluePoint1Y"/>
                  </a:cxn>
                  <a:cxn ang="0">
                    <a:pos x="GluePoint2X" y="GluePoint2Y"/>
                  </a:cxn>
                </a:cxnLst>
                <a:rect l="l" t="t" r="r" b="b"/>
                <a:pathLst>
                  <a:path w="6" h="8">
                    <a:moveTo>
                      <a:pt x="0" y="0"/>
                    </a:moveTo>
                    <a:cubicBezTo>
                      <a:pt x="1" y="3"/>
                      <a:pt x="3" y="6"/>
                      <a:pt x="6" y="8"/>
                    </a:cubicBezTo>
                  </a:path>
                </a:pathLst>
              </a:custGeom>
              <a:noFill/>
              <a:ln w="14400">
                <a:solidFill>
                  <a:srgbClr val="edecf1"/>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601" name="Freeform 382"/>
              <p:cNvSpPr/>
              <p:nvPr/>
            </p:nvSpPr>
            <p:spPr>
              <a:xfrm flipH="1">
                <a:off x="7453080" y="1914480"/>
                <a:ext cx="32040" cy="46440"/>
              </a:xfrm>
              <a:custGeom>
                <a:avLst/>
                <a:gdLst>
                  <a:gd name="GluePoint1X" fmla="*/ 0 w 10"/>
                  <a:gd name="GluePoint1Y" fmla="*/ 2147483647 h 14"/>
                  <a:gd name="GluePoint2X" fmla="*/ 1612307392 w 10"/>
                  <a:gd name="GluePoint2Y" fmla="*/ 0 h 14"/>
                  <a:gd name="GluePoint3X" fmla="*/ 1612307392 w 10"/>
                  <a:gd name="GluePoint3Y" fmla="*/ 2147483647 h 14"/>
                </a:gdLst>
                <a:ahLst/>
                <a:cxnLst>
                  <a:cxn ang="0">
                    <a:pos x="GluePoint1X" y="GluePoint1Y"/>
                  </a:cxn>
                  <a:cxn ang="0">
                    <a:pos x="GluePoint2X" y="GluePoint2Y"/>
                  </a:cxn>
                  <a:cxn ang="0">
                    <a:pos x="GluePoint3X" y="GluePoint3Y"/>
                  </a:cxn>
                </a:cxnLst>
                <a:rect l="l" t="t" r="r" b="b"/>
                <a:pathLst>
                  <a:path w="10" h="14">
                    <a:moveTo>
                      <a:pt x="0" y="14"/>
                    </a:moveTo>
                    <a:cubicBezTo>
                      <a:pt x="2" y="9"/>
                      <a:pt x="3" y="2"/>
                      <a:pt x="8" y="0"/>
                    </a:cubicBezTo>
                    <a:cubicBezTo>
                      <a:pt x="10" y="4"/>
                      <a:pt x="9" y="8"/>
                      <a:pt x="8" y="12"/>
                    </a:cubicBezTo>
                  </a:path>
                </a:pathLst>
              </a:custGeom>
              <a:noFill/>
              <a:ln w="14400">
                <a:solidFill>
                  <a:srgbClr val="edecf1"/>
                </a:solidFill>
                <a:miter/>
              </a:ln>
            </p:spPr>
            <p:style>
              <a:lnRef idx="0"/>
              <a:fillRef idx="0"/>
              <a:effectRef idx="0"/>
              <a:fontRef idx="minor"/>
            </p:style>
            <p:txBody>
              <a:bodyPr lIns="90000" rIns="90000" tIns="-360" bIns="-360" anchor="t">
                <a:noAutofit/>
              </a:bodyPr>
              <a:p>
                <a:endParaRPr b="0" lang="en-US" sz="2400" strike="noStrike" u="none">
                  <a:solidFill>
                    <a:srgbClr val="ffff00"/>
                  </a:solidFill>
                  <a:effectLst/>
                  <a:uFillTx/>
                  <a:latin typeface="Times New Roman"/>
                </a:endParaRPr>
              </a:p>
            </p:txBody>
          </p:sp>
          <p:sp>
            <p:nvSpPr>
              <p:cNvPr id="602" name="Freeform 383"/>
              <p:cNvSpPr/>
              <p:nvPr/>
            </p:nvSpPr>
            <p:spPr>
              <a:xfrm flipH="1">
                <a:off x="7340040" y="1859760"/>
                <a:ext cx="15120" cy="23040"/>
              </a:xfrm>
              <a:custGeom>
                <a:avLst/>
                <a:gdLst>
                  <a:gd name="GluePoint1X" fmla="*/ 374349054 w 5"/>
                  <a:gd name="GluePoint1Y" fmla="*/ 2147483647 h 7"/>
                  <a:gd name="GluePoint2X" fmla="*/ 0 w 5"/>
                  <a:gd name="GluePoint2Y" fmla="*/ 0 h 7"/>
                </a:gdLst>
                <a:ahLst/>
                <a:cxnLst>
                  <a:cxn ang="0">
                    <a:pos x="GluePoint1X" y="GluePoint1Y"/>
                  </a:cxn>
                  <a:cxn ang="0">
                    <a:pos x="GluePoint2X" y="GluePoint2Y"/>
                  </a:cxn>
                </a:cxnLst>
                <a:rect l="l" t="t" r="r" b="b"/>
                <a:pathLst>
                  <a:path w="5" h="7">
                    <a:moveTo>
                      <a:pt x="5" y="7"/>
                    </a:moveTo>
                    <a:cubicBezTo>
                      <a:pt x="5" y="3"/>
                      <a:pt x="4" y="1"/>
                      <a:pt x="0" y="0"/>
                    </a:cubicBezTo>
                  </a:path>
                </a:pathLst>
              </a:custGeom>
              <a:noFill/>
              <a:ln w="14400">
                <a:solidFill>
                  <a:srgbClr val="edecf1"/>
                </a:solidFill>
                <a:miter/>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603" name="Freeform 384"/>
              <p:cNvSpPr/>
              <p:nvPr/>
            </p:nvSpPr>
            <p:spPr>
              <a:xfrm flipH="1">
                <a:off x="7416720" y="2009160"/>
                <a:ext cx="26640" cy="6840"/>
              </a:xfrm>
              <a:custGeom>
                <a:avLst/>
                <a:gdLst>
                  <a:gd name="GluePoint1X" fmla="*/ 2147483647 w 8"/>
                  <a:gd name="GluePoint1Y" fmla="*/ 2147483647 h 2"/>
                  <a:gd name="GluePoint2X" fmla="*/ 0 w 8"/>
                  <a:gd name="GluePoint2Y" fmla="*/ 0 h 2"/>
                </a:gdLst>
                <a:ahLst/>
                <a:cxnLst>
                  <a:cxn ang="0">
                    <a:pos x="GluePoint1X" y="GluePoint1Y"/>
                  </a:cxn>
                  <a:cxn ang="0">
                    <a:pos x="GluePoint2X" y="GluePoint2Y"/>
                  </a:cxn>
                </a:cxnLst>
                <a:rect l="l" t="t" r="r" b="b"/>
                <a:pathLst>
                  <a:path w="8" h="2">
                    <a:moveTo>
                      <a:pt x="8" y="2"/>
                    </a:moveTo>
                    <a:cubicBezTo>
                      <a:pt x="5" y="1"/>
                      <a:pt x="3" y="1"/>
                      <a:pt x="0" y="0"/>
                    </a:cubicBezTo>
                  </a:path>
                </a:pathLst>
              </a:custGeom>
              <a:noFill/>
              <a:ln w="14400">
                <a:solidFill>
                  <a:srgbClr val="edecf1"/>
                </a:solidFill>
                <a:miter/>
              </a:ln>
            </p:spPr>
            <p:style>
              <a:lnRef idx="0"/>
              <a:fillRef idx="0"/>
              <a:effectRef idx="0"/>
              <a:fontRef idx="minor"/>
            </p:style>
            <p:txBody>
              <a:bodyPr lIns="90000" rIns="90000" tIns="-39960" bIns="-39960" anchor="t">
                <a:noAutofit/>
              </a:bodyPr>
              <a:p>
                <a:endParaRPr b="0" lang="en-US" sz="2400" strike="noStrike" u="none">
                  <a:solidFill>
                    <a:srgbClr val="ffff00"/>
                  </a:solidFill>
                  <a:effectLst/>
                  <a:uFillTx/>
                  <a:latin typeface="Times New Roman"/>
                </a:endParaRPr>
              </a:p>
            </p:txBody>
          </p:sp>
          <p:sp>
            <p:nvSpPr>
              <p:cNvPr id="604" name="Freeform 385"/>
              <p:cNvSpPr/>
              <p:nvPr/>
            </p:nvSpPr>
            <p:spPr>
              <a:xfrm flipH="1">
                <a:off x="5324400" y="1730880"/>
                <a:ext cx="54360" cy="54720"/>
              </a:xfrm>
              <a:custGeom>
                <a:avLst/>
                <a:gdLst>
                  <a:gd name="GluePoint1X" fmla="*/ 0 w 17"/>
                  <a:gd name="GluePoint1Y" fmla="*/ 2147483647 h 16"/>
                  <a:gd name="GluePoint2X" fmla="*/ 932894556 w 17"/>
                  <a:gd name="GluePoint2Y" fmla="*/ 2147483647 h 16"/>
                  <a:gd name="GluePoint3X" fmla="*/ 1989092508 w 17"/>
                  <a:gd name="GluePoint3Y" fmla="*/ 2147483647 h 16"/>
                  <a:gd name="GluePoint4X" fmla="*/ 2147483647 w 17"/>
                  <a:gd name="GluePoint4Y" fmla="*/ 0 h 16"/>
                </a:gdLst>
                <a:ahLst/>
                <a:cxnLst>
                  <a:cxn ang="0">
                    <a:pos x="GluePoint1X" y="GluePoint1Y"/>
                  </a:cxn>
                  <a:cxn ang="0">
                    <a:pos x="GluePoint2X" y="GluePoint2Y"/>
                  </a:cxn>
                  <a:cxn ang="0">
                    <a:pos x="GluePoint3X" y="GluePoint3Y"/>
                  </a:cxn>
                  <a:cxn ang="0">
                    <a:pos x="GluePoint4X" y="GluePoint4Y"/>
                  </a:cxn>
                </a:cxnLst>
                <a:rect l="l" t="t" r="r" b="b"/>
                <a:pathLst>
                  <a:path w="17" h="16">
                    <a:moveTo>
                      <a:pt x="0" y="13"/>
                    </a:moveTo>
                    <a:cubicBezTo>
                      <a:pt x="0" y="9"/>
                      <a:pt x="1" y="6"/>
                      <a:pt x="5" y="5"/>
                    </a:cubicBezTo>
                    <a:cubicBezTo>
                      <a:pt x="5" y="8"/>
                      <a:pt x="4" y="16"/>
                      <a:pt x="10" y="16"/>
                    </a:cubicBezTo>
                    <a:cubicBezTo>
                      <a:pt x="17" y="16"/>
                      <a:pt x="14" y="4"/>
                      <a:pt x="15" y="0"/>
                    </a:cubicBezTo>
                  </a:path>
                </a:pathLst>
              </a:custGeom>
              <a:noFill/>
              <a:ln w="14400">
                <a:solidFill>
                  <a:srgbClr val="edecf1"/>
                </a:solidFill>
                <a:miter/>
              </a:ln>
            </p:spPr>
            <p:style>
              <a:lnRef idx="0"/>
              <a:fillRef idx="0"/>
              <a:effectRef idx="0"/>
              <a:fontRef idx="minor"/>
            </p:style>
            <p:txBody>
              <a:bodyPr lIns="90000" rIns="90000" tIns="7920" bIns="7920" anchor="t">
                <a:noAutofit/>
              </a:bodyPr>
              <a:p>
                <a:endParaRPr b="0" lang="en-US" sz="2400" strike="noStrike" u="none">
                  <a:solidFill>
                    <a:srgbClr val="ffff00"/>
                  </a:solidFill>
                  <a:effectLst/>
                  <a:uFillTx/>
                  <a:latin typeface="Times New Roman"/>
                </a:endParaRPr>
              </a:p>
            </p:txBody>
          </p:sp>
          <p:sp>
            <p:nvSpPr>
              <p:cNvPr id="605" name="Freeform 386"/>
              <p:cNvSpPr/>
              <p:nvPr/>
            </p:nvSpPr>
            <p:spPr>
              <a:xfrm flipH="1">
                <a:off x="5363640" y="1613160"/>
                <a:ext cx="32400" cy="36720"/>
              </a:xfrm>
              <a:custGeom>
                <a:avLst/>
                <a:gdLst>
                  <a:gd name="GluePoint1X" fmla="*/ 1095884648 w 10"/>
                  <a:gd name="GluePoint1Y" fmla="*/ 741099284 h 11"/>
                  <a:gd name="GluePoint2X" fmla="*/ 0 w 10"/>
                  <a:gd name="GluePoint2Y" fmla="*/ 2147483647 h 11"/>
                  <a:gd name="GluePoint3X" fmla="*/ 2095983323 w 10"/>
                  <a:gd name="GluePoint3Y" fmla="*/ 0 h 11"/>
                </a:gdLst>
                <a:ahLst/>
                <a:cxnLst>
                  <a:cxn ang="0">
                    <a:pos x="GluePoint1X" y="GluePoint1Y"/>
                  </a:cxn>
                  <a:cxn ang="0">
                    <a:pos x="GluePoint2X" y="GluePoint2Y"/>
                  </a:cxn>
                  <a:cxn ang="0">
                    <a:pos x="GluePoint3X" y="GluePoint3Y"/>
                  </a:cxn>
                </a:cxnLst>
                <a:rect l="l" t="t" r="r" b="b"/>
                <a:pathLst>
                  <a:path w="10" h="11">
                    <a:moveTo>
                      <a:pt x="5" y="1"/>
                    </a:moveTo>
                    <a:cubicBezTo>
                      <a:pt x="2" y="3"/>
                      <a:pt x="0" y="6"/>
                      <a:pt x="0" y="10"/>
                    </a:cubicBezTo>
                    <a:cubicBezTo>
                      <a:pt x="5" y="11"/>
                      <a:pt x="10" y="5"/>
                      <a:pt x="10" y="0"/>
                    </a:cubicBezTo>
                  </a:path>
                </a:pathLst>
              </a:custGeom>
              <a:noFill/>
              <a:ln w="14400">
                <a:solidFill>
                  <a:srgbClr val="edecf1"/>
                </a:solidFill>
                <a:miter/>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606" name="Freeform 387"/>
              <p:cNvSpPr/>
              <p:nvPr/>
            </p:nvSpPr>
            <p:spPr>
              <a:xfrm flipH="1">
                <a:off x="4733280" y="1487160"/>
                <a:ext cx="19440" cy="27360"/>
              </a:xfrm>
              <a:custGeom>
                <a:avLst/>
                <a:gdLst>
                  <a:gd name="GluePoint1X" fmla="*/ 1765527064 w 6"/>
                  <a:gd name="GluePoint1Y" fmla="*/ 0 h 8"/>
                  <a:gd name="GluePoint2X" fmla="*/ 0 w 6"/>
                  <a:gd name="GluePoint2Y" fmla="*/ 2147483647 h 8"/>
                </a:gdLst>
                <a:ahLst/>
                <a:cxnLst>
                  <a:cxn ang="0">
                    <a:pos x="GluePoint1X" y="GluePoint1Y"/>
                  </a:cxn>
                  <a:cxn ang="0">
                    <a:pos x="GluePoint2X" y="GluePoint2Y"/>
                  </a:cxn>
                </a:cxnLst>
                <a:rect l="l" t="t" r="r" b="b"/>
                <a:pathLst>
                  <a:path w="6" h="8">
                    <a:moveTo>
                      <a:pt x="6" y="0"/>
                    </a:moveTo>
                    <a:cubicBezTo>
                      <a:pt x="4" y="3"/>
                      <a:pt x="2" y="6"/>
                      <a:pt x="0" y="8"/>
                    </a:cubicBezTo>
                  </a:path>
                </a:pathLst>
              </a:custGeom>
              <a:noFill/>
              <a:ln w="14400">
                <a:solidFill>
                  <a:srgbClr val="edecf1"/>
                </a:solidFill>
                <a:miter/>
              </a:ln>
            </p:spPr>
            <p:style>
              <a:lnRef idx="0"/>
              <a:fillRef idx="0"/>
              <a:effectRef idx="0"/>
              <a:fontRef idx="minor"/>
            </p:style>
            <p:txBody>
              <a:bodyPr lIns="90000" rIns="90000" tIns="-19440" bIns="-19440" anchor="t">
                <a:noAutofit/>
              </a:bodyPr>
              <a:p>
                <a:endParaRPr b="0" lang="en-US" sz="2400" strike="noStrike" u="none">
                  <a:solidFill>
                    <a:srgbClr val="ffff00"/>
                  </a:solidFill>
                  <a:effectLst/>
                  <a:uFillTx/>
                  <a:latin typeface="Times New Roman"/>
                </a:endParaRPr>
              </a:p>
            </p:txBody>
          </p:sp>
          <p:sp>
            <p:nvSpPr>
              <p:cNvPr id="607" name="Freeform 388"/>
              <p:cNvSpPr/>
              <p:nvPr/>
            </p:nvSpPr>
            <p:spPr>
              <a:xfrm flipH="1">
                <a:off x="4687920" y="1249920"/>
                <a:ext cx="34920" cy="37080"/>
              </a:xfrm>
              <a:custGeom>
                <a:avLst/>
                <a:gdLst>
                  <a:gd name="GluePoint1X" fmla="*/ 1379854173 w 11"/>
                  <a:gd name="GluePoint1Y" fmla="*/ 741099284 h 11"/>
                  <a:gd name="GluePoint2X" fmla="*/ 149389618 w 11"/>
                  <a:gd name="GluePoint2Y" fmla="*/ 2147483647 h 11"/>
                  <a:gd name="GluePoint3X" fmla="*/ 1753728611 w 11"/>
                  <a:gd name="GluePoint3Y" fmla="*/ 2147483647 h 11"/>
                </a:gdLst>
                <a:ahLst/>
                <a:cxnLst>
                  <a:cxn ang="0">
                    <a:pos x="GluePoint1X" y="GluePoint1Y"/>
                  </a:cxn>
                  <a:cxn ang="0">
                    <a:pos x="GluePoint2X" y="GluePoint2Y"/>
                  </a:cxn>
                  <a:cxn ang="0">
                    <a:pos x="GluePoint3X" y="GluePoint3Y"/>
                  </a:cxn>
                </a:cxnLst>
                <a:rect l="l" t="t" r="r" b="b"/>
                <a:pathLst>
                  <a:path w="11" h="11">
                    <a:moveTo>
                      <a:pt x="9" y="1"/>
                    </a:moveTo>
                    <a:cubicBezTo>
                      <a:pt x="4" y="0"/>
                      <a:pt x="0" y="5"/>
                      <a:pt x="1" y="10"/>
                    </a:cubicBezTo>
                    <a:cubicBezTo>
                      <a:pt x="4" y="11"/>
                      <a:pt x="8" y="10"/>
                      <a:pt x="11" y="7"/>
                    </a:cubicBezTo>
                  </a:path>
                </a:pathLst>
              </a:custGeom>
              <a:noFill/>
              <a:ln w="14400">
                <a:solidFill>
                  <a:srgbClr val="edecf1"/>
                </a:solidFill>
                <a:miter/>
              </a:ln>
            </p:spPr>
            <p:style>
              <a:lnRef idx="0"/>
              <a:fillRef idx="0"/>
              <a:effectRef idx="0"/>
              <a:fontRef idx="minor"/>
            </p:style>
            <p:txBody>
              <a:bodyPr lIns="90000" rIns="90000" tIns="-9720" bIns="-9720" anchor="t">
                <a:noAutofit/>
              </a:bodyPr>
              <a:p>
                <a:endParaRPr b="0" lang="en-US" sz="2400" strike="noStrike" u="none">
                  <a:solidFill>
                    <a:srgbClr val="ffff00"/>
                  </a:solidFill>
                  <a:effectLst/>
                  <a:uFillTx/>
                  <a:latin typeface="Times New Roman"/>
                </a:endParaRPr>
              </a:p>
            </p:txBody>
          </p:sp>
          <p:sp>
            <p:nvSpPr>
              <p:cNvPr id="608" name="Freeform 389"/>
              <p:cNvSpPr/>
              <p:nvPr/>
            </p:nvSpPr>
            <p:spPr>
              <a:xfrm flipH="1">
                <a:off x="4654440" y="1330920"/>
                <a:ext cx="23760" cy="24480"/>
              </a:xfrm>
              <a:custGeom>
                <a:avLst/>
                <a:gdLst>
                  <a:gd name="GluePoint1X" fmla="*/ 0 w 7"/>
                  <a:gd name="GluePoint1Y" fmla="*/ 0 h 7"/>
                  <a:gd name="GluePoint2X" fmla="*/ 2147483647 w 7"/>
                  <a:gd name="GluePoint2Y" fmla="*/ 2147483647 h 7"/>
                </a:gdLst>
                <a:ahLst/>
                <a:cxnLst>
                  <a:cxn ang="0">
                    <a:pos x="GluePoint1X" y="GluePoint1Y"/>
                  </a:cxn>
                  <a:cxn ang="0">
                    <a:pos x="GluePoint2X" y="GluePoint2Y"/>
                  </a:cxn>
                </a:cxnLst>
                <a:rect l="l" t="t" r="r" b="b"/>
                <a:pathLst>
                  <a:path w="7" h="7">
                    <a:moveTo>
                      <a:pt x="0" y="0"/>
                    </a:moveTo>
                    <a:cubicBezTo>
                      <a:pt x="4" y="1"/>
                      <a:pt x="5" y="4"/>
                      <a:pt x="7" y="7"/>
                    </a:cubicBezTo>
                  </a:path>
                </a:pathLst>
              </a:custGeom>
              <a:noFill/>
              <a:ln w="14400">
                <a:solidFill>
                  <a:srgbClr val="edecf1"/>
                </a:solidFill>
                <a:miter/>
              </a:ln>
            </p:spPr>
            <p:style>
              <a:lnRef idx="0"/>
              <a:fillRef idx="0"/>
              <a:effectRef idx="0"/>
              <a:fontRef idx="minor"/>
            </p:style>
            <p:txBody>
              <a:bodyPr lIns="90000" rIns="90000" tIns="-22320" bIns="-22320" anchor="t">
                <a:noAutofit/>
              </a:bodyPr>
              <a:p>
                <a:endParaRPr b="0" lang="en-US" sz="2400" strike="noStrike" u="none">
                  <a:solidFill>
                    <a:srgbClr val="ffff00"/>
                  </a:solidFill>
                  <a:effectLst/>
                  <a:uFillTx/>
                  <a:latin typeface="Times New Roman"/>
                </a:endParaRPr>
              </a:p>
            </p:txBody>
          </p:sp>
          <p:sp>
            <p:nvSpPr>
              <p:cNvPr id="609" name="Freeform 390"/>
              <p:cNvSpPr/>
              <p:nvPr/>
            </p:nvSpPr>
            <p:spPr>
              <a:xfrm flipH="1">
                <a:off x="4794480" y="1165320"/>
                <a:ext cx="32040" cy="33840"/>
              </a:xfrm>
              <a:custGeom>
                <a:avLst/>
                <a:gdLst>
                  <a:gd name="GluePoint1X" fmla="*/ 2095983323 w 10"/>
                  <a:gd name="GluePoint1Y" fmla="*/ 0 h 10"/>
                  <a:gd name="GluePoint2X" fmla="*/ 2095983323 w 10"/>
                  <a:gd name="GluePoint2Y" fmla="*/ 2147483647 h 10"/>
                  <a:gd name="GluePoint3X" fmla="*/ 631712963 w 10"/>
                  <a:gd name="GluePoint3Y" fmla="*/ 2147483647 h 10"/>
                </a:gdLst>
                <a:ahLst/>
                <a:cxnLst>
                  <a:cxn ang="0">
                    <a:pos x="GluePoint1X" y="GluePoint1Y"/>
                  </a:cxn>
                  <a:cxn ang="0">
                    <a:pos x="GluePoint2X" y="GluePoint2Y"/>
                  </a:cxn>
                  <a:cxn ang="0">
                    <a:pos x="GluePoint3X" y="GluePoint3Y"/>
                  </a:cxn>
                </a:cxnLst>
                <a:rect l="l" t="t" r="r" b="b"/>
                <a:pathLst>
                  <a:path w="10" h="10">
                    <a:moveTo>
                      <a:pt x="10" y="0"/>
                    </a:moveTo>
                    <a:cubicBezTo>
                      <a:pt x="10" y="3"/>
                      <a:pt x="10" y="6"/>
                      <a:pt x="10" y="9"/>
                    </a:cubicBezTo>
                    <a:cubicBezTo>
                      <a:pt x="5" y="10"/>
                      <a:pt x="0" y="5"/>
                      <a:pt x="3" y="2"/>
                    </a:cubicBezTo>
                  </a:path>
                </a:pathLst>
              </a:custGeom>
              <a:noFill/>
              <a:ln w="14400">
                <a:solidFill>
                  <a:srgbClr val="edecf1"/>
                </a:solidFill>
                <a:miter/>
              </a:ln>
            </p:spPr>
            <p:style>
              <a:lnRef idx="0"/>
              <a:fillRef idx="0"/>
              <a:effectRef idx="0"/>
              <a:fontRef idx="minor"/>
            </p:style>
            <p:txBody>
              <a:bodyPr lIns="90000" rIns="90000" tIns="-12960" bIns="-12960" anchor="t">
                <a:noAutofit/>
              </a:bodyPr>
              <a:p>
                <a:endParaRPr b="0" lang="en-US" sz="2400" strike="noStrike" u="none">
                  <a:solidFill>
                    <a:srgbClr val="ffff00"/>
                  </a:solidFill>
                  <a:effectLst/>
                  <a:uFillTx/>
                  <a:latin typeface="Times New Roman"/>
                </a:endParaRPr>
              </a:p>
            </p:txBody>
          </p:sp>
          <p:sp>
            <p:nvSpPr>
              <p:cNvPr id="610" name="Freeform 391"/>
              <p:cNvSpPr/>
              <p:nvPr/>
            </p:nvSpPr>
            <p:spPr>
              <a:xfrm flipH="1">
                <a:off x="4781880" y="934920"/>
                <a:ext cx="15480" cy="29880"/>
              </a:xfrm>
              <a:custGeom>
                <a:avLst/>
                <a:gdLst>
                  <a:gd name="GluePoint1X" fmla="*/ 374349054 w 5"/>
                  <a:gd name="GluePoint1Y" fmla="*/ 0 h 9"/>
                  <a:gd name="GluePoint2X" fmla="*/ 0 w 5"/>
                  <a:gd name="GluePoint2Y" fmla="*/ 2147483647 h 9"/>
                </a:gdLst>
                <a:ahLst/>
                <a:cxnLst>
                  <a:cxn ang="0">
                    <a:pos x="GluePoint1X" y="GluePoint1Y"/>
                  </a:cxn>
                  <a:cxn ang="0">
                    <a:pos x="GluePoint2X" y="GluePoint2Y"/>
                  </a:cxn>
                </a:cxnLst>
                <a:rect l="l" t="t" r="r" b="b"/>
                <a:pathLst>
                  <a:path w="5" h="9">
                    <a:moveTo>
                      <a:pt x="5" y="0"/>
                    </a:moveTo>
                    <a:cubicBezTo>
                      <a:pt x="3" y="3"/>
                      <a:pt x="1" y="6"/>
                      <a:pt x="0" y="9"/>
                    </a:cubicBezTo>
                  </a:path>
                </a:pathLst>
              </a:custGeom>
              <a:noFill/>
              <a:ln w="14400">
                <a:solidFill>
                  <a:srgbClr val="edecf1"/>
                </a:solidFill>
                <a:miter/>
              </a:ln>
            </p:spPr>
            <p:style>
              <a:lnRef idx="0"/>
              <a:fillRef idx="0"/>
              <a:effectRef idx="0"/>
              <a:fontRef idx="minor"/>
            </p:style>
            <p:txBody>
              <a:bodyPr lIns="90000" rIns="90000" tIns="-16920" bIns="-16920" anchor="t">
                <a:noAutofit/>
              </a:bodyPr>
              <a:p>
                <a:endParaRPr b="0" lang="en-US" sz="2400" strike="noStrike" u="none">
                  <a:solidFill>
                    <a:srgbClr val="ffff00"/>
                  </a:solidFill>
                  <a:effectLst/>
                  <a:uFillTx/>
                  <a:latin typeface="Times New Roman"/>
                </a:endParaRPr>
              </a:p>
            </p:txBody>
          </p:sp>
          <p:sp>
            <p:nvSpPr>
              <p:cNvPr id="611" name="Freeform 392"/>
              <p:cNvSpPr/>
              <p:nvPr/>
            </p:nvSpPr>
            <p:spPr>
              <a:xfrm flipH="1">
                <a:off x="5011920" y="847440"/>
                <a:ext cx="29520" cy="13320"/>
              </a:xfrm>
              <a:custGeom>
                <a:avLst/>
                <a:gdLst>
                  <a:gd name="GluePoint1X" fmla="*/ 0 w 9"/>
                  <a:gd name="GluePoint1Y" fmla="*/ 0 h 4"/>
                  <a:gd name="GluePoint2X" fmla="*/ 2147483647 w 9"/>
                  <a:gd name="GluePoint2Y" fmla="*/ 2147483647 h 4"/>
                </a:gdLst>
                <a:ahLst/>
                <a:cxnLst>
                  <a:cxn ang="0">
                    <a:pos x="GluePoint1X" y="GluePoint1Y"/>
                  </a:cxn>
                  <a:cxn ang="0">
                    <a:pos x="GluePoint2X" y="GluePoint2Y"/>
                  </a:cxn>
                </a:cxnLst>
                <a:rect l="l" t="t" r="r" b="b"/>
                <a:pathLst>
                  <a:path w="9" h="4">
                    <a:moveTo>
                      <a:pt x="0" y="0"/>
                    </a:moveTo>
                    <a:cubicBezTo>
                      <a:pt x="2" y="3"/>
                      <a:pt x="5" y="4"/>
                      <a:pt x="9" y="4"/>
                    </a:cubicBezTo>
                  </a:path>
                </a:pathLst>
              </a:custGeom>
              <a:noFill/>
              <a:ln w="14400">
                <a:solidFill>
                  <a:srgbClr val="edecf1"/>
                </a:solidFill>
                <a:miter/>
              </a:ln>
            </p:spPr>
            <p:style>
              <a:lnRef idx="0"/>
              <a:fillRef idx="0"/>
              <a:effectRef idx="0"/>
              <a:fontRef idx="minor"/>
            </p:style>
            <p:txBody>
              <a:bodyPr lIns="90000" rIns="90000" tIns="-33480" bIns="-33480" anchor="t">
                <a:noAutofit/>
              </a:bodyPr>
              <a:p>
                <a:endParaRPr b="0" lang="en-US" sz="2400" strike="noStrike" u="none">
                  <a:solidFill>
                    <a:srgbClr val="ffff00"/>
                  </a:solidFill>
                  <a:effectLst/>
                  <a:uFillTx/>
                  <a:latin typeface="Times New Roman"/>
                </a:endParaRPr>
              </a:p>
            </p:txBody>
          </p:sp>
          <p:sp>
            <p:nvSpPr>
              <p:cNvPr id="612" name="Freeform 393"/>
              <p:cNvSpPr/>
              <p:nvPr/>
            </p:nvSpPr>
            <p:spPr>
              <a:xfrm flipH="1">
                <a:off x="4979520" y="789840"/>
                <a:ext cx="29160" cy="16200"/>
              </a:xfrm>
              <a:custGeom>
                <a:avLst/>
                <a:gdLst>
                  <a:gd name="GluePoint1X" fmla="*/ 0 w 9"/>
                  <a:gd name="GluePoint1Y" fmla="*/ 0 h 5"/>
                  <a:gd name="GluePoint2X" fmla="*/ 2147483647 w 9"/>
                  <a:gd name="GluePoint2Y" fmla="*/ 2147483647 h 5"/>
                </a:gdLst>
                <a:ahLst/>
                <a:cxnLst>
                  <a:cxn ang="0">
                    <a:pos x="GluePoint1X" y="GluePoint1Y"/>
                  </a:cxn>
                  <a:cxn ang="0">
                    <a:pos x="GluePoint2X" y="GluePoint2Y"/>
                  </a:cxn>
                </a:cxnLst>
                <a:rect l="l" t="t" r="r" b="b"/>
                <a:pathLst>
                  <a:path w="9" h="5">
                    <a:moveTo>
                      <a:pt x="0" y="0"/>
                    </a:moveTo>
                    <a:cubicBezTo>
                      <a:pt x="3" y="2"/>
                      <a:pt x="5" y="4"/>
                      <a:pt x="9" y="5"/>
                    </a:cubicBezTo>
                  </a:path>
                </a:pathLst>
              </a:custGeom>
              <a:noFill/>
              <a:ln w="14400">
                <a:solidFill>
                  <a:srgbClr val="edecf1"/>
                </a:solidFill>
                <a:miter/>
              </a:ln>
            </p:spPr>
            <p:style>
              <a:lnRef idx="0"/>
              <a:fillRef idx="0"/>
              <a:effectRef idx="0"/>
              <a:fontRef idx="minor"/>
            </p:style>
            <p:txBody>
              <a:bodyPr lIns="90000" rIns="90000" tIns="-30600" bIns="-30600" anchor="t">
                <a:noAutofit/>
              </a:bodyPr>
              <a:p>
                <a:endParaRPr b="0" lang="en-US" sz="2400" strike="noStrike" u="none">
                  <a:solidFill>
                    <a:srgbClr val="ffff00"/>
                  </a:solidFill>
                  <a:effectLst/>
                  <a:uFillTx/>
                  <a:latin typeface="Times New Roman"/>
                </a:endParaRPr>
              </a:p>
            </p:txBody>
          </p:sp>
          <p:sp>
            <p:nvSpPr>
              <p:cNvPr id="613" name="Freeform 394"/>
              <p:cNvSpPr/>
              <p:nvPr/>
            </p:nvSpPr>
            <p:spPr>
              <a:xfrm flipH="1">
                <a:off x="5343840" y="881640"/>
                <a:ext cx="34920" cy="23040"/>
              </a:xfrm>
              <a:custGeom>
                <a:avLst/>
                <a:gdLst>
                  <a:gd name="GluePoint1X" fmla="*/ 0 w 11"/>
                  <a:gd name="GluePoint1Y" fmla="*/ 0 h 7"/>
                  <a:gd name="GluePoint2X" fmla="*/ 1753728611 w 11"/>
                  <a:gd name="GluePoint2Y" fmla="*/ 2147483647 h 7"/>
                </a:gdLst>
                <a:ahLst/>
                <a:cxnLst>
                  <a:cxn ang="0">
                    <a:pos x="GluePoint1X" y="GluePoint1Y"/>
                  </a:cxn>
                  <a:cxn ang="0">
                    <a:pos x="GluePoint2X" y="GluePoint2Y"/>
                  </a:cxn>
                </a:cxnLst>
                <a:rect l="l" t="t" r="r" b="b"/>
                <a:pathLst>
                  <a:path w="11" h="7">
                    <a:moveTo>
                      <a:pt x="0" y="0"/>
                    </a:moveTo>
                    <a:cubicBezTo>
                      <a:pt x="1" y="5"/>
                      <a:pt x="6" y="7"/>
                      <a:pt x="11" y="7"/>
                    </a:cubicBezTo>
                  </a:path>
                </a:pathLst>
              </a:custGeom>
              <a:noFill/>
              <a:ln w="14400">
                <a:solidFill>
                  <a:srgbClr val="edecf1"/>
                </a:solidFill>
                <a:miter/>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614" name="Freeform 395"/>
              <p:cNvSpPr/>
              <p:nvPr/>
            </p:nvSpPr>
            <p:spPr>
              <a:xfrm flipH="1">
                <a:off x="5763240" y="799560"/>
                <a:ext cx="16560" cy="17640"/>
              </a:xfrm>
              <a:custGeom>
                <a:avLst/>
                <a:gdLst>
                  <a:gd name="GluePoint1X" fmla="*/ 0 w 5"/>
                  <a:gd name="GluePoint1Y" fmla="*/ 0 h 5"/>
                  <a:gd name="GluePoint2X" fmla="*/ 2147483647 w 5"/>
                  <a:gd name="GluePoint2Y" fmla="*/ 2147483647 h 5"/>
                </a:gdLst>
                <a:ahLst/>
                <a:cxnLst>
                  <a:cxn ang="0">
                    <a:pos x="GluePoint1X" y="GluePoint1Y"/>
                  </a:cxn>
                  <a:cxn ang="0">
                    <a:pos x="GluePoint2X" y="GluePoint2Y"/>
                  </a:cxn>
                </a:cxnLst>
                <a:rect l="l" t="t" r="r" b="b"/>
                <a:pathLst>
                  <a:path w="5" h="5">
                    <a:moveTo>
                      <a:pt x="0" y="0"/>
                    </a:moveTo>
                    <a:cubicBezTo>
                      <a:pt x="1" y="2"/>
                      <a:pt x="3" y="4"/>
                      <a:pt x="5" y="5"/>
                    </a:cubicBezTo>
                  </a:path>
                </a:pathLst>
              </a:custGeom>
              <a:noFill/>
              <a:ln w="14400">
                <a:solidFill>
                  <a:srgbClr val="edecf1"/>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615" name="Freeform 396"/>
              <p:cNvSpPr/>
              <p:nvPr/>
            </p:nvSpPr>
            <p:spPr>
              <a:xfrm flipH="1">
                <a:off x="5646600" y="392400"/>
                <a:ext cx="37800" cy="47520"/>
              </a:xfrm>
              <a:custGeom>
                <a:avLst/>
                <a:gdLst>
                  <a:gd name="GluePoint1X" fmla="*/ 620506449 w 12"/>
                  <a:gd name="GluePoint1Y" fmla="*/ 2147483647 h 14"/>
                  <a:gd name="GluePoint2X" fmla="*/ 496271561 w 12"/>
                  <a:gd name="GluePoint2Y" fmla="*/ 2147483647 h 14"/>
                  <a:gd name="GluePoint3X" fmla="*/ 1513491561 w 12"/>
                  <a:gd name="GluePoint3Y" fmla="*/ 2147483647 h 14"/>
                </a:gdLst>
                <a:ahLst/>
                <a:cxnLst>
                  <a:cxn ang="0">
                    <a:pos x="GluePoint1X" y="GluePoint1Y"/>
                  </a:cxn>
                  <a:cxn ang="0">
                    <a:pos x="GluePoint2X" y="GluePoint2Y"/>
                  </a:cxn>
                  <a:cxn ang="0">
                    <a:pos x="GluePoint3X" y="GluePoint3Y"/>
                  </a:cxn>
                </a:cxnLst>
                <a:rect l="l" t="t" r="r" b="b"/>
                <a:pathLst>
                  <a:path w="12" h="14">
                    <a:moveTo>
                      <a:pt x="5" y="14"/>
                    </a:moveTo>
                    <a:cubicBezTo>
                      <a:pt x="3" y="12"/>
                      <a:pt x="0" y="5"/>
                      <a:pt x="4" y="3"/>
                    </a:cubicBezTo>
                    <a:cubicBezTo>
                      <a:pt x="7" y="0"/>
                      <a:pt x="10" y="8"/>
                      <a:pt x="12" y="10"/>
                    </a:cubicBezTo>
                  </a:path>
                </a:pathLst>
              </a:custGeom>
              <a:noFill/>
              <a:ln w="14400">
                <a:solidFill>
                  <a:srgbClr val="edecf1"/>
                </a:solidFill>
                <a:miter/>
              </a:ln>
            </p:spPr>
            <p:style>
              <a:lnRef idx="0"/>
              <a:fillRef idx="0"/>
              <a:effectRef idx="0"/>
              <a:fontRef idx="minor"/>
            </p:style>
            <p:txBody>
              <a:bodyPr lIns="90000" rIns="90000" tIns="720" bIns="720" anchor="t">
                <a:noAutofit/>
              </a:bodyPr>
              <a:p>
                <a:endParaRPr b="0" lang="en-US" sz="2400" strike="noStrike" u="none">
                  <a:solidFill>
                    <a:srgbClr val="ffff00"/>
                  </a:solidFill>
                  <a:effectLst/>
                  <a:uFillTx/>
                  <a:latin typeface="Times New Roman"/>
                </a:endParaRPr>
              </a:p>
            </p:txBody>
          </p:sp>
          <p:sp>
            <p:nvSpPr>
              <p:cNvPr id="616" name="Freeform 397"/>
              <p:cNvSpPr/>
              <p:nvPr/>
            </p:nvSpPr>
            <p:spPr>
              <a:xfrm flipH="1">
                <a:off x="6310080" y="836280"/>
                <a:ext cx="12240" cy="24480"/>
              </a:xfrm>
              <a:custGeom>
                <a:avLst/>
                <a:gdLst>
                  <a:gd name="GluePoint1X" fmla="*/ 496271561 w 4"/>
                  <a:gd name="GluePoint1Y" fmla="*/ 0 h 7"/>
                  <a:gd name="GluePoint2X" fmla="*/ 122569175 w 4"/>
                  <a:gd name="GluePoint2Y" fmla="*/ 2147483647 h 7"/>
                </a:gdLst>
                <a:ahLst/>
                <a:cxnLst>
                  <a:cxn ang="0">
                    <a:pos x="GluePoint1X" y="GluePoint1Y"/>
                  </a:cxn>
                  <a:cxn ang="0">
                    <a:pos x="GluePoint2X" y="GluePoint2Y"/>
                  </a:cxn>
                </a:cxnLst>
                <a:rect l="l" t="t" r="r" b="b"/>
                <a:pathLst>
                  <a:path w="4" h="7">
                    <a:moveTo>
                      <a:pt x="4" y="0"/>
                    </a:moveTo>
                    <a:cubicBezTo>
                      <a:pt x="1" y="1"/>
                      <a:pt x="0" y="4"/>
                      <a:pt x="1" y="7"/>
                    </a:cubicBezTo>
                  </a:path>
                </a:pathLst>
              </a:custGeom>
              <a:noFill/>
              <a:ln w="14400">
                <a:solidFill>
                  <a:srgbClr val="edecf1"/>
                </a:solidFill>
                <a:miter/>
              </a:ln>
            </p:spPr>
            <p:style>
              <a:lnRef idx="0"/>
              <a:fillRef idx="0"/>
              <a:effectRef idx="0"/>
              <a:fontRef idx="minor"/>
            </p:style>
            <p:txBody>
              <a:bodyPr lIns="90000" rIns="90000" tIns="-22320" bIns="-22320" anchor="t">
                <a:noAutofit/>
              </a:bodyPr>
              <a:p>
                <a:endParaRPr b="0" lang="en-US" sz="2400" strike="noStrike" u="none">
                  <a:solidFill>
                    <a:srgbClr val="ffff00"/>
                  </a:solidFill>
                  <a:effectLst/>
                  <a:uFillTx/>
                  <a:latin typeface="Times New Roman"/>
                </a:endParaRPr>
              </a:p>
            </p:txBody>
          </p:sp>
          <p:sp>
            <p:nvSpPr>
              <p:cNvPr id="617" name="Freeform 398"/>
              <p:cNvSpPr/>
              <p:nvPr/>
            </p:nvSpPr>
            <p:spPr>
              <a:xfrm flipH="1">
                <a:off x="7017480" y="399240"/>
                <a:ext cx="48600" cy="31320"/>
              </a:xfrm>
              <a:custGeom>
                <a:avLst/>
                <a:gdLst>
                  <a:gd name="GluePoint1X" fmla="*/ 2147483647 w 15"/>
                  <a:gd name="GluePoint1Y" fmla="*/ 2147483647 h 9"/>
                  <a:gd name="GluePoint2X" fmla="*/ 0 w 15"/>
                  <a:gd name="GluePoint2Y" fmla="*/ 2147483647 h 9"/>
                  <a:gd name="GluePoint3X" fmla="*/ 2147483647 w 15"/>
                  <a:gd name="GluePoint3Y" fmla="*/ 2147483647 h 9"/>
                </a:gdLst>
                <a:ahLst/>
                <a:cxnLst>
                  <a:cxn ang="0">
                    <a:pos x="GluePoint1X" y="GluePoint1Y"/>
                  </a:cxn>
                  <a:cxn ang="0">
                    <a:pos x="GluePoint2X" y="GluePoint2Y"/>
                  </a:cxn>
                  <a:cxn ang="0">
                    <a:pos x="GluePoint3X" y="GluePoint3Y"/>
                  </a:cxn>
                </a:cxnLst>
                <a:rect l="l" t="t" r="r" b="b"/>
                <a:pathLst>
                  <a:path w="15" h="9">
                    <a:moveTo>
                      <a:pt x="10" y="1"/>
                    </a:moveTo>
                    <a:cubicBezTo>
                      <a:pt x="6" y="0"/>
                      <a:pt x="2" y="1"/>
                      <a:pt x="0" y="5"/>
                    </a:cubicBezTo>
                    <a:cubicBezTo>
                      <a:pt x="4" y="9"/>
                      <a:pt x="10" y="6"/>
                      <a:pt x="15" y="6"/>
                    </a:cubicBezTo>
                  </a:path>
                </a:pathLst>
              </a:custGeom>
              <a:noFill/>
              <a:ln w="14400">
                <a:solidFill>
                  <a:srgbClr val="edecf1"/>
                </a:solidFill>
                <a:miter/>
              </a:ln>
            </p:spPr>
            <p:style>
              <a:lnRef idx="0"/>
              <a:fillRef idx="0"/>
              <a:effectRef idx="0"/>
              <a:fontRef idx="minor"/>
            </p:style>
            <p:txBody>
              <a:bodyPr lIns="90000" rIns="90000" tIns="-15480" bIns="-15480" anchor="t">
                <a:noAutofit/>
              </a:bodyPr>
              <a:p>
                <a:endParaRPr b="0" lang="en-US" sz="2400" strike="noStrike" u="none">
                  <a:solidFill>
                    <a:srgbClr val="ffff00"/>
                  </a:solidFill>
                  <a:effectLst/>
                  <a:uFillTx/>
                  <a:latin typeface="Times New Roman"/>
                </a:endParaRPr>
              </a:p>
            </p:txBody>
          </p:sp>
          <p:sp>
            <p:nvSpPr>
              <p:cNvPr id="618" name="Freeform 399"/>
              <p:cNvSpPr/>
              <p:nvPr/>
            </p:nvSpPr>
            <p:spPr>
              <a:xfrm flipH="1">
                <a:off x="5418000" y="2076480"/>
                <a:ext cx="113400" cy="91440"/>
              </a:xfrm>
              <a:custGeom>
                <a:avLst/>
                <a:gdLst>
                  <a:gd name="GluePoint1X" fmla="*/ 234890130 w 35"/>
                  <a:gd name="GluePoint1Y" fmla="*/ 2147483647 h 27"/>
                  <a:gd name="GluePoint2X" fmla="*/ 722404256 w 35"/>
                  <a:gd name="GluePoint2Y" fmla="*/ 944668515 h 27"/>
                  <a:gd name="GluePoint3X" fmla="*/ 2147483647 w 35"/>
                  <a:gd name="GluePoint3Y" fmla="*/ 2147483647 h 27"/>
                  <a:gd name="GluePoint4X" fmla="*/ 2147483647 w 35"/>
                  <a:gd name="GluePoint4Y" fmla="*/ 0 h 27"/>
                  <a:gd name="GluePoint5X" fmla="*/ 2147483647 w 35"/>
                  <a:gd name="GluePoint5Y" fmla="*/ 2147483647 h 27"/>
                  <a:gd name="GluePoint6X" fmla="*/ 2147483647 w 35"/>
                  <a:gd name="GluePoint6Y" fmla="*/ 0 h 27"/>
                  <a:gd name="GluePoint7X" fmla="*/ 2147483647 w 35"/>
                  <a:gd name="GluePoint7Y" fmla="*/ 2147483647 h 2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5" h="27">
                    <a:moveTo>
                      <a:pt x="1" y="9"/>
                    </a:moveTo>
                    <a:cubicBezTo>
                      <a:pt x="0" y="6"/>
                      <a:pt x="1" y="3"/>
                      <a:pt x="3" y="1"/>
                    </a:cubicBezTo>
                    <a:cubicBezTo>
                      <a:pt x="9" y="1"/>
                      <a:pt x="12" y="7"/>
                      <a:pt x="13" y="12"/>
                    </a:cubicBezTo>
                    <a:cubicBezTo>
                      <a:pt x="12" y="8"/>
                      <a:pt x="14" y="3"/>
                      <a:pt x="17" y="0"/>
                    </a:cubicBezTo>
                    <a:cubicBezTo>
                      <a:pt x="21" y="2"/>
                      <a:pt x="22" y="6"/>
                      <a:pt x="23" y="10"/>
                    </a:cubicBezTo>
                    <a:cubicBezTo>
                      <a:pt x="25" y="5"/>
                      <a:pt x="28" y="1"/>
                      <a:pt x="34" y="0"/>
                    </a:cubicBezTo>
                    <a:cubicBezTo>
                      <a:pt x="35" y="9"/>
                      <a:pt x="32" y="19"/>
                      <a:pt x="28" y="27"/>
                    </a:cubicBezTo>
                  </a:path>
                </a:pathLst>
              </a:custGeom>
              <a:noFill/>
              <a:ln w="14400">
                <a:solidFill>
                  <a:srgbClr val="edecf1"/>
                </a:solidFill>
                <a:miter/>
              </a:ln>
            </p:spPr>
            <p:style>
              <a:lnRef idx="0"/>
              <a:fillRef idx="0"/>
              <a:effectRef idx="0"/>
              <a:fontRef idx="minor"/>
            </p:style>
            <p:txBody>
              <a:bodyPr lIns="90000" rIns="90000" tIns="44640" bIns="44640" anchor="t">
                <a:noAutofit/>
              </a:bodyPr>
              <a:p>
                <a:endParaRPr b="0" lang="en-US" sz="2400" strike="noStrike" u="none">
                  <a:solidFill>
                    <a:srgbClr val="ffff00"/>
                  </a:solidFill>
                  <a:effectLst/>
                  <a:uFillTx/>
                  <a:latin typeface="Times New Roman"/>
                </a:endParaRPr>
              </a:p>
            </p:txBody>
          </p:sp>
          <p:sp>
            <p:nvSpPr>
              <p:cNvPr id="619" name="Freeform 400"/>
              <p:cNvSpPr/>
              <p:nvPr/>
            </p:nvSpPr>
            <p:spPr>
              <a:xfrm flipH="1">
                <a:off x="5630040" y="2205000"/>
                <a:ext cx="51480" cy="64080"/>
              </a:xfrm>
              <a:custGeom>
                <a:avLst/>
                <a:gdLst>
                  <a:gd name="GluePoint1X" fmla="*/ 0 w 16"/>
                  <a:gd name="GluePoint1Y" fmla="*/ 2147483647 h 19"/>
                  <a:gd name="GluePoint2X" fmla="*/ 934513743 w 16"/>
                  <a:gd name="GluePoint2Y" fmla="*/ 2147483647 h 19"/>
                </a:gdLst>
                <a:ahLst/>
                <a:cxnLst>
                  <a:cxn ang="0">
                    <a:pos x="GluePoint1X" y="GluePoint1Y"/>
                  </a:cxn>
                  <a:cxn ang="0">
                    <a:pos x="GluePoint2X" y="GluePoint2Y"/>
                  </a:cxn>
                </a:cxnLst>
                <a:rect l="l" t="t" r="r" b="b"/>
                <a:pathLst>
                  <a:path w="16" h="19">
                    <a:moveTo>
                      <a:pt x="0" y="11"/>
                    </a:moveTo>
                    <a:cubicBezTo>
                      <a:pt x="10" y="0"/>
                      <a:pt x="16" y="13"/>
                      <a:pt x="4" y="19"/>
                    </a:cubicBezTo>
                  </a:path>
                </a:pathLst>
              </a:custGeom>
              <a:noFill/>
              <a:ln w="14400">
                <a:solidFill>
                  <a:srgbClr val="edecf1"/>
                </a:solidFill>
                <a:miter/>
              </a:ln>
            </p:spPr>
            <p:style>
              <a:lnRef idx="0"/>
              <a:fillRef idx="0"/>
              <a:effectRef idx="0"/>
              <a:fontRef idx="minor"/>
            </p:style>
            <p:txBody>
              <a:bodyPr lIns="90000" rIns="90000" tIns="17280" bIns="17280" anchor="t">
                <a:noAutofit/>
              </a:bodyPr>
              <a:p>
                <a:endParaRPr b="0" lang="en-US" sz="2400" strike="noStrike" u="none">
                  <a:solidFill>
                    <a:srgbClr val="ffff00"/>
                  </a:solidFill>
                  <a:effectLst/>
                  <a:uFillTx/>
                  <a:latin typeface="Times New Roman"/>
                </a:endParaRPr>
              </a:p>
            </p:txBody>
          </p:sp>
          <p:sp>
            <p:nvSpPr>
              <p:cNvPr id="620" name="Freeform 401"/>
              <p:cNvSpPr/>
              <p:nvPr/>
            </p:nvSpPr>
            <p:spPr>
              <a:xfrm flipH="1">
                <a:off x="6672600" y="2694240"/>
                <a:ext cx="51480" cy="63000"/>
              </a:xfrm>
              <a:custGeom>
                <a:avLst/>
                <a:gdLst>
                  <a:gd name="GluePoint1X" fmla="*/ 2147483647 w 16"/>
                  <a:gd name="GluePoint1Y" fmla="*/ 2147483647 h 19"/>
                  <a:gd name="GluePoint2X" fmla="*/ 232020826 w 16"/>
                  <a:gd name="GluePoint2Y" fmla="*/ 2147483647 h 19"/>
                  <a:gd name="GluePoint3X" fmla="*/ 232020826 w 16"/>
                  <a:gd name="GluePoint3Y" fmla="*/ 2147483647 h 19"/>
                </a:gdLst>
                <a:ahLst/>
                <a:cxnLst>
                  <a:cxn ang="0">
                    <a:pos x="GluePoint1X" y="GluePoint1Y"/>
                  </a:cxn>
                  <a:cxn ang="0">
                    <a:pos x="GluePoint2X" y="GluePoint2Y"/>
                  </a:cxn>
                  <a:cxn ang="0">
                    <a:pos x="GluePoint3X" y="GluePoint3Y"/>
                  </a:cxn>
                </a:cxnLst>
                <a:rect l="l" t="t" r="r" b="b"/>
                <a:pathLst>
                  <a:path w="16" h="19">
                    <a:moveTo>
                      <a:pt x="14" y="5"/>
                    </a:moveTo>
                    <a:cubicBezTo>
                      <a:pt x="10" y="1"/>
                      <a:pt x="0" y="0"/>
                      <a:pt x="1" y="7"/>
                    </a:cubicBezTo>
                    <a:cubicBezTo>
                      <a:pt x="16" y="9"/>
                      <a:pt x="7" y="19"/>
                      <a:pt x="1" y="14"/>
                    </a:cubicBezTo>
                  </a:path>
                </a:pathLst>
              </a:custGeom>
              <a:noFill/>
              <a:ln w="7920">
                <a:solidFill>
                  <a:srgbClr val="b1838c"/>
                </a:solidFill>
                <a:miter/>
              </a:ln>
            </p:spPr>
            <p:style>
              <a:lnRef idx="0"/>
              <a:fillRef idx="0"/>
              <a:effectRef idx="0"/>
              <a:fontRef idx="minor"/>
            </p:style>
            <p:txBody>
              <a:bodyPr lIns="90000" rIns="90000" tIns="16200" bIns="16200" anchor="t">
                <a:noAutofit/>
              </a:bodyPr>
              <a:p>
                <a:endParaRPr b="0" lang="en-US" sz="2400" strike="noStrike" u="none">
                  <a:solidFill>
                    <a:srgbClr val="ffff00"/>
                  </a:solidFill>
                  <a:effectLst/>
                  <a:uFillTx/>
                  <a:latin typeface="Times New Roman"/>
                </a:endParaRPr>
              </a:p>
            </p:txBody>
          </p:sp>
          <p:sp>
            <p:nvSpPr>
              <p:cNvPr id="621" name="Freeform 402"/>
              <p:cNvSpPr/>
              <p:nvPr/>
            </p:nvSpPr>
            <p:spPr>
              <a:xfrm flipH="1">
                <a:off x="6615360" y="2673720"/>
                <a:ext cx="41760" cy="60120"/>
              </a:xfrm>
              <a:custGeom>
                <a:avLst/>
                <a:gdLst>
                  <a:gd name="GluePoint1X" fmla="*/ 1557183584 w 13"/>
                  <a:gd name="GluePoint1Y" fmla="*/ 2147483647 h 18"/>
                  <a:gd name="GluePoint2X" fmla="*/ 0 w 13"/>
                  <a:gd name="GluePoint2Y" fmla="*/ 2147483647 h 18"/>
                  <a:gd name="GluePoint3X" fmla="*/ 2147483647 w 13"/>
                  <a:gd name="GluePoint3Y" fmla="*/ 2147483647 h 18"/>
                  <a:gd name="GluePoint4X" fmla="*/ 516386834 w 13"/>
                  <a:gd name="GluePoint4Y" fmla="*/ 2147483647 h 18"/>
                </a:gdLst>
                <a:ahLst/>
                <a:cxnLst>
                  <a:cxn ang="0">
                    <a:pos x="GluePoint1X" y="GluePoint1Y"/>
                  </a:cxn>
                  <a:cxn ang="0">
                    <a:pos x="GluePoint2X" y="GluePoint2Y"/>
                  </a:cxn>
                  <a:cxn ang="0">
                    <a:pos x="GluePoint3X" y="GluePoint3Y"/>
                  </a:cxn>
                  <a:cxn ang="0">
                    <a:pos x="GluePoint4X" y="GluePoint4Y"/>
                  </a:cxn>
                </a:cxnLst>
                <a:rect l="l" t="t" r="r" b="b"/>
                <a:pathLst>
                  <a:path w="13" h="18">
                    <a:moveTo>
                      <a:pt x="7" y="4"/>
                    </a:moveTo>
                    <a:cubicBezTo>
                      <a:pt x="7" y="0"/>
                      <a:pt x="0" y="3"/>
                      <a:pt x="0" y="6"/>
                    </a:cubicBezTo>
                    <a:cubicBezTo>
                      <a:pt x="0" y="11"/>
                      <a:pt x="8" y="9"/>
                      <a:pt x="11" y="10"/>
                    </a:cubicBezTo>
                    <a:cubicBezTo>
                      <a:pt x="13" y="14"/>
                      <a:pt x="6" y="18"/>
                      <a:pt x="2" y="18"/>
                    </a:cubicBezTo>
                  </a:path>
                </a:pathLst>
              </a:custGeom>
              <a:noFill/>
              <a:ln w="7920">
                <a:solidFill>
                  <a:srgbClr val="b1838c"/>
                </a:solidFill>
                <a:miter/>
              </a:ln>
            </p:spPr>
            <p:style>
              <a:lnRef idx="0"/>
              <a:fillRef idx="0"/>
              <a:effectRef idx="0"/>
              <a:fontRef idx="minor"/>
            </p:style>
            <p:txBody>
              <a:bodyPr lIns="90000" rIns="90000" tIns="13320" bIns="13320" anchor="t">
                <a:noAutofit/>
              </a:bodyPr>
              <a:p>
                <a:endParaRPr b="0" lang="en-US" sz="2400" strike="noStrike" u="none">
                  <a:solidFill>
                    <a:srgbClr val="ffff00"/>
                  </a:solidFill>
                  <a:effectLst/>
                  <a:uFillTx/>
                  <a:latin typeface="Times New Roman"/>
                </a:endParaRPr>
              </a:p>
            </p:txBody>
          </p:sp>
          <p:sp>
            <p:nvSpPr>
              <p:cNvPr id="622" name="Freeform 403"/>
              <p:cNvSpPr/>
              <p:nvPr/>
            </p:nvSpPr>
            <p:spPr>
              <a:xfrm flipH="1">
                <a:off x="7076520" y="2616120"/>
                <a:ext cx="41760" cy="39600"/>
              </a:xfrm>
              <a:custGeom>
                <a:avLst/>
                <a:gdLst>
                  <a:gd name="GluePoint1X" fmla="*/ 2147483647 w 13"/>
                  <a:gd name="GluePoint1Y" fmla="*/ 1334736523 h 12"/>
                  <a:gd name="GluePoint2X" fmla="*/ 674779553 w 13"/>
                  <a:gd name="GluePoint2Y" fmla="*/ 2147483647 h 12"/>
                  <a:gd name="GluePoint3X" fmla="*/ 2147483647 w 13"/>
                  <a:gd name="GluePoint3Y" fmla="*/ 2147483647 h 12"/>
                  <a:gd name="GluePoint4X" fmla="*/ 0 w 13"/>
                  <a:gd name="GluePoint4Y" fmla="*/ 2147483647 h 12"/>
                </a:gdLst>
                <a:ahLst/>
                <a:cxnLst>
                  <a:cxn ang="0">
                    <a:pos x="GluePoint1X" y="GluePoint1Y"/>
                  </a:cxn>
                  <a:cxn ang="0">
                    <a:pos x="GluePoint2X" y="GluePoint2Y"/>
                  </a:cxn>
                  <a:cxn ang="0">
                    <a:pos x="GluePoint3X" y="GluePoint3Y"/>
                  </a:cxn>
                  <a:cxn ang="0">
                    <a:pos x="GluePoint4X" y="GluePoint4Y"/>
                  </a:cxn>
                </a:cxnLst>
                <a:rect l="l" t="t" r="r" b="b"/>
                <a:pathLst>
                  <a:path w="13" h="12">
                    <a:moveTo>
                      <a:pt x="13" y="2"/>
                    </a:moveTo>
                    <a:cubicBezTo>
                      <a:pt x="9" y="1"/>
                      <a:pt x="4" y="0"/>
                      <a:pt x="3" y="4"/>
                    </a:cubicBezTo>
                    <a:cubicBezTo>
                      <a:pt x="5" y="5"/>
                      <a:pt x="13" y="4"/>
                      <a:pt x="10" y="8"/>
                    </a:cubicBezTo>
                    <a:cubicBezTo>
                      <a:pt x="9" y="12"/>
                      <a:pt x="2" y="9"/>
                      <a:pt x="0" y="7"/>
                    </a:cubicBezTo>
                  </a:path>
                </a:pathLst>
              </a:custGeom>
              <a:noFill/>
              <a:ln w="7920">
                <a:solidFill>
                  <a:srgbClr val="b1838c"/>
                </a:solidFill>
                <a:miter/>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623" name="Freeform 404"/>
              <p:cNvSpPr/>
              <p:nvPr/>
            </p:nvSpPr>
            <p:spPr>
              <a:xfrm flipH="1">
                <a:off x="6972840" y="2649240"/>
                <a:ext cx="51480" cy="81720"/>
              </a:xfrm>
              <a:custGeom>
                <a:avLst/>
                <a:gdLst>
                  <a:gd name="GluePoint1X" fmla="*/ 2147483647 w 16"/>
                  <a:gd name="GluePoint1Y" fmla="*/ 2147483647 h 24"/>
                  <a:gd name="GluePoint2X" fmla="*/ 1412007926 w 16"/>
                  <a:gd name="GluePoint2Y" fmla="*/ 2147483647 h 24"/>
                  <a:gd name="GluePoint3X" fmla="*/ 2147483647 w 16"/>
                  <a:gd name="GluePoint3Y" fmla="*/ 2147483647 h 24"/>
                  <a:gd name="GluePoint4X" fmla="*/ 2147483647 w 16"/>
                  <a:gd name="GluePoint4Y" fmla="*/ 2147483647 h 24"/>
                </a:gdLst>
                <a:ahLst/>
                <a:cxnLst>
                  <a:cxn ang="0">
                    <a:pos x="GluePoint1X" y="GluePoint1Y"/>
                  </a:cxn>
                  <a:cxn ang="0">
                    <a:pos x="GluePoint2X" y="GluePoint2Y"/>
                  </a:cxn>
                  <a:cxn ang="0">
                    <a:pos x="GluePoint3X" y="GluePoint3Y"/>
                  </a:cxn>
                  <a:cxn ang="0">
                    <a:pos x="GluePoint4X" y="GluePoint4Y"/>
                  </a:cxn>
                </a:cxnLst>
                <a:rect l="l" t="t" r="r" b="b"/>
                <a:pathLst>
                  <a:path w="16" h="24">
                    <a:moveTo>
                      <a:pt x="16" y="5"/>
                    </a:moveTo>
                    <a:cubicBezTo>
                      <a:pt x="13" y="3"/>
                      <a:pt x="7" y="0"/>
                      <a:pt x="6" y="5"/>
                    </a:cubicBezTo>
                    <a:cubicBezTo>
                      <a:pt x="4" y="9"/>
                      <a:pt x="11" y="10"/>
                      <a:pt x="13" y="12"/>
                    </a:cubicBezTo>
                    <a:cubicBezTo>
                      <a:pt x="0" y="12"/>
                      <a:pt x="5" y="24"/>
                      <a:pt x="15" y="23"/>
                    </a:cubicBezTo>
                  </a:path>
                </a:pathLst>
              </a:custGeom>
              <a:noFill/>
              <a:ln w="7920">
                <a:solidFill>
                  <a:srgbClr val="b1838c"/>
                </a:solidFill>
                <a:miter/>
              </a:ln>
            </p:spPr>
            <p:style>
              <a:lnRef idx="0"/>
              <a:fillRef idx="0"/>
              <a:effectRef idx="0"/>
              <a:fontRef idx="minor"/>
            </p:style>
            <p:txBody>
              <a:bodyPr lIns="90000" rIns="90000" tIns="34920" bIns="34920" anchor="t">
                <a:noAutofit/>
              </a:bodyPr>
              <a:p>
                <a:endParaRPr b="0" lang="en-US" sz="2400" strike="noStrike" u="none">
                  <a:solidFill>
                    <a:srgbClr val="ffff00"/>
                  </a:solidFill>
                  <a:effectLst/>
                  <a:uFillTx/>
                  <a:latin typeface="Times New Roman"/>
                </a:endParaRPr>
              </a:p>
            </p:txBody>
          </p:sp>
          <p:sp>
            <p:nvSpPr>
              <p:cNvPr id="624" name="Freeform 405"/>
              <p:cNvSpPr/>
              <p:nvPr/>
            </p:nvSpPr>
            <p:spPr>
              <a:xfrm flipH="1">
                <a:off x="6913800" y="2660040"/>
                <a:ext cx="34920" cy="20160"/>
              </a:xfrm>
              <a:custGeom>
                <a:avLst/>
                <a:gdLst>
                  <a:gd name="GluePoint1X" fmla="*/ 1753728611 w 11"/>
                  <a:gd name="GluePoint1Y" fmla="*/ 2147483647 h 6"/>
                  <a:gd name="GluePoint2X" fmla="*/ 149389618 w 11"/>
                  <a:gd name="GluePoint2Y" fmla="*/ 2147483647 h 6"/>
                </a:gdLst>
                <a:ahLst/>
                <a:cxnLst>
                  <a:cxn ang="0">
                    <a:pos x="GluePoint1X" y="GluePoint1Y"/>
                  </a:cxn>
                  <a:cxn ang="0">
                    <a:pos x="GluePoint2X" y="GluePoint2Y"/>
                  </a:cxn>
                </a:cxnLst>
                <a:rect l="l" t="t" r="r" b="b"/>
                <a:pathLst>
                  <a:path w="11" h="6">
                    <a:moveTo>
                      <a:pt x="11" y="4"/>
                    </a:moveTo>
                    <a:cubicBezTo>
                      <a:pt x="9" y="1"/>
                      <a:pt x="0" y="0"/>
                      <a:pt x="1" y="6"/>
                    </a:cubicBezTo>
                  </a:path>
                </a:pathLst>
              </a:custGeom>
              <a:noFill/>
              <a:ln w="7920">
                <a:solidFill>
                  <a:srgbClr val="b1838c"/>
                </a:solidFill>
                <a:miter/>
              </a:ln>
            </p:spPr>
            <p:style>
              <a:lnRef idx="0"/>
              <a:fillRef idx="0"/>
              <a:effectRef idx="0"/>
              <a:fontRef idx="minor"/>
            </p:style>
            <p:txBody>
              <a:bodyPr lIns="90000" rIns="90000" tIns="-26640" bIns="-26640" anchor="t">
                <a:noAutofit/>
              </a:bodyPr>
              <a:p>
                <a:endParaRPr b="0" lang="en-US" sz="2400" strike="noStrike" u="none">
                  <a:solidFill>
                    <a:srgbClr val="ffff00"/>
                  </a:solidFill>
                  <a:effectLst/>
                  <a:uFillTx/>
                  <a:latin typeface="Times New Roman"/>
                </a:endParaRPr>
              </a:p>
            </p:txBody>
          </p:sp>
        </p:grpSp>
        <p:sp>
          <p:nvSpPr>
            <p:cNvPr id="625" name="Freeform 406"/>
            <p:cNvSpPr/>
            <p:nvPr/>
          </p:nvSpPr>
          <p:spPr>
            <a:xfrm flipH="1">
              <a:off x="6839640" y="2680560"/>
              <a:ext cx="41760" cy="25920"/>
            </a:xfrm>
            <a:custGeom>
              <a:avLst/>
              <a:gdLst>
                <a:gd name="GluePoint1X" fmla="*/ 2147483647 w 13"/>
                <a:gd name="GluePoint1Y" fmla="*/ 2147483647 h 8"/>
                <a:gd name="GluePoint2X" fmla="*/ 0 w 13"/>
                <a:gd name="GluePoint2Y" fmla="*/ 1854894589 h 8"/>
                <a:gd name="GluePoint3X" fmla="*/ 2147483647 w 13"/>
                <a:gd name="GluePoint3Y" fmla="*/ 2147483647 h 8"/>
              </a:gdLst>
              <a:ahLst/>
              <a:cxnLst>
                <a:cxn ang="0">
                  <a:pos x="GluePoint1X" y="GluePoint1Y"/>
                </a:cxn>
                <a:cxn ang="0">
                  <a:pos x="GluePoint2X" y="GluePoint2Y"/>
                </a:cxn>
                <a:cxn ang="0">
                  <a:pos x="GluePoint3X" y="GluePoint3Y"/>
                </a:cxn>
              </a:cxnLst>
              <a:rect l="l" t="t" r="r" b="b"/>
              <a:pathLst>
                <a:path w="13" h="8">
                  <a:moveTo>
                    <a:pt x="11" y="5"/>
                  </a:moveTo>
                  <a:cubicBezTo>
                    <a:pt x="9" y="1"/>
                    <a:pt x="2" y="0"/>
                    <a:pt x="0" y="4"/>
                  </a:cubicBezTo>
                  <a:cubicBezTo>
                    <a:pt x="2" y="7"/>
                    <a:pt x="9" y="7"/>
                    <a:pt x="13" y="8"/>
                  </a:cubicBezTo>
                </a:path>
              </a:pathLst>
            </a:custGeom>
            <a:noFill/>
            <a:ln w="7920">
              <a:solidFill>
                <a:srgbClr val="b1838c"/>
              </a:solidFill>
              <a:miter/>
            </a:ln>
          </p:spPr>
          <p:style>
            <a:lnRef idx="0"/>
            <a:fillRef idx="0"/>
            <a:effectRef idx="0"/>
            <a:fontRef idx="minor"/>
          </p:style>
          <p:txBody>
            <a:bodyPr lIns="90000" rIns="90000" tIns="-20880" bIns="-20880" anchor="t">
              <a:noAutofit/>
            </a:bodyPr>
            <a:p>
              <a:endParaRPr b="0" lang="en-US" sz="2400" strike="noStrike" u="none">
                <a:solidFill>
                  <a:srgbClr val="ffff00"/>
                </a:solidFill>
                <a:effectLst/>
                <a:uFillTx/>
                <a:latin typeface="Times New Roman"/>
              </a:endParaRPr>
            </a:p>
          </p:txBody>
        </p:sp>
        <p:sp>
          <p:nvSpPr>
            <p:cNvPr id="626" name="Freeform 407"/>
            <p:cNvSpPr/>
            <p:nvPr/>
          </p:nvSpPr>
          <p:spPr>
            <a:xfrm flipH="1">
              <a:off x="6797160" y="2694240"/>
              <a:ext cx="42120" cy="69840"/>
            </a:xfrm>
            <a:custGeom>
              <a:avLst/>
              <a:gdLst>
                <a:gd name="GluePoint1X" fmla="*/ 2147483647 w 13"/>
                <a:gd name="GluePoint1Y" fmla="*/ 1468666140 h 21"/>
                <a:gd name="GluePoint2X" fmla="*/ 223767628 w 13"/>
                <a:gd name="GluePoint2Y" fmla="*/ 2098094904 h 21"/>
                <a:gd name="GluePoint3X" fmla="*/ 2147483647 w 13"/>
                <a:gd name="GluePoint3Y" fmla="*/ 2147483647 h 21"/>
                <a:gd name="GluePoint4X" fmla="*/ 0 w 13"/>
                <a:gd name="GluePoint4Y" fmla="*/ 2147483647 h 21"/>
                <a:gd name="GluePoint5X" fmla="*/ 2147483647 w 13"/>
                <a:gd name="GluePoint5Y" fmla="*/ 2147483647 h 21"/>
                <a:gd name="GluePoint6X" fmla="*/ 1191661925 w 13"/>
                <a:gd name="GluePoint6Y" fmla="*/ 2147483647 h 2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3" h="21">
                  <a:moveTo>
                    <a:pt x="12" y="2"/>
                  </a:moveTo>
                  <a:cubicBezTo>
                    <a:pt x="9" y="1"/>
                    <a:pt x="3" y="0"/>
                    <a:pt x="1" y="3"/>
                  </a:cubicBezTo>
                  <a:cubicBezTo>
                    <a:pt x="3" y="6"/>
                    <a:pt x="8" y="6"/>
                    <a:pt x="10" y="9"/>
                  </a:cubicBezTo>
                  <a:cubicBezTo>
                    <a:pt x="7" y="10"/>
                    <a:pt x="2" y="11"/>
                    <a:pt x="0" y="14"/>
                  </a:cubicBezTo>
                  <a:cubicBezTo>
                    <a:pt x="4" y="16"/>
                    <a:pt x="9" y="14"/>
                    <a:pt x="13" y="18"/>
                  </a:cubicBezTo>
                  <a:cubicBezTo>
                    <a:pt x="11" y="20"/>
                    <a:pt x="8" y="21"/>
                    <a:pt x="5" y="21"/>
                  </a:cubicBezTo>
                </a:path>
              </a:pathLst>
            </a:custGeom>
            <a:noFill/>
            <a:ln w="7920">
              <a:solidFill>
                <a:srgbClr val="b1838c"/>
              </a:solidFill>
              <a:miter/>
            </a:ln>
          </p:spPr>
          <p:style>
            <a:lnRef idx="0"/>
            <a:fillRef idx="0"/>
            <a:effectRef idx="0"/>
            <a:fontRef idx="minor"/>
          </p:style>
          <p:txBody>
            <a:bodyPr lIns="90000" rIns="90000" tIns="23040" bIns="23040" anchor="t">
              <a:noAutofit/>
            </a:bodyPr>
            <a:p>
              <a:endParaRPr b="0" lang="en-US" sz="2400" strike="noStrike" u="none">
                <a:solidFill>
                  <a:srgbClr val="ffff00"/>
                </a:solidFill>
                <a:effectLst/>
                <a:uFillTx/>
                <a:latin typeface="Times New Roman"/>
              </a:endParaRPr>
            </a:p>
          </p:txBody>
        </p:sp>
        <p:sp>
          <p:nvSpPr>
            <p:cNvPr id="627" name="Freeform 408"/>
            <p:cNvSpPr/>
            <p:nvPr/>
          </p:nvSpPr>
          <p:spPr>
            <a:xfrm flipH="1">
              <a:off x="7297920" y="2280600"/>
              <a:ext cx="27720" cy="39240"/>
            </a:xfrm>
            <a:custGeom>
              <a:avLst/>
              <a:gdLst>
                <a:gd name="GluePoint1X" fmla="*/ 77056376 w 9"/>
                <a:gd name="GluePoint1Y" fmla="*/ 1890960805 h 12"/>
                <a:gd name="GluePoint2X" fmla="*/ 311328153 w 9"/>
                <a:gd name="GluePoint2Y" fmla="*/ 2147483647 h 12"/>
                <a:gd name="GluePoint3X" fmla="*/ 457228740 w 9"/>
                <a:gd name="GluePoint3Y" fmla="*/ 552304768 h 12"/>
                <a:gd name="GluePoint4X" fmla="*/ 768540720 w 9"/>
                <a:gd name="GluePoint4Y" fmla="*/ 2147483647 h 12"/>
              </a:gdLst>
              <a:ahLst/>
              <a:cxnLst>
                <a:cxn ang="0">
                  <a:pos x="GluePoint1X" y="GluePoint1Y"/>
                </a:cxn>
                <a:cxn ang="0">
                  <a:pos x="GluePoint2X" y="GluePoint2Y"/>
                </a:cxn>
                <a:cxn ang="0">
                  <a:pos x="GluePoint3X" y="GluePoint3Y"/>
                </a:cxn>
                <a:cxn ang="0">
                  <a:pos x="GluePoint4X" y="GluePoint4Y"/>
                </a:cxn>
              </a:cxnLst>
              <a:rect l="l" t="t" r="r" b="b"/>
              <a:pathLst>
                <a:path w="9" h="12">
                  <a:moveTo>
                    <a:pt x="1" y="3"/>
                  </a:moveTo>
                  <a:cubicBezTo>
                    <a:pt x="0" y="6"/>
                    <a:pt x="0" y="10"/>
                    <a:pt x="3" y="12"/>
                  </a:cubicBezTo>
                  <a:cubicBezTo>
                    <a:pt x="5" y="10"/>
                    <a:pt x="3" y="2"/>
                    <a:pt x="5" y="1"/>
                  </a:cubicBezTo>
                  <a:cubicBezTo>
                    <a:pt x="9" y="0"/>
                    <a:pt x="9" y="7"/>
                    <a:pt x="8" y="9"/>
                  </a:cubicBezTo>
                </a:path>
              </a:pathLst>
            </a:custGeom>
            <a:noFill/>
            <a:ln w="7920">
              <a:solidFill>
                <a:srgbClr val="b1838c"/>
              </a:solidFill>
              <a:miter/>
            </a:ln>
          </p:spPr>
          <p:style>
            <a:lnRef idx="0"/>
            <a:fillRef idx="0"/>
            <a:effectRef idx="0"/>
            <a:fontRef idx="minor"/>
          </p:style>
          <p:txBody>
            <a:bodyPr lIns="90000" rIns="90000" tIns="-7560" bIns="-7560" anchor="t">
              <a:noAutofit/>
            </a:bodyPr>
            <a:p>
              <a:endParaRPr b="0" lang="en-US" sz="2400" strike="noStrike" u="none">
                <a:solidFill>
                  <a:srgbClr val="ffff00"/>
                </a:solidFill>
                <a:effectLst/>
                <a:uFillTx/>
                <a:latin typeface="Times New Roman"/>
              </a:endParaRPr>
            </a:p>
          </p:txBody>
        </p:sp>
        <p:sp>
          <p:nvSpPr>
            <p:cNvPr id="628" name="Freeform 409"/>
            <p:cNvSpPr/>
            <p:nvPr/>
          </p:nvSpPr>
          <p:spPr>
            <a:xfrm flipH="1">
              <a:off x="7300440" y="2347560"/>
              <a:ext cx="81360" cy="64080"/>
            </a:xfrm>
            <a:custGeom>
              <a:avLst/>
              <a:gdLst>
                <a:gd name="GluePoint1X" fmla="*/ 0 w 25"/>
                <a:gd name="GluePoint1Y" fmla="*/ 2147483647 h 19"/>
                <a:gd name="GluePoint2X" fmla="*/ 1327134918 w 25"/>
                <a:gd name="GluePoint2Y" fmla="*/ 2147483647 h 19"/>
                <a:gd name="GluePoint3X" fmla="*/ 2147483647 w 25"/>
                <a:gd name="GluePoint3Y" fmla="*/ 2147483647 h 19"/>
                <a:gd name="GluePoint4X" fmla="*/ 2147483647 w 25"/>
                <a:gd name="GluePoint4Y" fmla="*/ 2147483647 h 19"/>
                <a:gd name="GluePoint5X" fmla="*/ 2147483647 w 25"/>
                <a:gd name="GluePoint5Y" fmla="*/ 2147483647 h 19"/>
                <a:gd name="GluePoint6X" fmla="*/ 2147483647 w 25"/>
                <a:gd name="GluePoint6Y" fmla="*/ 0 h 1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 h="19">
                  <a:moveTo>
                    <a:pt x="0" y="18"/>
                  </a:moveTo>
                  <a:cubicBezTo>
                    <a:pt x="3" y="15"/>
                    <a:pt x="2" y="10"/>
                    <a:pt x="5" y="8"/>
                  </a:cubicBezTo>
                  <a:cubicBezTo>
                    <a:pt x="6" y="10"/>
                    <a:pt x="7" y="19"/>
                    <a:pt x="10" y="18"/>
                  </a:cubicBezTo>
                  <a:cubicBezTo>
                    <a:pt x="13" y="18"/>
                    <a:pt x="13" y="9"/>
                    <a:pt x="14" y="7"/>
                  </a:cubicBezTo>
                  <a:cubicBezTo>
                    <a:pt x="15" y="8"/>
                    <a:pt x="17" y="16"/>
                    <a:pt x="20" y="16"/>
                  </a:cubicBezTo>
                  <a:cubicBezTo>
                    <a:pt x="25" y="16"/>
                    <a:pt x="23" y="3"/>
                    <a:pt x="23" y="0"/>
                  </a:cubicBezTo>
                </a:path>
              </a:pathLst>
            </a:custGeom>
            <a:noFill/>
            <a:ln w="7920">
              <a:solidFill>
                <a:srgbClr val="b1838c"/>
              </a:solidFill>
              <a:miter/>
            </a:ln>
          </p:spPr>
          <p:style>
            <a:lnRef idx="0"/>
            <a:fillRef idx="0"/>
            <a:effectRef idx="0"/>
            <a:fontRef idx="minor"/>
          </p:style>
          <p:txBody>
            <a:bodyPr lIns="90000" rIns="90000" tIns="17280" bIns="17280" anchor="t">
              <a:noAutofit/>
            </a:bodyPr>
            <a:p>
              <a:endParaRPr b="0" lang="en-US" sz="2400" strike="noStrike" u="none">
                <a:solidFill>
                  <a:srgbClr val="ffff00"/>
                </a:solidFill>
                <a:effectLst/>
                <a:uFillTx/>
                <a:latin typeface="Times New Roman"/>
              </a:endParaRPr>
            </a:p>
          </p:txBody>
        </p:sp>
        <p:sp>
          <p:nvSpPr>
            <p:cNvPr id="629" name="Freeform 410"/>
            <p:cNvSpPr/>
            <p:nvPr/>
          </p:nvSpPr>
          <p:spPr>
            <a:xfrm flipH="1">
              <a:off x="7310160" y="2436480"/>
              <a:ext cx="29520" cy="36720"/>
            </a:xfrm>
            <a:custGeom>
              <a:avLst/>
              <a:gdLst>
                <a:gd name="GluePoint1X" fmla="*/ 2147483647 w 9"/>
                <a:gd name="GluePoint1Y" fmla="*/ 2147483647 h 11"/>
                <a:gd name="GluePoint2X" fmla="*/ 273961102 w 9"/>
                <a:gd name="GluePoint2Y" fmla="*/ 0 h 11"/>
                <a:gd name="GluePoint3X" fmla="*/ 1491565999 w 9"/>
                <a:gd name="GluePoint3Y" fmla="*/ 2147483647 h 11"/>
              </a:gdLst>
              <a:ahLst/>
              <a:cxnLst>
                <a:cxn ang="0">
                  <a:pos x="GluePoint1X" y="GluePoint1Y"/>
                </a:cxn>
                <a:cxn ang="0">
                  <a:pos x="GluePoint2X" y="GluePoint2Y"/>
                </a:cxn>
                <a:cxn ang="0">
                  <a:pos x="GluePoint3X" y="GluePoint3Y"/>
                </a:cxn>
              </a:cxnLst>
              <a:rect l="l" t="t" r="r" b="b"/>
              <a:pathLst>
                <a:path w="9" h="11">
                  <a:moveTo>
                    <a:pt x="9" y="6"/>
                  </a:moveTo>
                  <a:cubicBezTo>
                    <a:pt x="6" y="4"/>
                    <a:pt x="5" y="0"/>
                    <a:pt x="1" y="0"/>
                  </a:cubicBezTo>
                  <a:cubicBezTo>
                    <a:pt x="0" y="4"/>
                    <a:pt x="2" y="8"/>
                    <a:pt x="5" y="11"/>
                  </a:cubicBezTo>
                </a:path>
              </a:pathLst>
            </a:custGeom>
            <a:noFill/>
            <a:ln w="7920">
              <a:solidFill>
                <a:srgbClr val="b1838c"/>
              </a:solidFill>
              <a:miter/>
            </a:ln>
          </p:spPr>
          <p:style>
            <a:lnRef idx="0"/>
            <a:fillRef idx="0"/>
            <a:effectRef idx="0"/>
            <a:fontRef idx="minor"/>
          </p:style>
          <p:txBody>
            <a:bodyPr lIns="90000" rIns="90000" tIns="-10080" bIns="-10080" anchor="t">
              <a:noAutofit/>
            </a:bodyPr>
            <a:p>
              <a:endParaRPr b="0" lang="en-US" sz="2400" strike="noStrike" u="none">
                <a:solidFill>
                  <a:srgbClr val="ffff00"/>
                </a:solidFill>
                <a:effectLst/>
                <a:uFillTx/>
                <a:latin typeface="Times New Roman"/>
              </a:endParaRPr>
            </a:p>
          </p:txBody>
        </p:sp>
        <p:sp>
          <p:nvSpPr>
            <p:cNvPr id="630" name="Freeform 411"/>
            <p:cNvSpPr/>
            <p:nvPr/>
          </p:nvSpPr>
          <p:spPr>
            <a:xfrm flipH="1">
              <a:off x="7236000" y="2483280"/>
              <a:ext cx="34920" cy="23040"/>
            </a:xfrm>
            <a:custGeom>
              <a:avLst/>
              <a:gdLst>
                <a:gd name="GluePoint1X" fmla="*/ 1753728611 w 11"/>
                <a:gd name="GluePoint1Y" fmla="*/ 1468666140 h 7"/>
                <a:gd name="GluePoint2X" fmla="*/ 0 w 11"/>
                <a:gd name="GluePoint2Y" fmla="*/ 604744881 h 7"/>
                <a:gd name="GluePoint3X" fmla="*/ 771640589 w 11"/>
                <a:gd name="GluePoint3Y" fmla="*/ 2147483647 h 7"/>
              </a:gdLst>
              <a:ahLst/>
              <a:cxnLst>
                <a:cxn ang="0">
                  <a:pos x="GluePoint1X" y="GluePoint1Y"/>
                </a:cxn>
                <a:cxn ang="0">
                  <a:pos x="GluePoint2X" y="GluePoint2Y"/>
                </a:cxn>
                <a:cxn ang="0">
                  <a:pos x="GluePoint3X" y="GluePoint3Y"/>
                </a:cxn>
              </a:cxnLst>
              <a:rect l="l" t="t" r="r" b="b"/>
              <a:pathLst>
                <a:path w="11" h="7">
                  <a:moveTo>
                    <a:pt x="11" y="2"/>
                  </a:moveTo>
                  <a:cubicBezTo>
                    <a:pt x="7" y="3"/>
                    <a:pt x="4" y="0"/>
                    <a:pt x="0" y="1"/>
                  </a:cubicBezTo>
                  <a:cubicBezTo>
                    <a:pt x="1" y="4"/>
                    <a:pt x="3" y="6"/>
                    <a:pt x="5" y="7"/>
                  </a:cubicBezTo>
                </a:path>
              </a:pathLst>
            </a:custGeom>
            <a:noFill/>
            <a:ln w="7920">
              <a:solidFill>
                <a:srgbClr val="b1838c"/>
              </a:solidFill>
              <a:miter/>
            </a:ln>
          </p:spPr>
          <p:style>
            <a:lnRef idx="0"/>
            <a:fillRef idx="0"/>
            <a:effectRef idx="0"/>
            <a:fontRef idx="minor"/>
          </p:style>
          <p:txBody>
            <a:bodyPr lIns="90000" rIns="90000" tIns="-23760" bIns="-23760" anchor="t">
              <a:noAutofit/>
            </a:bodyPr>
            <a:p>
              <a:endParaRPr b="0" lang="en-US" sz="2400" strike="noStrike" u="none">
                <a:solidFill>
                  <a:srgbClr val="ffff00"/>
                </a:solidFill>
                <a:effectLst/>
                <a:uFillTx/>
                <a:latin typeface="Times New Roman"/>
              </a:endParaRPr>
            </a:p>
          </p:txBody>
        </p:sp>
        <p:sp>
          <p:nvSpPr>
            <p:cNvPr id="631" name="Freeform 412"/>
            <p:cNvSpPr/>
            <p:nvPr/>
          </p:nvSpPr>
          <p:spPr>
            <a:xfrm flipH="1">
              <a:off x="7202160" y="2503800"/>
              <a:ext cx="55800" cy="41040"/>
            </a:xfrm>
            <a:custGeom>
              <a:avLst/>
              <a:gdLst>
                <a:gd name="GluePoint1X" fmla="*/ 2147483647 w 17"/>
                <a:gd name="GluePoint1Y" fmla="*/ 2147483647 h 12"/>
                <a:gd name="GluePoint2X" fmla="*/ 2147483647 w 17"/>
                <a:gd name="GluePoint2Y" fmla="*/ 0 h 12"/>
                <a:gd name="GluePoint3X" fmla="*/ 2147483647 w 17"/>
                <a:gd name="GluePoint3Y" fmla="*/ 2147483647 h 12"/>
                <a:gd name="GluePoint4X" fmla="*/ 0 w 17"/>
                <a:gd name="GluePoint4Y" fmla="*/ 2147483647 h 12"/>
              </a:gdLst>
              <a:ahLst/>
              <a:cxnLst>
                <a:cxn ang="0">
                  <a:pos x="GluePoint1X" y="GluePoint1Y"/>
                </a:cxn>
                <a:cxn ang="0">
                  <a:pos x="GluePoint2X" y="GluePoint2Y"/>
                </a:cxn>
                <a:cxn ang="0">
                  <a:pos x="GluePoint3X" y="GluePoint3Y"/>
                </a:cxn>
                <a:cxn ang="0">
                  <a:pos x="GluePoint4X" y="GluePoint4Y"/>
                </a:cxn>
              </a:cxnLst>
              <a:rect l="l" t="t" r="r" b="b"/>
              <a:pathLst>
                <a:path w="17" h="12">
                  <a:moveTo>
                    <a:pt x="17" y="4"/>
                  </a:moveTo>
                  <a:cubicBezTo>
                    <a:pt x="14" y="3"/>
                    <a:pt x="11" y="0"/>
                    <a:pt x="8" y="0"/>
                  </a:cubicBezTo>
                  <a:cubicBezTo>
                    <a:pt x="7" y="3"/>
                    <a:pt x="15" y="10"/>
                    <a:pt x="12" y="11"/>
                  </a:cubicBezTo>
                  <a:cubicBezTo>
                    <a:pt x="10" y="12"/>
                    <a:pt x="0" y="8"/>
                    <a:pt x="0" y="6"/>
                  </a:cubicBezTo>
                </a:path>
              </a:pathLst>
            </a:custGeom>
            <a:noFill/>
            <a:ln w="7920">
              <a:solidFill>
                <a:srgbClr val="b1838c"/>
              </a:solidFill>
              <a:miter/>
            </a:ln>
          </p:spPr>
          <p:style>
            <a:lnRef idx="0"/>
            <a:fillRef idx="0"/>
            <a:effectRef idx="0"/>
            <a:fontRef idx="minor"/>
          </p:style>
          <p:txBody>
            <a:bodyPr lIns="90000" rIns="90000" tIns="-5760" bIns="-5760" anchor="t">
              <a:noAutofit/>
            </a:bodyPr>
            <a:p>
              <a:endParaRPr b="0" lang="en-US" sz="2400" strike="noStrike" u="none">
                <a:solidFill>
                  <a:srgbClr val="ffff00"/>
                </a:solidFill>
                <a:effectLst/>
                <a:uFillTx/>
                <a:latin typeface="Times New Roman"/>
              </a:endParaRPr>
            </a:p>
          </p:txBody>
        </p:sp>
        <p:sp>
          <p:nvSpPr>
            <p:cNvPr id="632" name="Freeform 413"/>
            <p:cNvSpPr/>
            <p:nvPr/>
          </p:nvSpPr>
          <p:spPr>
            <a:xfrm flipH="1">
              <a:off x="7115760" y="1961280"/>
              <a:ext cx="22320" cy="31680"/>
            </a:xfrm>
            <a:custGeom>
              <a:avLst/>
              <a:gdLst>
                <a:gd name="GluePoint1X" fmla="*/ 0 w 7"/>
                <a:gd name="GluePoint1Y" fmla="*/ 2147483647 h 9"/>
                <a:gd name="GluePoint2X" fmla="*/ 1284907248 w 7"/>
                <a:gd name="GluePoint2Y" fmla="*/ 0 h 9"/>
              </a:gdLst>
              <a:ahLst/>
              <a:cxnLst>
                <a:cxn ang="0">
                  <a:pos x="GluePoint1X" y="GluePoint1Y"/>
                </a:cxn>
                <a:cxn ang="0">
                  <a:pos x="GluePoint2X" y="GluePoint2Y"/>
                </a:cxn>
              </a:cxnLst>
              <a:rect l="l" t="t" r="r" b="b"/>
              <a:pathLst>
                <a:path w="7" h="9">
                  <a:moveTo>
                    <a:pt x="0" y="9"/>
                  </a:moveTo>
                  <a:cubicBezTo>
                    <a:pt x="1" y="4"/>
                    <a:pt x="4" y="2"/>
                    <a:pt x="7" y="0"/>
                  </a:cubicBezTo>
                </a:path>
              </a:pathLst>
            </a:custGeom>
            <a:noFill/>
            <a:ln w="7920">
              <a:solidFill>
                <a:srgbClr val="b1838c"/>
              </a:solidFill>
              <a:miter/>
            </a:ln>
          </p:spPr>
          <p:style>
            <a:lnRef idx="0"/>
            <a:fillRef idx="0"/>
            <a:effectRef idx="0"/>
            <a:fontRef idx="minor"/>
          </p:style>
          <p:txBody>
            <a:bodyPr lIns="90000" rIns="90000" tIns="-15120" bIns="-15120" anchor="t">
              <a:noAutofit/>
            </a:bodyPr>
            <a:p>
              <a:endParaRPr b="0" lang="en-US" sz="2400" strike="noStrike" u="none">
                <a:solidFill>
                  <a:srgbClr val="ffff00"/>
                </a:solidFill>
                <a:effectLst/>
                <a:uFillTx/>
                <a:latin typeface="Times New Roman"/>
              </a:endParaRPr>
            </a:p>
          </p:txBody>
        </p:sp>
        <p:sp>
          <p:nvSpPr>
            <p:cNvPr id="633" name="Freeform 414"/>
            <p:cNvSpPr/>
            <p:nvPr/>
          </p:nvSpPr>
          <p:spPr>
            <a:xfrm flipH="1">
              <a:off x="7027560" y="1896840"/>
              <a:ext cx="16560" cy="10800"/>
            </a:xfrm>
            <a:custGeom>
              <a:avLst/>
              <a:gdLst>
                <a:gd name="GluePoint1X" fmla="*/ 0 w 5"/>
                <a:gd name="GluePoint1Y" fmla="*/ 2147483647 h 3"/>
                <a:gd name="GluePoint2X" fmla="*/ 2147483647 w 5"/>
                <a:gd name="GluePoint2Y" fmla="*/ 0 h 3"/>
              </a:gdLst>
              <a:ahLst/>
              <a:cxnLst>
                <a:cxn ang="0">
                  <a:pos x="GluePoint1X" y="GluePoint1Y"/>
                </a:cxn>
                <a:cxn ang="0">
                  <a:pos x="GluePoint2X" y="GluePoint2Y"/>
                </a:cxn>
              </a:cxnLst>
              <a:rect l="l" t="t" r="r" b="b"/>
              <a:pathLst>
                <a:path w="5" h="3">
                  <a:moveTo>
                    <a:pt x="0" y="3"/>
                  </a:moveTo>
                  <a:cubicBezTo>
                    <a:pt x="2" y="2"/>
                    <a:pt x="3" y="1"/>
                    <a:pt x="5" y="0"/>
                  </a:cubicBezTo>
                </a:path>
              </a:pathLst>
            </a:custGeom>
            <a:noFill/>
            <a:ln w="7920">
              <a:solidFill>
                <a:srgbClr val="b1838c"/>
              </a:solidFill>
              <a:miter/>
            </a:ln>
          </p:spPr>
          <p:style>
            <a:lnRef idx="0"/>
            <a:fillRef idx="0"/>
            <a:effectRef idx="0"/>
            <a:fontRef idx="minor"/>
          </p:style>
          <p:txBody>
            <a:bodyPr lIns="90000" rIns="90000" tIns="-36000" bIns="-36000" anchor="t">
              <a:noAutofit/>
            </a:bodyPr>
            <a:p>
              <a:endParaRPr b="0" lang="en-US" sz="2400" strike="noStrike" u="none">
                <a:solidFill>
                  <a:srgbClr val="ffff00"/>
                </a:solidFill>
                <a:effectLst/>
                <a:uFillTx/>
                <a:latin typeface="Times New Roman"/>
              </a:endParaRPr>
            </a:p>
          </p:txBody>
        </p:sp>
        <p:sp>
          <p:nvSpPr>
            <p:cNvPr id="634" name="Freeform 415"/>
            <p:cNvSpPr/>
            <p:nvPr/>
          </p:nvSpPr>
          <p:spPr>
            <a:xfrm flipH="1">
              <a:off x="6901200" y="1818720"/>
              <a:ext cx="15120" cy="10800"/>
            </a:xfrm>
            <a:custGeom>
              <a:avLst/>
              <a:gdLst>
                <a:gd name="GluePoint1X" fmla="*/ 0 w 5"/>
                <a:gd name="GluePoint1Y" fmla="*/ 2147483647 h 3"/>
                <a:gd name="GluePoint2X" fmla="*/ 374349054 w 5"/>
                <a:gd name="GluePoint2Y" fmla="*/ 0 h 3"/>
              </a:gdLst>
              <a:ahLst/>
              <a:cxnLst>
                <a:cxn ang="0">
                  <a:pos x="GluePoint1X" y="GluePoint1Y"/>
                </a:cxn>
                <a:cxn ang="0">
                  <a:pos x="GluePoint2X" y="GluePoint2Y"/>
                </a:cxn>
              </a:cxnLst>
              <a:rect l="l" t="t" r="r" b="b"/>
              <a:pathLst>
                <a:path w="5" h="3">
                  <a:moveTo>
                    <a:pt x="0" y="3"/>
                  </a:moveTo>
                  <a:cubicBezTo>
                    <a:pt x="1" y="1"/>
                    <a:pt x="3" y="0"/>
                    <a:pt x="5" y="0"/>
                  </a:cubicBezTo>
                </a:path>
              </a:pathLst>
            </a:custGeom>
            <a:noFill/>
            <a:ln w="7920">
              <a:solidFill>
                <a:srgbClr val="b1838c"/>
              </a:solidFill>
              <a:miter/>
            </a:ln>
          </p:spPr>
          <p:style>
            <a:lnRef idx="0"/>
            <a:fillRef idx="0"/>
            <a:effectRef idx="0"/>
            <a:fontRef idx="minor"/>
          </p:style>
          <p:txBody>
            <a:bodyPr lIns="90000" rIns="90000" tIns="-36000" bIns="-36000" anchor="t">
              <a:noAutofit/>
            </a:bodyPr>
            <a:p>
              <a:endParaRPr b="0" lang="en-US" sz="2400" strike="noStrike" u="none">
                <a:solidFill>
                  <a:srgbClr val="ffff00"/>
                </a:solidFill>
                <a:effectLst/>
                <a:uFillTx/>
                <a:latin typeface="Times New Roman"/>
              </a:endParaRPr>
            </a:p>
          </p:txBody>
        </p:sp>
        <p:sp>
          <p:nvSpPr>
            <p:cNvPr id="635" name="Freeform 416"/>
            <p:cNvSpPr/>
            <p:nvPr/>
          </p:nvSpPr>
          <p:spPr>
            <a:xfrm flipH="1">
              <a:off x="7271280" y="2172240"/>
              <a:ext cx="38880" cy="43560"/>
            </a:xfrm>
            <a:custGeom>
              <a:avLst/>
              <a:gdLst>
                <a:gd name="GluePoint1X" fmla="*/ 2147483647 w 12"/>
                <a:gd name="GluePoint1Y" fmla="*/ 814036810 h 13"/>
                <a:gd name="GluePoint2X" fmla="*/ 1970997908 w 12"/>
                <a:gd name="GluePoint2Y" fmla="*/ 2147483647 h 13"/>
                <a:gd name="GluePoint3X" fmla="*/ 2147483647 w 12"/>
                <a:gd name="GluePoint3Y" fmla="*/ 0 h 13"/>
              </a:gdLst>
              <a:ahLst/>
              <a:cxnLst>
                <a:cxn ang="0">
                  <a:pos x="GluePoint1X" y="GluePoint1Y"/>
                </a:cxn>
                <a:cxn ang="0">
                  <a:pos x="GluePoint2X" y="GluePoint2Y"/>
                </a:cxn>
                <a:cxn ang="0">
                  <a:pos x="GluePoint3X" y="GluePoint3Y"/>
                </a:cxn>
              </a:cxnLst>
              <a:rect l="l" t="t" r="r" b="b"/>
              <a:pathLst>
                <a:path w="12" h="13">
                  <a:moveTo>
                    <a:pt x="12" y="1"/>
                  </a:moveTo>
                  <a:cubicBezTo>
                    <a:pt x="12" y="3"/>
                    <a:pt x="10" y="11"/>
                    <a:pt x="7" y="12"/>
                  </a:cubicBezTo>
                  <a:cubicBezTo>
                    <a:pt x="0" y="13"/>
                    <a:pt x="8" y="2"/>
                    <a:pt x="8" y="0"/>
                  </a:cubicBezTo>
                </a:path>
              </a:pathLst>
            </a:custGeom>
            <a:noFill/>
            <a:ln w="7920">
              <a:solidFill>
                <a:srgbClr val="b1838c"/>
              </a:solidFill>
              <a:miter/>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636" name="Freeform 417"/>
            <p:cNvSpPr/>
            <p:nvPr/>
          </p:nvSpPr>
          <p:spPr>
            <a:xfrm flipH="1">
              <a:off x="7199280" y="2076480"/>
              <a:ext cx="58680" cy="51840"/>
            </a:xfrm>
            <a:custGeom>
              <a:avLst/>
              <a:gdLst>
                <a:gd name="GluePoint1X" fmla="*/ 2147483647 w 18"/>
                <a:gd name="GluePoint1Y" fmla="*/ 0 h 15"/>
                <a:gd name="GluePoint2X" fmla="*/ 2147483647 w 18"/>
                <a:gd name="GluePoint2Y" fmla="*/ 2147483647 h 15"/>
                <a:gd name="GluePoint3X" fmla="*/ 2147483647 w 18"/>
                <a:gd name="GluePoint3Y" fmla="*/ 2147483647 h 15"/>
              </a:gdLst>
              <a:ahLst/>
              <a:cxnLst>
                <a:cxn ang="0">
                  <a:pos x="GluePoint1X" y="GluePoint1Y"/>
                </a:cxn>
                <a:cxn ang="0">
                  <a:pos x="GluePoint2X" y="GluePoint2Y"/>
                </a:cxn>
                <a:cxn ang="0">
                  <a:pos x="GluePoint3X" y="GluePoint3Y"/>
                </a:cxn>
              </a:cxnLst>
              <a:rect l="l" t="t" r="r" b="b"/>
              <a:pathLst>
                <a:path w="18" h="15">
                  <a:moveTo>
                    <a:pt x="18" y="0"/>
                  </a:moveTo>
                  <a:cubicBezTo>
                    <a:pt x="15" y="3"/>
                    <a:pt x="12" y="12"/>
                    <a:pt x="8" y="13"/>
                  </a:cubicBezTo>
                  <a:cubicBezTo>
                    <a:pt x="0" y="15"/>
                    <a:pt x="7" y="9"/>
                    <a:pt x="10" y="7"/>
                  </a:cubicBezTo>
                </a:path>
              </a:pathLst>
            </a:custGeom>
            <a:noFill/>
            <a:ln w="7920">
              <a:solidFill>
                <a:srgbClr val="b1838c"/>
              </a:solidFill>
              <a:miter/>
            </a:ln>
          </p:spPr>
          <p:style>
            <a:lnRef idx="0"/>
            <a:fillRef idx="0"/>
            <a:effectRef idx="0"/>
            <a:fontRef idx="minor"/>
          </p:style>
          <p:txBody>
            <a:bodyPr lIns="90000" rIns="90000" tIns="5040" bIns="5040" anchor="t">
              <a:noAutofit/>
            </a:bodyPr>
            <a:p>
              <a:endParaRPr b="0" lang="en-US" sz="2400" strike="noStrike" u="none">
                <a:solidFill>
                  <a:srgbClr val="ffff00"/>
                </a:solidFill>
                <a:effectLst/>
                <a:uFillTx/>
                <a:latin typeface="Times New Roman"/>
              </a:endParaRPr>
            </a:p>
          </p:txBody>
        </p:sp>
        <p:sp>
          <p:nvSpPr>
            <p:cNvPr id="637" name="Freeform 418"/>
            <p:cNvSpPr/>
            <p:nvPr/>
          </p:nvSpPr>
          <p:spPr>
            <a:xfrm flipH="1">
              <a:off x="7293240" y="2225520"/>
              <a:ext cx="36360" cy="43560"/>
            </a:xfrm>
            <a:custGeom>
              <a:avLst/>
              <a:gdLst>
                <a:gd name="GluePoint1X" fmla="*/ 2147483647 w 11"/>
                <a:gd name="GluePoint1Y" fmla="*/ 0 h 13"/>
                <a:gd name="GluePoint2X" fmla="*/ 2147483647 w 11"/>
                <a:gd name="GluePoint2Y" fmla="*/ 2147483647 h 13"/>
                <a:gd name="GluePoint3X" fmla="*/ 1478727389 w 11"/>
                <a:gd name="GluePoint3Y" fmla="*/ 0 h 13"/>
              </a:gdLst>
              <a:ahLst/>
              <a:cxnLst>
                <a:cxn ang="0">
                  <a:pos x="GluePoint1X" y="GluePoint1Y"/>
                </a:cxn>
                <a:cxn ang="0">
                  <a:pos x="GluePoint2X" y="GluePoint2Y"/>
                </a:cxn>
                <a:cxn ang="0">
                  <a:pos x="GluePoint3X" y="GluePoint3Y"/>
                </a:cxn>
              </a:cxnLst>
              <a:rect l="l" t="t" r="r" b="b"/>
              <a:pathLst>
                <a:path w="11" h="13">
                  <a:moveTo>
                    <a:pt x="11" y="0"/>
                  </a:moveTo>
                  <a:cubicBezTo>
                    <a:pt x="10" y="3"/>
                    <a:pt x="11" y="12"/>
                    <a:pt x="6" y="12"/>
                  </a:cubicBezTo>
                  <a:cubicBezTo>
                    <a:pt x="0" y="13"/>
                    <a:pt x="4" y="2"/>
                    <a:pt x="4" y="0"/>
                  </a:cubicBezTo>
                </a:path>
              </a:pathLst>
            </a:custGeom>
            <a:noFill/>
            <a:ln w="7920">
              <a:solidFill>
                <a:srgbClr val="b1838c"/>
              </a:solidFill>
              <a:miter/>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sp>
          <p:nvSpPr>
            <p:cNvPr id="638" name="Freeform 419"/>
            <p:cNvSpPr/>
            <p:nvPr/>
          </p:nvSpPr>
          <p:spPr>
            <a:xfrm flipH="1">
              <a:off x="6526800" y="2653200"/>
              <a:ext cx="39240" cy="29880"/>
            </a:xfrm>
            <a:custGeom>
              <a:avLst/>
              <a:gdLst>
                <a:gd name="GluePoint1X" fmla="*/ 2147483647 w 12"/>
                <a:gd name="GluePoint1Y" fmla="*/ 0 h 9"/>
                <a:gd name="GluePoint2X" fmla="*/ 1118674480 w 12"/>
                <a:gd name="GluePoint2Y" fmla="*/ 2147483647 h 9"/>
                <a:gd name="GluePoint3X" fmla="*/ 2147483647 w 12"/>
                <a:gd name="GluePoint3Y" fmla="*/ 2147483647 h 9"/>
              </a:gdLst>
              <a:ahLst/>
              <a:cxnLst>
                <a:cxn ang="0">
                  <a:pos x="GluePoint1X" y="GluePoint1Y"/>
                </a:cxn>
                <a:cxn ang="0">
                  <a:pos x="GluePoint2X" y="GluePoint2Y"/>
                </a:cxn>
                <a:cxn ang="0">
                  <a:pos x="GluePoint3X" y="GluePoint3Y"/>
                </a:cxn>
              </a:cxnLst>
              <a:rect l="l" t="t" r="r" b="b"/>
              <a:pathLst>
                <a:path w="12" h="9">
                  <a:moveTo>
                    <a:pt x="10" y="0"/>
                  </a:moveTo>
                  <a:cubicBezTo>
                    <a:pt x="7" y="0"/>
                    <a:pt x="0" y="4"/>
                    <a:pt x="4" y="8"/>
                  </a:cubicBezTo>
                  <a:cubicBezTo>
                    <a:pt x="6" y="9"/>
                    <a:pt x="11" y="7"/>
                    <a:pt x="12" y="7"/>
                  </a:cubicBezTo>
                </a:path>
              </a:pathLst>
            </a:custGeom>
            <a:noFill/>
            <a:ln w="7920">
              <a:solidFill>
                <a:srgbClr val="b1838c"/>
              </a:solidFill>
              <a:miter/>
            </a:ln>
          </p:spPr>
          <p:style>
            <a:lnRef idx="0"/>
            <a:fillRef idx="0"/>
            <a:effectRef idx="0"/>
            <a:fontRef idx="minor"/>
          </p:style>
          <p:txBody>
            <a:bodyPr lIns="90000" rIns="90000" tIns="-16920" bIns="-16920" anchor="t">
              <a:noAutofit/>
            </a:bodyPr>
            <a:p>
              <a:endParaRPr b="0" lang="en-US" sz="2400" strike="noStrike" u="none">
                <a:solidFill>
                  <a:srgbClr val="ffff00"/>
                </a:solidFill>
                <a:effectLst/>
                <a:uFillTx/>
                <a:latin typeface="Times New Roman"/>
              </a:endParaRPr>
            </a:p>
          </p:txBody>
        </p:sp>
        <p:sp>
          <p:nvSpPr>
            <p:cNvPr id="639" name="Freeform 420"/>
            <p:cNvSpPr/>
            <p:nvPr/>
          </p:nvSpPr>
          <p:spPr>
            <a:xfrm flipH="1">
              <a:off x="6524280" y="2727000"/>
              <a:ext cx="19440" cy="6480"/>
            </a:xfrm>
            <a:custGeom>
              <a:avLst/>
              <a:gdLst>
                <a:gd name="GluePoint1X" fmla="*/ 1765527064 w 6"/>
                <a:gd name="GluePoint1Y" fmla="*/ 1823616533 h 2"/>
                <a:gd name="GluePoint2X" fmla="*/ 0 w 6"/>
                <a:gd name="GluePoint2Y" fmla="*/ 2147483647 h 2"/>
              </a:gdLst>
              <a:ahLst/>
              <a:cxnLst>
                <a:cxn ang="0">
                  <a:pos x="GluePoint1X" y="GluePoint1Y"/>
                </a:cxn>
                <a:cxn ang="0">
                  <a:pos x="GluePoint2X" y="GluePoint2Y"/>
                </a:cxn>
              </a:cxnLst>
              <a:rect l="l" t="t" r="r" b="b"/>
              <a:pathLst>
                <a:path w="6" h="2">
                  <a:moveTo>
                    <a:pt x="6" y="1"/>
                  </a:moveTo>
                  <a:cubicBezTo>
                    <a:pt x="3" y="0"/>
                    <a:pt x="1" y="0"/>
                    <a:pt x="0" y="2"/>
                  </a:cubicBezTo>
                </a:path>
              </a:pathLst>
            </a:custGeom>
            <a:noFill/>
            <a:ln w="7920">
              <a:solidFill>
                <a:srgbClr val="b1838c"/>
              </a:solidFill>
              <a:miter/>
            </a:ln>
          </p:spPr>
          <p:style>
            <a:lnRef idx="0"/>
            <a:fillRef idx="0"/>
            <a:effectRef idx="0"/>
            <a:fontRef idx="minor"/>
          </p:style>
          <p:txBody>
            <a:bodyPr lIns="90000" rIns="90000" tIns="-40320" bIns="-40320" anchor="t">
              <a:noAutofit/>
            </a:bodyPr>
            <a:p>
              <a:endParaRPr b="0" lang="en-US" sz="2400" strike="noStrike" u="none">
                <a:solidFill>
                  <a:srgbClr val="ffff00"/>
                </a:solidFill>
                <a:effectLst/>
                <a:uFillTx/>
                <a:latin typeface="Times New Roman"/>
              </a:endParaRPr>
            </a:p>
          </p:txBody>
        </p:sp>
        <p:sp>
          <p:nvSpPr>
            <p:cNvPr id="640" name="Freeform 421"/>
            <p:cNvSpPr/>
            <p:nvPr/>
          </p:nvSpPr>
          <p:spPr>
            <a:xfrm flipH="1">
              <a:off x="6576480" y="2694240"/>
              <a:ext cx="38880" cy="80640"/>
            </a:xfrm>
            <a:custGeom>
              <a:avLst/>
              <a:gdLst>
                <a:gd name="GluePoint1X" fmla="*/ 2147483647 w 12"/>
                <a:gd name="GluePoint1Y" fmla="*/ 1955546516 h 24"/>
                <a:gd name="GluePoint2X" fmla="*/ 2147483647 w 12"/>
                <a:gd name="GluePoint2Y" fmla="*/ 2147483647 h 24"/>
                <a:gd name="GluePoint3X" fmla="*/ 2147483647 w 12"/>
                <a:gd name="GluePoint3Y" fmla="*/ 2147483647 h 24"/>
              </a:gdLst>
              <a:ahLst/>
              <a:cxnLst>
                <a:cxn ang="0">
                  <a:pos x="GluePoint1X" y="GluePoint1Y"/>
                </a:cxn>
                <a:cxn ang="0">
                  <a:pos x="GluePoint2X" y="GluePoint2Y"/>
                </a:cxn>
                <a:cxn ang="0">
                  <a:pos x="GluePoint3X" y="GluePoint3Y"/>
                </a:cxn>
              </a:cxnLst>
              <a:rect l="l" t="t" r="r" b="b"/>
              <a:pathLst>
                <a:path w="12" h="24">
                  <a:moveTo>
                    <a:pt x="11" y="2"/>
                  </a:moveTo>
                  <a:cubicBezTo>
                    <a:pt x="0" y="0"/>
                    <a:pt x="5" y="12"/>
                    <a:pt x="12" y="10"/>
                  </a:cubicBezTo>
                  <a:cubicBezTo>
                    <a:pt x="5" y="13"/>
                    <a:pt x="1" y="24"/>
                    <a:pt x="12" y="22"/>
                  </a:cubicBezTo>
                </a:path>
              </a:pathLst>
            </a:custGeom>
            <a:noFill/>
            <a:ln w="7920">
              <a:solidFill>
                <a:srgbClr val="b1838c"/>
              </a:solidFill>
              <a:miter/>
            </a:ln>
          </p:spPr>
          <p:style>
            <a:lnRef idx="0"/>
            <a:fillRef idx="0"/>
            <a:effectRef idx="0"/>
            <a:fontRef idx="minor"/>
          </p:style>
          <p:txBody>
            <a:bodyPr lIns="90000" rIns="90000" tIns="33840" bIns="33840" anchor="t">
              <a:noAutofit/>
            </a:bodyPr>
            <a:p>
              <a:endParaRPr b="0" lang="en-US" sz="2400" strike="noStrike" u="none">
                <a:solidFill>
                  <a:srgbClr val="ffff00"/>
                </a:solidFill>
                <a:effectLst/>
                <a:uFillTx/>
                <a:latin typeface="Times New Roman"/>
              </a:endParaRPr>
            </a:p>
          </p:txBody>
        </p:sp>
        <p:sp>
          <p:nvSpPr>
            <p:cNvPr id="641" name="Freeform 422"/>
            <p:cNvSpPr/>
            <p:nvPr/>
          </p:nvSpPr>
          <p:spPr>
            <a:xfrm flipH="1">
              <a:off x="6598440" y="2733840"/>
              <a:ext cx="51480" cy="57240"/>
            </a:xfrm>
            <a:custGeom>
              <a:avLst/>
              <a:gdLst>
                <a:gd name="GluePoint1X" fmla="*/ 2147483647 w 16"/>
                <a:gd name="GluePoint1Y" fmla="*/ 2147483647 h 17"/>
                <a:gd name="GluePoint2X" fmla="*/ 0 w 16"/>
                <a:gd name="GluePoint2Y" fmla="*/ 2147483647 h 17"/>
                <a:gd name="GluePoint3X" fmla="*/ 2147483647 w 16"/>
                <a:gd name="GluePoint3Y" fmla="*/ 2147483647 h 17"/>
                <a:gd name="GluePoint4X" fmla="*/ 232020826 w 16"/>
                <a:gd name="GluePoint4Y" fmla="*/ 2147483647 h 17"/>
              </a:gdLst>
              <a:ahLst/>
              <a:cxnLst>
                <a:cxn ang="0">
                  <a:pos x="GluePoint1X" y="GluePoint1Y"/>
                </a:cxn>
                <a:cxn ang="0">
                  <a:pos x="GluePoint2X" y="GluePoint2Y"/>
                </a:cxn>
                <a:cxn ang="0">
                  <a:pos x="GluePoint3X" y="GluePoint3Y"/>
                </a:cxn>
                <a:cxn ang="0">
                  <a:pos x="GluePoint4X" y="GluePoint4Y"/>
                </a:cxn>
              </a:cxnLst>
              <a:rect l="l" t="t" r="r" b="b"/>
              <a:pathLst>
                <a:path w="16" h="17">
                  <a:moveTo>
                    <a:pt x="12" y="5"/>
                  </a:moveTo>
                  <a:cubicBezTo>
                    <a:pt x="10" y="0"/>
                    <a:pt x="1" y="4"/>
                    <a:pt x="0" y="8"/>
                  </a:cubicBezTo>
                  <a:cubicBezTo>
                    <a:pt x="3" y="11"/>
                    <a:pt x="10" y="8"/>
                    <a:pt x="12" y="11"/>
                  </a:cubicBezTo>
                  <a:cubicBezTo>
                    <a:pt x="16" y="17"/>
                    <a:pt x="4" y="17"/>
                    <a:pt x="1" y="16"/>
                  </a:cubicBezTo>
                </a:path>
              </a:pathLst>
            </a:custGeom>
            <a:noFill/>
            <a:ln w="7920">
              <a:solidFill>
                <a:srgbClr val="b1838c"/>
              </a:solidFill>
              <a:miter/>
            </a:ln>
          </p:spPr>
          <p:style>
            <a:lnRef idx="0"/>
            <a:fillRef idx="0"/>
            <a:effectRef idx="0"/>
            <a:fontRef idx="minor"/>
          </p:style>
          <p:txBody>
            <a:bodyPr lIns="90000" rIns="90000" tIns="10440" bIns="10440" anchor="t">
              <a:noAutofit/>
            </a:bodyPr>
            <a:p>
              <a:endParaRPr b="0" lang="en-US" sz="2400" strike="noStrike" u="none">
                <a:solidFill>
                  <a:srgbClr val="ffff00"/>
                </a:solidFill>
                <a:effectLst/>
                <a:uFillTx/>
                <a:latin typeface="Times New Roman"/>
              </a:endParaRPr>
            </a:p>
          </p:txBody>
        </p:sp>
        <p:sp>
          <p:nvSpPr>
            <p:cNvPr id="642" name="Freeform 423"/>
            <p:cNvSpPr/>
            <p:nvPr/>
          </p:nvSpPr>
          <p:spPr>
            <a:xfrm flipH="1">
              <a:off x="6777720" y="2713320"/>
              <a:ext cx="19080" cy="1080"/>
            </a:xfrm>
            <a:custGeom>
              <a:avLst/>
              <a:gdLst>
                <a:gd name="GluePoint1X" fmla="*/ 1765527064 w 6"/>
                <a:gd name="GluePoint1Y" fmla="*/ 0 h 1"/>
                <a:gd name="GluePoint2X" fmla="*/ 0 w 6"/>
                <a:gd name="GluePoint2Y" fmla="*/ 0 h 1"/>
              </a:gdLst>
              <a:ahLst/>
              <a:cxnLst>
                <a:cxn ang="0">
                  <a:pos x="GluePoint1X" y="GluePoint1Y"/>
                </a:cxn>
                <a:cxn ang="0">
                  <a:pos x="GluePoint2X" y="GluePoint2Y"/>
                </a:cxn>
              </a:cxnLst>
              <a:rect l="l" t="t" r="r" b="b"/>
              <a:pathLst>
                <a:path w="6" h="1">
                  <a:moveTo>
                    <a:pt x="6" y="0"/>
                  </a:moveTo>
                  <a:cubicBezTo>
                    <a:pt x="4" y="0"/>
                    <a:pt x="2" y="0"/>
                    <a:pt x="0" y="0"/>
                  </a:cubicBezTo>
                </a:path>
              </a:pathLst>
            </a:custGeom>
            <a:noFill/>
            <a:ln w="7920">
              <a:solidFill>
                <a:srgbClr val="b1838c"/>
              </a:solidFill>
              <a:miter/>
            </a:ln>
          </p:spPr>
          <p:style>
            <a:lnRef idx="0"/>
            <a:fillRef idx="0"/>
            <a:effectRef idx="0"/>
            <a:fontRef idx="minor"/>
          </p:style>
          <p:txBody>
            <a:bodyPr lIns="90000" rIns="90000" tIns="-45720" bIns="-45720" anchor="t">
              <a:noAutofit/>
            </a:bodyPr>
            <a:p>
              <a:endParaRPr b="0" lang="en-US" sz="2400" strike="noStrike" u="none">
                <a:solidFill>
                  <a:srgbClr val="ffff00"/>
                </a:solidFill>
                <a:effectLst/>
                <a:uFillTx/>
                <a:latin typeface="Times New Roman"/>
              </a:endParaRPr>
            </a:p>
          </p:txBody>
        </p:sp>
        <p:sp>
          <p:nvSpPr>
            <p:cNvPr id="643" name="Freeform 424"/>
            <p:cNvSpPr/>
            <p:nvPr/>
          </p:nvSpPr>
          <p:spPr>
            <a:xfrm flipH="1">
              <a:off x="6770880" y="2690280"/>
              <a:ext cx="19080" cy="3960"/>
            </a:xfrm>
            <a:custGeom>
              <a:avLst/>
              <a:gdLst>
                <a:gd name="GluePoint1X" fmla="*/ 1765527064 w 6"/>
                <a:gd name="GluePoint1Y" fmla="*/ 2147483647 h 1"/>
                <a:gd name="GluePoint2X" fmla="*/ 0 w 6"/>
                <a:gd name="GluePoint2Y" fmla="*/ 2147483647 h 1"/>
              </a:gdLst>
              <a:ahLst/>
              <a:cxnLst>
                <a:cxn ang="0">
                  <a:pos x="GluePoint1X" y="GluePoint1Y"/>
                </a:cxn>
                <a:cxn ang="0">
                  <a:pos x="GluePoint2X" y="GluePoint2Y"/>
                </a:cxn>
              </a:cxnLst>
              <a:rect l="l" t="t" r="r" b="b"/>
              <a:pathLst>
                <a:path w="6" h="1">
                  <a:moveTo>
                    <a:pt x="6" y="1"/>
                  </a:moveTo>
                  <a:cubicBezTo>
                    <a:pt x="4" y="0"/>
                    <a:pt x="2" y="0"/>
                    <a:pt x="0" y="1"/>
                  </a:cubicBezTo>
                </a:path>
              </a:pathLst>
            </a:custGeom>
            <a:noFill/>
            <a:ln w="7920">
              <a:solidFill>
                <a:srgbClr val="b1838c"/>
              </a:solidFill>
              <a:miter/>
            </a:ln>
          </p:spPr>
          <p:style>
            <a:lnRef idx="0"/>
            <a:fillRef idx="0"/>
            <a:effectRef idx="0"/>
            <a:fontRef idx="minor"/>
          </p:style>
          <p:txBody>
            <a:bodyPr lIns="90000" rIns="90000" tIns="-42840" bIns="-42840" anchor="t">
              <a:noAutofit/>
            </a:bodyPr>
            <a:p>
              <a:endParaRPr b="0" lang="en-US" sz="2400" strike="noStrike" u="none">
                <a:solidFill>
                  <a:srgbClr val="ffff00"/>
                </a:solidFill>
                <a:effectLst/>
                <a:uFillTx/>
                <a:latin typeface="Times New Roman"/>
              </a:endParaRPr>
            </a:p>
          </p:txBody>
        </p:sp>
        <p:sp>
          <p:nvSpPr>
            <p:cNvPr id="644" name="Freeform 425"/>
            <p:cNvSpPr/>
            <p:nvPr/>
          </p:nvSpPr>
          <p:spPr>
            <a:xfrm flipH="1">
              <a:off x="6741360" y="1806480"/>
              <a:ext cx="29520" cy="2520"/>
            </a:xfrm>
            <a:custGeom>
              <a:avLst/>
              <a:gdLst>
                <a:gd name="GluePoint1X" fmla="*/ 2147483647 w 9"/>
                <a:gd name="GluePoint1Y" fmla="*/ 0 h 1"/>
                <a:gd name="GluePoint2X" fmla="*/ 0 w 9"/>
                <a:gd name="GluePoint2Y" fmla="*/ 0 h 1"/>
              </a:gdLst>
              <a:ahLst/>
              <a:cxnLst>
                <a:cxn ang="0">
                  <a:pos x="GluePoint1X" y="GluePoint1Y"/>
                </a:cxn>
                <a:cxn ang="0">
                  <a:pos x="GluePoint2X" y="GluePoint2Y"/>
                </a:cxn>
              </a:cxnLst>
              <a:rect l="l" t="t" r="r" b="b"/>
              <a:pathLst>
                <a:path w="9" h="1">
                  <a:moveTo>
                    <a:pt x="9" y="0"/>
                  </a:moveTo>
                  <a:cubicBezTo>
                    <a:pt x="6" y="1"/>
                    <a:pt x="3" y="0"/>
                    <a:pt x="0" y="0"/>
                  </a:cubicBezTo>
                </a:path>
              </a:pathLst>
            </a:custGeom>
            <a:noFill/>
            <a:ln w="7920">
              <a:solidFill>
                <a:srgbClr val="b1838c"/>
              </a:solidFill>
              <a:miter/>
            </a:ln>
          </p:spPr>
          <p:style>
            <a:lnRef idx="0"/>
            <a:fillRef idx="0"/>
            <a:effectRef idx="0"/>
            <a:fontRef idx="minor"/>
          </p:style>
          <p:txBody>
            <a:bodyPr lIns="90000" rIns="90000" tIns="-44280" bIns="-44280" anchor="t">
              <a:noAutofit/>
            </a:bodyPr>
            <a:p>
              <a:endParaRPr b="0" lang="en-US" sz="2400" strike="noStrike" u="none">
                <a:solidFill>
                  <a:srgbClr val="ffff00"/>
                </a:solidFill>
                <a:effectLst/>
                <a:uFillTx/>
                <a:latin typeface="Times New Roman"/>
              </a:endParaRPr>
            </a:p>
          </p:txBody>
        </p:sp>
        <p:sp>
          <p:nvSpPr>
            <p:cNvPr id="645" name="Freeform 426"/>
            <p:cNvSpPr/>
            <p:nvPr/>
          </p:nvSpPr>
          <p:spPr>
            <a:xfrm flipH="1">
              <a:off x="5684760" y="2025360"/>
              <a:ext cx="16560" cy="11160"/>
            </a:xfrm>
            <a:custGeom>
              <a:avLst/>
              <a:gdLst>
                <a:gd name="GluePoint1X" fmla="*/ 0 w 5"/>
                <a:gd name="GluePoint1Y" fmla="*/ 2147483647 h 3"/>
                <a:gd name="GluePoint2X" fmla="*/ 2147483647 w 5"/>
                <a:gd name="GluePoint2Y" fmla="*/ 0 h 3"/>
              </a:gdLst>
              <a:ahLst/>
              <a:cxnLst>
                <a:cxn ang="0">
                  <a:pos x="GluePoint1X" y="GluePoint1Y"/>
                </a:cxn>
                <a:cxn ang="0">
                  <a:pos x="GluePoint2X" y="GluePoint2Y"/>
                </a:cxn>
              </a:cxnLst>
              <a:rect l="l" t="t" r="r" b="b"/>
              <a:pathLst>
                <a:path w="5" h="3">
                  <a:moveTo>
                    <a:pt x="0" y="3"/>
                  </a:moveTo>
                  <a:cubicBezTo>
                    <a:pt x="2" y="3"/>
                    <a:pt x="3" y="1"/>
                    <a:pt x="5" y="0"/>
                  </a:cubicBezTo>
                </a:path>
              </a:pathLst>
            </a:custGeom>
            <a:noFill/>
            <a:ln cap="rnd" w="7920">
              <a:solidFill>
                <a:srgbClr val="6daa69"/>
              </a:solidFill>
              <a:miter/>
            </a:ln>
          </p:spPr>
          <p:style>
            <a:lnRef idx="0"/>
            <a:fillRef idx="0"/>
            <a:effectRef idx="0"/>
            <a:fontRef idx="minor"/>
          </p:style>
          <p:txBody>
            <a:bodyPr lIns="90000" rIns="90000" tIns="-35640" bIns="-35640" anchor="t">
              <a:noAutofit/>
            </a:bodyPr>
            <a:p>
              <a:endParaRPr b="0" lang="en-US" sz="2400" strike="noStrike" u="none">
                <a:solidFill>
                  <a:srgbClr val="ffff00"/>
                </a:solidFill>
                <a:effectLst/>
                <a:uFillTx/>
                <a:latin typeface="Times New Roman"/>
              </a:endParaRPr>
            </a:p>
          </p:txBody>
        </p:sp>
        <p:sp>
          <p:nvSpPr>
            <p:cNvPr id="646" name="Freeform 427"/>
            <p:cNvSpPr/>
            <p:nvPr/>
          </p:nvSpPr>
          <p:spPr>
            <a:xfrm flipH="1">
              <a:off x="6410520" y="1413000"/>
              <a:ext cx="32400" cy="43560"/>
            </a:xfrm>
            <a:custGeom>
              <a:avLst/>
              <a:gdLst>
                <a:gd name="GluePoint1X" fmla="*/ 2095983323 w 10"/>
                <a:gd name="GluePoint1Y" fmla="*/ 814036810 h 13"/>
                <a:gd name="GluePoint2X" fmla="*/ 476471586 w 10"/>
                <a:gd name="GluePoint2Y" fmla="*/ 2003782917 h 13"/>
                <a:gd name="GluePoint3X" fmla="*/ 2095983323 w 10"/>
                <a:gd name="GluePoint3Y" fmla="*/ 2147483647 h 13"/>
                <a:gd name="GluePoint4X" fmla="*/ 0 w 10"/>
                <a:gd name="GluePoint4Y" fmla="*/ 2147483647 h 13"/>
              </a:gdLst>
              <a:ahLst/>
              <a:cxnLst>
                <a:cxn ang="0">
                  <a:pos x="GluePoint1X" y="GluePoint1Y"/>
                </a:cxn>
                <a:cxn ang="0">
                  <a:pos x="GluePoint2X" y="GluePoint2Y"/>
                </a:cxn>
                <a:cxn ang="0">
                  <a:pos x="GluePoint3X" y="GluePoint3Y"/>
                </a:cxn>
                <a:cxn ang="0">
                  <a:pos x="GluePoint4X" y="GluePoint4Y"/>
                </a:cxn>
              </a:cxnLst>
              <a:rect l="l" t="t" r="r" b="b"/>
              <a:pathLst>
                <a:path w="10" h="13">
                  <a:moveTo>
                    <a:pt x="10" y="1"/>
                  </a:moveTo>
                  <a:cubicBezTo>
                    <a:pt x="7" y="1"/>
                    <a:pt x="4" y="0"/>
                    <a:pt x="2" y="2"/>
                  </a:cubicBezTo>
                  <a:cubicBezTo>
                    <a:pt x="3" y="6"/>
                    <a:pt x="10" y="5"/>
                    <a:pt x="10" y="11"/>
                  </a:cubicBezTo>
                  <a:cubicBezTo>
                    <a:pt x="6" y="13"/>
                    <a:pt x="4" y="8"/>
                    <a:pt x="0" y="8"/>
                  </a:cubicBezTo>
                </a:path>
              </a:pathLst>
            </a:custGeom>
            <a:noFill/>
            <a:ln w="7920">
              <a:solidFill>
                <a:srgbClr val="df797d"/>
              </a:solidFill>
              <a:miter/>
            </a:ln>
          </p:spPr>
          <p:style>
            <a:lnRef idx="0"/>
            <a:fillRef idx="0"/>
            <a:effectRef idx="0"/>
            <a:fontRef idx="minor"/>
          </p:style>
          <p:txBody>
            <a:bodyPr lIns="90000" rIns="90000" tIns="-3240" bIns="-3240" anchor="t">
              <a:noAutofit/>
            </a:bodyPr>
            <a:p>
              <a:endParaRPr b="0" lang="en-US" sz="2400" strike="noStrike" u="none">
                <a:solidFill>
                  <a:srgbClr val="ffff00"/>
                </a:solidFill>
                <a:effectLst/>
                <a:uFillTx/>
                <a:latin typeface="Times New Roman"/>
              </a:endParaRPr>
            </a:p>
          </p:txBody>
        </p:sp>
      </p:grpSp>
      <p:pic>
        <p:nvPicPr>
          <p:cNvPr id="647" name="Picture 2" descr="C:\Users\user\Pictures\img007.jpg"/>
          <p:cNvPicPr/>
          <p:nvPr/>
        </p:nvPicPr>
        <p:blipFill>
          <a:blip r:embed="rId1"/>
          <a:srcRect l="60406" t="13560" r="7079" b="30620"/>
          <a:stretch/>
        </p:blipFill>
        <p:spPr>
          <a:xfrm>
            <a:off x="1409760" y="2600280"/>
            <a:ext cx="3465360" cy="4210200"/>
          </a:xfrm>
          <a:prstGeom prst="rect">
            <a:avLst/>
          </a:prstGeom>
          <a:noFill/>
          <a:ln w="0">
            <a:noFill/>
          </a:ln>
        </p:spPr>
      </p:pic>
      <p:sp>
        <p:nvSpPr>
          <p:cNvPr id="648" name="Connecteur droit 429"/>
          <p:cNvSpPr/>
          <p:nvPr/>
        </p:nvSpPr>
        <p:spPr>
          <a:xfrm flipV="1">
            <a:off x="1547640" y="1730160"/>
            <a:ext cx="4098960" cy="895320"/>
          </a:xfrm>
          <a:prstGeom prst="line">
            <a:avLst/>
          </a:prstGeom>
          <a:ln w="28440">
            <a:solidFill>
              <a:srgbClr val="ffff00"/>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49" name="Connecteur droit 433"/>
          <p:cNvSpPr/>
          <p:nvPr/>
        </p:nvSpPr>
        <p:spPr>
          <a:xfrm flipV="1">
            <a:off x="4924440" y="1794960"/>
            <a:ext cx="1085760" cy="4729320"/>
          </a:xfrm>
          <a:prstGeom prst="line">
            <a:avLst/>
          </a:prstGeom>
          <a:ln w="28440">
            <a:solidFill>
              <a:srgbClr val="ffff00"/>
            </a:solidFill>
            <a:prstDash val="sys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50" name="Text Box 438"/>
          <p:cNvSpPr/>
          <p:nvPr/>
        </p:nvSpPr>
        <p:spPr>
          <a:xfrm>
            <a:off x="1279800" y="1341360"/>
            <a:ext cx="23900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Hypothalamus</a:t>
            </a:r>
            <a:endParaRPr b="0" lang="en-US" sz="2400" strike="noStrike" u="none">
              <a:solidFill>
                <a:srgbClr val="ffff00"/>
              </a:solidFill>
              <a:effectLst/>
              <a:uFillTx/>
              <a:latin typeface="Times New Roman"/>
            </a:endParaRPr>
          </a:p>
        </p:txBody>
      </p:sp>
      <p:cxnSp>
        <p:nvCxnSpPr>
          <p:cNvPr id="651" name="Connecteur droit avec flèche 440"/>
          <p:cNvCxnSpPr/>
          <p:nvPr/>
        </p:nvCxnSpPr>
        <p:spPr>
          <a:xfrm>
            <a:off x="3472920" y="1604880"/>
            <a:ext cx="2436120" cy="62640"/>
          </a:xfrm>
          <a:prstGeom prst="straightConnector1">
            <a:avLst/>
          </a:prstGeom>
          <a:ln w="19080">
            <a:solidFill>
              <a:srgbClr val="8585e0"/>
            </a:solidFill>
            <a:miter/>
            <a:tailEnd len="med" type="arrow" w="med"/>
          </a:ln>
        </p:spPr>
      </p:cxnSp>
      <p:sp>
        <p:nvSpPr>
          <p:cNvPr id="652" name="Text Box 428"/>
          <p:cNvSpPr/>
          <p:nvPr/>
        </p:nvSpPr>
        <p:spPr>
          <a:xfrm>
            <a:off x="2188440" y="662040"/>
            <a:ext cx="11926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Cortex</a:t>
            </a:r>
            <a:endParaRPr b="0" lang="en-US" sz="2400" strike="noStrike" u="none">
              <a:solidFill>
                <a:srgbClr val="ffff00"/>
              </a:solidFill>
              <a:effectLst/>
              <a:uFillTx/>
              <a:latin typeface="Times New Roman"/>
            </a:endParaRPr>
          </a:p>
        </p:txBody>
      </p:sp>
      <p:cxnSp>
        <p:nvCxnSpPr>
          <p:cNvPr id="653" name="Connecteur droit avec flèche 455"/>
          <p:cNvCxnSpPr>
            <a:endCxn id="334" idx="4"/>
          </p:cNvCxnSpPr>
          <p:nvPr/>
        </p:nvCxnSpPr>
        <p:spPr>
          <a:xfrm>
            <a:off x="3473280" y="905040"/>
            <a:ext cx="1286640" cy="48240"/>
          </a:xfrm>
          <a:prstGeom prst="straightConnector1">
            <a:avLst/>
          </a:prstGeom>
          <a:ln w="19080">
            <a:solidFill>
              <a:srgbClr val="8585e0"/>
            </a:solidFill>
            <a:miter/>
            <a:tailEnd len="med" type="arrow" w="med"/>
          </a:ln>
        </p:spPr>
      </p:cxnSp>
      <p:sp>
        <p:nvSpPr>
          <p:cNvPr id="654" name="ZoneTexte 1"/>
          <p:cNvSpPr/>
          <p:nvPr/>
        </p:nvSpPr>
        <p:spPr>
          <a:xfrm>
            <a:off x="1399680" y="1892160"/>
            <a:ext cx="18835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Hypophyse</a:t>
            </a:r>
            <a:endParaRPr b="0" lang="en-US" sz="2400" strike="noStrike" u="none">
              <a:solidFill>
                <a:srgbClr val="ffff00"/>
              </a:solidFill>
              <a:effectLst/>
              <a:uFillTx/>
              <a:latin typeface="Times New Roman"/>
            </a:endParaRPr>
          </a:p>
        </p:txBody>
      </p:sp>
      <p:cxnSp>
        <p:nvCxnSpPr>
          <p:cNvPr id="655" name="Connecteur droit avec flèche 434"/>
          <p:cNvCxnSpPr>
            <a:endCxn id="481" idx="0"/>
          </p:cNvCxnSpPr>
          <p:nvPr/>
        </p:nvCxnSpPr>
        <p:spPr>
          <a:xfrm flipV="1">
            <a:off x="3121200" y="2025000"/>
            <a:ext cx="2561040" cy="151560"/>
          </a:xfrm>
          <a:prstGeom prst="straightConnector1">
            <a:avLst/>
          </a:prstGeom>
          <a:ln w="19080">
            <a:solidFill>
              <a:srgbClr val="8585e0"/>
            </a:solidFill>
            <a:miter/>
            <a:tailEnd len="med" type="arrow" w="med"/>
          </a:ln>
        </p:spPr>
      </p:cxnSp>
      <p:sp>
        <p:nvSpPr>
          <p:cNvPr id="656" name="ZoneTexte 1"/>
          <p:cNvSpPr/>
          <p:nvPr/>
        </p:nvSpPr>
        <p:spPr>
          <a:xfrm>
            <a:off x="4382640" y="192240"/>
            <a:ext cx="3629880" cy="825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Signaux neuro-sécrétoires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Molécules de signalisation</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Calibri"/>
                <a:ea typeface="Calibri"/>
              </a:rPr>
              <a:t>(cellules gliales et astrocytes)</a:t>
            </a:r>
            <a:endParaRPr b="0" lang="en-US" sz="1600" strike="noStrike" u="none">
              <a:solidFill>
                <a:srgbClr val="ffff00"/>
              </a:solidFill>
              <a:effectLst/>
              <a:uFillTx/>
              <a:latin typeface="Times New Roman"/>
            </a:endParaRPr>
          </a:p>
        </p:txBody>
      </p:sp>
      <p:sp>
        <p:nvSpPr>
          <p:cNvPr id="657" name="Connecteur droit 3"/>
          <p:cNvSpPr/>
          <p:nvPr/>
        </p:nvSpPr>
        <p:spPr>
          <a:xfrm>
            <a:off x="5365800" y="969840"/>
            <a:ext cx="458640" cy="63180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58" name="Connecteur droit 5"/>
          <p:cNvSpPr/>
          <p:nvPr/>
        </p:nvSpPr>
        <p:spPr>
          <a:xfrm flipH="1">
            <a:off x="5889600" y="969840"/>
            <a:ext cx="176400" cy="61776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59" name="Connecteur droit 7"/>
          <p:cNvSpPr/>
          <p:nvPr/>
        </p:nvSpPr>
        <p:spPr>
          <a:xfrm flipH="1">
            <a:off x="6019920" y="905040"/>
            <a:ext cx="992160" cy="68256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60" name="ZoneTexte 8"/>
          <p:cNvSpPr/>
          <p:nvPr/>
        </p:nvSpPr>
        <p:spPr>
          <a:xfrm>
            <a:off x="1622880" y="131760"/>
            <a:ext cx="2836080" cy="4597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Première étape</a:t>
            </a:r>
            <a:endParaRPr b="0" lang="en-US" sz="2400" strike="noStrike" u="none">
              <a:solidFill>
                <a:srgbClr val="ffff00"/>
              </a:solidFill>
              <a:effectLst/>
              <a:uFillTx/>
              <a:latin typeface="Times New Roman"/>
            </a:endParaRPr>
          </a:p>
        </p:txBody>
      </p:sp>
      <p:sp>
        <p:nvSpPr>
          <p:cNvPr id="661" name="ZoneTexte 441"/>
          <p:cNvSpPr/>
          <p:nvPr/>
        </p:nvSpPr>
        <p:spPr>
          <a:xfrm>
            <a:off x="7617960" y="6464160"/>
            <a:ext cx="14601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Calibri"/>
                <a:ea typeface="Calibri"/>
              </a:rPr>
              <a:t>CAZORLA 2010</a:t>
            </a:r>
            <a:endParaRPr b="0" lang="en-US" sz="1200" strike="noStrike" u="none">
              <a:solidFill>
                <a:srgbClr val="ffff00"/>
              </a:solidFill>
              <a:effectLst/>
              <a:uFillTx/>
              <a:latin typeface="Times New Roman"/>
            </a:endParaRPr>
          </a:p>
        </p:txBody>
      </p:sp>
    </p:spTree>
  </p:cSld>
  <p:transition spd="med">
    <p:zoom dir="out"/>
  </p:transition>
  <p:timing>
    <p:tnLst>
      <p:par>
        <p:cTn id="780" dur="indefinite" restart="never" nodeType="tmRoot">
          <p:childTnLst>
            <p:seq>
              <p:cTn id="781" dur="indefinite" nodeType="mainSeq">
                <p:childTnLst>
                  <p:par>
                    <p:cTn id="782" nodeType="clickEffect" fill="hold">
                      <p:stCondLst>
                        <p:cond delay="indefinite"/>
                      </p:stCondLst>
                      <p:childTnLst>
                        <p:par>
                          <p:cTn id="783" nodeType="withEffect" fill="hold">
                            <p:stCondLst>
                              <p:cond delay="0"/>
                            </p:stCondLst>
                            <p:childTnLst>
                              <p:par>
                                <p:cTn id="784" nodeType="clickEffect" fill="hold" presetClass="entr" presetID="53" presetSubtype="16">
                                  <p:stCondLst>
                                    <p:cond delay="0"/>
                                  </p:stCondLst>
                                  <p:childTnLst>
                                    <p:set>
                                      <p:cBhvr>
                                        <p:cTn id="785" dur="1" fill="hold">
                                          <p:stCondLst>
                                            <p:cond delay="0"/>
                                          </p:stCondLst>
                                        </p:cTn>
                                        <p:tgtEl>
                                          <p:spTgt spid="660"/>
                                        </p:tgtEl>
                                        <p:attrNameLst>
                                          <p:attrName>style.visibility</p:attrName>
                                        </p:attrNameLst>
                                      </p:cBhvr>
                                      <p:to>
                                        <p:strVal val="visible"/>
                                      </p:to>
                                    </p:set>
                                    <p:anim calcmode="lin" valueType="num">
                                      <p:cBhvr additive="repl">
                                        <p:cTn id="786" dur="500" fill="hold"/>
                                        <p:tgtEl>
                                          <p:spTgt spid="660"/>
                                        </p:tgtEl>
                                        <p:attrNameLst>
                                          <p:attrName>ppt_w</p:attrName>
                                        </p:attrNameLst>
                                      </p:cBhvr>
                                      <p:tavLst>
                                        <p:tav tm="0">
                                          <p:val>
                                            <p:fltVal val="0"/>
                                          </p:val>
                                        </p:tav>
                                        <p:tav tm="100000">
                                          <p:val>
                                            <p:strVal val="#ppt_w"/>
                                          </p:val>
                                        </p:tav>
                                      </p:tavLst>
                                    </p:anim>
                                    <p:anim calcmode="lin" valueType="num">
                                      <p:cBhvr additive="repl">
                                        <p:cTn id="787" dur="500" fill="hold"/>
                                        <p:tgtEl>
                                          <p:spTgt spid="660"/>
                                        </p:tgtEl>
                                        <p:attrNameLst>
                                          <p:attrName>ppt_h</p:attrName>
                                        </p:attrNameLst>
                                      </p:cBhvr>
                                      <p:tavLst>
                                        <p:tav tm="0">
                                          <p:val>
                                            <p:fltVal val="0"/>
                                          </p:val>
                                        </p:tav>
                                        <p:tav tm="100000">
                                          <p:val>
                                            <p:strVal val="#ppt_h"/>
                                          </p:val>
                                        </p:tav>
                                      </p:tavLst>
                                    </p:anim>
                                    <p:animEffect filter="fade" transition="in">
                                      <p:cBhvr additive="repl">
                                        <p:cTn id="788" dur="500"/>
                                        <p:tgtEl>
                                          <p:spTgt spid="660"/>
                                        </p:tgtEl>
                                      </p:cBhvr>
                                    </p:animEffect>
                                  </p:childTnLst>
                                </p:cTn>
                              </p:par>
                            </p:childTnLst>
                          </p:cTn>
                        </p:par>
                      </p:childTnLst>
                    </p:cTn>
                  </p:par>
                  <p:par>
                    <p:cTn id="789" nodeType="clickEffect" fill="hold">
                      <p:stCondLst>
                        <p:cond delay="indefinite"/>
                      </p:stCondLst>
                      <p:childTnLst>
                        <p:par>
                          <p:cTn id="790" nodeType="withEffect" fill="hold">
                            <p:stCondLst>
                              <p:cond delay="0"/>
                            </p:stCondLst>
                            <p:childTnLst>
                              <p:par>
                                <p:cTn id="791" nodeType="clickEffect" fill="hold" presetClass="entr" presetID="22" presetSubtype="8" repeatCount="1000">
                                  <p:stCondLst>
                                    <p:cond delay="0"/>
                                  </p:stCondLst>
                                  <p:childTnLst>
                                    <p:set>
                                      <p:cBhvr>
                                        <p:cTn id="792" dur="1" fill="hold">
                                          <p:stCondLst>
                                            <p:cond delay="0"/>
                                          </p:stCondLst>
                                        </p:cTn>
                                        <p:tgtEl>
                                          <p:spTgt spid="656"/>
                                        </p:tgtEl>
                                        <p:attrNameLst>
                                          <p:attrName>style.visibility</p:attrName>
                                        </p:attrNameLst>
                                      </p:cBhvr>
                                      <p:to>
                                        <p:strVal val="visible"/>
                                      </p:to>
                                    </p:set>
                                    <p:animEffect filter="wipe(left)" transition="in">
                                      <p:cBhvr additive="repl">
                                        <p:cTn id="793" dur="1500"/>
                                        <p:tgtEl>
                                          <p:spTgt spid="656"/>
                                        </p:tgtEl>
                                      </p:cBhvr>
                                    </p:animEffect>
                                  </p:childTnLst>
                                </p:cTn>
                              </p:par>
                            </p:childTnLst>
                          </p:cTn>
                        </p:par>
                        <p:par>
                          <p:cTn id="794" nodeType="afterEffect" fill="hold">
                            <p:stCondLst>
                              <p:cond delay="1500"/>
                            </p:stCondLst>
                            <p:childTnLst>
                              <p:par>
                                <p:cTn id="795" nodeType="afterEffect" fill="hold" presetClass="entr" presetID="22" presetSubtype="1">
                                  <p:stCondLst>
                                    <p:cond delay="0"/>
                                  </p:stCondLst>
                                  <p:childTnLst>
                                    <p:set>
                                      <p:cBhvr>
                                        <p:cTn id="796" dur="1" fill="hold">
                                          <p:stCondLst>
                                            <p:cond delay="0"/>
                                          </p:stCondLst>
                                        </p:cTn>
                                        <p:tgtEl>
                                          <p:spTgt spid="657"/>
                                        </p:tgtEl>
                                        <p:attrNameLst>
                                          <p:attrName>style.visibility</p:attrName>
                                        </p:attrNameLst>
                                      </p:cBhvr>
                                      <p:to>
                                        <p:strVal val="visible"/>
                                      </p:to>
                                    </p:set>
                                    <p:animEffect filter="wipe(up)" transition="in">
                                      <p:cBhvr additive="repl">
                                        <p:cTn id="797" dur="500"/>
                                        <p:tgtEl>
                                          <p:spTgt spid="657"/>
                                        </p:tgtEl>
                                      </p:cBhvr>
                                    </p:animEffect>
                                  </p:childTnLst>
                                </p:cTn>
                              </p:par>
                              <p:par>
                                <p:cTn id="798" nodeType="withEffect" fill="hold" presetClass="entr" presetID="22" presetSubtype="1">
                                  <p:stCondLst>
                                    <p:cond delay="0"/>
                                  </p:stCondLst>
                                  <p:childTnLst>
                                    <p:set>
                                      <p:cBhvr>
                                        <p:cTn id="799" dur="1" fill="hold">
                                          <p:stCondLst>
                                            <p:cond delay="0"/>
                                          </p:stCondLst>
                                        </p:cTn>
                                        <p:tgtEl>
                                          <p:spTgt spid="658"/>
                                        </p:tgtEl>
                                        <p:attrNameLst>
                                          <p:attrName>style.visibility</p:attrName>
                                        </p:attrNameLst>
                                      </p:cBhvr>
                                      <p:to>
                                        <p:strVal val="visible"/>
                                      </p:to>
                                    </p:set>
                                    <p:animEffect filter="wipe(up)" transition="in">
                                      <p:cBhvr additive="repl">
                                        <p:cTn id="800" dur="500"/>
                                        <p:tgtEl>
                                          <p:spTgt spid="658"/>
                                        </p:tgtEl>
                                      </p:cBhvr>
                                    </p:animEffect>
                                  </p:childTnLst>
                                </p:cTn>
                              </p:par>
                              <p:par>
                                <p:cTn id="801" nodeType="withEffect" fill="hold" presetClass="entr" presetID="22" presetSubtype="1">
                                  <p:stCondLst>
                                    <p:cond delay="0"/>
                                  </p:stCondLst>
                                  <p:childTnLst>
                                    <p:set>
                                      <p:cBhvr>
                                        <p:cTn id="802" dur="1" fill="hold">
                                          <p:stCondLst>
                                            <p:cond delay="0"/>
                                          </p:stCondLst>
                                        </p:cTn>
                                        <p:tgtEl>
                                          <p:spTgt spid="659"/>
                                        </p:tgtEl>
                                        <p:attrNameLst>
                                          <p:attrName>style.visibility</p:attrName>
                                        </p:attrNameLst>
                                      </p:cBhvr>
                                      <p:to>
                                        <p:strVal val="visible"/>
                                      </p:to>
                                    </p:set>
                                    <p:animEffect filter="wipe(up)" transition="in">
                                      <p:cBhvr additive="repl">
                                        <p:cTn id="803" dur="500"/>
                                        <p:tgtEl>
                                          <p:spTgt spid="659"/>
                                        </p:tgtEl>
                                      </p:cBhvr>
                                    </p:animEffect>
                                  </p:childTnLst>
                                </p:cTn>
                              </p:par>
                            </p:childTnLst>
                          </p:cTn>
                        </p:par>
                      </p:childTnLst>
                    </p:cTn>
                  </p:par>
                  <p:par>
                    <p:cTn id="804" nodeType="clickEffect" fill="hold">
                      <p:stCondLst>
                        <p:cond delay="indefinite"/>
                      </p:stCondLst>
                      <p:childTnLst>
                        <p:par>
                          <p:cTn id="805" nodeType="withEffect" fill="hold">
                            <p:stCondLst>
                              <p:cond delay="0"/>
                            </p:stCondLst>
                            <p:childTnLst>
                              <p:par>
                                <p:cTn id="806" nodeType="clickEffect" fill="hold" presetClass="entr" presetID="22" presetSubtype="1">
                                  <p:stCondLst>
                                    <p:cond delay="0"/>
                                  </p:stCondLst>
                                  <p:childTnLst>
                                    <p:set>
                                      <p:cBhvr>
                                        <p:cTn id="807" dur="1" fill="hold">
                                          <p:stCondLst>
                                            <p:cond delay="0"/>
                                          </p:stCondLst>
                                        </p:cTn>
                                        <p:tgtEl>
                                          <p:spTgt spid="648"/>
                                        </p:tgtEl>
                                        <p:attrNameLst>
                                          <p:attrName>style.visibility</p:attrName>
                                        </p:attrNameLst>
                                      </p:cBhvr>
                                      <p:to>
                                        <p:strVal val="visible"/>
                                      </p:to>
                                    </p:set>
                                    <p:animEffect filter="wipe(up)" transition="in">
                                      <p:cBhvr additive="repl">
                                        <p:cTn id="808" dur="500"/>
                                        <p:tgtEl>
                                          <p:spTgt spid="648"/>
                                        </p:tgtEl>
                                      </p:cBhvr>
                                    </p:animEffect>
                                  </p:childTnLst>
                                </p:cTn>
                              </p:par>
                              <p:par>
                                <p:cTn id="809" nodeType="withEffect" fill="hold" presetClass="entr" presetID="22" presetSubtype="1">
                                  <p:stCondLst>
                                    <p:cond delay="0"/>
                                  </p:stCondLst>
                                  <p:childTnLst>
                                    <p:set>
                                      <p:cBhvr>
                                        <p:cTn id="810" dur="1" fill="hold">
                                          <p:stCondLst>
                                            <p:cond delay="0"/>
                                          </p:stCondLst>
                                        </p:cTn>
                                        <p:tgtEl>
                                          <p:spTgt spid="649"/>
                                        </p:tgtEl>
                                        <p:attrNameLst>
                                          <p:attrName>style.visibility</p:attrName>
                                        </p:attrNameLst>
                                      </p:cBhvr>
                                      <p:to>
                                        <p:strVal val="visible"/>
                                      </p:to>
                                    </p:set>
                                    <p:animEffect filter="wipe(up)" transition="in">
                                      <p:cBhvr additive="repl">
                                        <p:cTn id="811" dur="500"/>
                                        <p:tgtEl>
                                          <p:spTgt spid="649"/>
                                        </p:tgtEl>
                                      </p:cBhvr>
                                    </p:animEffect>
                                  </p:childTnLst>
                                </p:cTn>
                              </p:par>
                            </p:childTnLst>
                          </p:cTn>
                        </p:par>
                        <p:par>
                          <p:cTn id="812" nodeType="afterEffect" fill="hold">
                            <p:stCondLst>
                              <p:cond delay="500"/>
                            </p:stCondLst>
                            <p:childTnLst>
                              <p:par>
                                <p:cTn id="813" nodeType="afterEffect" fill="hold" presetClass="entr" presetID="53" presetSubtype="16">
                                  <p:stCondLst>
                                    <p:cond delay="0"/>
                                  </p:stCondLst>
                                  <p:childTnLst>
                                    <p:set>
                                      <p:cBhvr>
                                        <p:cTn id="814" dur="1" fill="hold">
                                          <p:stCondLst>
                                            <p:cond delay="0"/>
                                          </p:stCondLst>
                                        </p:cTn>
                                        <p:tgtEl>
                                          <p:spTgt spid="647"/>
                                        </p:tgtEl>
                                        <p:attrNameLst>
                                          <p:attrName>style.visibility</p:attrName>
                                        </p:attrNameLst>
                                      </p:cBhvr>
                                      <p:to>
                                        <p:strVal val="visible"/>
                                      </p:to>
                                    </p:set>
                                    <p:anim calcmode="lin" valueType="num">
                                      <p:cBhvr additive="repl">
                                        <p:cTn id="815" dur="500" fill="hold"/>
                                        <p:tgtEl>
                                          <p:spTgt spid="647"/>
                                        </p:tgtEl>
                                        <p:attrNameLst>
                                          <p:attrName>ppt_w</p:attrName>
                                        </p:attrNameLst>
                                      </p:cBhvr>
                                      <p:tavLst>
                                        <p:tav tm="0">
                                          <p:val>
                                            <p:fltVal val="0"/>
                                          </p:val>
                                        </p:tav>
                                        <p:tav tm="100000">
                                          <p:val>
                                            <p:strVal val="#ppt_w"/>
                                          </p:val>
                                        </p:tav>
                                      </p:tavLst>
                                    </p:anim>
                                    <p:anim calcmode="lin" valueType="num">
                                      <p:cBhvr additive="repl">
                                        <p:cTn id="816" dur="500" fill="hold"/>
                                        <p:tgtEl>
                                          <p:spTgt spid="647"/>
                                        </p:tgtEl>
                                        <p:attrNameLst>
                                          <p:attrName>ppt_h</p:attrName>
                                        </p:attrNameLst>
                                      </p:cBhvr>
                                      <p:tavLst>
                                        <p:tav tm="0">
                                          <p:val>
                                            <p:fltVal val="0"/>
                                          </p:val>
                                        </p:tav>
                                        <p:tav tm="100000">
                                          <p:val>
                                            <p:strVal val="#ppt_h"/>
                                          </p:val>
                                        </p:tav>
                                      </p:tavLst>
                                    </p:anim>
                                    <p:animEffect filter="fade" transition="in">
                                      <p:cBhvr additive="repl">
                                        <p:cTn id="817" dur="50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2" name="Picture 2" descr="C:\Users\user\Pictures\img007.jpg"/>
          <p:cNvPicPr/>
          <p:nvPr/>
        </p:nvPicPr>
        <p:blipFill>
          <a:blip r:embed="rId1"/>
          <a:srcRect l="60406" t="13560" r="7079" b="30620"/>
          <a:stretch/>
        </p:blipFill>
        <p:spPr>
          <a:xfrm>
            <a:off x="5210280" y="-27000"/>
            <a:ext cx="3898800" cy="4737240"/>
          </a:xfrm>
          <a:prstGeom prst="rect">
            <a:avLst/>
          </a:prstGeom>
          <a:noFill/>
          <a:ln w="0">
            <a:noFill/>
          </a:ln>
        </p:spPr>
      </p:pic>
      <p:pic>
        <p:nvPicPr>
          <p:cNvPr id="663" name="Picture 2" descr="C:\Mes documents\Mes images\Bio-générale\Circulation.gif"/>
          <p:cNvPicPr/>
          <p:nvPr/>
        </p:nvPicPr>
        <p:blipFill>
          <a:blip r:embed="rId2"/>
          <a:stretch/>
        </p:blipFill>
        <p:spPr>
          <a:xfrm>
            <a:off x="1908000" y="1916280"/>
            <a:ext cx="2759400" cy="2503440"/>
          </a:xfrm>
          <a:prstGeom prst="rect">
            <a:avLst/>
          </a:prstGeom>
          <a:noFill/>
          <a:ln w="0">
            <a:noFill/>
          </a:ln>
        </p:spPr>
      </p:pic>
      <p:pic>
        <p:nvPicPr>
          <p:cNvPr id="664" name="Picture 2" descr="C:\Users\user\Pictures\img009.jpg"/>
          <p:cNvPicPr/>
          <p:nvPr/>
        </p:nvPicPr>
        <p:blipFill>
          <a:blip r:embed="rId3"/>
          <a:srcRect l="68917" t="76007" r="16508" b="3399"/>
          <a:stretch/>
        </p:blipFill>
        <p:spPr>
          <a:xfrm>
            <a:off x="820800" y="4508640"/>
            <a:ext cx="2330280" cy="2330280"/>
          </a:xfrm>
          <a:prstGeom prst="rect">
            <a:avLst/>
          </a:prstGeom>
          <a:noFill/>
          <a:ln w="0">
            <a:noFill/>
          </a:ln>
        </p:spPr>
      </p:pic>
      <p:sp>
        <p:nvSpPr>
          <p:cNvPr id="665" name="Forme libre 1"/>
          <p:cNvSpPr/>
          <p:nvPr/>
        </p:nvSpPr>
        <p:spPr>
          <a:xfrm>
            <a:off x="4646520" y="4249800"/>
            <a:ext cx="1495440" cy="338040"/>
          </a:xfrm>
          <a:custGeom>
            <a:avLst/>
            <a:gdLst>
              <a:gd name="GluePoint1X" fmla="*/ 1497572 w 1495312"/>
              <a:gd name="GluePoint1Y" fmla="*/ 0 h 338757"/>
              <a:gd name="GluePoint2X" fmla="*/ 1228231 w 1495312"/>
              <a:gd name="GluePoint2Y" fmla="*/ 300746 h 338757"/>
              <a:gd name="GluePoint3X" fmla="*/ 840357 w 1495312"/>
              <a:gd name="GluePoint3Y" fmla="*/ 280006 h 338757"/>
              <a:gd name="GluePoint4X" fmla="*/ 0 w 1495312"/>
              <a:gd name="GluePoint4Y" fmla="*/ 31112 h 338757"/>
              <a:gd name="GluePoint5X" fmla="*/ 0 w 1495312"/>
              <a:gd name="GluePoint5Y" fmla="*/ 31112 h 338757"/>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495312" h="338757">
                <a:moveTo>
                  <a:pt x="1495312" y="0"/>
                </a:moveTo>
                <a:cubicBezTo>
                  <a:pt x="1415526" y="131781"/>
                  <a:pt x="1335740" y="263562"/>
                  <a:pt x="1226371" y="311971"/>
                </a:cubicBezTo>
                <a:cubicBezTo>
                  <a:pt x="1117002" y="360380"/>
                  <a:pt x="1043491" y="337072"/>
                  <a:pt x="839096" y="290456"/>
                </a:cubicBezTo>
                <a:cubicBezTo>
                  <a:pt x="634701" y="243840"/>
                  <a:pt x="0" y="32273"/>
                  <a:pt x="0" y="32273"/>
                </a:cubicBezTo>
              </a:path>
            </a:pathLst>
          </a:custGeom>
          <a:noFill/>
          <a:ln w="38160">
            <a:solidFill>
              <a:srgbClr val="000000"/>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66" name="Forme libre 3"/>
          <p:cNvSpPr/>
          <p:nvPr/>
        </p:nvSpPr>
        <p:spPr>
          <a:xfrm>
            <a:off x="1217520" y="3790800"/>
            <a:ext cx="830520" cy="749520"/>
          </a:xfrm>
          <a:custGeom>
            <a:avLst/>
            <a:gdLst>
              <a:gd name="GluePoint1X" fmla="*/ 844602 w 829514"/>
              <a:gd name="GluePoint1Y" fmla="*/ 0 h 748533"/>
              <a:gd name="GluePoint2X" fmla="*/ 505163 w 829514"/>
              <a:gd name="GluePoint2Y" fmla="*/ 223608 h 748533"/>
              <a:gd name="GluePoint3X" fmla="*/ 29954 w 829514"/>
              <a:gd name="GluePoint3Y" fmla="*/ 418051 h 748533"/>
              <a:gd name="GluePoint4X" fmla="*/ 49344 w 829514"/>
              <a:gd name="GluePoint4Y" fmla="*/ 738881 h 748533"/>
              <a:gd name="GluePoint5X" fmla="*/ 49344 w 829514"/>
              <a:gd name="GluePoint5Y" fmla="*/ 719435 h 748533"/>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829514" h="748533">
                <a:moveTo>
                  <a:pt x="829514" y="0"/>
                </a:moveTo>
                <a:cubicBezTo>
                  <a:pt x="729501" y="75406"/>
                  <a:pt x="629489" y="150813"/>
                  <a:pt x="496139" y="219075"/>
                </a:cubicBezTo>
                <a:cubicBezTo>
                  <a:pt x="362789" y="287337"/>
                  <a:pt x="104026" y="325438"/>
                  <a:pt x="29414" y="409575"/>
                </a:cubicBezTo>
                <a:cubicBezTo>
                  <a:pt x="-45199" y="493713"/>
                  <a:pt x="45289" y="674688"/>
                  <a:pt x="48464" y="723900"/>
                </a:cubicBezTo>
                <a:cubicBezTo>
                  <a:pt x="51639" y="773112"/>
                  <a:pt x="50051" y="738981"/>
                  <a:pt x="48464" y="704850"/>
                </a:cubicBezTo>
              </a:path>
            </a:pathLst>
          </a:custGeom>
          <a:noFill/>
          <a:ln w="28440">
            <a:solidFill>
              <a:srgbClr val="0000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67" name="Forme libre 5"/>
          <p:cNvSpPr/>
          <p:nvPr/>
        </p:nvSpPr>
        <p:spPr>
          <a:xfrm>
            <a:off x="1550880" y="3876840"/>
            <a:ext cx="411120" cy="618840"/>
          </a:xfrm>
          <a:custGeom>
            <a:avLst/>
            <a:gdLst>
              <a:gd name="GluePoint1X" fmla="*/ 418468 w 410781"/>
              <a:gd name="GluePoint1Y" fmla="*/ 0 h 619125"/>
              <a:gd name="GluePoint2X" fmla="*/ 10931 w 410781"/>
              <a:gd name="GluePoint2Y" fmla="*/ 314325 h 619125"/>
              <a:gd name="GluePoint3X" fmla="*/ 107964 w 410781"/>
              <a:gd name="GluePoint3Y" fmla="*/ 619125 h 619125"/>
              <a:gd name="GluePoint4X" fmla="*/ 107964 w 410781"/>
              <a:gd name="GluePoint4Y" fmla="*/ 619125 h 619125"/>
            </a:gdLst>
            <a:ahLst/>
            <a:cxnLst>
              <a:cxn ang="0">
                <a:pos x="GluePoint1X" y="GluePoint1Y"/>
              </a:cxn>
              <a:cxn ang="0">
                <a:pos x="GluePoint2X" y="GluePoint2Y"/>
              </a:cxn>
              <a:cxn ang="0">
                <a:pos x="GluePoint3X" y="GluePoint3Y"/>
              </a:cxn>
              <a:cxn ang="0">
                <a:pos x="GluePoint4X" y="GluePoint4Y"/>
              </a:cxn>
            </a:cxnLst>
            <a:rect l="l" t="t" r="r" b="b"/>
            <a:pathLst>
              <a:path w="410781" h="619125">
                <a:moveTo>
                  <a:pt x="410781" y="0"/>
                </a:moveTo>
                <a:cubicBezTo>
                  <a:pt x="236156" y="105569"/>
                  <a:pt x="61531" y="211138"/>
                  <a:pt x="10731" y="314325"/>
                </a:cubicBezTo>
                <a:cubicBezTo>
                  <a:pt x="-40069" y="417512"/>
                  <a:pt x="105981" y="619125"/>
                  <a:pt x="105981" y="619125"/>
                </a:cubicBezTo>
              </a:path>
            </a:pathLst>
          </a:custGeom>
          <a:noFill/>
          <a:ln w="28440">
            <a:solidFill>
              <a:srgbClr val="000000"/>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68" name="Forme libre 4"/>
          <p:cNvSpPr/>
          <p:nvPr/>
        </p:nvSpPr>
        <p:spPr>
          <a:xfrm>
            <a:off x="4110120" y="4356000"/>
            <a:ext cx="1849320" cy="468360"/>
          </a:xfrm>
          <a:custGeom>
            <a:avLst/>
            <a:gdLst>
              <a:gd name="GluePoint1X" fmla="*/ 1842427 w 1850315"/>
              <a:gd name="GluePoint1Y" fmla="*/ 154354 h 467036"/>
              <a:gd name="GluePoint2X" fmla="*/ 889080 w 1850315"/>
              <a:gd name="GluePoint2Y" fmla="*/ 474088 h 467036"/>
              <a:gd name="GluePoint3X" fmla="*/ 353491 w 1850315"/>
              <a:gd name="GluePoint3Y" fmla="*/ 319733 h 467036"/>
              <a:gd name="GluePoint4X" fmla="*/ 0 w 1850315"/>
              <a:gd name="GluePoint4Y" fmla="*/ 0 h 467036"/>
              <a:gd name="GluePoint5X" fmla="*/ 0 w 1850315"/>
              <a:gd name="GluePoint5Y" fmla="*/ 0 h 467036"/>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850315" h="467036">
                <a:moveTo>
                  <a:pt x="1850315" y="150607"/>
                </a:moveTo>
                <a:cubicBezTo>
                  <a:pt x="1496209" y="293146"/>
                  <a:pt x="1142104" y="435685"/>
                  <a:pt x="892885" y="462579"/>
                </a:cubicBezTo>
                <a:cubicBezTo>
                  <a:pt x="643666" y="489473"/>
                  <a:pt x="503817" y="389068"/>
                  <a:pt x="355003" y="311972"/>
                </a:cubicBezTo>
                <a:cubicBezTo>
                  <a:pt x="206189" y="234876"/>
                  <a:pt x="0" y="0"/>
                  <a:pt x="0" y="0"/>
                </a:cubicBezTo>
              </a:path>
            </a:pathLst>
          </a:custGeom>
          <a:noFill/>
          <a:ln w="38160">
            <a:solidFill>
              <a:srgbClr val="000000"/>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69" name="ZoneTexte 6"/>
          <p:cNvSpPr/>
          <p:nvPr/>
        </p:nvSpPr>
        <p:spPr>
          <a:xfrm>
            <a:off x="-476640" y="115920"/>
            <a:ext cx="5968440" cy="10083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Deuxième étape (hypothalamus</a:t>
            </a:r>
            <a:r>
              <a:rPr b="1" lang="fr-FR" sz="2400" strike="noStrike" u="none">
                <a:solidFill>
                  <a:srgbClr val="ffff00"/>
                </a:solidFill>
                <a:effectLst/>
                <a:uFillTx/>
                <a:latin typeface="Calibri"/>
                <a:ea typeface="Calibri"/>
              </a:rPr>
              <a:t>)</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Gonadotrophines Releasing Hormone GnRH;</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Growth Hormone Releasing Hormone GH-RH </a:t>
            </a:r>
            <a:endParaRPr b="0" lang="en-US" sz="1800" strike="noStrike" u="none">
              <a:solidFill>
                <a:srgbClr val="ffff00"/>
              </a:solidFill>
              <a:effectLst/>
              <a:uFillTx/>
              <a:latin typeface="Times New Roman"/>
            </a:endParaRPr>
          </a:p>
        </p:txBody>
      </p:sp>
      <p:sp>
        <p:nvSpPr>
          <p:cNvPr id="670" name="ZoneTexte 7"/>
          <p:cNvSpPr/>
          <p:nvPr/>
        </p:nvSpPr>
        <p:spPr>
          <a:xfrm>
            <a:off x="4768920" y="4998960"/>
            <a:ext cx="4502160" cy="2349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Troisième étape (antéhypophyse)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Libérines + récepteurs → Gonadostimulines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Folliculostimuling Hormone FSH;</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Luteinizing Stimulating Hormone LSH ou LH</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Growth Hormone GH</a:t>
            </a:r>
            <a:endParaRPr b="0" lang="en-US" sz="1800" strike="noStrike" u="none">
              <a:solidFill>
                <a:srgbClr val="ffff00"/>
              </a:solidFill>
              <a:effectLst/>
              <a:uFillTx/>
              <a:latin typeface="Times New Roman"/>
            </a:endParaRPr>
          </a:p>
        </p:txBody>
      </p:sp>
      <p:sp>
        <p:nvSpPr>
          <p:cNvPr id="671" name="ZoneTexte 8"/>
          <p:cNvSpPr/>
          <p:nvPr/>
        </p:nvSpPr>
        <p:spPr>
          <a:xfrm>
            <a:off x="-135000" y="1254240"/>
            <a:ext cx="5506200" cy="6732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Quatrième étape (transport sanguin)</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800" strike="noStrike" u="none">
                <a:solidFill>
                  <a:srgbClr val="ffffff"/>
                </a:solidFill>
                <a:effectLst/>
                <a:uFillTx/>
                <a:latin typeface="Calibri"/>
                <a:ea typeface="Calibri"/>
              </a:rPr>
              <a:t>Sex Hormone Binding Globuline SHBG</a:t>
            </a:r>
            <a:endParaRPr b="0" lang="en-US" sz="1800" strike="noStrike" u="none">
              <a:solidFill>
                <a:srgbClr val="ffff00"/>
              </a:solidFill>
              <a:effectLst/>
              <a:uFillTx/>
              <a:latin typeface="Times New Roman"/>
            </a:endParaRPr>
          </a:p>
        </p:txBody>
      </p:sp>
      <p:sp>
        <p:nvSpPr>
          <p:cNvPr id="672" name="ZoneTexte 9"/>
          <p:cNvSpPr/>
          <p:nvPr/>
        </p:nvSpPr>
        <p:spPr>
          <a:xfrm rot="21070200">
            <a:off x="744480" y="5955840"/>
            <a:ext cx="2606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Cinquième étape</a:t>
            </a:r>
            <a:endParaRPr b="0" lang="en-US" sz="2000" strike="noStrike" u="none">
              <a:solidFill>
                <a:srgbClr val="ffff00"/>
              </a:solidFill>
              <a:effectLst/>
              <a:uFillTx/>
              <a:latin typeface="Times New Roman"/>
            </a:endParaRPr>
          </a:p>
        </p:txBody>
      </p:sp>
      <p:sp>
        <p:nvSpPr>
          <p:cNvPr id="673" name="Connecteur droit 11"/>
          <p:cNvSpPr/>
          <p:nvPr/>
        </p:nvSpPr>
        <p:spPr>
          <a:xfrm>
            <a:off x="4646520" y="836640"/>
            <a:ext cx="2229120" cy="1093680"/>
          </a:xfrm>
          <a:prstGeom prst="line">
            <a:avLst/>
          </a:prstGeom>
          <a:ln w="19080">
            <a:solidFill>
              <a:srgbClr val="a5a5e9"/>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cxnSp>
        <p:nvCxnSpPr>
          <p:cNvPr id="674" name="Connecteur droit avec flèche 13"/>
          <p:cNvCxnSpPr/>
          <p:nvPr/>
        </p:nvCxnSpPr>
        <p:spPr>
          <a:xfrm flipV="1">
            <a:off x="6516360" y="4076280"/>
            <a:ext cx="1080" cy="923040"/>
          </a:xfrm>
          <a:prstGeom prst="straightConnector1">
            <a:avLst/>
          </a:prstGeom>
          <a:ln w="19080">
            <a:solidFill>
              <a:srgbClr val="a5a5e9"/>
            </a:solidFill>
            <a:miter/>
            <a:tailEnd len="med" type="arrow" w="med"/>
          </a:ln>
        </p:spPr>
      </p:cxnSp>
      <p:sp>
        <p:nvSpPr>
          <p:cNvPr id="675" name="ZoneTexte 14"/>
          <p:cNvSpPr/>
          <p:nvPr/>
        </p:nvSpPr>
        <p:spPr>
          <a:xfrm>
            <a:off x="3372120" y="6507000"/>
            <a:ext cx="14601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Calibri"/>
                <a:ea typeface="Calibri"/>
              </a:rPr>
              <a:t>CAZORLA 2010</a:t>
            </a:r>
            <a:endParaRPr b="0" lang="en-US" sz="1200" strike="noStrike" u="none">
              <a:solidFill>
                <a:srgbClr val="ffff00"/>
              </a:solidFill>
              <a:effectLst/>
              <a:uFillTx/>
              <a:latin typeface="Times New Roman"/>
            </a:endParaRPr>
          </a:p>
        </p:txBody>
      </p:sp>
    </p:spTree>
  </p:cSld>
  <p:transition spd="med">
    <p:zoom dir="out"/>
  </p:transition>
  <p:timing>
    <p:tnLst>
      <p:par>
        <p:cTn id="818" dur="indefinite" restart="never" nodeType="tmRoot">
          <p:childTnLst>
            <p:seq>
              <p:cTn id="819" dur="indefinite" nodeType="mainSeq">
                <p:childTnLst>
                  <p:par>
                    <p:cTn id="820" nodeType="clickEffect" fill="hold">
                      <p:stCondLst>
                        <p:cond delay="indefinite"/>
                      </p:stCondLst>
                      <p:childTnLst>
                        <p:par>
                          <p:cTn id="821" nodeType="withEffect" fill="hold">
                            <p:stCondLst>
                              <p:cond delay="0"/>
                            </p:stCondLst>
                            <p:childTnLst>
                              <p:par>
                                <p:cTn id="822" nodeType="clickEffect" fill="hold" presetClass="entr" presetID="53" presetSubtype="16">
                                  <p:stCondLst>
                                    <p:cond delay="0"/>
                                  </p:stCondLst>
                                  <p:childTnLst>
                                    <p:set>
                                      <p:cBhvr>
                                        <p:cTn id="823" dur="1" fill="hold">
                                          <p:stCondLst>
                                            <p:cond delay="0"/>
                                          </p:stCondLst>
                                        </p:cTn>
                                        <p:tgtEl>
                                          <p:spTgt spid="669"/>
                                        </p:tgtEl>
                                        <p:attrNameLst>
                                          <p:attrName>style.visibility</p:attrName>
                                        </p:attrNameLst>
                                      </p:cBhvr>
                                      <p:to>
                                        <p:strVal val="visible"/>
                                      </p:to>
                                    </p:set>
                                    <p:anim calcmode="lin" valueType="num">
                                      <p:cBhvr additive="repl">
                                        <p:cTn id="824" dur="500" fill="hold"/>
                                        <p:tgtEl>
                                          <p:spTgt spid="669"/>
                                        </p:tgtEl>
                                        <p:attrNameLst>
                                          <p:attrName>ppt_w</p:attrName>
                                        </p:attrNameLst>
                                      </p:cBhvr>
                                      <p:tavLst>
                                        <p:tav tm="0">
                                          <p:val>
                                            <p:fltVal val="0"/>
                                          </p:val>
                                        </p:tav>
                                        <p:tav tm="100000">
                                          <p:val>
                                            <p:strVal val="#ppt_w"/>
                                          </p:val>
                                        </p:tav>
                                      </p:tavLst>
                                    </p:anim>
                                    <p:anim calcmode="lin" valueType="num">
                                      <p:cBhvr additive="repl">
                                        <p:cTn id="825" dur="500" fill="hold"/>
                                        <p:tgtEl>
                                          <p:spTgt spid="669"/>
                                        </p:tgtEl>
                                        <p:attrNameLst>
                                          <p:attrName>ppt_h</p:attrName>
                                        </p:attrNameLst>
                                      </p:cBhvr>
                                      <p:tavLst>
                                        <p:tav tm="0">
                                          <p:val>
                                            <p:fltVal val="0"/>
                                          </p:val>
                                        </p:tav>
                                        <p:tav tm="100000">
                                          <p:val>
                                            <p:strVal val="#ppt_h"/>
                                          </p:val>
                                        </p:tav>
                                      </p:tavLst>
                                    </p:anim>
                                    <p:animEffect filter="fade" transition="in">
                                      <p:cBhvr additive="repl">
                                        <p:cTn id="826" dur="500"/>
                                        <p:tgtEl>
                                          <p:spTgt spid="669"/>
                                        </p:tgtEl>
                                      </p:cBhvr>
                                    </p:animEffect>
                                  </p:childTnLst>
                                </p:cTn>
                              </p:par>
                            </p:childTnLst>
                          </p:cTn>
                        </p:par>
                        <p:par>
                          <p:cTn id="827" nodeType="afterEffect" fill="hold">
                            <p:stCondLst>
                              <p:cond delay="500"/>
                            </p:stCondLst>
                            <p:childTnLst>
                              <p:par>
                                <p:cTn id="828" nodeType="afterEffect" fill="hold" presetClass="entr" presetID="22" presetSubtype="8">
                                  <p:stCondLst>
                                    <p:cond delay="0"/>
                                  </p:stCondLst>
                                  <p:childTnLst>
                                    <p:set>
                                      <p:cBhvr>
                                        <p:cTn id="829" dur="1" fill="hold">
                                          <p:stCondLst>
                                            <p:cond delay="0"/>
                                          </p:stCondLst>
                                        </p:cTn>
                                        <p:tgtEl>
                                          <p:spTgt spid="673"/>
                                        </p:tgtEl>
                                        <p:attrNameLst>
                                          <p:attrName>style.visibility</p:attrName>
                                        </p:attrNameLst>
                                      </p:cBhvr>
                                      <p:to>
                                        <p:strVal val="visible"/>
                                      </p:to>
                                    </p:set>
                                    <p:animEffect filter="wipe(left)" transition="in">
                                      <p:cBhvr additive="repl">
                                        <p:cTn id="830" dur="500"/>
                                        <p:tgtEl>
                                          <p:spTgt spid="673"/>
                                        </p:tgtEl>
                                      </p:cBhvr>
                                    </p:animEffect>
                                  </p:childTnLst>
                                </p:cTn>
                              </p:par>
                            </p:childTnLst>
                          </p:cTn>
                        </p:par>
                      </p:childTnLst>
                    </p:cTn>
                  </p:par>
                  <p:par>
                    <p:cTn id="831" nodeType="clickEffect" fill="hold">
                      <p:stCondLst>
                        <p:cond delay="indefinite"/>
                      </p:stCondLst>
                      <p:childTnLst>
                        <p:par>
                          <p:cTn id="832" nodeType="withEffect" fill="hold">
                            <p:stCondLst>
                              <p:cond delay="0"/>
                            </p:stCondLst>
                            <p:childTnLst>
                              <p:par>
                                <p:cTn id="833" nodeType="clickEffect" fill="hold" presetClass="entr" presetID="53" presetSubtype="16">
                                  <p:stCondLst>
                                    <p:cond delay="0"/>
                                  </p:stCondLst>
                                  <p:childTnLst>
                                    <p:set>
                                      <p:cBhvr>
                                        <p:cTn id="834" dur="1" fill="hold">
                                          <p:stCondLst>
                                            <p:cond delay="0"/>
                                          </p:stCondLst>
                                        </p:cTn>
                                        <p:tgtEl>
                                          <p:spTgt spid="670"/>
                                        </p:tgtEl>
                                        <p:attrNameLst>
                                          <p:attrName>style.visibility</p:attrName>
                                        </p:attrNameLst>
                                      </p:cBhvr>
                                      <p:to>
                                        <p:strVal val="visible"/>
                                      </p:to>
                                    </p:set>
                                    <p:anim calcmode="lin" valueType="num">
                                      <p:cBhvr additive="repl">
                                        <p:cTn id="835" dur="500" fill="hold"/>
                                        <p:tgtEl>
                                          <p:spTgt spid="670"/>
                                        </p:tgtEl>
                                        <p:attrNameLst>
                                          <p:attrName>ppt_w</p:attrName>
                                        </p:attrNameLst>
                                      </p:cBhvr>
                                      <p:tavLst>
                                        <p:tav tm="0">
                                          <p:val>
                                            <p:fltVal val="0"/>
                                          </p:val>
                                        </p:tav>
                                        <p:tav tm="100000">
                                          <p:val>
                                            <p:strVal val="#ppt_w"/>
                                          </p:val>
                                        </p:tav>
                                      </p:tavLst>
                                    </p:anim>
                                    <p:anim calcmode="lin" valueType="num">
                                      <p:cBhvr additive="repl">
                                        <p:cTn id="836" dur="500" fill="hold"/>
                                        <p:tgtEl>
                                          <p:spTgt spid="670"/>
                                        </p:tgtEl>
                                        <p:attrNameLst>
                                          <p:attrName>ppt_h</p:attrName>
                                        </p:attrNameLst>
                                      </p:cBhvr>
                                      <p:tavLst>
                                        <p:tav tm="0">
                                          <p:val>
                                            <p:fltVal val="0"/>
                                          </p:val>
                                        </p:tav>
                                        <p:tav tm="100000">
                                          <p:val>
                                            <p:strVal val="#ppt_h"/>
                                          </p:val>
                                        </p:tav>
                                      </p:tavLst>
                                    </p:anim>
                                    <p:animEffect filter="fade" transition="in">
                                      <p:cBhvr additive="repl">
                                        <p:cTn id="837" dur="500"/>
                                        <p:tgtEl>
                                          <p:spTgt spid="670"/>
                                        </p:tgtEl>
                                      </p:cBhvr>
                                    </p:animEffect>
                                  </p:childTnLst>
                                </p:cTn>
                              </p:par>
                            </p:childTnLst>
                          </p:cTn>
                        </p:par>
                        <p:par>
                          <p:cTn id="838" nodeType="afterEffect" fill="hold">
                            <p:stCondLst>
                              <p:cond delay="500"/>
                            </p:stCondLst>
                            <p:childTnLst>
                              <p:par>
                                <p:cTn id="839" nodeType="afterEffect" fill="hold" presetClass="entr" presetID="22" presetSubtype="4">
                                  <p:stCondLst>
                                    <p:cond delay="0"/>
                                  </p:stCondLst>
                                  <p:childTnLst>
                                    <p:set>
                                      <p:cBhvr>
                                        <p:cTn id="840" dur="1" fill="hold">
                                          <p:stCondLst>
                                            <p:cond delay="0"/>
                                          </p:stCondLst>
                                        </p:cTn>
                                        <p:tgtEl>
                                          <p:spTgt spid="674"/>
                                        </p:tgtEl>
                                        <p:attrNameLst>
                                          <p:attrName>style.visibility</p:attrName>
                                        </p:attrNameLst>
                                      </p:cBhvr>
                                      <p:to>
                                        <p:strVal val="visible"/>
                                      </p:to>
                                    </p:set>
                                    <p:animEffect filter="wipe(down)" transition="in">
                                      <p:cBhvr additive="repl">
                                        <p:cTn id="841" dur="500"/>
                                        <p:tgtEl>
                                          <p:spTgt spid="674"/>
                                        </p:tgtEl>
                                      </p:cBhvr>
                                    </p:animEffect>
                                  </p:childTnLst>
                                </p:cTn>
                              </p:par>
                            </p:childTnLst>
                          </p:cTn>
                        </p:par>
                      </p:childTnLst>
                    </p:cTn>
                  </p:par>
                  <p:par>
                    <p:cTn id="842" nodeType="clickEffect" fill="hold">
                      <p:stCondLst>
                        <p:cond delay="indefinite"/>
                      </p:stCondLst>
                      <p:childTnLst>
                        <p:par>
                          <p:cTn id="843" nodeType="withEffect" fill="hold">
                            <p:stCondLst>
                              <p:cond delay="0"/>
                            </p:stCondLst>
                            <p:childTnLst>
                              <p:par>
                                <p:cTn id="844" nodeType="clickEffect" fill="hold" presetClass="entr" presetID="22" presetSubtype="2">
                                  <p:stCondLst>
                                    <p:cond delay="0"/>
                                  </p:stCondLst>
                                  <p:childTnLst>
                                    <p:set>
                                      <p:cBhvr>
                                        <p:cTn id="845" dur="1" fill="hold">
                                          <p:stCondLst>
                                            <p:cond delay="0"/>
                                          </p:stCondLst>
                                        </p:cTn>
                                        <p:tgtEl>
                                          <p:spTgt spid="665"/>
                                        </p:tgtEl>
                                        <p:attrNameLst>
                                          <p:attrName>style.visibility</p:attrName>
                                        </p:attrNameLst>
                                      </p:cBhvr>
                                      <p:to>
                                        <p:strVal val="visible"/>
                                      </p:to>
                                    </p:set>
                                    <p:animEffect filter="wipe(right)" transition="in">
                                      <p:cBhvr additive="repl">
                                        <p:cTn id="846" dur="500"/>
                                        <p:tgtEl>
                                          <p:spTgt spid="665"/>
                                        </p:tgtEl>
                                      </p:cBhvr>
                                    </p:animEffect>
                                  </p:childTnLst>
                                </p:cTn>
                              </p:par>
                              <p:par>
                                <p:cTn id="847" nodeType="withEffect" fill="hold" presetClass="entr" presetID="22" presetSubtype="2">
                                  <p:stCondLst>
                                    <p:cond delay="0"/>
                                  </p:stCondLst>
                                  <p:childTnLst>
                                    <p:set>
                                      <p:cBhvr>
                                        <p:cTn id="848" dur="1" fill="hold">
                                          <p:stCondLst>
                                            <p:cond delay="0"/>
                                          </p:stCondLst>
                                        </p:cTn>
                                        <p:tgtEl>
                                          <p:spTgt spid="668"/>
                                        </p:tgtEl>
                                        <p:attrNameLst>
                                          <p:attrName>style.visibility</p:attrName>
                                        </p:attrNameLst>
                                      </p:cBhvr>
                                      <p:to>
                                        <p:strVal val="visible"/>
                                      </p:to>
                                    </p:set>
                                    <p:animEffect filter="wipe(right)" transition="in">
                                      <p:cBhvr additive="repl">
                                        <p:cTn id="849" dur="500"/>
                                        <p:tgtEl>
                                          <p:spTgt spid="668"/>
                                        </p:tgtEl>
                                      </p:cBhvr>
                                    </p:animEffect>
                                  </p:childTnLst>
                                </p:cTn>
                              </p:par>
                            </p:childTnLst>
                          </p:cTn>
                        </p:par>
                        <p:par>
                          <p:cTn id="850" nodeType="afterEffect" fill="hold">
                            <p:stCondLst>
                              <p:cond delay="500"/>
                            </p:stCondLst>
                            <p:childTnLst>
                              <p:par>
                                <p:cTn id="851" nodeType="afterEffect" fill="hold" presetClass="entr" presetID="5" presetSubtype="5">
                                  <p:stCondLst>
                                    <p:cond delay="0"/>
                                  </p:stCondLst>
                                  <p:childTnLst>
                                    <p:set>
                                      <p:cBhvr>
                                        <p:cTn id="852" dur="1" fill="hold">
                                          <p:stCondLst>
                                            <p:cond delay="0"/>
                                          </p:stCondLst>
                                        </p:cTn>
                                        <p:tgtEl>
                                          <p:spTgt spid="663"/>
                                        </p:tgtEl>
                                        <p:attrNameLst>
                                          <p:attrName>style.visibility</p:attrName>
                                        </p:attrNameLst>
                                      </p:cBhvr>
                                      <p:to>
                                        <p:strVal val="visible"/>
                                      </p:to>
                                    </p:set>
                                    <p:animEffect filter="checkerboard(down)" transition="in">
                                      <p:cBhvr additive="repl">
                                        <p:cTn id="853" dur="500"/>
                                        <p:tgtEl>
                                          <p:spTgt spid="663"/>
                                        </p:tgtEl>
                                      </p:cBhvr>
                                    </p:animEffect>
                                  </p:childTnLst>
                                </p:cTn>
                              </p:par>
                            </p:childTnLst>
                          </p:cTn>
                        </p:par>
                        <p:par>
                          <p:cTn id="854" nodeType="afterEffect" fill="hold">
                            <p:stCondLst>
                              <p:cond delay="1000"/>
                            </p:stCondLst>
                            <p:childTnLst>
                              <p:par>
                                <p:cTn id="855" nodeType="afterEffect" fill="hold" presetClass="entr" presetID="53" presetSubtype="16">
                                  <p:stCondLst>
                                    <p:cond delay="0"/>
                                  </p:stCondLst>
                                  <p:childTnLst>
                                    <p:set>
                                      <p:cBhvr>
                                        <p:cTn id="856" dur="1" fill="hold">
                                          <p:stCondLst>
                                            <p:cond delay="0"/>
                                          </p:stCondLst>
                                        </p:cTn>
                                        <p:tgtEl>
                                          <p:spTgt spid="671"/>
                                        </p:tgtEl>
                                        <p:attrNameLst>
                                          <p:attrName>style.visibility</p:attrName>
                                        </p:attrNameLst>
                                      </p:cBhvr>
                                      <p:to>
                                        <p:strVal val="visible"/>
                                      </p:to>
                                    </p:set>
                                    <p:anim calcmode="lin" valueType="num">
                                      <p:cBhvr additive="repl">
                                        <p:cTn id="857" dur="500" fill="hold"/>
                                        <p:tgtEl>
                                          <p:spTgt spid="671"/>
                                        </p:tgtEl>
                                        <p:attrNameLst>
                                          <p:attrName>ppt_w</p:attrName>
                                        </p:attrNameLst>
                                      </p:cBhvr>
                                      <p:tavLst>
                                        <p:tav tm="0">
                                          <p:val>
                                            <p:fltVal val="0"/>
                                          </p:val>
                                        </p:tav>
                                        <p:tav tm="100000">
                                          <p:val>
                                            <p:strVal val="#ppt_w"/>
                                          </p:val>
                                        </p:tav>
                                      </p:tavLst>
                                    </p:anim>
                                    <p:anim calcmode="lin" valueType="num">
                                      <p:cBhvr additive="repl">
                                        <p:cTn id="858" dur="500" fill="hold"/>
                                        <p:tgtEl>
                                          <p:spTgt spid="671"/>
                                        </p:tgtEl>
                                        <p:attrNameLst>
                                          <p:attrName>ppt_h</p:attrName>
                                        </p:attrNameLst>
                                      </p:cBhvr>
                                      <p:tavLst>
                                        <p:tav tm="0">
                                          <p:val>
                                            <p:fltVal val="0"/>
                                          </p:val>
                                        </p:tav>
                                        <p:tav tm="100000">
                                          <p:val>
                                            <p:strVal val="#ppt_h"/>
                                          </p:val>
                                        </p:tav>
                                      </p:tavLst>
                                    </p:anim>
                                    <p:animEffect filter="fade" transition="in">
                                      <p:cBhvr additive="repl">
                                        <p:cTn id="859" dur="500"/>
                                        <p:tgtEl>
                                          <p:spTgt spid="671"/>
                                        </p:tgtEl>
                                      </p:cBhvr>
                                    </p:animEffect>
                                  </p:childTnLst>
                                </p:cTn>
                              </p:par>
                            </p:childTnLst>
                          </p:cTn>
                        </p:par>
                      </p:childTnLst>
                    </p:cTn>
                  </p:par>
                  <p:par>
                    <p:cTn id="860" nodeType="clickEffect" fill="hold">
                      <p:stCondLst>
                        <p:cond delay="indefinite"/>
                      </p:stCondLst>
                      <p:childTnLst>
                        <p:par>
                          <p:cTn id="861" nodeType="withEffect" fill="hold">
                            <p:stCondLst>
                              <p:cond delay="0"/>
                            </p:stCondLst>
                            <p:childTnLst>
                              <p:par>
                                <p:cTn id="862" nodeType="clickEffect" fill="hold" presetClass="entr" presetID="22" presetSubtype="1">
                                  <p:stCondLst>
                                    <p:cond delay="0"/>
                                  </p:stCondLst>
                                  <p:childTnLst>
                                    <p:set>
                                      <p:cBhvr>
                                        <p:cTn id="863" dur="1" fill="hold">
                                          <p:stCondLst>
                                            <p:cond delay="0"/>
                                          </p:stCondLst>
                                        </p:cTn>
                                        <p:tgtEl>
                                          <p:spTgt spid="666"/>
                                        </p:tgtEl>
                                        <p:attrNameLst>
                                          <p:attrName>style.visibility</p:attrName>
                                        </p:attrNameLst>
                                      </p:cBhvr>
                                      <p:to>
                                        <p:strVal val="visible"/>
                                      </p:to>
                                    </p:set>
                                    <p:animEffect filter="wipe(up)" transition="in">
                                      <p:cBhvr additive="repl">
                                        <p:cTn id="864" dur="500"/>
                                        <p:tgtEl>
                                          <p:spTgt spid="666"/>
                                        </p:tgtEl>
                                      </p:cBhvr>
                                    </p:animEffect>
                                  </p:childTnLst>
                                </p:cTn>
                              </p:par>
                              <p:par>
                                <p:cTn id="865" nodeType="withEffect" fill="hold" presetClass="entr" presetID="22" presetSubtype="1">
                                  <p:stCondLst>
                                    <p:cond delay="0"/>
                                  </p:stCondLst>
                                  <p:childTnLst>
                                    <p:set>
                                      <p:cBhvr>
                                        <p:cTn id="866" dur="1" fill="hold">
                                          <p:stCondLst>
                                            <p:cond delay="0"/>
                                          </p:stCondLst>
                                        </p:cTn>
                                        <p:tgtEl>
                                          <p:spTgt spid="667"/>
                                        </p:tgtEl>
                                        <p:attrNameLst>
                                          <p:attrName>style.visibility</p:attrName>
                                        </p:attrNameLst>
                                      </p:cBhvr>
                                      <p:to>
                                        <p:strVal val="visible"/>
                                      </p:to>
                                    </p:set>
                                    <p:animEffect filter="wipe(up)" transition="in">
                                      <p:cBhvr additive="repl">
                                        <p:cTn id="867" dur="500"/>
                                        <p:tgtEl>
                                          <p:spTgt spid="667"/>
                                        </p:tgtEl>
                                      </p:cBhvr>
                                    </p:animEffect>
                                  </p:childTnLst>
                                </p:cTn>
                              </p:par>
                            </p:childTnLst>
                          </p:cTn>
                        </p:par>
                        <p:par>
                          <p:cTn id="868" nodeType="afterEffect" fill="hold">
                            <p:stCondLst>
                              <p:cond delay="500"/>
                            </p:stCondLst>
                            <p:childTnLst>
                              <p:par>
                                <p:cTn id="869" nodeType="afterEffect" fill="hold" presetClass="entr" presetID="53" presetSubtype="16" repeatCount="1000">
                                  <p:stCondLst>
                                    <p:cond delay="0"/>
                                  </p:stCondLst>
                                  <p:childTnLst>
                                    <p:set>
                                      <p:cBhvr>
                                        <p:cTn id="870" dur="1" fill="hold">
                                          <p:stCondLst>
                                            <p:cond delay="0"/>
                                          </p:stCondLst>
                                        </p:cTn>
                                        <p:tgtEl>
                                          <p:spTgt spid="664"/>
                                        </p:tgtEl>
                                        <p:attrNameLst>
                                          <p:attrName>style.visibility</p:attrName>
                                        </p:attrNameLst>
                                      </p:cBhvr>
                                      <p:to>
                                        <p:strVal val="visible"/>
                                      </p:to>
                                    </p:set>
                                    <p:anim calcmode="lin" valueType="num">
                                      <p:cBhvr additive="repl">
                                        <p:cTn id="871" dur="1250" fill="hold"/>
                                        <p:tgtEl>
                                          <p:spTgt spid="664"/>
                                        </p:tgtEl>
                                        <p:attrNameLst>
                                          <p:attrName>ppt_w</p:attrName>
                                        </p:attrNameLst>
                                      </p:cBhvr>
                                      <p:tavLst>
                                        <p:tav tm="0">
                                          <p:val>
                                            <p:fltVal val="0"/>
                                          </p:val>
                                        </p:tav>
                                        <p:tav tm="100000">
                                          <p:val>
                                            <p:strVal val="#ppt_w"/>
                                          </p:val>
                                        </p:tav>
                                      </p:tavLst>
                                    </p:anim>
                                    <p:anim calcmode="lin" valueType="num">
                                      <p:cBhvr additive="repl">
                                        <p:cTn id="872" dur="1250" fill="hold"/>
                                        <p:tgtEl>
                                          <p:spTgt spid="664"/>
                                        </p:tgtEl>
                                        <p:attrNameLst>
                                          <p:attrName>ppt_h</p:attrName>
                                        </p:attrNameLst>
                                      </p:cBhvr>
                                      <p:tavLst>
                                        <p:tav tm="0">
                                          <p:val>
                                            <p:fltVal val="0"/>
                                          </p:val>
                                        </p:tav>
                                        <p:tav tm="100000">
                                          <p:val>
                                            <p:strVal val="#ppt_h"/>
                                          </p:val>
                                        </p:tav>
                                      </p:tavLst>
                                    </p:anim>
                                    <p:animEffect filter="fade" transition="in">
                                      <p:cBhvr additive="repl">
                                        <p:cTn id="873" dur="1250"/>
                                        <p:tgtEl>
                                          <p:spTgt spid="664"/>
                                        </p:tgtEl>
                                      </p:cBhvr>
                                    </p:animEffect>
                                  </p:childTnLst>
                                </p:cTn>
                              </p:par>
                            </p:childTnLst>
                          </p:cTn>
                        </p:par>
                        <p:par>
                          <p:cTn id="874" nodeType="afterEffect" fill="hold">
                            <p:stCondLst>
                              <p:cond delay="1750"/>
                            </p:stCondLst>
                            <p:childTnLst>
                              <p:par>
                                <p:cTn id="875" nodeType="afterEffect" fill="hold" presetClass="entr" presetID="53" presetSubtype="16">
                                  <p:stCondLst>
                                    <p:cond delay="0"/>
                                  </p:stCondLst>
                                  <p:childTnLst>
                                    <p:set>
                                      <p:cBhvr>
                                        <p:cTn id="876" dur="1" fill="hold">
                                          <p:stCondLst>
                                            <p:cond delay="0"/>
                                          </p:stCondLst>
                                        </p:cTn>
                                        <p:tgtEl>
                                          <p:spTgt spid="672"/>
                                        </p:tgtEl>
                                        <p:attrNameLst>
                                          <p:attrName>style.visibility</p:attrName>
                                        </p:attrNameLst>
                                      </p:cBhvr>
                                      <p:to>
                                        <p:strVal val="visible"/>
                                      </p:to>
                                    </p:set>
                                    <p:anim calcmode="lin" valueType="num">
                                      <p:cBhvr additive="repl">
                                        <p:cTn id="877" dur="500" fill="hold"/>
                                        <p:tgtEl>
                                          <p:spTgt spid="672"/>
                                        </p:tgtEl>
                                        <p:attrNameLst>
                                          <p:attrName>ppt_w</p:attrName>
                                        </p:attrNameLst>
                                      </p:cBhvr>
                                      <p:tavLst>
                                        <p:tav tm="0">
                                          <p:val>
                                            <p:fltVal val="0"/>
                                          </p:val>
                                        </p:tav>
                                        <p:tav tm="100000">
                                          <p:val>
                                            <p:strVal val="#ppt_w"/>
                                          </p:val>
                                        </p:tav>
                                      </p:tavLst>
                                    </p:anim>
                                    <p:anim calcmode="lin" valueType="num">
                                      <p:cBhvr additive="repl">
                                        <p:cTn id="878" dur="500" fill="hold"/>
                                        <p:tgtEl>
                                          <p:spTgt spid="672"/>
                                        </p:tgtEl>
                                        <p:attrNameLst>
                                          <p:attrName>ppt_h</p:attrName>
                                        </p:attrNameLst>
                                      </p:cBhvr>
                                      <p:tavLst>
                                        <p:tav tm="0">
                                          <p:val>
                                            <p:fltVal val="0"/>
                                          </p:val>
                                        </p:tav>
                                        <p:tav tm="100000">
                                          <p:val>
                                            <p:strVal val="#ppt_h"/>
                                          </p:val>
                                        </p:tav>
                                      </p:tavLst>
                                    </p:anim>
                                    <p:animEffect filter="fade" transition="in">
                                      <p:cBhvr additive="repl">
                                        <p:cTn id="879" dur="500"/>
                                        <p:tgtEl>
                                          <p:spTgt spid="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Connecteur droit 2"/>
          <p:cNvSpPr/>
          <p:nvPr/>
        </p:nvSpPr>
        <p:spPr>
          <a:xfrm>
            <a:off x="3276720" y="333360"/>
            <a:ext cx="647640" cy="792000"/>
          </a:xfrm>
          <a:prstGeom prst="line">
            <a:avLst/>
          </a:prstGeom>
          <a:ln w="381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77" name="Connecteur droit 4"/>
          <p:cNvSpPr/>
          <p:nvPr/>
        </p:nvSpPr>
        <p:spPr>
          <a:xfrm flipH="1">
            <a:off x="4284360" y="333360"/>
            <a:ext cx="718920" cy="792000"/>
          </a:xfrm>
          <a:prstGeom prst="line">
            <a:avLst/>
          </a:prstGeom>
          <a:ln w="381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78" name="Connecteur droit 6"/>
          <p:cNvSpPr/>
          <p:nvPr/>
        </p:nvSpPr>
        <p:spPr>
          <a:xfrm>
            <a:off x="3924360" y="1125360"/>
            <a:ext cx="0" cy="574920"/>
          </a:xfrm>
          <a:prstGeom prst="line">
            <a:avLst/>
          </a:prstGeom>
          <a:ln w="381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79" name="Connecteur droit 8"/>
          <p:cNvSpPr/>
          <p:nvPr/>
        </p:nvSpPr>
        <p:spPr>
          <a:xfrm>
            <a:off x="4284720" y="1125360"/>
            <a:ext cx="0" cy="574920"/>
          </a:xfrm>
          <a:prstGeom prst="line">
            <a:avLst/>
          </a:prstGeom>
          <a:ln w="381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0" name="Ellipse 9"/>
          <p:cNvSpPr/>
          <p:nvPr/>
        </p:nvSpPr>
        <p:spPr>
          <a:xfrm>
            <a:off x="3492360" y="1700280"/>
            <a:ext cx="1224000" cy="1081080"/>
          </a:xfrm>
          <a:prstGeom prst="ellipse">
            <a:avLst/>
          </a:prstGeom>
          <a:noFill/>
          <a:ln w="19080">
            <a:solidFill>
              <a:srgbClr val="ffff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cxnSp>
        <p:nvCxnSpPr>
          <p:cNvPr id="681" name="Connecteur droit avec flèche 16"/>
          <p:cNvCxnSpPr/>
          <p:nvPr/>
        </p:nvCxnSpPr>
        <p:spPr>
          <a:xfrm flipH="1">
            <a:off x="4102920" y="1052280"/>
            <a:ext cx="1080" cy="1189800"/>
          </a:xfrm>
          <a:prstGeom prst="straightConnector1">
            <a:avLst/>
          </a:prstGeom>
          <a:ln w="28440">
            <a:solidFill>
              <a:srgbClr val="ffffff"/>
            </a:solidFill>
            <a:prstDash val="sysDash"/>
            <a:miter/>
            <a:tailEnd len="med" type="arrow" w="med"/>
          </a:ln>
        </p:spPr>
      </p:cxnSp>
      <p:sp>
        <p:nvSpPr>
          <p:cNvPr id="682" name="Ellipse 17"/>
          <p:cNvSpPr/>
          <p:nvPr/>
        </p:nvSpPr>
        <p:spPr>
          <a:xfrm>
            <a:off x="2556000" y="3753000"/>
            <a:ext cx="3313080" cy="3024000"/>
          </a:xfrm>
          <a:prstGeom prst="ellipse">
            <a:avLst/>
          </a:prstGeom>
          <a:noFill/>
          <a:ln w="1908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3" name="Ellipse 18"/>
          <p:cNvSpPr/>
          <p:nvPr/>
        </p:nvSpPr>
        <p:spPr>
          <a:xfrm>
            <a:off x="2674800" y="4668840"/>
            <a:ext cx="1177920" cy="1208160"/>
          </a:xfrm>
          <a:prstGeom prst="ellipse">
            <a:avLst/>
          </a:prstGeom>
          <a:noFill/>
          <a:ln w="1908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4" name="Lune 19"/>
          <p:cNvSpPr/>
          <p:nvPr/>
        </p:nvSpPr>
        <p:spPr>
          <a:xfrm rot="15964200">
            <a:off x="3163320" y="4537800"/>
            <a:ext cx="163800" cy="195480"/>
          </a:xfrm>
          <a:custGeom>
            <a:avLst/>
            <a:gdLst>
              <a:gd name="GluePoint1X" fmla="*/ 21600 w 21600"/>
              <a:gd name="GluePoint1Y" fmla="*/ 0 h 21600"/>
              <a:gd name="GluePoint2X" fmla="*/ 0 w 21600"/>
              <a:gd name="GluePoint2Y" fmla="*/ 10800 h 21600"/>
              <a:gd name="GluePoint3X" fmla="*/ 21600 w 21600"/>
              <a:gd name="GluePoint3Y" fmla="*/ 21600 h 21600"/>
              <a:gd name="GluePoint4X" fmla="*/ 0 w 21600"/>
              <a:gd name="GluePoint4Y" fmla="*/ 10800 h 21600"/>
            </a:gdLst>
            <a:ahLst/>
            <a:cxnLst>
              <a:cxn ang="0">
                <a:pos x="GluePoint1X" y="GluePoint1Y"/>
              </a:cxn>
              <a:cxn ang="0">
                <a:pos x="GluePoint2X" y="GluePoint2Y"/>
              </a:cxn>
              <a:cxn ang="0">
                <a:pos x="GluePoint3X" y="GluePoint3Y"/>
              </a:cxn>
              <a:cxn ang="0">
                <a:pos x="GluePoint4X" y="GluePoint4Y"/>
              </a:cxn>
            </a:cxnLst>
            <a:rect l="l" t="t" r="r" b="b"/>
            <a:pathLst>
              <a:path w="21600" h="21600">
                <a:moveTo>
                  <a:pt x="21600" y="0"/>
                </a:moveTo>
                <a:cubicBezTo>
                  <a:pt x="16200" y="1938"/>
                  <a:pt x="10800" y="5080"/>
                  <a:pt x="10800" y="10800"/>
                </a:cubicBezTo>
                <a:cubicBezTo>
                  <a:pt x="10800" y="16520"/>
                  <a:pt x="16200" y="19662"/>
                  <a:pt x="21600" y="21600"/>
                </a:cubicBezTo>
                <a:cubicBezTo>
                  <a:pt x="9740" y="21600"/>
                  <a:pt x="0" y="16730"/>
                  <a:pt x="0" y="10800"/>
                </a:cubicBezTo>
                <a:cubicBezTo>
                  <a:pt x="0" y="4870"/>
                  <a:pt x="9740" y="0"/>
                  <a:pt x="21600" y="0"/>
                </a:cubicBezTo>
                <a:close/>
              </a:path>
            </a:pathLst>
          </a:custGeom>
          <a:solidFill>
            <a:srgbClr val="ffff00"/>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5" name="Lune 21"/>
          <p:cNvSpPr/>
          <p:nvPr/>
        </p:nvSpPr>
        <p:spPr>
          <a:xfrm flipH="1" rot="581400">
            <a:off x="4180320" y="5024160"/>
            <a:ext cx="157320" cy="225720"/>
          </a:xfrm>
          <a:custGeom>
            <a:avLst/>
            <a:gdLst>
              <a:gd name="GluePoint1X" fmla="*/ 21600 w 21600"/>
              <a:gd name="GluePoint1Y" fmla="*/ 0 h 21600"/>
              <a:gd name="GluePoint2X" fmla="*/ 0 w 21600"/>
              <a:gd name="GluePoint2Y" fmla="*/ 10800 h 21600"/>
              <a:gd name="GluePoint3X" fmla="*/ 21600 w 21600"/>
              <a:gd name="GluePoint3Y" fmla="*/ 21600 h 21600"/>
              <a:gd name="GluePoint4X" fmla="*/ 0 w 21600"/>
              <a:gd name="GluePoint4Y" fmla="*/ 10800 h 21600"/>
            </a:gdLst>
            <a:ahLst/>
            <a:cxnLst>
              <a:cxn ang="0">
                <a:pos x="GluePoint1X" y="GluePoint1Y"/>
              </a:cxn>
              <a:cxn ang="0">
                <a:pos x="GluePoint2X" y="GluePoint2Y"/>
              </a:cxn>
              <a:cxn ang="0">
                <a:pos x="GluePoint3X" y="GluePoint3Y"/>
              </a:cxn>
              <a:cxn ang="0">
                <a:pos x="GluePoint4X" y="GluePoint4Y"/>
              </a:cxn>
            </a:cxnLst>
            <a:rect l="l" t="t" r="r" b="b"/>
            <a:pathLst>
              <a:path w="21600" h="21600">
                <a:moveTo>
                  <a:pt x="21600" y="0"/>
                </a:moveTo>
                <a:cubicBezTo>
                  <a:pt x="16200" y="1938"/>
                  <a:pt x="10800" y="5080"/>
                  <a:pt x="10800" y="10800"/>
                </a:cubicBezTo>
                <a:cubicBezTo>
                  <a:pt x="10800" y="16520"/>
                  <a:pt x="16200" y="19662"/>
                  <a:pt x="21600" y="21600"/>
                </a:cubicBezTo>
                <a:cubicBezTo>
                  <a:pt x="9740" y="21600"/>
                  <a:pt x="0" y="16730"/>
                  <a:pt x="0" y="10800"/>
                </a:cubicBezTo>
                <a:cubicBezTo>
                  <a:pt x="0" y="4870"/>
                  <a:pt x="9740" y="0"/>
                  <a:pt x="21600" y="0"/>
                </a:cubicBezTo>
                <a:close/>
              </a:path>
            </a:pathLst>
          </a:custGeom>
          <a:solidFill>
            <a:srgbClr val="ffff00"/>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6" name="Lune 22"/>
          <p:cNvSpPr/>
          <p:nvPr/>
        </p:nvSpPr>
        <p:spPr>
          <a:xfrm rot="15964200">
            <a:off x="4825080" y="4307400"/>
            <a:ext cx="155520" cy="290520"/>
          </a:xfrm>
          <a:custGeom>
            <a:avLst/>
            <a:gdLst>
              <a:gd name="GluePoint1X" fmla="*/ 21600 w 21600"/>
              <a:gd name="GluePoint1Y" fmla="*/ 0 h 21600"/>
              <a:gd name="GluePoint2X" fmla="*/ 0 w 21600"/>
              <a:gd name="GluePoint2Y" fmla="*/ 10800 h 21600"/>
              <a:gd name="GluePoint3X" fmla="*/ 21600 w 21600"/>
              <a:gd name="GluePoint3Y" fmla="*/ 21600 h 21600"/>
              <a:gd name="GluePoint4X" fmla="*/ 0 w 21600"/>
              <a:gd name="GluePoint4Y" fmla="*/ 10800 h 21600"/>
            </a:gdLst>
            <a:ahLst/>
            <a:cxnLst>
              <a:cxn ang="0">
                <a:pos x="GluePoint1X" y="GluePoint1Y"/>
              </a:cxn>
              <a:cxn ang="0">
                <a:pos x="GluePoint2X" y="GluePoint2Y"/>
              </a:cxn>
              <a:cxn ang="0">
                <a:pos x="GluePoint3X" y="GluePoint3Y"/>
              </a:cxn>
              <a:cxn ang="0">
                <a:pos x="GluePoint4X" y="GluePoint4Y"/>
              </a:cxn>
            </a:cxnLst>
            <a:rect l="l" t="t" r="r" b="b"/>
            <a:pathLst>
              <a:path w="21600" h="21600">
                <a:moveTo>
                  <a:pt x="21600" y="0"/>
                </a:moveTo>
                <a:cubicBezTo>
                  <a:pt x="16200" y="1938"/>
                  <a:pt x="10800" y="5080"/>
                  <a:pt x="10800" y="10800"/>
                </a:cubicBezTo>
                <a:cubicBezTo>
                  <a:pt x="10800" y="16520"/>
                  <a:pt x="16200" y="19662"/>
                  <a:pt x="21600" y="21600"/>
                </a:cubicBezTo>
                <a:cubicBezTo>
                  <a:pt x="9740" y="21600"/>
                  <a:pt x="0" y="16730"/>
                  <a:pt x="0" y="10800"/>
                </a:cubicBezTo>
                <a:cubicBezTo>
                  <a:pt x="0" y="4870"/>
                  <a:pt x="9740" y="0"/>
                  <a:pt x="21600" y="0"/>
                </a:cubicBezTo>
                <a:close/>
              </a:path>
            </a:pathLst>
          </a:custGeom>
          <a:solidFill>
            <a:srgbClr val="ffff00"/>
          </a:solidFill>
          <a:ln w="9360">
            <a:solidFill>
              <a:srgbClr val="ff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7" name="Ellipse 23"/>
          <p:cNvSpPr/>
          <p:nvPr/>
        </p:nvSpPr>
        <p:spPr>
          <a:xfrm>
            <a:off x="4273560" y="4505400"/>
            <a:ext cx="1522440" cy="1803240"/>
          </a:xfrm>
          <a:prstGeom prst="ellipse">
            <a:avLst/>
          </a:prstGeom>
          <a:noFill/>
          <a:ln w="1908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8" name="Ellipse 26"/>
          <p:cNvSpPr/>
          <p:nvPr/>
        </p:nvSpPr>
        <p:spPr>
          <a:xfrm>
            <a:off x="3267000" y="5627520"/>
            <a:ext cx="184320" cy="189000"/>
          </a:xfrm>
          <a:prstGeom prst="ellipse">
            <a:avLst/>
          </a:prstGeom>
          <a:solidFill>
            <a:srgbClr val="00cc99"/>
          </a:solidFill>
          <a:ln w="9360">
            <a:solidFill>
              <a:srgbClr val="ffff99"/>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89" name="Ellipse 27"/>
          <p:cNvSpPr/>
          <p:nvPr/>
        </p:nvSpPr>
        <p:spPr>
          <a:xfrm>
            <a:off x="5041800" y="4797360"/>
            <a:ext cx="185760" cy="187560"/>
          </a:xfrm>
          <a:prstGeom prst="ellipse">
            <a:avLst/>
          </a:prstGeom>
          <a:solidFill>
            <a:srgbClr val="ffff99"/>
          </a:solidFill>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90" name="Ellipse 28"/>
          <p:cNvSpPr/>
          <p:nvPr/>
        </p:nvSpPr>
        <p:spPr>
          <a:xfrm>
            <a:off x="5122800" y="5661000"/>
            <a:ext cx="457200" cy="504720"/>
          </a:xfrm>
          <a:prstGeom prst="ellipse">
            <a:avLst/>
          </a:prstGeom>
          <a:noFill/>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691" name="Ellipse 29"/>
          <p:cNvSpPr/>
          <p:nvPr/>
        </p:nvSpPr>
        <p:spPr>
          <a:xfrm>
            <a:off x="5284800" y="5877000"/>
            <a:ext cx="79200" cy="93600"/>
          </a:xfrm>
          <a:prstGeom prst="ellipse">
            <a:avLst/>
          </a:prstGeom>
          <a:solidFill>
            <a:srgbClr val="ffff99"/>
          </a:solidFill>
          <a:ln w="9360">
            <a:solidFill>
              <a:srgbClr val="ffff00"/>
            </a:solidFill>
            <a:miter/>
          </a:ln>
        </p:spPr>
        <p:style>
          <a:lnRef idx="0"/>
          <a:fillRef idx="0"/>
          <a:effectRef idx="0"/>
          <a:fontRef idx="minor"/>
        </p:style>
        <p:txBody>
          <a:bodyPr lIns="90000" rIns="90000" tIns="19440" bIns="19440" anchor="t">
            <a:noAutofit/>
          </a:bodyPr>
          <a:p>
            <a:endParaRPr b="0" lang="en-US" sz="2400" strike="noStrike" u="none">
              <a:solidFill>
                <a:srgbClr val="ffff00"/>
              </a:solidFill>
              <a:effectLst/>
              <a:uFillTx/>
              <a:latin typeface="Times New Roman"/>
            </a:endParaRPr>
          </a:p>
        </p:txBody>
      </p:sp>
      <p:cxnSp>
        <p:nvCxnSpPr>
          <p:cNvPr id="692" name="Connecteur droit avec flèche 31"/>
          <p:cNvCxnSpPr/>
          <p:nvPr/>
        </p:nvCxnSpPr>
        <p:spPr>
          <a:xfrm flipV="1">
            <a:off x="3205080" y="5136840"/>
            <a:ext cx="959760" cy="270720"/>
          </a:xfrm>
          <a:prstGeom prst="straightConnector1">
            <a:avLst/>
          </a:prstGeom>
          <a:ln w="28440">
            <a:solidFill>
              <a:srgbClr val="ffffff"/>
            </a:solidFill>
            <a:prstDash val="sysDash"/>
            <a:miter/>
            <a:tailEnd len="med" type="arrow" w="med"/>
          </a:ln>
        </p:spPr>
      </p:cxnSp>
      <p:sp>
        <p:nvSpPr>
          <p:cNvPr id="693" name="ZoneTexte 3"/>
          <p:cNvSpPr/>
          <p:nvPr/>
        </p:nvSpPr>
        <p:spPr>
          <a:xfrm>
            <a:off x="3349440" y="4273560"/>
            <a:ext cx="167580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Récepteur FSH</a:t>
            </a:r>
            <a:endParaRPr b="0" lang="en-US" sz="1400" strike="noStrike" u="none">
              <a:solidFill>
                <a:srgbClr val="ffff00"/>
              </a:solidFill>
              <a:effectLst/>
              <a:uFillTx/>
              <a:latin typeface="Times New Roman"/>
            </a:endParaRPr>
          </a:p>
        </p:txBody>
      </p:sp>
      <p:sp>
        <p:nvSpPr>
          <p:cNvPr id="694" name="ZoneTexte 23"/>
          <p:cNvSpPr/>
          <p:nvPr/>
        </p:nvSpPr>
        <p:spPr>
          <a:xfrm>
            <a:off x="1868040" y="4417920"/>
            <a:ext cx="15393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Récepteur LH</a:t>
            </a:r>
            <a:endParaRPr b="0" lang="en-US" sz="1400" strike="noStrike" u="none">
              <a:solidFill>
                <a:srgbClr val="ffff00"/>
              </a:solidFill>
              <a:effectLst/>
              <a:uFillTx/>
              <a:latin typeface="Times New Roman"/>
            </a:endParaRPr>
          </a:p>
        </p:txBody>
      </p:sp>
      <p:sp>
        <p:nvSpPr>
          <p:cNvPr id="695" name="ZoneTexte 4"/>
          <p:cNvSpPr/>
          <p:nvPr/>
        </p:nvSpPr>
        <p:spPr>
          <a:xfrm>
            <a:off x="1884960" y="1916280"/>
            <a:ext cx="181152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Antéhypohyse</a:t>
            </a:r>
            <a:endParaRPr b="0" lang="en-US" sz="1600" strike="noStrike" u="none">
              <a:solidFill>
                <a:srgbClr val="ffff00"/>
              </a:solidFill>
              <a:effectLst/>
              <a:uFillTx/>
              <a:latin typeface="Times New Roman"/>
            </a:endParaRPr>
          </a:p>
        </p:txBody>
      </p:sp>
      <p:sp>
        <p:nvSpPr>
          <p:cNvPr id="696" name="ZoneTexte 5"/>
          <p:cNvSpPr/>
          <p:nvPr/>
        </p:nvSpPr>
        <p:spPr>
          <a:xfrm>
            <a:off x="4515480" y="569880"/>
            <a:ext cx="18273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Hypothalamus</a:t>
            </a:r>
            <a:endParaRPr b="0" lang="en-US" sz="1600" strike="noStrike" u="none">
              <a:solidFill>
                <a:srgbClr val="ffff00"/>
              </a:solidFill>
              <a:effectLst/>
              <a:uFillTx/>
              <a:latin typeface="Times New Roman"/>
            </a:endParaRPr>
          </a:p>
        </p:txBody>
      </p:sp>
      <p:sp>
        <p:nvSpPr>
          <p:cNvPr id="697" name="ZoneTexte 6"/>
          <p:cNvSpPr/>
          <p:nvPr/>
        </p:nvSpPr>
        <p:spPr>
          <a:xfrm>
            <a:off x="4003200" y="1052640"/>
            <a:ext cx="350172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Système porte hypothalamo-</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hypophysaire</a:t>
            </a:r>
            <a:endParaRPr b="0" lang="en-US" sz="1600" strike="noStrike" u="none">
              <a:solidFill>
                <a:srgbClr val="ffff00"/>
              </a:solidFill>
              <a:effectLst/>
              <a:uFillTx/>
              <a:latin typeface="Times New Roman"/>
            </a:endParaRPr>
          </a:p>
        </p:txBody>
      </p:sp>
      <p:sp>
        <p:nvSpPr>
          <p:cNvPr id="698" name="ZoneTexte 7"/>
          <p:cNvSpPr/>
          <p:nvPr/>
        </p:nvSpPr>
        <p:spPr>
          <a:xfrm>
            <a:off x="1224360" y="5554800"/>
            <a:ext cx="158868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Production de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Testostérone</a:t>
            </a:r>
            <a:endParaRPr b="0" lang="en-US" sz="1400" strike="noStrike" u="none">
              <a:solidFill>
                <a:srgbClr val="ffff00"/>
              </a:solidFill>
              <a:effectLst/>
              <a:uFillTx/>
              <a:latin typeface="Times New Roman"/>
            </a:endParaRPr>
          </a:p>
        </p:txBody>
      </p:sp>
      <p:sp>
        <p:nvSpPr>
          <p:cNvPr id="699" name="ZoneTexte 8"/>
          <p:cNvSpPr/>
          <p:nvPr/>
        </p:nvSpPr>
        <p:spPr>
          <a:xfrm>
            <a:off x="4124880" y="5300640"/>
            <a:ext cx="19036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Cellule de Sertoli</a:t>
            </a:r>
            <a:endParaRPr b="0" lang="en-US" sz="1400" strike="noStrike" u="none">
              <a:solidFill>
                <a:srgbClr val="ffff00"/>
              </a:solidFill>
              <a:effectLst/>
              <a:uFillTx/>
              <a:latin typeface="Times New Roman"/>
            </a:endParaRPr>
          </a:p>
        </p:txBody>
      </p:sp>
      <p:sp>
        <p:nvSpPr>
          <p:cNvPr id="700" name="ZoneTexte 9"/>
          <p:cNvSpPr/>
          <p:nvPr/>
        </p:nvSpPr>
        <p:spPr>
          <a:xfrm>
            <a:off x="5486040" y="5816520"/>
            <a:ext cx="28044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Cellule germinale mâle</a:t>
            </a:r>
            <a:endParaRPr b="0" lang="en-US" sz="1600" strike="noStrike" u="none">
              <a:solidFill>
                <a:srgbClr val="ffff00"/>
              </a:solidFill>
              <a:effectLst/>
              <a:uFillTx/>
              <a:latin typeface="Times New Roman"/>
            </a:endParaRPr>
          </a:p>
        </p:txBody>
      </p:sp>
      <p:cxnSp>
        <p:nvCxnSpPr>
          <p:cNvPr id="701" name="Connecteur droit avec flèche 11"/>
          <p:cNvCxnSpPr/>
          <p:nvPr/>
        </p:nvCxnSpPr>
        <p:spPr>
          <a:xfrm flipH="1" flipV="1">
            <a:off x="5477760" y="5978160"/>
            <a:ext cx="391320" cy="8640"/>
          </a:xfrm>
          <a:prstGeom prst="straightConnector1">
            <a:avLst/>
          </a:prstGeom>
          <a:ln w="9360">
            <a:solidFill>
              <a:srgbClr val="ffffff"/>
            </a:solidFill>
            <a:miter/>
            <a:tailEnd len="med" type="arrow" w="med"/>
          </a:ln>
        </p:spPr>
      </p:cxnSp>
      <p:sp>
        <p:nvSpPr>
          <p:cNvPr id="702" name="ZoneTexte 14"/>
          <p:cNvSpPr/>
          <p:nvPr/>
        </p:nvSpPr>
        <p:spPr>
          <a:xfrm>
            <a:off x="2687760" y="4705200"/>
            <a:ext cx="1158480" cy="520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Cellule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de Leydig</a:t>
            </a:r>
            <a:endParaRPr b="0" lang="en-US" sz="1400" strike="noStrike" u="none">
              <a:solidFill>
                <a:srgbClr val="ffff00"/>
              </a:solidFill>
              <a:effectLst/>
              <a:uFillTx/>
              <a:latin typeface="Times New Roman"/>
            </a:endParaRPr>
          </a:p>
        </p:txBody>
      </p:sp>
      <p:sp>
        <p:nvSpPr>
          <p:cNvPr id="703" name="ZoneTexte 15"/>
          <p:cNvSpPr/>
          <p:nvPr/>
        </p:nvSpPr>
        <p:spPr>
          <a:xfrm>
            <a:off x="3595680" y="2266920"/>
            <a:ext cx="517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LH</a:t>
            </a:r>
            <a:endParaRPr b="0" lang="en-US" sz="1800" strike="noStrike" u="none">
              <a:solidFill>
                <a:srgbClr val="ffff00"/>
              </a:solidFill>
              <a:effectLst/>
              <a:uFillTx/>
              <a:latin typeface="Times New Roman"/>
            </a:endParaRPr>
          </a:p>
        </p:txBody>
      </p:sp>
      <p:sp>
        <p:nvSpPr>
          <p:cNvPr id="704" name="ZoneTexte 16"/>
          <p:cNvSpPr/>
          <p:nvPr/>
        </p:nvSpPr>
        <p:spPr>
          <a:xfrm>
            <a:off x="3984840" y="2276640"/>
            <a:ext cx="6930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Calibri"/>
                <a:ea typeface="Calibri"/>
              </a:rPr>
              <a:t>FSH</a:t>
            </a:r>
            <a:endParaRPr b="0" lang="en-US" sz="1800" strike="noStrike" u="none">
              <a:solidFill>
                <a:srgbClr val="ffff00"/>
              </a:solidFill>
              <a:effectLst/>
              <a:uFillTx/>
              <a:latin typeface="Times New Roman"/>
            </a:endParaRPr>
          </a:p>
        </p:txBody>
      </p:sp>
      <p:sp>
        <p:nvSpPr>
          <p:cNvPr id="705" name="Connecteur droit 18"/>
          <p:cNvSpPr/>
          <p:nvPr/>
        </p:nvSpPr>
        <p:spPr>
          <a:xfrm flipV="1">
            <a:off x="5796000" y="5260680"/>
            <a:ext cx="1655640" cy="12600"/>
          </a:xfrm>
          <a:prstGeom prst="line">
            <a:avLst/>
          </a:prstGeom>
          <a:ln w="19080">
            <a:solidFill>
              <a:srgbClr val="ffff00"/>
            </a:solidFill>
            <a:miter/>
            <a:tailEnd len="med" type="triangle" w="med"/>
          </a:ln>
        </p:spPr>
        <p:style>
          <a:lnRef idx="0"/>
          <a:fillRef idx="0"/>
          <a:effectRef idx="0"/>
          <a:fontRef idx="minor"/>
        </p:style>
        <p:txBody>
          <a:bodyPr lIns="90000" rIns="90000" tIns="-34200" bIns="-34200" anchor="t">
            <a:noAutofit/>
          </a:bodyPr>
          <a:p>
            <a:endParaRPr b="0" lang="en-US" sz="2400" strike="noStrike" u="none">
              <a:solidFill>
                <a:srgbClr val="ffff00"/>
              </a:solidFill>
              <a:effectLst/>
              <a:uFillTx/>
              <a:latin typeface="Times New Roman"/>
            </a:endParaRPr>
          </a:p>
        </p:txBody>
      </p:sp>
      <p:sp>
        <p:nvSpPr>
          <p:cNvPr id="706" name="Connecteur droit 25"/>
          <p:cNvSpPr/>
          <p:nvPr/>
        </p:nvSpPr>
        <p:spPr>
          <a:xfrm flipV="1">
            <a:off x="7451640" y="4076640"/>
            <a:ext cx="0" cy="11844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07" name="Connecteur droit 30"/>
          <p:cNvSpPr/>
          <p:nvPr/>
        </p:nvSpPr>
        <p:spPr>
          <a:xfrm flipH="1">
            <a:off x="1402920" y="5273640"/>
            <a:ext cx="134316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08" name="ZoneTexte 11263"/>
          <p:cNvSpPr/>
          <p:nvPr/>
        </p:nvSpPr>
        <p:spPr>
          <a:xfrm>
            <a:off x="6753960" y="3290760"/>
            <a:ext cx="1370520" cy="734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Inhibine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Activine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Follistatine</a:t>
            </a:r>
            <a:endParaRPr b="0" lang="en-US" sz="1400" strike="noStrike" u="none">
              <a:solidFill>
                <a:srgbClr val="ffff00"/>
              </a:solidFill>
              <a:effectLst/>
              <a:uFillTx/>
              <a:latin typeface="Times New Roman"/>
            </a:endParaRPr>
          </a:p>
        </p:txBody>
      </p:sp>
      <p:sp>
        <p:nvSpPr>
          <p:cNvPr id="709" name="Connecteur droit 11279"/>
          <p:cNvSpPr/>
          <p:nvPr/>
        </p:nvSpPr>
        <p:spPr>
          <a:xfrm flipV="1">
            <a:off x="7451640" y="2398680"/>
            <a:ext cx="0" cy="8920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cxnSp>
        <p:nvCxnSpPr>
          <p:cNvPr id="710" name="Connecteur droit avec flèche 11285"/>
          <p:cNvCxnSpPr/>
          <p:nvPr/>
        </p:nvCxnSpPr>
        <p:spPr>
          <a:xfrm flipH="1">
            <a:off x="4715640" y="2398320"/>
            <a:ext cx="2723400" cy="1080"/>
          </a:xfrm>
          <a:prstGeom prst="straightConnector1">
            <a:avLst/>
          </a:prstGeom>
          <a:ln w="19080">
            <a:solidFill>
              <a:srgbClr val="ffff00"/>
            </a:solidFill>
            <a:miter/>
            <a:tailEnd len="med" type="arrow" w="med"/>
          </a:ln>
        </p:spPr>
      </p:cxnSp>
      <p:sp>
        <p:nvSpPr>
          <p:cNvPr id="711" name="ZoneTexte 54"/>
          <p:cNvSpPr/>
          <p:nvPr/>
        </p:nvSpPr>
        <p:spPr>
          <a:xfrm>
            <a:off x="4691520" y="1682640"/>
            <a:ext cx="1370520" cy="734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Inhibine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Activine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Follistatine</a:t>
            </a:r>
            <a:endParaRPr b="0" lang="en-US" sz="1400" strike="noStrike" u="none">
              <a:solidFill>
                <a:srgbClr val="ffff00"/>
              </a:solidFill>
              <a:effectLst/>
              <a:uFillTx/>
              <a:latin typeface="Times New Roman"/>
            </a:endParaRPr>
          </a:p>
        </p:txBody>
      </p:sp>
      <p:sp>
        <p:nvSpPr>
          <p:cNvPr id="712" name="Connecteur droit 11287"/>
          <p:cNvSpPr/>
          <p:nvPr/>
        </p:nvSpPr>
        <p:spPr>
          <a:xfrm flipH="1" flipV="1">
            <a:off x="7438680" y="549000"/>
            <a:ext cx="12600" cy="18493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cxnSp>
        <p:nvCxnSpPr>
          <p:cNvPr id="713" name="Connecteur droit avec flèche 11289"/>
          <p:cNvCxnSpPr/>
          <p:nvPr/>
        </p:nvCxnSpPr>
        <p:spPr>
          <a:xfrm flipH="1">
            <a:off x="4427280" y="549000"/>
            <a:ext cx="3024720" cy="1080"/>
          </a:xfrm>
          <a:prstGeom prst="straightConnector1">
            <a:avLst/>
          </a:prstGeom>
          <a:ln w="19080">
            <a:solidFill>
              <a:srgbClr val="ffff00"/>
            </a:solidFill>
            <a:miter/>
            <a:tailEnd len="med" type="triangle" w="med"/>
          </a:ln>
        </p:spPr>
      </p:cxnSp>
      <p:sp>
        <p:nvSpPr>
          <p:cNvPr id="714" name="Connecteur droit 11292"/>
          <p:cNvSpPr/>
          <p:nvPr/>
        </p:nvSpPr>
        <p:spPr>
          <a:xfrm flipV="1">
            <a:off x="1403280" y="4076280"/>
            <a:ext cx="0" cy="119700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15" name="ZoneTexte 11293"/>
          <p:cNvSpPr/>
          <p:nvPr/>
        </p:nvSpPr>
        <p:spPr>
          <a:xfrm>
            <a:off x="715320" y="3768840"/>
            <a:ext cx="15076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Calibri"/>
                <a:ea typeface="Calibri"/>
              </a:rPr>
              <a:t>Testostérone</a:t>
            </a:r>
            <a:endParaRPr b="0" lang="en-US" sz="1400" strike="noStrike" u="none">
              <a:solidFill>
                <a:srgbClr val="ffff00"/>
              </a:solidFill>
              <a:effectLst/>
              <a:uFillTx/>
              <a:latin typeface="Times New Roman"/>
            </a:endParaRPr>
          </a:p>
        </p:txBody>
      </p:sp>
      <p:sp>
        <p:nvSpPr>
          <p:cNvPr id="716" name="Connecteur droit 31"/>
          <p:cNvSpPr/>
          <p:nvPr/>
        </p:nvSpPr>
        <p:spPr>
          <a:xfrm flipV="1">
            <a:off x="1403280" y="2349000"/>
            <a:ext cx="0" cy="141948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cxnSp>
        <p:nvCxnSpPr>
          <p:cNvPr id="717" name="Connecteur droit avec flèche 34"/>
          <p:cNvCxnSpPr/>
          <p:nvPr/>
        </p:nvCxnSpPr>
        <p:spPr>
          <a:xfrm>
            <a:off x="1402920" y="2349000"/>
            <a:ext cx="2089800" cy="1080"/>
          </a:xfrm>
          <a:prstGeom prst="straightConnector1">
            <a:avLst/>
          </a:prstGeom>
          <a:ln w="19080">
            <a:solidFill>
              <a:srgbClr val="ffff00"/>
            </a:solidFill>
            <a:miter/>
            <a:tailEnd len="med" type="arrow" w="med"/>
          </a:ln>
        </p:spPr>
      </p:cxnSp>
      <p:sp>
        <p:nvSpPr>
          <p:cNvPr id="718" name="Connecteur droit 38"/>
          <p:cNvSpPr/>
          <p:nvPr/>
        </p:nvSpPr>
        <p:spPr>
          <a:xfrm flipV="1">
            <a:off x="1403280" y="549360"/>
            <a:ext cx="0" cy="180000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19" name="Connecteur droit 40"/>
          <p:cNvSpPr/>
          <p:nvPr/>
        </p:nvSpPr>
        <p:spPr>
          <a:xfrm>
            <a:off x="1403280" y="549360"/>
            <a:ext cx="237672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20" name="Ellipse 43"/>
          <p:cNvSpPr/>
          <p:nvPr/>
        </p:nvSpPr>
        <p:spPr>
          <a:xfrm rot="16200000">
            <a:off x="3900600" y="212400"/>
            <a:ext cx="406440" cy="647640"/>
          </a:xfrm>
          <a:prstGeom prst="ellipse">
            <a:avLst/>
          </a:prstGeom>
          <a:solidFill>
            <a:srgbClr val="adadeb"/>
          </a:solidFill>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21" name="ZoneTexte 45"/>
          <p:cNvSpPr/>
          <p:nvPr/>
        </p:nvSpPr>
        <p:spPr>
          <a:xfrm>
            <a:off x="3683160" y="739800"/>
            <a:ext cx="8172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GnRH</a:t>
            </a:r>
            <a:endParaRPr b="0" lang="en-US" sz="1600" strike="noStrike" u="none">
              <a:solidFill>
                <a:srgbClr val="ffff00"/>
              </a:solidFill>
              <a:effectLst/>
              <a:uFillTx/>
              <a:latin typeface="Times New Roman"/>
            </a:endParaRPr>
          </a:p>
        </p:txBody>
      </p:sp>
      <p:sp>
        <p:nvSpPr>
          <p:cNvPr id="722" name="ZoneTexte 53"/>
          <p:cNvSpPr/>
          <p:nvPr/>
        </p:nvSpPr>
        <p:spPr>
          <a:xfrm>
            <a:off x="2998080" y="6108840"/>
            <a:ext cx="17092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TESTICULE</a:t>
            </a:r>
            <a:endParaRPr b="0" lang="en-US" sz="2000" strike="noStrike" u="none">
              <a:solidFill>
                <a:srgbClr val="ffff00"/>
              </a:solidFill>
              <a:effectLst/>
              <a:uFillTx/>
              <a:latin typeface="Times New Roman"/>
            </a:endParaRPr>
          </a:p>
        </p:txBody>
      </p:sp>
      <p:pic>
        <p:nvPicPr>
          <p:cNvPr id="723" name="Picture 2" descr="C:\Mes documents\Mes images\Bio-générale\Circulation.gif"/>
          <p:cNvPicPr/>
          <p:nvPr/>
        </p:nvPicPr>
        <p:blipFill>
          <a:blip r:embed="rId1"/>
          <a:stretch/>
        </p:blipFill>
        <p:spPr>
          <a:xfrm>
            <a:off x="3522600" y="2789280"/>
            <a:ext cx="1265400" cy="941400"/>
          </a:xfrm>
          <a:prstGeom prst="rect">
            <a:avLst/>
          </a:prstGeom>
          <a:noFill/>
          <a:ln w="0">
            <a:noFill/>
          </a:ln>
        </p:spPr>
      </p:pic>
      <p:cxnSp>
        <p:nvCxnSpPr>
          <p:cNvPr id="724" name="Connecteur droit avec flèche 2"/>
          <p:cNvCxnSpPr>
            <a:stCxn id="685" idx="1"/>
          </p:cNvCxnSpPr>
          <p:nvPr/>
        </p:nvCxnSpPr>
        <p:spPr>
          <a:xfrm>
            <a:off x="4336560" y="5149440"/>
            <a:ext cx="1345320" cy="111960"/>
          </a:xfrm>
          <a:prstGeom prst="straightConnector1">
            <a:avLst/>
          </a:prstGeom>
          <a:ln w="28440">
            <a:solidFill>
              <a:srgbClr val="ffff00"/>
            </a:solidFill>
            <a:prstDash val="sysDash"/>
            <a:miter/>
            <a:tailEnd len="med" type="arrow" w="med"/>
          </a:ln>
        </p:spPr>
      </p:cxnSp>
      <p:cxnSp>
        <p:nvCxnSpPr>
          <p:cNvPr id="725" name="Connecteur droit avec flèche 4"/>
          <p:cNvCxnSpPr>
            <a:stCxn id="685" idx="1"/>
          </p:cNvCxnSpPr>
          <p:nvPr/>
        </p:nvCxnSpPr>
        <p:spPr>
          <a:xfrm>
            <a:off x="4336920" y="5149800"/>
            <a:ext cx="891360" cy="667440"/>
          </a:xfrm>
          <a:prstGeom prst="straightConnector1">
            <a:avLst/>
          </a:prstGeom>
          <a:ln w="28440">
            <a:solidFill>
              <a:srgbClr val="ffff00"/>
            </a:solidFill>
            <a:prstDash val="sysDash"/>
            <a:miter/>
            <a:tailEnd len="med" type="arrow" w="med"/>
          </a:ln>
        </p:spPr>
      </p:cxnSp>
      <p:cxnSp>
        <p:nvCxnSpPr>
          <p:cNvPr id="726" name="Connecteur droit avec flèche 8"/>
          <p:cNvCxnSpPr/>
          <p:nvPr/>
        </p:nvCxnSpPr>
        <p:spPr>
          <a:xfrm flipH="1" flipV="1">
            <a:off x="2718720" y="5300280"/>
            <a:ext cx="525960" cy="107280"/>
          </a:xfrm>
          <a:prstGeom prst="straightConnector1">
            <a:avLst/>
          </a:prstGeom>
          <a:ln w="28440">
            <a:solidFill>
              <a:srgbClr val="ffff00"/>
            </a:solidFill>
            <a:prstDash val="sysDash"/>
            <a:miter/>
            <a:tailEnd len="med" type="arrow" w="med"/>
          </a:ln>
        </p:spPr>
      </p:cxnSp>
      <p:sp>
        <p:nvSpPr>
          <p:cNvPr id="727" name="Connecteur droit 10"/>
          <p:cNvSpPr/>
          <p:nvPr/>
        </p:nvSpPr>
        <p:spPr>
          <a:xfrm flipV="1">
            <a:off x="2563920" y="5454360"/>
            <a:ext cx="703080" cy="3618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28" name="Connecteur droit 13"/>
          <p:cNvSpPr/>
          <p:nvPr/>
        </p:nvSpPr>
        <p:spPr>
          <a:xfrm flipH="1">
            <a:off x="3338640" y="2565360"/>
            <a:ext cx="441360" cy="1974960"/>
          </a:xfrm>
          <a:prstGeom prst="line">
            <a:avLst/>
          </a:prstGeom>
          <a:ln w="28440">
            <a:solidFill>
              <a:srgbClr val="ffffff"/>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29" name="Connecteur droit 18"/>
          <p:cNvSpPr/>
          <p:nvPr/>
        </p:nvSpPr>
        <p:spPr>
          <a:xfrm>
            <a:off x="4259160" y="2565360"/>
            <a:ext cx="642960" cy="1887480"/>
          </a:xfrm>
          <a:prstGeom prst="line">
            <a:avLst/>
          </a:prstGeom>
          <a:ln w="28440">
            <a:solidFill>
              <a:srgbClr val="ffffff"/>
            </a:solidFill>
            <a:prstDash val="sysDash"/>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30" name="Arc 30"/>
          <p:cNvSpPr/>
          <p:nvPr/>
        </p:nvSpPr>
        <p:spPr>
          <a:xfrm>
            <a:off x="4140360" y="1700280"/>
            <a:ext cx="914400" cy="914400"/>
          </a:xfrm>
          <a:custGeom>
            <a:avLst/>
            <a:gdLst>
              <a:gd name="GluePoint1X" fmla="*/ 55662 w 914400"/>
              <a:gd name="GluePoint1Y" fmla="*/ 238571 h 914400"/>
              <a:gd name="GluePoint2X" fmla="*/ 382472 w 914400"/>
              <a:gd name="GluePoint2Y" fmla="*/ 6149 h 914400"/>
              <a:gd name="GluePoint3X" fmla="*/ 766776 w 914400"/>
              <a:gd name="GluePoint3Y" fmla="*/ 120756 h 914400"/>
            </a:gdLst>
            <a:ahLst/>
            <a:cxnLst>
              <a:cxn ang="0">
                <a:pos x="GluePoint1X" y="GluePoint1Y"/>
              </a:cxn>
              <a:cxn ang="0">
                <a:pos x="GluePoint2X" y="GluePoint2Y"/>
              </a:cxn>
              <a:cxn ang="0">
                <a:pos x="GluePoint3X" y="GluePoint3Y"/>
              </a:cxn>
            </a:cxnLst>
            <a:rect l="l" t="t" r="r" b="b"/>
            <a:pathLst>
              <a:path stroke="0" w="914400" h="914400">
                <a:moveTo>
                  <a:pt x="55662" y="238571"/>
                </a:moveTo>
                <a:cubicBezTo>
                  <a:pt x="122996" y="114905"/>
                  <a:pt x="243557" y="29164"/>
                  <a:pt x="382472" y="6149"/>
                </a:cubicBezTo>
                <a:cubicBezTo>
                  <a:pt x="521387" y="-16866"/>
                  <a:pt x="663158" y="25413"/>
                  <a:pt x="766776" y="120756"/>
                </a:cubicBezTo>
                <a:lnTo>
                  <a:pt x="457200" y="457200"/>
                </a:lnTo>
                <a:lnTo>
                  <a:pt x="55662" y="238571"/>
                </a:lnTo>
                <a:close/>
              </a:path>
              <a:path fill="none" w="914400" h="914400">
                <a:moveTo>
                  <a:pt x="55662" y="238571"/>
                </a:moveTo>
                <a:cubicBezTo>
                  <a:pt x="122996" y="114905"/>
                  <a:pt x="243557" y="29164"/>
                  <a:pt x="382472" y="6149"/>
                </a:cubicBezTo>
                <a:cubicBezTo>
                  <a:pt x="521387" y="-16866"/>
                  <a:pt x="663158" y="25413"/>
                  <a:pt x="766776" y="120756"/>
                </a:cubicBezTo>
              </a:path>
            </a:pathLst>
          </a:custGeom>
          <a:noFill/>
          <a:ln w="9360">
            <a:solidFill>
              <a:srgbClr val="ffffff"/>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31" name="Arc 31"/>
          <p:cNvSpPr/>
          <p:nvPr/>
        </p:nvSpPr>
        <p:spPr>
          <a:xfrm>
            <a:off x="4284720" y="1866960"/>
            <a:ext cx="914400" cy="914400"/>
          </a:xfrm>
          <a:custGeom>
            <a:avLst/>
            <a:gdLst>
              <a:gd name="GluePoint1X" fmla="*/ 908787 w 914400"/>
              <a:gd name="GluePoint1Y" fmla="*/ 528623 h 914400"/>
              <a:gd name="GluePoint2X" fmla="*/ 571438 w 914400"/>
              <a:gd name="GluePoint2Y" fmla="*/ 899898 h 914400"/>
              <a:gd name="GluePoint3X" fmla="*/ 96561 w 914400"/>
              <a:gd name="GluePoint3Y" fmla="*/ 738218 h 914400"/>
            </a:gdLst>
            <a:ahLst/>
            <a:cxnLst>
              <a:cxn ang="0">
                <a:pos x="GluePoint1X" y="GluePoint1Y"/>
              </a:cxn>
              <a:cxn ang="0">
                <a:pos x="GluePoint2X" y="GluePoint2Y"/>
              </a:cxn>
              <a:cxn ang="0">
                <a:pos x="GluePoint3X" y="GluePoint3Y"/>
              </a:cxn>
            </a:cxnLst>
            <a:rect l="l" t="t" r="r" b="b"/>
            <a:pathLst>
              <a:path stroke="0" w="914400" h="914400">
                <a:moveTo>
                  <a:pt x="908787" y="528623"/>
                </a:moveTo>
                <a:cubicBezTo>
                  <a:pt x="880333" y="708531"/>
                  <a:pt x="747805" y="854386"/>
                  <a:pt x="571438" y="899898"/>
                </a:cubicBezTo>
                <a:cubicBezTo>
                  <a:pt x="395072" y="945409"/>
                  <a:pt x="208515" y="881893"/>
                  <a:pt x="96561" y="738218"/>
                </a:cubicBezTo>
                <a:lnTo>
                  <a:pt x="457200" y="457200"/>
                </a:lnTo>
                <a:lnTo>
                  <a:pt x="908787" y="528623"/>
                </a:lnTo>
                <a:close/>
              </a:path>
              <a:path fill="none" w="914400" h="914400">
                <a:moveTo>
                  <a:pt x="908787" y="528623"/>
                </a:moveTo>
                <a:cubicBezTo>
                  <a:pt x="880333" y="708531"/>
                  <a:pt x="747805" y="854386"/>
                  <a:pt x="571438" y="899898"/>
                </a:cubicBezTo>
                <a:cubicBezTo>
                  <a:pt x="395072" y="945409"/>
                  <a:pt x="208515" y="881893"/>
                  <a:pt x="96561" y="738218"/>
                </a:cubicBezTo>
              </a:path>
            </a:pathLst>
          </a:custGeom>
          <a:noFill/>
          <a:ln w="9360">
            <a:solidFill>
              <a:srgbClr val="ffffff"/>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32" name="ZoneTexte 1"/>
          <p:cNvSpPr/>
          <p:nvPr/>
        </p:nvSpPr>
        <p:spPr>
          <a:xfrm>
            <a:off x="7778160" y="222120"/>
            <a:ext cx="1379160" cy="58140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Système de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commande</a:t>
            </a:r>
            <a:endParaRPr b="0" lang="en-US" sz="1600" strike="noStrike" u="none">
              <a:solidFill>
                <a:srgbClr val="ffff00"/>
              </a:solidFill>
              <a:effectLst/>
              <a:uFillTx/>
              <a:latin typeface="Times New Roman"/>
            </a:endParaRPr>
          </a:p>
        </p:txBody>
      </p:sp>
      <p:sp>
        <p:nvSpPr>
          <p:cNvPr id="733" name="ZoneTexte 3"/>
          <p:cNvSpPr/>
          <p:nvPr/>
        </p:nvSpPr>
        <p:spPr>
          <a:xfrm>
            <a:off x="7754400" y="1052640"/>
            <a:ext cx="1379160" cy="58140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Système de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transport</a:t>
            </a:r>
            <a:endParaRPr b="0" lang="en-US" sz="1600" strike="noStrike" u="none">
              <a:solidFill>
                <a:srgbClr val="ffff00"/>
              </a:solidFill>
              <a:effectLst/>
              <a:uFillTx/>
              <a:latin typeface="Times New Roman"/>
            </a:endParaRPr>
          </a:p>
        </p:txBody>
      </p:sp>
      <p:sp>
        <p:nvSpPr>
          <p:cNvPr id="734" name="ZoneTexte 5"/>
          <p:cNvSpPr/>
          <p:nvPr/>
        </p:nvSpPr>
        <p:spPr>
          <a:xfrm>
            <a:off x="7772760" y="1878120"/>
            <a:ext cx="1337760" cy="8251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Système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De gestion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hormonale</a:t>
            </a:r>
            <a:endParaRPr b="0" lang="en-US" sz="1600" strike="noStrike" u="none">
              <a:solidFill>
                <a:srgbClr val="ffff00"/>
              </a:solidFill>
              <a:effectLst/>
              <a:uFillTx/>
              <a:latin typeface="Times New Roman"/>
            </a:endParaRPr>
          </a:p>
        </p:txBody>
      </p:sp>
      <p:sp>
        <p:nvSpPr>
          <p:cNvPr id="735" name="ZoneTexte 60"/>
          <p:cNvSpPr/>
          <p:nvPr/>
        </p:nvSpPr>
        <p:spPr>
          <a:xfrm>
            <a:off x="7763760" y="2843280"/>
            <a:ext cx="1379160" cy="58140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Système de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transport</a:t>
            </a:r>
            <a:endParaRPr b="0" lang="en-US" sz="1600" strike="noStrike" u="none">
              <a:solidFill>
                <a:srgbClr val="ffff00"/>
              </a:solidFill>
              <a:effectLst/>
              <a:uFillTx/>
              <a:latin typeface="Times New Roman"/>
            </a:endParaRPr>
          </a:p>
        </p:txBody>
      </p:sp>
      <p:sp>
        <p:nvSpPr>
          <p:cNvPr id="736" name="ZoneTexte 6"/>
          <p:cNvSpPr/>
          <p:nvPr/>
        </p:nvSpPr>
        <p:spPr>
          <a:xfrm>
            <a:off x="7864560" y="4668840"/>
            <a:ext cx="1125720" cy="8251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Cible;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Système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effecteur</a:t>
            </a:r>
            <a:endParaRPr b="0" lang="en-US" sz="1600" strike="noStrike" u="none">
              <a:solidFill>
                <a:srgbClr val="ffff00"/>
              </a:solidFill>
              <a:effectLst/>
              <a:uFillTx/>
              <a:latin typeface="Times New Roman"/>
            </a:endParaRPr>
          </a:p>
        </p:txBody>
      </p:sp>
      <p:sp>
        <p:nvSpPr>
          <p:cNvPr id="737" name="ZoneTexte 7"/>
          <p:cNvSpPr/>
          <p:nvPr/>
        </p:nvSpPr>
        <p:spPr>
          <a:xfrm>
            <a:off x="144360" y="2052720"/>
            <a:ext cx="1125720" cy="8251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Système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de rétro-</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ff"/>
                </a:solidFill>
                <a:effectLst/>
                <a:uFillTx/>
                <a:latin typeface="Calibri"/>
                <a:ea typeface="Calibri"/>
              </a:rPr>
              <a:t>contrôle</a:t>
            </a:r>
            <a:endParaRPr b="0" lang="en-US" sz="1600" strike="noStrike" u="none">
              <a:solidFill>
                <a:srgbClr val="ffff00"/>
              </a:solidFill>
              <a:effectLst/>
              <a:uFillTx/>
              <a:latin typeface="Times New Roman"/>
            </a:endParaRPr>
          </a:p>
        </p:txBody>
      </p:sp>
      <p:sp>
        <p:nvSpPr>
          <p:cNvPr id="738" name="ZoneTexte 63"/>
          <p:cNvSpPr/>
          <p:nvPr/>
        </p:nvSpPr>
        <p:spPr>
          <a:xfrm>
            <a:off x="86040" y="6464160"/>
            <a:ext cx="14601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Calibri"/>
                <a:ea typeface="Calibri"/>
              </a:rPr>
              <a:t>CAZORLA 2010</a:t>
            </a:r>
            <a:endParaRPr b="0" lang="en-US" sz="1200" strike="noStrike" u="none">
              <a:solidFill>
                <a:srgbClr val="ffff00"/>
              </a:solidFill>
              <a:effectLst/>
              <a:uFillTx/>
              <a:latin typeface="Times New Roman"/>
            </a:endParaRPr>
          </a:p>
        </p:txBody>
      </p:sp>
    </p:spTree>
  </p:cSld>
  <p:transition spd="med">
    <p:zoom dir="out"/>
  </p:transition>
  <p:timing>
    <p:tnLst>
      <p:par>
        <p:cTn id="880" dur="indefinite" restart="never" nodeType="tmRoot">
          <p:childTnLst>
            <p:seq>
              <p:cTn id="881" dur="indefinite" nodeType="mainSeq">
                <p:childTnLst>
                  <p:par>
                    <p:cTn id="882" nodeType="clickEffect" fill="hold">
                      <p:stCondLst>
                        <p:cond delay="indefinite"/>
                      </p:stCondLst>
                      <p:childTnLst>
                        <p:par>
                          <p:cTn id="883" nodeType="withEffect" fill="hold">
                            <p:stCondLst>
                              <p:cond delay="0"/>
                            </p:stCondLst>
                            <p:childTnLst>
                              <p:par>
                                <p:cTn id="884" nodeType="clickEffect" fill="hold" presetClass="entr" presetID="22" presetSubtype="8">
                                  <p:stCondLst>
                                    <p:cond delay="0"/>
                                  </p:stCondLst>
                                  <p:childTnLst>
                                    <p:set>
                                      <p:cBhvr>
                                        <p:cTn id="885" dur="1" fill="hold">
                                          <p:stCondLst>
                                            <p:cond delay="0"/>
                                          </p:stCondLst>
                                        </p:cTn>
                                        <p:tgtEl>
                                          <p:spTgt spid="721"/>
                                        </p:tgtEl>
                                        <p:attrNameLst>
                                          <p:attrName>style.visibility</p:attrName>
                                        </p:attrNameLst>
                                      </p:cBhvr>
                                      <p:to>
                                        <p:strVal val="visible"/>
                                      </p:to>
                                    </p:set>
                                    <p:animEffect filter="wipe(left)" transition="in">
                                      <p:cBhvr additive="repl">
                                        <p:cTn id="886" dur="500"/>
                                        <p:tgtEl>
                                          <p:spTgt spid="721"/>
                                        </p:tgtEl>
                                      </p:cBhvr>
                                    </p:animEffect>
                                  </p:childTnLst>
                                </p:cTn>
                              </p:par>
                            </p:childTnLst>
                          </p:cTn>
                        </p:par>
                        <p:par>
                          <p:cTn id="887" nodeType="afterEffect" fill="hold">
                            <p:stCondLst>
                              <p:cond delay="500"/>
                            </p:stCondLst>
                            <p:childTnLst>
                              <p:par>
                                <p:cTn id="888" nodeType="afterEffect" fill="hold" presetClass="entr" presetID="22" presetSubtype="1">
                                  <p:stCondLst>
                                    <p:cond delay="0"/>
                                  </p:stCondLst>
                                  <p:childTnLst>
                                    <p:set>
                                      <p:cBhvr>
                                        <p:cTn id="889" dur="1" fill="hold">
                                          <p:stCondLst>
                                            <p:cond delay="0"/>
                                          </p:stCondLst>
                                        </p:cTn>
                                        <p:tgtEl>
                                          <p:spTgt spid="681"/>
                                        </p:tgtEl>
                                        <p:attrNameLst>
                                          <p:attrName>style.visibility</p:attrName>
                                        </p:attrNameLst>
                                      </p:cBhvr>
                                      <p:to>
                                        <p:strVal val="visible"/>
                                      </p:to>
                                    </p:set>
                                    <p:animEffect filter="wipe(up)" transition="in">
                                      <p:cBhvr additive="repl">
                                        <p:cTn id="890" dur="500"/>
                                        <p:tgtEl>
                                          <p:spTgt spid="681"/>
                                        </p:tgtEl>
                                      </p:cBhvr>
                                    </p:animEffect>
                                  </p:childTnLst>
                                </p:cTn>
                              </p:par>
                            </p:childTnLst>
                          </p:cTn>
                        </p:par>
                        <p:par>
                          <p:cTn id="891" nodeType="afterEffect" fill="hold">
                            <p:stCondLst>
                              <p:cond delay="1000"/>
                            </p:stCondLst>
                            <p:childTnLst>
                              <p:par>
                                <p:cTn id="892" nodeType="afterEffect" fill="hold" presetClass="entr" presetID="53" presetSubtype="16">
                                  <p:stCondLst>
                                    <p:cond delay="0"/>
                                  </p:stCondLst>
                                  <p:childTnLst>
                                    <p:set>
                                      <p:cBhvr>
                                        <p:cTn id="893" dur="1" fill="hold">
                                          <p:stCondLst>
                                            <p:cond delay="0"/>
                                          </p:stCondLst>
                                        </p:cTn>
                                        <p:tgtEl>
                                          <p:spTgt spid="703"/>
                                        </p:tgtEl>
                                        <p:attrNameLst>
                                          <p:attrName>style.visibility</p:attrName>
                                        </p:attrNameLst>
                                      </p:cBhvr>
                                      <p:to>
                                        <p:strVal val="visible"/>
                                      </p:to>
                                    </p:set>
                                    <p:anim calcmode="lin" valueType="num">
                                      <p:cBhvr additive="repl">
                                        <p:cTn id="894" dur="500" fill="hold"/>
                                        <p:tgtEl>
                                          <p:spTgt spid="703"/>
                                        </p:tgtEl>
                                        <p:attrNameLst>
                                          <p:attrName>ppt_w</p:attrName>
                                        </p:attrNameLst>
                                      </p:cBhvr>
                                      <p:tavLst>
                                        <p:tav tm="0">
                                          <p:val>
                                            <p:fltVal val="0"/>
                                          </p:val>
                                        </p:tav>
                                        <p:tav tm="100000">
                                          <p:val>
                                            <p:strVal val="#ppt_w"/>
                                          </p:val>
                                        </p:tav>
                                      </p:tavLst>
                                    </p:anim>
                                    <p:anim calcmode="lin" valueType="num">
                                      <p:cBhvr additive="repl">
                                        <p:cTn id="895" dur="500" fill="hold"/>
                                        <p:tgtEl>
                                          <p:spTgt spid="703"/>
                                        </p:tgtEl>
                                        <p:attrNameLst>
                                          <p:attrName>ppt_h</p:attrName>
                                        </p:attrNameLst>
                                      </p:cBhvr>
                                      <p:tavLst>
                                        <p:tav tm="0">
                                          <p:val>
                                            <p:fltVal val="0"/>
                                          </p:val>
                                        </p:tav>
                                        <p:tav tm="100000">
                                          <p:val>
                                            <p:strVal val="#ppt_h"/>
                                          </p:val>
                                        </p:tav>
                                      </p:tavLst>
                                    </p:anim>
                                    <p:animEffect filter="fade" transition="in">
                                      <p:cBhvr additive="repl">
                                        <p:cTn id="896" dur="500"/>
                                        <p:tgtEl>
                                          <p:spTgt spid="703"/>
                                        </p:tgtEl>
                                      </p:cBhvr>
                                    </p:animEffect>
                                  </p:childTnLst>
                                </p:cTn>
                              </p:par>
                              <p:par>
                                <p:cTn id="897" nodeType="withEffect" fill="hold" presetClass="entr" presetID="53" presetSubtype="16">
                                  <p:stCondLst>
                                    <p:cond delay="0"/>
                                  </p:stCondLst>
                                  <p:childTnLst>
                                    <p:set>
                                      <p:cBhvr>
                                        <p:cTn id="898" dur="1" fill="hold">
                                          <p:stCondLst>
                                            <p:cond delay="0"/>
                                          </p:stCondLst>
                                        </p:cTn>
                                        <p:tgtEl>
                                          <p:spTgt spid="704"/>
                                        </p:tgtEl>
                                        <p:attrNameLst>
                                          <p:attrName>style.visibility</p:attrName>
                                        </p:attrNameLst>
                                      </p:cBhvr>
                                      <p:to>
                                        <p:strVal val="visible"/>
                                      </p:to>
                                    </p:set>
                                    <p:anim calcmode="lin" valueType="num">
                                      <p:cBhvr additive="repl">
                                        <p:cTn id="899" dur="500" fill="hold"/>
                                        <p:tgtEl>
                                          <p:spTgt spid="704"/>
                                        </p:tgtEl>
                                        <p:attrNameLst>
                                          <p:attrName>ppt_w</p:attrName>
                                        </p:attrNameLst>
                                      </p:cBhvr>
                                      <p:tavLst>
                                        <p:tav tm="0">
                                          <p:val>
                                            <p:fltVal val="0"/>
                                          </p:val>
                                        </p:tav>
                                        <p:tav tm="100000">
                                          <p:val>
                                            <p:strVal val="#ppt_w"/>
                                          </p:val>
                                        </p:tav>
                                      </p:tavLst>
                                    </p:anim>
                                    <p:anim calcmode="lin" valueType="num">
                                      <p:cBhvr additive="repl">
                                        <p:cTn id="900" dur="500" fill="hold"/>
                                        <p:tgtEl>
                                          <p:spTgt spid="704"/>
                                        </p:tgtEl>
                                        <p:attrNameLst>
                                          <p:attrName>ppt_h</p:attrName>
                                        </p:attrNameLst>
                                      </p:cBhvr>
                                      <p:tavLst>
                                        <p:tav tm="0">
                                          <p:val>
                                            <p:fltVal val="0"/>
                                          </p:val>
                                        </p:tav>
                                        <p:tav tm="100000">
                                          <p:val>
                                            <p:strVal val="#ppt_h"/>
                                          </p:val>
                                        </p:tav>
                                      </p:tavLst>
                                    </p:anim>
                                    <p:animEffect filter="fade" transition="in">
                                      <p:cBhvr additive="repl">
                                        <p:cTn id="901" dur="500"/>
                                        <p:tgtEl>
                                          <p:spTgt spid="704"/>
                                        </p:tgtEl>
                                      </p:cBhvr>
                                    </p:animEffect>
                                  </p:childTnLst>
                                </p:cTn>
                              </p:par>
                            </p:childTnLst>
                          </p:cTn>
                        </p:par>
                        <p:par>
                          <p:cTn id="902" nodeType="afterEffect" fill="hold">
                            <p:stCondLst>
                              <p:cond delay="1500"/>
                            </p:stCondLst>
                            <p:childTnLst>
                              <p:par>
                                <p:cTn id="903" nodeType="afterEffect" fill="hold" presetClass="entr" presetID="22" presetSubtype="1">
                                  <p:stCondLst>
                                    <p:cond delay="0"/>
                                  </p:stCondLst>
                                  <p:childTnLst>
                                    <p:set>
                                      <p:cBhvr>
                                        <p:cTn id="904" dur="1" fill="hold">
                                          <p:stCondLst>
                                            <p:cond delay="0"/>
                                          </p:stCondLst>
                                        </p:cTn>
                                        <p:tgtEl>
                                          <p:spTgt spid="728"/>
                                        </p:tgtEl>
                                        <p:attrNameLst>
                                          <p:attrName>style.visibility</p:attrName>
                                        </p:attrNameLst>
                                      </p:cBhvr>
                                      <p:to>
                                        <p:strVal val="visible"/>
                                      </p:to>
                                    </p:set>
                                    <p:animEffect filter="wipe(up)" transition="in">
                                      <p:cBhvr additive="repl">
                                        <p:cTn id="905" dur="500"/>
                                        <p:tgtEl>
                                          <p:spTgt spid="728"/>
                                        </p:tgtEl>
                                      </p:cBhvr>
                                    </p:animEffect>
                                  </p:childTnLst>
                                </p:cTn>
                              </p:par>
                            </p:childTnLst>
                          </p:cTn>
                        </p:par>
                        <p:par>
                          <p:cTn id="906" nodeType="afterEffect" fill="hold">
                            <p:stCondLst>
                              <p:cond delay="2000"/>
                            </p:stCondLst>
                            <p:childTnLst>
                              <p:par>
                                <p:cTn id="907" nodeType="afterEffect" fill="hold" presetClass="entr" presetID="22" presetSubtype="1">
                                  <p:stCondLst>
                                    <p:cond delay="0"/>
                                  </p:stCondLst>
                                  <p:childTnLst>
                                    <p:set>
                                      <p:cBhvr>
                                        <p:cTn id="908" dur="1" fill="hold">
                                          <p:stCondLst>
                                            <p:cond delay="0"/>
                                          </p:stCondLst>
                                        </p:cTn>
                                        <p:tgtEl>
                                          <p:spTgt spid="729"/>
                                        </p:tgtEl>
                                        <p:attrNameLst>
                                          <p:attrName>style.visibility</p:attrName>
                                        </p:attrNameLst>
                                      </p:cBhvr>
                                      <p:to>
                                        <p:strVal val="visible"/>
                                      </p:to>
                                    </p:set>
                                    <p:animEffect filter="wipe(up)" transition="in">
                                      <p:cBhvr additive="repl">
                                        <p:cTn id="909" dur="500"/>
                                        <p:tgtEl>
                                          <p:spTgt spid="729"/>
                                        </p:tgtEl>
                                      </p:cBhvr>
                                    </p:animEffect>
                                  </p:childTnLst>
                                </p:cTn>
                              </p:par>
                            </p:childTnLst>
                          </p:cTn>
                        </p:par>
                      </p:childTnLst>
                    </p:cTn>
                  </p:par>
                  <p:par>
                    <p:cTn id="910" nodeType="clickEffect" fill="hold">
                      <p:stCondLst>
                        <p:cond delay="indefinite"/>
                      </p:stCondLst>
                      <p:childTnLst>
                        <p:par>
                          <p:cTn id="911" nodeType="withEffect" fill="hold">
                            <p:stCondLst>
                              <p:cond delay="0"/>
                            </p:stCondLst>
                            <p:childTnLst>
                              <p:par>
                                <p:cTn id="912" nodeType="clickEffect" fill="hold" presetClass="entr" presetID="53" presetSubtype="16">
                                  <p:stCondLst>
                                    <p:cond delay="0"/>
                                  </p:stCondLst>
                                  <p:childTnLst>
                                    <p:set>
                                      <p:cBhvr>
                                        <p:cTn id="913" dur="1" fill="hold">
                                          <p:stCondLst>
                                            <p:cond delay="0"/>
                                          </p:stCondLst>
                                        </p:cTn>
                                        <p:tgtEl>
                                          <p:spTgt spid="698"/>
                                        </p:tgtEl>
                                        <p:attrNameLst>
                                          <p:attrName>style.visibility</p:attrName>
                                        </p:attrNameLst>
                                      </p:cBhvr>
                                      <p:to>
                                        <p:strVal val="visible"/>
                                      </p:to>
                                    </p:set>
                                    <p:anim calcmode="lin" valueType="num">
                                      <p:cBhvr additive="repl">
                                        <p:cTn id="914" dur="500" fill="hold"/>
                                        <p:tgtEl>
                                          <p:spTgt spid="698"/>
                                        </p:tgtEl>
                                        <p:attrNameLst>
                                          <p:attrName>ppt_w</p:attrName>
                                        </p:attrNameLst>
                                      </p:cBhvr>
                                      <p:tavLst>
                                        <p:tav tm="0">
                                          <p:val>
                                            <p:fltVal val="0"/>
                                          </p:val>
                                        </p:tav>
                                        <p:tav tm="100000">
                                          <p:val>
                                            <p:strVal val="#ppt_w"/>
                                          </p:val>
                                        </p:tav>
                                      </p:tavLst>
                                    </p:anim>
                                    <p:anim calcmode="lin" valueType="num">
                                      <p:cBhvr additive="repl">
                                        <p:cTn id="915" dur="500" fill="hold"/>
                                        <p:tgtEl>
                                          <p:spTgt spid="698"/>
                                        </p:tgtEl>
                                        <p:attrNameLst>
                                          <p:attrName>ppt_h</p:attrName>
                                        </p:attrNameLst>
                                      </p:cBhvr>
                                      <p:tavLst>
                                        <p:tav tm="0">
                                          <p:val>
                                            <p:fltVal val="0"/>
                                          </p:val>
                                        </p:tav>
                                        <p:tav tm="100000">
                                          <p:val>
                                            <p:strVal val="#ppt_h"/>
                                          </p:val>
                                        </p:tav>
                                      </p:tavLst>
                                    </p:anim>
                                    <p:animEffect filter="fade" transition="in">
                                      <p:cBhvr additive="repl">
                                        <p:cTn id="916" dur="500"/>
                                        <p:tgtEl>
                                          <p:spTgt spid="698"/>
                                        </p:tgtEl>
                                      </p:cBhvr>
                                    </p:animEffect>
                                  </p:childTnLst>
                                </p:cTn>
                              </p:par>
                            </p:childTnLst>
                          </p:cTn>
                        </p:par>
                        <p:par>
                          <p:cTn id="917" nodeType="afterEffect" fill="hold">
                            <p:stCondLst>
                              <p:cond delay="1500"/>
                            </p:stCondLst>
                            <p:childTnLst>
                              <p:par>
                                <p:cTn id="918" nodeType="afterEffect" fill="hold" presetClass="entr" presetID="22" presetSubtype="4">
                                  <p:stCondLst>
                                    <p:cond delay="0"/>
                                  </p:stCondLst>
                                  <p:childTnLst>
                                    <p:set>
                                      <p:cBhvr>
                                        <p:cTn id="919" dur="1" fill="hold">
                                          <p:stCondLst>
                                            <p:cond delay="0"/>
                                          </p:stCondLst>
                                        </p:cTn>
                                        <p:tgtEl>
                                          <p:spTgt spid="727"/>
                                        </p:tgtEl>
                                        <p:attrNameLst>
                                          <p:attrName>style.visibility</p:attrName>
                                        </p:attrNameLst>
                                      </p:cBhvr>
                                      <p:to>
                                        <p:strVal val="visible"/>
                                      </p:to>
                                    </p:set>
                                    <p:animEffect filter="wipe(down)" transition="in">
                                      <p:cBhvr additive="repl">
                                        <p:cTn id="920" dur="500"/>
                                        <p:tgtEl>
                                          <p:spTgt spid="727"/>
                                        </p:tgtEl>
                                      </p:cBhvr>
                                    </p:animEffect>
                                  </p:childTnLst>
                                </p:cTn>
                              </p:par>
                            </p:childTnLst>
                          </p:cTn>
                        </p:par>
                      </p:childTnLst>
                    </p:cTn>
                  </p:par>
                  <p:par>
                    <p:cTn id="921" nodeType="clickEffect" fill="hold">
                      <p:stCondLst>
                        <p:cond delay="indefinite"/>
                      </p:stCondLst>
                      <p:childTnLst>
                        <p:par>
                          <p:cTn id="922" nodeType="withEffect" fill="hold">
                            <p:stCondLst>
                              <p:cond delay="0"/>
                            </p:stCondLst>
                            <p:childTnLst>
                              <p:par>
                                <p:cTn id="923" nodeType="clickEffect" fill="hold" presetClass="entr" presetID="22" presetSubtype="2">
                                  <p:stCondLst>
                                    <p:cond delay="0"/>
                                  </p:stCondLst>
                                  <p:childTnLst>
                                    <p:set>
                                      <p:cBhvr>
                                        <p:cTn id="924" dur="1" fill="hold">
                                          <p:stCondLst>
                                            <p:cond delay="0"/>
                                          </p:stCondLst>
                                        </p:cTn>
                                        <p:tgtEl>
                                          <p:spTgt spid="726"/>
                                        </p:tgtEl>
                                        <p:attrNameLst>
                                          <p:attrName>style.visibility</p:attrName>
                                        </p:attrNameLst>
                                      </p:cBhvr>
                                      <p:to>
                                        <p:strVal val="visible"/>
                                      </p:to>
                                    </p:set>
                                    <p:animEffect filter="wipe(right)" transition="in">
                                      <p:cBhvr additive="repl">
                                        <p:cTn id="925" dur="500"/>
                                        <p:tgtEl>
                                          <p:spTgt spid="726"/>
                                        </p:tgtEl>
                                      </p:cBhvr>
                                    </p:animEffect>
                                  </p:childTnLst>
                                </p:cTn>
                              </p:par>
                            </p:childTnLst>
                          </p:cTn>
                        </p:par>
                        <p:par>
                          <p:cTn id="926" nodeType="afterEffect" fill="hold">
                            <p:stCondLst>
                              <p:cond delay="500"/>
                            </p:stCondLst>
                            <p:childTnLst>
                              <p:par>
                                <p:cTn id="927" nodeType="afterEffect" fill="hold" presetClass="entr" presetID="22" presetSubtype="2">
                                  <p:stCondLst>
                                    <p:cond delay="0"/>
                                  </p:stCondLst>
                                  <p:childTnLst>
                                    <p:set>
                                      <p:cBhvr>
                                        <p:cTn id="928" dur="1" fill="hold">
                                          <p:stCondLst>
                                            <p:cond delay="0"/>
                                          </p:stCondLst>
                                        </p:cTn>
                                        <p:tgtEl>
                                          <p:spTgt spid="707"/>
                                        </p:tgtEl>
                                        <p:attrNameLst>
                                          <p:attrName>style.visibility</p:attrName>
                                        </p:attrNameLst>
                                      </p:cBhvr>
                                      <p:to>
                                        <p:strVal val="visible"/>
                                      </p:to>
                                    </p:set>
                                    <p:animEffect filter="wipe(right)" transition="in">
                                      <p:cBhvr additive="repl">
                                        <p:cTn id="929" dur="500"/>
                                        <p:tgtEl>
                                          <p:spTgt spid="707"/>
                                        </p:tgtEl>
                                      </p:cBhvr>
                                    </p:animEffect>
                                  </p:childTnLst>
                                </p:cTn>
                              </p:par>
                            </p:childTnLst>
                          </p:cTn>
                        </p:par>
                        <p:par>
                          <p:cTn id="930" nodeType="afterEffect" fill="hold">
                            <p:stCondLst>
                              <p:cond delay="1000"/>
                            </p:stCondLst>
                            <p:childTnLst>
                              <p:par>
                                <p:cTn id="931" nodeType="afterEffect" fill="hold" presetClass="entr" presetID="22" presetSubtype="4">
                                  <p:stCondLst>
                                    <p:cond delay="0"/>
                                  </p:stCondLst>
                                  <p:childTnLst>
                                    <p:set>
                                      <p:cBhvr>
                                        <p:cTn id="932" dur="1" fill="hold">
                                          <p:stCondLst>
                                            <p:cond delay="0"/>
                                          </p:stCondLst>
                                        </p:cTn>
                                        <p:tgtEl>
                                          <p:spTgt spid="714"/>
                                        </p:tgtEl>
                                        <p:attrNameLst>
                                          <p:attrName>style.visibility</p:attrName>
                                        </p:attrNameLst>
                                      </p:cBhvr>
                                      <p:to>
                                        <p:strVal val="visible"/>
                                      </p:to>
                                    </p:set>
                                    <p:animEffect filter="wipe(down)" transition="in">
                                      <p:cBhvr additive="repl">
                                        <p:cTn id="933" dur="500"/>
                                        <p:tgtEl>
                                          <p:spTgt spid="714"/>
                                        </p:tgtEl>
                                      </p:cBhvr>
                                    </p:animEffect>
                                  </p:childTnLst>
                                </p:cTn>
                              </p:par>
                            </p:childTnLst>
                          </p:cTn>
                        </p:par>
                        <p:par>
                          <p:cTn id="934" nodeType="afterEffect" fill="hold">
                            <p:stCondLst>
                              <p:cond delay="1500"/>
                            </p:stCondLst>
                            <p:childTnLst>
                              <p:par>
                                <p:cTn id="935" nodeType="afterEffect" fill="hold" presetClass="entr" presetID="1">
                                  <p:stCondLst>
                                    <p:cond delay="0"/>
                                  </p:stCondLst>
                                  <p:childTnLst>
                                    <p:set>
                                      <p:cBhvr>
                                        <p:cTn id="936" dur="1" fill="hold">
                                          <p:stCondLst>
                                            <p:cond delay="0"/>
                                          </p:stCondLst>
                                        </p:cTn>
                                        <p:tgtEl>
                                          <p:spTgt spid="715"/>
                                        </p:tgtEl>
                                        <p:attrNameLst>
                                          <p:attrName>style.visibility</p:attrName>
                                        </p:attrNameLst>
                                      </p:cBhvr>
                                      <p:to>
                                        <p:strVal val="visible"/>
                                      </p:to>
                                    </p:set>
                                  </p:childTnLst>
                                </p:cTn>
                              </p:par>
                            </p:childTnLst>
                          </p:cTn>
                        </p:par>
                      </p:childTnLst>
                    </p:cTn>
                  </p:par>
                  <p:par>
                    <p:cTn id="937" nodeType="clickEffect" fill="hold">
                      <p:stCondLst>
                        <p:cond delay="indefinite"/>
                      </p:stCondLst>
                      <p:childTnLst>
                        <p:par>
                          <p:cTn id="938" nodeType="withEffect" fill="hold">
                            <p:stCondLst>
                              <p:cond delay="0"/>
                            </p:stCondLst>
                            <p:childTnLst>
                              <p:par>
                                <p:cTn id="939" nodeType="clickEffect" fill="hold" presetClass="entr" presetID="22" presetSubtype="4">
                                  <p:stCondLst>
                                    <p:cond delay="0"/>
                                  </p:stCondLst>
                                  <p:childTnLst>
                                    <p:set>
                                      <p:cBhvr>
                                        <p:cTn id="940" dur="1" fill="hold">
                                          <p:stCondLst>
                                            <p:cond delay="0"/>
                                          </p:stCondLst>
                                        </p:cTn>
                                        <p:tgtEl>
                                          <p:spTgt spid="716"/>
                                        </p:tgtEl>
                                        <p:attrNameLst>
                                          <p:attrName>style.visibility</p:attrName>
                                        </p:attrNameLst>
                                      </p:cBhvr>
                                      <p:to>
                                        <p:strVal val="visible"/>
                                      </p:to>
                                    </p:set>
                                    <p:animEffect filter="wipe(down)" transition="in">
                                      <p:cBhvr additive="repl">
                                        <p:cTn id="941" dur="500"/>
                                        <p:tgtEl>
                                          <p:spTgt spid="716"/>
                                        </p:tgtEl>
                                      </p:cBhvr>
                                    </p:animEffect>
                                  </p:childTnLst>
                                </p:cTn>
                              </p:par>
                            </p:childTnLst>
                          </p:cTn>
                        </p:par>
                        <p:par>
                          <p:cTn id="942" nodeType="afterEffect" fill="hold">
                            <p:stCondLst>
                              <p:cond delay="500"/>
                            </p:stCondLst>
                            <p:childTnLst>
                              <p:par>
                                <p:cTn id="943" nodeType="afterEffect" fill="hold" presetClass="entr" presetID="22" presetSubtype="8">
                                  <p:stCondLst>
                                    <p:cond delay="0"/>
                                  </p:stCondLst>
                                  <p:childTnLst>
                                    <p:set>
                                      <p:cBhvr>
                                        <p:cTn id="944" dur="1" fill="hold">
                                          <p:stCondLst>
                                            <p:cond delay="0"/>
                                          </p:stCondLst>
                                        </p:cTn>
                                        <p:tgtEl>
                                          <p:spTgt spid="717"/>
                                        </p:tgtEl>
                                        <p:attrNameLst>
                                          <p:attrName>style.visibility</p:attrName>
                                        </p:attrNameLst>
                                      </p:cBhvr>
                                      <p:to>
                                        <p:strVal val="visible"/>
                                      </p:to>
                                    </p:set>
                                    <p:animEffect filter="wipe(left)" transition="in">
                                      <p:cBhvr additive="repl">
                                        <p:cTn id="945" dur="500"/>
                                        <p:tgtEl>
                                          <p:spTgt spid="717"/>
                                        </p:tgtEl>
                                      </p:cBhvr>
                                    </p:animEffect>
                                  </p:childTnLst>
                                </p:cTn>
                              </p:par>
                            </p:childTnLst>
                          </p:cTn>
                        </p:par>
                      </p:childTnLst>
                    </p:cTn>
                  </p:par>
                  <p:par>
                    <p:cTn id="946" nodeType="clickEffect" fill="hold">
                      <p:stCondLst>
                        <p:cond delay="indefinite"/>
                      </p:stCondLst>
                      <p:childTnLst>
                        <p:par>
                          <p:cTn id="947" nodeType="withEffect" fill="hold">
                            <p:stCondLst>
                              <p:cond delay="0"/>
                            </p:stCondLst>
                            <p:childTnLst>
                              <p:par>
                                <p:cTn id="948" nodeType="clickEffect" fill="hold" presetClass="entr" presetID="22" presetSubtype="4">
                                  <p:stCondLst>
                                    <p:cond delay="0"/>
                                  </p:stCondLst>
                                  <p:childTnLst>
                                    <p:set>
                                      <p:cBhvr>
                                        <p:cTn id="949" dur="1" fill="hold">
                                          <p:stCondLst>
                                            <p:cond delay="0"/>
                                          </p:stCondLst>
                                        </p:cTn>
                                        <p:tgtEl>
                                          <p:spTgt spid="718"/>
                                        </p:tgtEl>
                                        <p:attrNameLst>
                                          <p:attrName>style.visibility</p:attrName>
                                        </p:attrNameLst>
                                      </p:cBhvr>
                                      <p:to>
                                        <p:strVal val="visible"/>
                                      </p:to>
                                    </p:set>
                                    <p:animEffect filter="wipe(down)" transition="in">
                                      <p:cBhvr additive="repl">
                                        <p:cTn id="950" dur="500"/>
                                        <p:tgtEl>
                                          <p:spTgt spid="718"/>
                                        </p:tgtEl>
                                      </p:cBhvr>
                                    </p:animEffect>
                                  </p:childTnLst>
                                </p:cTn>
                              </p:par>
                            </p:childTnLst>
                          </p:cTn>
                        </p:par>
                        <p:par>
                          <p:cTn id="951" nodeType="afterEffect" fill="hold">
                            <p:stCondLst>
                              <p:cond delay="500"/>
                            </p:stCondLst>
                            <p:childTnLst>
                              <p:par>
                                <p:cTn id="952" nodeType="afterEffect" fill="hold" presetClass="entr" presetID="22" presetSubtype="8">
                                  <p:stCondLst>
                                    <p:cond delay="0"/>
                                  </p:stCondLst>
                                  <p:childTnLst>
                                    <p:set>
                                      <p:cBhvr>
                                        <p:cTn id="953" dur="1" fill="hold">
                                          <p:stCondLst>
                                            <p:cond delay="0"/>
                                          </p:stCondLst>
                                        </p:cTn>
                                        <p:tgtEl>
                                          <p:spTgt spid="719"/>
                                        </p:tgtEl>
                                        <p:attrNameLst>
                                          <p:attrName>style.visibility</p:attrName>
                                        </p:attrNameLst>
                                      </p:cBhvr>
                                      <p:to>
                                        <p:strVal val="visible"/>
                                      </p:to>
                                    </p:set>
                                    <p:animEffect filter="wipe(left)" transition="in">
                                      <p:cBhvr additive="repl">
                                        <p:cTn id="954" dur="500"/>
                                        <p:tgtEl>
                                          <p:spTgt spid="719"/>
                                        </p:tgtEl>
                                      </p:cBhvr>
                                    </p:animEffect>
                                  </p:childTnLst>
                                </p:cTn>
                              </p:par>
                            </p:childTnLst>
                          </p:cTn>
                        </p:par>
                      </p:childTnLst>
                    </p:cTn>
                  </p:par>
                  <p:par>
                    <p:cTn id="955" nodeType="clickEffect" fill="hold">
                      <p:stCondLst>
                        <p:cond delay="indefinite"/>
                      </p:stCondLst>
                      <p:childTnLst>
                        <p:par>
                          <p:cTn id="956" nodeType="withEffect" fill="hold">
                            <p:stCondLst>
                              <p:cond delay="0"/>
                            </p:stCondLst>
                            <p:childTnLst>
                              <p:par>
                                <p:cTn id="957" nodeType="clickEffect" fill="hold" presetClass="entr" presetID="22" presetSubtype="4">
                                  <p:stCondLst>
                                    <p:cond delay="0"/>
                                  </p:stCondLst>
                                  <p:childTnLst>
                                    <p:set>
                                      <p:cBhvr>
                                        <p:cTn id="958" dur="1" fill="hold">
                                          <p:stCondLst>
                                            <p:cond delay="0"/>
                                          </p:stCondLst>
                                        </p:cTn>
                                        <p:tgtEl>
                                          <p:spTgt spid="692"/>
                                        </p:tgtEl>
                                        <p:attrNameLst>
                                          <p:attrName>style.visibility</p:attrName>
                                        </p:attrNameLst>
                                      </p:cBhvr>
                                      <p:to>
                                        <p:strVal val="visible"/>
                                      </p:to>
                                    </p:set>
                                    <p:animEffect filter="wipe(down)" transition="in">
                                      <p:cBhvr additive="repl">
                                        <p:cTn id="959" dur="500"/>
                                        <p:tgtEl>
                                          <p:spTgt spid="692"/>
                                        </p:tgtEl>
                                      </p:cBhvr>
                                    </p:animEffect>
                                  </p:childTnLst>
                                </p:cTn>
                              </p:par>
                            </p:childTnLst>
                          </p:cTn>
                        </p:par>
                      </p:childTnLst>
                    </p:cTn>
                  </p:par>
                  <p:par>
                    <p:cTn id="960" nodeType="clickEffect" fill="hold">
                      <p:stCondLst>
                        <p:cond delay="indefinite"/>
                      </p:stCondLst>
                      <p:childTnLst>
                        <p:par>
                          <p:cTn id="961" nodeType="withEffect" fill="hold">
                            <p:stCondLst>
                              <p:cond delay="0"/>
                            </p:stCondLst>
                            <p:childTnLst>
                              <p:par>
                                <p:cTn id="962" nodeType="clickEffect" fill="hold" presetClass="entr" presetID="22" presetSubtype="8">
                                  <p:stCondLst>
                                    <p:cond delay="0"/>
                                  </p:stCondLst>
                                  <p:childTnLst>
                                    <p:set>
                                      <p:cBhvr>
                                        <p:cTn id="963" dur="1" fill="hold">
                                          <p:stCondLst>
                                            <p:cond delay="0"/>
                                          </p:stCondLst>
                                        </p:cTn>
                                        <p:tgtEl>
                                          <p:spTgt spid="725"/>
                                        </p:tgtEl>
                                        <p:attrNameLst>
                                          <p:attrName>style.visibility</p:attrName>
                                        </p:attrNameLst>
                                      </p:cBhvr>
                                      <p:to>
                                        <p:strVal val="visible"/>
                                      </p:to>
                                    </p:set>
                                    <p:animEffect filter="wipe(left)" transition="in">
                                      <p:cBhvr additive="repl">
                                        <p:cTn id="964" dur="500"/>
                                        <p:tgtEl>
                                          <p:spTgt spid="725"/>
                                        </p:tgtEl>
                                      </p:cBhvr>
                                    </p:animEffect>
                                  </p:childTnLst>
                                </p:cTn>
                              </p:par>
                            </p:childTnLst>
                          </p:cTn>
                        </p:par>
                      </p:childTnLst>
                    </p:cTn>
                  </p:par>
                  <p:par>
                    <p:cTn id="965" nodeType="clickEffect" fill="hold">
                      <p:stCondLst>
                        <p:cond delay="indefinite"/>
                      </p:stCondLst>
                      <p:childTnLst>
                        <p:par>
                          <p:cTn id="966" nodeType="withEffect" fill="hold">
                            <p:stCondLst>
                              <p:cond delay="0"/>
                            </p:stCondLst>
                            <p:childTnLst>
                              <p:par>
                                <p:cTn id="967" nodeType="clickEffect" fill="hold" presetClass="entr" presetID="22" presetSubtype="8">
                                  <p:stCondLst>
                                    <p:cond delay="0"/>
                                  </p:stCondLst>
                                  <p:childTnLst>
                                    <p:set>
                                      <p:cBhvr>
                                        <p:cTn id="968" dur="1" fill="hold">
                                          <p:stCondLst>
                                            <p:cond delay="0"/>
                                          </p:stCondLst>
                                        </p:cTn>
                                        <p:tgtEl>
                                          <p:spTgt spid="724"/>
                                        </p:tgtEl>
                                        <p:attrNameLst>
                                          <p:attrName>style.visibility</p:attrName>
                                        </p:attrNameLst>
                                      </p:cBhvr>
                                      <p:to>
                                        <p:strVal val="visible"/>
                                      </p:to>
                                    </p:set>
                                    <p:animEffect filter="wipe(left)" transition="in">
                                      <p:cBhvr additive="repl">
                                        <p:cTn id="969" dur="500"/>
                                        <p:tgtEl>
                                          <p:spTgt spid="724"/>
                                        </p:tgtEl>
                                      </p:cBhvr>
                                    </p:animEffect>
                                  </p:childTnLst>
                                </p:cTn>
                              </p:par>
                            </p:childTnLst>
                          </p:cTn>
                        </p:par>
                        <p:par>
                          <p:cTn id="970" nodeType="afterEffect" fill="hold">
                            <p:stCondLst>
                              <p:cond delay="500"/>
                            </p:stCondLst>
                            <p:childTnLst>
                              <p:par>
                                <p:cTn id="971" nodeType="afterEffect" fill="hold" presetClass="entr" presetID="22" presetSubtype="8">
                                  <p:stCondLst>
                                    <p:cond delay="0"/>
                                  </p:stCondLst>
                                  <p:childTnLst>
                                    <p:set>
                                      <p:cBhvr>
                                        <p:cTn id="972" dur="1" fill="hold">
                                          <p:stCondLst>
                                            <p:cond delay="0"/>
                                          </p:stCondLst>
                                        </p:cTn>
                                        <p:tgtEl>
                                          <p:spTgt spid="705"/>
                                        </p:tgtEl>
                                        <p:attrNameLst>
                                          <p:attrName>style.visibility</p:attrName>
                                        </p:attrNameLst>
                                      </p:cBhvr>
                                      <p:to>
                                        <p:strVal val="visible"/>
                                      </p:to>
                                    </p:set>
                                    <p:animEffect filter="wipe(left)" transition="in">
                                      <p:cBhvr additive="repl">
                                        <p:cTn id="973" dur="500"/>
                                        <p:tgtEl>
                                          <p:spTgt spid="705"/>
                                        </p:tgtEl>
                                      </p:cBhvr>
                                    </p:animEffect>
                                  </p:childTnLst>
                                </p:cTn>
                              </p:par>
                            </p:childTnLst>
                          </p:cTn>
                        </p:par>
                        <p:par>
                          <p:cTn id="974" nodeType="afterEffect" fill="hold">
                            <p:stCondLst>
                              <p:cond delay="1000"/>
                            </p:stCondLst>
                            <p:childTnLst>
                              <p:par>
                                <p:cTn id="975" nodeType="afterEffect" fill="hold" presetClass="entr" presetID="22" presetSubtype="4">
                                  <p:stCondLst>
                                    <p:cond delay="0"/>
                                  </p:stCondLst>
                                  <p:childTnLst>
                                    <p:set>
                                      <p:cBhvr>
                                        <p:cTn id="976" dur="1" fill="hold">
                                          <p:stCondLst>
                                            <p:cond delay="0"/>
                                          </p:stCondLst>
                                        </p:cTn>
                                        <p:tgtEl>
                                          <p:spTgt spid="706"/>
                                        </p:tgtEl>
                                        <p:attrNameLst>
                                          <p:attrName>style.visibility</p:attrName>
                                        </p:attrNameLst>
                                      </p:cBhvr>
                                      <p:to>
                                        <p:strVal val="visible"/>
                                      </p:to>
                                    </p:set>
                                    <p:animEffect filter="wipe(down)" transition="in">
                                      <p:cBhvr additive="repl">
                                        <p:cTn id="977" dur="500"/>
                                        <p:tgtEl>
                                          <p:spTgt spid="706"/>
                                        </p:tgtEl>
                                      </p:cBhvr>
                                    </p:animEffect>
                                  </p:childTnLst>
                                </p:cTn>
                              </p:par>
                            </p:childTnLst>
                          </p:cTn>
                        </p:par>
                        <p:par>
                          <p:cTn id="978" nodeType="afterEffect" fill="hold">
                            <p:stCondLst>
                              <p:cond delay="1500"/>
                            </p:stCondLst>
                            <p:childTnLst>
                              <p:par>
                                <p:cTn id="979" nodeType="afterEffect" fill="hold" presetClass="entr" presetID="53" presetSubtype="16">
                                  <p:stCondLst>
                                    <p:cond delay="0"/>
                                  </p:stCondLst>
                                  <p:childTnLst>
                                    <p:set>
                                      <p:cBhvr>
                                        <p:cTn id="980" dur="1" fill="hold">
                                          <p:stCondLst>
                                            <p:cond delay="0"/>
                                          </p:stCondLst>
                                        </p:cTn>
                                        <p:tgtEl>
                                          <p:spTgt spid="708"/>
                                        </p:tgtEl>
                                        <p:attrNameLst>
                                          <p:attrName>style.visibility</p:attrName>
                                        </p:attrNameLst>
                                      </p:cBhvr>
                                      <p:to>
                                        <p:strVal val="visible"/>
                                      </p:to>
                                    </p:set>
                                    <p:anim calcmode="lin" valueType="num">
                                      <p:cBhvr additive="repl">
                                        <p:cTn id="981" dur="500" fill="hold"/>
                                        <p:tgtEl>
                                          <p:spTgt spid="708"/>
                                        </p:tgtEl>
                                        <p:attrNameLst>
                                          <p:attrName>ppt_w</p:attrName>
                                        </p:attrNameLst>
                                      </p:cBhvr>
                                      <p:tavLst>
                                        <p:tav tm="0">
                                          <p:val>
                                            <p:fltVal val="0"/>
                                          </p:val>
                                        </p:tav>
                                        <p:tav tm="100000">
                                          <p:val>
                                            <p:strVal val="#ppt_w"/>
                                          </p:val>
                                        </p:tav>
                                      </p:tavLst>
                                    </p:anim>
                                    <p:anim calcmode="lin" valueType="num">
                                      <p:cBhvr additive="repl">
                                        <p:cTn id="982" dur="500" fill="hold"/>
                                        <p:tgtEl>
                                          <p:spTgt spid="708"/>
                                        </p:tgtEl>
                                        <p:attrNameLst>
                                          <p:attrName>ppt_h</p:attrName>
                                        </p:attrNameLst>
                                      </p:cBhvr>
                                      <p:tavLst>
                                        <p:tav tm="0">
                                          <p:val>
                                            <p:fltVal val="0"/>
                                          </p:val>
                                        </p:tav>
                                        <p:tav tm="100000">
                                          <p:val>
                                            <p:strVal val="#ppt_h"/>
                                          </p:val>
                                        </p:tav>
                                      </p:tavLst>
                                    </p:anim>
                                    <p:animEffect filter="fade" transition="in">
                                      <p:cBhvr additive="repl">
                                        <p:cTn id="983" dur="500"/>
                                        <p:tgtEl>
                                          <p:spTgt spid="708"/>
                                        </p:tgtEl>
                                      </p:cBhvr>
                                    </p:animEffect>
                                  </p:childTnLst>
                                </p:cTn>
                              </p:par>
                            </p:childTnLst>
                          </p:cTn>
                        </p:par>
                      </p:childTnLst>
                    </p:cTn>
                  </p:par>
                  <p:par>
                    <p:cTn id="984" nodeType="clickEffect" fill="hold">
                      <p:stCondLst>
                        <p:cond delay="indefinite"/>
                      </p:stCondLst>
                      <p:childTnLst>
                        <p:par>
                          <p:cTn id="985" nodeType="withEffect" fill="hold">
                            <p:stCondLst>
                              <p:cond delay="0"/>
                            </p:stCondLst>
                            <p:childTnLst>
                              <p:par>
                                <p:cTn id="986" nodeType="clickEffect" fill="hold" presetClass="entr" presetID="22" presetSubtype="4">
                                  <p:stCondLst>
                                    <p:cond delay="0"/>
                                  </p:stCondLst>
                                  <p:childTnLst>
                                    <p:set>
                                      <p:cBhvr>
                                        <p:cTn id="987" dur="1" fill="hold">
                                          <p:stCondLst>
                                            <p:cond delay="0"/>
                                          </p:stCondLst>
                                        </p:cTn>
                                        <p:tgtEl>
                                          <p:spTgt spid="709"/>
                                        </p:tgtEl>
                                        <p:attrNameLst>
                                          <p:attrName>style.visibility</p:attrName>
                                        </p:attrNameLst>
                                      </p:cBhvr>
                                      <p:to>
                                        <p:strVal val="visible"/>
                                      </p:to>
                                    </p:set>
                                    <p:animEffect filter="wipe(down)" transition="in">
                                      <p:cBhvr additive="repl">
                                        <p:cTn id="988" dur="500"/>
                                        <p:tgtEl>
                                          <p:spTgt spid="709"/>
                                        </p:tgtEl>
                                      </p:cBhvr>
                                    </p:animEffect>
                                  </p:childTnLst>
                                </p:cTn>
                              </p:par>
                            </p:childTnLst>
                          </p:cTn>
                        </p:par>
                        <p:par>
                          <p:cTn id="989" nodeType="afterEffect" fill="hold">
                            <p:stCondLst>
                              <p:cond delay="500"/>
                            </p:stCondLst>
                            <p:childTnLst>
                              <p:par>
                                <p:cTn id="990" nodeType="afterEffect" fill="hold" presetClass="entr" presetID="22" presetSubtype="2">
                                  <p:stCondLst>
                                    <p:cond delay="0"/>
                                  </p:stCondLst>
                                  <p:childTnLst>
                                    <p:set>
                                      <p:cBhvr>
                                        <p:cTn id="991" dur="1" fill="hold">
                                          <p:stCondLst>
                                            <p:cond delay="0"/>
                                          </p:stCondLst>
                                        </p:cTn>
                                        <p:tgtEl>
                                          <p:spTgt spid="710"/>
                                        </p:tgtEl>
                                        <p:attrNameLst>
                                          <p:attrName>style.visibility</p:attrName>
                                        </p:attrNameLst>
                                      </p:cBhvr>
                                      <p:to>
                                        <p:strVal val="visible"/>
                                      </p:to>
                                    </p:set>
                                    <p:animEffect filter="wipe(right)" transition="in">
                                      <p:cBhvr additive="repl">
                                        <p:cTn id="992" dur="500"/>
                                        <p:tgtEl>
                                          <p:spTgt spid="710"/>
                                        </p:tgtEl>
                                      </p:cBhvr>
                                    </p:animEffect>
                                  </p:childTnLst>
                                </p:cTn>
                              </p:par>
                              <p:par>
                                <p:cTn id="993" nodeType="withEffect" fill="hold" presetClass="entr" presetID="53" presetSubtype="16">
                                  <p:stCondLst>
                                    <p:cond delay="0"/>
                                  </p:stCondLst>
                                  <p:childTnLst>
                                    <p:set>
                                      <p:cBhvr>
                                        <p:cTn id="994" dur="1" fill="hold">
                                          <p:stCondLst>
                                            <p:cond delay="0"/>
                                          </p:stCondLst>
                                        </p:cTn>
                                        <p:tgtEl>
                                          <p:spTgt spid="711"/>
                                        </p:tgtEl>
                                        <p:attrNameLst>
                                          <p:attrName>style.visibility</p:attrName>
                                        </p:attrNameLst>
                                      </p:cBhvr>
                                      <p:to>
                                        <p:strVal val="visible"/>
                                      </p:to>
                                    </p:set>
                                    <p:anim calcmode="lin" valueType="num">
                                      <p:cBhvr additive="repl">
                                        <p:cTn id="995" dur="500" fill="hold"/>
                                        <p:tgtEl>
                                          <p:spTgt spid="711"/>
                                        </p:tgtEl>
                                        <p:attrNameLst>
                                          <p:attrName>ppt_w</p:attrName>
                                        </p:attrNameLst>
                                      </p:cBhvr>
                                      <p:tavLst>
                                        <p:tav tm="0">
                                          <p:val>
                                            <p:fltVal val="0"/>
                                          </p:val>
                                        </p:tav>
                                        <p:tav tm="100000">
                                          <p:val>
                                            <p:strVal val="#ppt_w"/>
                                          </p:val>
                                        </p:tav>
                                      </p:tavLst>
                                    </p:anim>
                                    <p:anim calcmode="lin" valueType="num">
                                      <p:cBhvr additive="repl">
                                        <p:cTn id="996" dur="500" fill="hold"/>
                                        <p:tgtEl>
                                          <p:spTgt spid="711"/>
                                        </p:tgtEl>
                                        <p:attrNameLst>
                                          <p:attrName>ppt_h</p:attrName>
                                        </p:attrNameLst>
                                      </p:cBhvr>
                                      <p:tavLst>
                                        <p:tav tm="0">
                                          <p:val>
                                            <p:fltVal val="0"/>
                                          </p:val>
                                        </p:tav>
                                        <p:tav tm="100000">
                                          <p:val>
                                            <p:strVal val="#ppt_h"/>
                                          </p:val>
                                        </p:tav>
                                      </p:tavLst>
                                    </p:anim>
                                    <p:animEffect filter="fade" transition="in">
                                      <p:cBhvr additive="repl">
                                        <p:cTn id="997" dur="500"/>
                                        <p:tgtEl>
                                          <p:spTgt spid="711"/>
                                        </p:tgtEl>
                                      </p:cBhvr>
                                    </p:animEffect>
                                  </p:childTnLst>
                                </p:cTn>
                              </p:par>
                            </p:childTnLst>
                          </p:cTn>
                        </p:par>
                      </p:childTnLst>
                    </p:cTn>
                  </p:par>
                  <p:par>
                    <p:cTn id="998" nodeType="clickEffect" fill="hold">
                      <p:stCondLst>
                        <p:cond delay="indefinite"/>
                      </p:stCondLst>
                      <p:childTnLst>
                        <p:par>
                          <p:cTn id="999" nodeType="withEffect" fill="hold">
                            <p:stCondLst>
                              <p:cond delay="0"/>
                            </p:stCondLst>
                            <p:childTnLst>
                              <p:par>
                                <p:cTn id="1000" nodeType="clickEffect" fill="hold" presetClass="entr" presetID="22" presetSubtype="4">
                                  <p:stCondLst>
                                    <p:cond delay="0"/>
                                  </p:stCondLst>
                                  <p:childTnLst>
                                    <p:set>
                                      <p:cBhvr>
                                        <p:cTn id="1001" dur="1" fill="hold">
                                          <p:stCondLst>
                                            <p:cond delay="0"/>
                                          </p:stCondLst>
                                        </p:cTn>
                                        <p:tgtEl>
                                          <p:spTgt spid="712"/>
                                        </p:tgtEl>
                                        <p:attrNameLst>
                                          <p:attrName>style.visibility</p:attrName>
                                        </p:attrNameLst>
                                      </p:cBhvr>
                                      <p:to>
                                        <p:strVal val="visible"/>
                                      </p:to>
                                    </p:set>
                                    <p:animEffect filter="wipe(down)" transition="in">
                                      <p:cBhvr additive="repl">
                                        <p:cTn id="1002" dur="500"/>
                                        <p:tgtEl>
                                          <p:spTgt spid="712"/>
                                        </p:tgtEl>
                                      </p:cBhvr>
                                    </p:animEffect>
                                  </p:childTnLst>
                                </p:cTn>
                              </p:par>
                            </p:childTnLst>
                          </p:cTn>
                        </p:par>
                        <p:par>
                          <p:cTn id="1003" nodeType="afterEffect" fill="hold">
                            <p:stCondLst>
                              <p:cond delay="500"/>
                            </p:stCondLst>
                            <p:childTnLst>
                              <p:par>
                                <p:cTn id="1004" nodeType="afterEffect" fill="hold" presetClass="entr" presetID="22" presetSubtype="2">
                                  <p:stCondLst>
                                    <p:cond delay="0"/>
                                  </p:stCondLst>
                                  <p:childTnLst>
                                    <p:set>
                                      <p:cBhvr>
                                        <p:cTn id="1005" dur="1" fill="hold">
                                          <p:stCondLst>
                                            <p:cond delay="0"/>
                                          </p:stCondLst>
                                        </p:cTn>
                                        <p:tgtEl>
                                          <p:spTgt spid="713"/>
                                        </p:tgtEl>
                                        <p:attrNameLst>
                                          <p:attrName>style.visibility</p:attrName>
                                        </p:attrNameLst>
                                      </p:cBhvr>
                                      <p:to>
                                        <p:strVal val="visible"/>
                                      </p:to>
                                    </p:set>
                                    <p:animEffect filter="wipe(right)" transition="in">
                                      <p:cBhvr additive="repl">
                                        <p:cTn id="1006" dur="500"/>
                                        <p:tgtEl>
                                          <p:spTgt spid="7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9" name="Image 1" descr=""/>
          <p:cNvPicPr/>
          <p:nvPr/>
        </p:nvPicPr>
        <p:blipFill>
          <a:blip r:embed="rId1"/>
          <a:srcRect l="8787" t="21358" r="58360" b="8416"/>
          <a:stretch/>
        </p:blipFill>
        <p:spPr>
          <a:xfrm>
            <a:off x="108000" y="0"/>
            <a:ext cx="5256000" cy="6858000"/>
          </a:xfrm>
          <a:prstGeom prst="rect">
            <a:avLst/>
          </a:prstGeom>
          <a:noFill/>
          <a:ln w="0">
            <a:noFill/>
          </a:ln>
        </p:spPr>
      </p:pic>
      <p:pic>
        <p:nvPicPr>
          <p:cNvPr id="740" name="Image 2" descr=""/>
          <p:cNvPicPr/>
          <p:nvPr/>
        </p:nvPicPr>
        <p:blipFill>
          <a:blip r:embed="rId2"/>
          <a:srcRect l="28265" t="29102" r="28066" b="29895"/>
          <a:stretch/>
        </p:blipFill>
        <p:spPr>
          <a:xfrm>
            <a:off x="5364000" y="0"/>
            <a:ext cx="3780000" cy="3573360"/>
          </a:xfrm>
          <a:prstGeom prst="rect">
            <a:avLst/>
          </a:prstGeom>
          <a:noFill/>
          <a:ln w="0">
            <a:noFill/>
          </a:ln>
        </p:spPr>
      </p:pic>
      <p:sp>
        <p:nvSpPr>
          <p:cNvPr id="741" name="ZoneTexte 3"/>
          <p:cNvSpPr/>
          <p:nvPr/>
        </p:nvSpPr>
        <p:spPr>
          <a:xfrm>
            <a:off x="86040" y="6464160"/>
            <a:ext cx="14601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000000"/>
                </a:solidFill>
                <a:effectLst/>
                <a:uFillTx/>
                <a:latin typeface="Calibri"/>
                <a:ea typeface="Calibri"/>
              </a:rPr>
              <a:t>CAZORLA 2010</a:t>
            </a:r>
            <a:endParaRPr b="0" lang="en-US" sz="1200" strike="noStrike" u="none">
              <a:solidFill>
                <a:srgbClr val="ffff00"/>
              </a:solidFill>
              <a:effectLst/>
              <a:uFillTx/>
              <a:latin typeface="Times New Roman"/>
            </a:endParaRPr>
          </a:p>
        </p:txBody>
      </p:sp>
    </p:spTree>
  </p:cSld>
  <p:transition spd="med">
    <p:zoom dir="out"/>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Rectangle 2"/>
          <p:cNvSpPr/>
          <p:nvPr/>
        </p:nvSpPr>
        <p:spPr>
          <a:xfrm>
            <a:off x="609480" y="2666880"/>
            <a:ext cx="7772400" cy="1447920"/>
          </a:xfrm>
          <a:prstGeom prst="rect">
            <a:avLst/>
          </a:prstGeom>
          <a:noFill/>
          <a:ln w="0">
            <a:noFill/>
          </a:ln>
        </p:spPr>
        <p:style>
          <a:lnRef idx="0"/>
          <a:fillRef idx="0"/>
          <a:effectRef idx="0"/>
          <a:fontRef idx="minor"/>
        </p:style>
        <p:txBody>
          <a:bodyPr lIns="90000" rIns="90000" tIns="46800" bIns="46800" anchor="ctr">
            <a:no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2800" strike="noStrike" u="none">
                <a:solidFill>
                  <a:srgbClr val="ffffff"/>
                </a:solidFill>
                <a:effectLst/>
                <a:uFillTx/>
                <a:latin typeface="Bookman Old Style"/>
              </a:rPr>
              <a:t>II - CROISSANCE ET DEVELOPPEMENT </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2800" strike="noStrike" u="none">
                <a:solidFill>
                  <a:srgbClr val="ffffff"/>
                </a:solidFill>
                <a:effectLst/>
                <a:uFillTx/>
                <a:latin typeface="Bookman Old Style"/>
              </a:rPr>
              <a:t>DES DIFFERENTS TISSUS</a:t>
            </a:r>
            <a:r>
              <a:rPr b="0" lang="es-CL" sz="2800" strike="noStrike" u="none">
                <a:solidFill>
                  <a:srgbClr val="ffffff"/>
                </a:solidFill>
                <a:effectLst/>
                <a:uFillTx/>
                <a:latin typeface="Bookman Old Style"/>
              </a:rPr>
              <a:t> </a:t>
            </a:r>
            <a:endParaRPr b="0" lang="en-US" sz="2800" strike="noStrike" u="none">
              <a:solidFill>
                <a:srgbClr val="ffff00"/>
              </a:solidFill>
              <a:effectLst/>
              <a:uFillTx/>
              <a:latin typeface="Times New Roman"/>
            </a:endParaRPr>
          </a:p>
        </p:txBody>
      </p:sp>
    </p:spTree>
  </p:cSld>
  <p:transition spd="med">
    <p:zoom dir="out"/>
  </p:transition>
  <p:timing>
    <p:tnLst>
      <p:par>
        <p:cTn id="1007" dur="indefinite" restart="never" nodeType="tmRoot">
          <p:childTnLst>
            <p:seq>
              <p:cTn id="1008" dur="indefinite" nodeType="mainSeq">
                <p:childTnLst>
                  <p:par>
                    <p:cTn id="1009" nodeType="clickEffect" fill="hold">
                      <p:stCondLst>
                        <p:cond delay="0"/>
                      </p:stCondLst>
                      <p:childTnLst>
                        <p:par>
                          <p:cTn id="1010" nodeType="withEffect" fill="hold">
                            <p:stCondLst>
                              <p:cond delay="0"/>
                            </p:stCondLst>
                            <p:childTnLst>
                              <p:par>
                                <p:cTn id="1011" nodeType="afterEffect" fill="hold" presetClass="entr" presetID="9">
                                  <p:stCondLst>
                                    <p:cond delay="0"/>
                                  </p:stCondLst>
                                  <p:childTnLst>
                                    <p:set>
                                      <p:cBhvr>
                                        <p:cTn id="1012" dur="1" fill="hold">
                                          <p:stCondLst>
                                            <p:cond delay="0"/>
                                          </p:stCondLst>
                                        </p:cTn>
                                        <p:tgtEl>
                                          <p:spTgt spid="742"/>
                                        </p:tgtEl>
                                        <p:attrNameLst>
                                          <p:attrName>style.visibility</p:attrName>
                                        </p:attrNameLst>
                                      </p:cBhvr>
                                      <p:to>
                                        <p:strVal val="visible"/>
                                      </p:to>
                                    </p:set>
                                    <p:animEffect filter="dissolve" transition="in">
                                      <p:cBhvr additive="repl">
                                        <p:cTn id="1013" dur="500"/>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Rectangle 2"/>
          <p:cNvSpPr/>
          <p:nvPr/>
        </p:nvSpPr>
        <p:spPr>
          <a:xfrm>
            <a:off x="900000" y="2654280"/>
            <a:ext cx="7417080" cy="76212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3200" strike="noStrike" u="none">
                <a:solidFill>
                  <a:srgbClr val="ffffff"/>
                </a:solidFill>
                <a:effectLst/>
                <a:uFillTx/>
                <a:latin typeface="Calibri"/>
                <a:ea typeface="Calibri"/>
              </a:rPr>
              <a:t>II-1- TISSU NERVEUX ET MOTRICITE</a:t>
            </a:r>
            <a:endParaRPr b="0" lang="en-US" sz="3200" strike="noStrike" u="none">
              <a:solidFill>
                <a:srgbClr val="ffff00"/>
              </a:solidFill>
              <a:effectLst/>
              <a:uFillTx/>
              <a:latin typeface="Times New Roman"/>
            </a:endParaRPr>
          </a:p>
        </p:txBody>
      </p:sp>
    </p:spTree>
  </p:cSld>
  <p:transition spd="med">
    <p:zoom dir="out"/>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4" name="Picture 2" descr=""/>
          <p:cNvPicPr/>
          <p:nvPr/>
        </p:nvPicPr>
        <p:blipFill>
          <a:blip r:embed="rId1"/>
          <a:stretch/>
        </p:blipFill>
        <p:spPr>
          <a:xfrm>
            <a:off x="1447920" y="0"/>
            <a:ext cx="6705360" cy="5572080"/>
          </a:xfrm>
          <a:prstGeom prst="rect">
            <a:avLst/>
          </a:prstGeom>
          <a:noFill/>
          <a:ln w="0">
            <a:noFill/>
          </a:ln>
        </p:spPr>
      </p:pic>
      <p:sp>
        <p:nvSpPr>
          <p:cNvPr id="745" name="Text Box 3"/>
          <p:cNvSpPr/>
          <p:nvPr/>
        </p:nvSpPr>
        <p:spPr>
          <a:xfrm>
            <a:off x="75960" y="5751360"/>
            <a:ext cx="908748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Maturation neuronale : enrichissement progressif en prolongements porteurs des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contacts synaptiques. Cette floraison synaptiques est maximum à 6 mois dans les aires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visuelles, à deux ans dans les aires motrices et persiste jusqu’à l’adolescence dans les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régions associatives</a:t>
            </a:r>
            <a:endParaRPr b="0" lang="en-US" sz="1800" strike="noStrike" u="none">
              <a:solidFill>
                <a:srgbClr val="ffff00"/>
              </a:solidFill>
              <a:effectLst/>
              <a:uFillTx/>
              <a:latin typeface="Times New Roman"/>
            </a:endParaRPr>
          </a:p>
        </p:txBody>
      </p:sp>
    </p:spTree>
  </p:cSld>
  <p:transition spd="med">
    <p:zoom dir="out"/>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6" name="Picture 2" descr=""/>
          <p:cNvPicPr/>
          <p:nvPr/>
        </p:nvPicPr>
        <p:blipFill>
          <a:blip r:embed="rId1"/>
          <a:srcRect l="0" t="0" r="0" b="80061"/>
          <a:stretch/>
        </p:blipFill>
        <p:spPr>
          <a:xfrm>
            <a:off x="152280" y="609480"/>
            <a:ext cx="8839440" cy="2266920"/>
          </a:xfrm>
          <a:prstGeom prst="rect">
            <a:avLst/>
          </a:prstGeom>
          <a:noFill/>
          <a:ln w="0">
            <a:noFill/>
          </a:ln>
        </p:spPr>
      </p:pic>
      <p:pic>
        <p:nvPicPr>
          <p:cNvPr id="747" name="Picture 3" descr=""/>
          <p:cNvPicPr/>
          <p:nvPr/>
        </p:nvPicPr>
        <p:blipFill>
          <a:blip r:embed="rId2"/>
          <a:srcRect l="0" t="21069" r="0" b="56381"/>
          <a:stretch/>
        </p:blipFill>
        <p:spPr>
          <a:xfrm>
            <a:off x="152280" y="3051000"/>
            <a:ext cx="8839440" cy="2562480"/>
          </a:xfrm>
          <a:prstGeom prst="rect">
            <a:avLst/>
          </a:prstGeom>
          <a:noFill/>
          <a:ln w="0">
            <a:noFill/>
          </a:ln>
        </p:spPr>
      </p:pic>
      <p:sp>
        <p:nvSpPr>
          <p:cNvPr id="748" name="Text Box 4"/>
          <p:cNvSpPr/>
          <p:nvPr/>
        </p:nvSpPr>
        <p:spPr>
          <a:xfrm>
            <a:off x="1618560" y="166680"/>
            <a:ext cx="53881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EVOLUTION DU NEURONE AVEC L’ÂGE</a:t>
            </a:r>
            <a:endParaRPr b="0" lang="en-US" sz="2000" strike="noStrike" u="none">
              <a:solidFill>
                <a:srgbClr val="ffff00"/>
              </a:solidFill>
              <a:effectLst/>
              <a:uFillTx/>
              <a:latin typeface="Times New Roman"/>
            </a:endParaRPr>
          </a:p>
        </p:txBody>
      </p:sp>
      <p:sp>
        <p:nvSpPr>
          <p:cNvPr id="749" name="Text Box 5"/>
          <p:cNvSpPr/>
          <p:nvPr/>
        </p:nvSpPr>
        <p:spPr>
          <a:xfrm>
            <a:off x="-77040" y="5667480"/>
            <a:ext cx="936792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L’évolution porte aussi bien sur des aspects morphologiques ( richesse dendritiques,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diamètre de l’axone que sur sur des aspects fonctionnels (vitesse de conduction, quantité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de médiateurs disponibles: Ach selon la prédominance des enzymes de synthèse ChAc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Arial"/>
              </a:rPr>
              <a:t>(Cholinacétylase: maturation) ou de dégradation AChE (Acétylcholinestérase: sénéscence </a:t>
            </a:r>
            <a:endParaRPr b="0" lang="en-US" sz="1800" strike="noStrike" u="none">
              <a:solidFill>
                <a:srgbClr val="ffff00"/>
              </a:solidFill>
              <a:effectLst/>
              <a:uFillTx/>
              <a:latin typeface="Times New Roman"/>
            </a:endParaRPr>
          </a:p>
        </p:txBody>
      </p:sp>
    </p:spTree>
  </p:cSld>
  <p:transition spd="med">
    <p:zoom dir="out"/>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0" name="Picture 2" descr=""/>
          <p:cNvPicPr/>
          <p:nvPr/>
        </p:nvPicPr>
        <p:blipFill>
          <a:blip r:embed="rId1"/>
          <a:srcRect l="0" t="25097" r="0" b="56381"/>
          <a:stretch/>
        </p:blipFill>
        <p:spPr>
          <a:xfrm>
            <a:off x="152280" y="685800"/>
            <a:ext cx="8839440" cy="2104920"/>
          </a:xfrm>
          <a:prstGeom prst="rect">
            <a:avLst/>
          </a:prstGeom>
          <a:noFill/>
          <a:ln w="0">
            <a:noFill/>
          </a:ln>
        </p:spPr>
      </p:pic>
      <p:pic>
        <p:nvPicPr>
          <p:cNvPr id="751" name="Picture 3" descr=""/>
          <p:cNvPicPr/>
          <p:nvPr/>
        </p:nvPicPr>
        <p:blipFill>
          <a:blip r:embed="rId2"/>
          <a:srcRect l="0" t="49927" r="0" b="25927"/>
          <a:stretch/>
        </p:blipFill>
        <p:spPr>
          <a:xfrm>
            <a:off x="152280" y="2971800"/>
            <a:ext cx="8839440" cy="2743200"/>
          </a:xfrm>
          <a:prstGeom prst="rect">
            <a:avLst/>
          </a:prstGeom>
          <a:noFill/>
          <a:ln w="0">
            <a:noFill/>
          </a:ln>
        </p:spPr>
      </p:pic>
      <p:sp>
        <p:nvSpPr>
          <p:cNvPr id="752" name="Text Box 4"/>
          <p:cNvSpPr/>
          <p:nvPr/>
        </p:nvSpPr>
        <p:spPr>
          <a:xfrm>
            <a:off x="1783800" y="166680"/>
            <a:ext cx="53881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EVOLUTION DU NEURONE AVEC L’ÂGE</a:t>
            </a:r>
            <a:endParaRPr b="0" lang="en-US" sz="2000" strike="noStrike" u="none">
              <a:solidFill>
                <a:srgbClr val="ffff00"/>
              </a:solidFill>
              <a:effectLst/>
              <a:uFillTx/>
              <a:latin typeface="Times New Roman"/>
            </a:endParaRPr>
          </a:p>
        </p:txBody>
      </p:sp>
      <p:sp>
        <p:nvSpPr>
          <p:cNvPr id="753" name="Text Box 5"/>
          <p:cNvSpPr/>
          <p:nvPr/>
        </p:nvSpPr>
        <p:spPr>
          <a:xfrm>
            <a:off x="81000" y="5867280"/>
            <a:ext cx="9042120" cy="916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Maturation </a:t>
            </a:r>
            <a:r>
              <a:rPr b="0" lang="fr-FR" sz="1800" strike="noStrike" u="none">
                <a:solidFill>
                  <a:srgbClr val="ffff00"/>
                </a:solidFill>
                <a:effectLst/>
                <a:uFillTx/>
                <a:latin typeface="Symbol"/>
                <a:ea typeface="Symbol"/>
              </a:rPr>
              <a:t></a:t>
            </a:r>
            <a:r>
              <a:rPr b="0" lang="fr-FR" sz="1800" strike="noStrike" u="none">
                <a:solidFill>
                  <a:srgbClr val="ffff00"/>
                </a:solidFill>
                <a:effectLst/>
                <a:uFillTx/>
                <a:latin typeface="Arial"/>
              </a:rPr>
              <a:t> maturité : optimum des dendrites, augmentation du diamètre de l’axone et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 de la vitesse de conduction des potentiels d’action (de 50 à 100 m/s), autant de ChAc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que d’AChE = équilibre dans la production et dans la dégradation de l’ACh</a:t>
            </a:r>
            <a:endParaRPr b="0" lang="en-US" sz="1800" strike="noStrike" u="none">
              <a:solidFill>
                <a:srgbClr val="ffff00"/>
              </a:solidFill>
              <a:effectLst/>
              <a:uFillTx/>
              <a:latin typeface="Times New Roman"/>
            </a:endParaRPr>
          </a:p>
        </p:txBody>
      </p:sp>
    </p:spTree>
  </p:cSld>
  <p:transition spd="med">
    <p:zoom dir="out"/>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4" name="Picture 2" descr=""/>
          <p:cNvPicPr/>
          <p:nvPr/>
        </p:nvPicPr>
        <p:blipFill>
          <a:blip r:embed="rId1"/>
          <a:srcRect l="0" t="49927" r="0" b="25252"/>
          <a:stretch/>
        </p:blipFill>
        <p:spPr>
          <a:xfrm>
            <a:off x="152280" y="380880"/>
            <a:ext cx="8839440" cy="2819520"/>
          </a:xfrm>
          <a:prstGeom prst="rect">
            <a:avLst/>
          </a:prstGeom>
          <a:noFill/>
          <a:ln w="0">
            <a:noFill/>
          </a:ln>
        </p:spPr>
      </p:pic>
      <p:pic>
        <p:nvPicPr>
          <p:cNvPr id="755" name="Picture 3" descr=""/>
          <p:cNvPicPr/>
          <p:nvPr/>
        </p:nvPicPr>
        <p:blipFill>
          <a:blip r:embed="rId2"/>
          <a:srcRect l="0" t="77451" r="0" b="0"/>
          <a:stretch/>
        </p:blipFill>
        <p:spPr>
          <a:xfrm>
            <a:off x="228600" y="3505320"/>
            <a:ext cx="8763120" cy="2539800"/>
          </a:xfrm>
          <a:prstGeom prst="rect">
            <a:avLst/>
          </a:prstGeom>
          <a:noFill/>
          <a:ln w="0">
            <a:noFill/>
          </a:ln>
        </p:spPr>
      </p:pic>
    </p:spTree>
  </p:cSld>
  <p:transition spd="med">
    <p:zoom dir="out"/>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title"/>
          </p:nvPr>
        </p:nvSpPr>
        <p:spPr>
          <a:xfrm>
            <a:off x="685800" y="151920"/>
            <a:ext cx="7772400" cy="76212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2800" strike="noStrike" u="none">
                <a:solidFill>
                  <a:srgbClr val="ffff00"/>
                </a:solidFill>
                <a:effectLst/>
                <a:uFillTx/>
                <a:latin typeface="Arial"/>
              </a:rPr>
              <a:t>TISSU NERVEUX</a:t>
            </a:r>
            <a:endParaRPr b="0" lang="en-US" sz="2800" strike="noStrike" u="none">
              <a:solidFill>
                <a:srgbClr val="ffffff"/>
              </a:solidFill>
              <a:effectLst/>
              <a:uFillTx/>
              <a:latin typeface="Times New Roman"/>
            </a:endParaRPr>
          </a:p>
        </p:txBody>
      </p:sp>
      <p:sp>
        <p:nvSpPr>
          <p:cNvPr id="757" name="PlaceHolder 2"/>
          <p:cNvSpPr>
            <a:spLocks noGrp="1"/>
          </p:cNvSpPr>
          <p:nvPr>
            <p:ph/>
          </p:nvPr>
        </p:nvSpPr>
        <p:spPr>
          <a:xfrm>
            <a:off x="304920" y="1219320"/>
            <a:ext cx="8534160" cy="1218960"/>
          </a:xfrm>
          <a:prstGeom prst="rect">
            <a:avLst/>
          </a:prstGeom>
          <a:noFill/>
          <a:ln w="0">
            <a:noFill/>
          </a:ln>
        </p:spPr>
        <p:txBody>
          <a:bodyPr lIns="91440" rIns="91440" tIns="45720" bIns="45720" anchor="t">
            <a:normAutofit/>
          </a:bodyPr>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1 </a:t>
            </a:r>
            <a:r>
              <a:rPr b="1" lang="es-CL" sz="2000" strike="noStrike" u="none">
                <a:solidFill>
                  <a:srgbClr val="ffff00"/>
                </a:solidFill>
                <a:effectLst/>
                <a:uFillTx/>
                <a:latin typeface="Arial"/>
              </a:rPr>
              <a:t>- Le tissu nerveux se développe dans deux domaines :</a:t>
            </a:r>
            <a:endParaRPr b="0" lang="en-US" sz="2000" strike="noStrike" u="none">
              <a:solidFill>
                <a:srgbClr val="ffff00"/>
              </a:solidFill>
              <a:effectLst/>
              <a:uFillTx/>
              <a:latin typeface="Times New Roman"/>
            </a:endParaRPr>
          </a:p>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ff"/>
                </a:solidFill>
                <a:effectLst/>
                <a:uFillTx/>
                <a:latin typeface="Arial"/>
              </a:rPr>
              <a:t> . la prolifération dendritique et la myélinisation d’une part,</a:t>
            </a:r>
            <a:endParaRPr b="0" lang="en-US" sz="2000" strike="noStrike" u="none">
              <a:solidFill>
                <a:srgbClr val="ffff00"/>
              </a:solidFill>
              <a:effectLst/>
              <a:uFillTx/>
              <a:latin typeface="Times New Roman"/>
            </a:endParaRPr>
          </a:p>
        </p:txBody>
      </p:sp>
      <p:sp>
        <p:nvSpPr>
          <p:cNvPr id="758" name="Text Box 4"/>
          <p:cNvSpPr/>
          <p:nvPr/>
        </p:nvSpPr>
        <p:spPr>
          <a:xfrm>
            <a:off x="457200" y="2514600"/>
            <a:ext cx="8685360" cy="1283040"/>
          </a:xfrm>
          <a:prstGeom prst="rect">
            <a:avLst/>
          </a:prstGeom>
          <a:noFill/>
          <a:ln w="0">
            <a:noFill/>
          </a:ln>
        </p:spPr>
        <p:style>
          <a:lnRef idx="0"/>
          <a:fillRef idx="0"/>
          <a:effectRef idx="0"/>
          <a:fontRef idx="minor"/>
        </p:style>
        <p:txBody>
          <a:bodyPr lIns="90000" rIns="90000" tIns="46800" bIns="46800" anchor="t">
            <a:spAutoFit/>
          </a:bodyPr>
          <a:p>
            <a:pPr>
              <a:lnSpc>
                <a:spcPct val="13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 La totalité de la prolifération dendritique est réalisée au cours du développement embryologique, tandis que la myélinisation des fibres nerveuses est plus progressive. </a:t>
            </a:r>
            <a:endParaRPr b="0" lang="en-US" sz="2000" strike="noStrike" u="none">
              <a:solidFill>
                <a:srgbClr val="ffff00"/>
              </a:solidFill>
              <a:effectLst/>
              <a:uFillTx/>
              <a:latin typeface="Times New Roman"/>
            </a:endParaRPr>
          </a:p>
        </p:txBody>
      </p:sp>
      <p:sp>
        <p:nvSpPr>
          <p:cNvPr id="759" name="Text Box 5"/>
          <p:cNvSpPr/>
          <p:nvPr/>
        </p:nvSpPr>
        <p:spPr>
          <a:xfrm>
            <a:off x="431280" y="3951360"/>
            <a:ext cx="8538840" cy="9471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La myélinisation du cortex se fait plus rapidement pendant l’enfance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et se poursuit jusqu’au cours de la période pré-pubertaire.</a:t>
            </a:r>
            <a:endParaRPr b="0" lang="en-US" sz="2000" strike="noStrike" u="none">
              <a:solidFill>
                <a:srgbClr val="ffff00"/>
              </a:solidFill>
              <a:effectLst/>
              <a:uFillTx/>
              <a:latin typeface="Times New Roman"/>
            </a:endParaRPr>
          </a:p>
        </p:txBody>
      </p:sp>
      <p:sp>
        <p:nvSpPr>
          <p:cNvPr id="760" name="Text Box 6"/>
          <p:cNvSpPr/>
          <p:nvPr/>
        </p:nvSpPr>
        <p:spPr>
          <a:xfrm>
            <a:off x="366840" y="5083200"/>
            <a:ext cx="8694360" cy="13737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 et d’autre part, la multiplication des liaisons synaptiques qui confère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une très importante « plasticité » au système neuro-moteur dés lors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qu’il est fortement sollicité par son environnement.</a:t>
            </a:r>
            <a:endParaRPr b="0" lang="en-US" sz="2000" strike="noStrike" u="none">
              <a:solidFill>
                <a:srgbClr val="ffff00"/>
              </a:solidFill>
              <a:effectLst/>
              <a:uFillTx/>
              <a:latin typeface="Times New Roman"/>
            </a:endParaRPr>
          </a:p>
        </p:txBody>
      </p:sp>
    </p:spTree>
  </p:cSld>
  <p:transition spd="med">
    <p:zoom dir="out"/>
  </p:transition>
  <p:timing>
    <p:tnLst>
      <p:par>
        <p:cTn id="1014" dur="indefinite" restart="never" nodeType="tmRoot">
          <p:childTnLst>
            <p:seq>
              <p:cTn id="1015" dur="indefinite" nodeType="mainSeq">
                <p:childTnLst>
                  <p:par>
                    <p:cTn id="1016" nodeType="clickEffect" fill="hold">
                      <p:stCondLst>
                        <p:cond delay="0"/>
                      </p:stCondLst>
                      <p:childTnLst>
                        <p:par>
                          <p:cTn id="1017" nodeType="withEffect" fill="hold">
                            <p:stCondLst>
                              <p:cond delay="0"/>
                            </p:stCondLst>
                            <p:childTnLst>
                              <p:par>
                                <p:cTn id="1018" nodeType="afterEffect" fill="hold" presetClass="entr" presetID="9">
                                  <p:stCondLst>
                                    <p:cond delay="0"/>
                                  </p:stCondLst>
                                  <p:childTnLst>
                                    <p:set>
                                      <p:cBhvr>
                                        <p:cTn id="1019" dur="1" fill="hold">
                                          <p:stCondLst>
                                            <p:cond delay="0"/>
                                          </p:stCondLst>
                                        </p:cTn>
                                        <p:tgtEl>
                                          <p:spTgt spid="757">
                                            <p:txEl>
                                              <p:pRg st="0" end="0"/>
                                            </p:txEl>
                                          </p:spTgt>
                                        </p:tgtEl>
                                        <p:attrNameLst>
                                          <p:attrName>style.visibility</p:attrName>
                                        </p:attrNameLst>
                                      </p:cBhvr>
                                      <p:to>
                                        <p:strVal val="visible"/>
                                      </p:to>
                                    </p:set>
                                    <p:animEffect filter="dissolve" transition="in">
                                      <p:cBhvr additive="repl">
                                        <p:cTn id="1020" dur="500"/>
                                        <p:tgtEl>
                                          <p:spTgt spid="757">
                                            <p:txEl>
                                              <p:pRg st="0" end="0"/>
                                            </p:txEl>
                                          </p:spTgt>
                                        </p:tgtEl>
                                      </p:cBhvr>
                                    </p:animEffect>
                                  </p:childTnLst>
                                </p:cTn>
                              </p:par>
                            </p:childTnLst>
                          </p:cTn>
                        </p:par>
                        <p:par>
                          <p:cTn id="1021" nodeType="afterEffect" fill="hold">
                            <p:stCondLst>
                              <p:cond delay="500"/>
                            </p:stCondLst>
                            <p:childTnLst>
                              <p:par>
                                <p:cTn id="1022" nodeType="afterEffect" fill="hold" presetClass="entr" presetID="9">
                                  <p:stCondLst>
                                    <p:cond delay="0"/>
                                  </p:stCondLst>
                                  <p:childTnLst>
                                    <p:set>
                                      <p:cBhvr>
                                        <p:cTn id="1023" dur="1" fill="hold">
                                          <p:stCondLst>
                                            <p:cond delay="0"/>
                                          </p:stCondLst>
                                        </p:cTn>
                                        <p:tgtEl>
                                          <p:spTgt spid="757">
                                            <p:txEl>
                                              <p:pRg st="1" end="1"/>
                                            </p:txEl>
                                          </p:spTgt>
                                        </p:tgtEl>
                                        <p:attrNameLst>
                                          <p:attrName>style.visibility</p:attrName>
                                        </p:attrNameLst>
                                      </p:cBhvr>
                                      <p:to>
                                        <p:strVal val="visible"/>
                                      </p:to>
                                    </p:set>
                                    <p:animEffect filter="dissolve" transition="in">
                                      <p:cBhvr additive="repl">
                                        <p:cTn id="1024" dur="500"/>
                                        <p:tgtEl>
                                          <p:spTgt spid="757">
                                            <p:txEl>
                                              <p:pRg st="1" end="1"/>
                                            </p:txEl>
                                          </p:spTgt>
                                        </p:tgtEl>
                                      </p:cBhvr>
                                    </p:animEffect>
                                  </p:childTnLst>
                                </p:cTn>
                              </p:par>
                            </p:childTnLst>
                          </p:cTn>
                        </p:par>
                        <p:par>
                          <p:cTn id="1025" nodeType="afterEffect" fill="hold">
                            <p:stCondLst>
                              <p:cond delay="1000"/>
                            </p:stCondLst>
                            <p:childTnLst>
                              <p:par>
                                <p:cTn id="1026" nodeType="afterEffect" fill="hold" presetClass="entr" presetID="9">
                                  <p:stCondLst>
                                    <p:cond delay="0"/>
                                  </p:stCondLst>
                                  <p:childTnLst>
                                    <p:set>
                                      <p:cBhvr>
                                        <p:cTn id="1027" dur="1" fill="hold">
                                          <p:stCondLst>
                                            <p:cond delay="0"/>
                                          </p:stCondLst>
                                        </p:cTn>
                                        <p:tgtEl>
                                          <p:spTgt spid="757">
                                            <p:txEl>
                                              <p:pRg st="2" end="2"/>
                                            </p:txEl>
                                          </p:spTgt>
                                        </p:tgtEl>
                                        <p:attrNameLst>
                                          <p:attrName>style.visibility</p:attrName>
                                        </p:attrNameLst>
                                      </p:cBhvr>
                                      <p:to>
                                        <p:strVal val="visible"/>
                                      </p:to>
                                    </p:set>
                                    <p:animEffect filter="dissolve" transition="in">
                                      <p:cBhvr additive="repl">
                                        <p:cTn id="1028" dur="500"/>
                                        <p:tgtEl>
                                          <p:spTgt spid="757">
                                            <p:txEl>
                                              <p:pRg st="2" end="2"/>
                                            </p:txEl>
                                          </p:spTgt>
                                        </p:tgtEl>
                                      </p:cBhvr>
                                    </p:animEffect>
                                  </p:childTnLst>
                                </p:cTn>
                              </p:par>
                            </p:childTnLst>
                          </p:cTn>
                        </p:par>
                      </p:childTnLst>
                    </p:cTn>
                  </p:par>
                  <p:par>
                    <p:cTn id="1029" nodeType="clickEffect" fill="hold">
                      <p:stCondLst>
                        <p:cond delay="indefinite"/>
                      </p:stCondLst>
                      <p:childTnLst>
                        <p:par>
                          <p:cTn id="1030" nodeType="withEffect" fill="hold">
                            <p:stCondLst>
                              <p:cond delay="0"/>
                            </p:stCondLst>
                            <p:childTnLst>
                              <p:par>
                                <p:cTn id="1031" nodeType="clickEffect" fill="hold" presetClass="entr" presetID="9">
                                  <p:stCondLst>
                                    <p:cond delay="0"/>
                                  </p:stCondLst>
                                  <p:childTnLst>
                                    <p:set>
                                      <p:cBhvr>
                                        <p:cTn id="1032" dur="1" fill="hold">
                                          <p:stCondLst>
                                            <p:cond delay="0"/>
                                          </p:stCondLst>
                                        </p:cTn>
                                        <p:tgtEl>
                                          <p:spTgt spid="758"/>
                                        </p:tgtEl>
                                        <p:attrNameLst>
                                          <p:attrName>style.visibility</p:attrName>
                                        </p:attrNameLst>
                                      </p:cBhvr>
                                      <p:to>
                                        <p:strVal val="visible"/>
                                      </p:to>
                                    </p:set>
                                    <p:animEffect filter="dissolve" transition="in">
                                      <p:cBhvr additive="repl">
                                        <p:cTn id="1033" dur="500"/>
                                        <p:tgtEl>
                                          <p:spTgt spid="758"/>
                                        </p:tgtEl>
                                      </p:cBhvr>
                                    </p:animEffect>
                                  </p:childTnLst>
                                </p:cTn>
                              </p:par>
                            </p:childTnLst>
                          </p:cTn>
                        </p:par>
                      </p:childTnLst>
                    </p:cTn>
                  </p:par>
                  <p:par>
                    <p:cTn id="1034" nodeType="clickEffect" fill="hold">
                      <p:stCondLst>
                        <p:cond delay="indefinite"/>
                      </p:stCondLst>
                      <p:childTnLst>
                        <p:par>
                          <p:cTn id="1035" nodeType="withEffect" fill="hold">
                            <p:stCondLst>
                              <p:cond delay="0"/>
                            </p:stCondLst>
                            <p:childTnLst>
                              <p:par>
                                <p:cTn id="1036" nodeType="clickEffect" fill="hold" presetClass="entr" presetID="9">
                                  <p:stCondLst>
                                    <p:cond delay="0"/>
                                  </p:stCondLst>
                                  <p:childTnLst>
                                    <p:set>
                                      <p:cBhvr>
                                        <p:cTn id="1037" dur="1" fill="hold">
                                          <p:stCondLst>
                                            <p:cond delay="0"/>
                                          </p:stCondLst>
                                        </p:cTn>
                                        <p:tgtEl>
                                          <p:spTgt spid="759"/>
                                        </p:tgtEl>
                                        <p:attrNameLst>
                                          <p:attrName>style.visibility</p:attrName>
                                        </p:attrNameLst>
                                      </p:cBhvr>
                                      <p:to>
                                        <p:strVal val="visible"/>
                                      </p:to>
                                    </p:set>
                                    <p:animEffect filter="dissolve" transition="in">
                                      <p:cBhvr additive="repl">
                                        <p:cTn id="1038" dur="500"/>
                                        <p:tgtEl>
                                          <p:spTgt spid="759"/>
                                        </p:tgtEl>
                                      </p:cBhvr>
                                    </p:animEffect>
                                  </p:childTnLst>
                                </p:cTn>
                              </p:par>
                            </p:childTnLst>
                          </p:cTn>
                        </p:par>
                      </p:childTnLst>
                    </p:cTn>
                  </p:par>
                  <p:par>
                    <p:cTn id="1039" nodeType="clickEffect" fill="hold">
                      <p:stCondLst>
                        <p:cond delay="indefinite"/>
                      </p:stCondLst>
                      <p:childTnLst>
                        <p:par>
                          <p:cTn id="1040" nodeType="withEffect" fill="hold">
                            <p:stCondLst>
                              <p:cond delay="0"/>
                            </p:stCondLst>
                            <p:childTnLst>
                              <p:par>
                                <p:cTn id="1041" nodeType="clickEffect" fill="hold" presetClass="entr" presetID="9">
                                  <p:stCondLst>
                                    <p:cond delay="0"/>
                                  </p:stCondLst>
                                  <p:childTnLst>
                                    <p:set>
                                      <p:cBhvr>
                                        <p:cTn id="1042" dur="1" fill="hold">
                                          <p:stCondLst>
                                            <p:cond delay="0"/>
                                          </p:stCondLst>
                                        </p:cTn>
                                        <p:tgtEl>
                                          <p:spTgt spid="760"/>
                                        </p:tgtEl>
                                        <p:attrNameLst>
                                          <p:attrName>style.visibility</p:attrName>
                                        </p:attrNameLst>
                                      </p:cBhvr>
                                      <p:to>
                                        <p:strVal val="visible"/>
                                      </p:to>
                                    </p:set>
                                    <p:animEffect filter="dissolve" transition="in">
                                      <p:cBhvr additive="repl">
                                        <p:cTn id="1043" dur="5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p:nvPr>
        </p:nvSpPr>
        <p:spPr>
          <a:xfrm>
            <a:off x="-36360" y="836640"/>
            <a:ext cx="8991360" cy="1798560"/>
          </a:xfrm>
          <a:prstGeom prst="rect">
            <a:avLst/>
          </a:prstGeom>
          <a:noFill/>
          <a:ln w="0">
            <a:noFill/>
          </a:ln>
        </p:spPr>
        <p:txBody>
          <a:bodyPr lIns="91440" rIns="91440" tIns="45720" bIns="45720" anchor="t">
            <a:normAutofit/>
          </a:bodyPr>
          <a:p>
            <a:pPr marL="343080" indent="-343080">
              <a:lnSpc>
                <a:spcPct val="140000"/>
              </a:lnSpc>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rPr>
              <a:t>2 - L’enfant est donc très tôt équipé pour développer sa neuro-motricité fine (augmentation des liaisons synaptiques : à partir de 1 - 2 ans)</a:t>
            </a:r>
            <a:endParaRPr b="0" lang="en-US" sz="2200" strike="noStrike" u="none">
              <a:solidFill>
                <a:srgbClr val="ffff00"/>
              </a:solidFill>
              <a:effectLst/>
              <a:uFillTx/>
              <a:latin typeface="Times New Roman"/>
            </a:endParaRPr>
          </a:p>
        </p:txBody>
      </p:sp>
      <p:sp>
        <p:nvSpPr>
          <p:cNvPr id="762" name="Text Box 6"/>
          <p:cNvSpPr/>
          <p:nvPr/>
        </p:nvSpPr>
        <p:spPr>
          <a:xfrm>
            <a:off x="380520" y="2739960"/>
            <a:ext cx="8751240" cy="359280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mais la motricité exigeant les mouvements les plus rapides, les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plus précis et les plus spécialisés ne peut atteindre sa pleine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efficacité que lorsque la maturation synaptique, la myélinisation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des fibres nerveuses, les liaisons et les coordinations neuro-</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00"/>
                </a:solidFill>
                <a:effectLst/>
                <a:uFillTx/>
                <a:latin typeface="Arial"/>
                <a:ea typeface="Arial"/>
              </a:rPr>
              <a:t>musculaires auront atteint leur plein état de maturité c’est à dire </a:t>
            </a:r>
            <a:endParaRPr b="0" lang="en-US" sz="2200" strike="noStrike" u="none">
              <a:solidFill>
                <a:srgbClr val="ffff00"/>
              </a:solidFill>
              <a:effectLst/>
              <a:uFillTx/>
              <a:latin typeface="Times New Roman"/>
            </a:endParaRPr>
          </a:p>
          <a:p>
            <a:pPr>
              <a:lnSpc>
                <a:spcPct val="14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200" strike="noStrike" u="none">
                <a:solidFill>
                  <a:srgbClr val="ffffff"/>
                </a:solidFill>
                <a:effectLst/>
                <a:uFillTx/>
                <a:latin typeface="Arial"/>
                <a:ea typeface="Arial"/>
              </a:rPr>
              <a:t>entre  6 – 7 ans et 11-12 ans.</a:t>
            </a:r>
            <a:endParaRPr b="0" lang="en-US" sz="2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trike="noStrike" u="none">
              <a:solidFill>
                <a:srgbClr val="ffff00"/>
              </a:solidFill>
              <a:effectLst/>
              <a:uFillTx/>
              <a:latin typeface="Times New Roman"/>
            </a:endParaRPr>
          </a:p>
        </p:txBody>
      </p:sp>
    </p:spTree>
  </p:cSld>
  <p:transition spd="med">
    <p:zoom dir="out"/>
  </p:transition>
  <p:timing>
    <p:tnLst>
      <p:par>
        <p:cTn id="1044" dur="indefinite" restart="never" nodeType="tmRoot">
          <p:childTnLst>
            <p:seq>
              <p:cTn id="1045" dur="indefinite" nodeType="mainSeq">
                <p:childTnLst>
                  <p:par>
                    <p:cTn id="1046" nodeType="clickEffect" fill="hold">
                      <p:stCondLst>
                        <p:cond delay="indefinite"/>
                      </p:stCondLst>
                      <p:childTnLst>
                        <p:par>
                          <p:cTn id="1047" nodeType="withEffect" fill="hold">
                            <p:stCondLst>
                              <p:cond delay="0"/>
                            </p:stCondLst>
                            <p:childTnLst>
                              <p:par>
                                <p:cTn id="1048" nodeType="clickEffect" fill="hold" presetClass="entr" presetID="22" presetSubtype="1">
                                  <p:stCondLst>
                                    <p:cond delay="0"/>
                                  </p:stCondLst>
                                  <p:childTnLst>
                                    <p:set>
                                      <p:cBhvr>
                                        <p:cTn id="1049" dur="1" fill="hold">
                                          <p:stCondLst>
                                            <p:cond delay="0"/>
                                          </p:stCondLst>
                                        </p:cTn>
                                        <p:tgtEl>
                                          <p:spTgt spid="761">
                                            <p:txEl>
                                              <p:pRg st="0" end="0"/>
                                            </p:txEl>
                                          </p:spTgt>
                                        </p:tgtEl>
                                        <p:attrNameLst>
                                          <p:attrName>style.visibility</p:attrName>
                                        </p:attrNameLst>
                                      </p:cBhvr>
                                      <p:to>
                                        <p:strVal val="visible"/>
                                      </p:to>
                                    </p:set>
                                    <p:animEffect filter="wipe(up)" transition="in">
                                      <p:cBhvr additive="repl">
                                        <p:cTn id="1050" dur="1000"/>
                                        <p:tgtEl>
                                          <p:spTgt spid="761">
                                            <p:txEl>
                                              <p:pRg st="0" end="0"/>
                                            </p:txEl>
                                          </p:spTgt>
                                        </p:tgtEl>
                                      </p:cBhvr>
                                    </p:animEffect>
                                  </p:childTnLst>
                                </p:cTn>
                              </p:par>
                            </p:childTnLst>
                          </p:cTn>
                        </p:par>
                      </p:childTnLst>
                    </p:cTn>
                  </p:par>
                  <p:par>
                    <p:cTn id="1051" nodeType="clickEffect" fill="hold">
                      <p:stCondLst>
                        <p:cond delay="indefinite"/>
                      </p:stCondLst>
                      <p:childTnLst>
                        <p:par>
                          <p:cTn id="1052" nodeType="withEffect" fill="hold">
                            <p:stCondLst>
                              <p:cond delay="0"/>
                            </p:stCondLst>
                            <p:childTnLst>
                              <p:par>
                                <p:cTn id="1053" nodeType="clickEffect" fill="hold" presetClass="entr" presetID="22" presetSubtype="1">
                                  <p:stCondLst>
                                    <p:cond delay="0"/>
                                  </p:stCondLst>
                                  <p:childTnLst>
                                    <p:set>
                                      <p:cBhvr>
                                        <p:cTn id="1054" dur="1" fill="hold">
                                          <p:stCondLst>
                                            <p:cond delay="0"/>
                                          </p:stCondLst>
                                        </p:cTn>
                                        <p:tgtEl>
                                          <p:spTgt spid="762"/>
                                        </p:tgtEl>
                                        <p:attrNameLst>
                                          <p:attrName>style.visibility</p:attrName>
                                        </p:attrNameLst>
                                      </p:cBhvr>
                                      <p:to>
                                        <p:strVal val="visible"/>
                                      </p:to>
                                    </p:set>
                                    <p:animEffect filter="wipe(up)" transition="in">
                                      <p:cBhvr additive="repl">
                                        <p:cTn id="1055" dur="50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Text Box 2"/>
          <p:cNvSpPr/>
          <p:nvPr/>
        </p:nvSpPr>
        <p:spPr>
          <a:xfrm>
            <a:off x="475200" y="1380960"/>
            <a:ext cx="7955640" cy="119412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Cet état constitue l’âge privilégié des apprentissages </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multiples et très variés. </a:t>
            </a:r>
            <a:endParaRPr b="0" lang="en-US" sz="2400" strike="noStrike" u="none">
              <a:solidFill>
                <a:srgbClr val="ffff00"/>
              </a:solidFill>
              <a:effectLst/>
              <a:uFillTx/>
              <a:latin typeface="Times New Roman"/>
            </a:endParaRPr>
          </a:p>
        </p:txBody>
      </p:sp>
      <p:sp>
        <p:nvSpPr>
          <p:cNvPr id="764" name="Text Box 3"/>
          <p:cNvSpPr/>
          <p:nvPr/>
        </p:nvSpPr>
        <p:spPr>
          <a:xfrm>
            <a:off x="533520" y="2981160"/>
            <a:ext cx="7836840" cy="1782360"/>
          </a:xfrm>
          <a:prstGeom prst="rect">
            <a:avLst/>
          </a:prstGeom>
          <a:noFill/>
          <a:ln w="0">
            <a:noFill/>
          </a:ln>
        </p:spPr>
        <p:style>
          <a:lnRef idx="0"/>
          <a:fillRef idx="0"/>
          <a:effectRef idx="0"/>
          <a:fontRef idx="minor"/>
        </p:style>
        <p:txBody>
          <a:bodyPr wrap="none" lIns="90000" rIns="90000" tIns="46800" bIns="46800" anchor="t">
            <a:spAutoFit/>
          </a:bodyPr>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Il serait donc dommageable d’enfermer cette grande </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plasticité neuromotrice dans les schèmes moteurs </a:t>
            </a:r>
            <a:endParaRPr b="0" lang="en-US" sz="2400" strike="noStrike" u="none">
              <a:solidFill>
                <a:srgbClr val="ffff00"/>
              </a:solidFill>
              <a:effectLst/>
              <a:uFillTx/>
              <a:latin typeface="Times New Roman"/>
            </a:endParaRPr>
          </a:p>
          <a:p>
            <a:pPr>
              <a:lnSpc>
                <a:spcPct val="14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ff"/>
                </a:solidFill>
                <a:effectLst/>
                <a:uFillTx/>
                <a:latin typeface="Arial"/>
              </a:rPr>
              <a:t>souvent trop rigides de la spécialisation précoce.</a:t>
            </a:r>
            <a:endParaRPr b="0" lang="en-US" sz="2400" strike="noStrike" u="none">
              <a:solidFill>
                <a:srgbClr val="ffff00"/>
              </a:solidFill>
              <a:effectLst/>
              <a:uFillTx/>
              <a:latin typeface="Times New Roman"/>
            </a:endParaRPr>
          </a:p>
        </p:txBody>
      </p:sp>
    </p:spTree>
  </p:cSld>
  <p:transition spd="med">
    <p:zoom dir="out"/>
  </p:transition>
  <p:timing>
    <p:tnLst>
      <p:par>
        <p:cTn id="1056" dur="indefinite" restart="never" nodeType="tmRoot">
          <p:childTnLst>
            <p:seq>
              <p:cTn id="1057" dur="indefinite" nodeType="mainSeq">
                <p:childTnLst>
                  <p:par>
                    <p:cTn id="1058" nodeType="clickEffect" fill="hold">
                      <p:stCondLst>
                        <p:cond delay="0"/>
                      </p:stCondLst>
                      <p:childTnLst>
                        <p:par>
                          <p:cTn id="1059" nodeType="withEffect" fill="hold">
                            <p:stCondLst>
                              <p:cond delay="0"/>
                            </p:stCondLst>
                            <p:childTnLst>
                              <p:par>
                                <p:cTn id="1060" nodeType="afterEffect" fill="hold" presetClass="entr" presetID="9">
                                  <p:stCondLst>
                                    <p:cond delay="0"/>
                                  </p:stCondLst>
                                  <p:childTnLst>
                                    <p:set>
                                      <p:cBhvr>
                                        <p:cTn id="1061" dur="1" fill="hold">
                                          <p:stCondLst>
                                            <p:cond delay="0"/>
                                          </p:stCondLst>
                                        </p:cTn>
                                        <p:tgtEl>
                                          <p:spTgt spid="763"/>
                                        </p:tgtEl>
                                        <p:attrNameLst>
                                          <p:attrName>style.visibility</p:attrName>
                                        </p:attrNameLst>
                                      </p:cBhvr>
                                      <p:to>
                                        <p:strVal val="visible"/>
                                      </p:to>
                                    </p:set>
                                    <p:animEffect filter="dissolve" transition="in">
                                      <p:cBhvr additive="repl">
                                        <p:cTn id="1062" dur="500"/>
                                        <p:tgtEl>
                                          <p:spTgt spid="763"/>
                                        </p:tgtEl>
                                      </p:cBhvr>
                                    </p:animEffect>
                                  </p:childTnLst>
                                </p:cTn>
                              </p:par>
                            </p:childTnLst>
                          </p:cTn>
                        </p:par>
                      </p:childTnLst>
                    </p:cTn>
                  </p:par>
                  <p:par>
                    <p:cTn id="1063" nodeType="clickEffect" fill="hold">
                      <p:stCondLst>
                        <p:cond delay="indefinite"/>
                      </p:stCondLst>
                      <p:childTnLst>
                        <p:par>
                          <p:cTn id="1064" nodeType="withEffect" fill="hold">
                            <p:stCondLst>
                              <p:cond delay="0"/>
                            </p:stCondLst>
                            <p:childTnLst>
                              <p:par>
                                <p:cTn id="1065" nodeType="clickEffect" fill="hold" presetClass="entr" presetID="22" presetSubtype="1">
                                  <p:stCondLst>
                                    <p:cond delay="0"/>
                                  </p:stCondLst>
                                  <p:childTnLst>
                                    <p:set>
                                      <p:cBhvr>
                                        <p:cTn id="1066" dur="1" fill="hold">
                                          <p:stCondLst>
                                            <p:cond delay="0"/>
                                          </p:stCondLst>
                                        </p:cTn>
                                        <p:tgtEl>
                                          <p:spTgt spid="764"/>
                                        </p:tgtEl>
                                        <p:attrNameLst>
                                          <p:attrName>style.visibility</p:attrName>
                                        </p:attrNameLst>
                                      </p:cBhvr>
                                      <p:to>
                                        <p:strVal val="visible"/>
                                      </p:to>
                                    </p:set>
                                    <p:animEffect filter="wipe(up)" transition="in">
                                      <p:cBhvr additive="repl">
                                        <p:cTn id="1067" dur="3000"/>
                                        <p:tgtEl>
                                          <p:spTgt spid="7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Rectangle 2"/>
          <p:cNvSpPr/>
          <p:nvPr/>
        </p:nvSpPr>
        <p:spPr>
          <a:xfrm>
            <a:off x="1979640" y="2924280"/>
            <a:ext cx="5297400" cy="53316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3200" strike="noStrike" u="none">
                <a:solidFill>
                  <a:srgbClr val="ffffff"/>
                </a:solidFill>
                <a:effectLst/>
                <a:uFillTx/>
                <a:latin typeface="Bookman Old Style"/>
              </a:rPr>
              <a:t>II-2-TISSU OSSEUX</a:t>
            </a:r>
            <a:endParaRPr b="0" lang="en-US" sz="3200" strike="noStrike" u="none">
              <a:solidFill>
                <a:srgbClr val="ffff00"/>
              </a:solidFill>
              <a:effectLst/>
              <a:uFillTx/>
              <a:latin typeface="Times New Roman"/>
            </a:endParaRPr>
          </a:p>
        </p:txBody>
      </p:sp>
    </p:spTree>
  </p:cSld>
  <p:transition spd="med">
    <p:zoom dir="out"/>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6" name="Image 1" descr=""/>
          <p:cNvPicPr/>
          <p:nvPr/>
        </p:nvPicPr>
        <p:blipFill>
          <a:blip r:embed="rId1"/>
          <a:srcRect l="25123" t="18717" r="25454" b="6077"/>
          <a:stretch/>
        </p:blipFill>
        <p:spPr>
          <a:xfrm>
            <a:off x="900000" y="47520"/>
            <a:ext cx="4896000" cy="5040360"/>
          </a:xfrm>
          <a:prstGeom prst="rect">
            <a:avLst/>
          </a:prstGeom>
          <a:noFill/>
          <a:ln w="9360">
            <a:solidFill>
              <a:srgbClr val="ffff00"/>
            </a:solidFill>
            <a:miter/>
          </a:ln>
        </p:spPr>
      </p:pic>
      <p:pic>
        <p:nvPicPr>
          <p:cNvPr id="767" name="Image 2" descr=""/>
          <p:cNvPicPr/>
          <p:nvPr/>
        </p:nvPicPr>
        <p:blipFill>
          <a:blip r:embed="rId2"/>
          <a:srcRect l="18024" t="24251" r="17654" b="56116"/>
          <a:stretch/>
        </p:blipFill>
        <p:spPr>
          <a:xfrm>
            <a:off x="826920" y="5157720"/>
            <a:ext cx="7129800" cy="1700280"/>
          </a:xfrm>
          <a:prstGeom prst="rect">
            <a:avLst/>
          </a:prstGeom>
          <a:noFill/>
          <a:ln w="0">
            <a:noFill/>
          </a:ln>
        </p:spPr>
      </p:pic>
      <p:sp>
        <p:nvSpPr>
          <p:cNvPr id="768" name="ZoneTexte 3"/>
          <p:cNvSpPr/>
          <p:nvPr/>
        </p:nvSpPr>
        <p:spPr>
          <a:xfrm>
            <a:off x="770040" y="4724280"/>
            <a:ext cx="14601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000000"/>
                </a:solidFill>
                <a:effectLst/>
                <a:uFillTx/>
                <a:latin typeface="Calibri"/>
                <a:ea typeface="Calibri"/>
              </a:rPr>
              <a:t>CAZORLA 2010</a:t>
            </a:r>
            <a:endParaRPr b="0" lang="en-US" sz="1200" strike="noStrike" u="none">
              <a:solidFill>
                <a:srgbClr val="ffff00"/>
              </a:solidFill>
              <a:effectLst/>
              <a:uFillTx/>
              <a:latin typeface="Times New Roman"/>
            </a:endParaRPr>
          </a:p>
        </p:txBody>
      </p:sp>
    </p:spTree>
  </p:cSld>
  <p:transition spd="med">
    <p:zoom dir="out"/>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ZoneTexte 1"/>
          <p:cNvSpPr/>
          <p:nvPr/>
        </p:nvSpPr>
        <p:spPr>
          <a:xfrm>
            <a:off x="1398960" y="1916280"/>
            <a:ext cx="5611320" cy="1374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FACTEURS INTRINSÈQUES :</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Génétiques et hormonaux</a:t>
            </a:r>
            <a:endParaRPr b="0" lang="en-US" sz="2800" strike="noStrike" u="none">
              <a:solidFill>
                <a:srgbClr val="ffff00"/>
              </a:solidFill>
              <a:effectLst/>
              <a:uFillTx/>
              <a:latin typeface="Times New Roman"/>
            </a:endParaRPr>
          </a:p>
        </p:txBody>
      </p:sp>
    </p:spTree>
  </p:cSld>
  <p:transition spd="med">
    <p:zoom dir="out"/>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0" name="Image 1" descr=""/>
          <p:cNvPicPr/>
          <p:nvPr/>
        </p:nvPicPr>
        <p:blipFill>
          <a:blip r:embed="rId1"/>
          <a:srcRect l="29420" t="20900" r="31373" b="7937"/>
          <a:stretch/>
        </p:blipFill>
        <p:spPr>
          <a:xfrm>
            <a:off x="108000" y="-1440"/>
            <a:ext cx="6477120" cy="6891120"/>
          </a:xfrm>
          <a:prstGeom prst="rect">
            <a:avLst/>
          </a:prstGeom>
          <a:noFill/>
          <a:ln w="0">
            <a:noFill/>
          </a:ln>
        </p:spPr>
      </p:pic>
      <p:sp>
        <p:nvSpPr>
          <p:cNvPr id="771" name="ZoneTexte 1"/>
          <p:cNvSpPr/>
          <p:nvPr/>
        </p:nvSpPr>
        <p:spPr>
          <a:xfrm>
            <a:off x="2833200" y="2976480"/>
            <a:ext cx="4762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Calibri"/>
                <a:ea typeface="Calibri"/>
              </a:rPr>
              <a:t>GH</a:t>
            </a:r>
            <a:endParaRPr b="0" lang="en-US" sz="1400" strike="noStrike" u="none">
              <a:solidFill>
                <a:srgbClr val="ffff00"/>
              </a:solidFill>
              <a:effectLst/>
              <a:uFillTx/>
              <a:latin typeface="Times New Roman"/>
            </a:endParaRPr>
          </a:p>
        </p:txBody>
      </p:sp>
      <p:sp>
        <p:nvSpPr>
          <p:cNvPr id="772" name="ZoneTexte 2"/>
          <p:cNvSpPr/>
          <p:nvPr/>
        </p:nvSpPr>
        <p:spPr>
          <a:xfrm>
            <a:off x="6373080" y="333360"/>
            <a:ext cx="305172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GHRH : growth hormone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              releasing factor </a:t>
            </a:r>
            <a:endParaRPr b="0" lang="en-US" sz="1600" strike="noStrike" u="none">
              <a:solidFill>
                <a:srgbClr val="ffff00"/>
              </a:solidFill>
              <a:effectLst/>
              <a:uFillTx/>
              <a:latin typeface="Times New Roman"/>
            </a:endParaRPr>
          </a:p>
        </p:txBody>
      </p:sp>
      <p:sp>
        <p:nvSpPr>
          <p:cNvPr id="773" name="ZoneTexte 3"/>
          <p:cNvSpPr/>
          <p:nvPr/>
        </p:nvSpPr>
        <p:spPr>
          <a:xfrm>
            <a:off x="6351840" y="2700360"/>
            <a:ext cx="301428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GH : growth hormone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(hormone de croissance)</a:t>
            </a:r>
            <a:endParaRPr b="0" lang="en-US" sz="1600" strike="noStrike" u="none">
              <a:solidFill>
                <a:srgbClr val="ffff00"/>
              </a:solidFill>
              <a:effectLst/>
              <a:uFillTx/>
              <a:latin typeface="Times New Roman"/>
            </a:endParaRPr>
          </a:p>
        </p:txBody>
      </p:sp>
      <p:sp>
        <p:nvSpPr>
          <p:cNvPr id="774" name="ZoneTexte 4"/>
          <p:cNvSpPr/>
          <p:nvPr/>
        </p:nvSpPr>
        <p:spPr>
          <a:xfrm>
            <a:off x="6377040" y="5013360"/>
            <a:ext cx="266256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IGF-1 : insuline-like </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             growth factor</a:t>
            </a:r>
            <a:endParaRPr b="0" lang="en-US" sz="1600" strike="noStrike" u="none">
              <a:solidFill>
                <a:srgbClr val="ffff00"/>
              </a:solidFill>
              <a:effectLst/>
              <a:uFillTx/>
              <a:latin typeface="Times New Roman"/>
            </a:endParaRPr>
          </a:p>
        </p:txBody>
      </p:sp>
      <p:sp>
        <p:nvSpPr>
          <p:cNvPr id="775" name="ZoneTexte 5"/>
          <p:cNvSpPr/>
          <p:nvPr/>
        </p:nvSpPr>
        <p:spPr>
          <a:xfrm>
            <a:off x="86040" y="6464160"/>
            <a:ext cx="1460160" cy="276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000000"/>
                </a:solidFill>
                <a:effectLst/>
                <a:uFillTx/>
                <a:latin typeface="Calibri"/>
                <a:ea typeface="Calibri"/>
              </a:rPr>
              <a:t>CAZORLA 2010</a:t>
            </a:r>
            <a:endParaRPr b="0" lang="en-US" sz="1200" strike="noStrike" u="none">
              <a:solidFill>
                <a:srgbClr val="ffff00"/>
              </a:solidFill>
              <a:effectLst/>
              <a:uFillTx/>
              <a:latin typeface="Times New Roman"/>
            </a:endParaRPr>
          </a:p>
        </p:txBody>
      </p:sp>
    </p:spTree>
  </p:cSld>
  <p:transition spd="med">
    <p:zoom dir="out"/>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6" name="Picture 3" descr="Hormones sécrétées par anté-hypophyse"/>
          <p:cNvPicPr/>
          <p:nvPr/>
        </p:nvPicPr>
        <p:blipFill>
          <a:blip r:embed="rId1"/>
          <a:srcRect l="73736" t="31114" r="0" b="31114"/>
          <a:stretch/>
        </p:blipFill>
        <p:spPr>
          <a:xfrm>
            <a:off x="6629400" y="3581280"/>
            <a:ext cx="1720800" cy="3124440"/>
          </a:xfrm>
          <a:prstGeom prst="rect">
            <a:avLst/>
          </a:prstGeom>
          <a:noFill/>
          <a:ln w="0">
            <a:noFill/>
          </a:ln>
        </p:spPr>
      </p:pic>
      <p:sp>
        <p:nvSpPr>
          <p:cNvPr id="777" name="Freeform 7"/>
          <p:cNvSpPr/>
          <p:nvPr/>
        </p:nvSpPr>
        <p:spPr>
          <a:xfrm>
            <a:off x="6172200" y="1219320"/>
            <a:ext cx="2971800" cy="2286000"/>
          </a:xfrm>
          <a:custGeom>
            <a:avLst/>
            <a:gdLst>
              <a:gd name="GluePoint1X" fmla="*/ 2147483647 w 705"/>
              <a:gd name="GluePoint1Y" fmla="*/ 2147483647 h 528"/>
              <a:gd name="GluePoint2X" fmla="*/ 2147483647 w 705"/>
              <a:gd name="GluePoint2Y" fmla="*/ 2147483647 h 528"/>
              <a:gd name="GluePoint3X" fmla="*/ 2147483647 w 705"/>
              <a:gd name="GluePoint3Y" fmla="*/ 2147483647 h 528"/>
              <a:gd name="GluePoint4X" fmla="*/ 2147483647 w 705"/>
              <a:gd name="GluePoint4Y" fmla="*/ 2147483647 h 528"/>
              <a:gd name="GluePoint5X" fmla="*/ 2147483647 w 705"/>
              <a:gd name="GluePoint5Y" fmla="*/ 2147483647 h 528"/>
              <a:gd name="GluePoint6X" fmla="*/ 2147483647 w 705"/>
              <a:gd name="GluePoint6Y" fmla="*/ 2147483647 h 528"/>
              <a:gd name="GluePoint7X" fmla="*/ 2147483647 w 705"/>
              <a:gd name="GluePoint7Y" fmla="*/ 2147483647 h 5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705" h="528">
                <a:moveTo>
                  <a:pt x="54" y="478"/>
                </a:moveTo>
                <a:cubicBezTo>
                  <a:pt x="30" y="428"/>
                  <a:pt x="0" y="132"/>
                  <a:pt x="104" y="66"/>
                </a:cubicBezTo>
                <a:cubicBezTo>
                  <a:pt x="208" y="0"/>
                  <a:pt x="655" y="38"/>
                  <a:pt x="680" y="80"/>
                </a:cubicBezTo>
                <a:cubicBezTo>
                  <a:pt x="705" y="122"/>
                  <a:pt x="323" y="286"/>
                  <a:pt x="253" y="315"/>
                </a:cubicBezTo>
                <a:cubicBezTo>
                  <a:pt x="183" y="344"/>
                  <a:pt x="261" y="242"/>
                  <a:pt x="260" y="251"/>
                </a:cubicBezTo>
                <a:cubicBezTo>
                  <a:pt x="259" y="260"/>
                  <a:pt x="282" y="330"/>
                  <a:pt x="248" y="368"/>
                </a:cubicBezTo>
                <a:cubicBezTo>
                  <a:pt x="214" y="406"/>
                  <a:pt x="78" y="528"/>
                  <a:pt x="54" y="478"/>
                </a:cubicBezTo>
                <a:close/>
              </a:path>
            </a:pathLst>
          </a:custGeom>
          <a:solidFill>
            <a:srgbClr val="800000"/>
          </a:solidFill>
          <a:ln w="936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78" name="Text Box 8"/>
          <p:cNvSpPr/>
          <p:nvPr/>
        </p:nvSpPr>
        <p:spPr>
          <a:xfrm>
            <a:off x="3429000" y="2514600"/>
            <a:ext cx="2286000" cy="642600"/>
          </a:xfrm>
          <a:prstGeom prst="rect">
            <a:avLst/>
          </a:prstGeom>
          <a:solidFill>
            <a:srgbClr val="ffffff"/>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SOMATOMEDINES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 (IGFs)</a:t>
            </a:r>
            <a:endParaRPr b="0" lang="en-US" sz="1800" strike="noStrike" u="none">
              <a:solidFill>
                <a:srgbClr val="ffff00"/>
              </a:solidFill>
              <a:effectLst/>
              <a:uFillTx/>
              <a:latin typeface="Times New Roman"/>
            </a:endParaRPr>
          </a:p>
        </p:txBody>
      </p:sp>
      <p:sp>
        <p:nvSpPr>
          <p:cNvPr id="779" name="Text Box 9"/>
          <p:cNvSpPr/>
          <p:nvPr/>
        </p:nvSpPr>
        <p:spPr>
          <a:xfrm>
            <a:off x="3429000" y="3124080"/>
            <a:ext cx="2286000" cy="642600"/>
          </a:xfrm>
          <a:prstGeom prst="rect">
            <a:avLst/>
          </a:prstGeom>
          <a:solidFill>
            <a:srgbClr val="ffffff"/>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HORMONE DE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CROISSANCE (GH)</a:t>
            </a:r>
            <a:endParaRPr b="0" lang="en-US" sz="1800" strike="noStrike" u="none">
              <a:solidFill>
                <a:srgbClr val="ffff00"/>
              </a:solidFill>
              <a:effectLst/>
              <a:uFillTx/>
              <a:latin typeface="Times New Roman"/>
            </a:endParaRPr>
          </a:p>
        </p:txBody>
      </p:sp>
      <p:pic>
        <p:nvPicPr>
          <p:cNvPr id="780" name="Picture 10" descr="Axes endocriniens"/>
          <p:cNvPicPr/>
          <p:nvPr/>
        </p:nvPicPr>
        <p:blipFill>
          <a:blip r:embed="rId2"/>
          <a:srcRect l="22552" t="44345" r="72894" b="39999"/>
          <a:stretch/>
        </p:blipFill>
        <p:spPr>
          <a:xfrm>
            <a:off x="609480" y="3276720"/>
            <a:ext cx="749520" cy="2743200"/>
          </a:xfrm>
          <a:prstGeom prst="rect">
            <a:avLst/>
          </a:prstGeom>
          <a:noFill/>
          <a:ln w="0">
            <a:noFill/>
          </a:ln>
        </p:spPr>
      </p:pic>
      <p:sp>
        <p:nvSpPr>
          <p:cNvPr id="781" name="Text Box 11"/>
          <p:cNvSpPr/>
          <p:nvPr/>
        </p:nvSpPr>
        <p:spPr>
          <a:xfrm>
            <a:off x="304920" y="6019920"/>
            <a:ext cx="1447560" cy="642600"/>
          </a:xfrm>
          <a:prstGeom prst="rect">
            <a:avLst/>
          </a:prstGeom>
          <a:solidFill>
            <a:srgbClr val="ffffff"/>
          </a:solid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Croissance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osseuse</a:t>
            </a:r>
            <a:endParaRPr b="0" lang="en-US" sz="1800" strike="noStrike" u="none">
              <a:solidFill>
                <a:srgbClr val="ffff00"/>
              </a:solidFill>
              <a:effectLst/>
              <a:uFillTx/>
              <a:latin typeface="Times New Roman"/>
            </a:endParaRPr>
          </a:p>
        </p:txBody>
      </p:sp>
      <p:sp>
        <p:nvSpPr>
          <p:cNvPr id="782" name="Line 13"/>
          <p:cNvSpPr/>
          <p:nvPr/>
        </p:nvSpPr>
        <p:spPr>
          <a:xfrm flipH="1">
            <a:off x="5790960" y="3124080"/>
            <a:ext cx="609480" cy="9144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3" name="Line 14"/>
          <p:cNvSpPr/>
          <p:nvPr/>
        </p:nvSpPr>
        <p:spPr>
          <a:xfrm flipH="1">
            <a:off x="1752120" y="5029200"/>
            <a:ext cx="2057400" cy="9144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4" name="Rectangle 16"/>
          <p:cNvSpPr/>
          <p:nvPr/>
        </p:nvSpPr>
        <p:spPr>
          <a:xfrm>
            <a:off x="6629400" y="5029200"/>
            <a:ext cx="152280" cy="99072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785" name="Line 17"/>
          <p:cNvSpPr/>
          <p:nvPr/>
        </p:nvSpPr>
        <p:spPr>
          <a:xfrm flipH="1" flipV="1">
            <a:off x="5867280" y="4952520"/>
            <a:ext cx="990720" cy="6858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6" name="Text Box 18"/>
          <p:cNvSpPr/>
          <p:nvPr/>
        </p:nvSpPr>
        <p:spPr>
          <a:xfrm>
            <a:off x="4879080" y="2743200"/>
            <a:ext cx="383040" cy="5209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000000"/>
                </a:solidFill>
                <a:effectLst/>
                <a:uFillTx/>
                <a:latin typeface="Times New Roman"/>
              </a:rPr>
              <a:t>+</a:t>
            </a:r>
            <a:endParaRPr b="0" lang="en-US" sz="2800" strike="noStrike" u="none">
              <a:solidFill>
                <a:srgbClr val="ffff00"/>
              </a:solidFill>
              <a:effectLst/>
              <a:uFillTx/>
              <a:latin typeface="Times New Roman"/>
            </a:endParaRPr>
          </a:p>
        </p:txBody>
      </p:sp>
      <p:sp>
        <p:nvSpPr>
          <p:cNvPr id="787" name="Line 19"/>
          <p:cNvSpPr/>
          <p:nvPr/>
        </p:nvSpPr>
        <p:spPr>
          <a:xfrm flipH="1" flipV="1">
            <a:off x="1828800" y="2743200"/>
            <a:ext cx="1905120" cy="175248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88" name="AutoShape 22"/>
          <p:cNvSpPr/>
          <p:nvPr/>
        </p:nvSpPr>
        <p:spPr>
          <a:xfrm>
            <a:off x="609480" y="2057400"/>
            <a:ext cx="1295640" cy="762120"/>
          </a:xfrm>
          <a:prstGeom prst="cloudCallout">
            <a:avLst>
              <a:gd name="adj1" fmla="val -13847"/>
              <a:gd name="adj2" fmla="val 13958"/>
            </a:avLst>
          </a:prstGeom>
          <a:solidFill>
            <a:srgbClr val="ffffff"/>
          </a:solidFill>
          <a:ln w="9360">
            <a:solidFill>
              <a:srgbClr val="ffff00"/>
            </a:solidFill>
            <a:miter/>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789" name="Text Box 23"/>
          <p:cNvSpPr/>
          <p:nvPr/>
        </p:nvSpPr>
        <p:spPr>
          <a:xfrm>
            <a:off x="609480" y="2286000"/>
            <a:ext cx="13716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   Graisses</a:t>
            </a:r>
            <a:endParaRPr b="0" lang="en-US" sz="1800" strike="noStrike" u="none">
              <a:solidFill>
                <a:srgbClr val="ffff00"/>
              </a:solidFill>
              <a:effectLst/>
              <a:uFillTx/>
              <a:latin typeface="Times New Roman"/>
            </a:endParaRPr>
          </a:p>
        </p:txBody>
      </p:sp>
      <p:sp>
        <p:nvSpPr>
          <p:cNvPr id="790" name="Line 24"/>
          <p:cNvSpPr/>
          <p:nvPr/>
        </p:nvSpPr>
        <p:spPr>
          <a:xfrm flipV="1">
            <a:off x="685800" y="2285640"/>
            <a:ext cx="76320" cy="30492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1" name="Text Box 25"/>
          <p:cNvSpPr/>
          <p:nvPr/>
        </p:nvSpPr>
        <p:spPr>
          <a:xfrm>
            <a:off x="7164360" y="1752480"/>
            <a:ext cx="7142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FOIE</a:t>
            </a:r>
            <a:endParaRPr b="0" lang="en-US" sz="1800" strike="noStrike" u="none">
              <a:solidFill>
                <a:srgbClr val="ffff00"/>
              </a:solidFill>
              <a:effectLst/>
              <a:uFillTx/>
              <a:latin typeface="Times New Roman"/>
            </a:endParaRPr>
          </a:p>
        </p:txBody>
      </p:sp>
      <p:pic>
        <p:nvPicPr>
          <p:cNvPr id="792" name="Picture 26" descr="Circulation"/>
          <p:cNvPicPr/>
          <p:nvPr/>
        </p:nvPicPr>
        <p:blipFill>
          <a:blip r:embed="rId3"/>
          <a:stretch/>
        </p:blipFill>
        <p:spPr>
          <a:xfrm>
            <a:off x="3276720" y="3809880"/>
            <a:ext cx="2438280" cy="1828800"/>
          </a:xfrm>
          <a:prstGeom prst="rect">
            <a:avLst/>
          </a:prstGeom>
          <a:noFill/>
          <a:ln w="0">
            <a:noFill/>
          </a:ln>
        </p:spPr>
      </p:pic>
      <p:sp>
        <p:nvSpPr>
          <p:cNvPr id="793" name="Line 27"/>
          <p:cNvSpPr/>
          <p:nvPr/>
        </p:nvSpPr>
        <p:spPr>
          <a:xfrm flipH="1" flipV="1">
            <a:off x="2438280" y="1143000"/>
            <a:ext cx="914400" cy="266688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4" name="Freeform 28"/>
          <p:cNvSpPr/>
          <p:nvPr/>
        </p:nvSpPr>
        <p:spPr>
          <a:xfrm rot="1829400">
            <a:off x="1523880" y="380520"/>
            <a:ext cx="1092240" cy="811440"/>
          </a:xfrm>
          <a:custGeom>
            <a:avLst/>
            <a:gdLst>
              <a:gd name="GluePoint1X" fmla="*/ 0 w 1609"/>
              <a:gd name="GluePoint1Y" fmla="*/ 0 h 1556"/>
              <a:gd name="GluePoint2X" fmla="*/ 2147483647 w 1609"/>
              <a:gd name="GluePoint2Y" fmla="*/ 2147483647 h 1556"/>
              <a:gd name="GluePoint3X" fmla="*/ 2147483647 w 1609"/>
              <a:gd name="GluePoint3Y" fmla="*/ 2147483647 h 1556"/>
              <a:gd name="GluePoint4X" fmla="*/ 2147483647 w 1609"/>
              <a:gd name="GluePoint4Y" fmla="*/ 2147483647 h 1556"/>
              <a:gd name="GluePoint5X" fmla="*/ 2147483647 w 1609"/>
              <a:gd name="GluePoint5Y" fmla="*/ 2147483647 h 1556"/>
              <a:gd name="GluePoint6X" fmla="*/ 2147483647 w 1609"/>
              <a:gd name="GluePoint6Y" fmla="*/ 2147483647 h 1556"/>
              <a:gd name="GluePoint7X" fmla="*/ 2147483647 w 1609"/>
              <a:gd name="GluePoint7Y" fmla="*/ 2147483647 h 1556"/>
              <a:gd name="GluePoint8X" fmla="*/ 2147483647 w 1609"/>
              <a:gd name="GluePoint8Y" fmla="*/ 2147483647 h 1556"/>
              <a:gd name="GluePoint9X" fmla="*/ 2147483647 w 1609"/>
              <a:gd name="GluePoint9Y" fmla="*/ 2147483647 h 15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1609" h="1556">
                <a:moveTo>
                  <a:pt x="0" y="0"/>
                </a:moveTo>
                <a:cubicBezTo>
                  <a:pt x="24" y="29"/>
                  <a:pt x="101" y="121"/>
                  <a:pt x="169" y="164"/>
                </a:cubicBezTo>
                <a:cubicBezTo>
                  <a:pt x="237" y="207"/>
                  <a:pt x="315" y="228"/>
                  <a:pt x="409" y="260"/>
                </a:cubicBezTo>
                <a:cubicBezTo>
                  <a:pt x="503" y="292"/>
                  <a:pt x="637" y="311"/>
                  <a:pt x="733" y="359"/>
                </a:cubicBezTo>
                <a:cubicBezTo>
                  <a:pt x="829" y="407"/>
                  <a:pt x="907" y="464"/>
                  <a:pt x="985" y="548"/>
                </a:cubicBezTo>
                <a:cubicBezTo>
                  <a:pt x="1063" y="632"/>
                  <a:pt x="1148" y="756"/>
                  <a:pt x="1204" y="860"/>
                </a:cubicBezTo>
                <a:cubicBezTo>
                  <a:pt x="1260" y="964"/>
                  <a:pt x="1270" y="1072"/>
                  <a:pt x="1321" y="1172"/>
                </a:cubicBezTo>
                <a:cubicBezTo>
                  <a:pt x="1372" y="1272"/>
                  <a:pt x="1465" y="1396"/>
                  <a:pt x="1513" y="1460"/>
                </a:cubicBezTo>
                <a:cubicBezTo>
                  <a:pt x="1561" y="1524"/>
                  <a:pt x="1593" y="1540"/>
                  <a:pt x="1609" y="1556"/>
                </a:cubicBezTo>
              </a:path>
            </a:pathLst>
          </a:custGeom>
          <a:noFill/>
          <a:ln w="50760">
            <a:solidFill>
              <a:srgbClr val="6699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5" name="Freeform 29"/>
          <p:cNvSpPr/>
          <p:nvPr/>
        </p:nvSpPr>
        <p:spPr>
          <a:xfrm rot="1686600">
            <a:off x="1360080" y="422280"/>
            <a:ext cx="1044720" cy="808200"/>
          </a:xfrm>
          <a:custGeom>
            <a:avLst/>
            <a:gdLst>
              <a:gd name="GluePoint1X" fmla="*/ 2147483647 w 1605"/>
              <a:gd name="GluePoint1Y" fmla="*/ 2147483647 h 1533"/>
              <a:gd name="GluePoint2X" fmla="*/ 2147483647 w 1605"/>
              <a:gd name="GluePoint2Y" fmla="*/ 2147483647 h 1533"/>
              <a:gd name="GluePoint3X" fmla="*/ 2147483647 w 1605"/>
              <a:gd name="GluePoint3Y" fmla="*/ 2147483647 h 1533"/>
              <a:gd name="GluePoint4X" fmla="*/ 2147483647 w 1605"/>
              <a:gd name="GluePoint4Y" fmla="*/ 2147483647 h 1533"/>
              <a:gd name="GluePoint5X" fmla="*/ 2147483647 w 1605"/>
              <a:gd name="GluePoint5Y" fmla="*/ 2147483647 h 1533"/>
              <a:gd name="GluePoint6X" fmla="*/ 2147483647 w 1605"/>
              <a:gd name="GluePoint6Y" fmla="*/ 2147483647 h 1533"/>
              <a:gd name="GluePoint7X" fmla="*/ 0 w 1605"/>
              <a:gd name="GluePoint7Y" fmla="*/ 0 h 15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605" h="1533">
                <a:moveTo>
                  <a:pt x="1605" y="1533"/>
                </a:moveTo>
                <a:cubicBezTo>
                  <a:pt x="1579" y="1510"/>
                  <a:pt x="1507" y="1432"/>
                  <a:pt x="1439" y="1393"/>
                </a:cubicBezTo>
                <a:cubicBezTo>
                  <a:pt x="1371" y="1354"/>
                  <a:pt x="1335" y="1361"/>
                  <a:pt x="1199" y="1297"/>
                </a:cubicBezTo>
                <a:cubicBezTo>
                  <a:pt x="1063" y="1233"/>
                  <a:pt x="775" y="1160"/>
                  <a:pt x="623" y="1008"/>
                </a:cubicBezTo>
                <a:cubicBezTo>
                  <a:pt x="471" y="856"/>
                  <a:pt x="376" y="536"/>
                  <a:pt x="288" y="384"/>
                </a:cubicBezTo>
                <a:cubicBezTo>
                  <a:pt x="200" y="232"/>
                  <a:pt x="144" y="160"/>
                  <a:pt x="96" y="96"/>
                </a:cubicBezTo>
                <a:cubicBezTo>
                  <a:pt x="48" y="32"/>
                  <a:pt x="16" y="16"/>
                  <a:pt x="0" y="0"/>
                </a:cubicBezTo>
              </a:path>
            </a:pathLst>
          </a:custGeom>
          <a:noFill/>
          <a:ln w="50760">
            <a:solidFill>
              <a:srgbClr val="6699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796" name="Text Box 33"/>
          <p:cNvSpPr/>
          <p:nvPr/>
        </p:nvSpPr>
        <p:spPr>
          <a:xfrm>
            <a:off x="1447920" y="609480"/>
            <a:ext cx="1143000" cy="3376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Muscle</a:t>
            </a:r>
            <a:endParaRPr b="0" lang="en-US" sz="1600" strike="noStrike" u="none">
              <a:solidFill>
                <a:srgbClr val="ffff00"/>
              </a:solidFill>
              <a:effectLst/>
              <a:uFillTx/>
              <a:latin typeface="Times New Roman"/>
            </a:endParaRPr>
          </a:p>
        </p:txBody>
      </p:sp>
    </p:spTree>
  </p:cSld>
  <p:transition spd="med">
    <p:zoom dir="out"/>
  </p:transition>
  <p:timing>
    <p:tnLst>
      <p:par>
        <p:cTn id="1068" dur="indefinite" restart="never" nodeType="tmRoot">
          <p:childTnLst>
            <p:seq>
              <p:cTn id="1069" dur="indefinite" nodeType="mainSeq">
                <p:childTnLst>
                  <p:par>
                    <p:cTn id="1070" nodeType="clickEffect" fill="hold">
                      <p:stCondLst>
                        <p:cond delay="0"/>
                      </p:stCondLst>
                      <p:childTnLst>
                        <p:par>
                          <p:cTn id="1071" nodeType="withEffect" fill="hold">
                            <p:stCondLst>
                              <p:cond delay="0"/>
                            </p:stCondLst>
                            <p:childTnLst>
                              <p:par>
                                <p:cTn id="1072" nodeType="afterEffect" fill="hold" presetClass="entr" presetID="9">
                                  <p:stCondLst>
                                    <p:cond delay="0"/>
                                  </p:stCondLst>
                                  <p:childTnLst>
                                    <p:set>
                                      <p:cBhvr>
                                        <p:cTn id="1073" dur="1" fill="hold">
                                          <p:stCondLst>
                                            <p:cond delay="0"/>
                                          </p:stCondLst>
                                        </p:cTn>
                                        <p:tgtEl>
                                          <p:spTgt spid="777"/>
                                        </p:tgtEl>
                                        <p:attrNameLst>
                                          <p:attrName>style.visibility</p:attrName>
                                        </p:attrNameLst>
                                      </p:cBhvr>
                                      <p:to>
                                        <p:strVal val="visible"/>
                                      </p:to>
                                    </p:set>
                                    <p:animEffect filter="dissolve" transition="in">
                                      <p:cBhvr additive="repl">
                                        <p:cTn id="1074" dur="500"/>
                                        <p:tgtEl>
                                          <p:spTgt spid="777"/>
                                        </p:tgtEl>
                                      </p:cBhvr>
                                    </p:animEffect>
                                  </p:childTnLst>
                                </p:cTn>
                              </p:par>
                            </p:childTnLst>
                          </p:cTn>
                        </p:par>
                        <p:par>
                          <p:cTn id="1075" nodeType="afterEffect" fill="hold">
                            <p:stCondLst>
                              <p:cond delay="500"/>
                            </p:stCondLst>
                            <p:childTnLst>
                              <p:par>
                                <p:cTn id="1076" nodeType="afterEffect" fill="hold" presetClass="entr" presetID="5" presetSubtype="10">
                                  <p:stCondLst>
                                    <p:cond delay="0"/>
                                  </p:stCondLst>
                                  <p:childTnLst>
                                    <p:set>
                                      <p:cBhvr>
                                        <p:cTn id="1077" dur="1" fill="hold">
                                          <p:stCondLst>
                                            <p:cond delay="0"/>
                                          </p:stCondLst>
                                        </p:cTn>
                                        <p:tgtEl>
                                          <p:spTgt spid="792"/>
                                        </p:tgtEl>
                                        <p:attrNameLst>
                                          <p:attrName>style.visibility</p:attrName>
                                        </p:attrNameLst>
                                      </p:cBhvr>
                                      <p:to>
                                        <p:strVal val="visible"/>
                                      </p:to>
                                    </p:set>
                                    <p:animEffect filter="checkerboard(across)" transition="in">
                                      <p:cBhvr additive="repl">
                                        <p:cTn id="1078" dur="500"/>
                                        <p:tgtEl>
                                          <p:spTgt spid="792"/>
                                        </p:tgtEl>
                                      </p:cBhvr>
                                    </p:animEffect>
                                  </p:childTnLst>
                                </p:cTn>
                              </p:par>
                            </p:childTnLst>
                          </p:cTn>
                        </p:par>
                        <p:par>
                          <p:cTn id="1079" nodeType="afterEffect" fill="hold">
                            <p:stCondLst>
                              <p:cond delay="1000"/>
                            </p:stCondLst>
                            <p:childTnLst>
                              <p:par>
                                <p:cTn id="1080" nodeType="afterEffect" fill="hold" presetClass="entr" presetID="5" presetSubtype="10">
                                  <p:stCondLst>
                                    <p:cond delay="0"/>
                                  </p:stCondLst>
                                  <p:childTnLst>
                                    <p:set>
                                      <p:cBhvr>
                                        <p:cTn id="1081" dur="1" fill="hold">
                                          <p:stCondLst>
                                            <p:cond delay="0"/>
                                          </p:stCondLst>
                                        </p:cTn>
                                        <p:tgtEl>
                                          <p:spTgt spid="794"/>
                                        </p:tgtEl>
                                        <p:attrNameLst>
                                          <p:attrName>style.visibility</p:attrName>
                                        </p:attrNameLst>
                                      </p:cBhvr>
                                      <p:to>
                                        <p:strVal val="visible"/>
                                      </p:to>
                                    </p:set>
                                    <p:animEffect filter="checkerboard(across)" transition="in">
                                      <p:cBhvr additive="repl">
                                        <p:cTn id="1082" dur="500"/>
                                        <p:tgtEl>
                                          <p:spTgt spid="794"/>
                                        </p:tgtEl>
                                      </p:cBhvr>
                                    </p:animEffect>
                                  </p:childTnLst>
                                </p:cTn>
                              </p:par>
                            </p:childTnLst>
                          </p:cTn>
                        </p:par>
                        <p:par>
                          <p:cTn id="1083" nodeType="afterEffect" fill="hold">
                            <p:stCondLst>
                              <p:cond delay="1500"/>
                            </p:stCondLst>
                            <p:childTnLst>
                              <p:par>
                                <p:cTn id="1084" nodeType="afterEffect" fill="hold" presetClass="entr" presetID="9">
                                  <p:stCondLst>
                                    <p:cond delay="0"/>
                                  </p:stCondLst>
                                  <p:childTnLst>
                                    <p:set>
                                      <p:cBhvr>
                                        <p:cTn id="1085" dur="1" fill="hold">
                                          <p:stCondLst>
                                            <p:cond delay="0"/>
                                          </p:stCondLst>
                                        </p:cTn>
                                        <p:tgtEl>
                                          <p:spTgt spid="795"/>
                                        </p:tgtEl>
                                        <p:attrNameLst>
                                          <p:attrName>style.visibility</p:attrName>
                                        </p:attrNameLst>
                                      </p:cBhvr>
                                      <p:to>
                                        <p:strVal val="visible"/>
                                      </p:to>
                                    </p:set>
                                    <p:animEffect filter="dissolve" transition="in">
                                      <p:cBhvr additive="repl">
                                        <p:cTn id="1086" dur="500"/>
                                        <p:tgtEl>
                                          <p:spTgt spid="795"/>
                                        </p:tgtEl>
                                      </p:cBhvr>
                                    </p:animEffect>
                                  </p:childTnLst>
                                </p:cTn>
                              </p:par>
                            </p:childTnLst>
                          </p:cTn>
                        </p:par>
                        <p:par>
                          <p:cTn id="1087" nodeType="afterEffect" fill="hold">
                            <p:stCondLst>
                              <p:cond delay="2000"/>
                            </p:stCondLst>
                            <p:childTnLst>
                              <p:par>
                                <p:cTn id="1088" nodeType="afterEffect" fill="hold" presetClass="entr" presetID="9">
                                  <p:stCondLst>
                                    <p:cond delay="0"/>
                                  </p:stCondLst>
                                  <p:childTnLst>
                                    <p:set>
                                      <p:cBhvr>
                                        <p:cTn id="1089" dur="1" fill="hold">
                                          <p:stCondLst>
                                            <p:cond delay="0"/>
                                          </p:stCondLst>
                                        </p:cTn>
                                        <p:tgtEl>
                                          <p:spTgt spid="796"/>
                                        </p:tgtEl>
                                        <p:attrNameLst>
                                          <p:attrName>style.visibility</p:attrName>
                                        </p:attrNameLst>
                                      </p:cBhvr>
                                      <p:to>
                                        <p:strVal val="visible"/>
                                      </p:to>
                                    </p:set>
                                    <p:animEffect filter="dissolve" transition="in">
                                      <p:cBhvr additive="repl">
                                        <p:cTn id="1090" dur="500"/>
                                        <p:tgtEl>
                                          <p:spTgt spid="7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7" name="Picture 3" descr=""/>
          <p:cNvPicPr/>
          <p:nvPr/>
        </p:nvPicPr>
        <p:blipFill>
          <a:blip r:embed="rId1"/>
          <a:srcRect l="23454" t="30551" r="41885" b="30551"/>
          <a:stretch/>
        </p:blipFill>
        <p:spPr>
          <a:xfrm>
            <a:off x="282600" y="23760"/>
            <a:ext cx="8707320" cy="6858000"/>
          </a:xfrm>
          <a:prstGeom prst="rect">
            <a:avLst/>
          </a:prstGeom>
          <a:noFill/>
          <a:ln w="0">
            <a:noFill/>
          </a:ln>
        </p:spPr>
      </p:pic>
    </p:spTree>
  </p:cSld>
  <p:transition spd="med">
    <p:zoom dir="out"/>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8" name="Picture 3" descr="figure15"/>
          <p:cNvPicPr/>
          <p:nvPr/>
        </p:nvPicPr>
        <p:blipFill>
          <a:blip r:embed="rId1"/>
          <a:srcRect l="7914" t="5850" r="54810" b="8193"/>
          <a:stretch/>
        </p:blipFill>
        <p:spPr>
          <a:xfrm>
            <a:off x="2843280" y="14400"/>
            <a:ext cx="2520720" cy="6727680"/>
          </a:xfrm>
          <a:prstGeom prst="rect">
            <a:avLst/>
          </a:prstGeom>
          <a:noFill/>
          <a:ln w="0">
            <a:noFill/>
          </a:ln>
        </p:spPr>
      </p:pic>
      <p:sp>
        <p:nvSpPr>
          <p:cNvPr id="799" name="Flèche vers le bas 1"/>
          <p:cNvSpPr/>
          <p:nvPr/>
        </p:nvSpPr>
        <p:spPr>
          <a:xfrm rot="5400000">
            <a:off x="5506560" y="2644560"/>
            <a:ext cx="218880" cy="1079640"/>
          </a:xfrm>
          <a:prstGeom prst="downArrow">
            <a:avLst>
              <a:gd name="adj1" fmla="val 50000"/>
              <a:gd name="adj2" fmla="val 50056"/>
            </a:avLst>
          </a:prstGeom>
          <a:solidFill>
            <a:srgbClr val="ffff50"/>
          </a:solidFill>
          <a:ln w="9360">
            <a:solidFill>
              <a:srgbClr val="0000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0" name="ZoneTexte 2"/>
          <p:cNvSpPr/>
          <p:nvPr/>
        </p:nvSpPr>
        <p:spPr>
          <a:xfrm>
            <a:off x="5981760" y="2944800"/>
            <a:ext cx="3360600" cy="10083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Accrétion</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(cristaux d’hydroxyapatite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calcium + phosphate) </a:t>
            </a:r>
            <a:endParaRPr b="0" lang="en-US" sz="1800" strike="noStrike" u="none">
              <a:solidFill>
                <a:srgbClr val="ffff00"/>
              </a:solidFill>
              <a:effectLst/>
              <a:uFillTx/>
              <a:latin typeface="Times New Roman"/>
            </a:endParaRPr>
          </a:p>
        </p:txBody>
      </p:sp>
      <p:sp>
        <p:nvSpPr>
          <p:cNvPr id="801" name="Flèche vers le bas 3"/>
          <p:cNvSpPr/>
          <p:nvPr/>
        </p:nvSpPr>
        <p:spPr>
          <a:xfrm rot="5400000">
            <a:off x="2475360" y="2784960"/>
            <a:ext cx="196920" cy="1046160"/>
          </a:xfrm>
          <a:prstGeom prst="downArrow">
            <a:avLst>
              <a:gd name="adj1" fmla="val 50000"/>
              <a:gd name="adj2" fmla="val 49978"/>
            </a:avLst>
          </a:prstGeom>
          <a:solidFill>
            <a:srgbClr val="ffff50"/>
          </a:solidFill>
          <a:ln w="9360">
            <a:solidFill>
              <a:srgbClr val="0000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02" name="ZoneTexte 4"/>
          <p:cNvSpPr/>
          <p:nvPr/>
        </p:nvSpPr>
        <p:spPr>
          <a:xfrm>
            <a:off x="281880" y="3062160"/>
            <a:ext cx="2829240" cy="7340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Résorption</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ff"/>
                </a:solidFill>
                <a:effectLst/>
                <a:uFillTx/>
                <a:latin typeface="Calibri"/>
                <a:ea typeface="Calibri"/>
              </a:rPr>
              <a:t>(Calcium + phosphore)</a:t>
            </a:r>
            <a:endParaRPr b="0" lang="en-US" sz="1800" strike="noStrike" u="none">
              <a:solidFill>
                <a:srgbClr val="ffff00"/>
              </a:solidFill>
              <a:effectLst/>
              <a:uFillTx/>
              <a:latin typeface="Times New Roman"/>
            </a:endParaRPr>
          </a:p>
        </p:txBody>
      </p:sp>
      <p:sp>
        <p:nvSpPr>
          <p:cNvPr id="803" name="ZoneTexte 5"/>
          <p:cNvSpPr/>
          <p:nvPr/>
        </p:nvSpPr>
        <p:spPr>
          <a:xfrm>
            <a:off x="5118480" y="4581360"/>
            <a:ext cx="4269960" cy="1191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Au cours de la croissance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Calibri"/>
                <a:ea typeface="Calibri"/>
              </a:rPr>
              <a:t>     accrétion &gt; résorption</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spd="med">
    <p:zoom dir="out"/>
  </p:transition>
  <p:timing>
    <p:tnLst>
      <p:par>
        <p:cTn id="1091" dur="indefinite" restart="never" nodeType="tmRoot">
          <p:childTnLst>
            <p:seq>
              <p:cTn id="1092" dur="indefinite" nodeType="mainSeq">
                <p:childTnLst>
                  <p:par>
                    <p:cTn id="1093" nodeType="clickEffect" fill="hold">
                      <p:stCondLst>
                        <p:cond delay="indefinite"/>
                      </p:stCondLst>
                      <p:childTnLst>
                        <p:par>
                          <p:cTn id="1094" nodeType="withEffect" fill="hold">
                            <p:stCondLst>
                              <p:cond delay="0"/>
                            </p:stCondLst>
                            <p:childTnLst>
                              <p:par>
                                <p:cTn id="1095" nodeType="clickEffect" fill="hold" presetClass="entr" presetID="2" presetSubtype="4">
                                  <p:stCondLst>
                                    <p:cond delay="0"/>
                                  </p:stCondLst>
                                  <p:childTnLst>
                                    <p:set>
                                      <p:cBhvr>
                                        <p:cTn id="1096" dur="1" fill="hold">
                                          <p:stCondLst>
                                            <p:cond delay="0"/>
                                          </p:stCondLst>
                                        </p:cTn>
                                        <p:tgtEl>
                                          <p:spTgt spid="798"/>
                                        </p:tgtEl>
                                        <p:attrNameLst>
                                          <p:attrName>style.visibility</p:attrName>
                                        </p:attrNameLst>
                                      </p:cBhvr>
                                      <p:to>
                                        <p:strVal val="visible"/>
                                      </p:to>
                                    </p:set>
                                    <p:anim calcmode="lin" valueType="num">
                                      <p:cBhvr additive="base">
                                        <p:cTn id="1097" dur="500" fill="hold"/>
                                        <p:tgtEl>
                                          <p:spTgt spid="798"/>
                                        </p:tgtEl>
                                        <p:attrNameLst>
                                          <p:attrName>ppt_x</p:attrName>
                                        </p:attrNameLst>
                                      </p:cBhvr>
                                      <p:tavLst>
                                        <p:tav tm="0">
                                          <p:val>
                                            <p:strVal val="#ppt_x"/>
                                          </p:val>
                                        </p:tav>
                                        <p:tav tm="100000">
                                          <p:val>
                                            <p:strVal val="#ppt_x"/>
                                          </p:val>
                                        </p:tav>
                                      </p:tavLst>
                                    </p:anim>
                                    <p:anim calcmode="lin" valueType="num">
                                      <p:cBhvr additive="base">
                                        <p:cTn id="1098" dur="500" fill="hold"/>
                                        <p:tgtEl>
                                          <p:spTgt spid="798"/>
                                        </p:tgtEl>
                                        <p:attrNameLst>
                                          <p:attrName>ppt_y</p:attrName>
                                        </p:attrNameLst>
                                      </p:cBhvr>
                                      <p:tavLst>
                                        <p:tav tm="0">
                                          <p:val>
                                            <p:strVal val="1+#ppt_h/2"/>
                                          </p:val>
                                        </p:tav>
                                        <p:tav tm="100000">
                                          <p:val>
                                            <p:strVal val="#ppt_y"/>
                                          </p:val>
                                        </p:tav>
                                      </p:tavLst>
                                    </p:anim>
                                  </p:childTnLst>
                                </p:cTn>
                              </p:par>
                            </p:childTnLst>
                          </p:cTn>
                        </p:par>
                      </p:childTnLst>
                    </p:cTn>
                  </p:par>
                  <p:par>
                    <p:cTn id="1099" nodeType="clickEffect" fill="hold">
                      <p:stCondLst>
                        <p:cond delay="indefinite"/>
                      </p:stCondLst>
                      <p:childTnLst>
                        <p:par>
                          <p:cTn id="1100" nodeType="withEffect" fill="hold">
                            <p:stCondLst>
                              <p:cond delay="0"/>
                            </p:stCondLst>
                            <p:childTnLst>
                              <p:par>
                                <p:cTn id="1101" nodeType="clickEffect" fill="hold" presetClass="entr" presetID="53" presetSubtype="16">
                                  <p:stCondLst>
                                    <p:cond delay="0"/>
                                  </p:stCondLst>
                                  <p:childTnLst>
                                    <p:set>
                                      <p:cBhvr>
                                        <p:cTn id="1102" dur="1" fill="hold">
                                          <p:stCondLst>
                                            <p:cond delay="0"/>
                                          </p:stCondLst>
                                        </p:cTn>
                                        <p:tgtEl>
                                          <p:spTgt spid="800"/>
                                        </p:tgtEl>
                                        <p:attrNameLst>
                                          <p:attrName>style.visibility</p:attrName>
                                        </p:attrNameLst>
                                      </p:cBhvr>
                                      <p:to>
                                        <p:strVal val="visible"/>
                                      </p:to>
                                    </p:set>
                                    <p:anim calcmode="lin" valueType="num">
                                      <p:cBhvr additive="repl">
                                        <p:cTn id="1103" dur="500" fill="hold"/>
                                        <p:tgtEl>
                                          <p:spTgt spid="800"/>
                                        </p:tgtEl>
                                        <p:attrNameLst>
                                          <p:attrName>ppt_w</p:attrName>
                                        </p:attrNameLst>
                                      </p:cBhvr>
                                      <p:tavLst>
                                        <p:tav tm="0">
                                          <p:val>
                                            <p:fltVal val="0"/>
                                          </p:val>
                                        </p:tav>
                                        <p:tav tm="100000">
                                          <p:val>
                                            <p:strVal val="#ppt_w"/>
                                          </p:val>
                                        </p:tav>
                                      </p:tavLst>
                                    </p:anim>
                                    <p:anim calcmode="lin" valueType="num">
                                      <p:cBhvr additive="repl">
                                        <p:cTn id="1104" dur="500" fill="hold"/>
                                        <p:tgtEl>
                                          <p:spTgt spid="800"/>
                                        </p:tgtEl>
                                        <p:attrNameLst>
                                          <p:attrName>ppt_h</p:attrName>
                                        </p:attrNameLst>
                                      </p:cBhvr>
                                      <p:tavLst>
                                        <p:tav tm="0">
                                          <p:val>
                                            <p:fltVal val="0"/>
                                          </p:val>
                                        </p:tav>
                                        <p:tav tm="100000">
                                          <p:val>
                                            <p:strVal val="#ppt_h"/>
                                          </p:val>
                                        </p:tav>
                                      </p:tavLst>
                                    </p:anim>
                                    <p:animEffect filter="fade" transition="in">
                                      <p:cBhvr additive="repl">
                                        <p:cTn id="1105" dur="500"/>
                                        <p:tgtEl>
                                          <p:spTgt spid="800"/>
                                        </p:tgtEl>
                                      </p:cBhvr>
                                    </p:animEffect>
                                  </p:childTnLst>
                                </p:cTn>
                              </p:par>
                            </p:childTnLst>
                          </p:cTn>
                        </p:par>
                        <p:par>
                          <p:cTn id="1106" nodeType="afterEffect" fill="hold">
                            <p:stCondLst>
                              <p:cond delay="500"/>
                            </p:stCondLst>
                            <p:childTnLst>
                              <p:par>
                                <p:cTn id="1107" nodeType="afterEffect" fill="hold" presetClass="entr" presetID="22" presetSubtype="2">
                                  <p:stCondLst>
                                    <p:cond delay="0"/>
                                  </p:stCondLst>
                                  <p:childTnLst>
                                    <p:set>
                                      <p:cBhvr>
                                        <p:cTn id="1108" dur="1" fill="hold">
                                          <p:stCondLst>
                                            <p:cond delay="0"/>
                                          </p:stCondLst>
                                        </p:cTn>
                                        <p:tgtEl>
                                          <p:spTgt spid="799"/>
                                        </p:tgtEl>
                                        <p:attrNameLst>
                                          <p:attrName>style.visibility</p:attrName>
                                        </p:attrNameLst>
                                      </p:cBhvr>
                                      <p:to>
                                        <p:strVal val="visible"/>
                                      </p:to>
                                    </p:set>
                                    <p:animEffect filter="wipe(right)" transition="in">
                                      <p:cBhvr additive="repl">
                                        <p:cTn id="1109" dur="500"/>
                                        <p:tgtEl>
                                          <p:spTgt spid="799"/>
                                        </p:tgtEl>
                                      </p:cBhvr>
                                    </p:animEffect>
                                  </p:childTnLst>
                                </p:cTn>
                              </p:par>
                            </p:childTnLst>
                          </p:cTn>
                        </p:par>
                      </p:childTnLst>
                    </p:cTn>
                  </p:par>
                  <p:par>
                    <p:cTn id="1110" nodeType="clickEffect" fill="hold">
                      <p:stCondLst>
                        <p:cond delay="indefinite"/>
                      </p:stCondLst>
                      <p:childTnLst>
                        <p:par>
                          <p:cTn id="1111" nodeType="withEffect" fill="hold">
                            <p:stCondLst>
                              <p:cond delay="0"/>
                            </p:stCondLst>
                            <p:childTnLst>
                              <p:par>
                                <p:cTn id="1112" nodeType="clickEffect" fill="hold" presetClass="entr" presetID="22" presetSubtype="2">
                                  <p:stCondLst>
                                    <p:cond delay="0"/>
                                  </p:stCondLst>
                                  <p:childTnLst>
                                    <p:set>
                                      <p:cBhvr>
                                        <p:cTn id="1113" dur="1" fill="hold">
                                          <p:stCondLst>
                                            <p:cond delay="0"/>
                                          </p:stCondLst>
                                        </p:cTn>
                                        <p:tgtEl>
                                          <p:spTgt spid="801"/>
                                        </p:tgtEl>
                                        <p:attrNameLst>
                                          <p:attrName>style.visibility</p:attrName>
                                        </p:attrNameLst>
                                      </p:cBhvr>
                                      <p:to>
                                        <p:strVal val="visible"/>
                                      </p:to>
                                    </p:set>
                                    <p:animEffect filter="wipe(right)" transition="in">
                                      <p:cBhvr additive="repl">
                                        <p:cTn id="1114" dur="500"/>
                                        <p:tgtEl>
                                          <p:spTgt spid="801"/>
                                        </p:tgtEl>
                                      </p:cBhvr>
                                    </p:animEffect>
                                  </p:childTnLst>
                                </p:cTn>
                              </p:par>
                            </p:childTnLst>
                          </p:cTn>
                        </p:par>
                        <p:par>
                          <p:cTn id="1115" nodeType="afterEffect" fill="hold">
                            <p:stCondLst>
                              <p:cond delay="500"/>
                            </p:stCondLst>
                            <p:childTnLst>
                              <p:par>
                                <p:cTn id="1116" nodeType="afterEffect" fill="hold" presetClass="entr" presetID="53" presetSubtype="16">
                                  <p:stCondLst>
                                    <p:cond delay="0"/>
                                  </p:stCondLst>
                                  <p:childTnLst>
                                    <p:set>
                                      <p:cBhvr>
                                        <p:cTn id="1117" dur="1" fill="hold">
                                          <p:stCondLst>
                                            <p:cond delay="0"/>
                                          </p:stCondLst>
                                        </p:cTn>
                                        <p:tgtEl>
                                          <p:spTgt spid="802"/>
                                        </p:tgtEl>
                                        <p:attrNameLst>
                                          <p:attrName>style.visibility</p:attrName>
                                        </p:attrNameLst>
                                      </p:cBhvr>
                                      <p:to>
                                        <p:strVal val="visible"/>
                                      </p:to>
                                    </p:set>
                                    <p:anim calcmode="lin" valueType="num">
                                      <p:cBhvr additive="repl">
                                        <p:cTn id="1118" dur="500" fill="hold"/>
                                        <p:tgtEl>
                                          <p:spTgt spid="802"/>
                                        </p:tgtEl>
                                        <p:attrNameLst>
                                          <p:attrName>ppt_w</p:attrName>
                                        </p:attrNameLst>
                                      </p:cBhvr>
                                      <p:tavLst>
                                        <p:tav tm="0">
                                          <p:val>
                                            <p:fltVal val="0"/>
                                          </p:val>
                                        </p:tav>
                                        <p:tav tm="100000">
                                          <p:val>
                                            <p:strVal val="#ppt_w"/>
                                          </p:val>
                                        </p:tav>
                                      </p:tavLst>
                                    </p:anim>
                                    <p:anim calcmode="lin" valueType="num">
                                      <p:cBhvr additive="repl">
                                        <p:cTn id="1119" dur="500" fill="hold"/>
                                        <p:tgtEl>
                                          <p:spTgt spid="802"/>
                                        </p:tgtEl>
                                        <p:attrNameLst>
                                          <p:attrName>ppt_h</p:attrName>
                                        </p:attrNameLst>
                                      </p:cBhvr>
                                      <p:tavLst>
                                        <p:tav tm="0">
                                          <p:val>
                                            <p:fltVal val="0"/>
                                          </p:val>
                                        </p:tav>
                                        <p:tav tm="100000">
                                          <p:val>
                                            <p:strVal val="#ppt_h"/>
                                          </p:val>
                                        </p:tav>
                                      </p:tavLst>
                                    </p:anim>
                                    <p:animEffect filter="fade" transition="in">
                                      <p:cBhvr additive="repl">
                                        <p:cTn id="1120" dur="500"/>
                                        <p:tgtEl>
                                          <p:spTgt spid="802"/>
                                        </p:tgtEl>
                                      </p:cBhvr>
                                    </p:animEffect>
                                  </p:childTnLst>
                                </p:cTn>
                              </p:par>
                            </p:childTnLst>
                          </p:cTn>
                        </p:par>
                      </p:childTnLst>
                    </p:cTn>
                  </p:par>
                  <p:par>
                    <p:cTn id="1121" nodeType="clickEffect" fill="hold">
                      <p:stCondLst>
                        <p:cond delay="indefinite"/>
                      </p:stCondLst>
                      <p:childTnLst>
                        <p:par>
                          <p:cTn id="1122" nodeType="withEffect" fill="hold">
                            <p:stCondLst>
                              <p:cond delay="0"/>
                            </p:stCondLst>
                            <p:childTnLst>
                              <p:par>
                                <p:cTn id="1123" nodeType="clickEffect" fill="hold" presetClass="entr" presetID="53" presetSubtype="16">
                                  <p:stCondLst>
                                    <p:cond delay="0"/>
                                  </p:stCondLst>
                                  <p:childTnLst>
                                    <p:set>
                                      <p:cBhvr>
                                        <p:cTn id="1124" dur="1" fill="hold">
                                          <p:stCondLst>
                                            <p:cond delay="0"/>
                                          </p:stCondLst>
                                        </p:cTn>
                                        <p:tgtEl>
                                          <p:spTgt spid="803"/>
                                        </p:tgtEl>
                                        <p:attrNameLst>
                                          <p:attrName>style.visibility</p:attrName>
                                        </p:attrNameLst>
                                      </p:cBhvr>
                                      <p:to>
                                        <p:strVal val="visible"/>
                                      </p:to>
                                    </p:set>
                                    <p:anim calcmode="lin" valueType="num">
                                      <p:cBhvr additive="repl">
                                        <p:cTn id="1125" dur="500" fill="hold"/>
                                        <p:tgtEl>
                                          <p:spTgt spid="803"/>
                                        </p:tgtEl>
                                        <p:attrNameLst>
                                          <p:attrName>ppt_w</p:attrName>
                                        </p:attrNameLst>
                                      </p:cBhvr>
                                      <p:tavLst>
                                        <p:tav tm="0">
                                          <p:val>
                                            <p:fltVal val="0"/>
                                          </p:val>
                                        </p:tav>
                                        <p:tav tm="100000">
                                          <p:val>
                                            <p:strVal val="#ppt_w"/>
                                          </p:val>
                                        </p:tav>
                                      </p:tavLst>
                                    </p:anim>
                                    <p:anim calcmode="lin" valueType="num">
                                      <p:cBhvr additive="repl">
                                        <p:cTn id="1126" dur="500" fill="hold"/>
                                        <p:tgtEl>
                                          <p:spTgt spid="803"/>
                                        </p:tgtEl>
                                        <p:attrNameLst>
                                          <p:attrName>ppt_h</p:attrName>
                                        </p:attrNameLst>
                                      </p:cBhvr>
                                      <p:tavLst>
                                        <p:tav tm="0">
                                          <p:val>
                                            <p:fltVal val="0"/>
                                          </p:val>
                                        </p:tav>
                                        <p:tav tm="100000">
                                          <p:val>
                                            <p:strVal val="#ppt_h"/>
                                          </p:val>
                                        </p:tav>
                                      </p:tavLst>
                                    </p:anim>
                                    <p:animEffect filter="fade" transition="in">
                                      <p:cBhvr additive="repl">
                                        <p:cTn id="1127" dur="500"/>
                                        <p:tgtEl>
                                          <p:spTgt spid="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Rectangle 1"/>
          <p:cNvSpPr/>
          <p:nvPr/>
        </p:nvSpPr>
        <p:spPr>
          <a:xfrm>
            <a:off x="179280" y="1905120"/>
            <a:ext cx="8856720" cy="338580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De façon constante, l’os est soumis à un turnover minéral permettant de constituer du tissu osseux nouveau.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Ce turnover résulte d’un couplage entre</a:t>
            </a:r>
            <a:r>
              <a:rPr b="0" i="1" lang="fr-FR" sz="2400" strike="noStrike" u="none">
                <a:solidFill>
                  <a:srgbClr val="ffffff"/>
                </a:solidFill>
                <a:effectLst/>
                <a:uFillTx/>
                <a:latin typeface="Calibri"/>
                <a:ea typeface="Calibri"/>
              </a:rPr>
              <a:t> </a:t>
            </a:r>
            <a:r>
              <a:rPr b="1" i="1" lang="fr-FR" sz="2400" strike="noStrike" u="none">
                <a:solidFill>
                  <a:srgbClr val="ffffff"/>
                </a:solidFill>
                <a:effectLst/>
                <a:uFillTx/>
                <a:latin typeface="Calibri"/>
                <a:ea typeface="Calibri"/>
              </a:rPr>
              <a:t>résorption</a:t>
            </a:r>
            <a:r>
              <a:rPr b="0" i="1" lang="fr-FR" sz="2400" strike="noStrike" u="none">
                <a:solidFill>
                  <a:srgbClr val="ffffff"/>
                </a:solidFill>
                <a:effectLst/>
                <a:uFillTx/>
                <a:latin typeface="Calibri"/>
                <a:ea typeface="Calibri"/>
              </a:rPr>
              <a:t> </a:t>
            </a:r>
            <a:r>
              <a:rPr b="0" lang="fr-FR" sz="2400" strike="noStrike" u="none">
                <a:solidFill>
                  <a:srgbClr val="ffff00"/>
                </a:solidFill>
                <a:effectLst/>
                <a:uFillTx/>
                <a:latin typeface="Calibri"/>
                <a:ea typeface="Calibri"/>
              </a:rPr>
              <a:t>et formation osseuse </a:t>
            </a:r>
            <a:r>
              <a:rPr b="1" i="1" lang="fr-FR" sz="2400" strike="noStrike" u="none">
                <a:solidFill>
                  <a:srgbClr val="ffffff"/>
                </a:solidFill>
                <a:effectLst/>
                <a:uFillTx/>
                <a:latin typeface="Calibri"/>
                <a:ea typeface="Calibri"/>
              </a:rPr>
              <a:t>(accrétion) </a:t>
            </a:r>
            <a:r>
              <a:rPr b="0" lang="fr-FR" sz="2400" strike="noStrike" u="none">
                <a:solidFill>
                  <a:srgbClr val="ffff00"/>
                </a:solidFill>
                <a:effectLst/>
                <a:uFillTx/>
                <a:latin typeface="Calibri"/>
                <a:ea typeface="Calibri"/>
              </a:rPr>
              <a:t>cette dernière étant majoritaire au cours de la croissance. </a:t>
            </a:r>
            <a:endParaRPr b="0" lang="en-US" sz="2400" strike="noStrike" u="none">
              <a:solidFill>
                <a:srgbClr val="ffff00"/>
              </a:solidFill>
              <a:effectLst/>
              <a:uFillTx/>
              <a:latin typeface="Times New Roman"/>
            </a:endParaRPr>
          </a:p>
        </p:txBody>
      </p:sp>
    </p:spTree>
  </p:cSld>
  <p:transition spd="med">
    <p:zoom dir="out"/>
  </p:transition>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Rectangle 1"/>
          <p:cNvSpPr/>
          <p:nvPr/>
        </p:nvSpPr>
        <p:spPr>
          <a:xfrm>
            <a:off x="0" y="549360"/>
            <a:ext cx="9144000" cy="8093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Facteurs extrinsèques : apports énergétiques et en minéraux</a:t>
            </a:r>
            <a:endParaRPr b="0" lang="en-US" sz="2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 minéralisation des os du squelette est sous la dépendance à la fois : </a:t>
            </a:r>
            <a:endParaRPr b="0" lang="en-US" sz="2400" strike="noStrike" u="none">
              <a:solidFill>
                <a:srgbClr val="ffff00"/>
              </a:solidFill>
              <a:effectLst/>
              <a:uFillTx/>
              <a:latin typeface="Times New Roman"/>
            </a:endParaRPr>
          </a:p>
          <a:p>
            <a:pPr>
              <a:lnSpc>
                <a:spcPts val="2999"/>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de facteurs génétiques qui constituent le pourcentage majoritaire du capital osseux dès la naissance, </a:t>
            </a:r>
            <a:endParaRPr b="0" lang="en-US" sz="2400" strike="noStrike" u="none">
              <a:solidFill>
                <a:srgbClr val="ffff00"/>
              </a:solidFill>
              <a:effectLst/>
              <a:uFillTx/>
              <a:latin typeface="Times New Roman"/>
            </a:endParaRPr>
          </a:p>
          <a:p>
            <a:pPr>
              <a:lnSpc>
                <a:spcPts val="2999"/>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des contraintes mécaniques s’appliquant sur le squelette, donc de l’activité physique, </a:t>
            </a:r>
            <a:endParaRPr b="0" lang="en-US" sz="2400" strike="noStrike" u="none">
              <a:solidFill>
                <a:srgbClr val="ffff00"/>
              </a:solidFill>
              <a:effectLst/>
              <a:uFillTx/>
              <a:latin typeface="Times New Roman"/>
            </a:endParaRPr>
          </a:p>
          <a:p>
            <a:pPr>
              <a:lnSpc>
                <a:spcPts val="2999"/>
              </a:lnSpc>
              <a:buClr>
                <a:srgbClr val="ffff00"/>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de l’apport énergétique total ainsi que des apports en protéines, en calcium, en phosphate et en hydroxycalciférol (vitamine D).</a:t>
            </a:r>
            <a:endParaRPr b="0" lang="en-US" sz="24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ts val="29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Pour le calcium il est recommandé en France un apport quotidien de 1200 mg aux jeunes âgés entre 10 et 18 ans.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Une supplémentation en calcium au cours de la croissance ne s’avère recommandée et efficace que si elle est associée à la pratique régulière d’une activité physique.</a:t>
            </a:r>
            <a:endParaRPr b="0" lang="en-US" sz="2400" strike="noStrike" u="none">
              <a:solidFill>
                <a:srgbClr val="ffff00"/>
              </a:solidFill>
              <a:effectLst/>
              <a:uFillTx/>
              <a:latin typeface="Times New Roman"/>
            </a:endParaRPr>
          </a:p>
        </p:txBody>
      </p:sp>
    </p:spTree>
  </p:cSld>
  <p:transition spd="med">
    <p:zoom dir="out"/>
  </p:transition>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Rectangle 1"/>
          <p:cNvSpPr/>
          <p:nvPr/>
        </p:nvSpPr>
        <p:spPr>
          <a:xfrm>
            <a:off x="108000" y="1700280"/>
            <a:ext cx="9036000" cy="55803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 formation osseuse nécessite la présence de magnésium et de cristaux d’hydroxyapatite constitués de calcium et de phosphate.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Les produits laitiers pris quotidiennement </a:t>
            </a:r>
            <a:r>
              <a:rPr b="1" i="1" lang="fr-FR" sz="2400" strike="noStrike" u="none">
                <a:solidFill>
                  <a:srgbClr val="ffffff"/>
                </a:solidFill>
                <a:effectLst/>
                <a:uFillTx/>
                <a:latin typeface="Calibri"/>
                <a:ea typeface="Calibri"/>
              </a:rPr>
              <a:t>au cours de deux repas </a:t>
            </a:r>
            <a:r>
              <a:rPr b="0" lang="fr-FR" sz="2400" strike="noStrike" u="none">
                <a:solidFill>
                  <a:srgbClr val="ffff00"/>
                </a:solidFill>
                <a:effectLst/>
                <a:uFillTx/>
                <a:latin typeface="Calibri"/>
                <a:ea typeface="Calibri"/>
              </a:rPr>
              <a:t>suffisent pour fournir la quantité requise de calcium.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Entre 10 et 18 ans, l’apport quotidien en phosphore doit être limité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à 800 mg et respecter un rapport calcium/phosphore entre 1 et 1,5.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Ce rapport semble le plus favorable à l’absorption du calcium. </a:t>
            </a:r>
            <a:endParaRPr b="0" lang="en-US" sz="2400" strike="noStrike" u="none">
              <a:solidFill>
                <a:srgbClr val="ffff00"/>
              </a:solidFill>
              <a:effectLst/>
              <a:uFillTx/>
              <a:latin typeface="Times New Roman"/>
            </a:endParaRPr>
          </a:p>
        </p:txBody>
      </p:sp>
      <p:sp>
        <p:nvSpPr>
          <p:cNvPr id="807" name="Rectangle 2"/>
          <p:cNvSpPr/>
          <p:nvPr/>
        </p:nvSpPr>
        <p:spPr>
          <a:xfrm>
            <a:off x="1692360" y="333360"/>
            <a:ext cx="594504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Apports énergétiques et en minéraux </a:t>
            </a:r>
            <a:r>
              <a:rPr b="0" lang="fr-FR" sz="2400" strike="noStrike" u="none">
                <a:solidFill>
                  <a:srgbClr val="ffffff"/>
                </a:solidFill>
                <a:effectLst/>
                <a:uFillTx/>
                <a:latin typeface="Calibri"/>
                <a:ea typeface="Calibri"/>
              </a:rPr>
              <a:t>(suite</a:t>
            </a:r>
            <a:r>
              <a:rPr b="1" lang="fr-FR" sz="2400" strike="noStrike" u="none">
                <a:solidFill>
                  <a:srgbClr val="ffffff"/>
                </a:solidFill>
                <a:effectLst/>
                <a:uFillTx/>
                <a:latin typeface="Calibri"/>
                <a:ea typeface="Calibri"/>
              </a:rPr>
              <a:t>)</a:t>
            </a:r>
            <a:endParaRPr b="0" lang="en-US" sz="2400" strike="noStrike" u="none">
              <a:solidFill>
                <a:srgbClr val="ffff00"/>
              </a:solidFill>
              <a:effectLst/>
              <a:uFillTx/>
              <a:latin typeface="Times New Roman"/>
            </a:endParaRPr>
          </a:p>
        </p:txBody>
      </p:sp>
    </p:spTree>
  </p:cSld>
  <p:transition spd="med">
    <p:zoom dir="out"/>
  </p:transition>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Rectangle 1"/>
          <p:cNvSpPr/>
          <p:nvPr/>
        </p:nvSpPr>
        <p:spPr>
          <a:xfrm>
            <a:off x="85680" y="1268280"/>
            <a:ext cx="907272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00"/>
                </a:solidFill>
                <a:effectLst/>
                <a:uFillTx/>
                <a:latin typeface="Calibri"/>
                <a:ea typeface="Calibri"/>
              </a:rPr>
              <a:t>Une prise plus importante du phosphore que l’on trouve en quantité importante dans certaines boissons </a:t>
            </a:r>
            <a:r>
              <a:rPr b="1" i="1" lang="fr-FR" sz="2400" strike="noStrike" u="none">
                <a:solidFill>
                  <a:srgbClr val="ffffff"/>
                </a:solidFill>
                <a:effectLst/>
                <a:uFillTx/>
                <a:latin typeface="Calibri"/>
                <a:ea typeface="Calibri"/>
              </a:rPr>
              <a:t>de type cola </a:t>
            </a:r>
            <a:r>
              <a:rPr b="1" i="1" lang="fr-FR" sz="2400" strike="noStrike" u="none">
                <a:solidFill>
                  <a:srgbClr val="ffff00"/>
                </a:solidFill>
                <a:effectLst/>
                <a:uFillTx/>
                <a:latin typeface="Calibri"/>
                <a:ea typeface="Calibri"/>
              </a:rPr>
              <a:t>peut paradoxalement s’avérer délétère pour la fonction osseuse, peut créer non seulement des troubles osseux mais aussi des lithiases uriques et des déficiences au niveau de l’absorption et de la fixation du calcium et du magnésium.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00"/>
                </a:solidFill>
                <a:effectLst/>
                <a:uFillTx/>
                <a:latin typeface="Calibri"/>
                <a:ea typeface="Calibri"/>
              </a:rPr>
              <a:t>Ces boissons devraient donc être très limitées au cours de la puberté et de la totalité de la croissance osseuse :</a:t>
            </a:r>
            <a:endParaRPr b="0" lang="en-US" sz="24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 Ni coca, Nicolas » ! </a:t>
            </a:r>
            <a:endParaRPr b="0" lang="en-US" sz="2400" strike="noStrike" u="none">
              <a:solidFill>
                <a:srgbClr val="ffff00"/>
              </a:solidFill>
              <a:effectLst/>
              <a:uFillTx/>
              <a:latin typeface="Times New Roman"/>
            </a:endParaRPr>
          </a:p>
        </p:txBody>
      </p:sp>
      <p:sp>
        <p:nvSpPr>
          <p:cNvPr id="809" name="Rectangle 2"/>
          <p:cNvSpPr/>
          <p:nvPr/>
        </p:nvSpPr>
        <p:spPr>
          <a:xfrm>
            <a:off x="1476360" y="333360"/>
            <a:ext cx="594360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Apports énergétiques et en minéraux </a:t>
            </a:r>
            <a:r>
              <a:rPr b="0" lang="fr-FR" sz="2400" strike="noStrike" u="none">
                <a:solidFill>
                  <a:srgbClr val="ffffff"/>
                </a:solidFill>
                <a:effectLst/>
                <a:uFillTx/>
                <a:latin typeface="Calibri"/>
                <a:ea typeface="Calibri"/>
              </a:rPr>
              <a:t>(suite</a:t>
            </a:r>
            <a:r>
              <a:rPr b="1" lang="fr-FR" sz="2400" strike="noStrike" u="none">
                <a:solidFill>
                  <a:srgbClr val="ffffff"/>
                </a:solidFill>
                <a:effectLst/>
                <a:uFillTx/>
                <a:latin typeface="Calibri"/>
                <a:ea typeface="Calibri"/>
              </a:rPr>
              <a:t>)</a:t>
            </a:r>
            <a:endParaRPr b="0" lang="en-US" sz="2400" strike="noStrike" u="none">
              <a:solidFill>
                <a:srgbClr val="ffff00"/>
              </a:solidFill>
              <a:effectLst/>
              <a:uFillTx/>
              <a:latin typeface="Times New Roman"/>
            </a:endParaRPr>
          </a:p>
        </p:txBody>
      </p:sp>
    </p:spTree>
  </p:cSld>
  <p:transition spd="med">
    <p:zoom dir="out"/>
  </p:transition>
  <p:timing>
    <p:tnLst>
      <p:par>
        <p:cTn id="1128" dur="indefinite" restart="never" nodeType="tmRoot">
          <p:childTnLst>
            <p:seq>
              <p:cTn id="1129" dur="indefinite" nodeType="mainSeq">
                <p:childTnLst>
                  <p:par>
                    <p:cTn id="1130" nodeType="clickEffect" fill="hold">
                      <p:stCondLst>
                        <p:cond delay="indefinite"/>
                      </p:stCondLst>
                      <p:childTnLst>
                        <p:par>
                          <p:cTn id="1131" nodeType="withEffect" fill="hold">
                            <p:stCondLst>
                              <p:cond delay="0"/>
                            </p:stCondLst>
                            <p:childTnLst>
                              <p:par>
                                <p:cTn id="1132" nodeType="clickEffect" fill="hold" presetClass="entr" presetID="22" presetSubtype="8">
                                  <p:stCondLst>
                                    <p:cond delay="0"/>
                                  </p:stCondLst>
                                  <p:childTnLst>
                                    <p:set>
                                      <p:cBhvr>
                                        <p:cTn id="1133" dur="1" fill="hold">
                                          <p:stCondLst>
                                            <p:cond delay="0"/>
                                          </p:stCondLst>
                                        </p:cTn>
                                        <p:tgtEl>
                                          <p:spTgt spid="808">
                                            <p:txEl>
                                              <p:pRg st="1" end="1"/>
                                            </p:txEl>
                                          </p:spTgt>
                                        </p:tgtEl>
                                        <p:attrNameLst>
                                          <p:attrName>style.visibility</p:attrName>
                                        </p:attrNameLst>
                                      </p:cBhvr>
                                      <p:to>
                                        <p:strVal val="visible"/>
                                      </p:to>
                                    </p:set>
                                    <p:animEffect filter="wipe(left)" transition="in">
                                      <p:cBhvr additive="repl">
                                        <p:cTn id="1134" dur="500"/>
                                        <p:tgtEl>
                                          <p:spTgt spid="808">
                                            <p:txEl>
                                              <p:pRg st="1" end="1"/>
                                            </p:txEl>
                                          </p:spTgt>
                                        </p:tgtEl>
                                      </p:cBhvr>
                                    </p:animEffect>
                                  </p:childTnLst>
                                </p:cTn>
                              </p:par>
                            </p:childTnLst>
                          </p:cTn>
                        </p:par>
                      </p:childTnLst>
                    </p:cTn>
                  </p:par>
                  <p:par>
                    <p:cTn id="1135" nodeType="clickEffect" fill="hold">
                      <p:stCondLst>
                        <p:cond delay="indefinite"/>
                      </p:stCondLst>
                      <p:childTnLst>
                        <p:par>
                          <p:cTn id="1136" nodeType="withEffect" fill="hold">
                            <p:stCondLst>
                              <p:cond delay="0"/>
                            </p:stCondLst>
                            <p:childTnLst>
                              <p:par>
                                <p:cTn id="1137" nodeType="clickEffect" fill="hold" presetClass="entr" presetID="22" presetSubtype="8" repeatCount="1000">
                                  <p:stCondLst>
                                    <p:cond delay="0"/>
                                  </p:stCondLst>
                                  <p:childTnLst>
                                    <p:set>
                                      <p:cBhvr>
                                        <p:cTn id="1138" dur="1" fill="hold">
                                          <p:stCondLst>
                                            <p:cond delay="0"/>
                                          </p:stCondLst>
                                        </p:cTn>
                                        <p:tgtEl>
                                          <p:spTgt spid="808">
                                            <p:txEl>
                                              <p:pRg st="2" end="2"/>
                                            </p:txEl>
                                          </p:spTgt>
                                        </p:tgtEl>
                                        <p:attrNameLst>
                                          <p:attrName>style.visibility</p:attrName>
                                        </p:attrNameLst>
                                      </p:cBhvr>
                                      <p:to>
                                        <p:strVal val="visible"/>
                                      </p:to>
                                    </p:set>
                                    <p:animEffect filter="wipe(left)" transition="in">
                                      <p:cBhvr additive="repl">
                                        <p:cTn id="1139" dur="1500"/>
                                        <p:tgtEl>
                                          <p:spTgt spid="80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Rectangle 1"/>
          <p:cNvSpPr/>
          <p:nvPr/>
        </p:nvSpPr>
        <p:spPr>
          <a:xfrm>
            <a:off x="250920" y="1197000"/>
            <a:ext cx="861840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la vitamine D </a:t>
            </a:r>
            <a:r>
              <a:rPr b="0" lang="fr-FR" sz="2400" strike="noStrike" u="none">
                <a:solidFill>
                  <a:srgbClr val="ffff00"/>
                </a:solidFill>
                <a:effectLst/>
                <a:uFillTx/>
                <a:latin typeface="Calibri"/>
                <a:ea typeface="Calibri"/>
              </a:rPr>
              <a:t>apportée par l’alimentation ou/et produite par les couches basales de l’épiderme sous l’action des rayons solaires, intervient dans la minéralisation du tissu osseux et dans le métabolisme phosphocalcique.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Magnésium et vitamine D s’avèrent donc indispensables au cours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de la croissance.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Entre 10 et 18 ans leur apport quotidien respectif devrait se situer entre 300 et 400 mg pour le calcium et 5 µg pour la vitamine D. </a:t>
            </a:r>
            <a:endParaRPr b="0" lang="en-US" sz="2400" strike="noStrike" u="none">
              <a:solidFill>
                <a:srgbClr val="ffff00"/>
              </a:solidFill>
              <a:effectLst/>
              <a:uFillTx/>
              <a:latin typeface="Times New Roman"/>
            </a:endParaRPr>
          </a:p>
        </p:txBody>
      </p:sp>
      <p:sp>
        <p:nvSpPr>
          <p:cNvPr id="811" name="Rectangle 2"/>
          <p:cNvSpPr/>
          <p:nvPr/>
        </p:nvSpPr>
        <p:spPr>
          <a:xfrm>
            <a:off x="1692360" y="333360"/>
            <a:ext cx="594504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Apports énergétiques et en minéraux </a:t>
            </a:r>
            <a:r>
              <a:rPr b="0" lang="fr-FR" sz="2400" strike="noStrike" u="none">
                <a:solidFill>
                  <a:srgbClr val="ffffff"/>
                </a:solidFill>
                <a:effectLst/>
                <a:uFillTx/>
                <a:latin typeface="Calibri"/>
                <a:ea typeface="Calibri"/>
              </a:rPr>
              <a:t>(suite</a:t>
            </a:r>
            <a:r>
              <a:rPr b="1" lang="fr-FR" sz="2400" strike="noStrike" u="none">
                <a:solidFill>
                  <a:srgbClr val="ffffff"/>
                </a:solidFill>
                <a:effectLst/>
                <a:uFillTx/>
                <a:latin typeface="Calibri"/>
                <a:ea typeface="Calibri"/>
              </a:rPr>
              <a:t>)</a:t>
            </a:r>
            <a:endParaRPr b="0" lang="en-US" sz="2400" strike="noStrike" u="none">
              <a:solidFill>
                <a:srgbClr val="ffff00"/>
              </a:solidFill>
              <a:effectLst/>
              <a:uFillTx/>
              <a:latin typeface="Times New Roman"/>
            </a:endParaRPr>
          </a:p>
        </p:txBody>
      </p:sp>
    </p:spTree>
  </p:cSld>
  <p:transition spd="med">
    <p:zoom dir="out"/>
  </p:transition>
  <p:timing>
    <p:tnLst>
      <p:par>
        <p:cTn id="1140" dur="indefinite" restart="never" nodeType="tmRoot">
          <p:childTnLst>
            <p:seq>
              <p:cTn id="1141" dur="indefinite" nodeType="mainSeq">
                <p:childTnLst>
                  <p:par>
                    <p:cTn id="1142" nodeType="clickEffect" fill="hold">
                      <p:stCondLst>
                        <p:cond delay="indefinite"/>
                      </p:stCondLst>
                      <p:childTnLst>
                        <p:par>
                          <p:cTn id="1143" nodeType="withEffect" fill="hold">
                            <p:stCondLst>
                              <p:cond delay="0"/>
                            </p:stCondLst>
                            <p:childTnLst>
                              <p:par>
                                <p:cTn id="1144" nodeType="clickEffect" fill="hold" presetClass="entr" presetID="22" presetSubtype="8" repeatCount="1000">
                                  <p:stCondLst>
                                    <p:cond delay="0"/>
                                  </p:stCondLst>
                                  <p:childTnLst>
                                    <p:set>
                                      <p:cBhvr>
                                        <p:cTn id="1145" dur="1" fill="hold">
                                          <p:stCondLst>
                                            <p:cond delay="0"/>
                                          </p:stCondLst>
                                        </p:cTn>
                                        <p:tgtEl>
                                          <p:spTgt spid="810">
                                            <p:txEl>
                                              <p:pRg st="4" end="4"/>
                                            </p:txEl>
                                          </p:spTgt>
                                        </p:tgtEl>
                                        <p:attrNameLst>
                                          <p:attrName>style.visibility</p:attrName>
                                        </p:attrNameLst>
                                      </p:cBhvr>
                                      <p:to>
                                        <p:strVal val="visible"/>
                                      </p:to>
                                    </p:set>
                                    <p:animEffect filter="wipe(left)" transition="in">
                                      <p:cBhvr additive="repl">
                                        <p:cTn id="1146" dur="2500"/>
                                        <p:tgtEl>
                                          <p:spTgt spid="810">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2" name="Image 1" descr=""/>
          <p:cNvPicPr/>
          <p:nvPr/>
        </p:nvPicPr>
        <p:blipFill>
          <a:blip r:embed="rId1"/>
          <a:srcRect l="28430" t="18784" r="28730" b="51577"/>
          <a:stretch/>
        </p:blipFill>
        <p:spPr>
          <a:xfrm>
            <a:off x="179280" y="1628640"/>
            <a:ext cx="8640720" cy="4183200"/>
          </a:xfrm>
          <a:prstGeom prst="rect">
            <a:avLst/>
          </a:prstGeom>
          <a:noFill/>
          <a:ln w="0">
            <a:noFill/>
          </a:ln>
        </p:spPr>
      </p:pic>
    </p:spTree>
  </p:cSld>
  <p:transition spd="med">
    <p:zoom dir="out"/>
  </p:transition>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3" name="Image 1" descr=""/>
          <p:cNvPicPr/>
          <p:nvPr/>
        </p:nvPicPr>
        <p:blipFill>
          <a:blip r:embed="rId1"/>
          <a:srcRect l="28430" t="52198" r="28730" b="11376"/>
          <a:stretch/>
        </p:blipFill>
        <p:spPr>
          <a:xfrm>
            <a:off x="108000" y="907920"/>
            <a:ext cx="8928000" cy="5185080"/>
          </a:xfrm>
          <a:prstGeom prst="rect">
            <a:avLst/>
          </a:prstGeom>
          <a:noFill/>
          <a:ln w="0">
            <a:noFill/>
          </a:ln>
        </p:spPr>
      </p:pic>
    </p:spTree>
  </p:cSld>
  <p:transition spd="med">
    <p:zoom dir="out"/>
  </p:transition>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14" name=""/>
          <p:cNvGraphicFramePr/>
          <p:nvPr/>
        </p:nvGraphicFramePr>
        <p:xfrm>
          <a:off x="0" y="44280"/>
          <a:ext cx="9144000" cy="6788160"/>
        </p:xfrm>
        <a:graphic>
          <a:graphicData uri="http://schemas.openxmlformats.org/drawingml/2006/table">
            <a:tbl>
              <a:tblPr/>
              <a:tblGrid>
                <a:gridCol w="1992240"/>
                <a:gridCol w="1473120"/>
                <a:gridCol w="1171800"/>
                <a:gridCol w="1046160"/>
                <a:gridCol w="1171440"/>
                <a:gridCol w="1119240"/>
                <a:gridCol w="1170000"/>
              </a:tblGrid>
              <a:tr h="469080">
                <a:tc gridSpan="7">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Coût énergétique moyen en kJ.min</a:t>
                      </a:r>
                      <a:r>
                        <a:rPr b="1" lang="fr-FR" sz="1600" strike="noStrike" u="none" baseline="30000">
                          <a:solidFill>
                            <a:srgbClr val="ffff00"/>
                          </a:solidFill>
                          <a:effectLst/>
                          <a:uFillTx/>
                          <a:latin typeface="Arial"/>
                          <a:ea typeface="Times New Roman"/>
                        </a:rPr>
                        <a:t>-1.</a:t>
                      </a:r>
                      <a:r>
                        <a:rPr b="1" lang="fr-FR" sz="1600" strike="noStrike" u="none">
                          <a:solidFill>
                            <a:srgbClr val="ffff00"/>
                          </a:solidFill>
                          <a:effectLst/>
                          <a:uFillTx/>
                          <a:latin typeface="Arial"/>
                          <a:ea typeface="Times New Roman"/>
                        </a:rPr>
                        <a:t>.kg</a:t>
                      </a:r>
                      <a:r>
                        <a:rPr b="1" lang="fr-FR" sz="1600" strike="noStrike" u="none" baseline="30000">
                          <a:solidFill>
                            <a:srgbClr val="ffff00"/>
                          </a:solidFill>
                          <a:effectLst/>
                          <a:uFillTx/>
                          <a:latin typeface="Arial"/>
                          <a:ea typeface="Times New Roman"/>
                        </a:rPr>
                        <a:t>-1</a:t>
                      </a:r>
                      <a:r>
                        <a:rPr b="1" lang="fr-FR" sz="1600" strike="noStrike" u="none">
                          <a:solidFill>
                            <a:srgbClr val="ffff00"/>
                          </a:solidFill>
                          <a:effectLst/>
                          <a:uFillTx/>
                          <a:latin typeface="Arial"/>
                          <a:ea typeface="Times New Roman"/>
                        </a:rPr>
                        <a:t> de différentes activités physiques</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1876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Arial"/>
                          <a:ea typeface="Times New Roman"/>
                        </a:rPr>
                        <a:t> </a:t>
                      </a:r>
                      <a:endParaRPr b="0" lang="en-US" sz="12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Arial"/>
                          <a:ea typeface="Times New Roman"/>
                        </a:rPr>
                        <a:t>kJ.min</a:t>
                      </a:r>
                      <a:r>
                        <a:rPr b="1" lang="fr-FR" sz="1200" strike="noStrike" u="none" baseline="30000">
                          <a:solidFill>
                            <a:srgbClr val="ffff00"/>
                          </a:solidFill>
                          <a:effectLst/>
                          <a:uFillTx/>
                          <a:latin typeface="Arial"/>
                          <a:ea typeface="Times New Roman"/>
                        </a:rPr>
                        <a:t>-1</a:t>
                      </a:r>
                      <a:r>
                        <a:rPr b="1" lang="fr-FR" sz="1200" strike="noStrike" u="none">
                          <a:solidFill>
                            <a:srgbClr val="ffff00"/>
                          </a:solidFill>
                          <a:effectLst/>
                          <a:uFillTx/>
                          <a:latin typeface="Arial"/>
                          <a:ea typeface="Times New Roman"/>
                        </a:rPr>
                        <a:t>.kg</a:t>
                      </a:r>
                      <a:r>
                        <a:rPr b="1" lang="fr-FR" sz="1200" strike="noStrike" u="none" baseline="30000">
                          <a:solidFill>
                            <a:srgbClr val="ffff00"/>
                          </a:solidFill>
                          <a:effectLst/>
                          <a:uFillTx/>
                          <a:latin typeface="Arial"/>
                          <a:ea typeface="Times New Roman"/>
                        </a:rPr>
                        <a:t>-1 </a:t>
                      </a:r>
                      <a:endParaRPr b="0" lang="en-US" sz="1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Arial"/>
                          <a:ea typeface="Times New Roman"/>
                        </a:rPr>
                        <a:t>référence adulte</a:t>
                      </a:r>
                      <a:endParaRPr b="0" lang="en-US" sz="12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6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7 ans + 20%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8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+ 15%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9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Times New Roman"/>
                        </a:rPr>
                        <a:t>Badminton</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0,406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0,528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0,487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0,467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0,447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0,438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Times New Roman"/>
                        </a:rPr>
                        <a:t>Basket</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0,578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0,751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0,694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0,636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0,624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Course d'endurance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8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0,544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0,653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0,626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0,588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9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0,612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0,796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0,734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0,704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0,673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0,661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0,933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0,862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0,826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0,790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0,775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1,027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0,948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0,909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0,869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0,853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1,032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0,989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0,946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0,929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0,931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1,210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1,117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1,071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1,024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1,005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Course rapide enfant</a:t>
                      </a: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1,005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1,206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1,156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1,106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1,085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1,075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1,290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1,236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1,183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1,161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1,152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1,382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1,325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1,267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1,244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17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1,225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1,593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1,470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1,409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1,348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1,323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Course sprint enfant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18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1,304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1,695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1,500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1,434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1,408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19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1,382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1,589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1,520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1,493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20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1,451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1,596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1,567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21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1,545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1,669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bl>
          </a:graphicData>
        </a:graphic>
      </p:graphicFrame>
    </p:spTree>
  </p:cSld>
  <p:transition spd="med">
    <p:zoom dir="out"/>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15" name=""/>
          <p:cNvGraphicFramePr/>
          <p:nvPr/>
        </p:nvGraphicFramePr>
        <p:xfrm>
          <a:off x="0" y="-171360"/>
          <a:ext cx="9144000" cy="7103880"/>
        </p:xfrm>
        <a:graphic>
          <a:graphicData uri="http://schemas.openxmlformats.org/drawingml/2006/table">
            <a:tbl>
              <a:tblPr/>
              <a:tblGrid>
                <a:gridCol w="2268360"/>
                <a:gridCol w="1582920"/>
                <a:gridCol w="973080"/>
                <a:gridCol w="1090800"/>
                <a:gridCol w="1090440"/>
                <a:gridCol w="1047960"/>
                <a:gridCol w="1090440"/>
              </a:tblGrid>
              <a:tr h="48816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000" strike="noStrike" u="none">
                          <a:solidFill>
                            <a:srgbClr val="ffff00"/>
                          </a:solidFill>
                          <a:effectLst/>
                          <a:uFillTx/>
                          <a:latin typeface="Arial"/>
                          <a:ea typeface="Arial"/>
                        </a:rPr>
                        <a:t> </a:t>
                      </a:r>
                      <a:endParaRPr b="0" lang="en-US" sz="1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Arial"/>
                        </a:rPr>
                        <a:t>Coût énergétique moyen en kJ.min</a:t>
                      </a:r>
                      <a:r>
                        <a:rPr b="1" lang="fr-FR" sz="1600" strike="noStrike" u="none" baseline="30000">
                          <a:solidFill>
                            <a:srgbClr val="ffff00"/>
                          </a:solidFill>
                          <a:effectLst/>
                          <a:uFillTx/>
                          <a:latin typeface="Arial"/>
                          <a:ea typeface="Arial"/>
                        </a:rPr>
                        <a:t>-1</a:t>
                      </a:r>
                      <a:r>
                        <a:rPr b="1" lang="fr-FR" sz="1600" strike="noStrike" u="none">
                          <a:solidFill>
                            <a:srgbClr val="ffff00"/>
                          </a:solidFill>
                          <a:effectLst/>
                          <a:uFillTx/>
                          <a:latin typeface="Arial"/>
                          <a:ea typeface="Arial"/>
                        </a:rPr>
                        <a:t>.kg</a:t>
                      </a:r>
                      <a:r>
                        <a:rPr b="1" lang="fr-FR" sz="1600" strike="noStrike" u="none" baseline="30000">
                          <a:solidFill>
                            <a:srgbClr val="ffff00"/>
                          </a:solidFill>
                          <a:effectLst/>
                          <a:uFillTx/>
                          <a:latin typeface="Arial"/>
                          <a:ea typeface="Arial"/>
                        </a:rPr>
                        <a:t>-1</a:t>
                      </a:r>
                      <a:r>
                        <a:rPr b="1" lang="fr-FR" sz="1600" strike="noStrike" u="none">
                          <a:solidFill>
                            <a:srgbClr val="ffff00"/>
                          </a:solidFill>
                          <a:effectLst/>
                          <a:uFillTx/>
                          <a:latin typeface="Arial"/>
                          <a:ea typeface="Arial"/>
                        </a:rPr>
                        <a:t> de différentes disciplines </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1876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000" strike="noStrike" u="none">
                          <a:solidFill>
                            <a:srgbClr val="ffff00"/>
                          </a:solidFill>
                          <a:effectLst/>
                          <a:uFillTx/>
                          <a:latin typeface="Arial"/>
                          <a:ea typeface="Arial"/>
                        </a:rPr>
                        <a:t> </a:t>
                      </a:r>
                      <a:endParaRPr b="0" lang="en-US" sz="10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kJ.min</a:t>
                      </a:r>
                      <a:r>
                        <a:rPr b="1" lang="fr-FR" sz="1400" strike="noStrike" u="none" baseline="30000">
                          <a:solidFill>
                            <a:srgbClr val="ffff00"/>
                          </a:solidFill>
                          <a:effectLst/>
                          <a:uFillTx/>
                          <a:latin typeface="Arial"/>
                          <a:ea typeface="Arial"/>
                        </a:rPr>
                        <a:t>-1</a:t>
                      </a:r>
                      <a:r>
                        <a:rPr b="1" lang="fr-FR" sz="1400" strike="noStrike" u="none">
                          <a:solidFill>
                            <a:srgbClr val="ffff00"/>
                          </a:solidFill>
                          <a:effectLst/>
                          <a:uFillTx/>
                          <a:latin typeface="Arial"/>
                          <a:ea typeface="Arial"/>
                        </a:rPr>
                        <a:t>.kg</a:t>
                      </a:r>
                      <a:r>
                        <a:rPr b="1" lang="fr-FR" sz="1400" strike="noStrike" u="none" baseline="30000">
                          <a:solidFill>
                            <a:srgbClr val="ffff00"/>
                          </a:solidFill>
                          <a:effectLst/>
                          <a:uFillTx/>
                          <a:latin typeface="Arial"/>
                          <a:ea typeface="Arial"/>
                        </a:rPr>
                        <a:t>-1</a:t>
                      </a:r>
                      <a:r>
                        <a:rPr b="1" lang="fr-FR" sz="1400" strike="noStrike" u="none">
                          <a:solidFill>
                            <a:srgbClr val="ffff00"/>
                          </a:solidFill>
                          <a:effectLst/>
                          <a:uFillTx/>
                          <a:latin typeface="Arial"/>
                          <a:ea typeface="Arial"/>
                        </a:rPr>
                        <a:t>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référence adulte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6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7 ans + 20%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8 ans + 15%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9 ans +11%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10 ans + 8%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Cyclisme</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10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0,394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0,364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0,348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0,333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0,327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15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0,455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0,592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0,546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0,523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0,501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0,491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3333cc"/>
                          </a:solidFill>
                          <a:effectLst/>
                          <a:uFillTx/>
                          <a:latin typeface="Arial"/>
                          <a:ea typeface="Arial"/>
                        </a:rPr>
                        <a:t>Danse</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0,703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0,914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0,844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0,808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0,773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0,759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Arial"/>
                          <a:ea typeface="Arial"/>
                        </a:rPr>
                        <a:t>Football </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0,865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0,798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0,765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0,732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0,718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3333cc"/>
                          </a:solidFill>
                          <a:effectLst/>
                          <a:uFillTx/>
                          <a:latin typeface="Arial"/>
                          <a:ea typeface="Arial"/>
                        </a:rPr>
                        <a:t>Gymnastique</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0,276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0,359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0,331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0,317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3333cc"/>
                          </a:solidFill>
                          <a:effectLst/>
                          <a:uFillTx/>
                          <a:latin typeface="Arial"/>
                          <a:ea typeface="Arial"/>
                        </a:rPr>
                        <a:t>Judo</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0,816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1,061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0,979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0,938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0,881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Marche</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Vitesse moyenne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0,339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0,441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0,390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0,373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0,366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Vitesse rapide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0,594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0,772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0,683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0,653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0,642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gridSpan="7">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ea typeface="Arial"/>
                        </a:rPr>
                        <a:t>Natation</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Brasse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0,678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0,881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0,814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0,780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0,746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0,732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Crawl lent</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0,536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0,697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0,643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0,616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0,590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0,579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Crawl rapide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0,653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0,849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0,784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0,751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0,705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Dos</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0,919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0,848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0,813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0,778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0,764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Papillon</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0,805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0,966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0,926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0,886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3333cc"/>
                          </a:solidFill>
                          <a:effectLst/>
                          <a:uFillTx/>
                          <a:latin typeface="Arial"/>
                          <a:ea typeface="Arial"/>
                        </a:rPr>
                        <a:t>Tennis</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0,456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0,593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0,547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0,524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0,502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0,492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3333cc"/>
                          </a:solidFill>
                          <a:effectLst/>
                          <a:uFillTx/>
                          <a:latin typeface="Arial"/>
                          <a:ea typeface="Arial"/>
                        </a:rPr>
                        <a:t>Tennis de table</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0,285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0,342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0,328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0,314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3552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3333cc"/>
                          </a:solidFill>
                          <a:effectLst/>
                          <a:uFillTx/>
                          <a:latin typeface="Arial"/>
                          <a:ea typeface="Arial"/>
                        </a:rPr>
                        <a:t>Volley-ball</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0,209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0,240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0,226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bl>
          </a:graphicData>
        </a:graphic>
      </p:graphicFrame>
    </p:spTree>
  </p:cSld>
  <p:transition spd="med">
    <p:zoom dir="out"/>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16" name=""/>
          <p:cNvGraphicFramePr/>
          <p:nvPr/>
        </p:nvGraphicFramePr>
        <p:xfrm>
          <a:off x="0" y="44280"/>
          <a:ext cx="9144000" cy="6950160"/>
        </p:xfrm>
        <a:graphic>
          <a:graphicData uri="http://schemas.openxmlformats.org/drawingml/2006/table">
            <a:tbl>
              <a:tblPr/>
              <a:tblGrid>
                <a:gridCol w="2044800"/>
                <a:gridCol w="1263600"/>
                <a:gridCol w="1041480"/>
                <a:gridCol w="893520"/>
                <a:gridCol w="892440"/>
                <a:gridCol w="890280"/>
                <a:gridCol w="890640"/>
                <a:gridCol w="1227240"/>
              </a:tblGrid>
              <a:tr h="335520">
                <a:tc gridSpan="8">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Arial"/>
                        </a:rPr>
                        <a:t>Coût énergétique moyen en kJ.min</a:t>
                      </a:r>
                      <a:r>
                        <a:rPr b="1" lang="fr-FR" sz="1600" strike="noStrike" u="none" baseline="30000">
                          <a:solidFill>
                            <a:srgbClr val="ffff00"/>
                          </a:solidFill>
                          <a:effectLst/>
                          <a:uFillTx/>
                          <a:latin typeface="Arial"/>
                          <a:ea typeface="Arial"/>
                        </a:rPr>
                        <a:t>-1</a:t>
                      </a:r>
                      <a:r>
                        <a:rPr b="1" lang="fr-FR" sz="1600" strike="noStrike" u="none">
                          <a:solidFill>
                            <a:srgbClr val="ffff00"/>
                          </a:solidFill>
                          <a:effectLst/>
                          <a:uFillTx/>
                          <a:latin typeface="Arial"/>
                          <a:ea typeface="Arial"/>
                        </a:rPr>
                        <a:t>.kg</a:t>
                      </a:r>
                      <a:r>
                        <a:rPr b="1" lang="fr-FR" sz="1600" strike="noStrike" u="none" baseline="30000">
                          <a:solidFill>
                            <a:srgbClr val="ffff00"/>
                          </a:solidFill>
                          <a:effectLst/>
                          <a:uFillTx/>
                          <a:latin typeface="Arial"/>
                          <a:ea typeface="Arial"/>
                        </a:rPr>
                        <a:t>-1 </a:t>
                      </a:r>
                      <a:r>
                        <a:rPr b="1" lang="fr-FR" sz="1600" strike="noStrike" u="none">
                          <a:solidFill>
                            <a:srgbClr val="ffff00"/>
                          </a:solidFill>
                          <a:effectLst/>
                          <a:uFillTx/>
                          <a:latin typeface="Arial"/>
                          <a:ea typeface="Arial"/>
                        </a:rPr>
                        <a:t>de différentes disciplines </a:t>
                      </a:r>
                      <a:endParaRPr b="0" lang="en-US" sz="16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ffff00"/>
                      </a:solidFill>
                      <a:prstDash val="solid"/>
                    </a:lnT>
                    <a:lnB w="5760">
                      <a:solidFill>
                        <a:srgbClr val="3333cc"/>
                      </a:solidFill>
                      <a:prstDash val="dash"/>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1876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11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+ 6 %</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12 ans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+ 5%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13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14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15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16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17 ans et +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 adulte</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gridSpan="8">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Arial"/>
                        </a:rPr>
                        <a:t>Cyclisme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dash"/>
                    </a:lnT>
                    <a:lnB w="5760">
                      <a:solidFill>
                        <a:srgbClr val="3333cc"/>
                      </a:solidFill>
                      <a:prstDash val="dash"/>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10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0,321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0,318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0,315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0,312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15 km/h</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0,482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0,478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0,473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0,469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0,464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0,460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0,455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Danse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0,745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0,738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0,731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0,724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0,703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Football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0,705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0,698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0,692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0,685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0,678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0,672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ea typeface="Arial"/>
                        </a:rPr>
                        <a:t>0,665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Golf</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0,377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0,374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0,370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0,367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0,363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0,360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0,356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Gymnastique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0,287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0,284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0,282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0,279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0,276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Judo</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0,865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0,857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0,849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0,840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0,832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0,824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0,816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gridSpan="8">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Arial"/>
                        </a:rPr>
                        <a:t>Marche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dash"/>
                    </a:lnT>
                    <a:lnB w="5760">
                      <a:solidFill>
                        <a:srgbClr val="3333cc"/>
                      </a:solidFill>
                      <a:prstDash val="dash"/>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Vitesse moyenne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0,359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0,356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0,353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0,349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0,346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0,342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0,339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Vitesse rapide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0,630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0,624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0,618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0,612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0,606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0,600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0,594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gridSpan="8">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Arial"/>
                        </a:rPr>
                        <a:t>Natation</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dash"/>
                    </a:lnT>
                    <a:lnB w="5760">
                      <a:solidFill>
                        <a:srgbClr val="3333cc"/>
                      </a:solidFill>
                      <a:prstDash val="dash"/>
                    </a:lnB>
                    <a:solidFill>
                      <a:srgbClr val="ff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Brasse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0,705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0,698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0,692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0,685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0,678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Crawl lent</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0,568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0,563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0,557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0,552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0,547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0,541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0,536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Crawl rapide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0,692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0,686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0,679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0,673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0,666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0,660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0,653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Dos</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0,749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0,742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0,735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0,728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0,721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0,714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0,707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Papillon</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0,853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0,845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0,837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0,829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0,821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0,813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0,805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Tennis</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0,483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0,479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0,474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0,470</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0,465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0,461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0,456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Tennis de table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0,302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0,296</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0,294</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0,291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0,288</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dash"/>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0,285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dash"/>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ea typeface="Arial"/>
                        </a:rPr>
                        <a:t>Volley-ball</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0,222</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0,219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0,217</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0,215</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0,213</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0,211</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dash"/>
                    </a:lnR>
                    <a:lnT w="5760">
                      <a:solidFill>
                        <a:srgbClr val="3333cc"/>
                      </a:solidFill>
                      <a:prstDash val="dash"/>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Arial"/>
                        </a:rPr>
                        <a:t>0,209</a:t>
                      </a:r>
                      <a:endParaRPr b="0" lang="en-US" sz="1400" strike="noStrike" u="none">
                        <a:solidFill>
                          <a:srgbClr val="ffff00"/>
                        </a:solidFill>
                        <a:effectLst/>
                        <a:uFillTx/>
                        <a:latin typeface="Times New Roman"/>
                      </a:endParaRPr>
                    </a:p>
                  </a:txBody>
                  <a:tcPr anchor="b" marL="90000" marR="90000">
                    <a:lnL w="5760">
                      <a:solidFill>
                        <a:srgbClr val="3333cc"/>
                      </a:solidFill>
                      <a:prstDash val="dash"/>
                    </a:lnL>
                    <a:lnR w="5760">
                      <a:solidFill>
                        <a:srgbClr val="3333cc"/>
                      </a:solidFill>
                      <a:prstDash val="solid"/>
                    </a:lnR>
                    <a:lnT w="5760">
                      <a:solidFill>
                        <a:srgbClr val="3333cc"/>
                      </a:solidFill>
                      <a:prstDash val="dash"/>
                    </a:lnT>
                    <a:lnB w="5760">
                      <a:solidFill>
                        <a:srgbClr val="3333cc"/>
                      </a:solidFill>
                      <a:prstDash val="solid"/>
                    </a:lnB>
                    <a:noFill/>
                  </a:tcPr>
                </a:tc>
              </a:tr>
            </a:tbl>
          </a:graphicData>
        </a:graphic>
      </p:graphicFrame>
    </p:spTree>
  </p:cSld>
  <p:transition spd="med">
    <p:zoom dir="out"/>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17" name=""/>
          <p:cNvGraphicFramePr/>
          <p:nvPr/>
        </p:nvGraphicFramePr>
        <p:xfrm>
          <a:off x="1440" y="-243000"/>
          <a:ext cx="9142560" cy="7193160"/>
        </p:xfrm>
        <a:graphic>
          <a:graphicData uri="http://schemas.openxmlformats.org/drawingml/2006/table">
            <a:tbl>
              <a:tblPr/>
              <a:tblGrid>
                <a:gridCol w="1370160"/>
                <a:gridCol w="1695600"/>
                <a:gridCol w="806400"/>
                <a:gridCol w="806400"/>
                <a:gridCol w="806400"/>
                <a:gridCol w="806400"/>
                <a:gridCol w="808200"/>
                <a:gridCol w="804600"/>
                <a:gridCol w="1238400"/>
              </a:tblGrid>
              <a:tr h="579240">
                <a:tc gridSpan="9">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 </a:t>
                      </a:r>
                      <a:endParaRPr b="0" lang="en-US" sz="1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Coût énergétique moyen en kJ.min</a:t>
                      </a:r>
                      <a:r>
                        <a:rPr b="1" lang="fr-FR" sz="1600" strike="noStrike" u="none" baseline="30000">
                          <a:solidFill>
                            <a:srgbClr val="ffff00"/>
                          </a:solidFill>
                          <a:effectLst/>
                          <a:uFillTx/>
                          <a:latin typeface="Arial"/>
                          <a:ea typeface="Times New Roman"/>
                        </a:rPr>
                        <a:t>-1</a:t>
                      </a:r>
                      <a:r>
                        <a:rPr b="1" lang="fr-FR" sz="1600" strike="noStrike" u="none">
                          <a:solidFill>
                            <a:srgbClr val="ffff00"/>
                          </a:solidFill>
                          <a:effectLst/>
                          <a:uFillTx/>
                          <a:latin typeface="Arial"/>
                          <a:ea typeface="Times New Roman"/>
                        </a:rPr>
                        <a:t>.kg</a:t>
                      </a:r>
                      <a:r>
                        <a:rPr b="1" lang="fr-FR" sz="1600" strike="noStrike" u="none" baseline="30000">
                          <a:solidFill>
                            <a:srgbClr val="ffff00"/>
                          </a:solidFill>
                          <a:effectLst/>
                          <a:uFillTx/>
                          <a:latin typeface="Arial"/>
                          <a:ea typeface="Times New Roman"/>
                        </a:rPr>
                        <a:t>-1 </a:t>
                      </a:r>
                      <a:r>
                        <a:rPr b="1" lang="fr-FR" sz="1600" strike="noStrike" u="none">
                          <a:solidFill>
                            <a:srgbClr val="ffff00"/>
                          </a:solidFill>
                          <a:effectLst/>
                          <a:uFillTx/>
                          <a:latin typeface="Arial"/>
                          <a:ea typeface="Times New Roman"/>
                        </a:rPr>
                        <a:t>de différentes disciplines </a:t>
                      </a:r>
                      <a:endParaRPr b="0" lang="en-US" sz="16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51876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ea typeface="Times New Roman"/>
                        </a:rPr>
                        <a:t> </a:t>
                      </a:r>
                      <a:endParaRPr b="0" lang="en-US" sz="16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kJ.min</a:t>
                      </a:r>
                      <a:r>
                        <a:rPr b="1" lang="fr-FR" sz="1400" strike="noStrike" u="none" baseline="30000">
                          <a:solidFill>
                            <a:srgbClr val="ffff00"/>
                          </a:solidFill>
                          <a:effectLst/>
                          <a:uFillTx/>
                          <a:latin typeface="Arial"/>
                          <a:ea typeface="Times New Roman"/>
                        </a:rPr>
                        <a:t>-1</a:t>
                      </a:r>
                      <a:r>
                        <a:rPr b="1" lang="fr-FR" sz="1400" strike="noStrike" u="none">
                          <a:solidFill>
                            <a:srgbClr val="ffff00"/>
                          </a:solidFill>
                          <a:effectLst/>
                          <a:uFillTx/>
                          <a:latin typeface="Arial"/>
                          <a:ea typeface="Times New Roman"/>
                        </a:rPr>
                        <a:t>.kg</a:t>
                      </a:r>
                      <a:r>
                        <a:rPr b="1" lang="fr-FR" sz="1400" strike="noStrike" u="none" baseline="30000">
                          <a:solidFill>
                            <a:srgbClr val="ffff00"/>
                          </a:solidFill>
                          <a:effectLst/>
                          <a:uFillTx/>
                          <a:latin typeface="Arial"/>
                          <a:ea typeface="Times New Roman"/>
                        </a:rPr>
                        <a:t>-1</a:t>
                      </a: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référence adulte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+ 6 %</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 ans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17 ans et +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 adulte</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Badminton</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0,406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0,426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0,422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0,414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0,410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0,406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Basket</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0,578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0,613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0,601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0,595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0,590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0,584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0,578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gridSpan="9">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Course d'endurance</a:t>
                      </a: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00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8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0,544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0,577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0,571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0,566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0,560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0,555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0,549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0,544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9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0,612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0,649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0,643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0,636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0,624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0,612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0,761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0,754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0,747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0,740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0,732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0,725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0,837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0,822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0,814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0,806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0,790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0,912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0,903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0,894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0,886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0,877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0,869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0,860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0,931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0,987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0,978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0,968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0,959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0,950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0,940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0,931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gridSpan="9">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Course rapide</a:t>
                      </a:r>
                      <a:r>
                        <a:rPr b="1" lang="fr-FR" sz="1400" strike="noStrike" u="none">
                          <a:solidFill>
                            <a:srgbClr val="ffff00"/>
                          </a:solidFill>
                          <a:effectLst/>
                          <a:uFillTx/>
                          <a:latin typeface="Arial"/>
                          <a:ea typeface="Times New Roman"/>
                        </a:rPr>
                        <a:t>  </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00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1,005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1,055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1,045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1,035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1,025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1,015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1,005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1,075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1,140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1,129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1,118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1,097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1,086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1,075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1,152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1,221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1,210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1,198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1,187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1,175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1,164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1,152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17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1,225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1,299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1,286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1,274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1,262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1,250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1,237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1,225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gridSpan="9">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000000"/>
                          </a:solidFill>
                          <a:effectLst/>
                          <a:uFillTx/>
                          <a:latin typeface="Arial"/>
                          <a:ea typeface="Times New Roman"/>
                        </a:rPr>
                        <a:t>Course sprint </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solidFill>
                      <a:srgbClr val="00fff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18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1,304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1,382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1,369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1,356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1,343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1,330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1,317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1,304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19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1,382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1,465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1,451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1,437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1,423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1,410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1,396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1,382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20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1,451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1,538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1,524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1,509</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1,495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1,480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1,466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1,451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21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1,545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1,638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1,622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1,607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1,591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1,576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1,560</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1,545</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r h="305280">
                <a:tc>
                  <a:txBody>
                    <a:bodyPr lIns="90000" rIns="900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22 km/h</a:t>
                      </a:r>
                      <a:endParaRPr b="0" lang="en-US" sz="1400" strike="noStrike" u="none">
                        <a:solidFill>
                          <a:srgbClr val="ffff00"/>
                        </a:solidFill>
                        <a:effectLst/>
                        <a:uFillTx/>
                        <a:latin typeface="Times New Roman"/>
                      </a:endParaRPr>
                    </a:p>
                  </a:txBody>
                  <a:tcPr anchor="b" marL="90000" marR="90000">
                    <a:lnL w="5760">
                      <a:solidFill>
                        <a:srgbClr val="ffff00"/>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1,616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1,713</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1,697</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1,681</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1,664</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1,648</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1,632</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c>
                  <a:txBody>
                    <a:bodyPr lIns="90000" rIns="900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ea typeface="Times New Roman"/>
                        </a:rPr>
                        <a:t>1,616</a:t>
                      </a:r>
                      <a:endParaRPr b="0" lang="en-US" sz="1400" strike="noStrike" u="none">
                        <a:solidFill>
                          <a:srgbClr val="ffff00"/>
                        </a:solidFill>
                        <a:effectLst/>
                        <a:uFillTx/>
                        <a:latin typeface="Times New Roman"/>
                      </a:endParaRPr>
                    </a:p>
                  </a:txBody>
                  <a:tcPr anchor="b" marL="90000" marR="90000">
                    <a:lnL w="5760">
                      <a:solidFill>
                        <a:srgbClr val="3333cc"/>
                      </a:solidFill>
                      <a:prstDash val="solid"/>
                    </a:lnL>
                    <a:lnR w="5760">
                      <a:solidFill>
                        <a:srgbClr val="3333cc"/>
                      </a:solidFill>
                      <a:prstDash val="solid"/>
                    </a:lnR>
                    <a:lnT w="5760">
                      <a:solidFill>
                        <a:srgbClr val="3333cc"/>
                      </a:solidFill>
                      <a:prstDash val="solid"/>
                    </a:lnT>
                    <a:lnB w="5760">
                      <a:solidFill>
                        <a:srgbClr val="3333cc"/>
                      </a:solidFill>
                      <a:prstDash val="solid"/>
                    </a:lnB>
                    <a:noFill/>
                  </a:tcPr>
                </a:tc>
              </a:tr>
            </a:tbl>
          </a:graphicData>
        </a:graphic>
      </p:graphicFrame>
    </p:spTree>
  </p:cSld>
  <p:transition spd="med">
    <p:zoom dir="out"/>
  </p:transition>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8" name="Picture 2" descr="figure10"/>
          <p:cNvPicPr/>
          <p:nvPr/>
        </p:nvPicPr>
        <p:blipFill>
          <a:blip r:embed="rId1"/>
          <a:stretch/>
        </p:blipFill>
        <p:spPr>
          <a:xfrm>
            <a:off x="0" y="0"/>
            <a:ext cx="9144000" cy="6858000"/>
          </a:xfrm>
          <a:prstGeom prst="rect">
            <a:avLst/>
          </a:prstGeom>
          <a:noFill/>
          <a:ln w="0">
            <a:noFill/>
          </a:ln>
        </p:spPr>
      </p:pic>
      <p:sp>
        <p:nvSpPr>
          <p:cNvPr id="819" name="Text Box 3"/>
          <p:cNvSpPr/>
          <p:nvPr/>
        </p:nvSpPr>
        <p:spPr>
          <a:xfrm>
            <a:off x="5062680" y="777960"/>
            <a:ext cx="35906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CA" sz="2800" strike="noStrike" u="none">
                <a:solidFill>
                  <a:srgbClr val="ff0000"/>
                </a:solidFill>
                <a:effectLst/>
                <a:uFillTx/>
                <a:latin typeface="Calibri"/>
                <a:ea typeface="Calibri"/>
              </a:rPr>
              <a:t>Effet qui perdure</a:t>
            </a:r>
            <a:endParaRPr b="0" lang="en-US" sz="2800" strike="noStrike" u="none">
              <a:solidFill>
                <a:srgbClr val="ffff00"/>
              </a:solidFill>
              <a:effectLst/>
              <a:uFillTx/>
              <a:latin typeface="Times New Roman"/>
            </a:endParaRPr>
          </a:p>
        </p:txBody>
      </p:sp>
    </p:spTree>
  </p:cSld>
  <p:transition spd="med">
    <p:zoom dir="out"/>
  </p:transition>
  <p:timing>
    <p:tnLst>
      <p:par>
        <p:cTn id="1147" dur="indefinite" restart="never" nodeType="tmRoot">
          <p:childTnLst>
            <p:seq>
              <p:cTn id="1148" dur="indefinite" nodeType="mainSeq">
                <p:childTnLst>
                  <p:par>
                    <p:cTn id="1149" nodeType="clickEffect" fill="hold">
                      <p:stCondLst>
                        <p:cond delay="indefinite"/>
                      </p:stCondLst>
                      <p:childTnLst>
                        <p:par>
                          <p:cTn id="1150" nodeType="withEffect" fill="hold">
                            <p:stCondLst>
                              <p:cond delay="0"/>
                            </p:stCondLst>
                            <p:childTnLst>
                              <p:par>
                                <p:cTn id="1151" nodeType="clickEffect" fill="hold" presetClass="entr" presetID="2" presetSubtype="4">
                                  <p:stCondLst>
                                    <p:cond delay="0"/>
                                  </p:stCondLst>
                                  <p:childTnLst>
                                    <p:set>
                                      <p:cBhvr>
                                        <p:cTn id="1152" dur="1" fill="hold">
                                          <p:stCondLst>
                                            <p:cond delay="0"/>
                                          </p:stCondLst>
                                        </p:cTn>
                                        <p:tgtEl>
                                          <p:spTgt spid="819"/>
                                        </p:tgtEl>
                                        <p:attrNameLst>
                                          <p:attrName>style.visibility</p:attrName>
                                        </p:attrNameLst>
                                      </p:cBhvr>
                                      <p:to>
                                        <p:strVal val="visible"/>
                                      </p:to>
                                    </p:set>
                                    <p:anim calcmode="lin" valueType="num">
                                      <p:cBhvr additive="base">
                                        <p:cTn id="1153" dur="500" fill="hold"/>
                                        <p:tgtEl>
                                          <p:spTgt spid="819"/>
                                        </p:tgtEl>
                                        <p:attrNameLst>
                                          <p:attrName>ppt_x</p:attrName>
                                        </p:attrNameLst>
                                      </p:cBhvr>
                                      <p:tavLst>
                                        <p:tav tm="0">
                                          <p:val>
                                            <p:strVal val="#ppt_x"/>
                                          </p:val>
                                        </p:tav>
                                        <p:tav tm="100000">
                                          <p:val>
                                            <p:strVal val="#ppt_x"/>
                                          </p:val>
                                        </p:tav>
                                      </p:tavLst>
                                    </p:anim>
                                    <p:anim calcmode="lin" valueType="num">
                                      <p:cBhvr additive="base">
                                        <p:cTn id="1154" dur="500" fill="hold"/>
                                        <p:tgtEl>
                                          <p:spTgt spid="8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0" name="Image 1" descr=""/>
          <p:cNvPicPr/>
          <p:nvPr/>
        </p:nvPicPr>
        <p:blipFill>
          <a:blip r:embed="rId1"/>
          <a:srcRect l="18184" t="22828" r="18512" b="6925"/>
          <a:stretch/>
        </p:blipFill>
        <p:spPr>
          <a:xfrm>
            <a:off x="395280" y="44280"/>
            <a:ext cx="7345440" cy="5113440"/>
          </a:xfrm>
          <a:prstGeom prst="rect">
            <a:avLst/>
          </a:prstGeom>
          <a:noFill/>
          <a:ln w="9360">
            <a:solidFill>
              <a:srgbClr val="ffff00"/>
            </a:solidFill>
            <a:miter/>
          </a:ln>
        </p:spPr>
      </p:pic>
      <p:pic>
        <p:nvPicPr>
          <p:cNvPr id="821" name="Image 2" descr=""/>
          <p:cNvPicPr/>
          <p:nvPr/>
        </p:nvPicPr>
        <p:blipFill>
          <a:blip r:embed="rId2"/>
          <a:srcRect l="17853" t="19578" r="17157" b="49208"/>
          <a:stretch/>
        </p:blipFill>
        <p:spPr>
          <a:xfrm>
            <a:off x="382680" y="5184720"/>
            <a:ext cx="7358040" cy="1700280"/>
          </a:xfrm>
          <a:prstGeom prst="rect">
            <a:avLst/>
          </a:prstGeom>
          <a:noFill/>
          <a:ln w="0">
            <a:noFill/>
          </a:ln>
        </p:spPr>
      </p:pic>
    </p:spTree>
  </p:cSld>
  <p:transition spd="med">
    <p:zoom dir="out"/>
  </p:transition>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ZoneTexte 1"/>
          <p:cNvSpPr/>
          <p:nvPr/>
        </p:nvSpPr>
        <p:spPr>
          <a:xfrm>
            <a:off x="-1091520" y="996840"/>
            <a:ext cx="11400480" cy="512316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Le pic de croissance pubertaire ou </a:t>
            </a:r>
            <a:r>
              <a:rPr b="1" i="1" lang="fr-FR" sz="2000" strike="noStrike" u="none">
                <a:solidFill>
                  <a:srgbClr val="ffffff"/>
                </a:solidFill>
                <a:effectLst/>
                <a:uFillTx/>
                <a:latin typeface="Calibri"/>
                <a:ea typeface="Calibri"/>
              </a:rPr>
              <a:t>pic de croissance maximale (PCM) </a:t>
            </a:r>
            <a:r>
              <a:rPr b="0" lang="fr-FR" sz="2000" strike="noStrike" u="none">
                <a:solidFill>
                  <a:srgbClr val="ffff00"/>
                </a:solidFill>
                <a:effectLst/>
                <a:uFillTx/>
                <a:latin typeface="Calibri"/>
                <a:ea typeface="Calibri"/>
              </a:rPr>
              <a:t>est souvent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utilisé comme référence pour évaluer dans quel « tming » s’inscrivent les différents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évènements au cours de la puberté et de l’adolescence. Par exemple l’amélioration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la plus importante de la performance au saut vertical est atteinte un an après le PCM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chez le garçon (PCM + 1).</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Chez la fille l’âge de la </a:t>
            </a:r>
            <a:r>
              <a:rPr b="1" i="1" lang="fr-FR" sz="2000" strike="noStrike" u="none">
                <a:solidFill>
                  <a:srgbClr val="ffffff"/>
                </a:solidFill>
                <a:effectLst/>
                <a:uFillTx/>
                <a:latin typeface="Calibri"/>
                <a:ea typeface="Calibri"/>
              </a:rPr>
              <a:t>ménarche</a:t>
            </a:r>
            <a:r>
              <a:rPr b="0" lang="fr-FR" sz="2000" strike="noStrike" u="none">
                <a:solidFill>
                  <a:srgbClr val="ffff00"/>
                </a:solidFill>
                <a:effectLst/>
                <a:uFillTx/>
                <a:latin typeface="Calibri"/>
                <a:ea typeface="Calibri"/>
              </a:rPr>
              <a:t> est aussi utilisé pour marquer ces évènements dans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la période qui couvre la puberté vie toute l’adolescence.</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Cette façon de procéder complète donc de façon plus individualisée et plus précise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l’utilisation des échelles de Tanner.</a:t>
            </a:r>
            <a:endParaRPr b="0" lang="en-US" sz="2000" strike="noStrike" u="none">
              <a:solidFill>
                <a:srgbClr val="ffff00"/>
              </a:solidFill>
              <a:effectLst/>
              <a:uFillTx/>
              <a:latin typeface="Times New Roman"/>
            </a:endParaRPr>
          </a:p>
        </p:txBody>
      </p:sp>
      <p:sp>
        <p:nvSpPr>
          <p:cNvPr id="823" name="ZoneTexte 2"/>
          <p:cNvSpPr/>
          <p:nvPr/>
        </p:nvSpPr>
        <p:spPr>
          <a:xfrm>
            <a:off x="1738800" y="317520"/>
            <a:ext cx="49456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CROISSANCE EN LONGUEUR</a:t>
            </a:r>
            <a:endParaRPr b="0" lang="en-US" sz="2400" strike="noStrike" u="none">
              <a:solidFill>
                <a:srgbClr val="ffff00"/>
              </a:solidFill>
              <a:effectLst/>
              <a:uFillTx/>
              <a:latin typeface="Times New Roman"/>
            </a:endParaRPr>
          </a:p>
        </p:txBody>
      </p:sp>
    </p:spTree>
  </p:cSld>
  <p:transition spd="med">
    <p:zoom dir="out"/>
  </p:transition>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24" name=""/>
          <p:cNvGraphicFramePr/>
          <p:nvPr/>
        </p:nvGraphicFramePr>
        <p:xfrm>
          <a:off x="395280" y="189000"/>
          <a:ext cx="8280360" cy="5761080"/>
        </p:xfrm>
        <a:graphic>
          <a:graphicData uri="http://schemas.openxmlformats.org/drawingml/2006/table">
            <a:tbl>
              <a:tblPr/>
              <a:tblGrid>
                <a:gridCol w="4140360"/>
                <a:gridCol w="4140000"/>
              </a:tblGrid>
              <a:tr h="485640">
                <a:tc gridSpan="2">
                  <a:txBody>
                    <a:bodyPr lIns="68400" rIns="68400" tIns="0" bIns="0" anchor="t">
                      <a:no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Taille </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823320">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Âge</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noFill/>
                  </a:tcPr>
                </a:tc>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vitesse moyenne de croissance  par an</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noFill/>
                  </a:tcPr>
                </a:tc>
              </a:tr>
              <a:tr h="1832400">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Naissance à 1 an</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1 à 2 ans</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2 à 4 ans</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4 ans jusqu’à 13 ans </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25 cm</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11 cm </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7 cm</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5 cm </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416520">
                <a:tc gridSpan="2">
                  <a:txBody>
                    <a:bodyPr lIns="68400" rIns="68400" tIns="0" bIns="0" anchor="t">
                      <a:no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Taille (cm)  = 5 x âge + 85 cm</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485280">
                <a:tc gridSpan="2">
                  <a:txBody>
                    <a:bodyPr lIns="68400" rIns="68400" tIns="0" bIns="0" anchor="t">
                      <a:no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Poids</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r h="414720">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 </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Prise moyenne de poids par an</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r>
              <a:tr h="888480">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Naissance à 1 an</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de 1 à 10 ans</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noFill/>
                  </a:tcPr>
                </a:tc>
                <a:tc>
                  <a:txBody>
                    <a:bodyPr lIns="68400" rIns="68400" tIns="0" bIns="0" anchor="t">
                      <a:noAutofit/>
                    </a:bodyPr>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3 fois le poids de naissance</a:t>
                      </a:r>
                      <a:endParaRPr b="0" lang="en-US" sz="1800" strike="noStrike" u="none">
                        <a:solidFill>
                          <a:srgbClr val="ffff00"/>
                        </a:solidFill>
                        <a:effectLst/>
                        <a:uFillTx/>
                        <a:latin typeface="Times New Roman"/>
                      </a:endParaRPr>
                    </a:p>
                    <a:p>
                      <a:pPr algn="just">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Calibri"/>
                          <a:ea typeface="Calibri"/>
                        </a:rPr>
                        <a:t>2 kg par an</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noFill/>
                  </a:tcPr>
                </a:tc>
              </a:tr>
              <a:tr h="414720">
                <a:tc gridSpan="2">
                  <a:txBody>
                    <a:bodyPr lIns="68400" rIns="68400" tIns="0" bIns="0" anchor="t">
                      <a:no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ffff00"/>
                          </a:solidFill>
                          <a:effectLst/>
                          <a:uFillTx/>
                          <a:latin typeface="Calibri"/>
                          <a:ea typeface="Calibri"/>
                        </a:rPr>
                        <a:t>Poids (kg) = 2 x âge + 8 kg</a:t>
                      </a:r>
                      <a:endParaRPr b="0" lang="en-US" sz="1800" strike="noStrike" u="none">
                        <a:solidFill>
                          <a:srgbClr val="ffff00"/>
                        </a:solidFill>
                        <a:effectLst/>
                        <a:uFillTx/>
                        <a:latin typeface="Times New Roman"/>
                      </a:endParaRPr>
                    </a:p>
                  </a:txBody>
                  <a:tcPr anchor="t" marL="68400" marR="6840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noFill/>
                  </a:tcPr>
                </a:tc>
                <a:tc hMerge="1">
                  <a:txBody>
                    <a:bodyPr lIns="90000" rIns="90000" tIns="45000" bIns="45000" anchor="t">
                      <a:noAutofit/>
                    </a:bodyPr>
                    <a:p>
                      <a:endParaRPr b="0" lang="en-US" sz="2400" strike="noStrike" u="none">
                        <a:solidFill>
                          <a:srgbClr val="ffff00"/>
                        </a:solidFill>
                        <a:effectLst/>
                        <a:uFillTx/>
                        <a:latin typeface="Times New Roman"/>
                      </a:endParaRPr>
                    </a:p>
                  </a:txBody>
                  <a:tcPr anchor="t" marL="90000" marR="90000">
                    <a:lnL>
                      <a:noFill/>
                    </a:lnL>
                    <a:lnR>
                      <a:noFill/>
                    </a:lnR>
                    <a:lnT>
                      <a:noFill/>
                    </a:lnT>
                    <a:lnB>
                      <a:noFill/>
                    </a:lnB>
                    <a:solidFill>
                      <a:srgbClr val="729fcf"/>
                    </a:solidFill>
                  </a:tcPr>
                </a:tc>
              </a:tr>
            </a:tbl>
          </a:graphicData>
        </a:graphic>
      </p:graphicFrame>
    </p:spTree>
  </p:cSld>
  <p:transition spd="med">
    <p:zoom dir="out"/>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25" name=""/>
          <p:cNvGraphicFramePr/>
          <p:nvPr/>
        </p:nvGraphicFramePr>
        <p:xfrm>
          <a:off x="179280" y="1197000"/>
          <a:ext cx="8713800" cy="2260440"/>
        </p:xfrm>
        <a:graphic>
          <a:graphicData uri="http://schemas.openxmlformats.org/drawingml/2006/table">
            <a:tbl>
              <a:tblPr/>
              <a:tblGrid>
                <a:gridCol w="3673440"/>
                <a:gridCol w="2087640"/>
                <a:gridCol w="2952720"/>
              </a:tblGrid>
              <a:tr h="457560">
                <a:tc>
                  <a:txBody>
                    <a:bodyPr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1440" marR="91440">
                    <a:lnL w="5760">
                      <a:solidFill>
                        <a:srgbClr val="ffff00"/>
                      </a:solidFill>
                      <a:prstDash val="solid"/>
                    </a:lnL>
                    <a:lnR w="5760">
                      <a:solidFill>
                        <a:srgbClr val="000000"/>
                      </a:solidFill>
                      <a:prstDash val="solid"/>
                    </a:lnR>
                    <a:lnT w="5760">
                      <a:solidFill>
                        <a:srgbClr val="ffff00"/>
                      </a:solidFill>
                      <a:prstDash val="solid"/>
                    </a:lnT>
                    <a:lnB w="5760">
                      <a:solidFill>
                        <a:srgbClr val="000000"/>
                      </a:solidFill>
                      <a:prstDash val="solid"/>
                    </a:lnB>
                    <a:solidFill>
                      <a:srgbClr val="00cc99"/>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Calibri"/>
                          <a:ea typeface="Calibri"/>
                        </a:rPr>
                        <a:t>Filles</a:t>
                      </a:r>
                      <a:endParaRPr b="0" lang="en-US" sz="2400" strike="noStrike" u="none">
                        <a:solidFill>
                          <a:srgbClr val="ffff00"/>
                        </a:solidFill>
                        <a:effectLst/>
                        <a:uFillTx/>
                        <a:latin typeface="Times New Roman"/>
                      </a:endParaRPr>
                    </a:p>
                  </a:txBody>
                  <a:tcPr anchor="t" marL="91440" marR="91440">
                    <a:lnL w="5760">
                      <a:solidFill>
                        <a:srgbClr val="000000"/>
                      </a:solidFill>
                      <a:prstDash val="solid"/>
                    </a:lnL>
                    <a:lnR w="5760">
                      <a:solidFill>
                        <a:srgbClr val="000000"/>
                      </a:solidFill>
                      <a:prstDash val="solid"/>
                    </a:lnR>
                    <a:lnT w="5760">
                      <a:solidFill>
                        <a:srgbClr val="ffff00"/>
                      </a:solidFill>
                      <a:prstDash val="solid"/>
                    </a:lnT>
                    <a:lnB w="5760">
                      <a:solidFill>
                        <a:srgbClr val="000000"/>
                      </a:solidFill>
                      <a:prstDash val="solid"/>
                    </a:lnB>
                    <a:solidFill>
                      <a:srgbClr val="00cc99"/>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Calibri"/>
                          <a:ea typeface="Calibri"/>
                        </a:rPr>
                        <a:t>Garçons</a:t>
                      </a:r>
                      <a:endParaRPr b="0" lang="en-US" sz="2400" strike="noStrike" u="none">
                        <a:solidFill>
                          <a:srgbClr val="ffff00"/>
                        </a:solidFill>
                        <a:effectLst/>
                        <a:uFillTx/>
                        <a:latin typeface="Times New Roman"/>
                      </a:endParaRPr>
                    </a:p>
                  </a:txBody>
                  <a:tcPr anchor="t" marL="91440" marR="91440">
                    <a:lnL w="5760">
                      <a:solidFill>
                        <a:srgbClr val="000000"/>
                      </a:solidFill>
                      <a:prstDash val="solid"/>
                    </a:lnL>
                    <a:lnR w="5760">
                      <a:solidFill>
                        <a:srgbClr val="ffff00"/>
                      </a:solidFill>
                      <a:prstDash val="solid"/>
                    </a:lnR>
                    <a:lnT w="5760">
                      <a:solidFill>
                        <a:srgbClr val="ffff00"/>
                      </a:solidFill>
                      <a:prstDash val="solid"/>
                    </a:lnT>
                    <a:lnB w="5760">
                      <a:solidFill>
                        <a:srgbClr val="000000"/>
                      </a:solidFill>
                      <a:prstDash val="solid"/>
                    </a:lnB>
                    <a:solidFill>
                      <a:srgbClr val="00cc99"/>
                    </a:solidFill>
                  </a:tcPr>
                </a:tc>
              </a:tr>
              <a:tr h="1921320">
                <a:tc>
                  <a:txBody>
                    <a:bodyPr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Croissance moyenne par an</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Croissance moyenne totale </a:t>
                      </a:r>
                      <a:endParaRPr b="0" lang="en-US" sz="2000" strike="noStrike" u="none">
                        <a:solidFill>
                          <a:srgbClr val="ffff00"/>
                        </a:solidFill>
                        <a:effectLst/>
                        <a:uFillTx/>
                        <a:latin typeface="Times New Roman"/>
                      </a:endParaRPr>
                    </a:p>
                  </a:txBody>
                  <a:tcPr anchor="t" marL="91440" marR="91440">
                    <a:lnL w="5760">
                      <a:solidFill>
                        <a:srgbClr val="ffff00"/>
                      </a:solidFill>
                      <a:prstDash val="solid"/>
                    </a:lnL>
                    <a:lnR w="5760">
                      <a:solidFill>
                        <a:srgbClr val="000000"/>
                      </a:solidFill>
                      <a:prstDash val="solid"/>
                    </a:lnR>
                    <a:lnT w="5760">
                      <a:solidFill>
                        <a:srgbClr val="000000"/>
                      </a:solidFill>
                      <a:prstDash val="solid"/>
                    </a:lnT>
                    <a:lnB w="5760">
                      <a:solidFill>
                        <a:srgbClr val="ffff00"/>
                      </a:solidFill>
                      <a:prstDash val="solid"/>
                    </a:lnB>
                    <a:solidFill>
                      <a:srgbClr val="cbecde"/>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9 cm</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Entre 20 et 30 cm</a:t>
                      </a:r>
                      <a:endParaRPr b="0" lang="en-US" sz="2000" strike="noStrike" u="none">
                        <a:solidFill>
                          <a:srgbClr val="ffff00"/>
                        </a:solidFill>
                        <a:effectLst/>
                        <a:uFillTx/>
                        <a:latin typeface="Times New Roman"/>
                      </a:endParaRPr>
                    </a:p>
                  </a:txBody>
                  <a:tcPr anchor="t" marL="91440" marR="91440">
                    <a:lnL w="5760">
                      <a:solidFill>
                        <a:srgbClr val="000000"/>
                      </a:solidFill>
                      <a:prstDash val="solid"/>
                    </a:lnL>
                    <a:lnR w="5760">
                      <a:solidFill>
                        <a:srgbClr val="000000"/>
                      </a:solidFill>
                      <a:prstDash val="solid"/>
                    </a:lnR>
                    <a:lnT w="5760">
                      <a:solidFill>
                        <a:srgbClr val="000000"/>
                      </a:solidFill>
                      <a:prstDash val="solid"/>
                    </a:lnT>
                    <a:lnB w="5760">
                      <a:solidFill>
                        <a:srgbClr val="ffff00"/>
                      </a:solidFill>
                      <a:prstDash val="solid"/>
                    </a:lnB>
                    <a:solidFill>
                      <a:srgbClr val="cbecde"/>
                    </a:solidFill>
                  </a:tcPr>
                </a:tc>
                <a:tc>
                  <a:txBody>
                    <a:bodyPr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10 cm</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Calibri"/>
                          <a:ea typeface="Calibri"/>
                        </a:rPr>
                        <a:t>Entre 25 et 35 cm</a:t>
                      </a:r>
                      <a:endParaRPr b="0" lang="en-US" sz="2000" strike="noStrike" u="none">
                        <a:solidFill>
                          <a:srgbClr val="ffff00"/>
                        </a:solidFill>
                        <a:effectLst/>
                        <a:uFillTx/>
                        <a:latin typeface="Times New Roman"/>
                      </a:endParaRPr>
                    </a:p>
                  </a:txBody>
                  <a:tcPr anchor="t" marL="91440" marR="91440">
                    <a:lnL w="5760">
                      <a:solidFill>
                        <a:srgbClr val="000000"/>
                      </a:solidFill>
                      <a:prstDash val="solid"/>
                    </a:lnL>
                    <a:lnR w="5760">
                      <a:solidFill>
                        <a:srgbClr val="ffff00"/>
                      </a:solidFill>
                      <a:prstDash val="solid"/>
                    </a:lnR>
                    <a:lnT w="5760">
                      <a:solidFill>
                        <a:srgbClr val="000000"/>
                      </a:solidFill>
                      <a:prstDash val="solid"/>
                    </a:lnT>
                    <a:lnB w="5760">
                      <a:solidFill>
                        <a:srgbClr val="ffff00"/>
                      </a:solidFill>
                      <a:prstDash val="solid"/>
                    </a:lnB>
                    <a:solidFill>
                      <a:srgbClr val="cbecde"/>
                    </a:solidFill>
                  </a:tcPr>
                </a:tc>
              </a:tr>
            </a:tbl>
          </a:graphicData>
        </a:graphic>
      </p:graphicFrame>
      <p:sp>
        <p:nvSpPr>
          <p:cNvPr id="826" name="ZoneTexte 4"/>
          <p:cNvSpPr/>
          <p:nvPr/>
        </p:nvSpPr>
        <p:spPr>
          <a:xfrm>
            <a:off x="1548720" y="260280"/>
            <a:ext cx="6114960" cy="58176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Calibri"/>
              </a:rPr>
              <a:t>CROISSANCE PUBERTAIRE</a:t>
            </a:r>
            <a:endParaRPr b="0" lang="en-US" sz="3200" strike="noStrike" u="none">
              <a:solidFill>
                <a:srgbClr val="ffff00"/>
              </a:solidFill>
              <a:effectLst/>
              <a:uFillTx/>
              <a:latin typeface="Times New Roman"/>
            </a:endParaRPr>
          </a:p>
        </p:txBody>
      </p:sp>
      <p:sp>
        <p:nvSpPr>
          <p:cNvPr id="827" name="ZoneTexte 5"/>
          <p:cNvSpPr/>
          <p:nvPr/>
        </p:nvSpPr>
        <p:spPr>
          <a:xfrm>
            <a:off x="63360" y="3573360"/>
            <a:ext cx="8829720" cy="42087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Puis décroissance de la vitesse staturale qui devient presque nulle vers 16-17 ans chez la fille et 18-20 ans chez le garçon, sensiblement avant que ne produise la fusion des cartilages de conjugaison : 18 ans chez la fille et 21 ans chez lz garçon.</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Calibri"/>
                <a:ea typeface="Calibri"/>
              </a:rPr>
              <a:t>Chez le garçon : pic de croissance plus élevé  + croissance pubertaire  plus longue =  différence de taille d’environ 10 % par rapport à celle de la fille</a:t>
            </a:r>
            <a:endParaRPr b="0" lang="en-US" sz="2000" strike="noStrike" u="none">
              <a:solidFill>
                <a:srgbClr val="ffff00"/>
              </a:solidFill>
              <a:effectLst/>
              <a:uFillTx/>
              <a:latin typeface="Times New Roman"/>
            </a:endParaRPr>
          </a:p>
        </p:txBody>
      </p:sp>
    </p:spTree>
  </p:cSld>
  <p:transition spd="med">
    <p:zoom dir="out"/>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Rectangle 1"/>
          <p:cNvSpPr/>
          <p:nvPr/>
        </p:nvSpPr>
        <p:spPr>
          <a:xfrm>
            <a:off x="179280" y="117360"/>
            <a:ext cx="8640720" cy="68000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alibri"/>
                <a:ea typeface="Calibri"/>
              </a:rPr>
              <a:t>Quelle taille à l’âge adulte ?</a:t>
            </a:r>
            <a:br>
              <a:rPr sz="2800"/>
            </a:b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Formule de Tanner, qui prend en compte la taille de tes parents :</a:t>
            </a:r>
            <a:br>
              <a:rPr sz="2400"/>
            </a:b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sng">
                <a:solidFill>
                  <a:srgbClr val="ffff00"/>
                </a:solidFill>
                <a:effectLst/>
                <a:uFillTx/>
                <a:latin typeface="Calibri"/>
                <a:ea typeface="Calibri"/>
              </a:rPr>
              <a:t>Pour une fille</a:t>
            </a:r>
            <a:r>
              <a:rPr b="0" lang="fr-FR" sz="2400" strike="noStrike" u="none">
                <a:solidFill>
                  <a:srgbClr val="ffff00"/>
                </a:solidFill>
                <a:effectLst/>
                <a:uFillTx/>
                <a:latin typeface="Calibri"/>
                <a:ea typeface="Calibri"/>
              </a:rPr>
              <a:t> : (taille de la mère en cm + taille du père en cm / 2) - 6,5 cm</a:t>
            </a:r>
            <a:br>
              <a:rPr sz="2400"/>
            </a:b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sng">
                <a:solidFill>
                  <a:srgbClr val="ffff00"/>
                </a:solidFill>
                <a:effectLst/>
                <a:uFillTx/>
                <a:latin typeface="Calibri"/>
                <a:ea typeface="Calibri"/>
              </a:rPr>
              <a:t>Pour un garçon</a:t>
            </a:r>
            <a:r>
              <a:rPr b="0" lang="fr-FR" sz="2400" strike="noStrike" u="none">
                <a:solidFill>
                  <a:srgbClr val="ffff00"/>
                </a:solidFill>
                <a:effectLst/>
                <a:uFillTx/>
                <a:latin typeface="Calibri"/>
                <a:ea typeface="Calibri"/>
              </a:rPr>
              <a:t> : (taille de la mère en cm + taille du père en cm /2) + 6,5 cm</a:t>
            </a:r>
            <a:br>
              <a:rPr sz="2400"/>
            </a:b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Ce résultat est approximatif. Il a tendance à surestimer la taille des garçons (de 1 cm environ) et à sous-estimer celle des filles (aussi de 1 cm environ).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Sinon,, la taille adulte correspondrait au double de la taille d’un enfant à l'âge de deux ans.</a:t>
            </a:r>
            <a:br>
              <a:rPr sz="2400"/>
            </a:br>
            <a:endParaRPr b="0" lang="en-US" sz="2400" strike="noStrike" u="none">
              <a:solidFill>
                <a:srgbClr val="ffff00"/>
              </a:solidFill>
              <a:effectLst/>
              <a:uFillTx/>
              <a:latin typeface="Times New Roman"/>
            </a:endParaRPr>
          </a:p>
        </p:txBody>
      </p:sp>
    </p:spTree>
  </p:cSld>
  <p:transition spd="med">
    <p:zoom dir="out"/>
  </p:transition>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ZoneTexte 1"/>
          <p:cNvSpPr/>
          <p:nvPr/>
        </p:nvSpPr>
        <p:spPr>
          <a:xfrm>
            <a:off x="-474120" y="2060640"/>
            <a:ext cx="10138680" cy="2015280"/>
          </a:xfrm>
          <a:prstGeom prst="rect">
            <a:avLst/>
          </a:prstGeom>
          <a:noFill/>
          <a:ln w="0">
            <a:noFill/>
          </a:ln>
        </p:spPr>
        <p:style>
          <a:lnRef idx="0"/>
          <a:fillRef idx="0"/>
          <a:effectRef idx="0"/>
          <a:fontRef idx="minor"/>
        </p:style>
        <p:txBody>
          <a:bodyPr wrap="none"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RÔLES DE L’ACTIVITE PHYSIQUE ET QUELS TYPES </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D’EXERCICES RECOMMANDER POUR FAVORISER </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LA CROISSANCE OSSEUSE</a:t>
            </a:r>
            <a:endParaRPr b="0" lang="en-US" sz="2800" strike="noStrike" u="none">
              <a:solidFill>
                <a:srgbClr val="ffff00"/>
              </a:solidFill>
              <a:effectLst/>
              <a:uFillTx/>
              <a:latin typeface="Times New Roman"/>
            </a:endParaRPr>
          </a:p>
        </p:txBody>
      </p:sp>
    </p:spTree>
  </p:cSld>
  <p:transition spd="med">
    <p:zoom dir="out"/>
  </p:transition>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Rectangle 1"/>
          <p:cNvSpPr/>
          <p:nvPr/>
        </p:nvSpPr>
        <p:spPr>
          <a:xfrm>
            <a:off x="0" y="657360"/>
            <a:ext cx="914400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Les contraintes mécaniques exercées sur l’os : tensions musculaires, gravité, force de réaction au sol…sont nécessaires pour stimuler sa minéralisation.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L’importance de la minéralisation dépend des caractéristiques des contraintes mécaniques : amplitude, fréquence, vitesse de mise en charge, modalités : compression, flexion, torsion, traction, cisaillement…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Dans cette même perspective, les contraintes de type dynamique, très variées, s’avèrent plus efficaces que les contraintes statiques surtout en période de croissance où la sensibilité du tissu osseux en est plus importante. </a:t>
            </a:r>
            <a:endParaRPr b="0" lang="en-US" sz="2400" strike="noStrike" u="none">
              <a:solidFill>
                <a:srgbClr val="ffff00"/>
              </a:solidFill>
              <a:effectLst/>
              <a:uFillTx/>
              <a:latin typeface="Times New Roman"/>
            </a:endParaRPr>
          </a:p>
        </p:txBody>
      </p:sp>
    </p:spTree>
  </p:cSld>
  <p:transition spd="med">
    <p:zoom dir="out"/>
  </p:transition>
  <p:timing>
    <p:tnLst>
      <p:par>
        <p:cTn id="1155" dur="indefinite" restart="never" nodeType="tmRoot">
          <p:childTnLst>
            <p:seq>
              <p:cTn id="1156" dur="indefinite" nodeType="mainSeq">
                <p:childTnLst>
                  <p:par>
                    <p:cTn id="1157" nodeType="clickEffect" fill="hold">
                      <p:stCondLst>
                        <p:cond delay="indefinite"/>
                      </p:stCondLst>
                      <p:childTnLst>
                        <p:par>
                          <p:cTn id="1158" nodeType="withEffect" fill="hold">
                            <p:stCondLst>
                              <p:cond delay="0"/>
                            </p:stCondLst>
                            <p:childTnLst>
                              <p:par>
                                <p:cTn id="1159" nodeType="clickEffect" fill="hold" presetClass="entr" presetID="22" presetSubtype="8">
                                  <p:stCondLst>
                                    <p:cond delay="0"/>
                                  </p:stCondLst>
                                  <p:childTnLst>
                                    <p:set>
                                      <p:cBhvr>
                                        <p:cTn id="1160" dur="1" fill="hold">
                                          <p:stCondLst>
                                            <p:cond delay="0"/>
                                          </p:stCondLst>
                                        </p:cTn>
                                        <p:tgtEl>
                                          <p:spTgt spid="830">
                                            <p:txEl>
                                              <p:pRg st="0" end="0"/>
                                            </p:txEl>
                                          </p:spTgt>
                                        </p:tgtEl>
                                        <p:attrNameLst>
                                          <p:attrName>style.visibility</p:attrName>
                                        </p:attrNameLst>
                                      </p:cBhvr>
                                      <p:to>
                                        <p:strVal val="visible"/>
                                      </p:to>
                                    </p:set>
                                    <p:animEffect filter="wipe(left)" transition="in">
                                      <p:cBhvr additive="repl">
                                        <p:cTn id="1161" dur="500"/>
                                        <p:tgtEl>
                                          <p:spTgt spid="830">
                                            <p:txEl>
                                              <p:pRg st="0" end="0"/>
                                            </p:txEl>
                                          </p:spTgt>
                                        </p:tgtEl>
                                      </p:cBhvr>
                                    </p:animEffect>
                                  </p:childTnLst>
                                </p:cTn>
                              </p:par>
                            </p:childTnLst>
                          </p:cTn>
                        </p:par>
                      </p:childTnLst>
                    </p:cTn>
                  </p:par>
                  <p:par>
                    <p:cTn id="1162" nodeType="clickEffect" fill="hold">
                      <p:stCondLst>
                        <p:cond delay="indefinite"/>
                      </p:stCondLst>
                      <p:childTnLst>
                        <p:par>
                          <p:cTn id="1163" nodeType="withEffect" fill="hold">
                            <p:stCondLst>
                              <p:cond delay="0"/>
                            </p:stCondLst>
                            <p:childTnLst>
                              <p:par>
                                <p:cTn id="1164" nodeType="clickEffect" fill="hold" presetClass="entr" presetID="22" presetSubtype="4">
                                  <p:stCondLst>
                                    <p:cond delay="0"/>
                                  </p:stCondLst>
                                  <p:childTnLst>
                                    <p:set>
                                      <p:cBhvr>
                                        <p:cTn id="1165" dur="1" fill="hold">
                                          <p:stCondLst>
                                            <p:cond delay="0"/>
                                          </p:stCondLst>
                                        </p:cTn>
                                        <p:tgtEl>
                                          <p:spTgt spid="830">
                                            <p:txEl>
                                              <p:pRg st="1" end="1"/>
                                            </p:txEl>
                                          </p:spTgt>
                                        </p:tgtEl>
                                        <p:attrNameLst>
                                          <p:attrName>style.visibility</p:attrName>
                                        </p:attrNameLst>
                                      </p:cBhvr>
                                      <p:to>
                                        <p:strVal val="visible"/>
                                      </p:to>
                                    </p:set>
                                    <p:animEffect filter="wipe(down)" transition="in">
                                      <p:cBhvr additive="repl">
                                        <p:cTn id="1166" dur="500"/>
                                        <p:tgtEl>
                                          <p:spTgt spid="830">
                                            <p:txEl>
                                              <p:pRg st="1" end="1"/>
                                            </p:txEl>
                                          </p:spTgt>
                                        </p:tgtEl>
                                      </p:cBhvr>
                                    </p:animEffect>
                                  </p:childTnLst>
                                </p:cTn>
                              </p:par>
                            </p:childTnLst>
                          </p:cTn>
                        </p:par>
                      </p:childTnLst>
                    </p:cTn>
                  </p:par>
                  <p:par>
                    <p:cTn id="1167" nodeType="clickEffect" fill="hold">
                      <p:stCondLst>
                        <p:cond delay="indefinite"/>
                      </p:stCondLst>
                      <p:childTnLst>
                        <p:par>
                          <p:cTn id="1168" nodeType="withEffect" fill="hold">
                            <p:stCondLst>
                              <p:cond delay="0"/>
                            </p:stCondLst>
                            <p:childTnLst>
                              <p:par>
                                <p:cTn id="1169" nodeType="clickEffect" fill="hold" presetClass="entr" presetID="22" presetSubtype="4">
                                  <p:stCondLst>
                                    <p:cond delay="0"/>
                                  </p:stCondLst>
                                  <p:childTnLst>
                                    <p:set>
                                      <p:cBhvr>
                                        <p:cTn id="1170" dur="1" fill="hold">
                                          <p:stCondLst>
                                            <p:cond delay="0"/>
                                          </p:stCondLst>
                                        </p:cTn>
                                        <p:tgtEl>
                                          <p:spTgt spid="830">
                                            <p:txEl>
                                              <p:pRg st="3" end="3"/>
                                            </p:txEl>
                                          </p:spTgt>
                                        </p:tgtEl>
                                        <p:attrNameLst>
                                          <p:attrName>style.visibility</p:attrName>
                                        </p:attrNameLst>
                                      </p:cBhvr>
                                      <p:to>
                                        <p:strVal val="visible"/>
                                      </p:to>
                                    </p:set>
                                    <p:animEffect filter="wipe(down)" transition="in">
                                      <p:cBhvr additive="repl">
                                        <p:cTn id="1171" dur="500"/>
                                        <p:tgtEl>
                                          <p:spTgt spid="830">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Rectangle 1"/>
          <p:cNvSpPr/>
          <p:nvPr/>
        </p:nvSpPr>
        <p:spPr>
          <a:xfrm>
            <a:off x="114480" y="476280"/>
            <a:ext cx="8964360" cy="722628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Pour impacter les structures osseuses de l’ensemble du squelette et en obtenir une croissance harmonieuse tant en longueur qu’en épaisseur, des activités physiques dynamiques, variées à contraintes relativement élevées devraient faire partie des programmes destinés aux adolescents.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Dans ce cadre, les exercices de renforcement musculaire utilisant le propre poids du corps et les exercices de musculation avec charges devraient en faire partie en évitant des contraintes trop importantes imposées au rachis comme par exemple les exercices de squat qui ne devraient être envisagés qu’en fin de l’adolescence. </a:t>
            </a:r>
            <a:endParaRPr b="0" lang="en-US" sz="2400" strike="noStrike" u="none">
              <a:solidFill>
                <a:srgbClr val="ffff00"/>
              </a:solidFill>
              <a:effectLst/>
              <a:uFillTx/>
              <a:latin typeface="Times New Roman"/>
            </a:endParaRPr>
          </a:p>
        </p:txBody>
      </p:sp>
    </p:spTree>
  </p:cSld>
  <p:transition spd="med">
    <p:zoom dir="out"/>
  </p:transition>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2" name="Picture 2" descr="figure08"/>
          <p:cNvPicPr/>
          <p:nvPr/>
        </p:nvPicPr>
        <p:blipFill>
          <a:blip r:embed="rId1"/>
          <a:stretch/>
        </p:blipFill>
        <p:spPr>
          <a:xfrm>
            <a:off x="2855880" y="0"/>
            <a:ext cx="3432240" cy="6858000"/>
          </a:xfrm>
          <a:prstGeom prst="rect">
            <a:avLst/>
          </a:prstGeom>
          <a:noFill/>
          <a:ln w="0">
            <a:noFill/>
          </a:ln>
        </p:spPr>
      </p:pic>
    </p:spTree>
  </p:cSld>
  <p:transition spd="med">
    <p:zoom dir="out"/>
  </p:transition>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 name="Rectangle 1"/>
          <p:cNvSpPr/>
          <p:nvPr/>
        </p:nvSpPr>
        <p:spPr>
          <a:xfrm>
            <a:off x="250920" y="1341360"/>
            <a:ext cx="849780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L’amplitude des contraintes imposées par chaque exercice de musculation, encore définie comme « charge », devrait se situer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sans la dépasser à 70% de la charge maximale et devrait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correspondre à une possibilité de 15 répétitions.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L’amplitude élevée devrait laisser place à une plus haute fréquence de répétions </a:t>
            </a:r>
            <a:r>
              <a:rPr b="1" i="1" lang="fr-FR" sz="2400" strike="noStrike" u="none">
                <a:solidFill>
                  <a:srgbClr val="ffffff"/>
                </a:solidFill>
                <a:effectLst/>
                <a:uFillTx/>
                <a:latin typeface="Calibri"/>
                <a:ea typeface="Calibri"/>
              </a:rPr>
              <a:t>de contraintes plus légères </a:t>
            </a:r>
            <a:r>
              <a:rPr b="0" i="1" lang="fr-FR" sz="2400" strike="noStrike" u="none">
                <a:solidFill>
                  <a:srgbClr val="ffff00"/>
                </a:solidFill>
                <a:effectLst/>
                <a:uFillTx/>
                <a:latin typeface="Calibri"/>
                <a:ea typeface="Calibri"/>
              </a:rPr>
              <a:t>au cours de la période articulée autour</a:t>
            </a:r>
            <a:r>
              <a:rPr b="0" lang="fr-FR" sz="2400" strike="noStrike" u="none">
                <a:solidFill>
                  <a:srgbClr val="ffff00"/>
                </a:solidFill>
                <a:effectLst/>
                <a:uFillTx/>
                <a:latin typeface="Calibri"/>
                <a:ea typeface="Calibri"/>
              </a:rPr>
              <a:t> </a:t>
            </a:r>
            <a:r>
              <a:rPr b="0" i="1" lang="fr-FR" sz="2400" strike="noStrike" u="none">
                <a:solidFill>
                  <a:srgbClr val="ffff00"/>
                </a:solidFill>
                <a:effectLst/>
                <a:uFillTx/>
                <a:latin typeface="Calibri"/>
                <a:ea typeface="Calibri"/>
              </a:rPr>
              <a:t>du pic de croissance staturale (stade pubertaire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Calibri"/>
                <a:ea typeface="Calibri"/>
              </a:rPr>
              <a:t>P2-P3 de l’échelle de Tanner). </a:t>
            </a:r>
            <a:endParaRPr b="0" lang="en-US" sz="2400" strike="noStrike" u="none">
              <a:solidFill>
                <a:srgbClr val="ffff00"/>
              </a:solidFill>
              <a:effectLst/>
              <a:uFillTx/>
              <a:latin typeface="Times New Roman"/>
            </a:endParaRPr>
          </a:p>
        </p:txBody>
      </p:sp>
      <p:sp>
        <p:nvSpPr>
          <p:cNvPr id="834" name="ZoneTexte 2"/>
          <p:cNvSpPr/>
          <p:nvPr/>
        </p:nvSpPr>
        <p:spPr>
          <a:xfrm>
            <a:off x="746640" y="549360"/>
            <a:ext cx="813060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fffff"/>
                </a:solidFill>
                <a:effectLst/>
                <a:uFillTx/>
                <a:latin typeface="Calibri"/>
                <a:ea typeface="Calibri"/>
              </a:rPr>
              <a:t>Quelques points de repère et conseils…</a:t>
            </a:r>
            <a:endParaRPr b="0" lang="en-US" sz="2800" strike="noStrike" u="none">
              <a:solidFill>
                <a:srgbClr val="ffff00"/>
              </a:solidFill>
              <a:effectLst/>
              <a:uFillTx/>
              <a:latin typeface="Times New Roman"/>
            </a:endParaRPr>
          </a:p>
        </p:txBody>
      </p:sp>
    </p:spTree>
  </p:cSld>
  <p:transition spd="med">
    <p:zoom dir="out"/>
  </p:transition>
  <p:timing>
    <p:tnLst>
      <p:par>
        <p:cTn id="1172" dur="indefinite" restart="never" nodeType="tmRoot">
          <p:childTnLst>
            <p:seq>
              <p:cTn id="1173" dur="indefinite" nodeType="mainSeq">
                <p:childTnLst>
                  <p:par>
                    <p:cTn id="1174" nodeType="clickEffect" fill="hold">
                      <p:stCondLst>
                        <p:cond delay="indefinite"/>
                      </p:stCondLst>
                      <p:childTnLst>
                        <p:par>
                          <p:cTn id="1175" nodeType="withEffect" fill="hold">
                            <p:stCondLst>
                              <p:cond delay="0"/>
                            </p:stCondLst>
                            <p:childTnLst>
                              <p:par>
                                <p:cTn id="1176" nodeType="clickEffect" fill="hold" presetClass="entr" presetID="22" presetSubtype="8" repeatCount="1000">
                                  <p:stCondLst>
                                    <p:cond delay="0"/>
                                  </p:stCondLst>
                                  <p:childTnLst>
                                    <p:set>
                                      <p:cBhvr>
                                        <p:cTn id="1177" dur="1" fill="hold">
                                          <p:stCondLst>
                                            <p:cond delay="0"/>
                                          </p:stCondLst>
                                        </p:cTn>
                                        <p:tgtEl>
                                          <p:spTgt spid="833">
                                            <p:txEl>
                                              <p:pRg st="0" end="0"/>
                                            </p:txEl>
                                          </p:spTgt>
                                        </p:tgtEl>
                                        <p:attrNameLst>
                                          <p:attrName>style.visibility</p:attrName>
                                        </p:attrNameLst>
                                      </p:cBhvr>
                                      <p:to>
                                        <p:strVal val="visible"/>
                                      </p:to>
                                    </p:set>
                                    <p:animEffect filter="wipe(left)" transition="in">
                                      <p:cBhvr additive="repl">
                                        <p:cTn id="1178" dur="1500"/>
                                        <p:tgtEl>
                                          <p:spTgt spid="833">
                                            <p:txEl>
                                              <p:pRg st="0" end="0"/>
                                            </p:txEl>
                                          </p:spTgt>
                                        </p:tgtEl>
                                      </p:cBhvr>
                                    </p:animEffect>
                                  </p:childTnLst>
                                </p:cTn>
                              </p:par>
                              <p:par>
                                <p:cTn id="1179" nodeType="withEffect" fill="hold" presetClass="entr" presetID="22" presetSubtype="8" repeatCount="1000">
                                  <p:stCondLst>
                                    <p:cond delay="0"/>
                                  </p:stCondLst>
                                  <p:childTnLst>
                                    <p:set>
                                      <p:cBhvr>
                                        <p:cTn id="1180" dur="1" fill="hold">
                                          <p:stCondLst>
                                            <p:cond delay="0"/>
                                          </p:stCondLst>
                                        </p:cTn>
                                        <p:tgtEl>
                                          <p:spTgt spid="833">
                                            <p:txEl>
                                              <p:pRg st="1" end="1"/>
                                            </p:txEl>
                                          </p:spTgt>
                                        </p:tgtEl>
                                        <p:attrNameLst>
                                          <p:attrName>style.visibility</p:attrName>
                                        </p:attrNameLst>
                                      </p:cBhvr>
                                      <p:to>
                                        <p:strVal val="visible"/>
                                      </p:to>
                                    </p:set>
                                    <p:animEffect filter="wipe(left)" transition="in">
                                      <p:cBhvr additive="repl">
                                        <p:cTn id="1181" dur="1500"/>
                                        <p:tgtEl>
                                          <p:spTgt spid="833">
                                            <p:txEl>
                                              <p:pRg st="1" end="1"/>
                                            </p:txEl>
                                          </p:spTgt>
                                        </p:tgtEl>
                                      </p:cBhvr>
                                    </p:animEffect>
                                  </p:childTnLst>
                                </p:cTn>
                              </p:par>
                              <p:par>
                                <p:cTn id="1182" nodeType="withEffect" fill="hold" presetClass="entr" presetID="22" presetSubtype="8" repeatCount="1000">
                                  <p:stCondLst>
                                    <p:cond delay="0"/>
                                  </p:stCondLst>
                                  <p:childTnLst>
                                    <p:set>
                                      <p:cBhvr>
                                        <p:cTn id="1183" dur="1" fill="hold">
                                          <p:stCondLst>
                                            <p:cond delay="0"/>
                                          </p:stCondLst>
                                        </p:cTn>
                                        <p:tgtEl>
                                          <p:spTgt spid="833">
                                            <p:txEl>
                                              <p:pRg st="2" end="2"/>
                                            </p:txEl>
                                          </p:spTgt>
                                        </p:tgtEl>
                                        <p:attrNameLst>
                                          <p:attrName>style.visibility</p:attrName>
                                        </p:attrNameLst>
                                      </p:cBhvr>
                                      <p:to>
                                        <p:strVal val="visible"/>
                                      </p:to>
                                    </p:set>
                                    <p:animEffect filter="wipe(left)" transition="in">
                                      <p:cBhvr additive="repl">
                                        <p:cTn id="1184" dur="1500"/>
                                        <p:tgtEl>
                                          <p:spTgt spid="833">
                                            <p:txEl>
                                              <p:pRg st="2" end="2"/>
                                            </p:txEl>
                                          </p:spTgt>
                                        </p:tgtEl>
                                      </p:cBhvr>
                                    </p:animEffect>
                                  </p:childTnLst>
                                </p:cTn>
                              </p:par>
                            </p:childTnLst>
                          </p:cTn>
                        </p:par>
                      </p:childTnLst>
                    </p:cTn>
                  </p:par>
                  <p:par>
                    <p:cTn id="1185" nodeType="clickEffect" fill="hold">
                      <p:stCondLst>
                        <p:cond delay="indefinite"/>
                      </p:stCondLst>
                      <p:childTnLst>
                        <p:par>
                          <p:cTn id="1186" nodeType="withEffect" fill="hold">
                            <p:stCondLst>
                              <p:cond delay="0"/>
                            </p:stCondLst>
                            <p:childTnLst>
                              <p:par>
                                <p:cTn id="1187" nodeType="clickEffect" fill="hold" presetClass="entr" presetID="22" presetSubtype="8" repeatCount="1000">
                                  <p:stCondLst>
                                    <p:cond delay="0"/>
                                  </p:stCondLst>
                                  <p:childTnLst>
                                    <p:set>
                                      <p:cBhvr>
                                        <p:cTn id="1188" dur="1" fill="hold">
                                          <p:stCondLst>
                                            <p:cond delay="0"/>
                                          </p:stCondLst>
                                        </p:cTn>
                                        <p:tgtEl>
                                          <p:spTgt spid="833">
                                            <p:txEl>
                                              <p:pRg st="4" end="4"/>
                                            </p:txEl>
                                          </p:spTgt>
                                        </p:tgtEl>
                                        <p:attrNameLst>
                                          <p:attrName>style.visibility</p:attrName>
                                        </p:attrNameLst>
                                      </p:cBhvr>
                                      <p:to>
                                        <p:strVal val="visible"/>
                                      </p:to>
                                    </p:set>
                                    <p:animEffect filter="wipe(left)" transition="in">
                                      <p:cBhvr additive="repl">
                                        <p:cTn id="1189" dur="1500"/>
                                        <p:tgtEl>
                                          <p:spTgt spid="833">
                                            <p:txEl>
                                              <p:pRg st="4" end="4"/>
                                            </p:txEl>
                                          </p:spTgt>
                                        </p:tgtEl>
                                      </p:cBhvr>
                                    </p:animEffect>
                                  </p:childTnLst>
                                </p:cTn>
                              </p:par>
                              <p:par>
                                <p:cTn id="1190" nodeType="withEffect" fill="hold" presetClass="entr" presetID="22" presetSubtype="8" repeatCount="1000">
                                  <p:stCondLst>
                                    <p:cond delay="0"/>
                                  </p:stCondLst>
                                  <p:childTnLst>
                                    <p:set>
                                      <p:cBhvr>
                                        <p:cTn id="1191" dur="1" fill="hold">
                                          <p:stCondLst>
                                            <p:cond delay="0"/>
                                          </p:stCondLst>
                                        </p:cTn>
                                        <p:tgtEl>
                                          <p:spTgt spid="833">
                                            <p:txEl>
                                              <p:pRg st="5" end="5"/>
                                            </p:txEl>
                                          </p:spTgt>
                                        </p:tgtEl>
                                        <p:attrNameLst>
                                          <p:attrName>style.visibility</p:attrName>
                                        </p:attrNameLst>
                                      </p:cBhvr>
                                      <p:to>
                                        <p:strVal val="visible"/>
                                      </p:to>
                                    </p:set>
                                    <p:animEffect filter="wipe(left)" transition="in">
                                      <p:cBhvr additive="repl">
                                        <p:cTn id="1192" dur="1500"/>
                                        <p:tgtEl>
                                          <p:spTgt spid="833">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ZoneTexte 1"/>
          <p:cNvSpPr/>
          <p:nvPr/>
        </p:nvSpPr>
        <p:spPr>
          <a:xfrm>
            <a:off x="-1470240" y="189000"/>
            <a:ext cx="12275280" cy="661608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Courbes de croissance en longueur et en épaisseur évoluent parallèlement ce qui</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permet  de conserver l’intégrité du squelette.</a:t>
            </a:r>
            <a:endParaRPr b="0" lang="en-US" sz="20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C’est aussi à ces âges que la minéralisation de l’os est la plus importante, ce qui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confère aux os une plus forte résistance.</a:t>
            </a:r>
            <a:endParaRPr b="0" lang="en-US" sz="20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Mais attention, le pic de minéralisation osseuse  n’intervient </a:t>
            </a:r>
            <a:r>
              <a:rPr b="1" i="1" lang="fr-FR" sz="2000" strike="noStrike" u="none">
                <a:solidFill>
                  <a:srgbClr val="ffffff"/>
                </a:solidFill>
                <a:effectLst/>
                <a:uFillTx/>
                <a:latin typeface="Calibri"/>
                <a:ea typeface="Calibri"/>
              </a:rPr>
              <a:t>que 6 à 18 mois après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ffffff"/>
                </a:solidFill>
                <a:effectLst/>
                <a:uFillTx/>
                <a:latin typeface="Calibri"/>
                <a:ea typeface="Calibri"/>
              </a:rPr>
              <a:t>le pic de croissance maximale</a:t>
            </a:r>
            <a:r>
              <a:rPr b="0" lang="fr-FR" sz="2000" strike="noStrike" u="none">
                <a:solidFill>
                  <a:srgbClr val="ffff00"/>
                </a:solidFill>
                <a:effectLst/>
                <a:uFillTx/>
                <a:latin typeface="Calibri"/>
                <a:ea typeface="Calibri"/>
              </a:rPr>
              <a:t>, décalage au cours duquel le squelette présente une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période de relative  fragilité. Cette fragilité osseuse transitoire est maximale au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moment du pic de croissance staturale, au stade P2-P3 de l’échelle de Tanner,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soit entre 11 et 12 ans chez la fille et 13 et 14 ans chez le garçon.</a:t>
            </a:r>
            <a:endParaRPr b="0" lang="en-US" sz="2000" strike="noStrike" u="none">
              <a:solidFill>
                <a:srgbClr val="ffff00"/>
              </a:solidFill>
              <a:effectLst/>
              <a:uFillTx/>
              <a:latin typeface="Times New Roman"/>
            </a:endParaRPr>
          </a:p>
          <a:p>
            <a:pPr>
              <a:lnSpc>
                <a:spcPts val="1998"/>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En conséquence, durant cette période proche et immédiatement post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pic de croissance osseuse, il est plus prudent d’éviter tous exercices,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activités physiques ou sports à fortes contraintes mécaniques.</a:t>
            </a:r>
            <a:endParaRPr b="0" lang="en-US" sz="2400" strike="noStrike" u="none">
              <a:solidFill>
                <a:srgbClr val="ffff00"/>
              </a:solidFill>
              <a:effectLst/>
              <a:uFillTx/>
              <a:latin typeface="Times New Roman"/>
            </a:endParaRPr>
          </a:p>
        </p:txBody>
      </p:sp>
    </p:spTree>
  </p:cSld>
  <p:transition spd="med">
    <p:zoom dir="out"/>
  </p:transition>
  <p:timing>
    <p:tnLst>
      <p:par>
        <p:cTn id="1193" dur="indefinite" restart="never" nodeType="tmRoot">
          <p:childTnLst>
            <p:seq>
              <p:cTn id="1194" dur="indefinite" nodeType="mainSeq">
                <p:childTnLst>
                  <p:par>
                    <p:cTn id="1195" nodeType="clickEffect" fill="hold">
                      <p:stCondLst>
                        <p:cond delay="indefinite"/>
                      </p:stCondLst>
                      <p:childTnLst>
                        <p:par>
                          <p:cTn id="1196" nodeType="withEffect" fill="hold">
                            <p:stCondLst>
                              <p:cond delay="0"/>
                            </p:stCondLst>
                            <p:childTnLst>
                              <p:par>
                                <p:cTn id="1197" nodeType="clickEffect" fill="hold" presetClass="entr" presetID="22" presetSubtype="8">
                                  <p:stCondLst>
                                    <p:cond delay="0"/>
                                  </p:stCondLst>
                                  <p:childTnLst>
                                    <p:set>
                                      <p:cBhvr>
                                        <p:cTn id="1198" dur="1" fill="hold">
                                          <p:stCondLst>
                                            <p:cond delay="0"/>
                                          </p:stCondLst>
                                        </p:cTn>
                                        <p:tgtEl>
                                          <p:spTgt spid="835">
                                            <p:txEl>
                                              <p:pRg st="0" end="0"/>
                                            </p:txEl>
                                          </p:spTgt>
                                        </p:tgtEl>
                                        <p:attrNameLst>
                                          <p:attrName>style.visibility</p:attrName>
                                        </p:attrNameLst>
                                      </p:cBhvr>
                                      <p:to>
                                        <p:strVal val="visible"/>
                                      </p:to>
                                    </p:set>
                                    <p:animEffect filter="wipe(left)" transition="in">
                                      <p:cBhvr additive="repl">
                                        <p:cTn id="1199" dur="500"/>
                                        <p:tgtEl>
                                          <p:spTgt spid="835">
                                            <p:txEl>
                                              <p:pRg st="0" end="0"/>
                                            </p:txEl>
                                          </p:spTgt>
                                        </p:tgtEl>
                                      </p:cBhvr>
                                    </p:animEffect>
                                  </p:childTnLst>
                                </p:cTn>
                              </p:par>
                              <p:par>
                                <p:cTn id="1200" nodeType="withEffect" fill="hold" presetClass="entr" presetID="22" presetSubtype="8">
                                  <p:stCondLst>
                                    <p:cond delay="0"/>
                                  </p:stCondLst>
                                  <p:childTnLst>
                                    <p:set>
                                      <p:cBhvr>
                                        <p:cTn id="1201" dur="1" fill="hold">
                                          <p:stCondLst>
                                            <p:cond delay="0"/>
                                          </p:stCondLst>
                                        </p:cTn>
                                        <p:tgtEl>
                                          <p:spTgt spid="835">
                                            <p:txEl>
                                              <p:pRg st="1" end="1"/>
                                            </p:txEl>
                                          </p:spTgt>
                                        </p:tgtEl>
                                        <p:attrNameLst>
                                          <p:attrName>style.visibility</p:attrName>
                                        </p:attrNameLst>
                                      </p:cBhvr>
                                      <p:to>
                                        <p:strVal val="visible"/>
                                      </p:to>
                                    </p:set>
                                    <p:animEffect filter="wipe(left)" transition="in">
                                      <p:cBhvr additive="repl">
                                        <p:cTn id="1202" dur="500"/>
                                        <p:tgtEl>
                                          <p:spTgt spid="835">
                                            <p:txEl>
                                              <p:pRg st="1" end="1"/>
                                            </p:txEl>
                                          </p:spTgt>
                                        </p:tgtEl>
                                      </p:cBhvr>
                                    </p:animEffect>
                                  </p:childTnLst>
                                </p:cTn>
                              </p:par>
                            </p:childTnLst>
                          </p:cTn>
                        </p:par>
                      </p:childTnLst>
                    </p:cTn>
                  </p:par>
                  <p:par>
                    <p:cTn id="1203" nodeType="clickEffect" fill="hold">
                      <p:stCondLst>
                        <p:cond delay="indefinite"/>
                      </p:stCondLst>
                      <p:childTnLst>
                        <p:par>
                          <p:cTn id="1204" nodeType="withEffect" fill="hold">
                            <p:stCondLst>
                              <p:cond delay="0"/>
                            </p:stCondLst>
                            <p:childTnLst>
                              <p:par>
                                <p:cTn id="1205" nodeType="clickEffect" fill="hold" presetClass="entr" presetID="22" presetSubtype="8">
                                  <p:stCondLst>
                                    <p:cond delay="0"/>
                                  </p:stCondLst>
                                  <p:childTnLst>
                                    <p:set>
                                      <p:cBhvr>
                                        <p:cTn id="1206" dur="1" fill="hold">
                                          <p:stCondLst>
                                            <p:cond delay="0"/>
                                          </p:stCondLst>
                                        </p:cTn>
                                        <p:tgtEl>
                                          <p:spTgt spid="835">
                                            <p:txEl>
                                              <p:pRg st="3" end="3"/>
                                            </p:txEl>
                                          </p:spTgt>
                                        </p:tgtEl>
                                        <p:attrNameLst>
                                          <p:attrName>style.visibility</p:attrName>
                                        </p:attrNameLst>
                                      </p:cBhvr>
                                      <p:to>
                                        <p:strVal val="visible"/>
                                      </p:to>
                                    </p:set>
                                    <p:animEffect filter="wipe(left)" transition="in">
                                      <p:cBhvr additive="repl">
                                        <p:cTn id="1207" dur="500"/>
                                        <p:tgtEl>
                                          <p:spTgt spid="835">
                                            <p:txEl>
                                              <p:pRg st="3" end="3"/>
                                            </p:txEl>
                                          </p:spTgt>
                                        </p:tgtEl>
                                      </p:cBhvr>
                                    </p:animEffect>
                                  </p:childTnLst>
                                </p:cTn>
                              </p:par>
                              <p:par>
                                <p:cTn id="1208" nodeType="withEffect" fill="hold" presetClass="entr" presetID="22" presetSubtype="8">
                                  <p:stCondLst>
                                    <p:cond delay="0"/>
                                  </p:stCondLst>
                                  <p:childTnLst>
                                    <p:set>
                                      <p:cBhvr>
                                        <p:cTn id="1209" dur="1" fill="hold">
                                          <p:stCondLst>
                                            <p:cond delay="0"/>
                                          </p:stCondLst>
                                        </p:cTn>
                                        <p:tgtEl>
                                          <p:spTgt spid="835">
                                            <p:txEl>
                                              <p:pRg st="4" end="4"/>
                                            </p:txEl>
                                          </p:spTgt>
                                        </p:tgtEl>
                                        <p:attrNameLst>
                                          <p:attrName>style.visibility</p:attrName>
                                        </p:attrNameLst>
                                      </p:cBhvr>
                                      <p:to>
                                        <p:strVal val="visible"/>
                                      </p:to>
                                    </p:set>
                                    <p:animEffect filter="wipe(left)" transition="in">
                                      <p:cBhvr additive="repl">
                                        <p:cTn id="1210" dur="500"/>
                                        <p:tgtEl>
                                          <p:spTgt spid="835">
                                            <p:txEl>
                                              <p:pRg st="4" end="4"/>
                                            </p:txEl>
                                          </p:spTgt>
                                        </p:tgtEl>
                                      </p:cBhvr>
                                    </p:animEffect>
                                  </p:childTnLst>
                                </p:cTn>
                              </p:par>
                            </p:childTnLst>
                          </p:cTn>
                        </p:par>
                      </p:childTnLst>
                    </p:cTn>
                  </p:par>
                  <p:par>
                    <p:cTn id="1211" nodeType="clickEffect" fill="hold">
                      <p:stCondLst>
                        <p:cond delay="indefinite"/>
                      </p:stCondLst>
                      <p:childTnLst>
                        <p:par>
                          <p:cTn id="1212" nodeType="withEffect" fill="hold">
                            <p:stCondLst>
                              <p:cond delay="0"/>
                            </p:stCondLst>
                            <p:childTnLst>
                              <p:par>
                                <p:cTn id="1213" nodeType="clickEffect" fill="hold" presetClass="entr" presetID="22" presetSubtype="1">
                                  <p:stCondLst>
                                    <p:cond delay="0"/>
                                  </p:stCondLst>
                                  <p:childTnLst>
                                    <p:set>
                                      <p:cBhvr>
                                        <p:cTn id="1214" dur="1" fill="hold">
                                          <p:stCondLst>
                                            <p:cond delay="0"/>
                                          </p:stCondLst>
                                        </p:cTn>
                                        <p:tgtEl>
                                          <p:spTgt spid="835">
                                            <p:txEl>
                                              <p:pRg st="6" end="6"/>
                                            </p:txEl>
                                          </p:spTgt>
                                        </p:tgtEl>
                                        <p:attrNameLst>
                                          <p:attrName>style.visibility</p:attrName>
                                        </p:attrNameLst>
                                      </p:cBhvr>
                                      <p:to>
                                        <p:strVal val="visible"/>
                                      </p:to>
                                    </p:set>
                                    <p:animEffect filter="wipe(up)" transition="in">
                                      <p:cBhvr additive="repl">
                                        <p:cTn id="1215" dur="500"/>
                                        <p:tgtEl>
                                          <p:spTgt spid="835">
                                            <p:txEl>
                                              <p:pRg st="6" end="6"/>
                                            </p:txEl>
                                          </p:spTgt>
                                        </p:tgtEl>
                                      </p:cBhvr>
                                    </p:animEffect>
                                  </p:childTnLst>
                                </p:cTn>
                              </p:par>
                              <p:par>
                                <p:cTn id="1216" nodeType="withEffect" fill="hold" presetClass="entr" presetID="22" presetSubtype="1">
                                  <p:stCondLst>
                                    <p:cond delay="0"/>
                                  </p:stCondLst>
                                  <p:childTnLst>
                                    <p:set>
                                      <p:cBhvr>
                                        <p:cTn id="1217" dur="1" fill="hold">
                                          <p:stCondLst>
                                            <p:cond delay="0"/>
                                          </p:stCondLst>
                                        </p:cTn>
                                        <p:tgtEl>
                                          <p:spTgt spid="835">
                                            <p:txEl>
                                              <p:pRg st="7" end="7"/>
                                            </p:txEl>
                                          </p:spTgt>
                                        </p:tgtEl>
                                        <p:attrNameLst>
                                          <p:attrName>style.visibility</p:attrName>
                                        </p:attrNameLst>
                                      </p:cBhvr>
                                      <p:to>
                                        <p:strVal val="visible"/>
                                      </p:to>
                                    </p:set>
                                    <p:animEffect filter="wipe(up)" transition="in">
                                      <p:cBhvr additive="repl">
                                        <p:cTn id="1218" dur="500"/>
                                        <p:tgtEl>
                                          <p:spTgt spid="835">
                                            <p:txEl>
                                              <p:pRg st="7" end="7"/>
                                            </p:txEl>
                                          </p:spTgt>
                                        </p:tgtEl>
                                      </p:cBhvr>
                                    </p:animEffect>
                                  </p:childTnLst>
                                </p:cTn>
                              </p:par>
                              <p:par>
                                <p:cTn id="1219" nodeType="withEffect" fill="hold" presetClass="entr" presetID="22" presetSubtype="1">
                                  <p:stCondLst>
                                    <p:cond delay="0"/>
                                  </p:stCondLst>
                                  <p:childTnLst>
                                    <p:set>
                                      <p:cBhvr>
                                        <p:cTn id="1220" dur="1" fill="hold">
                                          <p:stCondLst>
                                            <p:cond delay="0"/>
                                          </p:stCondLst>
                                        </p:cTn>
                                        <p:tgtEl>
                                          <p:spTgt spid="835">
                                            <p:txEl>
                                              <p:pRg st="8" end="8"/>
                                            </p:txEl>
                                          </p:spTgt>
                                        </p:tgtEl>
                                        <p:attrNameLst>
                                          <p:attrName>style.visibility</p:attrName>
                                        </p:attrNameLst>
                                      </p:cBhvr>
                                      <p:to>
                                        <p:strVal val="visible"/>
                                      </p:to>
                                    </p:set>
                                    <p:animEffect filter="wipe(up)" transition="in">
                                      <p:cBhvr additive="repl">
                                        <p:cTn id="1221" dur="500"/>
                                        <p:tgtEl>
                                          <p:spTgt spid="835">
                                            <p:txEl>
                                              <p:pRg st="8" end="8"/>
                                            </p:txEl>
                                          </p:spTgt>
                                        </p:tgtEl>
                                      </p:cBhvr>
                                    </p:animEffect>
                                  </p:childTnLst>
                                </p:cTn>
                              </p:par>
                              <p:par>
                                <p:cTn id="1222" nodeType="withEffect" fill="hold" presetClass="entr" presetID="22" presetSubtype="1">
                                  <p:stCondLst>
                                    <p:cond delay="0"/>
                                  </p:stCondLst>
                                  <p:childTnLst>
                                    <p:set>
                                      <p:cBhvr>
                                        <p:cTn id="1223" dur="1" fill="hold">
                                          <p:stCondLst>
                                            <p:cond delay="0"/>
                                          </p:stCondLst>
                                        </p:cTn>
                                        <p:tgtEl>
                                          <p:spTgt spid="835">
                                            <p:txEl>
                                              <p:pRg st="9" end="9"/>
                                            </p:txEl>
                                          </p:spTgt>
                                        </p:tgtEl>
                                        <p:attrNameLst>
                                          <p:attrName>style.visibility</p:attrName>
                                        </p:attrNameLst>
                                      </p:cBhvr>
                                      <p:to>
                                        <p:strVal val="visible"/>
                                      </p:to>
                                    </p:set>
                                    <p:animEffect filter="wipe(up)" transition="in">
                                      <p:cBhvr additive="repl">
                                        <p:cTn id="1224" dur="500"/>
                                        <p:tgtEl>
                                          <p:spTgt spid="835">
                                            <p:txEl>
                                              <p:pRg st="9" end="9"/>
                                            </p:txEl>
                                          </p:spTgt>
                                        </p:tgtEl>
                                      </p:cBhvr>
                                    </p:animEffect>
                                  </p:childTnLst>
                                </p:cTn>
                              </p:par>
                            </p:childTnLst>
                          </p:cTn>
                        </p:par>
                      </p:childTnLst>
                    </p:cTn>
                  </p:par>
                  <p:par>
                    <p:cTn id="1225" nodeType="clickEffect" fill="hold">
                      <p:stCondLst>
                        <p:cond delay="indefinite"/>
                      </p:stCondLst>
                      <p:childTnLst>
                        <p:par>
                          <p:cTn id="1226" nodeType="withEffect" fill="hold">
                            <p:stCondLst>
                              <p:cond delay="0"/>
                            </p:stCondLst>
                            <p:childTnLst>
                              <p:par>
                                <p:cTn id="1227" nodeType="clickEffect" fill="hold" presetClass="entr" presetID="22" presetSubtype="8" repeatCount="1000">
                                  <p:stCondLst>
                                    <p:cond delay="0"/>
                                  </p:stCondLst>
                                  <p:childTnLst>
                                    <p:set>
                                      <p:cBhvr>
                                        <p:cTn id="1228" dur="1" fill="hold">
                                          <p:stCondLst>
                                            <p:cond delay="0"/>
                                          </p:stCondLst>
                                        </p:cTn>
                                        <p:tgtEl>
                                          <p:spTgt spid="835">
                                            <p:txEl>
                                              <p:pRg st="10" end="10"/>
                                            </p:txEl>
                                          </p:spTgt>
                                        </p:tgtEl>
                                        <p:attrNameLst>
                                          <p:attrName>style.visibility</p:attrName>
                                        </p:attrNameLst>
                                      </p:cBhvr>
                                      <p:to>
                                        <p:strVal val="visible"/>
                                      </p:to>
                                    </p:set>
                                    <p:animEffect filter="wipe(left)" transition="in">
                                      <p:cBhvr additive="repl">
                                        <p:cTn id="1229" dur="1500"/>
                                        <p:tgtEl>
                                          <p:spTgt spid="835">
                                            <p:txEl>
                                              <p:pRg st="10" end="10"/>
                                            </p:txEl>
                                          </p:spTgt>
                                        </p:tgtEl>
                                      </p:cBhvr>
                                    </p:animEffect>
                                  </p:childTnLst>
                                </p:cTn>
                              </p:par>
                            </p:childTnLst>
                          </p:cTn>
                        </p:par>
                      </p:childTnLst>
                    </p:cTn>
                  </p:par>
                  <p:par>
                    <p:cTn id="1230" nodeType="clickEffect" fill="hold">
                      <p:stCondLst>
                        <p:cond delay="indefinite"/>
                      </p:stCondLst>
                      <p:childTnLst>
                        <p:par>
                          <p:cTn id="1231" nodeType="withEffect" fill="hold">
                            <p:stCondLst>
                              <p:cond delay="0"/>
                            </p:stCondLst>
                            <p:childTnLst>
                              <p:par>
                                <p:cTn id="1232" nodeType="clickEffect" fill="hold" presetClass="entr" presetID="22" presetSubtype="8" repeatCount="1000">
                                  <p:stCondLst>
                                    <p:cond delay="0"/>
                                  </p:stCondLst>
                                  <p:childTnLst>
                                    <p:set>
                                      <p:cBhvr>
                                        <p:cTn id="1233" dur="1" fill="hold">
                                          <p:stCondLst>
                                            <p:cond delay="0"/>
                                          </p:stCondLst>
                                        </p:cTn>
                                        <p:tgtEl>
                                          <p:spTgt spid="835">
                                            <p:txEl>
                                              <p:pRg st="12" end="12"/>
                                            </p:txEl>
                                          </p:spTgt>
                                        </p:tgtEl>
                                        <p:attrNameLst>
                                          <p:attrName>style.visibility</p:attrName>
                                        </p:attrNameLst>
                                      </p:cBhvr>
                                      <p:to>
                                        <p:strVal val="visible"/>
                                      </p:to>
                                    </p:set>
                                    <p:animEffect filter="wipe(left)" transition="in">
                                      <p:cBhvr additive="repl">
                                        <p:cTn id="1234" dur="1000"/>
                                        <p:tgtEl>
                                          <p:spTgt spid="835">
                                            <p:txEl>
                                              <p:pRg st="12" end="12"/>
                                            </p:txEl>
                                          </p:spTgt>
                                        </p:tgtEl>
                                      </p:cBhvr>
                                    </p:animEffect>
                                  </p:childTnLst>
                                </p:cTn>
                              </p:par>
                            </p:childTnLst>
                          </p:cTn>
                        </p:par>
                        <p:par>
                          <p:cTn id="1235" nodeType="afterEffect" fill="hold">
                            <p:stCondLst>
                              <p:cond delay="1000"/>
                            </p:stCondLst>
                            <p:childTnLst>
                              <p:par>
                                <p:cTn id="1236" nodeType="afterEffect" fill="hold" presetClass="entr" presetID="22" presetSubtype="8" repeatCount="1000">
                                  <p:stCondLst>
                                    <p:cond delay="0"/>
                                  </p:stCondLst>
                                  <p:childTnLst>
                                    <p:set>
                                      <p:cBhvr>
                                        <p:cTn id="1237" dur="1" fill="hold">
                                          <p:stCondLst>
                                            <p:cond delay="0"/>
                                          </p:stCondLst>
                                        </p:cTn>
                                        <p:tgtEl>
                                          <p:spTgt spid="835">
                                            <p:txEl>
                                              <p:pRg st="13" end="13"/>
                                            </p:txEl>
                                          </p:spTgt>
                                        </p:tgtEl>
                                        <p:attrNameLst>
                                          <p:attrName>style.visibility</p:attrName>
                                        </p:attrNameLst>
                                      </p:cBhvr>
                                      <p:to>
                                        <p:strVal val="visible"/>
                                      </p:to>
                                    </p:set>
                                    <p:animEffect filter="wipe(left)" transition="in">
                                      <p:cBhvr additive="repl">
                                        <p:cTn id="1238" dur="1500"/>
                                        <p:tgtEl>
                                          <p:spTgt spid="835">
                                            <p:txEl>
                                              <p:pRg st="13" end="13"/>
                                            </p:txEl>
                                          </p:spTgt>
                                        </p:tgtEl>
                                      </p:cBhvr>
                                    </p:animEffect>
                                  </p:childTnLst>
                                </p:cTn>
                              </p:par>
                            </p:childTnLst>
                          </p:cTn>
                        </p:par>
                        <p:par>
                          <p:cTn id="1239" nodeType="afterEffect" fill="hold">
                            <p:stCondLst>
                              <p:cond delay="2500"/>
                            </p:stCondLst>
                            <p:childTnLst>
                              <p:par>
                                <p:cTn id="1240" nodeType="afterEffect" fill="hold" presetClass="entr" presetID="22" presetSubtype="8" repeatCount="1000">
                                  <p:stCondLst>
                                    <p:cond delay="0"/>
                                  </p:stCondLst>
                                  <p:childTnLst>
                                    <p:set>
                                      <p:cBhvr>
                                        <p:cTn id="1241" dur="1" fill="hold">
                                          <p:stCondLst>
                                            <p:cond delay="0"/>
                                          </p:stCondLst>
                                        </p:cTn>
                                        <p:tgtEl>
                                          <p:spTgt spid="835">
                                            <p:txEl>
                                              <p:pRg st="14" end="14"/>
                                            </p:txEl>
                                          </p:spTgt>
                                        </p:tgtEl>
                                        <p:attrNameLst>
                                          <p:attrName>style.visibility</p:attrName>
                                        </p:attrNameLst>
                                      </p:cBhvr>
                                      <p:to>
                                        <p:strVal val="visible"/>
                                      </p:to>
                                    </p:set>
                                    <p:animEffect filter="wipe(left)" transition="in">
                                      <p:cBhvr additive="repl">
                                        <p:cTn id="1242" dur="1500"/>
                                        <p:tgtEl>
                                          <p:spTgt spid="835">
                                            <p:txEl>
                                              <p:pRg st="14" end="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title"/>
          </p:nvPr>
        </p:nvSpPr>
        <p:spPr>
          <a:xfrm>
            <a:off x="179280" y="980640"/>
            <a:ext cx="8964720" cy="1104840"/>
          </a:xfrm>
          <a:prstGeom prst="rect">
            <a:avLst/>
          </a:prstGeom>
          <a:noFill/>
          <a:ln w="0">
            <a:noFill/>
          </a:ln>
        </p:spPr>
        <p:txBody>
          <a:bodyPr lIns="92160" rIns="92160" tIns="46080" bIns="4608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ff"/>
                </a:solidFill>
                <a:effectLst/>
                <a:uFillTx/>
                <a:latin typeface="Arial"/>
              </a:rPr>
              <a:t> Éviter d’exercer de trop fortes tractions et pressions sur un os en pleine évolution au cours de la croissance.</a:t>
            </a:r>
            <a:endParaRPr b="0" lang="en-US" sz="2800" strike="noStrike" u="none">
              <a:solidFill>
                <a:srgbClr val="ffffff"/>
              </a:solidFill>
              <a:effectLst/>
              <a:uFillTx/>
              <a:latin typeface="Times New Roman"/>
            </a:endParaRPr>
          </a:p>
        </p:txBody>
      </p:sp>
      <p:pic>
        <p:nvPicPr>
          <p:cNvPr id="837" name="Picture 3" descr=""/>
          <p:cNvPicPr/>
          <p:nvPr/>
        </p:nvPicPr>
        <p:blipFill>
          <a:blip r:embed="rId1"/>
          <a:srcRect l="1308" t="3376" r="2059" b="2135"/>
          <a:stretch/>
        </p:blipFill>
        <p:spPr>
          <a:xfrm>
            <a:off x="468360" y="2276640"/>
            <a:ext cx="8675640" cy="4279680"/>
          </a:xfrm>
          <a:prstGeom prst="rect">
            <a:avLst/>
          </a:prstGeom>
          <a:noFill/>
          <a:ln w="0">
            <a:noFill/>
          </a:ln>
        </p:spPr>
      </p:pic>
      <p:sp>
        <p:nvSpPr>
          <p:cNvPr id="838" name="Text Box 4"/>
          <p:cNvSpPr/>
          <p:nvPr/>
        </p:nvSpPr>
        <p:spPr>
          <a:xfrm>
            <a:off x="2716200" y="444600"/>
            <a:ext cx="284436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ea typeface="Arial"/>
              </a:rPr>
              <a:t> LES DANGERS</a:t>
            </a:r>
            <a:endParaRPr b="0" lang="en-US" sz="2800" strike="noStrike" u="none">
              <a:solidFill>
                <a:srgbClr val="ffff00"/>
              </a:solidFill>
              <a:effectLst/>
              <a:uFillTx/>
              <a:latin typeface="Times New Roman"/>
            </a:endParaRPr>
          </a:p>
        </p:txBody>
      </p:sp>
    </p:spTree>
  </p:cSld>
  <p:transition spd="med">
    <p:zoom dir="out"/>
  </p:transition>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ZoneTexte 1"/>
          <p:cNvSpPr/>
          <p:nvPr/>
        </p:nvSpPr>
        <p:spPr>
          <a:xfrm>
            <a:off x="-808560" y="1700280"/>
            <a:ext cx="10648440" cy="1557000"/>
          </a:xfrm>
          <a:prstGeom prst="rect">
            <a:avLst/>
          </a:prstGeom>
          <a:noFill/>
          <a:ln w="0">
            <a:noFill/>
          </a:ln>
        </p:spPr>
        <p:style>
          <a:lnRef idx="0"/>
          <a:fillRef idx="0"/>
          <a:effectRef idx="0"/>
          <a:fontRef idx="minor"/>
        </p:style>
        <p:txBody>
          <a:bodyPr wrap="none"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ffffff"/>
                </a:solidFill>
                <a:effectLst/>
                <a:uFillTx/>
                <a:latin typeface="Calibri"/>
                <a:ea typeface="Calibri"/>
              </a:rPr>
              <a:t>II-3-DEVELOPPEMENT DU TISSU MUSCULAIRE </a:t>
            </a:r>
            <a:endParaRPr b="0" lang="en-US" sz="32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ffffff"/>
                </a:solidFill>
                <a:effectLst/>
                <a:uFillTx/>
                <a:latin typeface="Calibri"/>
                <a:ea typeface="Calibri"/>
              </a:rPr>
              <a:t>ET ACTIVITE PHYSIQUE *</a:t>
            </a:r>
            <a:endParaRPr b="0" lang="en-US" sz="3200" strike="noStrike" u="none">
              <a:solidFill>
                <a:srgbClr val="ffff00"/>
              </a:solidFill>
              <a:effectLst/>
              <a:uFillTx/>
              <a:latin typeface="Times New Roman"/>
            </a:endParaRPr>
          </a:p>
        </p:txBody>
      </p:sp>
      <p:sp>
        <p:nvSpPr>
          <p:cNvPr id="840" name="ZoneTexte 2"/>
          <p:cNvSpPr/>
          <p:nvPr/>
        </p:nvSpPr>
        <p:spPr>
          <a:xfrm>
            <a:off x="1584720" y="5877000"/>
            <a:ext cx="680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ffff00"/>
                </a:solidFill>
                <a:effectLst/>
                <a:uFillTx/>
                <a:latin typeface="Calibri"/>
                <a:ea typeface="Calibri"/>
              </a:rPr>
              <a:t>* Interactions développées avec la force musculaire</a:t>
            </a:r>
            <a:endParaRPr b="0" lang="en-US" sz="2000" strike="noStrike" u="none">
              <a:solidFill>
                <a:srgbClr val="ffff00"/>
              </a:solidFill>
              <a:effectLst/>
              <a:uFillTx/>
              <a:latin typeface="Times New Roman"/>
            </a:endParaRPr>
          </a:p>
        </p:txBody>
      </p:sp>
    </p:spTree>
  </p:cSld>
  <p:transition spd="med">
    <p:zoom dir="out"/>
  </p:transition>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1" name="Image 1" descr=""/>
          <p:cNvPicPr/>
          <p:nvPr/>
        </p:nvPicPr>
        <p:blipFill>
          <a:blip r:embed="rId1"/>
          <a:srcRect l="27273" t="27804" r="26745" b="12098"/>
          <a:stretch/>
        </p:blipFill>
        <p:spPr>
          <a:xfrm>
            <a:off x="1476360" y="115920"/>
            <a:ext cx="6408720" cy="5257800"/>
          </a:xfrm>
          <a:prstGeom prst="rect">
            <a:avLst/>
          </a:prstGeom>
          <a:noFill/>
          <a:ln w="9360">
            <a:solidFill>
              <a:srgbClr val="ffff00"/>
            </a:solidFill>
            <a:miter/>
          </a:ln>
        </p:spPr>
      </p:pic>
      <p:sp>
        <p:nvSpPr>
          <p:cNvPr id="842" name="Text Box 2"/>
          <p:cNvSpPr/>
          <p:nvPr/>
        </p:nvSpPr>
        <p:spPr>
          <a:xfrm>
            <a:off x="826920" y="5445000"/>
            <a:ext cx="7490160" cy="1297080"/>
          </a:xfrm>
          <a:prstGeom prst="rect">
            <a:avLst/>
          </a:prstGeom>
          <a:solidFill>
            <a:srgbClr val="ffffff"/>
          </a:solidFill>
          <a:ln w="0">
            <a:noFill/>
          </a:ln>
        </p:spPr>
        <p:style>
          <a:lnRef idx="0"/>
          <a:fillRef idx="0"/>
          <a:effectRef idx="0"/>
          <a:fontRef idx="minor"/>
        </p:style>
        <p:txBody>
          <a:bodyPr lIns="90000" rIns="90000" tIns="46800" bIns="46800" anchor="t">
            <a:noAutofit/>
          </a:bodyPr>
          <a:p>
            <a:pPr algn="just">
              <a:lnSpc>
                <a:spcPct val="10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000000"/>
                </a:solidFill>
                <a:effectLst/>
                <a:uFillTx/>
                <a:latin typeface="Calibri"/>
              </a:rPr>
              <a:t>Figure 7 :</a:t>
            </a:r>
            <a:r>
              <a:rPr b="0" i="1" lang="fr-FR" sz="2000" strike="noStrike" u="none">
                <a:solidFill>
                  <a:srgbClr val="000000"/>
                </a:solidFill>
                <a:effectLst/>
                <a:uFillTx/>
                <a:latin typeface="Calibri"/>
              </a:rPr>
              <a:t> Evolution de la masse musculaire au cours de la croissance des filles et des garçons. Les barres verticales indiquent le début de la puberté respectivement chez la fille (♀) et le garçon (♂). D’après Forbes (1972) modifié.</a:t>
            </a:r>
            <a:endParaRPr b="0" lang="en-US" sz="2000" strike="noStrike" u="none">
              <a:solidFill>
                <a:srgbClr val="ffff00"/>
              </a:solidFill>
              <a:effectLst/>
              <a:uFillTx/>
              <a:latin typeface="Times New Roman"/>
            </a:endParaRPr>
          </a:p>
          <a:p>
            <a:pPr algn="just">
              <a:lnSpc>
                <a:spcPct val="10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trike="noStrike" u="none">
              <a:solidFill>
                <a:srgbClr val="ffff00"/>
              </a:solidFill>
              <a:effectLst/>
              <a:uFillTx/>
              <a:latin typeface="Times New Roman"/>
            </a:endParaRPr>
          </a:p>
          <a:p>
            <a:pPr algn="just">
              <a:lnSpc>
                <a:spcPct val="10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trike="noStrike" u="none">
              <a:solidFill>
                <a:srgbClr val="ffff00"/>
              </a:solidFill>
              <a:effectLst/>
              <a:uFillTx/>
              <a:latin typeface="Times New Roman"/>
            </a:endParaRPr>
          </a:p>
          <a:p>
            <a:pPr algn="just">
              <a:lnSpc>
                <a:spcPct val="10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trike="noStrike" u="none">
              <a:solidFill>
                <a:srgbClr val="ffff00"/>
              </a:solidFill>
              <a:effectLst/>
              <a:uFillTx/>
              <a:latin typeface="Times New Roman"/>
            </a:endParaRPr>
          </a:p>
          <a:p>
            <a:pPr algn="just">
              <a:lnSpc>
                <a:spcPct val="100000"/>
              </a:lnSpc>
              <a:spcAft>
                <a:spcPts val="10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900" strike="noStrike" u="none">
              <a:solidFill>
                <a:srgbClr val="ffff00"/>
              </a:solidFill>
              <a:effectLst/>
              <a:uFillTx/>
              <a:latin typeface="Times New Roman"/>
            </a:endParaRPr>
          </a:p>
        </p:txBody>
      </p:sp>
    </p:spTree>
  </p:cSld>
  <p:transition spd="med">
    <p:zoom dir="out"/>
  </p:transition>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title"/>
          </p:nvPr>
        </p:nvSpPr>
        <p:spPr>
          <a:xfrm>
            <a:off x="685800" y="151920"/>
            <a:ext cx="7772400" cy="114300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s-CL" sz="2400" strike="noStrike" u="none">
                <a:solidFill>
                  <a:srgbClr val="ffff00"/>
                </a:solidFill>
                <a:effectLst/>
                <a:uFillTx/>
                <a:latin typeface="Comic Sans MS"/>
              </a:rPr>
              <a:t>TISSU MUSCULAIRE et FIBRES MUSCULAIRES</a:t>
            </a:r>
            <a:endParaRPr b="0" lang="en-US" sz="2400" strike="noStrike" u="none">
              <a:solidFill>
                <a:srgbClr val="ffffff"/>
              </a:solidFill>
              <a:effectLst/>
              <a:uFillTx/>
              <a:latin typeface="Times New Roman"/>
            </a:endParaRPr>
          </a:p>
        </p:txBody>
      </p:sp>
      <p:sp>
        <p:nvSpPr>
          <p:cNvPr id="844" name="PlaceHolder 2"/>
          <p:cNvSpPr>
            <a:spLocks noGrp="1"/>
          </p:cNvSpPr>
          <p:nvPr>
            <p:ph/>
          </p:nvPr>
        </p:nvSpPr>
        <p:spPr>
          <a:xfrm>
            <a:off x="228240" y="1295280"/>
            <a:ext cx="8534520" cy="4114800"/>
          </a:xfrm>
          <a:prstGeom prst="rect">
            <a:avLst/>
          </a:prstGeom>
          <a:noFill/>
          <a:ln w="0">
            <a:noFill/>
          </a:ln>
        </p:spPr>
        <p:txBody>
          <a:bodyPr lIns="91440" rIns="91440" tIns="45720" bIns="45720" anchor="t">
            <a:normAutofit fontScale="85000" lnSpcReduction="9999"/>
          </a:bodyPr>
          <a:p>
            <a:pPr marL="343080" indent="-343080">
              <a:lnSpc>
                <a:spcPct val="12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1 </a:t>
            </a:r>
            <a:r>
              <a:rPr b="1" lang="es-CL" sz="2000" strike="noStrike" u="none">
                <a:solidFill>
                  <a:srgbClr val="ffff00"/>
                </a:solidFill>
                <a:effectLst/>
                <a:uFillTx/>
                <a:latin typeface="Arial"/>
              </a:rPr>
              <a:t>- </a:t>
            </a:r>
            <a:r>
              <a:rPr b="1" lang="es-CL" sz="2000" strike="noStrike" u="none">
                <a:solidFill>
                  <a:srgbClr val="ffff00"/>
                </a:solidFill>
                <a:effectLst/>
                <a:uFillTx/>
                <a:latin typeface="Calibri"/>
                <a:ea typeface="Calibri"/>
              </a:rPr>
              <a:t>Les travaux de Colling-Saltin (1978) et de Elder et Kakulas (1993) ont clairement montré que le développement embryologique des fibres musculaires repose sur une différenciation des fibres IIc (dites de transition, à métabolisme glycolytique et oxydatif) dès le troisième mois de la gestation. L’apparition des fibres de type IIb (essensiellement glycolityque) s’accentue au cours des mois de gestation. Chronologiquement, se forment ensuite les fibres de type IIa (glycolityques et oxydatives), puis celles de type I (essentiellement oxydatives. L’essentiel de la distribution des fibres musculaires se termine entre 2 et 3 ans.</a:t>
            </a:r>
            <a:endParaRPr b="0" lang="en-US" sz="2000" strike="noStrike" u="none">
              <a:solidFill>
                <a:srgbClr val="ffff00"/>
              </a:solidFill>
              <a:effectLst/>
              <a:uFillTx/>
              <a:latin typeface="Times New Roman"/>
            </a:endParaRPr>
          </a:p>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343080" indent="-343080">
              <a:lnSpc>
                <a:spcPct val="12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2 - </a:t>
            </a:r>
            <a:r>
              <a:rPr b="1" i="1" lang="es-CL" sz="2000" strike="noStrike" u="none">
                <a:solidFill>
                  <a:srgbClr val="ffffff"/>
                </a:solidFill>
                <a:effectLst/>
                <a:uFillTx/>
                <a:latin typeface="Arial"/>
              </a:rPr>
              <a:t>Selon le type d’entraînement, les pouvoirs biochimiques des fibres (surtout des fibres IIc et IIa) évoluent majoritairement dans le sens d’une augmentation de leur pouvoir oxydatif</a:t>
            </a:r>
            <a:r>
              <a:rPr b="1" lang="es-CL" sz="2000" strike="noStrike" u="none">
                <a:solidFill>
                  <a:srgbClr val="ffff00"/>
                </a:solidFill>
                <a:effectLst/>
                <a:uFillTx/>
                <a:latin typeface="Arial"/>
              </a:rPr>
              <a:t>.</a:t>
            </a:r>
            <a:r>
              <a:rPr b="0" lang="es-CL"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Tree>
  </p:cSld>
  <p:transition spd="med">
    <p:zoom dir="out"/>
  </p:transition>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Rectangle 3"/>
          <p:cNvSpPr/>
          <p:nvPr/>
        </p:nvSpPr>
        <p:spPr>
          <a:xfrm>
            <a:off x="324000" y="1484280"/>
            <a:ext cx="8424720" cy="503172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Chez </a:t>
            </a:r>
            <a:r>
              <a:rPr b="1" i="1" lang="fr-FR" sz="2400" strike="noStrike" u="none">
                <a:solidFill>
                  <a:srgbClr val="ffffff"/>
                </a:solidFill>
                <a:effectLst/>
                <a:uFillTx/>
                <a:latin typeface="Calibri"/>
                <a:ea typeface="Calibri"/>
              </a:rPr>
              <a:t>le garçon</a:t>
            </a:r>
            <a:r>
              <a:rPr b="0" lang="fr-FR" sz="2400" strike="noStrike" u="none">
                <a:solidFill>
                  <a:srgbClr val="ffffff"/>
                </a:solidFill>
                <a:effectLst/>
                <a:uFillTx/>
                <a:latin typeface="Calibri"/>
                <a:ea typeface="Calibri"/>
              </a:rPr>
              <a:t> </a:t>
            </a:r>
            <a:r>
              <a:rPr b="0" lang="fr-FR" sz="2400" strike="noStrike" u="none">
                <a:solidFill>
                  <a:srgbClr val="ffff00"/>
                </a:solidFill>
                <a:effectLst/>
                <a:uFillTx/>
                <a:latin typeface="Calibri"/>
                <a:ea typeface="Calibri"/>
              </a:rPr>
              <a:t>la masse musculaire représente 25 % du poids total à la naissance et près de 40 % à l’âge adulte [27]. La majorité de ce gain survient à la puberté sous l’effet conjugué des hormones à fort pouvoir anabolisant, en premier lieu la testostérone dont les concentrations sanguines sont multipliées entre dix et vingt fois au cours de l’adolescence, de l’hormone de croissance et de l’IGF-1 en forte augmentation aussi.</a:t>
            </a:r>
            <a:endParaRPr b="0" lang="en-US" sz="2400" strike="noStrike" u="none">
              <a:solidFill>
                <a:srgbClr val="ffff00"/>
              </a:solidFill>
              <a:effectLst/>
              <a:uFillTx/>
              <a:latin typeface="Times New Roman"/>
            </a:endParaRPr>
          </a:p>
        </p:txBody>
      </p:sp>
    </p:spTree>
  </p:cSld>
  <p:transition spd="med">
    <p:zoom dir="out"/>
  </p:transition>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Rectangle 3"/>
          <p:cNvSpPr/>
          <p:nvPr/>
        </p:nvSpPr>
        <p:spPr>
          <a:xfrm>
            <a:off x="0" y="907920"/>
            <a:ext cx="896472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ffffff"/>
                </a:solidFill>
                <a:effectLst/>
                <a:uFillTx/>
                <a:latin typeface="Calibri"/>
                <a:ea typeface="Calibri"/>
              </a:rPr>
              <a:t>La fille</a:t>
            </a:r>
            <a:r>
              <a:rPr b="1" lang="fr-FR" sz="2400" strike="noStrike" u="none">
                <a:solidFill>
                  <a:srgbClr val="ffffff"/>
                </a:solidFill>
                <a:effectLst/>
                <a:uFillTx/>
                <a:latin typeface="Calibri"/>
                <a:ea typeface="Calibri"/>
              </a:rPr>
              <a:t> </a:t>
            </a:r>
            <a:r>
              <a:rPr b="0" lang="fr-FR" sz="2400" strike="noStrike" u="none">
                <a:solidFill>
                  <a:srgbClr val="ffff00"/>
                </a:solidFill>
                <a:effectLst/>
                <a:uFillTx/>
                <a:latin typeface="Calibri"/>
                <a:ea typeface="Calibri"/>
              </a:rPr>
              <a:t>présente un développement musculaire pratiquement linéaire par rapport à celui mesuré au cours de la période pré pubertaire. Seule l’hormone de croissance, l’IGF-1 et de façon modeste la testostérone  favorisent une légère mais significative prise de masse musculaire au cours de la croissance de la fille.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Malgré cette sensible augmentation de masse, arrivée à l’âge adulte, la femme présentera toujours un nombre total de fibres musculaires significativement inférieur à celui de l’homme, ce qui en partie, explique ses moindres qualités de force par rapport à l’homme.</a:t>
            </a:r>
            <a:endParaRPr b="0" lang="en-US" sz="2400" strike="noStrike" u="none">
              <a:solidFill>
                <a:srgbClr val="ffff00"/>
              </a:solidFill>
              <a:effectLst/>
              <a:uFillTx/>
              <a:latin typeface="Times New Roman"/>
            </a:endParaRPr>
          </a:p>
        </p:txBody>
      </p:sp>
    </p:spTree>
  </p:cSld>
  <p:transition spd="med">
    <p:zoom dir="out"/>
  </p:transition>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Rectangle 1"/>
          <p:cNvSpPr/>
          <p:nvPr/>
        </p:nvSpPr>
        <p:spPr>
          <a:xfrm>
            <a:off x="0" y="404640"/>
            <a:ext cx="9029880" cy="612900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L’augmentation de la masse musculaire totale résulte de la croissance en longueur des muscles et de leur hypertrophie (augmentation de leur coupe transverse) mais pas ou peu de leur hyperplasie (augmentation du nombre de leurs unités motrices).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En effet le nombre d’unités motrices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(ensemble formé d’un motoneurone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et des fibres innervées par son axone)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demeure relativement constant entre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l’enfance et l’âge adulte.</a:t>
            </a:r>
            <a:endParaRPr b="0" lang="en-US" sz="2400" strike="noStrike" u="none">
              <a:solidFill>
                <a:srgbClr val="ffff00"/>
              </a:solidFill>
              <a:effectLst/>
              <a:uFillTx/>
              <a:latin typeface="Times New Roman"/>
            </a:endParaRPr>
          </a:p>
        </p:txBody>
      </p:sp>
      <p:pic>
        <p:nvPicPr>
          <p:cNvPr id="848" name="Picture 2" descr="(4)"/>
          <p:cNvPicPr/>
          <p:nvPr/>
        </p:nvPicPr>
        <p:blipFill>
          <a:blip r:embed="rId1">
            <a:lum contrast="6000"/>
          </a:blip>
          <a:srcRect l="3221" t="0" r="3221" b="5159"/>
          <a:stretch/>
        </p:blipFill>
        <p:spPr>
          <a:xfrm>
            <a:off x="5148360" y="2982960"/>
            <a:ext cx="3862440" cy="3338640"/>
          </a:xfrm>
          <a:prstGeom prst="rect">
            <a:avLst/>
          </a:prstGeom>
          <a:noFill/>
          <a:ln w="0">
            <a:noFill/>
          </a:ln>
        </p:spPr>
      </p:pic>
    </p:spTree>
  </p:cSld>
  <p:transition spd="med">
    <p:zoom dir="out"/>
  </p:transition>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Rectangle 1"/>
          <p:cNvSpPr/>
          <p:nvPr/>
        </p:nvSpPr>
        <p:spPr>
          <a:xfrm>
            <a:off x="108000" y="692280"/>
            <a:ext cx="896472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 croissance en longueur des muscles se fait par l’allongement des sarcomères existants et par l’augmentation de leur nombre surtout à leurs extrémités au niveau de la jonction avec les tendons.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Cette croissance, est induite par l’allongement des pièces osseuses sur lesquelles les muscles s’insèrent.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A nouveau, nous pouvons remarquer à cet endroit l’interaction entre tissu musculaire et tissu osseux, l’os a besoin des contraintes imposées par le muscle pour contribuer à sa minéralisation, à sa densité et à sa résistance, et l’allongement du muscle dépend de la croissance en longueur de l’os. </a:t>
            </a:r>
            <a:endParaRPr b="0" lang="en-US" sz="2400" strike="noStrike" u="none">
              <a:solidFill>
                <a:srgbClr val="ffff00"/>
              </a:solidFill>
              <a:effectLst/>
              <a:uFillTx/>
              <a:latin typeface="Times New Roman"/>
            </a:endParaRPr>
          </a:p>
        </p:txBody>
      </p:sp>
    </p:spTree>
  </p:cSld>
  <p:transition spd="med">
    <p:zoom dir="out"/>
  </p:transition>
  <p:timing>
    <p:tnLst>
      <p:par>
        <p:cTn id="1243" dur="indefinite" restart="never" nodeType="tmRoot">
          <p:childTnLst>
            <p:seq>
              <p:cTn id="1244" dur="indefinite" nodeType="mainSeq">
                <p:childTnLst>
                  <p:par>
                    <p:cTn id="1245" nodeType="clickEffect" fill="hold">
                      <p:stCondLst>
                        <p:cond delay="indefinite"/>
                      </p:stCondLst>
                      <p:childTnLst>
                        <p:par>
                          <p:cTn id="1246" nodeType="withEffect" fill="hold">
                            <p:stCondLst>
                              <p:cond delay="0"/>
                            </p:stCondLst>
                            <p:childTnLst>
                              <p:par>
                                <p:cTn id="1247" nodeType="clickEffect" fill="hold" presetClass="entr" presetID="22" presetSubtype="8" repeatCount="1000">
                                  <p:stCondLst>
                                    <p:cond delay="0"/>
                                  </p:stCondLst>
                                  <p:childTnLst>
                                    <p:set>
                                      <p:cBhvr>
                                        <p:cTn id="1248" dur="1" fill="hold">
                                          <p:stCondLst>
                                            <p:cond delay="0"/>
                                          </p:stCondLst>
                                        </p:cTn>
                                        <p:tgtEl>
                                          <p:spTgt spid="849">
                                            <p:txEl>
                                              <p:pRg st="0" end="0"/>
                                            </p:txEl>
                                          </p:spTgt>
                                        </p:tgtEl>
                                        <p:attrNameLst>
                                          <p:attrName>style.visibility</p:attrName>
                                        </p:attrNameLst>
                                      </p:cBhvr>
                                      <p:to>
                                        <p:strVal val="visible"/>
                                      </p:to>
                                    </p:set>
                                    <p:animEffect filter="wipe(left)" transition="in">
                                      <p:cBhvr additive="repl">
                                        <p:cTn id="1249" dur="1500"/>
                                        <p:tgtEl>
                                          <p:spTgt spid="849">
                                            <p:txEl>
                                              <p:pRg st="0" end="0"/>
                                            </p:txEl>
                                          </p:spTgt>
                                        </p:tgtEl>
                                      </p:cBhvr>
                                    </p:animEffect>
                                  </p:childTnLst>
                                </p:cTn>
                              </p:par>
                            </p:childTnLst>
                          </p:cTn>
                        </p:par>
                      </p:childTnLst>
                    </p:cTn>
                  </p:par>
                  <p:par>
                    <p:cTn id="1250" nodeType="clickEffect" fill="hold">
                      <p:stCondLst>
                        <p:cond delay="indefinite"/>
                      </p:stCondLst>
                      <p:childTnLst>
                        <p:par>
                          <p:cTn id="1251" nodeType="withEffect" fill="hold">
                            <p:stCondLst>
                              <p:cond delay="0"/>
                            </p:stCondLst>
                            <p:childTnLst>
                              <p:par>
                                <p:cTn id="1252" nodeType="clickEffect" fill="hold" presetClass="entr" presetID="22" presetSubtype="8" repeatCount="1000">
                                  <p:stCondLst>
                                    <p:cond delay="0"/>
                                  </p:stCondLst>
                                  <p:childTnLst>
                                    <p:set>
                                      <p:cBhvr>
                                        <p:cTn id="1253" dur="1" fill="hold">
                                          <p:stCondLst>
                                            <p:cond delay="0"/>
                                          </p:stCondLst>
                                        </p:cTn>
                                        <p:tgtEl>
                                          <p:spTgt spid="849">
                                            <p:txEl>
                                              <p:pRg st="1" end="1"/>
                                            </p:txEl>
                                          </p:spTgt>
                                        </p:tgtEl>
                                        <p:attrNameLst>
                                          <p:attrName>style.visibility</p:attrName>
                                        </p:attrNameLst>
                                      </p:cBhvr>
                                      <p:to>
                                        <p:strVal val="visible"/>
                                      </p:to>
                                    </p:set>
                                    <p:animEffect filter="wipe(left)" transition="in">
                                      <p:cBhvr additive="repl">
                                        <p:cTn id="1254" dur="1500"/>
                                        <p:tgtEl>
                                          <p:spTgt spid="849">
                                            <p:txEl>
                                              <p:pRg st="1" end="1"/>
                                            </p:txEl>
                                          </p:spTgt>
                                        </p:tgtEl>
                                      </p:cBhvr>
                                    </p:animEffect>
                                  </p:childTnLst>
                                </p:cTn>
                              </p:par>
                            </p:childTnLst>
                          </p:cTn>
                        </p:par>
                      </p:childTnLst>
                    </p:cTn>
                  </p:par>
                  <p:par>
                    <p:cTn id="1255" nodeType="clickEffect" fill="hold">
                      <p:stCondLst>
                        <p:cond delay="indefinite"/>
                      </p:stCondLst>
                      <p:childTnLst>
                        <p:par>
                          <p:cTn id="1256" nodeType="withEffect" fill="hold">
                            <p:stCondLst>
                              <p:cond delay="0"/>
                            </p:stCondLst>
                            <p:childTnLst>
                              <p:par>
                                <p:cTn id="1257" nodeType="clickEffect" fill="hold" presetClass="entr" presetID="22" presetSubtype="8" repeatCount="1000">
                                  <p:stCondLst>
                                    <p:cond delay="0"/>
                                  </p:stCondLst>
                                  <p:childTnLst>
                                    <p:set>
                                      <p:cBhvr>
                                        <p:cTn id="1258" dur="1" fill="hold">
                                          <p:stCondLst>
                                            <p:cond delay="0"/>
                                          </p:stCondLst>
                                        </p:cTn>
                                        <p:tgtEl>
                                          <p:spTgt spid="849">
                                            <p:txEl>
                                              <p:pRg st="2" end="2"/>
                                            </p:txEl>
                                          </p:spTgt>
                                        </p:tgtEl>
                                        <p:attrNameLst>
                                          <p:attrName>style.visibility</p:attrName>
                                        </p:attrNameLst>
                                      </p:cBhvr>
                                      <p:to>
                                        <p:strVal val="visible"/>
                                      </p:to>
                                    </p:set>
                                    <p:animEffect filter="wipe(left)" transition="in">
                                      <p:cBhvr additive="repl">
                                        <p:cTn id="1259" dur="1500"/>
                                        <p:tgtEl>
                                          <p:spTgt spid="84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Rectangle 1"/>
          <p:cNvSpPr/>
          <p:nvPr/>
        </p:nvSpPr>
        <p:spPr>
          <a:xfrm>
            <a:off x="109440" y="333360"/>
            <a:ext cx="8874360" cy="722628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-L’hypertrophie rapide observée lors de la puberté du garçon est associée à l’imprégnation du tissu musculaire par la testostérone  dont l’effet est d’augmenter l’anabolisme protéique et ainsi d’accroître la quantité de protéines contractiles (actine, myosine) au sein des fibres musculaires.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L’hypertrophie dépend aussi, de facteurs génétiques, du régime alimentaire et du niveau d’activité physique ce qui pose problème dans l’évaluation des effets respectifs des différents facteurs pour expliquer l’augmentation de la masse musculaire et, comme conséquence celle de la force </a:t>
            </a:r>
            <a:endParaRPr b="0" lang="en-US" sz="2400" strike="noStrike" u="none">
              <a:solidFill>
                <a:srgbClr val="ffff00"/>
              </a:solidFill>
              <a:effectLst/>
              <a:uFillTx/>
              <a:latin typeface="Times New Roman"/>
            </a:endParaRPr>
          </a:p>
        </p:txBody>
      </p:sp>
    </p:spTree>
  </p:cSld>
  <p:transition spd="med">
    <p:zoom dir="out"/>
  </p:transition>
  <p:timing>
    <p:tnLst>
      <p:par>
        <p:cTn id="1260" dur="indefinite" restart="never" nodeType="tmRoot">
          <p:childTnLst>
            <p:seq>
              <p:cTn id="1261" dur="indefinite" nodeType="mainSeq">
                <p:childTnLst>
                  <p:par>
                    <p:cTn id="1262" nodeType="clickEffect" fill="hold">
                      <p:stCondLst>
                        <p:cond delay="indefinite"/>
                      </p:stCondLst>
                      <p:childTnLst>
                        <p:par>
                          <p:cTn id="1263" nodeType="withEffect" fill="hold">
                            <p:stCondLst>
                              <p:cond delay="0"/>
                            </p:stCondLst>
                            <p:childTnLst>
                              <p:par>
                                <p:cTn id="1264" nodeType="clickEffect" fill="hold" presetClass="entr" presetID="22" presetSubtype="8" repeatCount="1000">
                                  <p:stCondLst>
                                    <p:cond delay="0"/>
                                  </p:stCondLst>
                                  <p:childTnLst>
                                    <p:set>
                                      <p:cBhvr>
                                        <p:cTn id="1265" dur="1" fill="hold">
                                          <p:stCondLst>
                                            <p:cond delay="0"/>
                                          </p:stCondLst>
                                        </p:cTn>
                                        <p:tgtEl>
                                          <p:spTgt spid="850">
                                            <p:txEl>
                                              <p:pRg st="0" end="0"/>
                                            </p:txEl>
                                          </p:spTgt>
                                        </p:tgtEl>
                                        <p:attrNameLst>
                                          <p:attrName>style.visibility</p:attrName>
                                        </p:attrNameLst>
                                      </p:cBhvr>
                                      <p:to>
                                        <p:strVal val="visible"/>
                                      </p:to>
                                    </p:set>
                                    <p:animEffect filter="wipe(left)" transition="in">
                                      <p:cBhvr additive="repl">
                                        <p:cTn id="1266" dur="1500"/>
                                        <p:tgtEl>
                                          <p:spTgt spid="850">
                                            <p:txEl>
                                              <p:pRg st="0" end="0"/>
                                            </p:txEl>
                                          </p:spTgt>
                                        </p:tgtEl>
                                      </p:cBhvr>
                                    </p:animEffect>
                                  </p:childTnLst>
                                </p:cTn>
                              </p:par>
                            </p:childTnLst>
                          </p:cTn>
                        </p:par>
                      </p:childTnLst>
                    </p:cTn>
                  </p:par>
                  <p:par>
                    <p:cTn id="1267" nodeType="clickEffect" fill="hold">
                      <p:stCondLst>
                        <p:cond delay="indefinite"/>
                      </p:stCondLst>
                      <p:childTnLst>
                        <p:par>
                          <p:cTn id="1268" nodeType="withEffect" fill="hold">
                            <p:stCondLst>
                              <p:cond delay="0"/>
                            </p:stCondLst>
                            <p:childTnLst>
                              <p:par>
                                <p:cTn id="1269" nodeType="clickEffect" fill="hold" presetClass="entr" presetID="22" presetSubtype="8" repeatCount="1000">
                                  <p:stCondLst>
                                    <p:cond delay="0"/>
                                  </p:stCondLst>
                                  <p:childTnLst>
                                    <p:set>
                                      <p:cBhvr>
                                        <p:cTn id="1270" dur="1" fill="hold">
                                          <p:stCondLst>
                                            <p:cond delay="0"/>
                                          </p:stCondLst>
                                        </p:cTn>
                                        <p:tgtEl>
                                          <p:spTgt spid="850">
                                            <p:txEl>
                                              <p:pRg st="2" end="2"/>
                                            </p:txEl>
                                          </p:spTgt>
                                        </p:tgtEl>
                                        <p:attrNameLst>
                                          <p:attrName>style.visibility</p:attrName>
                                        </p:attrNameLst>
                                      </p:cBhvr>
                                      <p:to>
                                        <p:strVal val="visible"/>
                                      </p:to>
                                    </p:set>
                                    <p:animEffect filter="wipe(left)" transition="in">
                                      <p:cBhvr additive="repl">
                                        <p:cTn id="1271" dur="2000"/>
                                        <p:tgtEl>
                                          <p:spTgt spid="850">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1" name="ZoneTexte 1"/>
          <p:cNvSpPr/>
          <p:nvPr/>
        </p:nvSpPr>
        <p:spPr>
          <a:xfrm>
            <a:off x="636840" y="2276640"/>
            <a:ext cx="6870240" cy="15573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ffffff"/>
                </a:solidFill>
                <a:effectLst/>
                <a:uFillTx/>
                <a:latin typeface="Calibri"/>
                <a:ea typeface="Calibri"/>
              </a:rPr>
              <a:t>COMPOSITION CORPORELLE :</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alibri"/>
                <a:ea typeface="Calibri"/>
              </a:rPr>
              <a:t>Masse grasse, masse maigre</a:t>
            </a:r>
            <a:endParaRPr b="0" lang="en-US" sz="3200" strike="noStrike" u="none">
              <a:solidFill>
                <a:srgbClr val="ffff00"/>
              </a:solidFill>
              <a:effectLst/>
              <a:uFillTx/>
              <a:latin typeface="Times New Roman"/>
            </a:endParaRPr>
          </a:p>
        </p:txBody>
      </p:sp>
    </p:spTree>
  </p:cSld>
  <p:transition spd="med">
    <p:zoom dir="out"/>
  </p:transition>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2" name="Image 1" descr=""/>
          <p:cNvPicPr/>
          <p:nvPr/>
        </p:nvPicPr>
        <p:blipFill>
          <a:blip r:embed="rId1"/>
          <a:srcRect l="19835" t="19527" r="19504" b="7181"/>
          <a:stretch/>
        </p:blipFill>
        <p:spPr>
          <a:xfrm>
            <a:off x="1116000" y="115920"/>
            <a:ext cx="6335640" cy="5041800"/>
          </a:xfrm>
          <a:prstGeom prst="rect">
            <a:avLst/>
          </a:prstGeom>
          <a:noFill/>
          <a:ln w="9360">
            <a:solidFill>
              <a:srgbClr val="ffff00"/>
            </a:solidFill>
            <a:miter/>
          </a:ln>
        </p:spPr>
      </p:pic>
      <p:pic>
        <p:nvPicPr>
          <p:cNvPr id="853" name="Image 2" descr=""/>
          <p:cNvPicPr/>
          <p:nvPr/>
        </p:nvPicPr>
        <p:blipFill>
          <a:blip r:embed="rId2"/>
          <a:srcRect l="19181" t="41801" r="18646" b="25927"/>
          <a:stretch/>
        </p:blipFill>
        <p:spPr>
          <a:xfrm>
            <a:off x="684360" y="5229360"/>
            <a:ext cx="7416720" cy="1628640"/>
          </a:xfrm>
          <a:prstGeom prst="rect">
            <a:avLst/>
          </a:prstGeom>
          <a:noFill/>
          <a:ln w="0">
            <a:noFill/>
          </a:ln>
        </p:spPr>
      </p:pic>
    </p:spTree>
  </p:cSld>
  <p:transition spd="med">
    <p:zoom dir="out"/>
  </p:transition>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Rectangle 1"/>
          <p:cNvSpPr/>
          <p:nvPr/>
        </p:nvSpPr>
        <p:spPr>
          <a:xfrm>
            <a:off x="450720" y="1916280"/>
            <a:ext cx="8298000" cy="3751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Outre la croissance osseuse et musculaire, l’adolescence est aussi marquée par les transformations des rapports entre masse grasse (MG) et masse maigre (MM) ou masse sans graisse : os, muscles, certains viscères… .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 prise de masse grasse au cours de l’adolescence présente beaucoup d’intérêt tant au niveau de la performance motrice qu’une surcharge en graisse peut handicaper qu’au niveau de la santé. </a:t>
            </a:r>
            <a:endParaRPr b="0" lang="en-US" sz="2400" strike="noStrike" u="none">
              <a:solidFill>
                <a:srgbClr val="ffff00"/>
              </a:solidFill>
              <a:effectLst/>
              <a:uFillTx/>
              <a:latin typeface="Times New Roman"/>
            </a:endParaRPr>
          </a:p>
        </p:txBody>
      </p:sp>
    </p:spTree>
  </p:cSld>
  <p:transition spd="med">
    <p:zoom dir="out"/>
  </p:transition>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Rectangle 1"/>
          <p:cNvSpPr/>
          <p:nvPr/>
        </p:nvSpPr>
        <p:spPr>
          <a:xfrm>
            <a:off x="0" y="549360"/>
            <a:ext cx="8929800" cy="7289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alibri"/>
                <a:ea typeface="Calibri"/>
              </a:rPr>
              <a:t>Pour les adolescents comme pour les enfants, Slaughter et al proposent les équations suivantes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ffffff"/>
                </a:solidFill>
                <a:effectLst/>
                <a:uFillTx/>
                <a:latin typeface="Calibri"/>
                <a:ea typeface="Calibri"/>
              </a:rPr>
              <a:t>Avec plis cutanés tricipital et du mollet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Garçons : % graisse = 0,735 x (somme des deux plis) + 1,0 (tous âges)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Filles : % graisse = 0,610 x (somme des deux plis) + 5,0 (tous âges)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ffffff"/>
                </a:solidFill>
                <a:effectLst/>
                <a:uFillTx/>
                <a:latin typeface="Calibri"/>
                <a:ea typeface="Calibri"/>
              </a:rPr>
              <a:t>Avec plis cutanés tricipital et subscapulaire</a:t>
            </a:r>
            <a:r>
              <a:rPr b="0"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(&gt; 35mm):</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Garçons : % graisse = 0,783 x somme des deux plis + I*</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Filles : % graisse = 0,546 x somme des deux plis + 9,7</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ffffff"/>
                </a:solidFill>
                <a:effectLst/>
                <a:uFillTx/>
                <a:latin typeface="Calibri"/>
                <a:ea typeface="Calibri"/>
              </a:rPr>
              <a:t>Avec plis cutanés tricipital et subscapulaire</a:t>
            </a:r>
            <a:r>
              <a:rPr b="0" lang="fr-FR" sz="2000" strike="noStrike" u="none">
                <a:solidFill>
                  <a:srgbClr val="ffffff"/>
                </a:solidFill>
                <a:effectLst/>
                <a:uFillTx/>
                <a:latin typeface="Calibri"/>
                <a:ea typeface="Calibri"/>
              </a:rPr>
              <a:t> </a:t>
            </a:r>
            <a:r>
              <a:rPr b="1" i="1" lang="fr-FR" sz="2000" strike="noStrike" u="none">
                <a:solidFill>
                  <a:srgbClr val="ffffff"/>
                </a:solidFill>
                <a:effectLst/>
                <a:uFillTx/>
                <a:latin typeface="Calibri"/>
                <a:ea typeface="Calibri"/>
              </a:rPr>
              <a:t>(&lt; 35mm):</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Garçons : % graisse = 1,21 x (somme des plis) – 0,008 x (somme des plis)</a:t>
            </a:r>
            <a:r>
              <a:rPr b="1" lang="fr-FR" sz="2000" strike="noStrike" u="none" baseline="30000">
                <a:solidFill>
                  <a:srgbClr val="ffff00"/>
                </a:solidFill>
                <a:effectLst/>
                <a:uFillTx/>
                <a:latin typeface="Calibri"/>
                <a:ea typeface="Calibri"/>
              </a:rPr>
              <a:t>2</a:t>
            </a:r>
            <a:r>
              <a:rPr b="0" lang="fr-FR" sz="2000" strike="noStrike" u="none">
                <a:solidFill>
                  <a:srgbClr val="ffff00"/>
                </a:solidFill>
                <a:effectLst/>
                <a:uFillTx/>
                <a:latin typeface="Calibri"/>
                <a:ea typeface="Calibri"/>
              </a:rPr>
              <a:t> + I*</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Filles : % graisse = 0,546 x (somme des plis)</a:t>
            </a:r>
            <a:r>
              <a:rPr b="1" lang="fr-FR" sz="2000" strike="noStrike" u="none" baseline="30000">
                <a:solidFill>
                  <a:srgbClr val="ffff00"/>
                </a:solidFill>
                <a:effectLst/>
                <a:uFillTx/>
                <a:latin typeface="Calibri"/>
                <a:ea typeface="Calibri"/>
              </a:rPr>
              <a:t>2</a:t>
            </a:r>
            <a:r>
              <a:rPr b="0" lang="fr-FR" sz="2000" strike="noStrike" u="none">
                <a:solidFill>
                  <a:srgbClr val="ffff00"/>
                </a:solidFill>
                <a:effectLst/>
                <a:uFillTx/>
                <a:latin typeface="Calibri"/>
                <a:ea typeface="Calibri"/>
              </a:rPr>
              <a:t> – 0,013 (somme des plis + 2,5 (2,0 africain ; 3,0 caucasien)</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Calibri"/>
              </a:rPr>
              <a:t>* Voir tableau diapo suivante</a:t>
            </a:r>
            <a:endParaRPr b="0" lang="en-US" sz="2000" strike="noStrike" u="none">
              <a:solidFill>
                <a:srgbClr val="ffff00"/>
              </a:solidFill>
              <a:effectLst/>
              <a:uFillTx/>
              <a:latin typeface="Times New Roman"/>
            </a:endParaRPr>
          </a:p>
        </p:txBody>
      </p:sp>
    </p:spTree>
  </p:cSld>
  <p:transition spd="med">
    <p:zoom dir="out"/>
  </p:transition>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56" name=""/>
          <p:cNvGraphicFramePr/>
          <p:nvPr/>
        </p:nvGraphicFramePr>
        <p:xfrm>
          <a:off x="971640" y="1773360"/>
          <a:ext cx="6192720" cy="1726920"/>
        </p:xfrm>
        <a:graphic>
          <a:graphicData uri="http://schemas.openxmlformats.org/drawingml/2006/table">
            <a:tbl>
              <a:tblPr/>
              <a:tblGrid>
                <a:gridCol w="6192720"/>
              </a:tblGrid>
              <a:tr h="555480">
                <a:tc>
                  <a:txBody>
                    <a:bodyPr lIns="68760" rIns="68760" tIns="0" bIns="0" anchor="t">
                      <a:noAutofit/>
                    </a:bodyPr>
                    <a:p>
                      <a:pPr algn="just">
                        <a:lnSpc>
                          <a:spcPct val="114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Maturation                 Type africain                       Type caucasien</a:t>
                      </a:r>
                      <a:endParaRPr b="0" lang="en-US" sz="1600" strike="noStrike" u="none">
                        <a:solidFill>
                          <a:srgbClr val="ffff00"/>
                        </a:solidFill>
                        <a:effectLst/>
                        <a:uFillTx/>
                        <a:latin typeface="Times New Roman"/>
                      </a:endParaRPr>
                    </a:p>
                  </a:txBody>
                  <a:tcPr anchor="t" marL="68760" marR="68760">
                    <a:lnL w="5760">
                      <a:solidFill>
                        <a:srgbClr val="ffff00"/>
                      </a:solidFill>
                      <a:prstDash val="solid"/>
                    </a:lnL>
                    <a:lnR w="5760">
                      <a:solidFill>
                        <a:srgbClr val="ffff00"/>
                      </a:solidFill>
                      <a:prstDash val="solid"/>
                    </a:lnR>
                    <a:lnT w="5760">
                      <a:solidFill>
                        <a:srgbClr val="ffff00"/>
                      </a:solidFill>
                      <a:prstDash val="solid"/>
                    </a:lnT>
                    <a:lnB w="18720">
                      <a:solidFill>
                        <a:srgbClr val="ffff00"/>
                      </a:solidFill>
                      <a:prstDash val="solid"/>
                    </a:lnB>
                    <a:noFill/>
                  </a:tcPr>
                </a:tc>
              </a:tr>
              <a:tr h="2220840">
                <a:tc>
                  <a:txBody>
                    <a:bodyPr lIns="68760" rIns="68760" tIns="0" bIns="0" anchor="t">
                      <a:noAutofit/>
                    </a:bodyPr>
                    <a:p>
                      <a:pPr algn="just">
                        <a:lnSpc>
                          <a:spcPct val="114000"/>
                        </a:lnSpc>
                        <a:tabLst>
                          <a:tab algn="l" pos="0"/>
                          <a:tab algn="l" pos="3763800"/>
                          <a:tab algn="l" pos="391788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Pré pubère                       - 3,5                                     - 1,7</a:t>
                      </a:r>
                      <a:endParaRPr b="0" lang="en-US" sz="1600" strike="noStrike" u="none">
                        <a:solidFill>
                          <a:srgbClr val="ffff00"/>
                        </a:solidFill>
                        <a:effectLst/>
                        <a:uFillTx/>
                        <a:latin typeface="Times New Roman"/>
                      </a:endParaRPr>
                    </a:p>
                    <a:p>
                      <a:pPr algn="just">
                        <a:lnSpc>
                          <a:spcPct val="114000"/>
                        </a:lnSpc>
                        <a:tabLst>
                          <a:tab algn="l" pos="0"/>
                          <a:tab algn="l" pos="3763800"/>
                          <a:tab algn="l" pos="391788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Pubère                              - 5,2                                     - 3,4</a:t>
                      </a:r>
                      <a:endParaRPr b="0" lang="en-US" sz="1600" strike="noStrike" u="none">
                        <a:solidFill>
                          <a:srgbClr val="ffff00"/>
                        </a:solidFill>
                        <a:effectLst/>
                        <a:uFillTx/>
                        <a:latin typeface="Times New Roman"/>
                      </a:endParaRPr>
                    </a:p>
                    <a:p>
                      <a:pPr algn="just">
                        <a:lnSpc>
                          <a:spcPct val="114000"/>
                        </a:lnSpc>
                        <a:tabLst>
                          <a:tab algn="l" pos="0"/>
                          <a:tab algn="l" pos="3763800"/>
                          <a:tab algn="l" pos="391788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Post pubère                     - 6,8                                     -5,5</a:t>
                      </a:r>
                      <a:endParaRPr b="0" lang="en-US" sz="1600" strike="noStrike" u="none">
                        <a:solidFill>
                          <a:srgbClr val="ffff00"/>
                        </a:solidFill>
                        <a:effectLst/>
                        <a:uFillTx/>
                        <a:latin typeface="Times New Roman"/>
                      </a:endParaRPr>
                    </a:p>
                    <a:p>
                      <a:pPr algn="just">
                        <a:lnSpc>
                          <a:spcPct val="114000"/>
                        </a:lnSpc>
                        <a:tabLst>
                          <a:tab algn="l" pos="0"/>
                          <a:tab algn="l" pos="3763800"/>
                          <a:tab algn="l" pos="3917880"/>
                          <a:tab algn="l" pos="4572000"/>
                          <a:tab algn="l" pos="5486400"/>
                          <a:tab algn="l" pos="6400800"/>
                          <a:tab algn="l" pos="7315200"/>
                          <a:tab algn="l" pos="8229600"/>
                          <a:tab algn="l" pos="9144000"/>
                          <a:tab algn="l" pos="10058400"/>
                        </a:tabLst>
                      </a:pPr>
                      <a:r>
                        <a:rPr b="1" lang="fr-FR" sz="1600" strike="noStrike" u="none">
                          <a:solidFill>
                            <a:srgbClr val="ffffff"/>
                          </a:solidFill>
                          <a:effectLst/>
                          <a:uFillTx/>
                          <a:latin typeface="Calibri"/>
                          <a:ea typeface="Calibri"/>
                        </a:rPr>
                        <a:t>Adulte                               - 6,8                                     - 5,5</a:t>
                      </a:r>
                      <a:endParaRPr b="0" lang="en-US" sz="1600" strike="noStrike" u="none">
                        <a:solidFill>
                          <a:srgbClr val="ffff00"/>
                        </a:solidFill>
                        <a:effectLst/>
                        <a:uFillTx/>
                        <a:latin typeface="Times New Roman"/>
                      </a:endParaRPr>
                    </a:p>
                  </a:txBody>
                  <a:tcPr anchor="t" marL="68760" marR="68760">
                    <a:lnL w="5760">
                      <a:solidFill>
                        <a:srgbClr val="ffff00"/>
                      </a:solidFill>
                      <a:prstDash val="solid"/>
                    </a:lnL>
                    <a:lnR w="5760">
                      <a:solidFill>
                        <a:srgbClr val="ffff00"/>
                      </a:solidFill>
                      <a:prstDash val="solid"/>
                    </a:lnR>
                    <a:lnT w="18720">
                      <a:solidFill>
                        <a:srgbClr val="ffff00"/>
                      </a:solidFill>
                      <a:prstDash val="solid"/>
                    </a:lnT>
                    <a:lnB w="5760">
                      <a:solidFill>
                        <a:srgbClr val="ffff00"/>
                      </a:solidFill>
                      <a:prstDash val="solid"/>
                    </a:lnB>
                    <a:noFill/>
                  </a:tcPr>
                </a:tc>
              </a:tr>
            </a:tbl>
          </a:graphicData>
        </a:graphic>
      </p:graphicFrame>
      <p:sp>
        <p:nvSpPr>
          <p:cNvPr id="857" name="Rectangle 4"/>
          <p:cNvSpPr/>
          <p:nvPr/>
        </p:nvSpPr>
        <p:spPr>
          <a:xfrm>
            <a:off x="108000" y="260280"/>
            <a:ext cx="8923320" cy="16185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3765600"/>
                <a:tab algn="l" pos="391968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Times New Roman"/>
              </a:rPr>
              <a:t>* : varie avec le niveau de maturation et le type caucasien ou africain </a:t>
            </a:r>
            <a:endParaRPr b="0" lang="en-US" sz="2000" strike="noStrike" u="none">
              <a:solidFill>
                <a:srgbClr val="ffff00"/>
              </a:solidFill>
              <a:effectLst/>
              <a:uFillTx/>
              <a:latin typeface="Times New Roman"/>
            </a:endParaRPr>
          </a:p>
          <a:p>
            <a:pPr algn="just">
              <a:lnSpc>
                <a:spcPct val="100000"/>
              </a:lnSpc>
              <a:tabLst>
                <a:tab algn="l" pos="0"/>
                <a:tab algn="l" pos="3765600"/>
                <a:tab algn="l" pos="391968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just">
              <a:lnSpc>
                <a:spcPct val="100000"/>
              </a:lnSpc>
              <a:tabLst>
                <a:tab algn="l" pos="0"/>
                <a:tab algn="l" pos="3765600"/>
                <a:tab algn="l" pos="3919680"/>
                <a:tab algn="l" pos="4572000"/>
                <a:tab algn="l" pos="5486400"/>
                <a:tab algn="l" pos="6400800"/>
                <a:tab algn="l" pos="7315200"/>
                <a:tab algn="l" pos="8229600"/>
                <a:tab algn="l" pos="9144000"/>
                <a:tab algn="l" pos="10058400"/>
              </a:tabLst>
            </a:pPr>
            <a:r>
              <a:rPr b="0" i="1" lang="fr-FR" sz="2000" strike="noStrike" u="none">
                <a:solidFill>
                  <a:srgbClr val="ffff00"/>
                </a:solidFill>
                <a:effectLst/>
                <a:uFillTx/>
                <a:latin typeface="Calibri"/>
                <a:ea typeface="Times New Roman"/>
              </a:rPr>
              <a:t>Indices de correction des différentes formules en fonction du stade de maturation et du type.</a:t>
            </a:r>
            <a:endParaRPr b="0" lang="en-US" sz="2000" strike="noStrike" u="none">
              <a:solidFill>
                <a:srgbClr val="ffff00"/>
              </a:solidFill>
              <a:effectLst/>
              <a:uFillTx/>
              <a:latin typeface="Times New Roman"/>
            </a:endParaRPr>
          </a:p>
        </p:txBody>
      </p:sp>
      <p:sp>
        <p:nvSpPr>
          <p:cNvPr id="858" name="ZoneTexte 5"/>
          <p:cNvSpPr/>
          <p:nvPr/>
        </p:nvSpPr>
        <p:spPr>
          <a:xfrm>
            <a:off x="-4680" y="3716280"/>
            <a:ext cx="9036000" cy="3521880"/>
          </a:xfrm>
          <a:prstGeom prst="rect">
            <a:avLst/>
          </a:prstGeom>
          <a:noFill/>
          <a:ln w="0">
            <a:noFill/>
          </a:ln>
        </p:spPr>
        <p:style>
          <a:lnRef idx="0"/>
          <a:fillRef idx="0"/>
          <a:effectRef idx="0"/>
          <a:fontRef idx="minor"/>
        </p:style>
        <p:txBody>
          <a:bodyPr lIns="90000" rIns="90000" tIns="46800" bIns="46800" anchor="t">
            <a:spAutoFit/>
          </a:bodyPr>
          <a:p>
            <a:pPr algn="just">
              <a:lnSpc>
                <a:spcPts val="2999"/>
              </a:lnSpc>
              <a:tabLst>
                <a:tab algn="l" pos="0"/>
                <a:tab algn="l" pos="3765600"/>
                <a:tab algn="l" pos="391968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Times New Roman"/>
              </a:rPr>
              <a:t>Par exemple avec un adolescent de type caucasien ayant une maturation située au stade pubertaire (niveau II échelle de Tanner) et dont les plis seraient respectivement 15 et 12 mm, le % de graisse serait : 1,21 (27) – 0,008 (27)2 – 3,4 = 23,4 % </a:t>
            </a:r>
            <a:endParaRPr b="0" lang="en-US" sz="2000" strike="noStrike" u="none">
              <a:solidFill>
                <a:srgbClr val="ffff00"/>
              </a:solidFill>
              <a:effectLst/>
              <a:uFillTx/>
              <a:latin typeface="Times New Roman"/>
            </a:endParaRPr>
          </a:p>
          <a:p>
            <a:pPr algn="just">
              <a:lnSpc>
                <a:spcPts val="2999"/>
              </a:lnSpc>
              <a:tabLst>
                <a:tab algn="l" pos="0"/>
                <a:tab algn="l" pos="3765600"/>
                <a:tab algn="l" pos="391968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gn="just">
              <a:lnSpc>
                <a:spcPts val="2999"/>
              </a:lnSpc>
              <a:tabLst>
                <a:tab algn="l" pos="0"/>
                <a:tab algn="l" pos="3765600"/>
                <a:tab algn="l" pos="391968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Calibri"/>
                <a:ea typeface="Times New Roman"/>
              </a:rPr>
              <a:t>Son poids de MG (en kg) et sa MM (en kg) pourraient donc être estimées aussi, par exemple si le poids de cet adolescent était 55 kg, son poids de MG serait : 55/100*23,5 = 12,9 kg et son poids de MM serait alors de : 55 – 12,9 = 42,1 kg. </a:t>
            </a:r>
            <a:endParaRPr b="0" lang="en-US" sz="2000" strike="noStrike" u="none">
              <a:solidFill>
                <a:srgbClr val="ffff00"/>
              </a:solidFill>
              <a:effectLst/>
              <a:uFillTx/>
              <a:latin typeface="Times New Roman"/>
            </a:endParaRPr>
          </a:p>
        </p:txBody>
      </p:sp>
    </p:spTree>
  </p:cSld>
  <p:transition spd="med">
    <p:zoom dir="out"/>
  </p:transition>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Rectangle 1"/>
          <p:cNvSpPr/>
          <p:nvPr/>
        </p:nvSpPr>
        <p:spPr>
          <a:xfrm>
            <a:off x="220680" y="1773360"/>
            <a:ext cx="8928000" cy="2655720"/>
          </a:xfrm>
          <a:prstGeom prst="rect">
            <a:avLst/>
          </a:prstGeom>
          <a:noFill/>
          <a:ln w="0">
            <a:noFill/>
          </a:ln>
        </p:spPr>
        <p:style>
          <a:lnRef idx="0"/>
          <a:fillRef idx="0"/>
          <a:effectRef idx="0"/>
          <a:fontRef idx="minor"/>
        </p:style>
        <p:txBody>
          <a:bodyPr lIns="90000" rIns="90000" tIns="46800" bIns="46800" anchor="t">
            <a:spAutoFit/>
          </a:bodyPr>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 Timing » et « tempo »… </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Comment évolue de la composition corporelle </a:t>
            </a:r>
            <a:endParaRPr b="0" lang="en-US" sz="28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alibri"/>
                <a:ea typeface="Calibri"/>
              </a:rPr>
              <a:t>au cours de l’adolescence ?</a:t>
            </a:r>
            <a:endParaRPr b="0" lang="en-US" sz="2800" strike="noStrike" u="none">
              <a:solidFill>
                <a:srgbClr val="ffff00"/>
              </a:solidFill>
              <a:effectLst/>
              <a:uFillTx/>
              <a:latin typeface="Times New Roman"/>
            </a:endParaRPr>
          </a:p>
        </p:txBody>
      </p:sp>
    </p:spTree>
  </p:cSld>
  <p:transition spd="med">
    <p:zoom dir="out"/>
  </p:transition>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0" name="Image 1" descr=""/>
          <p:cNvPicPr/>
          <p:nvPr/>
        </p:nvPicPr>
        <p:blipFill>
          <a:blip r:embed="rId1"/>
          <a:srcRect l="20667" t="18851" r="24803" b="7126"/>
          <a:stretch/>
        </p:blipFill>
        <p:spPr>
          <a:xfrm>
            <a:off x="971640" y="189000"/>
            <a:ext cx="6480000" cy="4464000"/>
          </a:xfrm>
          <a:prstGeom prst="rect">
            <a:avLst/>
          </a:prstGeom>
          <a:noFill/>
          <a:ln w="9360">
            <a:solidFill>
              <a:srgbClr val="000000"/>
            </a:solidFill>
            <a:miter/>
          </a:ln>
        </p:spPr>
      </p:pic>
      <p:sp>
        <p:nvSpPr>
          <p:cNvPr id="861" name="Zone de texte 249"/>
          <p:cNvSpPr/>
          <p:nvPr/>
        </p:nvSpPr>
        <p:spPr>
          <a:xfrm>
            <a:off x="0" y="4724280"/>
            <a:ext cx="9144000" cy="1989360"/>
          </a:xfrm>
          <a:prstGeom prst="rect">
            <a:avLst/>
          </a:prstGeom>
          <a:solidFill>
            <a:srgbClr val="ffffff"/>
          </a:solidFill>
          <a:ln w="0">
            <a:noFill/>
          </a:ln>
        </p:spPr>
        <p:style>
          <a:lnRef idx="0"/>
          <a:fillRef idx="0"/>
          <a:effectRef idx="0"/>
          <a:fontRef idx="minor"/>
        </p:style>
        <p:txBody>
          <a:bodyPr lIns="90000" rIns="90000" tIns="46800" bIns="46800" anchor="t">
            <a:noAutofit/>
          </a:bodyPr>
          <a:p>
            <a:pPr algn="just">
              <a:lnSpc>
                <a:spcPct val="114000"/>
              </a:lnSpc>
              <a:spcAft>
                <a:spcPts val="9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600" strike="noStrike" u="none">
                <a:solidFill>
                  <a:srgbClr val="000000"/>
                </a:solidFill>
                <a:effectLst/>
                <a:uFillTx/>
                <a:latin typeface="Calibri"/>
                <a:ea typeface="Garamond"/>
              </a:rPr>
              <a:t>Evolution  semestrielle (mm par ½ année) des tissus musculaire et graisseux du bras et de la jambe de garçons ♂ et de filles ♀, alignée sur la vitesse maximum de croissance (pic de croissance). D’après Tanner et al. [4]. On remarquera 1) l’augmentation importante de la masse musculaire chez le garçon et la prise supérieure de tissu graisseux chez la fille, 2)  l’alignement du pic de vitesse de prise de masse musculaire sur le pic de vitesse de croissance chez le garçon mais non chez la fille, 3) la baisse de vitesse de prise de tissu graisseux, surtout chez le garçon, à proximité du pic de croissance, 4) l’importance de la prise de tissu graisseux au niveau du bras chez la fille caractéristique qui demeurera chez la femme adulte.  </a:t>
            </a:r>
            <a:endParaRPr b="0" lang="en-US" sz="1600" strike="noStrike" u="none">
              <a:solidFill>
                <a:srgbClr val="ffff00"/>
              </a:solidFill>
              <a:effectLst/>
              <a:uFillTx/>
              <a:latin typeface="Times New Roman"/>
            </a:endParaRPr>
          </a:p>
          <a:p>
            <a:pPr>
              <a:lnSpc>
                <a:spcPct val="114000"/>
              </a:lnSpc>
              <a:spcAft>
                <a:spcPts val="9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100" strike="noStrike" u="none">
                <a:solidFill>
                  <a:srgbClr val="000000"/>
                </a:solidFill>
                <a:effectLst/>
                <a:uFillTx/>
                <a:latin typeface="Garamond"/>
                <a:ea typeface="Garamond"/>
              </a:rPr>
              <a:t> </a:t>
            </a:r>
            <a:endParaRPr b="0" lang="en-US" sz="1100" strike="noStrike" u="none">
              <a:solidFill>
                <a:srgbClr val="ffff00"/>
              </a:solidFill>
              <a:effectLst/>
              <a:uFillTx/>
              <a:latin typeface="Times New Roman"/>
            </a:endParaRPr>
          </a:p>
        </p:txBody>
      </p:sp>
    </p:spTree>
  </p:cSld>
  <p:transition spd="med">
    <p:zoom dir="out"/>
  </p:transition>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Rectangle 1"/>
          <p:cNvSpPr/>
          <p:nvPr/>
        </p:nvSpPr>
        <p:spPr>
          <a:xfrm>
            <a:off x="1440" y="549360"/>
            <a:ext cx="9036360" cy="6591240"/>
          </a:xfrm>
          <a:prstGeom prst="rect">
            <a:avLst/>
          </a:prstGeom>
          <a:noFill/>
          <a:ln w="0">
            <a:noFill/>
          </a:ln>
        </p:spPr>
        <p:style>
          <a:lnRef idx="0"/>
          <a:fillRef idx="0"/>
          <a:effectRef idx="0"/>
          <a:fontRef idx="minor"/>
        </p:style>
        <p:txBody>
          <a:bodyPr lIns="90000" rIns="90000" tIns="46800" bIns="46800" anchor="t">
            <a:spAutoFit/>
          </a:bodyPr>
          <a:p>
            <a:pPr>
              <a:lnSpc>
                <a:spcPts val="3197"/>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Les évolutions de la MG et de la MM sont à prendre en compte tant dans leurs rapports avec l’adolescence, aussi bien concernant les garçons que des filles, que dans le dimorphisme inter sexe qu’elles entraînent au cours de cette période.</a:t>
            </a:r>
            <a:endParaRPr b="0" lang="en-US" sz="2400" strike="noStrike" u="none">
              <a:solidFill>
                <a:srgbClr val="ffff00"/>
              </a:solidFill>
              <a:effectLst/>
              <a:uFillTx/>
              <a:latin typeface="Times New Roman"/>
            </a:endParaRPr>
          </a:p>
          <a:p>
            <a:pPr>
              <a:lnSpc>
                <a:spcPts val="3197"/>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ts val="3197"/>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A nouveau, les hormones peuvent expliquer une part importante des évolutions de la composition corporelle. Par leur caractère anabolisant, testostérone, hormone de croissance et IGF-1 sont à l’origine de l’augmentation de la MM alors que les œstrogènes favorisent le développement du tissu graisseux.</a:t>
            </a:r>
            <a:endParaRPr b="0" lang="en-US" sz="2400" strike="noStrike" u="none">
              <a:solidFill>
                <a:srgbClr val="ffff00"/>
              </a:solidFill>
              <a:effectLst/>
              <a:uFillTx/>
              <a:latin typeface="Times New Roman"/>
            </a:endParaRPr>
          </a:p>
          <a:p>
            <a:pPr>
              <a:lnSpc>
                <a:spcPts val="3197"/>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ts val="3197"/>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Notons encore que ces évolutions dépendent aussi de facteurs génétiques, de la nutrition et  de la pratique ou non de l’activité physique</a:t>
            </a:r>
            <a:endParaRPr b="0" lang="en-US" sz="2400" strike="noStrike" u="none">
              <a:solidFill>
                <a:srgbClr val="ffff00"/>
              </a:solidFill>
              <a:effectLst/>
              <a:uFillTx/>
              <a:latin typeface="Times New Roman"/>
            </a:endParaRPr>
          </a:p>
        </p:txBody>
      </p:sp>
    </p:spTree>
  </p:cSld>
  <p:transition spd="med">
    <p:zoom dir="out"/>
  </p:transition>
  <p:timing>
    <p:tnLst>
      <p:par>
        <p:cTn id="1272" dur="indefinite" restart="never" nodeType="tmRoot">
          <p:childTnLst>
            <p:seq>
              <p:cTn id="1273" dur="indefinite" nodeType="mainSeq">
                <p:childTnLst>
                  <p:par>
                    <p:cTn id="1274" nodeType="clickEffect" fill="hold">
                      <p:stCondLst>
                        <p:cond delay="indefinite"/>
                      </p:stCondLst>
                      <p:childTnLst>
                        <p:par>
                          <p:cTn id="1275" nodeType="withEffect" fill="hold">
                            <p:stCondLst>
                              <p:cond delay="0"/>
                            </p:stCondLst>
                            <p:childTnLst>
                              <p:par>
                                <p:cTn id="1276" nodeType="clickEffect" fill="hold" presetClass="entr" presetID="22" presetSubtype="8" repeatCount="1000">
                                  <p:stCondLst>
                                    <p:cond delay="0"/>
                                  </p:stCondLst>
                                  <p:childTnLst>
                                    <p:set>
                                      <p:cBhvr>
                                        <p:cTn id="1277" dur="1" fill="hold">
                                          <p:stCondLst>
                                            <p:cond delay="0"/>
                                          </p:stCondLst>
                                        </p:cTn>
                                        <p:tgtEl>
                                          <p:spTgt spid="862">
                                            <p:txEl>
                                              <p:pRg st="2" end="2"/>
                                            </p:txEl>
                                          </p:spTgt>
                                        </p:tgtEl>
                                        <p:attrNameLst>
                                          <p:attrName>style.visibility</p:attrName>
                                        </p:attrNameLst>
                                      </p:cBhvr>
                                      <p:to>
                                        <p:strVal val="visible"/>
                                      </p:to>
                                    </p:set>
                                    <p:animEffect filter="wipe(left)" transition="in">
                                      <p:cBhvr additive="repl">
                                        <p:cTn id="1278" dur="2000"/>
                                        <p:tgtEl>
                                          <p:spTgt spid="862">
                                            <p:txEl>
                                              <p:pRg st="2" end="2"/>
                                            </p:txEl>
                                          </p:spTgt>
                                        </p:tgtEl>
                                      </p:cBhvr>
                                    </p:animEffect>
                                  </p:childTnLst>
                                </p:cTn>
                              </p:par>
                            </p:childTnLst>
                          </p:cTn>
                        </p:par>
                      </p:childTnLst>
                    </p:cTn>
                  </p:par>
                  <p:par>
                    <p:cTn id="1279" nodeType="clickEffect" fill="hold">
                      <p:stCondLst>
                        <p:cond delay="indefinite"/>
                      </p:stCondLst>
                      <p:childTnLst>
                        <p:par>
                          <p:cTn id="1280" nodeType="withEffect" fill="hold">
                            <p:stCondLst>
                              <p:cond delay="0"/>
                            </p:stCondLst>
                            <p:childTnLst>
                              <p:par>
                                <p:cTn id="1281" nodeType="clickEffect" fill="hold" presetClass="entr" presetID="22" presetSubtype="8" repeatCount="1000">
                                  <p:stCondLst>
                                    <p:cond delay="0"/>
                                  </p:stCondLst>
                                  <p:childTnLst>
                                    <p:set>
                                      <p:cBhvr>
                                        <p:cTn id="1282" dur="1" fill="hold">
                                          <p:stCondLst>
                                            <p:cond delay="0"/>
                                          </p:stCondLst>
                                        </p:cTn>
                                        <p:tgtEl>
                                          <p:spTgt spid="862">
                                            <p:txEl>
                                              <p:pRg st="4" end="4"/>
                                            </p:txEl>
                                          </p:spTgt>
                                        </p:tgtEl>
                                        <p:attrNameLst>
                                          <p:attrName>style.visibility</p:attrName>
                                        </p:attrNameLst>
                                      </p:cBhvr>
                                      <p:to>
                                        <p:strVal val="visible"/>
                                      </p:to>
                                    </p:set>
                                    <p:animEffect filter="wipe(left)" transition="in">
                                      <p:cBhvr additive="repl">
                                        <p:cTn id="1283" dur="2000"/>
                                        <p:tgtEl>
                                          <p:spTgt spid="86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Rectangle 1"/>
          <p:cNvSpPr/>
          <p:nvPr/>
        </p:nvSpPr>
        <p:spPr>
          <a:xfrm>
            <a:off x="108000" y="1628640"/>
            <a:ext cx="8856720" cy="503172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La MM augmente de façon très importante chez le garçon au moment de la puberté et la vitesse maximum de prise de masse musculaire (pic) correspond parfaitement au pic de croissance osseuse (figure), ce qui permet de penser ici aussi aux effets hormonaux et plus particulièrement aux effets anabolisants de la testostérone.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En effet, cette accélération de la vitesse de prise de masse musculaire ne s’observe pas ou peu chez la fille.</a:t>
            </a:r>
            <a:endParaRPr b="0" lang="en-US" sz="2400" strike="noStrike" u="none">
              <a:solidFill>
                <a:srgbClr val="ffff00"/>
              </a:solidFill>
              <a:effectLst/>
              <a:uFillTx/>
              <a:latin typeface="Times New Roman"/>
            </a:endParaRPr>
          </a:p>
        </p:txBody>
      </p:sp>
    </p:spTree>
  </p:cSld>
  <p:transition spd="med">
    <p:zoom dir="out"/>
  </p:transition>
  <p:timing>
    <p:tnLst>
      <p:par>
        <p:cTn id="1284" dur="indefinite" restart="never" nodeType="tmRoot">
          <p:childTnLst>
            <p:seq>
              <p:cTn id="1285" dur="indefinite" nodeType="mainSeq">
                <p:childTnLst>
                  <p:par>
                    <p:cTn id="1286" nodeType="clickEffect" fill="hold">
                      <p:stCondLst>
                        <p:cond delay="indefinite"/>
                      </p:stCondLst>
                      <p:childTnLst>
                        <p:par>
                          <p:cTn id="1287" nodeType="withEffect" fill="hold">
                            <p:stCondLst>
                              <p:cond delay="0"/>
                            </p:stCondLst>
                            <p:childTnLst>
                              <p:par>
                                <p:cTn id="1288" nodeType="clickEffect" fill="hold" presetClass="entr" presetID="22" presetSubtype="8" repeatCount="1000">
                                  <p:stCondLst>
                                    <p:cond delay="0"/>
                                  </p:stCondLst>
                                  <p:childTnLst>
                                    <p:set>
                                      <p:cBhvr>
                                        <p:cTn id="1289" dur="1" fill="hold">
                                          <p:stCondLst>
                                            <p:cond delay="0"/>
                                          </p:stCondLst>
                                        </p:cTn>
                                        <p:tgtEl>
                                          <p:spTgt spid="863"/>
                                        </p:tgtEl>
                                        <p:attrNameLst>
                                          <p:attrName>style.visibility</p:attrName>
                                        </p:attrNameLst>
                                      </p:cBhvr>
                                      <p:to>
                                        <p:strVal val="visible"/>
                                      </p:to>
                                    </p:set>
                                    <p:animEffect filter="wipe(left)" transition="in">
                                      <p:cBhvr additive="repl">
                                        <p:cTn id="1290" dur="2500"/>
                                        <p:tgtEl>
                                          <p:spTgt spid="8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Rectangle 1"/>
          <p:cNvSpPr/>
          <p:nvPr/>
        </p:nvSpPr>
        <p:spPr>
          <a:xfrm>
            <a:off x="179280" y="1720800"/>
            <a:ext cx="8785440" cy="338580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Au cours de la puberté, une importante différence s’accroît tant au niveau de la MM que de la MG entre garçons et filles (figure 9) ce qui explique les moindres performances motrices atteintes par ces dernières, surtout aux épreuves nécessitant de la force et de la puissance musculaire. </a:t>
            </a:r>
            <a:endParaRPr b="0" lang="en-US" sz="2400" strike="noStrike" u="none">
              <a:solidFill>
                <a:srgbClr val="ffff00"/>
              </a:solidFill>
              <a:effectLst/>
              <a:uFillTx/>
              <a:latin typeface="Times New Roman"/>
            </a:endParaRPr>
          </a:p>
        </p:txBody>
      </p:sp>
    </p:spTree>
  </p:cSld>
  <p:transition spd="med">
    <p:zoom dir="out"/>
  </p:transition>
  <p:timing>
    <p:tnLst>
      <p:par>
        <p:cTn id="1291" dur="indefinite" restart="never" nodeType="tmRoot">
          <p:childTnLst>
            <p:seq>
              <p:cTn id="1292" dur="indefinite" nodeType="mainSeq">
                <p:childTnLst>
                  <p:par>
                    <p:cTn id="1293" nodeType="clickEffect" fill="hold">
                      <p:stCondLst>
                        <p:cond delay="indefinite"/>
                      </p:stCondLst>
                      <p:childTnLst>
                        <p:par>
                          <p:cTn id="1294" nodeType="withEffect" fill="hold">
                            <p:stCondLst>
                              <p:cond delay="0"/>
                            </p:stCondLst>
                            <p:childTnLst>
                              <p:par>
                                <p:cTn id="1295" nodeType="clickEffect" fill="hold" presetClass="entr" presetID="22" presetSubtype="8" repeatCount="1000">
                                  <p:stCondLst>
                                    <p:cond delay="0"/>
                                  </p:stCondLst>
                                  <p:childTnLst>
                                    <p:set>
                                      <p:cBhvr>
                                        <p:cTn id="1296" dur="1" fill="hold">
                                          <p:stCondLst>
                                            <p:cond delay="0"/>
                                          </p:stCondLst>
                                        </p:cTn>
                                        <p:tgtEl>
                                          <p:spTgt spid="864"/>
                                        </p:tgtEl>
                                        <p:attrNameLst>
                                          <p:attrName>style.visibility</p:attrName>
                                        </p:attrNameLst>
                                      </p:cBhvr>
                                      <p:to>
                                        <p:strVal val="visible"/>
                                      </p:to>
                                    </p:set>
                                    <p:animEffect filter="wipe(left)" transition="in">
                                      <p:cBhvr additive="repl">
                                        <p:cTn id="1297" dur="2500"/>
                                        <p:tgtEl>
                                          <p:spTgt spid="8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Rectangle 1"/>
          <p:cNvSpPr/>
          <p:nvPr/>
        </p:nvSpPr>
        <p:spPr>
          <a:xfrm>
            <a:off x="179280" y="692280"/>
            <a:ext cx="8713800" cy="667764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Alors que, probablement sous l’effet de l’hormone de croissance, la vitesse de prise de MG se stabilise, voire décroît à proximité du pic de croissance osseuse et ce, tant chez la fille que chez le garçon.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On observe ensuite chez les filles un important rebond dans les deux années qui suivent son pic de croissance osseuse.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Calibri"/>
                <a:ea typeface="Calibri"/>
              </a:rPr>
              <a:t>Les dépôts de graisse sous cutanée se font chez elles surtout au niveau des hanches, des fesses, des cuisses et de la partie postérieure des bras. </a:t>
            </a:r>
            <a:endParaRPr b="0" lang="en-US" sz="2400" strike="noStrike" u="none">
              <a:solidFill>
                <a:srgbClr val="ffff00"/>
              </a:solidFill>
              <a:effectLst/>
              <a:uFillTx/>
              <a:latin typeface="Times New Roman"/>
            </a:endParaRPr>
          </a:p>
        </p:txBody>
      </p:sp>
    </p:spTree>
  </p:cSld>
  <p:transition spd="med">
    <p:zoom dir="out"/>
  </p:transition>
  <p:timing>
    <p:tnLst>
      <p:par>
        <p:cTn id="1298" dur="indefinite" restart="never" nodeType="tmRoot">
          <p:childTnLst>
            <p:seq>
              <p:cTn id="1299" dur="indefinite" nodeType="mainSeq">
                <p:childTnLst>
                  <p:par>
                    <p:cTn id="1300" nodeType="clickEffect" fill="hold">
                      <p:stCondLst>
                        <p:cond delay="indefinite"/>
                      </p:stCondLst>
                      <p:childTnLst>
                        <p:par>
                          <p:cTn id="1301" nodeType="withEffect" fill="hold">
                            <p:stCondLst>
                              <p:cond delay="0"/>
                            </p:stCondLst>
                            <p:childTnLst>
                              <p:par>
                                <p:cTn id="1302" nodeType="clickEffect" fill="hold" presetClass="entr" presetID="22" presetSubtype="1" repeatCount="1000">
                                  <p:stCondLst>
                                    <p:cond delay="0"/>
                                  </p:stCondLst>
                                  <p:childTnLst>
                                    <p:set>
                                      <p:cBhvr>
                                        <p:cTn id="1303" dur="1" fill="hold">
                                          <p:stCondLst>
                                            <p:cond delay="0"/>
                                          </p:stCondLst>
                                        </p:cTn>
                                        <p:tgtEl>
                                          <p:spTgt spid="865">
                                            <p:txEl>
                                              <p:pRg st="0" end="0"/>
                                            </p:txEl>
                                          </p:spTgt>
                                        </p:tgtEl>
                                        <p:attrNameLst>
                                          <p:attrName>style.visibility</p:attrName>
                                        </p:attrNameLst>
                                      </p:cBhvr>
                                      <p:to>
                                        <p:strVal val="visible"/>
                                      </p:to>
                                    </p:set>
                                    <p:animEffect filter="wipe(up)" transition="in">
                                      <p:cBhvr additive="repl">
                                        <p:cTn id="1304" dur="2500"/>
                                        <p:tgtEl>
                                          <p:spTgt spid="865">
                                            <p:txEl>
                                              <p:pRg st="0" end="0"/>
                                            </p:txEl>
                                          </p:spTgt>
                                        </p:tgtEl>
                                      </p:cBhvr>
                                    </p:animEffect>
                                  </p:childTnLst>
                                </p:cTn>
                              </p:par>
                            </p:childTnLst>
                          </p:cTn>
                        </p:par>
                      </p:childTnLst>
                    </p:cTn>
                  </p:par>
                  <p:par>
                    <p:cTn id="1305" nodeType="clickEffect" fill="hold">
                      <p:stCondLst>
                        <p:cond delay="indefinite"/>
                      </p:stCondLst>
                      <p:childTnLst>
                        <p:par>
                          <p:cTn id="1306" nodeType="withEffect" fill="hold">
                            <p:stCondLst>
                              <p:cond delay="0"/>
                            </p:stCondLst>
                            <p:childTnLst>
                              <p:par>
                                <p:cTn id="1307" nodeType="clickEffect" fill="hold" presetClass="entr" presetID="22" presetSubtype="1" repeatCount="1000">
                                  <p:stCondLst>
                                    <p:cond delay="0"/>
                                  </p:stCondLst>
                                  <p:childTnLst>
                                    <p:set>
                                      <p:cBhvr>
                                        <p:cTn id="1308" dur="1" fill="hold">
                                          <p:stCondLst>
                                            <p:cond delay="0"/>
                                          </p:stCondLst>
                                        </p:cTn>
                                        <p:tgtEl>
                                          <p:spTgt spid="865">
                                            <p:txEl>
                                              <p:pRg st="2" end="2"/>
                                            </p:txEl>
                                          </p:spTgt>
                                        </p:tgtEl>
                                        <p:attrNameLst>
                                          <p:attrName>style.visibility</p:attrName>
                                        </p:attrNameLst>
                                      </p:cBhvr>
                                      <p:to>
                                        <p:strVal val="visible"/>
                                      </p:to>
                                    </p:set>
                                    <p:animEffect filter="wipe(up)" transition="in">
                                      <p:cBhvr additive="repl">
                                        <p:cTn id="1309" dur="2500"/>
                                        <p:tgtEl>
                                          <p:spTgt spid="865">
                                            <p:txEl>
                                              <p:pRg st="2" end="2"/>
                                            </p:txEl>
                                          </p:spTgt>
                                        </p:tgtEl>
                                      </p:cBhvr>
                                    </p:animEffect>
                                  </p:childTnLst>
                                </p:cTn>
                              </p:par>
                            </p:childTnLst>
                          </p:cTn>
                        </p:par>
                      </p:childTnLst>
                    </p:cTn>
                  </p:par>
                  <p:par>
                    <p:cTn id="1310" nodeType="clickEffect" fill="hold">
                      <p:stCondLst>
                        <p:cond delay="indefinite"/>
                      </p:stCondLst>
                      <p:childTnLst>
                        <p:par>
                          <p:cTn id="1311" nodeType="withEffect" fill="hold">
                            <p:stCondLst>
                              <p:cond delay="0"/>
                            </p:stCondLst>
                            <p:childTnLst>
                              <p:par>
                                <p:cTn id="1312" nodeType="clickEffect" fill="hold" presetClass="entr" presetID="22" presetSubtype="1" repeatCount="1000">
                                  <p:stCondLst>
                                    <p:cond delay="0"/>
                                  </p:stCondLst>
                                  <p:childTnLst>
                                    <p:set>
                                      <p:cBhvr>
                                        <p:cTn id="1313" dur="1" fill="hold">
                                          <p:stCondLst>
                                            <p:cond delay="0"/>
                                          </p:stCondLst>
                                        </p:cTn>
                                        <p:tgtEl>
                                          <p:spTgt spid="865">
                                            <p:txEl>
                                              <p:pRg st="4" end="4"/>
                                            </p:txEl>
                                          </p:spTgt>
                                        </p:tgtEl>
                                        <p:attrNameLst>
                                          <p:attrName>style.visibility</p:attrName>
                                        </p:attrNameLst>
                                      </p:cBhvr>
                                      <p:to>
                                        <p:strVal val="visible"/>
                                      </p:to>
                                    </p:set>
                                    <p:animEffect filter="wipe(up)" transition="in">
                                      <p:cBhvr additive="repl">
                                        <p:cTn id="1314" dur="2500"/>
                                        <p:tgtEl>
                                          <p:spTgt spid="86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p:nvPr>
        </p:nvSpPr>
        <p:spPr>
          <a:xfrm>
            <a:off x="762120" y="2743200"/>
            <a:ext cx="7772400" cy="4114800"/>
          </a:xfrm>
          <a:prstGeom prst="rect">
            <a:avLst/>
          </a:prstGeom>
          <a:noFill/>
          <a:ln w="0">
            <a:noFill/>
          </a:ln>
        </p:spPr>
        <p:txBody>
          <a:bodyPr lIns="91440" rIns="91440" tIns="45720" bIns="45720" anchor="t">
            <a:normAutofit/>
          </a:bodyPr>
          <a:p>
            <a:pPr marL="343080" indent="-343080" algn="ctr">
              <a:lnSpc>
                <a:spcPct val="13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200" strike="noStrike" u="none">
                <a:solidFill>
                  <a:srgbClr val="ffff00"/>
                </a:solidFill>
                <a:effectLst/>
                <a:uFillTx/>
                <a:latin typeface="Comic Sans MS"/>
              </a:rPr>
              <a:t>    DIFFERENCES ENFANTS, ADOLESCENT, ADULTE</a:t>
            </a:r>
            <a:endParaRPr b="0" lang="en-US" sz="3200" strike="noStrike" u="none">
              <a:solidFill>
                <a:srgbClr val="ffff00"/>
              </a:solidFill>
              <a:effectLst/>
              <a:uFillTx/>
              <a:latin typeface="Times New Roman"/>
            </a:endParaRPr>
          </a:p>
        </p:txBody>
      </p:sp>
      <p:sp>
        <p:nvSpPr>
          <p:cNvPr id="867" name="Rectangle 3"/>
          <p:cNvSpPr/>
          <p:nvPr/>
        </p:nvSpPr>
        <p:spPr>
          <a:xfrm>
            <a:off x="609480" y="1523880"/>
            <a:ext cx="7772400" cy="762120"/>
          </a:xfrm>
          <a:prstGeom prst="rect">
            <a:avLst/>
          </a:prstGeom>
          <a:noFill/>
          <a:ln w="0">
            <a:noFill/>
          </a:ln>
        </p:spPr>
        <p:style>
          <a:lnRef idx="0"/>
          <a:fillRef idx="0"/>
          <a:effectRef idx="0"/>
          <a:fontRef idx="minor"/>
        </p:style>
        <p:txBody>
          <a:bodyPr lIns="90000" rIns="90000" tIns="46800" bIns="46800" anchor="t">
            <a:noAutofit/>
          </a:bodyPr>
          <a:p>
            <a:pPr marL="343080" indent="-343080" algn="ctr">
              <a:lnSpc>
                <a:spcPct val="100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600" strike="noStrike" u="none">
                <a:solidFill>
                  <a:srgbClr val="ffff00"/>
                </a:solidFill>
                <a:effectLst/>
                <a:uFillTx/>
                <a:latin typeface="Comic Sans MS"/>
              </a:rPr>
              <a:t>3 - PERFORMANCES MOTRICES</a:t>
            </a:r>
            <a:endParaRPr b="0" lang="en-US" sz="3600" strike="noStrike" u="none">
              <a:solidFill>
                <a:srgbClr val="ffff00"/>
              </a:solidFill>
              <a:effectLst/>
              <a:uFillTx/>
              <a:latin typeface="Times New Roman"/>
            </a:endParaRPr>
          </a:p>
        </p:txBody>
      </p:sp>
    </p:spTree>
  </p:cSld>
  <p:transition spd="med">
    <p:zoom dir="out"/>
  </p:transition>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title"/>
          </p:nvPr>
        </p:nvSpPr>
        <p:spPr>
          <a:xfrm>
            <a:off x="1295280" y="152280"/>
            <a:ext cx="7391520" cy="127656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600" strike="noStrike" u="none">
                <a:solidFill>
                  <a:srgbClr val="ffff00"/>
                </a:solidFill>
                <a:effectLst/>
                <a:uFillTx/>
                <a:latin typeface="Arial"/>
              </a:rPr>
              <a:t>PERFORMANCES MOTRICES</a:t>
            </a:r>
            <a:endParaRPr b="0" lang="en-US" sz="3600" strike="noStrike" u="none">
              <a:solidFill>
                <a:srgbClr val="ffffff"/>
              </a:solidFill>
              <a:effectLst/>
              <a:uFillTx/>
              <a:latin typeface="Times New Roman"/>
            </a:endParaRPr>
          </a:p>
        </p:txBody>
      </p:sp>
      <p:sp>
        <p:nvSpPr>
          <p:cNvPr id="869" name="PlaceHolder 2"/>
          <p:cNvSpPr>
            <a:spLocks noGrp="1"/>
          </p:cNvSpPr>
          <p:nvPr>
            <p:ph/>
          </p:nvPr>
        </p:nvSpPr>
        <p:spPr>
          <a:xfrm>
            <a:off x="0" y="1295280"/>
            <a:ext cx="9144000" cy="5562720"/>
          </a:xfrm>
          <a:prstGeom prst="rect">
            <a:avLst/>
          </a:prstGeom>
          <a:noFill/>
          <a:ln w="0">
            <a:noFill/>
          </a:ln>
        </p:spPr>
        <p:txBody>
          <a:bodyPr lIns="91440" rIns="91440" tIns="45720" bIns="4572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Les capacités motrices se développent surtout pendant les 18 premières années de la vie, même si chez les filles elles tendent à se stabiliser aux environs de la puberté. </a:t>
            </a:r>
            <a:endParaRPr b="0" lang="en-US" sz="2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    Cette évolution particulière chez les filles s’explique probablement par l’augmentation de la masse grasse sous l’influence des oestrogènes et par le mode de vie plus sédentaire.</a:t>
            </a:r>
            <a:endParaRPr b="0" lang="en-US" sz="2400" strike="noStrike" u="none">
              <a:solidFill>
                <a:srgbClr val="ffff00"/>
              </a:solidFill>
              <a:effectLst/>
              <a:uFillTx/>
              <a:latin typeface="Times New Roman"/>
            </a:endParaRPr>
          </a:p>
          <a:p>
            <a:pPr marL="343080" indent="-343080">
              <a:lnSpc>
                <a:spcPct val="3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La force, la puissance, et la vitesse augmentent proportionnellement à la masse musculaire.</a:t>
            </a:r>
            <a:endParaRPr b="0" lang="en-US" sz="2400" strike="noStrike" u="none">
              <a:solidFill>
                <a:srgbClr val="ffff00"/>
              </a:solidFill>
              <a:effectLst/>
              <a:uFillTx/>
              <a:latin typeface="Times New Roman"/>
            </a:endParaRPr>
          </a:p>
          <a:p>
            <a:pPr marL="343080" indent="-343080">
              <a:lnSpc>
                <a:spcPct val="5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Les gains de force,de puissance et de vitesse sont aussi sous le contrôle neuromusculaire, et donc dépendent du niveau de myélinisation qui n’est achevé qu’à la fin de la puberté</a:t>
            </a:r>
            <a:endParaRPr b="0" lang="en-US" sz="2400" strike="noStrike" u="none">
              <a:solidFill>
                <a:srgbClr val="ffff00"/>
              </a:solidFill>
              <a:effectLst/>
              <a:uFillTx/>
              <a:latin typeface="Times New Roman"/>
            </a:endParaRPr>
          </a:p>
        </p:txBody>
      </p:sp>
    </p:spTree>
  </p:cSld>
  <p:transition spd="med">
    <p:zoom dir="out"/>
  </p:transition>
  <p:timing>
    <p:tnLst>
      <p:par>
        <p:cTn id="1315" dur="indefinite" restart="never" nodeType="tmRoot">
          <p:childTnLst>
            <p:seq>
              <p:cTn id="1316" dur="indefinite" nodeType="mainSeq">
                <p:childTnLst>
                  <p:par>
                    <p:cTn id="1317" nodeType="clickEffect" fill="hold">
                      <p:stCondLst>
                        <p:cond delay="indefinite"/>
                      </p:stCondLst>
                      <p:childTnLst>
                        <p:par>
                          <p:cTn id="1318" nodeType="withEffect" fill="hold">
                            <p:stCondLst>
                              <p:cond delay="0"/>
                            </p:stCondLst>
                            <p:childTnLst>
                              <p:par>
                                <p:cTn id="1319" nodeType="clickEffect" fill="hold" presetClass="entr" presetID="9">
                                  <p:stCondLst>
                                    <p:cond delay="0"/>
                                  </p:stCondLst>
                                  <p:childTnLst>
                                    <p:set>
                                      <p:cBhvr>
                                        <p:cTn id="1320" dur="1" fill="hold">
                                          <p:stCondLst>
                                            <p:cond delay="0"/>
                                          </p:stCondLst>
                                        </p:cTn>
                                        <p:tgtEl>
                                          <p:spTgt spid="869">
                                            <p:txEl>
                                              <p:pRg st="0" end="0"/>
                                            </p:txEl>
                                          </p:spTgt>
                                        </p:tgtEl>
                                        <p:attrNameLst>
                                          <p:attrName>style.visibility</p:attrName>
                                        </p:attrNameLst>
                                      </p:cBhvr>
                                      <p:to>
                                        <p:strVal val="visible"/>
                                      </p:to>
                                    </p:set>
                                    <p:animEffect filter="dissolve" transition="in">
                                      <p:cBhvr additive="repl">
                                        <p:cTn id="1321" dur="500"/>
                                        <p:tgtEl>
                                          <p:spTgt spid="869">
                                            <p:txEl>
                                              <p:pRg st="0" end="0"/>
                                            </p:txEl>
                                          </p:spTgt>
                                        </p:tgtEl>
                                      </p:cBhvr>
                                    </p:animEffect>
                                  </p:childTnLst>
                                </p:cTn>
                              </p:par>
                            </p:childTnLst>
                          </p:cTn>
                        </p:par>
                      </p:childTnLst>
                    </p:cTn>
                  </p:par>
                  <p:par>
                    <p:cTn id="1322" nodeType="clickEffect" fill="hold">
                      <p:stCondLst>
                        <p:cond delay="indefinite"/>
                      </p:stCondLst>
                      <p:childTnLst>
                        <p:par>
                          <p:cTn id="1323" nodeType="withEffect" fill="hold">
                            <p:stCondLst>
                              <p:cond delay="0"/>
                            </p:stCondLst>
                            <p:childTnLst>
                              <p:par>
                                <p:cTn id="1324" nodeType="clickEffect" fill="hold" presetClass="entr" presetID="9">
                                  <p:stCondLst>
                                    <p:cond delay="0"/>
                                  </p:stCondLst>
                                  <p:childTnLst>
                                    <p:set>
                                      <p:cBhvr>
                                        <p:cTn id="1325" dur="1" fill="hold">
                                          <p:stCondLst>
                                            <p:cond delay="0"/>
                                          </p:stCondLst>
                                        </p:cTn>
                                        <p:tgtEl>
                                          <p:spTgt spid="869">
                                            <p:txEl>
                                              <p:pRg st="1" end="1"/>
                                            </p:txEl>
                                          </p:spTgt>
                                        </p:tgtEl>
                                        <p:attrNameLst>
                                          <p:attrName>style.visibility</p:attrName>
                                        </p:attrNameLst>
                                      </p:cBhvr>
                                      <p:to>
                                        <p:strVal val="visible"/>
                                      </p:to>
                                    </p:set>
                                    <p:animEffect filter="dissolve" transition="in">
                                      <p:cBhvr additive="repl">
                                        <p:cTn id="1326" dur="500"/>
                                        <p:tgtEl>
                                          <p:spTgt spid="869">
                                            <p:txEl>
                                              <p:pRg st="1" end="1"/>
                                            </p:txEl>
                                          </p:spTgt>
                                        </p:tgtEl>
                                      </p:cBhvr>
                                    </p:animEffect>
                                  </p:childTnLst>
                                </p:cTn>
                              </p:par>
                              <p:animClr clrSpc="rgb">
                                <p:cBhvr>
                                  <p:cTn id="1327" dur="1" fill="hold">
                                    <p:stCondLst>
                                      <p:cond delay="0"/>
                                    </p:stCondLst>
                                  </p:cTn>
                                  <p:tgtEl>
                                    <p:spTgt spid="869">
                                      <p:txEl>
                                        <p:pRg st="0" end="0"/>
                                      </p:txEl>
                                    </p:spTgt>
                                  </p:tgtEl>
                                  <p:attrNameLst>
                                    <p:attrName>ppt_c</p:attrName>
                                  </p:attrNameLst>
                                </p:cBhvr>
                                <p:to>
                                  <a:srgbClr val="ccccff"/>
                                </p:to>
                              </p:animClr>
                            </p:childTnLst>
                          </p:cTn>
                        </p:par>
                      </p:childTnLst>
                    </p:cTn>
                  </p:par>
                  <p:par>
                    <p:cTn id="1328" nodeType="clickEffect" fill="hold">
                      <p:stCondLst>
                        <p:cond delay="indefinite"/>
                      </p:stCondLst>
                      <p:childTnLst>
                        <p:par>
                          <p:cTn id="1329" nodeType="withEffect" fill="hold">
                            <p:stCondLst>
                              <p:cond delay="0"/>
                            </p:stCondLst>
                            <p:childTnLst>
                              <p:par>
                                <p:cTn id="1330" nodeType="clickEffect" fill="hold" presetClass="entr" presetID="9">
                                  <p:stCondLst>
                                    <p:cond delay="0"/>
                                  </p:stCondLst>
                                  <p:childTnLst>
                                    <p:set>
                                      <p:cBhvr>
                                        <p:cTn id="1331" dur="1" fill="hold">
                                          <p:stCondLst>
                                            <p:cond delay="0"/>
                                          </p:stCondLst>
                                        </p:cTn>
                                        <p:tgtEl>
                                          <p:spTgt spid="869">
                                            <p:txEl>
                                              <p:pRg st="3" end="3"/>
                                            </p:txEl>
                                          </p:spTgt>
                                        </p:tgtEl>
                                        <p:attrNameLst>
                                          <p:attrName>style.visibility</p:attrName>
                                        </p:attrNameLst>
                                      </p:cBhvr>
                                      <p:to>
                                        <p:strVal val="visible"/>
                                      </p:to>
                                    </p:set>
                                    <p:animEffect filter="dissolve" transition="in">
                                      <p:cBhvr additive="repl">
                                        <p:cTn id="1332" dur="500"/>
                                        <p:tgtEl>
                                          <p:spTgt spid="869">
                                            <p:txEl>
                                              <p:pRg st="3" end="3"/>
                                            </p:txEl>
                                          </p:spTgt>
                                        </p:tgtEl>
                                      </p:cBhvr>
                                    </p:animEffect>
                                  </p:childTnLst>
                                </p:cTn>
                              </p:par>
                              <p:animClr clrSpc="rgb">
                                <p:cBhvr>
                                  <p:cTn id="1333" dur="1" fill="hold">
                                    <p:stCondLst>
                                      <p:cond delay="0"/>
                                    </p:stCondLst>
                                  </p:cTn>
                                  <p:tgtEl>
                                    <p:spTgt spid="869">
                                      <p:txEl>
                                        <p:pRg st="1" end="1"/>
                                      </p:txEl>
                                    </p:spTgt>
                                  </p:tgtEl>
                                  <p:attrNameLst>
                                    <p:attrName>ppt_c</p:attrName>
                                  </p:attrNameLst>
                                </p:cBhvr>
                                <p:to>
                                  <a:srgbClr val="ccccff"/>
                                </p:to>
                              </p:animClr>
                            </p:childTnLst>
                          </p:cTn>
                        </p:par>
                      </p:childTnLst>
                    </p:cTn>
                  </p:par>
                  <p:par>
                    <p:cTn id="1334" nodeType="clickEffect" fill="hold">
                      <p:stCondLst>
                        <p:cond delay="indefinite"/>
                      </p:stCondLst>
                      <p:childTnLst>
                        <p:par>
                          <p:cTn id="1335" nodeType="withEffect" fill="hold">
                            <p:stCondLst>
                              <p:cond delay="0"/>
                            </p:stCondLst>
                            <p:childTnLst>
                              <p:par>
                                <p:cTn id="1336" nodeType="clickEffect" fill="hold" presetClass="entr" presetID="9">
                                  <p:stCondLst>
                                    <p:cond delay="0"/>
                                  </p:stCondLst>
                                  <p:childTnLst>
                                    <p:set>
                                      <p:cBhvr>
                                        <p:cTn id="1337" dur="1" fill="hold">
                                          <p:stCondLst>
                                            <p:cond delay="0"/>
                                          </p:stCondLst>
                                        </p:cTn>
                                        <p:tgtEl>
                                          <p:spTgt spid="869">
                                            <p:txEl>
                                              <p:pRg st="5" end="5"/>
                                            </p:txEl>
                                          </p:spTgt>
                                        </p:tgtEl>
                                        <p:attrNameLst>
                                          <p:attrName>style.visibility</p:attrName>
                                        </p:attrNameLst>
                                      </p:cBhvr>
                                      <p:to>
                                        <p:strVal val="visible"/>
                                      </p:to>
                                    </p:set>
                                    <p:animEffect filter="dissolve" transition="in">
                                      <p:cBhvr additive="repl">
                                        <p:cTn id="1338" dur="500"/>
                                        <p:tgtEl>
                                          <p:spTgt spid="869">
                                            <p:txEl>
                                              <p:pRg st="5" end="5"/>
                                            </p:txEl>
                                          </p:spTgt>
                                        </p:tgtEl>
                                      </p:cBhvr>
                                    </p:animEffect>
                                  </p:childTnLst>
                                </p:cTn>
                              </p:par>
                              <p:animClr clrSpc="rgb">
                                <p:cBhvr>
                                  <p:cTn id="1339" dur="1" fill="hold">
                                    <p:stCondLst>
                                      <p:cond delay="0"/>
                                    </p:stCondLst>
                                  </p:cTn>
                                  <p:tgtEl>
                                    <p:spTgt spid="869">
                                      <p:txEl>
                                        <p:pRg st="3" end="3"/>
                                      </p:txEl>
                                    </p:spTgt>
                                  </p:tgtEl>
                                  <p:attrNameLst>
                                    <p:attrName>ppt_c</p:attrName>
                                  </p:attrNameLst>
                                </p:cBhvr>
                                <p:to>
                                  <a:srgbClr val="ccccff"/>
                                </p:to>
                              </p:animClr>
                            </p:childTnLst>
                          </p:cTn>
                        </p:par>
                      </p:childTnLst>
                    </p:cTn>
                  </p:par>
                  <p:par>
                    <p:cTn id="1340" fill="hold">
                      <p:stCondLst>
                        <p:cond delay="indefinite"/>
                      </p:stCondLst>
                      <p:childTnLst>
                        <p:par>
                          <p:cTn id="1341" fill="hold">
                            <p:stCondLst>
                              <p:cond delay="0"/>
                            </p:stCondLst>
                            <p:childTnLst>
                              <p:animClr clrSpc="rgb">
                                <p:cBhvr>
                                  <p:cTn id="1342" dur="1" fill="hold"/>
                                  <p:tgtEl>
                                    <p:spTgt spid="869">
                                      <p:txEl>
                                        <p:pRg st="5" end="5"/>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Text Box 2"/>
          <p:cNvSpPr/>
          <p:nvPr/>
        </p:nvSpPr>
        <p:spPr>
          <a:xfrm>
            <a:off x="2157120" y="2965320"/>
            <a:ext cx="5332320" cy="10695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Bookman Old Style"/>
              </a:rPr>
              <a:t>L ’amplitude articulaire </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Bookman Old Style"/>
              </a:rPr>
              <a:t>ou « souplesse »</a:t>
            </a:r>
            <a:endParaRPr b="0" lang="en-US" sz="3200" strike="noStrike" u="none">
              <a:solidFill>
                <a:srgbClr val="ffff00"/>
              </a:solidFill>
              <a:effectLst/>
              <a:uFillTx/>
              <a:latin typeface="Times New Roman"/>
            </a:endParaRPr>
          </a:p>
        </p:txBody>
      </p:sp>
    </p:spTree>
  </p:cSld>
  <p:transition spd="med">
    <p:zoom dir="out"/>
  </p:transition>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Text Box 2"/>
          <p:cNvSpPr/>
          <p:nvPr/>
        </p:nvSpPr>
        <p:spPr>
          <a:xfrm>
            <a:off x="838080" y="404640"/>
            <a:ext cx="830592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ffff00"/>
                </a:solidFill>
                <a:effectLst/>
                <a:uFillTx/>
                <a:latin typeface="Arial"/>
              </a:rPr>
              <a:t>AMPLITUDE ARTICULAIRE OU « SOUPLESSE »</a:t>
            </a:r>
            <a:endParaRPr b="0" lang="en-US" sz="2800" strike="noStrike" u="none">
              <a:solidFill>
                <a:srgbClr val="ffff00"/>
              </a:solidFill>
              <a:effectLst/>
              <a:uFillTx/>
              <a:latin typeface="Times New Roman"/>
            </a:endParaRPr>
          </a:p>
        </p:txBody>
      </p:sp>
      <p:sp>
        <p:nvSpPr>
          <p:cNvPr id="872" name="Text Box 3"/>
          <p:cNvSpPr/>
          <p:nvPr/>
        </p:nvSpPr>
        <p:spPr>
          <a:xfrm>
            <a:off x="152280" y="2209680"/>
            <a:ext cx="8991720" cy="231228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a:t>
            </a:r>
            <a:r>
              <a:rPr b="1" lang="fr-FR" sz="2400" strike="noStrike" u="none">
                <a:solidFill>
                  <a:srgbClr val="ffff00"/>
                </a:solidFill>
                <a:effectLst/>
                <a:uFillTx/>
                <a:latin typeface="Arial"/>
              </a:rPr>
              <a:t>	</a:t>
            </a:r>
            <a:r>
              <a:rPr b="1" lang="fr-FR" sz="2400" strike="noStrike" u="none">
                <a:solidFill>
                  <a:srgbClr val="ffff00"/>
                </a:solidFill>
                <a:effectLst/>
                <a:uFillTx/>
                <a:latin typeface="Arial"/>
              </a:rPr>
              <a:t>                      Définition:</a:t>
            </a:r>
            <a:endParaRPr b="0" lang="en-US" sz="24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La souplesse peut être définie comme la capacité maximale d ’amplitude</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 mouvement d ’une ou de plusieurs articulation et d’étirement d ’une ou de plusieurs chaînes musculaires.</a:t>
            </a:r>
            <a:r>
              <a:rPr b="0"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Tree>
  </p:cSld>
  <p:transition spd="med">
    <p:zoom dir="out"/>
  </p:transition>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Text Box 3"/>
          <p:cNvSpPr/>
          <p:nvPr/>
        </p:nvSpPr>
        <p:spPr>
          <a:xfrm>
            <a:off x="360" y="628560"/>
            <a:ext cx="8463960" cy="4014360"/>
          </a:xfrm>
          <a:prstGeom prst="rect">
            <a:avLst/>
          </a:prstGeom>
          <a:noFill/>
          <a:ln w="0">
            <a:noFill/>
          </a:ln>
        </p:spPr>
        <p:style>
          <a:lnRef idx="0"/>
          <a:fillRef idx="0"/>
          <a:effectRef idx="0"/>
          <a:fontRef idx="minor"/>
        </p:style>
        <p:txBody>
          <a:bodyPr wrap="none"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Limites :</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La capacité d’amplitude de mouvement peut être limitée par des facteurs</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anatomo-physiologiques et par l’état psycho-physiologique du jeune.</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3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Parmi les facteurs anatomo-physiologiques on peut retenir :</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les rapports segmentaires </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la configuration des surfaces articulaires des segments osseux mobilisés,</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ff"/>
                </a:solidFill>
                <a:effectLst/>
                <a:uFillTx/>
                <a:latin typeface="Arial"/>
              </a:rPr>
              <a:t>- la tonicité des muscles péri-articulaires,</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 l’élasticité des ligaments et des capsules articulaires,</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 la chaleur du muscle qui agit sur la visco-élasticité des constituants des </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muscles et des tendons  </a:t>
            </a:r>
            <a:endParaRPr b="0" lang="en-US" sz="1800" strike="noStrike" u="none">
              <a:solidFill>
                <a:srgbClr val="ffff00"/>
              </a:solidFill>
              <a:effectLst/>
              <a:uFillTx/>
              <a:latin typeface="Times New Roman"/>
            </a:endParaRPr>
          </a:p>
        </p:txBody>
      </p:sp>
      <p:sp>
        <p:nvSpPr>
          <p:cNvPr id="874" name="Text Box 4"/>
          <p:cNvSpPr/>
          <p:nvPr/>
        </p:nvSpPr>
        <p:spPr>
          <a:xfrm>
            <a:off x="720" y="5367240"/>
            <a:ext cx="7996320" cy="1081080"/>
          </a:xfrm>
          <a:prstGeom prst="rect">
            <a:avLst/>
          </a:prstGeom>
          <a:noFill/>
          <a:ln w="0">
            <a:noFill/>
          </a:ln>
        </p:spPr>
        <p:style>
          <a:lnRef idx="0"/>
          <a:fillRef idx="0"/>
          <a:effectRef idx="0"/>
          <a:fontRef idx="minor"/>
        </p:style>
        <p:txBody>
          <a:bodyPr wrap="none" lIns="90000" rIns="90000" tIns="46800" bIns="46800" anchor="t">
            <a:spAutoFit/>
          </a:bodyPr>
          <a:p>
            <a:pPr>
              <a:lnSpc>
                <a:spcPct val="13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 L’état psychologique qui se caractérise par une plus ou moins grande </a:t>
            </a:r>
            <a:endParaRPr b="0" lang="en-US" sz="18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tension ou un relâchement du tonus musculaire.</a:t>
            </a:r>
            <a:r>
              <a:rPr b="0"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Tree>
  </p:cSld>
  <p:transition spd="med">
    <p:zoom dir="out"/>
  </p:transition>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Rectangle 5"/>
          <p:cNvSpPr/>
          <p:nvPr/>
        </p:nvSpPr>
        <p:spPr>
          <a:xfrm>
            <a:off x="3733920" y="6400800"/>
            <a:ext cx="2590560" cy="457200"/>
          </a:xfrm>
          <a:prstGeom prst="rect">
            <a:avLst/>
          </a:prstGeom>
          <a:no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Age (années)</a:t>
            </a:r>
            <a:endParaRPr b="0" lang="en-US" sz="2000" strike="noStrike" u="none">
              <a:solidFill>
                <a:srgbClr val="ffff00"/>
              </a:solidFill>
              <a:effectLst/>
              <a:uFillTx/>
              <a:latin typeface="Times New Roman"/>
            </a:endParaRPr>
          </a:p>
        </p:txBody>
      </p:sp>
      <p:sp>
        <p:nvSpPr>
          <p:cNvPr id="876" name="Rectangle 6"/>
          <p:cNvSpPr/>
          <p:nvPr/>
        </p:nvSpPr>
        <p:spPr>
          <a:xfrm>
            <a:off x="1447920" y="0"/>
            <a:ext cx="617220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SOUPLESSE ASSISE AVANT</a:t>
            </a:r>
            <a:endParaRPr b="0" lang="en-US" sz="1800" strike="noStrike" u="none">
              <a:solidFill>
                <a:srgbClr val="ffff00"/>
              </a:solidFill>
              <a:effectLst/>
              <a:uFillTx/>
              <a:latin typeface="Times New Roman"/>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Distance dépassant le niveau des pieds (cm) </a:t>
            </a:r>
            <a:endParaRPr b="0" lang="en-US" sz="2400" strike="noStrike" u="none">
              <a:solidFill>
                <a:srgbClr val="ffff00"/>
              </a:solidFill>
              <a:effectLst/>
              <a:uFillTx/>
              <a:latin typeface="Times New Roman"/>
            </a:endParaRPr>
          </a:p>
        </p:txBody>
      </p:sp>
      <p:sp>
        <p:nvSpPr>
          <p:cNvPr id="877" name="Line 8"/>
          <p:cNvSpPr/>
          <p:nvPr/>
        </p:nvSpPr>
        <p:spPr>
          <a:xfrm>
            <a:off x="1752480" y="1143000"/>
            <a:ext cx="0" cy="46483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78" name="Line 9"/>
          <p:cNvSpPr/>
          <p:nvPr/>
        </p:nvSpPr>
        <p:spPr>
          <a:xfrm>
            <a:off x="1752480" y="5791320"/>
            <a:ext cx="594360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79" name="Text Box 10"/>
          <p:cNvSpPr/>
          <p:nvPr/>
        </p:nvSpPr>
        <p:spPr>
          <a:xfrm>
            <a:off x="1676880" y="5715000"/>
            <a:ext cx="6222240" cy="612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I       I       I       I       I       I       I       I       I       I       I       I       I</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&lt; 6            8           10          12           14          16           18</a:t>
            </a:r>
            <a:endParaRPr b="0" lang="en-US" sz="1800" strike="noStrike" u="none">
              <a:solidFill>
                <a:srgbClr val="ffff00"/>
              </a:solidFill>
              <a:effectLst/>
              <a:uFillTx/>
              <a:latin typeface="Times New Roman"/>
            </a:endParaRPr>
          </a:p>
        </p:txBody>
      </p:sp>
      <p:sp>
        <p:nvSpPr>
          <p:cNvPr id="880" name="Text Box 11"/>
          <p:cNvSpPr/>
          <p:nvPr/>
        </p:nvSpPr>
        <p:spPr>
          <a:xfrm>
            <a:off x="770040" y="914400"/>
            <a:ext cx="1540080" cy="5687640"/>
          </a:xfrm>
          <a:prstGeom prst="rect">
            <a:avLst/>
          </a:prstGeom>
          <a:noFill/>
          <a:ln w="0">
            <a:noFill/>
          </a:ln>
        </p:spPr>
        <p:style>
          <a:lnRef idx="0"/>
          <a:fillRef idx="0"/>
          <a:effectRef idx="0"/>
          <a:fontRef idx="minor"/>
        </p:style>
        <p:txBody>
          <a:bodyPr wrap="none" lIns="90000" rIns="90000" tIns="46800" bIns="46800" anchor="t">
            <a:spAutoFit/>
          </a:bodyPr>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14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8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6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4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2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0 –</a:t>
            </a:r>
            <a:endParaRPr b="0" lang="en-US" sz="1800" strike="noStrike" u="none">
              <a:solidFill>
                <a:srgbClr val="ffff00"/>
              </a:solidFill>
              <a:effectLst/>
              <a:uFillTx/>
              <a:latin typeface="Times New Roman"/>
            </a:endParaRPr>
          </a:p>
          <a:p>
            <a:pPr marL="457200" indent="-457200">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marL="457200" indent="-457200">
              <a:lnSpc>
                <a:spcPct val="12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881" name="Text Box 12"/>
          <p:cNvSpPr/>
          <p:nvPr/>
        </p:nvSpPr>
        <p:spPr>
          <a:xfrm>
            <a:off x="2039040" y="45720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2" name="Text Box 13"/>
          <p:cNvSpPr/>
          <p:nvPr/>
        </p:nvSpPr>
        <p:spPr>
          <a:xfrm>
            <a:off x="2496240" y="45720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3" name="Text Box 14"/>
          <p:cNvSpPr/>
          <p:nvPr/>
        </p:nvSpPr>
        <p:spPr>
          <a:xfrm>
            <a:off x="2953440" y="44956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4" name="Text Box 15"/>
          <p:cNvSpPr/>
          <p:nvPr/>
        </p:nvSpPr>
        <p:spPr>
          <a:xfrm>
            <a:off x="3410640" y="44197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5" name="Text Box 16"/>
          <p:cNvSpPr/>
          <p:nvPr/>
        </p:nvSpPr>
        <p:spPr>
          <a:xfrm>
            <a:off x="3791880" y="43434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6" name="Text Box 17"/>
          <p:cNvSpPr/>
          <p:nvPr/>
        </p:nvSpPr>
        <p:spPr>
          <a:xfrm>
            <a:off x="4325040" y="43434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7" name="Text Box 18"/>
          <p:cNvSpPr/>
          <p:nvPr/>
        </p:nvSpPr>
        <p:spPr>
          <a:xfrm>
            <a:off x="4782240" y="45720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8" name="Text Box 19"/>
          <p:cNvSpPr/>
          <p:nvPr/>
        </p:nvSpPr>
        <p:spPr>
          <a:xfrm>
            <a:off x="7068240" y="32004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89" name="Text Box 20"/>
          <p:cNvSpPr/>
          <p:nvPr/>
        </p:nvSpPr>
        <p:spPr>
          <a:xfrm>
            <a:off x="5239440" y="49528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90" name="Text Box 21"/>
          <p:cNvSpPr/>
          <p:nvPr/>
        </p:nvSpPr>
        <p:spPr>
          <a:xfrm>
            <a:off x="5638680" y="4267080"/>
            <a:ext cx="3621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91" name="Text Box 22"/>
          <p:cNvSpPr/>
          <p:nvPr/>
        </p:nvSpPr>
        <p:spPr>
          <a:xfrm>
            <a:off x="6077880" y="37339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92" name="Text Box 23"/>
          <p:cNvSpPr/>
          <p:nvPr/>
        </p:nvSpPr>
        <p:spPr>
          <a:xfrm>
            <a:off x="6611040" y="34290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893" name="Line 24"/>
          <p:cNvSpPr/>
          <p:nvPr/>
        </p:nvSpPr>
        <p:spPr>
          <a:xfrm flipV="1">
            <a:off x="2133720" y="114300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4" name="Line 25"/>
          <p:cNvSpPr/>
          <p:nvPr/>
        </p:nvSpPr>
        <p:spPr>
          <a:xfrm flipV="1">
            <a:off x="3048120" y="106668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5" name="Line 26"/>
          <p:cNvSpPr/>
          <p:nvPr/>
        </p:nvSpPr>
        <p:spPr>
          <a:xfrm flipV="1">
            <a:off x="3962520" y="114300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6" name="Line 27"/>
          <p:cNvSpPr/>
          <p:nvPr/>
        </p:nvSpPr>
        <p:spPr>
          <a:xfrm flipV="1">
            <a:off x="4876920" y="106668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7" name="Line 28"/>
          <p:cNvSpPr/>
          <p:nvPr/>
        </p:nvSpPr>
        <p:spPr>
          <a:xfrm flipV="1">
            <a:off x="5791320" y="106668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8" name="Line 29"/>
          <p:cNvSpPr/>
          <p:nvPr/>
        </p:nvSpPr>
        <p:spPr>
          <a:xfrm flipV="1">
            <a:off x="6705720" y="106668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899" name="Line 30"/>
          <p:cNvSpPr/>
          <p:nvPr/>
        </p:nvSpPr>
        <p:spPr>
          <a:xfrm flipV="1">
            <a:off x="7620120" y="1066680"/>
            <a:ext cx="0" cy="4648320"/>
          </a:xfrm>
          <a:prstGeom prst="line">
            <a:avLst/>
          </a:prstGeom>
          <a:ln cap="rnd" w="9360">
            <a:solidFill>
              <a:srgbClr val="ff99cc"/>
            </a:solidFill>
            <a:custDash>
              <a:ds d="100000" sp="1000"/>
            </a:custDash>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0" name="Line 31"/>
          <p:cNvSpPr/>
          <p:nvPr/>
        </p:nvSpPr>
        <p:spPr>
          <a:xfrm>
            <a:off x="2133720" y="4800600"/>
            <a:ext cx="45720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1" name="Line 32"/>
          <p:cNvSpPr/>
          <p:nvPr/>
        </p:nvSpPr>
        <p:spPr>
          <a:xfrm flipV="1">
            <a:off x="2666880" y="4724280"/>
            <a:ext cx="304920" cy="76320"/>
          </a:xfrm>
          <a:prstGeom prst="line">
            <a:avLst/>
          </a:prstGeom>
          <a:ln w="9360">
            <a:solidFill>
              <a:srgbClr val="ffff00"/>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902" name="Line 33"/>
          <p:cNvSpPr/>
          <p:nvPr/>
        </p:nvSpPr>
        <p:spPr>
          <a:xfrm flipV="1">
            <a:off x="3124080" y="4647960"/>
            <a:ext cx="381240" cy="75960"/>
          </a:xfrm>
          <a:prstGeom prst="line">
            <a:avLst/>
          </a:prstGeom>
          <a:ln w="9360">
            <a:solidFill>
              <a:srgbClr val="ffff00"/>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903" name="Line 34"/>
          <p:cNvSpPr/>
          <p:nvPr/>
        </p:nvSpPr>
        <p:spPr>
          <a:xfrm flipV="1">
            <a:off x="3581280" y="4572000"/>
            <a:ext cx="304920" cy="76320"/>
          </a:xfrm>
          <a:prstGeom prst="line">
            <a:avLst/>
          </a:prstGeom>
          <a:ln w="9360">
            <a:solidFill>
              <a:srgbClr val="ffff00"/>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904" name="Line 35"/>
          <p:cNvSpPr/>
          <p:nvPr/>
        </p:nvSpPr>
        <p:spPr>
          <a:xfrm>
            <a:off x="3962520" y="4572000"/>
            <a:ext cx="53316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5" name="Line 36"/>
          <p:cNvSpPr/>
          <p:nvPr/>
        </p:nvSpPr>
        <p:spPr>
          <a:xfrm>
            <a:off x="4495680" y="4572000"/>
            <a:ext cx="381240" cy="2286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6" name="Line 37"/>
          <p:cNvSpPr/>
          <p:nvPr/>
        </p:nvSpPr>
        <p:spPr>
          <a:xfrm>
            <a:off x="4952880" y="4800600"/>
            <a:ext cx="381240" cy="3808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7" name="Line 38"/>
          <p:cNvSpPr/>
          <p:nvPr/>
        </p:nvSpPr>
        <p:spPr>
          <a:xfrm flipV="1">
            <a:off x="5410080" y="4495680"/>
            <a:ext cx="381240" cy="60984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8" name="Line 39"/>
          <p:cNvSpPr/>
          <p:nvPr/>
        </p:nvSpPr>
        <p:spPr>
          <a:xfrm flipV="1">
            <a:off x="5867280" y="3962520"/>
            <a:ext cx="304920" cy="4572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09" name="Line 40"/>
          <p:cNvSpPr/>
          <p:nvPr/>
        </p:nvSpPr>
        <p:spPr>
          <a:xfrm flipV="1">
            <a:off x="6248520" y="3657240"/>
            <a:ext cx="457200" cy="2286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10" name="Line 41"/>
          <p:cNvSpPr/>
          <p:nvPr/>
        </p:nvSpPr>
        <p:spPr>
          <a:xfrm flipV="1">
            <a:off x="6781680" y="3428640"/>
            <a:ext cx="457200" cy="1522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11" name="Text Box 45"/>
          <p:cNvSpPr/>
          <p:nvPr/>
        </p:nvSpPr>
        <p:spPr>
          <a:xfrm>
            <a:off x="4782240" y="25909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2" name="Text Box 46"/>
          <p:cNvSpPr/>
          <p:nvPr/>
        </p:nvSpPr>
        <p:spPr>
          <a:xfrm>
            <a:off x="5181480" y="2362320"/>
            <a:ext cx="3621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3" name="Text Box 47"/>
          <p:cNvSpPr/>
          <p:nvPr/>
        </p:nvSpPr>
        <p:spPr>
          <a:xfrm>
            <a:off x="5696640" y="19810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4" name="Text Box 48"/>
          <p:cNvSpPr/>
          <p:nvPr/>
        </p:nvSpPr>
        <p:spPr>
          <a:xfrm>
            <a:off x="6230160" y="16002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5" name="Text Box 49"/>
          <p:cNvSpPr/>
          <p:nvPr/>
        </p:nvSpPr>
        <p:spPr>
          <a:xfrm>
            <a:off x="6611040" y="11430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6" name="Text Box 50"/>
          <p:cNvSpPr/>
          <p:nvPr/>
        </p:nvSpPr>
        <p:spPr>
          <a:xfrm>
            <a:off x="7068240" y="15238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7" name="Text Box 51"/>
          <p:cNvSpPr/>
          <p:nvPr/>
        </p:nvSpPr>
        <p:spPr>
          <a:xfrm>
            <a:off x="4325040" y="28195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8" name="Text Box 52"/>
          <p:cNvSpPr/>
          <p:nvPr/>
        </p:nvSpPr>
        <p:spPr>
          <a:xfrm>
            <a:off x="3867840" y="28954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19" name="Text Box 53"/>
          <p:cNvSpPr/>
          <p:nvPr/>
        </p:nvSpPr>
        <p:spPr>
          <a:xfrm>
            <a:off x="3410640" y="32004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20" name="Text Box 54"/>
          <p:cNvSpPr/>
          <p:nvPr/>
        </p:nvSpPr>
        <p:spPr>
          <a:xfrm>
            <a:off x="2877480" y="31240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21" name="Text Box 55"/>
          <p:cNvSpPr/>
          <p:nvPr/>
        </p:nvSpPr>
        <p:spPr>
          <a:xfrm>
            <a:off x="2496240" y="30481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22" name="Text Box 56"/>
          <p:cNvSpPr/>
          <p:nvPr/>
        </p:nvSpPr>
        <p:spPr>
          <a:xfrm>
            <a:off x="2039040" y="312408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23" name="Line 57"/>
          <p:cNvSpPr/>
          <p:nvPr/>
        </p:nvSpPr>
        <p:spPr>
          <a:xfrm flipV="1">
            <a:off x="2209680" y="3276360"/>
            <a:ext cx="304920" cy="75960"/>
          </a:xfrm>
          <a:prstGeom prst="line">
            <a:avLst/>
          </a:prstGeom>
          <a:ln w="9360">
            <a:solidFill>
              <a:srgbClr val="ffffff"/>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924" name="Line 58"/>
          <p:cNvSpPr/>
          <p:nvPr/>
        </p:nvSpPr>
        <p:spPr>
          <a:xfrm>
            <a:off x="2666880" y="3276720"/>
            <a:ext cx="30492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5" name="Line 59"/>
          <p:cNvSpPr/>
          <p:nvPr/>
        </p:nvSpPr>
        <p:spPr>
          <a:xfrm>
            <a:off x="3048120" y="3276720"/>
            <a:ext cx="457200" cy="75960"/>
          </a:xfrm>
          <a:prstGeom prst="line">
            <a:avLst/>
          </a:prstGeom>
          <a:ln w="9360">
            <a:solidFill>
              <a:srgbClr val="ffffff"/>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926" name="Line 60"/>
          <p:cNvSpPr/>
          <p:nvPr/>
        </p:nvSpPr>
        <p:spPr>
          <a:xfrm flipV="1">
            <a:off x="3581280" y="3048120"/>
            <a:ext cx="381240" cy="30456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7" name="Line 61"/>
          <p:cNvSpPr/>
          <p:nvPr/>
        </p:nvSpPr>
        <p:spPr>
          <a:xfrm flipV="1">
            <a:off x="4038480" y="2971800"/>
            <a:ext cx="381240" cy="76320"/>
          </a:xfrm>
          <a:prstGeom prst="line">
            <a:avLst/>
          </a:prstGeom>
          <a:ln w="9360">
            <a:solidFill>
              <a:srgbClr val="ffffff"/>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928" name="Line 62"/>
          <p:cNvSpPr/>
          <p:nvPr/>
        </p:nvSpPr>
        <p:spPr>
          <a:xfrm flipV="1">
            <a:off x="4495680" y="2742840"/>
            <a:ext cx="381240" cy="22860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29" name="Line 63"/>
          <p:cNvSpPr/>
          <p:nvPr/>
        </p:nvSpPr>
        <p:spPr>
          <a:xfrm flipV="1">
            <a:off x="4952880" y="2514240"/>
            <a:ext cx="381240" cy="22860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0" name="Line 64"/>
          <p:cNvSpPr/>
          <p:nvPr/>
        </p:nvSpPr>
        <p:spPr>
          <a:xfrm flipV="1">
            <a:off x="5410080" y="2133720"/>
            <a:ext cx="381240" cy="38088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1" name="Line 65"/>
          <p:cNvSpPr/>
          <p:nvPr/>
        </p:nvSpPr>
        <p:spPr>
          <a:xfrm flipV="1">
            <a:off x="5867280" y="1752120"/>
            <a:ext cx="457200" cy="38124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2" name="Line 66"/>
          <p:cNvSpPr/>
          <p:nvPr/>
        </p:nvSpPr>
        <p:spPr>
          <a:xfrm flipV="1">
            <a:off x="6400800" y="1371240"/>
            <a:ext cx="304920" cy="30492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3" name="Line 67"/>
          <p:cNvSpPr/>
          <p:nvPr/>
        </p:nvSpPr>
        <p:spPr>
          <a:xfrm>
            <a:off x="6781680" y="1295280"/>
            <a:ext cx="381240" cy="38124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4" name="Text Box 69"/>
          <p:cNvSpPr/>
          <p:nvPr/>
        </p:nvSpPr>
        <p:spPr>
          <a:xfrm>
            <a:off x="2971800" y="1219320"/>
            <a:ext cx="76824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Filles</a:t>
            </a:r>
            <a:endParaRPr b="0" lang="en-US" sz="1800" strike="noStrike" u="none">
              <a:solidFill>
                <a:srgbClr val="ffff00"/>
              </a:solidFill>
              <a:effectLst/>
              <a:uFillTx/>
              <a:latin typeface="Times New Roman"/>
            </a:endParaRPr>
          </a:p>
        </p:txBody>
      </p:sp>
      <p:sp>
        <p:nvSpPr>
          <p:cNvPr id="935" name="Text Box 70"/>
          <p:cNvSpPr/>
          <p:nvPr/>
        </p:nvSpPr>
        <p:spPr>
          <a:xfrm>
            <a:off x="2973240" y="1600200"/>
            <a:ext cx="11080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Garçons</a:t>
            </a:r>
            <a:endParaRPr b="0" lang="en-US" sz="1800" strike="noStrike" u="none">
              <a:solidFill>
                <a:srgbClr val="ffff00"/>
              </a:solidFill>
              <a:effectLst/>
              <a:uFillTx/>
              <a:latin typeface="Times New Roman"/>
            </a:endParaRPr>
          </a:p>
        </p:txBody>
      </p:sp>
      <p:sp>
        <p:nvSpPr>
          <p:cNvPr id="936" name="Text Box 71"/>
          <p:cNvSpPr/>
          <p:nvPr/>
        </p:nvSpPr>
        <p:spPr>
          <a:xfrm>
            <a:off x="2420280" y="121932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37" name="Text Box 72"/>
          <p:cNvSpPr/>
          <p:nvPr/>
        </p:nvSpPr>
        <p:spPr>
          <a:xfrm>
            <a:off x="2420280" y="1600200"/>
            <a:ext cx="2458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938" name="Line 73"/>
          <p:cNvSpPr/>
          <p:nvPr/>
        </p:nvSpPr>
        <p:spPr>
          <a:xfrm>
            <a:off x="2286000" y="1371600"/>
            <a:ext cx="2286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39" name="Line 74"/>
          <p:cNvSpPr/>
          <p:nvPr/>
        </p:nvSpPr>
        <p:spPr>
          <a:xfrm>
            <a:off x="2590920" y="1371600"/>
            <a:ext cx="228600" cy="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0" name="Line 75"/>
          <p:cNvSpPr/>
          <p:nvPr/>
        </p:nvSpPr>
        <p:spPr>
          <a:xfrm>
            <a:off x="2286000" y="1828800"/>
            <a:ext cx="22860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1" name="Line 76"/>
          <p:cNvSpPr/>
          <p:nvPr/>
        </p:nvSpPr>
        <p:spPr>
          <a:xfrm>
            <a:off x="2590920" y="1828800"/>
            <a:ext cx="30456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42" name="Rectangle 77"/>
          <p:cNvSpPr/>
          <p:nvPr/>
        </p:nvSpPr>
        <p:spPr>
          <a:xfrm>
            <a:off x="2133720" y="1219320"/>
            <a:ext cx="1981080" cy="8380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943" name="Text Box 78"/>
          <p:cNvSpPr/>
          <p:nvPr/>
        </p:nvSpPr>
        <p:spPr>
          <a:xfrm rot="16201800">
            <a:off x="-252000" y="3265560"/>
            <a:ext cx="2061720" cy="3988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Distance (cm)   </a:t>
            </a:r>
            <a:endParaRPr b="0" lang="en-US" sz="2000" strike="noStrike" u="none">
              <a:solidFill>
                <a:srgbClr val="ffff00"/>
              </a:solidFill>
              <a:effectLst/>
              <a:uFillTx/>
              <a:latin typeface="Times New Roman"/>
            </a:endParaRPr>
          </a:p>
        </p:txBody>
      </p:sp>
    </p:spTree>
  </p:cSld>
  <p:transition spd="med">
    <p:zoom dir="out"/>
  </p:transition>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Text Box 2"/>
          <p:cNvSpPr/>
          <p:nvPr/>
        </p:nvSpPr>
        <p:spPr>
          <a:xfrm>
            <a:off x="230040" y="380880"/>
            <a:ext cx="8913960" cy="581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Bookman Old Style"/>
              </a:rPr>
              <a:t>A quel âge développer la souplesse?</a:t>
            </a:r>
            <a:endParaRPr b="0" lang="en-US" sz="3200" strike="noStrike" u="none">
              <a:solidFill>
                <a:srgbClr val="ffff00"/>
              </a:solidFill>
              <a:effectLst/>
              <a:uFillTx/>
              <a:latin typeface="Times New Roman"/>
            </a:endParaRPr>
          </a:p>
        </p:txBody>
      </p:sp>
      <p:sp>
        <p:nvSpPr>
          <p:cNvPr id="945" name="Text Box 3"/>
          <p:cNvSpPr/>
          <p:nvPr/>
        </p:nvSpPr>
        <p:spPr>
          <a:xfrm>
            <a:off x="228600" y="1295280"/>
            <a:ext cx="8915400" cy="173916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Puisque l ’enfant possède dès le plus jeune âge un niveau élevé de souplesse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(Dutil 1978), un entraînement «poussé» de l’amplitude de ses articulations ne semble pas nécessaire avant 9-10 ans, sauf pour ceux qui pratiquent certains sports comme la gymnastique, la danse et toutes autres activités motrices de haute expression corporelle.</a:t>
            </a:r>
            <a:endParaRPr b="0" lang="en-US" sz="1800" strike="noStrike" u="none">
              <a:solidFill>
                <a:srgbClr val="ffff00"/>
              </a:solidFill>
              <a:effectLst/>
              <a:uFillTx/>
              <a:latin typeface="Times New Roman"/>
            </a:endParaRPr>
          </a:p>
        </p:txBody>
      </p:sp>
      <p:sp>
        <p:nvSpPr>
          <p:cNvPr id="946" name="Text Box 5"/>
          <p:cNvSpPr/>
          <p:nvPr/>
        </p:nvSpPr>
        <p:spPr>
          <a:xfrm>
            <a:off x="228600" y="3429000"/>
            <a:ext cx="937260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Par contre apprendre très tôt à l ’enfant les techniques d’auto étirement</a:t>
            </a:r>
            <a:endParaRPr b="0" lang="en-US" sz="1800" strike="noStrike" u="none">
              <a:solidFill>
                <a:srgbClr val="ffff00"/>
              </a:solidFill>
              <a:effectLst/>
              <a:uFillTx/>
              <a:latin typeface="Times New Roman"/>
            </a:endParaRPr>
          </a:p>
        </p:txBody>
      </p:sp>
      <p:sp>
        <p:nvSpPr>
          <p:cNvPr id="947" name="Text Box 6"/>
          <p:cNvSpPr/>
          <p:nvPr/>
        </p:nvSpPr>
        <p:spPr>
          <a:xfrm>
            <a:off x="0" y="4267080"/>
            <a:ext cx="9372600" cy="75204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D’après Sermejew et coll. (1964), la période optimale pour développer cette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qualité et pour obtenir les gains les plus importants  se situerait entre </a:t>
            </a:r>
            <a:r>
              <a:rPr b="1" lang="fr-FR" sz="1800" strike="noStrike" u="sng">
                <a:solidFill>
                  <a:srgbClr val="ffffff"/>
                </a:solidFill>
                <a:effectLst/>
                <a:uFillTx/>
                <a:latin typeface="Arial"/>
              </a:rPr>
              <a:t>11 et 14 ans.</a:t>
            </a:r>
            <a:endParaRPr b="0" lang="en-US" sz="1800" strike="noStrike" u="none">
              <a:solidFill>
                <a:srgbClr val="ffff00"/>
              </a:solidFill>
              <a:effectLst/>
              <a:uFillTx/>
              <a:latin typeface="Times New Roman"/>
            </a:endParaRPr>
          </a:p>
        </p:txBody>
      </p:sp>
      <p:sp>
        <p:nvSpPr>
          <p:cNvPr id="948" name="Text Box 7"/>
          <p:cNvSpPr/>
          <p:nvPr/>
        </p:nvSpPr>
        <p:spPr>
          <a:xfrm>
            <a:off x="0" y="5410080"/>
            <a:ext cx="914256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La souplesse doit être ensuite entretenue très régulièrement afin de conserver le niveau acquis.</a:t>
            </a:r>
            <a:endParaRPr b="0" lang="en-US" sz="2000" strike="noStrike" u="none">
              <a:solidFill>
                <a:srgbClr val="ffff00"/>
              </a:solidFill>
              <a:effectLst/>
              <a:uFillTx/>
              <a:latin typeface="Times New Roman"/>
            </a:endParaRPr>
          </a:p>
        </p:txBody>
      </p:sp>
    </p:spTree>
  </p:cSld>
  <p:transition spd="med">
    <p:zoom dir="out"/>
  </p:transition>
  <p:timing>
    <p:tnLst>
      <p:par>
        <p:cTn id="1343" dur="indefinite" restart="never" nodeType="tmRoot">
          <p:childTnLst>
            <p:seq>
              <p:cTn id="1344" dur="indefinite" nodeType="mainSeq">
                <p:childTnLst>
                  <p:par>
                    <p:cTn id="1345" nodeType="clickEffect" fill="hold">
                      <p:stCondLst>
                        <p:cond delay="indefinite"/>
                      </p:stCondLst>
                      <p:childTnLst>
                        <p:par>
                          <p:cTn id="1346" nodeType="withEffect" fill="hold">
                            <p:stCondLst>
                              <p:cond delay="0"/>
                            </p:stCondLst>
                            <p:childTnLst>
                              <p:par>
                                <p:cTn id="1347" nodeType="clickEffect" fill="hold" presetClass="entr" presetID="9">
                                  <p:stCondLst>
                                    <p:cond delay="0"/>
                                  </p:stCondLst>
                                  <p:childTnLst>
                                    <p:set>
                                      <p:cBhvr>
                                        <p:cTn id="1348" dur="1" fill="hold">
                                          <p:stCondLst>
                                            <p:cond delay="0"/>
                                          </p:stCondLst>
                                        </p:cTn>
                                        <p:tgtEl>
                                          <p:spTgt spid="945">
                                            <p:txEl>
                                              <p:pRg st="0" end="0"/>
                                            </p:txEl>
                                          </p:spTgt>
                                        </p:tgtEl>
                                        <p:attrNameLst>
                                          <p:attrName>style.visibility</p:attrName>
                                        </p:attrNameLst>
                                      </p:cBhvr>
                                      <p:to>
                                        <p:strVal val="visible"/>
                                      </p:to>
                                    </p:set>
                                    <p:animEffect filter="dissolve" transition="in">
                                      <p:cBhvr additive="repl">
                                        <p:cTn id="1349" dur="500"/>
                                        <p:tgtEl>
                                          <p:spTgt spid="945">
                                            <p:txEl>
                                              <p:pRg st="0" end="0"/>
                                            </p:txEl>
                                          </p:spTgt>
                                        </p:tgtEl>
                                      </p:cBhvr>
                                    </p:animEffect>
                                  </p:childTnLst>
                                </p:cTn>
                              </p:par>
                            </p:childTnLst>
                          </p:cTn>
                        </p:par>
                      </p:childTnLst>
                    </p:cTn>
                  </p:par>
                  <p:par>
                    <p:cTn id="1350" nodeType="clickEffect" fill="hold">
                      <p:stCondLst>
                        <p:cond delay="indefinite"/>
                      </p:stCondLst>
                      <p:childTnLst>
                        <p:par>
                          <p:cTn id="1351" nodeType="withEffect" fill="hold">
                            <p:stCondLst>
                              <p:cond delay="0"/>
                            </p:stCondLst>
                            <p:childTnLst>
                              <p:par>
                                <p:cTn id="1352" nodeType="clickEffect" fill="hold" presetClass="entr" presetID="9">
                                  <p:stCondLst>
                                    <p:cond delay="0"/>
                                  </p:stCondLst>
                                  <p:childTnLst>
                                    <p:set>
                                      <p:cBhvr>
                                        <p:cTn id="1353" dur="1" fill="hold">
                                          <p:stCondLst>
                                            <p:cond delay="0"/>
                                          </p:stCondLst>
                                        </p:cTn>
                                        <p:tgtEl>
                                          <p:spTgt spid="945">
                                            <p:txEl>
                                              <p:pRg st="1" end="1"/>
                                            </p:txEl>
                                          </p:spTgt>
                                        </p:tgtEl>
                                        <p:attrNameLst>
                                          <p:attrName>style.visibility</p:attrName>
                                        </p:attrNameLst>
                                      </p:cBhvr>
                                      <p:to>
                                        <p:strVal val="visible"/>
                                      </p:to>
                                    </p:set>
                                    <p:animEffect filter="dissolve" transition="in">
                                      <p:cBhvr additive="repl">
                                        <p:cTn id="1354" dur="500"/>
                                        <p:tgtEl>
                                          <p:spTgt spid="945">
                                            <p:txEl>
                                              <p:pRg st="1" end="1"/>
                                            </p:txEl>
                                          </p:spTgt>
                                        </p:tgtEl>
                                      </p:cBhvr>
                                    </p:animEffect>
                                  </p:childTnLst>
                                </p:cTn>
                              </p:par>
                              <p:animClr clrSpc="rgb">
                                <p:cBhvr>
                                  <p:cTn id="1355" dur="1" fill="hold">
                                    <p:stCondLst>
                                      <p:cond delay="0"/>
                                    </p:stCondLst>
                                  </p:cTn>
                                  <p:tgtEl>
                                    <p:spTgt spid="945">
                                      <p:txEl>
                                        <p:pRg st="0" end="0"/>
                                      </p:txEl>
                                    </p:spTgt>
                                  </p:tgtEl>
                                  <p:attrNameLst>
                                    <p:attrName>ppt_c</p:attrName>
                                  </p:attrNameLst>
                                </p:cBhvr>
                                <p:to>
                                  <a:srgbClr val="ccccff"/>
                                </p:to>
                              </p:animClr>
                            </p:childTnLst>
                          </p:cTn>
                        </p:par>
                      </p:childTnLst>
                    </p:cTn>
                  </p:par>
                  <p:par>
                    <p:cTn id="1356" nodeType="clickEffect" fill="hold">
                      <p:stCondLst>
                        <p:cond delay="indefinite"/>
                      </p:stCondLst>
                      <p:childTnLst>
                        <p:par>
                          <p:cTn id="1357" nodeType="withEffect" fill="hold">
                            <p:stCondLst>
                              <p:cond delay="0"/>
                            </p:stCondLst>
                            <p:childTnLst>
                              <p:par>
                                <p:cTn id="1358" nodeType="clickEffect" fill="hold" presetClass="entr" presetID="9">
                                  <p:stCondLst>
                                    <p:cond delay="0"/>
                                  </p:stCondLst>
                                  <p:childTnLst>
                                    <p:set>
                                      <p:cBhvr>
                                        <p:cTn id="1359" dur="1" fill="hold">
                                          <p:stCondLst>
                                            <p:cond delay="0"/>
                                          </p:stCondLst>
                                        </p:cTn>
                                        <p:tgtEl>
                                          <p:spTgt spid="946"/>
                                        </p:tgtEl>
                                        <p:attrNameLst>
                                          <p:attrName>style.visibility</p:attrName>
                                        </p:attrNameLst>
                                      </p:cBhvr>
                                      <p:to>
                                        <p:strVal val="visible"/>
                                      </p:to>
                                    </p:set>
                                    <p:animEffect filter="dissolve" transition="in">
                                      <p:cBhvr additive="repl">
                                        <p:cTn id="1360" dur="500"/>
                                        <p:tgtEl>
                                          <p:spTgt spid="946"/>
                                        </p:tgtEl>
                                      </p:cBhvr>
                                    </p:animEffect>
                                  </p:childTnLst>
                                </p:cTn>
                              </p:par>
                              <p:animClr clrSpc="rgb">
                                <p:cBhvr>
                                  <p:cTn id="1361" dur="1" fill="hold">
                                    <p:stCondLst>
                                      <p:cond delay="0"/>
                                    </p:stCondLst>
                                  </p:cTn>
                                  <p:tgtEl>
                                    <p:spTgt spid="945">
                                      <p:txEl>
                                        <p:pRg st="1" end="1"/>
                                      </p:txEl>
                                    </p:spTgt>
                                  </p:tgtEl>
                                  <p:attrNameLst>
                                    <p:attrName>ppt_c</p:attrName>
                                  </p:attrNameLst>
                                </p:cBhvr>
                                <p:to>
                                  <a:srgbClr val="ccccff"/>
                                </p:to>
                              </p:animClr>
                            </p:childTnLst>
                          </p:cTn>
                        </p:par>
                      </p:childTnLst>
                    </p:cTn>
                  </p:par>
                  <p:par>
                    <p:cTn id="1362" nodeType="clickEffect" fill="hold">
                      <p:stCondLst>
                        <p:cond delay="indefinite"/>
                      </p:stCondLst>
                      <p:childTnLst>
                        <p:par>
                          <p:cTn id="1363" nodeType="withEffect" fill="hold">
                            <p:stCondLst>
                              <p:cond delay="0"/>
                            </p:stCondLst>
                            <p:childTnLst>
                              <p:par>
                                <p:cTn id="1364" nodeType="clickEffect" fill="hold" presetClass="entr" presetID="9">
                                  <p:stCondLst>
                                    <p:cond delay="0"/>
                                  </p:stCondLst>
                                  <p:childTnLst>
                                    <p:set>
                                      <p:cBhvr>
                                        <p:cTn id="1365" dur="1" fill="hold">
                                          <p:stCondLst>
                                            <p:cond delay="0"/>
                                          </p:stCondLst>
                                        </p:cTn>
                                        <p:tgtEl>
                                          <p:spTgt spid="947"/>
                                        </p:tgtEl>
                                        <p:attrNameLst>
                                          <p:attrName>style.visibility</p:attrName>
                                        </p:attrNameLst>
                                      </p:cBhvr>
                                      <p:to>
                                        <p:strVal val="visible"/>
                                      </p:to>
                                    </p:set>
                                    <p:animEffect filter="dissolve" transition="in">
                                      <p:cBhvr additive="repl">
                                        <p:cTn id="1366" dur="500"/>
                                        <p:tgtEl>
                                          <p:spTgt spid="947"/>
                                        </p:tgtEl>
                                      </p:cBhvr>
                                    </p:animEffect>
                                  </p:childTnLst>
                                </p:cTn>
                              </p:par>
                            </p:childTnLst>
                          </p:cTn>
                        </p:par>
                      </p:childTnLst>
                    </p:cTn>
                  </p:par>
                  <p:par>
                    <p:cTn id="1367" nodeType="clickEffect" fill="hold">
                      <p:stCondLst>
                        <p:cond delay="indefinite"/>
                      </p:stCondLst>
                      <p:childTnLst>
                        <p:par>
                          <p:cTn id="1368" nodeType="withEffect" fill="hold">
                            <p:stCondLst>
                              <p:cond delay="0"/>
                            </p:stCondLst>
                            <p:childTnLst>
                              <p:par>
                                <p:cTn id="1369" nodeType="clickEffect" fill="hold" presetClass="entr" presetID="9">
                                  <p:stCondLst>
                                    <p:cond delay="0"/>
                                  </p:stCondLst>
                                  <p:childTnLst>
                                    <p:set>
                                      <p:cBhvr>
                                        <p:cTn id="1370" dur="1" fill="hold">
                                          <p:stCondLst>
                                            <p:cond delay="0"/>
                                          </p:stCondLst>
                                        </p:cTn>
                                        <p:tgtEl>
                                          <p:spTgt spid="948"/>
                                        </p:tgtEl>
                                        <p:attrNameLst>
                                          <p:attrName>style.visibility</p:attrName>
                                        </p:attrNameLst>
                                      </p:cBhvr>
                                      <p:to>
                                        <p:strVal val="visible"/>
                                      </p:to>
                                    </p:set>
                                    <p:animEffect filter="dissolve" transition="in">
                                      <p:cBhvr additive="repl">
                                        <p:cTn id="1371" dur="500"/>
                                        <p:tgtEl>
                                          <p:spTgt spid="9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Text Box 2"/>
          <p:cNvSpPr/>
          <p:nvPr/>
        </p:nvSpPr>
        <p:spPr>
          <a:xfrm>
            <a:off x="3125880" y="3043080"/>
            <a:ext cx="254916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Bookman Old Style"/>
              </a:rPr>
              <a:t>La vitesse</a:t>
            </a:r>
            <a:endParaRPr b="0" lang="en-US" sz="3600" strike="noStrike" u="none">
              <a:solidFill>
                <a:srgbClr val="ffff00"/>
              </a:solidFill>
              <a:effectLst/>
              <a:uFillTx/>
              <a:latin typeface="Times New Roman"/>
            </a:endParaRPr>
          </a:p>
        </p:txBody>
      </p:sp>
    </p:spTree>
  </p:cSld>
  <p:transition spd="med">
    <p:zoom dir="out"/>
  </p:transition>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Text Box 2"/>
          <p:cNvSpPr/>
          <p:nvPr/>
        </p:nvSpPr>
        <p:spPr>
          <a:xfrm>
            <a:off x="3456720" y="457200"/>
            <a:ext cx="14875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omic Sans MS"/>
              </a:rPr>
              <a:t>Définition</a:t>
            </a:r>
            <a:endParaRPr b="0" lang="en-US" sz="2800" strike="noStrike" u="none">
              <a:solidFill>
                <a:srgbClr val="ffff00"/>
              </a:solidFill>
              <a:effectLst/>
              <a:uFillTx/>
              <a:latin typeface="Times New Roman"/>
            </a:endParaRPr>
          </a:p>
        </p:txBody>
      </p:sp>
      <p:sp>
        <p:nvSpPr>
          <p:cNvPr id="951" name="Text Box 4"/>
          <p:cNvSpPr/>
          <p:nvPr/>
        </p:nvSpPr>
        <p:spPr>
          <a:xfrm>
            <a:off x="152280" y="1523880"/>
            <a:ext cx="9142560" cy="14655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La vitesse gestuelle est définie comme le nombre maximum de mouvements cycliques (course, nage, cyclisme…) ou acycliques susceptibles d'être réalisés en un temps donné. </a:t>
            </a:r>
            <a:endParaRPr b="0" lang="en-US" sz="2000" strike="noStrike" u="none">
              <a:solidFill>
                <a:srgbClr val="ffff00"/>
              </a:solidFill>
              <a:effectLst/>
              <a:uFillTx/>
              <a:latin typeface="Times New Roman"/>
            </a:endParaRPr>
          </a:p>
        </p:txBody>
      </p:sp>
      <p:sp>
        <p:nvSpPr>
          <p:cNvPr id="952" name="Text Box 5"/>
          <p:cNvSpPr/>
          <p:nvPr/>
        </p:nvSpPr>
        <p:spPr>
          <a:xfrm>
            <a:off x="228600" y="3486240"/>
            <a:ext cx="8913960" cy="23799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Dans certaines activités, comme la nage, le cyclisme et la course sur courtes distances, la vitesse gestuelle entraîne une vitesse de déplacement.  Elle est alors définie comme le temps minimum mis pour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parcourir une distance donnée.</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Text Box 4"/>
          <p:cNvSpPr/>
          <p:nvPr/>
        </p:nvSpPr>
        <p:spPr>
          <a:xfrm>
            <a:off x="3832920" y="3657600"/>
            <a:ext cx="5386680" cy="1008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2 - de facteurs neuromusculaires à la jonction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du système de commande (le SNC) et du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système effecteur (le muscle)</a:t>
            </a:r>
            <a:endParaRPr b="0" lang="en-US" sz="2000" strike="noStrike" u="none">
              <a:solidFill>
                <a:srgbClr val="ffff00"/>
              </a:solidFill>
              <a:effectLst/>
              <a:uFillTx/>
              <a:latin typeface="Times New Roman"/>
            </a:endParaRPr>
          </a:p>
        </p:txBody>
      </p:sp>
      <p:sp>
        <p:nvSpPr>
          <p:cNvPr id="954" name="Text Box 14"/>
          <p:cNvSpPr/>
          <p:nvPr/>
        </p:nvSpPr>
        <p:spPr>
          <a:xfrm>
            <a:off x="3881160" y="5105520"/>
            <a:ext cx="32360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3 - de facteurs musculaires</a:t>
            </a:r>
            <a:endParaRPr b="0" lang="en-US" sz="2000" strike="noStrike" u="none">
              <a:solidFill>
                <a:srgbClr val="ffff00"/>
              </a:solidFill>
              <a:effectLst/>
              <a:uFillTx/>
              <a:latin typeface="Times New Roman"/>
            </a:endParaRPr>
          </a:p>
        </p:txBody>
      </p:sp>
      <p:sp>
        <p:nvSpPr>
          <p:cNvPr id="955" name="Text Box 24"/>
          <p:cNvSpPr/>
          <p:nvPr/>
        </p:nvSpPr>
        <p:spPr>
          <a:xfrm>
            <a:off x="3880080" y="2590920"/>
            <a:ext cx="47926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 de facteurs nerveux sous contrôle du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système nerveux central (SNC)</a:t>
            </a:r>
            <a:endParaRPr b="0" lang="en-US" sz="2000" strike="noStrike" u="none">
              <a:solidFill>
                <a:srgbClr val="ffff00"/>
              </a:solidFill>
              <a:effectLst/>
              <a:uFillTx/>
              <a:latin typeface="Times New Roman"/>
            </a:endParaRPr>
          </a:p>
        </p:txBody>
      </p:sp>
      <p:sp>
        <p:nvSpPr>
          <p:cNvPr id="956" name="Text Box 33"/>
          <p:cNvSpPr/>
          <p:nvPr/>
        </p:nvSpPr>
        <p:spPr>
          <a:xfrm>
            <a:off x="227880" y="3962520"/>
            <a:ext cx="2825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VITESSE GESTUELLE</a:t>
            </a:r>
            <a:endParaRPr b="0" lang="en-US" sz="2000" strike="noStrike" u="none">
              <a:solidFill>
                <a:srgbClr val="ffff00"/>
              </a:solidFill>
              <a:effectLst/>
              <a:uFillTx/>
              <a:latin typeface="Times New Roman"/>
            </a:endParaRPr>
          </a:p>
        </p:txBody>
      </p:sp>
      <p:sp>
        <p:nvSpPr>
          <p:cNvPr id="957" name="Line 34"/>
          <p:cNvSpPr/>
          <p:nvPr/>
        </p:nvSpPr>
        <p:spPr>
          <a:xfrm flipV="1">
            <a:off x="3122640" y="2971440"/>
            <a:ext cx="762120" cy="114300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8" name="Line 35"/>
          <p:cNvSpPr/>
          <p:nvPr/>
        </p:nvSpPr>
        <p:spPr>
          <a:xfrm>
            <a:off x="3122640" y="4114800"/>
            <a:ext cx="685800" cy="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59" name="Line 36"/>
          <p:cNvSpPr/>
          <p:nvPr/>
        </p:nvSpPr>
        <p:spPr>
          <a:xfrm>
            <a:off x="3122640" y="4114800"/>
            <a:ext cx="685800" cy="10666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1372" dur="indefinite" restart="never" nodeType="tmRoot">
          <p:childTnLst>
            <p:seq>
              <p:cTn id="1373" dur="indefinite" nodeType="mainSeq">
                <p:childTnLst>
                  <p:par>
                    <p:cTn id="1374" nodeType="clickEffect" fill="hold">
                      <p:stCondLst>
                        <p:cond delay="0"/>
                      </p:stCondLst>
                      <p:childTnLst>
                        <p:par>
                          <p:cTn id="1375" nodeType="withEffect" fill="hold">
                            <p:stCondLst>
                              <p:cond delay="0"/>
                            </p:stCondLst>
                            <p:childTnLst>
                              <p:par>
                                <p:cTn id="1376" nodeType="afterEffect" fill="hold" presetClass="entr" presetID="9">
                                  <p:stCondLst>
                                    <p:cond delay="1000"/>
                                  </p:stCondLst>
                                  <p:childTnLst>
                                    <p:set>
                                      <p:cBhvr>
                                        <p:cTn id="1377" dur="1" fill="hold">
                                          <p:stCondLst>
                                            <p:cond delay="0"/>
                                          </p:stCondLst>
                                        </p:cTn>
                                        <p:tgtEl>
                                          <p:spTgt spid="953"/>
                                        </p:tgtEl>
                                        <p:attrNameLst>
                                          <p:attrName>style.visibility</p:attrName>
                                        </p:attrNameLst>
                                      </p:cBhvr>
                                      <p:to>
                                        <p:strVal val="visible"/>
                                      </p:to>
                                    </p:set>
                                    <p:animEffect filter="dissolve" transition="in">
                                      <p:cBhvr additive="repl">
                                        <p:cTn id="1378" dur="500"/>
                                        <p:tgtEl>
                                          <p:spTgt spid="953"/>
                                        </p:tgtEl>
                                      </p:cBhvr>
                                    </p:animEffect>
                                  </p:childTnLst>
                                </p:cTn>
                              </p:par>
                            </p:childTnLst>
                          </p:cTn>
                        </p:par>
                      </p:childTnLst>
                    </p:cTn>
                  </p:par>
                  <p:par>
                    <p:cTn id="1379" nodeType="clickEffect" fill="hold">
                      <p:stCondLst>
                        <p:cond delay="indefinite"/>
                      </p:stCondLst>
                      <p:childTnLst>
                        <p:par>
                          <p:cTn id="1380" nodeType="withEffect" fill="hold">
                            <p:stCondLst>
                              <p:cond delay="0"/>
                            </p:stCondLst>
                            <p:childTnLst>
                              <p:par>
                                <p:cTn id="1381" nodeType="clickEffect" fill="hold" presetClass="entr" presetID="9">
                                  <p:stCondLst>
                                    <p:cond delay="0"/>
                                  </p:stCondLst>
                                  <p:childTnLst>
                                    <p:set>
                                      <p:cBhvr>
                                        <p:cTn id="1382" dur="1" fill="hold">
                                          <p:stCondLst>
                                            <p:cond delay="0"/>
                                          </p:stCondLst>
                                        </p:cTn>
                                        <p:tgtEl>
                                          <p:spTgt spid="954"/>
                                        </p:tgtEl>
                                        <p:attrNameLst>
                                          <p:attrName>style.visibility</p:attrName>
                                        </p:attrNameLst>
                                      </p:cBhvr>
                                      <p:to>
                                        <p:strVal val="visible"/>
                                      </p:to>
                                    </p:set>
                                    <p:animEffect filter="dissolve" transition="in">
                                      <p:cBhvr additive="repl">
                                        <p:cTn id="1383" dur="500"/>
                                        <p:tgtEl>
                                          <p:spTgt spid="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Text Box 2"/>
          <p:cNvSpPr/>
          <p:nvPr/>
        </p:nvSpPr>
        <p:spPr>
          <a:xfrm>
            <a:off x="-2880" y="2590920"/>
            <a:ext cx="271296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de facteurs nerveux</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(Temps de réaction)</a:t>
            </a:r>
            <a:endParaRPr b="0" lang="en-US" sz="2000" strike="noStrike" u="none">
              <a:solidFill>
                <a:srgbClr val="ffff00"/>
              </a:solidFill>
              <a:effectLst/>
              <a:uFillTx/>
              <a:latin typeface="Times New Roman"/>
            </a:endParaRPr>
          </a:p>
        </p:txBody>
      </p:sp>
      <p:sp>
        <p:nvSpPr>
          <p:cNvPr id="961" name="Line 3"/>
          <p:cNvSpPr/>
          <p:nvPr/>
        </p:nvSpPr>
        <p:spPr>
          <a:xfrm flipV="1">
            <a:off x="2684520" y="1905120"/>
            <a:ext cx="896760" cy="9540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2" name="Text Box 4"/>
          <p:cNvSpPr/>
          <p:nvPr/>
        </p:nvSpPr>
        <p:spPr>
          <a:xfrm>
            <a:off x="3579120" y="1676520"/>
            <a:ext cx="30384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Excitation des récepteurs</a:t>
            </a:r>
            <a:endParaRPr b="0" lang="en-US" sz="2000" strike="noStrike" u="none">
              <a:solidFill>
                <a:srgbClr val="ffff00"/>
              </a:solidFill>
              <a:effectLst/>
              <a:uFillTx/>
              <a:latin typeface="Times New Roman"/>
            </a:endParaRPr>
          </a:p>
        </p:txBody>
      </p:sp>
      <p:sp>
        <p:nvSpPr>
          <p:cNvPr id="963" name="Line 5"/>
          <p:cNvSpPr/>
          <p:nvPr/>
        </p:nvSpPr>
        <p:spPr>
          <a:xfrm flipV="1">
            <a:off x="2684520" y="2514240"/>
            <a:ext cx="820800" cy="3445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4" name="Text Box 6"/>
          <p:cNvSpPr/>
          <p:nvPr/>
        </p:nvSpPr>
        <p:spPr>
          <a:xfrm>
            <a:off x="3499200" y="2336760"/>
            <a:ext cx="53859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Transmission récepteurs-syst. nerveux central</a:t>
            </a:r>
            <a:endParaRPr b="0" lang="en-US" sz="2000" strike="noStrike" u="none">
              <a:solidFill>
                <a:srgbClr val="ffff00"/>
              </a:solidFill>
              <a:effectLst/>
              <a:uFillTx/>
              <a:latin typeface="Times New Roman"/>
            </a:endParaRPr>
          </a:p>
        </p:txBody>
      </p:sp>
      <p:sp>
        <p:nvSpPr>
          <p:cNvPr id="965" name="Line 7"/>
          <p:cNvSpPr/>
          <p:nvPr/>
        </p:nvSpPr>
        <p:spPr>
          <a:xfrm>
            <a:off x="2743200" y="2895480"/>
            <a:ext cx="762120" cy="15264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6" name="Text Box 8"/>
          <p:cNvSpPr/>
          <p:nvPr/>
        </p:nvSpPr>
        <p:spPr>
          <a:xfrm>
            <a:off x="3501360" y="2895480"/>
            <a:ext cx="47638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Elaboration de la réponse motrice (SNC)</a:t>
            </a:r>
            <a:endParaRPr b="0" lang="en-US" sz="2000" strike="noStrike" u="none">
              <a:solidFill>
                <a:srgbClr val="ffff00"/>
              </a:solidFill>
              <a:effectLst/>
              <a:uFillTx/>
              <a:latin typeface="Times New Roman"/>
            </a:endParaRPr>
          </a:p>
        </p:txBody>
      </p:sp>
      <p:sp>
        <p:nvSpPr>
          <p:cNvPr id="967" name="Line 9"/>
          <p:cNvSpPr/>
          <p:nvPr/>
        </p:nvSpPr>
        <p:spPr>
          <a:xfrm>
            <a:off x="2743200" y="2895480"/>
            <a:ext cx="762120" cy="7621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68" name="Text Box 10"/>
          <p:cNvSpPr/>
          <p:nvPr/>
        </p:nvSpPr>
        <p:spPr>
          <a:xfrm>
            <a:off x="3524040" y="3505320"/>
            <a:ext cx="562680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Acheminement de la commande motrice vers le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muscle</a:t>
            </a:r>
            <a:endParaRPr b="0" lang="en-US" sz="2000" strike="noStrike" u="none">
              <a:solidFill>
                <a:srgbClr val="ffff00"/>
              </a:solidFill>
              <a:effectLst/>
              <a:uFillTx/>
              <a:latin typeface="Times New Roman"/>
            </a:endParaRPr>
          </a:p>
        </p:txBody>
      </p:sp>
    </p:spTree>
  </p:cSld>
  <p:transition spd="med">
    <p:zoom dir="out"/>
  </p:transition>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9" name="Rectangle 2"/>
          <p:cNvSpPr/>
          <p:nvPr/>
        </p:nvSpPr>
        <p:spPr>
          <a:xfrm>
            <a:off x="2755440" y="228600"/>
            <a:ext cx="4166640" cy="5209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Temps de réaction (ms)</a:t>
            </a:r>
            <a:endParaRPr b="0" lang="en-US" sz="2800" strike="noStrike" u="none">
              <a:solidFill>
                <a:srgbClr val="ffff00"/>
              </a:solidFill>
              <a:effectLst/>
              <a:uFillTx/>
              <a:latin typeface="Times New Roman"/>
            </a:endParaRPr>
          </a:p>
        </p:txBody>
      </p:sp>
      <p:sp>
        <p:nvSpPr>
          <p:cNvPr id="970" name="Line 5"/>
          <p:cNvSpPr/>
          <p:nvPr/>
        </p:nvSpPr>
        <p:spPr>
          <a:xfrm flipH="1">
            <a:off x="2361960" y="1600200"/>
            <a:ext cx="685800" cy="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71" name="Text Box 6"/>
          <p:cNvSpPr/>
          <p:nvPr/>
        </p:nvSpPr>
        <p:spPr>
          <a:xfrm>
            <a:off x="3054960" y="1371600"/>
            <a:ext cx="1349640" cy="4597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Stimulus</a:t>
            </a:r>
            <a:endParaRPr b="0" lang="en-US" sz="2400" strike="noStrike" u="none">
              <a:solidFill>
                <a:srgbClr val="ffff00"/>
              </a:solidFill>
              <a:effectLst/>
              <a:uFillTx/>
              <a:latin typeface="Times New Roman"/>
            </a:endParaRPr>
          </a:p>
        </p:txBody>
      </p:sp>
      <p:sp>
        <p:nvSpPr>
          <p:cNvPr id="972" name="Freeform 9"/>
          <p:cNvSpPr/>
          <p:nvPr/>
        </p:nvSpPr>
        <p:spPr>
          <a:xfrm>
            <a:off x="914400" y="1676520"/>
            <a:ext cx="609480" cy="533160"/>
          </a:xfrm>
          <a:custGeom>
            <a:avLst/>
            <a:gdLst>
              <a:gd name="GluePoint1X" fmla="*/ 0 w 636"/>
              <a:gd name="GluePoint1Y" fmla="*/ 0 h 430"/>
              <a:gd name="GluePoint2X" fmla="*/ 2147483647 w 636"/>
              <a:gd name="GluePoint2Y" fmla="*/ 2147483647 h 430"/>
              <a:gd name="GluePoint3X" fmla="*/ 2147483647 w 636"/>
              <a:gd name="GluePoint3Y" fmla="*/ 2147483647 h 430"/>
              <a:gd name="GluePoint4X" fmla="*/ 2147483647 w 636"/>
              <a:gd name="GluePoint4Y" fmla="*/ 2147483647 h 430"/>
              <a:gd name="GluePoint5X" fmla="*/ 2147483647 w 636"/>
              <a:gd name="GluePoint5Y" fmla="*/ 2147483647 h 430"/>
              <a:gd name="GluePoint6X" fmla="*/ 2147483647 w 636"/>
              <a:gd name="GluePoint6Y" fmla="*/ 2147483647 h 430"/>
              <a:gd name="GluePoint7X" fmla="*/ 2147483647 w 636"/>
              <a:gd name="GluePoint7Y" fmla="*/ 2147483647 h 430"/>
              <a:gd name="GluePoint8X" fmla="*/ 2147483647 w 636"/>
              <a:gd name="GluePoint8Y" fmla="*/ 2147483647 h 430"/>
              <a:gd name="GluePoint9X" fmla="*/ 2147483647 w 636"/>
              <a:gd name="GluePoint9Y" fmla="*/ 2147483647 h 430"/>
              <a:gd name="GluePoint10X" fmla="*/ 2147483647 w 636"/>
              <a:gd name="GluePoint10Y" fmla="*/ 2147483647 h 430"/>
              <a:gd name="GluePoint11X" fmla="*/ 2147483647 w 636"/>
              <a:gd name="GluePoint11Y" fmla="*/ 2147483647 h 430"/>
              <a:gd name="GluePoint12X" fmla="*/ 2147483647 w 636"/>
              <a:gd name="GluePoint12Y" fmla="*/ 2147483647 h 430"/>
              <a:gd name="GluePoint13X" fmla="*/ 2147483647 w 636"/>
              <a:gd name="GluePoint13Y" fmla="*/ 2147483647 h 430"/>
              <a:gd name="GluePoint14X" fmla="*/ 2147483647 w 636"/>
              <a:gd name="GluePoint14Y" fmla="*/ 2147483647 h 4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l" t="t" r="r" b="b"/>
            <a:pathLst>
              <a:path w="636" h="430">
                <a:moveTo>
                  <a:pt x="0" y="0"/>
                </a:moveTo>
                <a:cubicBezTo>
                  <a:pt x="2" y="15"/>
                  <a:pt x="2" y="55"/>
                  <a:pt x="11" y="85"/>
                </a:cubicBezTo>
                <a:cubicBezTo>
                  <a:pt x="20" y="115"/>
                  <a:pt x="29" y="158"/>
                  <a:pt x="52" y="181"/>
                </a:cubicBezTo>
                <a:cubicBezTo>
                  <a:pt x="75" y="204"/>
                  <a:pt x="116" y="217"/>
                  <a:pt x="150" y="220"/>
                </a:cubicBezTo>
                <a:cubicBezTo>
                  <a:pt x="185" y="224"/>
                  <a:pt x="229" y="202"/>
                  <a:pt x="259" y="204"/>
                </a:cubicBezTo>
                <a:cubicBezTo>
                  <a:pt x="289" y="205"/>
                  <a:pt x="306" y="233"/>
                  <a:pt x="328" y="231"/>
                </a:cubicBezTo>
                <a:cubicBezTo>
                  <a:pt x="349" y="230"/>
                  <a:pt x="388" y="181"/>
                  <a:pt x="391" y="195"/>
                </a:cubicBezTo>
                <a:cubicBezTo>
                  <a:pt x="394" y="208"/>
                  <a:pt x="359" y="275"/>
                  <a:pt x="348" y="312"/>
                </a:cubicBezTo>
                <a:cubicBezTo>
                  <a:pt x="338" y="348"/>
                  <a:pt x="326" y="397"/>
                  <a:pt x="328" y="413"/>
                </a:cubicBezTo>
                <a:cubicBezTo>
                  <a:pt x="330" y="430"/>
                  <a:pt x="349" y="419"/>
                  <a:pt x="359" y="413"/>
                </a:cubicBezTo>
                <a:cubicBezTo>
                  <a:pt x="370" y="407"/>
                  <a:pt x="370" y="407"/>
                  <a:pt x="391" y="377"/>
                </a:cubicBezTo>
                <a:cubicBezTo>
                  <a:pt x="412" y="346"/>
                  <a:pt x="449" y="268"/>
                  <a:pt x="486" y="231"/>
                </a:cubicBezTo>
                <a:cubicBezTo>
                  <a:pt x="523" y="195"/>
                  <a:pt x="589" y="181"/>
                  <a:pt x="612" y="158"/>
                </a:cubicBezTo>
                <a:cubicBezTo>
                  <a:pt x="636" y="135"/>
                  <a:pt x="625" y="109"/>
                  <a:pt x="629" y="96"/>
                </a:cubicBezTo>
              </a:path>
            </a:pathLst>
          </a:custGeom>
          <a:solidFill>
            <a:srgbClr val="ff99cc"/>
          </a:solidFill>
          <a:ln w="2844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73" name="Freeform 10"/>
          <p:cNvSpPr/>
          <p:nvPr/>
        </p:nvSpPr>
        <p:spPr>
          <a:xfrm>
            <a:off x="609480" y="762120"/>
            <a:ext cx="1703520" cy="1069920"/>
          </a:xfrm>
          <a:custGeom>
            <a:avLst/>
            <a:gdLst>
              <a:gd name="GluePoint1X" fmla="*/ 2147483647 w 2167"/>
              <a:gd name="GluePoint1Y" fmla="*/ 2147483647 h 1379"/>
              <a:gd name="GluePoint2X" fmla="*/ 2147483647 w 2167"/>
              <a:gd name="GluePoint2Y" fmla="*/ 2147483647 h 1379"/>
              <a:gd name="GluePoint3X" fmla="*/ 2147483647 w 2167"/>
              <a:gd name="GluePoint3Y" fmla="*/ 2147483647 h 1379"/>
              <a:gd name="GluePoint4X" fmla="*/ 2147483647 w 2167"/>
              <a:gd name="GluePoint4Y" fmla="*/ 2147483647 h 1379"/>
              <a:gd name="GluePoint5X" fmla="*/ 2147483647 w 2167"/>
              <a:gd name="GluePoint5Y" fmla="*/ 2147483647 h 1379"/>
              <a:gd name="GluePoint6X" fmla="*/ 2147483647 w 2167"/>
              <a:gd name="GluePoint6Y" fmla="*/ 2147483647 h 1379"/>
              <a:gd name="GluePoint7X" fmla="*/ 2147483647 w 2167"/>
              <a:gd name="GluePoint7Y" fmla="*/ 2147483647 h 1379"/>
              <a:gd name="GluePoint8X" fmla="*/ 2147483647 w 2167"/>
              <a:gd name="GluePoint8Y" fmla="*/ 2147483647 h 1379"/>
              <a:gd name="GluePoint9X" fmla="*/ 2147483647 w 2167"/>
              <a:gd name="GluePoint9Y" fmla="*/ 2147483647 h 1379"/>
              <a:gd name="GluePoint10X" fmla="*/ 2147483647 w 2167"/>
              <a:gd name="GluePoint10Y" fmla="*/ 2147483647 h 1379"/>
              <a:gd name="GluePoint11X" fmla="*/ 2147483647 w 2167"/>
              <a:gd name="GluePoint11Y" fmla="*/ 2147483647 h 1379"/>
              <a:gd name="GluePoint12X" fmla="*/ 2147483647 w 2167"/>
              <a:gd name="GluePoint12Y" fmla="*/ 2147483647 h 1379"/>
              <a:gd name="GluePoint13X" fmla="*/ 2147483647 w 2167"/>
              <a:gd name="GluePoint13Y" fmla="*/ 2147483647 h 1379"/>
              <a:gd name="GluePoint14X" fmla="*/ 2147483647 w 2167"/>
              <a:gd name="GluePoint14Y" fmla="*/ 2147483647 h 1379"/>
              <a:gd name="GluePoint15X" fmla="*/ 2147483647 w 2167"/>
              <a:gd name="GluePoint15Y" fmla="*/ 2147483647 h 1379"/>
              <a:gd name="GluePoint16X" fmla="*/ 2147483647 w 2167"/>
              <a:gd name="GluePoint16Y" fmla="*/ 2147483647 h 1379"/>
              <a:gd name="GluePoint17X" fmla="*/ 2147483647 w 2167"/>
              <a:gd name="GluePoint17Y" fmla="*/ 2147483647 h 1379"/>
              <a:gd name="GluePoint18X" fmla="*/ 2147483647 w 2167"/>
              <a:gd name="GluePoint18Y" fmla="*/ 2147483647 h 1379"/>
              <a:gd name="GluePoint19X" fmla="*/ 2147483647 w 2167"/>
              <a:gd name="GluePoint19Y" fmla="*/ 2147483647 h 1379"/>
              <a:gd name="GluePoint20X" fmla="*/ 2147483647 w 2167"/>
              <a:gd name="GluePoint20Y" fmla="*/ 2147483647 h 1379"/>
              <a:gd name="GluePoint21X" fmla="*/ 2147483647 w 2167"/>
              <a:gd name="GluePoint21Y" fmla="*/ 2147483647 h 1379"/>
              <a:gd name="GluePoint22X" fmla="*/ 2147483647 w 2167"/>
              <a:gd name="GluePoint22Y" fmla="*/ 2147483647 h 1379"/>
              <a:gd name="GluePoint23X" fmla="*/ 2147483647 w 2167"/>
              <a:gd name="GluePoint23Y" fmla="*/ 2147483647 h 1379"/>
              <a:gd name="GluePoint24X" fmla="*/ 2147483647 w 2167"/>
              <a:gd name="GluePoint24Y" fmla="*/ 2147483647 h 1379"/>
              <a:gd name="GluePoint25X" fmla="*/ 2147483647 w 2167"/>
              <a:gd name="GluePoint25Y" fmla="*/ 2147483647 h 1379"/>
              <a:gd name="GluePoint26X" fmla="*/ 2147483647 w 2167"/>
              <a:gd name="GluePoint26Y" fmla="*/ 2147483647 h 1379"/>
              <a:gd name="GluePoint27X" fmla="*/ 2147483647 w 2167"/>
              <a:gd name="GluePoint27Y" fmla="*/ 2147483647 h 1379"/>
              <a:gd name="GluePoint28X" fmla="*/ 2147483647 w 2167"/>
              <a:gd name="GluePoint28Y" fmla="*/ 2147483647 h 1379"/>
              <a:gd name="GluePoint29X" fmla="*/ 2147483647 w 2167"/>
              <a:gd name="GluePoint29Y" fmla="*/ 2147483647 h 1379"/>
              <a:gd name="GluePoint30X" fmla="*/ 2147483647 w 2167"/>
              <a:gd name="GluePoint30Y" fmla="*/ 2147483647 h 1379"/>
              <a:gd name="GluePoint31X" fmla="*/ 2147483647 w 2167"/>
              <a:gd name="GluePoint31Y" fmla="*/ 2147483647 h 1379"/>
              <a:gd name="GluePoint32X" fmla="*/ 2147483647 w 2167"/>
              <a:gd name="GluePoint32Y" fmla="*/ 2147483647 h 1379"/>
              <a:gd name="GluePoint33X" fmla="*/ 2147483647 w 2167"/>
              <a:gd name="GluePoint33Y" fmla="*/ 2147483647 h 1379"/>
              <a:gd name="GluePoint34X" fmla="*/ 2147483647 w 2167"/>
              <a:gd name="GluePoint34Y" fmla="*/ 2147483647 h 1379"/>
              <a:gd name="GluePoint35X" fmla="*/ 2147483647 w 2167"/>
              <a:gd name="GluePoint35Y" fmla="*/ 2147483647 h 1379"/>
              <a:gd name="GluePoint36X" fmla="*/ 2147483647 w 2167"/>
              <a:gd name="GluePoint36Y" fmla="*/ 2147483647 h 1379"/>
              <a:gd name="GluePoint37X" fmla="*/ 2147483647 w 2167"/>
              <a:gd name="GluePoint37Y" fmla="*/ 2147483647 h 1379"/>
              <a:gd name="GluePoint38X" fmla="*/ 2147483647 w 2167"/>
              <a:gd name="GluePoint38Y" fmla="*/ 2147483647 h 1379"/>
              <a:gd name="GluePoint39X" fmla="*/ 2147483647 w 2167"/>
              <a:gd name="GluePoint39Y" fmla="*/ 2147483647 h 1379"/>
              <a:gd name="GluePoint40X" fmla="*/ 2147483647 w 2167"/>
              <a:gd name="GluePoint40Y" fmla="*/ 2147483647 h 1379"/>
              <a:gd name="GluePoint41X" fmla="*/ 2147483647 w 2167"/>
              <a:gd name="GluePoint41Y" fmla="*/ 2147483647 h 1379"/>
              <a:gd name="GluePoint42X" fmla="*/ 2147483647 w 2167"/>
              <a:gd name="GluePoint42Y" fmla="*/ 2147483647 h 1379"/>
              <a:gd name="GluePoint43X" fmla="*/ 2147483647 w 2167"/>
              <a:gd name="GluePoint43Y" fmla="*/ 2147483647 h 1379"/>
              <a:gd name="GluePoint44X" fmla="*/ 2147483647 w 2167"/>
              <a:gd name="GluePoint44Y" fmla="*/ 2147483647 h 13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Lst>
            <a:rect l="l" t="t" r="r" b="b"/>
            <a:pathLst>
              <a:path w="2167" h="1379">
                <a:moveTo>
                  <a:pt x="677" y="440"/>
                </a:moveTo>
                <a:cubicBezTo>
                  <a:pt x="688" y="450"/>
                  <a:pt x="721" y="458"/>
                  <a:pt x="745" y="498"/>
                </a:cubicBezTo>
                <a:cubicBezTo>
                  <a:pt x="769" y="538"/>
                  <a:pt x="792" y="642"/>
                  <a:pt x="821" y="680"/>
                </a:cubicBezTo>
                <a:cubicBezTo>
                  <a:pt x="850" y="718"/>
                  <a:pt x="877" y="712"/>
                  <a:pt x="917" y="728"/>
                </a:cubicBezTo>
                <a:cubicBezTo>
                  <a:pt x="957" y="744"/>
                  <a:pt x="1013" y="768"/>
                  <a:pt x="1061" y="776"/>
                </a:cubicBezTo>
                <a:cubicBezTo>
                  <a:pt x="1109" y="784"/>
                  <a:pt x="1149" y="760"/>
                  <a:pt x="1205" y="776"/>
                </a:cubicBezTo>
                <a:cubicBezTo>
                  <a:pt x="1261" y="792"/>
                  <a:pt x="1337" y="831"/>
                  <a:pt x="1397" y="872"/>
                </a:cubicBezTo>
                <a:cubicBezTo>
                  <a:pt x="1457" y="913"/>
                  <a:pt x="1535" y="972"/>
                  <a:pt x="1568" y="1022"/>
                </a:cubicBezTo>
                <a:cubicBezTo>
                  <a:pt x="1601" y="1072"/>
                  <a:pt x="1579" y="1140"/>
                  <a:pt x="1598" y="1171"/>
                </a:cubicBezTo>
                <a:cubicBezTo>
                  <a:pt x="1617" y="1202"/>
                  <a:pt x="1655" y="1202"/>
                  <a:pt x="1685" y="1208"/>
                </a:cubicBezTo>
                <a:cubicBezTo>
                  <a:pt x="1715" y="1214"/>
                  <a:pt x="1725" y="1224"/>
                  <a:pt x="1781" y="1208"/>
                </a:cubicBezTo>
                <a:cubicBezTo>
                  <a:pt x="1837" y="1192"/>
                  <a:pt x="1963" y="1154"/>
                  <a:pt x="2021" y="1112"/>
                </a:cubicBezTo>
                <a:cubicBezTo>
                  <a:pt x="2079" y="1070"/>
                  <a:pt x="2105" y="1002"/>
                  <a:pt x="2129" y="954"/>
                </a:cubicBezTo>
                <a:cubicBezTo>
                  <a:pt x="2153" y="906"/>
                  <a:pt x="2167" y="862"/>
                  <a:pt x="2165" y="824"/>
                </a:cubicBezTo>
                <a:cubicBezTo>
                  <a:pt x="2163" y="786"/>
                  <a:pt x="2124" y="765"/>
                  <a:pt x="2117" y="728"/>
                </a:cubicBezTo>
                <a:cubicBezTo>
                  <a:pt x="2110" y="691"/>
                  <a:pt x="2133" y="645"/>
                  <a:pt x="2121" y="603"/>
                </a:cubicBezTo>
                <a:cubicBezTo>
                  <a:pt x="2109" y="561"/>
                  <a:pt x="2079" y="527"/>
                  <a:pt x="2047" y="476"/>
                </a:cubicBezTo>
                <a:cubicBezTo>
                  <a:pt x="2015" y="425"/>
                  <a:pt x="1993" y="347"/>
                  <a:pt x="1927" y="296"/>
                </a:cubicBezTo>
                <a:cubicBezTo>
                  <a:pt x="1861" y="245"/>
                  <a:pt x="1730" y="201"/>
                  <a:pt x="1650" y="169"/>
                </a:cubicBezTo>
                <a:cubicBezTo>
                  <a:pt x="1570" y="137"/>
                  <a:pt x="1519" y="131"/>
                  <a:pt x="1445" y="104"/>
                </a:cubicBezTo>
                <a:cubicBezTo>
                  <a:pt x="1371" y="77"/>
                  <a:pt x="1309" y="16"/>
                  <a:pt x="1205" y="8"/>
                </a:cubicBezTo>
                <a:cubicBezTo>
                  <a:pt x="1101" y="0"/>
                  <a:pt x="870" y="31"/>
                  <a:pt x="821" y="56"/>
                </a:cubicBezTo>
                <a:cubicBezTo>
                  <a:pt x="772" y="81"/>
                  <a:pt x="888" y="117"/>
                  <a:pt x="910" y="161"/>
                </a:cubicBezTo>
                <a:cubicBezTo>
                  <a:pt x="932" y="205"/>
                  <a:pt x="952" y="314"/>
                  <a:pt x="954" y="318"/>
                </a:cubicBezTo>
                <a:cubicBezTo>
                  <a:pt x="956" y="322"/>
                  <a:pt x="945" y="215"/>
                  <a:pt x="924" y="184"/>
                </a:cubicBezTo>
                <a:cubicBezTo>
                  <a:pt x="903" y="153"/>
                  <a:pt x="863" y="150"/>
                  <a:pt x="827" y="131"/>
                </a:cubicBezTo>
                <a:cubicBezTo>
                  <a:pt x="791" y="112"/>
                  <a:pt x="760" y="71"/>
                  <a:pt x="708" y="72"/>
                </a:cubicBezTo>
                <a:cubicBezTo>
                  <a:pt x="656" y="73"/>
                  <a:pt x="574" y="110"/>
                  <a:pt x="513" y="139"/>
                </a:cubicBezTo>
                <a:cubicBezTo>
                  <a:pt x="452" y="168"/>
                  <a:pt x="391" y="211"/>
                  <a:pt x="341" y="248"/>
                </a:cubicBezTo>
                <a:cubicBezTo>
                  <a:pt x="291" y="285"/>
                  <a:pt x="260" y="315"/>
                  <a:pt x="214" y="363"/>
                </a:cubicBezTo>
                <a:cubicBezTo>
                  <a:pt x="168" y="411"/>
                  <a:pt x="99" y="474"/>
                  <a:pt x="64" y="535"/>
                </a:cubicBezTo>
                <a:cubicBezTo>
                  <a:pt x="29" y="596"/>
                  <a:pt x="10" y="663"/>
                  <a:pt x="5" y="728"/>
                </a:cubicBezTo>
                <a:cubicBezTo>
                  <a:pt x="0" y="793"/>
                  <a:pt x="32" y="865"/>
                  <a:pt x="34" y="924"/>
                </a:cubicBezTo>
                <a:cubicBezTo>
                  <a:pt x="36" y="983"/>
                  <a:pt x="8" y="1042"/>
                  <a:pt x="19" y="1081"/>
                </a:cubicBezTo>
                <a:cubicBezTo>
                  <a:pt x="30" y="1120"/>
                  <a:pt x="59" y="1136"/>
                  <a:pt x="101" y="1160"/>
                </a:cubicBezTo>
                <a:cubicBezTo>
                  <a:pt x="143" y="1184"/>
                  <a:pt x="210" y="1208"/>
                  <a:pt x="274" y="1224"/>
                </a:cubicBezTo>
                <a:cubicBezTo>
                  <a:pt x="338" y="1240"/>
                  <a:pt x="418" y="1251"/>
                  <a:pt x="485" y="1256"/>
                </a:cubicBezTo>
                <a:cubicBezTo>
                  <a:pt x="552" y="1261"/>
                  <a:pt x="605" y="1256"/>
                  <a:pt x="677" y="1256"/>
                </a:cubicBezTo>
                <a:cubicBezTo>
                  <a:pt x="749" y="1256"/>
                  <a:pt x="845" y="1240"/>
                  <a:pt x="917" y="1256"/>
                </a:cubicBezTo>
                <a:cubicBezTo>
                  <a:pt x="989" y="1272"/>
                  <a:pt x="1054" y="1333"/>
                  <a:pt x="1109" y="1352"/>
                </a:cubicBezTo>
                <a:cubicBezTo>
                  <a:pt x="1164" y="1371"/>
                  <a:pt x="1190" y="1373"/>
                  <a:pt x="1246" y="1373"/>
                </a:cubicBezTo>
                <a:cubicBezTo>
                  <a:pt x="1302" y="1373"/>
                  <a:pt x="1388" y="1379"/>
                  <a:pt x="1445" y="1352"/>
                </a:cubicBezTo>
                <a:cubicBezTo>
                  <a:pt x="1502" y="1325"/>
                  <a:pt x="1573" y="1272"/>
                  <a:pt x="1589" y="1208"/>
                </a:cubicBezTo>
                <a:cubicBezTo>
                  <a:pt x="1605" y="1144"/>
                  <a:pt x="1573" y="1056"/>
                  <a:pt x="1541" y="968"/>
                </a:cubicBezTo>
              </a:path>
            </a:pathLst>
          </a:custGeom>
          <a:solidFill>
            <a:srgbClr val="b2b2b2"/>
          </a:solidFill>
          <a:ln w="2844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74" name="Arc 12"/>
          <p:cNvSpPr/>
          <p:nvPr/>
        </p:nvSpPr>
        <p:spPr>
          <a:xfrm>
            <a:off x="620640" y="2819520"/>
            <a:ext cx="1139760" cy="541080"/>
          </a:xfrm>
          <a:custGeom>
            <a:avLst/>
            <a:gdLst>
              <a:gd name="GluePoint1X" fmla="*/ 2147483647 w 43200"/>
              <a:gd name="GluePoint1Y" fmla="*/ 2147483647 h 43195"/>
              <a:gd name="GluePoint2X" fmla="*/ 2147483647 w 43200"/>
              <a:gd name="GluePoint2Y" fmla="*/ 2147483647 h 43195"/>
              <a:gd name="GluePoint3X" fmla="*/ 2147483647 w 43200"/>
              <a:gd name="GluePoint3Y" fmla="*/ 2147483647 h 43195"/>
            </a:gdLst>
            <a:ahLst/>
            <a:cxnLst>
              <a:cxn ang="0">
                <a:pos x="GluePoint1X" y="GluePoint1Y"/>
              </a:cxn>
              <a:cxn ang="0">
                <a:pos x="GluePoint2X" y="GluePoint2Y"/>
              </a:cxn>
              <a:cxn ang="0">
                <a:pos x="GluePoint3X" y="GluePoint3Y"/>
              </a:cxn>
            </a:cxnLst>
            <a:rect l="l" t="t" r="r" b="b"/>
            <a:pathLst>
              <a:path fill="none" w="43200" h="43195">
                <a:moveTo>
                  <a:pt x="15380" y="-23251"/>
                </a:moveTo>
                <a:cubicBezTo>
                  <a:pt x="6250" y="-25996"/>
                  <a:pt x="0" y="31133"/>
                  <a:pt x="0" y="21600"/>
                </a:cubicBezTo>
                <a:cubicBezTo>
                  <a:pt x="0" y="9670"/>
                  <a:pt x="9670" y="0"/>
                  <a:pt x="21600" y="0"/>
                </a:cubicBezTo>
                <a:cubicBezTo>
                  <a:pt x="-32007" y="0"/>
                  <a:pt x="-22336" y="9670"/>
                  <a:pt x="-22336" y="21600"/>
                </a:cubicBezTo>
                <a:cubicBezTo>
                  <a:pt x="-22336" y="-32193"/>
                  <a:pt x="-31719" y="-22601"/>
                  <a:pt x="22075" y="-22342"/>
                </a:cubicBezTo>
              </a:path>
              <a:path stroke="0" w="43200" h="43195">
                <a:moveTo>
                  <a:pt x="15380" y="-23251"/>
                </a:moveTo>
                <a:cubicBezTo>
                  <a:pt x="6250" y="-25996"/>
                  <a:pt x="0" y="31133"/>
                  <a:pt x="0" y="21600"/>
                </a:cubicBezTo>
                <a:cubicBezTo>
                  <a:pt x="0" y="9670"/>
                  <a:pt x="9670" y="0"/>
                  <a:pt x="21600" y="0"/>
                </a:cubicBezTo>
                <a:cubicBezTo>
                  <a:pt x="-32007" y="0"/>
                  <a:pt x="-22336" y="9670"/>
                  <a:pt x="-22336" y="21600"/>
                </a:cubicBezTo>
                <a:cubicBezTo>
                  <a:pt x="-22336" y="-32193"/>
                  <a:pt x="-31719" y="-22601"/>
                  <a:pt x="22075" y="-22342"/>
                </a:cubicBezTo>
                <a:lnTo>
                  <a:pt x="21600" y="21600"/>
                </a:lnTo>
                <a:lnTo>
                  <a:pt x="15380" y="-23251"/>
                </a:lnTo>
                <a:close/>
              </a:path>
            </a:pathLst>
          </a:custGeom>
          <a:solidFill>
            <a:srgbClr val="b2b2b2"/>
          </a:solidFill>
          <a:ln w="9360">
            <a:solidFill>
              <a:srgbClr val="ffff00"/>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975" name="Freeform 16"/>
          <p:cNvSpPr/>
          <p:nvPr/>
        </p:nvSpPr>
        <p:spPr>
          <a:xfrm>
            <a:off x="1066680" y="3200400"/>
            <a:ext cx="154080" cy="203040"/>
          </a:xfrm>
          <a:custGeom>
            <a:avLst/>
            <a:gdLst>
              <a:gd name="GluePoint1X" fmla="*/ 2147483647 w 96"/>
              <a:gd name="GluePoint1Y" fmla="*/ 2147483647 h 144"/>
              <a:gd name="GluePoint2X" fmla="*/ 2147483647 w 96"/>
              <a:gd name="GluePoint2Y" fmla="*/ 0 h 144"/>
              <a:gd name="GluePoint3X" fmla="*/ 0 w 96"/>
              <a:gd name="GluePoint3Y" fmla="*/ 2147483647 h 144"/>
            </a:gdLst>
            <a:ahLst/>
            <a:cxnLst>
              <a:cxn ang="0">
                <a:pos x="GluePoint1X" y="GluePoint1Y"/>
              </a:cxn>
              <a:cxn ang="0">
                <a:pos x="GluePoint2X" y="GluePoint2Y"/>
              </a:cxn>
              <a:cxn ang="0">
                <a:pos x="GluePoint3X" y="GluePoint3Y"/>
              </a:cxn>
            </a:cxnLst>
            <a:rect l="l" t="t" r="r" b="b"/>
            <a:pathLst>
              <a:path w="96" h="144">
                <a:moveTo>
                  <a:pt x="96" y="144"/>
                </a:moveTo>
                <a:cubicBezTo>
                  <a:pt x="80" y="72"/>
                  <a:pt x="64" y="0"/>
                  <a:pt x="48" y="0"/>
                </a:cubicBezTo>
                <a:cubicBezTo>
                  <a:pt x="32" y="0"/>
                  <a:pt x="8" y="120"/>
                  <a:pt x="0" y="144"/>
                </a:cubicBezTo>
              </a:path>
            </a:pathLst>
          </a:custGeom>
          <a:noFill/>
          <a:ln w="9360">
            <a:solidFill>
              <a:srgbClr val="b2b2b2"/>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76" name="Freeform 18"/>
          <p:cNvSpPr/>
          <p:nvPr/>
        </p:nvSpPr>
        <p:spPr>
          <a:xfrm>
            <a:off x="762120" y="2895480"/>
            <a:ext cx="766800" cy="362160"/>
          </a:xfrm>
          <a:custGeom>
            <a:avLst/>
            <a:gdLst>
              <a:gd name="GluePoint1X" fmla="*/ 2147483647 w 624"/>
              <a:gd name="GluePoint1Y" fmla="*/ 2147483647 h 416"/>
              <a:gd name="GluePoint2X" fmla="*/ 2147483647 w 624"/>
              <a:gd name="GluePoint2Y" fmla="*/ 2147483647 h 416"/>
              <a:gd name="GluePoint3X" fmla="*/ 2147483647 w 624"/>
              <a:gd name="GluePoint3Y" fmla="*/ 2147483647 h 416"/>
              <a:gd name="GluePoint4X" fmla="*/ 2147483647 w 624"/>
              <a:gd name="GluePoint4Y" fmla="*/ 2147483647 h 416"/>
              <a:gd name="GluePoint5X" fmla="*/ 2147483647 w 624"/>
              <a:gd name="GluePoint5Y" fmla="*/ 2147483647 h 416"/>
              <a:gd name="GluePoint6X" fmla="*/ 2147483647 w 624"/>
              <a:gd name="GluePoint6Y" fmla="*/ 2147483647 h 416"/>
              <a:gd name="GluePoint7X" fmla="*/ 2147483647 w 624"/>
              <a:gd name="GluePoint7Y" fmla="*/ 2147483647 h 416"/>
              <a:gd name="GluePoint8X" fmla="*/ 2147483647 w 624"/>
              <a:gd name="GluePoint8Y" fmla="*/ 2147483647 h 416"/>
              <a:gd name="GluePoint9X" fmla="*/ 2147483647 w 624"/>
              <a:gd name="GluePoint9Y" fmla="*/ 2147483647 h 416"/>
              <a:gd name="GluePoint10X" fmla="*/ 2147483647 w 624"/>
              <a:gd name="GluePoint10Y" fmla="*/ 2147483647 h 416"/>
              <a:gd name="GluePoint11X" fmla="*/ 2147483647 w 624"/>
              <a:gd name="GluePoint11Y" fmla="*/ 2147483647 h 416"/>
              <a:gd name="GluePoint12X" fmla="*/ 2147483647 w 624"/>
              <a:gd name="GluePoint12Y" fmla="*/ 2147483647 h 416"/>
              <a:gd name="GluePoint13X" fmla="*/ 2147483647 w 624"/>
              <a:gd name="GluePoint13Y" fmla="*/ 2147483647 h 416"/>
              <a:gd name="GluePoint14X" fmla="*/ 2147483647 w 624"/>
              <a:gd name="GluePoint14Y" fmla="*/ 2147483647 h 416"/>
              <a:gd name="GluePoint15X" fmla="*/ 2147483647 w 624"/>
              <a:gd name="GluePoint15Y" fmla="*/ 2147483647 h 416"/>
              <a:gd name="GluePoint16X" fmla="*/ 2147483647 w 624"/>
              <a:gd name="GluePoint16Y" fmla="*/ 2147483647 h 416"/>
              <a:gd name="GluePoint17X" fmla="*/ 2147483647 w 624"/>
              <a:gd name="GluePoint17Y" fmla="*/ 2147483647 h 416"/>
              <a:gd name="GluePoint18X" fmla="*/ 2147483647 w 624"/>
              <a:gd name="GluePoint18Y" fmla="*/ 2147483647 h 4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l" t="t" r="r" b="b"/>
            <a:pathLst>
              <a:path w="624" h="416">
                <a:moveTo>
                  <a:pt x="24" y="64"/>
                </a:moveTo>
                <a:cubicBezTo>
                  <a:pt x="24" y="80"/>
                  <a:pt x="104" y="128"/>
                  <a:pt x="120" y="160"/>
                </a:cubicBezTo>
                <a:cubicBezTo>
                  <a:pt x="136" y="192"/>
                  <a:pt x="136" y="232"/>
                  <a:pt x="120" y="256"/>
                </a:cubicBezTo>
                <a:cubicBezTo>
                  <a:pt x="104" y="280"/>
                  <a:pt x="40" y="280"/>
                  <a:pt x="24" y="304"/>
                </a:cubicBezTo>
                <a:cubicBezTo>
                  <a:pt x="8" y="328"/>
                  <a:pt x="0" y="384"/>
                  <a:pt x="24" y="400"/>
                </a:cubicBezTo>
                <a:cubicBezTo>
                  <a:pt x="48" y="416"/>
                  <a:pt x="136" y="416"/>
                  <a:pt x="168" y="400"/>
                </a:cubicBezTo>
                <a:cubicBezTo>
                  <a:pt x="200" y="384"/>
                  <a:pt x="192" y="328"/>
                  <a:pt x="216" y="304"/>
                </a:cubicBezTo>
                <a:cubicBezTo>
                  <a:pt x="240" y="280"/>
                  <a:pt x="280" y="248"/>
                  <a:pt x="312" y="256"/>
                </a:cubicBezTo>
                <a:cubicBezTo>
                  <a:pt x="344" y="264"/>
                  <a:pt x="384" y="328"/>
                  <a:pt x="408" y="352"/>
                </a:cubicBezTo>
                <a:cubicBezTo>
                  <a:pt x="432" y="376"/>
                  <a:pt x="432" y="392"/>
                  <a:pt x="456" y="400"/>
                </a:cubicBezTo>
                <a:cubicBezTo>
                  <a:pt x="480" y="408"/>
                  <a:pt x="528" y="416"/>
                  <a:pt x="552" y="400"/>
                </a:cubicBezTo>
                <a:cubicBezTo>
                  <a:pt x="576" y="384"/>
                  <a:pt x="624" y="336"/>
                  <a:pt x="600" y="304"/>
                </a:cubicBezTo>
                <a:cubicBezTo>
                  <a:pt x="576" y="272"/>
                  <a:pt x="416" y="256"/>
                  <a:pt x="408" y="208"/>
                </a:cubicBezTo>
                <a:cubicBezTo>
                  <a:pt x="400" y="160"/>
                  <a:pt x="560" y="32"/>
                  <a:pt x="552" y="16"/>
                </a:cubicBezTo>
                <a:cubicBezTo>
                  <a:pt x="544" y="0"/>
                  <a:pt x="408" y="88"/>
                  <a:pt x="360" y="112"/>
                </a:cubicBezTo>
                <a:cubicBezTo>
                  <a:pt x="312" y="136"/>
                  <a:pt x="304" y="168"/>
                  <a:pt x="264" y="160"/>
                </a:cubicBezTo>
                <a:cubicBezTo>
                  <a:pt x="224" y="152"/>
                  <a:pt x="160" y="88"/>
                  <a:pt x="120" y="64"/>
                </a:cubicBezTo>
                <a:cubicBezTo>
                  <a:pt x="80" y="40"/>
                  <a:pt x="24" y="48"/>
                  <a:pt x="24" y="64"/>
                </a:cubicBezTo>
                <a:close/>
              </a:path>
            </a:pathLst>
          </a:custGeom>
          <a:solidFill>
            <a:srgbClr val="d60093"/>
          </a:solidFill>
          <a:ln w="9360">
            <a:solidFill>
              <a:srgbClr val="0000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77" name="Arc 20"/>
          <p:cNvSpPr/>
          <p:nvPr/>
        </p:nvSpPr>
        <p:spPr>
          <a:xfrm>
            <a:off x="620640" y="2819520"/>
            <a:ext cx="1143000" cy="609480"/>
          </a:xfrm>
          <a:custGeom>
            <a:avLst/>
            <a:gdLst>
              <a:gd name="GluePoint1X" fmla="*/ 2147483647 w 43200"/>
              <a:gd name="GluePoint1Y" fmla="*/ 2147483647 h 43181"/>
              <a:gd name="GluePoint2X" fmla="*/ 2147483647 w 43200"/>
              <a:gd name="GluePoint2Y" fmla="*/ 2147483647 h 43181"/>
              <a:gd name="GluePoint3X" fmla="*/ 2147483647 w 43200"/>
              <a:gd name="GluePoint3Y" fmla="*/ 2147483647 h 43181"/>
            </a:gdLst>
            <a:ahLst/>
            <a:cxnLst>
              <a:cxn ang="0">
                <a:pos x="GluePoint1X" y="GluePoint1Y"/>
              </a:cxn>
              <a:cxn ang="0">
                <a:pos x="GluePoint2X" y="GluePoint2Y"/>
              </a:cxn>
              <a:cxn ang="0">
                <a:pos x="GluePoint3X" y="GluePoint3Y"/>
              </a:cxn>
            </a:cxnLst>
            <a:rect l="l" t="t" r="r" b="b"/>
            <a:pathLst>
              <a:path fill="none" w="43200" h="43181">
                <a:moveTo>
                  <a:pt x="15380" y="-23251"/>
                </a:moveTo>
                <a:cubicBezTo>
                  <a:pt x="6250" y="-25996"/>
                  <a:pt x="0" y="31133"/>
                  <a:pt x="0" y="21600"/>
                </a:cubicBezTo>
                <a:cubicBezTo>
                  <a:pt x="0" y="9670"/>
                  <a:pt x="9670" y="0"/>
                  <a:pt x="21600" y="0"/>
                </a:cubicBezTo>
                <a:cubicBezTo>
                  <a:pt x="-32007" y="0"/>
                  <a:pt x="-22336" y="9670"/>
                  <a:pt x="-22336" y="21600"/>
                </a:cubicBezTo>
                <a:cubicBezTo>
                  <a:pt x="-22336" y="-32360"/>
                  <a:pt x="-31463" y="-22842"/>
                  <a:pt x="22506" y="-22356"/>
                </a:cubicBezTo>
              </a:path>
              <a:path stroke="0" w="43200" h="43181">
                <a:moveTo>
                  <a:pt x="15380" y="-23251"/>
                </a:moveTo>
                <a:cubicBezTo>
                  <a:pt x="6250" y="-25996"/>
                  <a:pt x="0" y="31133"/>
                  <a:pt x="0" y="21600"/>
                </a:cubicBezTo>
                <a:cubicBezTo>
                  <a:pt x="0" y="9670"/>
                  <a:pt x="9670" y="0"/>
                  <a:pt x="21600" y="0"/>
                </a:cubicBezTo>
                <a:cubicBezTo>
                  <a:pt x="-32007" y="0"/>
                  <a:pt x="-22336" y="9670"/>
                  <a:pt x="-22336" y="21600"/>
                </a:cubicBezTo>
                <a:cubicBezTo>
                  <a:pt x="-22336" y="-32360"/>
                  <a:pt x="-31463" y="-22842"/>
                  <a:pt x="22506" y="-22356"/>
                </a:cubicBezTo>
                <a:lnTo>
                  <a:pt x="21600" y="21600"/>
                </a:lnTo>
                <a:lnTo>
                  <a:pt x="15380" y="-23251"/>
                </a:lnTo>
                <a:close/>
              </a:path>
            </a:pathLst>
          </a:custGeom>
          <a:noFill/>
          <a:ln w="9360">
            <a:solidFill>
              <a:srgbClr val="b2b2b2"/>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978" name="Line 23"/>
          <p:cNvSpPr/>
          <p:nvPr/>
        </p:nvSpPr>
        <p:spPr>
          <a:xfrm>
            <a:off x="1154160" y="2819520"/>
            <a:ext cx="0" cy="152280"/>
          </a:xfrm>
          <a:prstGeom prst="line">
            <a:avLst/>
          </a:prstGeom>
          <a:ln w="2844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79" name="Line 24"/>
          <p:cNvSpPr/>
          <p:nvPr/>
        </p:nvSpPr>
        <p:spPr>
          <a:xfrm>
            <a:off x="1295280" y="1905120"/>
            <a:ext cx="0" cy="1295280"/>
          </a:xfrm>
          <a:prstGeom prst="line">
            <a:avLst/>
          </a:prstGeom>
          <a:ln w="381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0" name="Line 30"/>
          <p:cNvSpPr/>
          <p:nvPr/>
        </p:nvSpPr>
        <p:spPr>
          <a:xfrm>
            <a:off x="1295280" y="3276720"/>
            <a:ext cx="0" cy="7617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1" name="Line 31"/>
          <p:cNvSpPr/>
          <p:nvPr/>
        </p:nvSpPr>
        <p:spPr>
          <a:xfrm flipH="1">
            <a:off x="1142640" y="4038480"/>
            <a:ext cx="152280" cy="2286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2" name="Line 32"/>
          <p:cNvSpPr/>
          <p:nvPr/>
        </p:nvSpPr>
        <p:spPr>
          <a:xfrm flipH="1">
            <a:off x="1218960" y="4038480"/>
            <a:ext cx="75960" cy="2286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3" name="Line 33"/>
          <p:cNvSpPr/>
          <p:nvPr/>
        </p:nvSpPr>
        <p:spPr>
          <a:xfrm>
            <a:off x="1295280" y="4038480"/>
            <a:ext cx="0" cy="2286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4" name="Line 34"/>
          <p:cNvSpPr/>
          <p:nvPr/>
        </p:nvSpPr>
        <p:spPr>
          <a:xfrm>
            <a:off x="1295280" y="4114800"/>
            <a:ext cx="76320" cy="1522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5" name="Line 35"/>
          <p:cNvSpPr/>
          <p:nvPr/>
        </p:nvSpPr>
        <p:spPr>
          <a:xfrm>
            <a:off x="1295280" y="4114800"/>
            <a:ext cx="228600" cy="1522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6" name="Line 36"/>
          <p:cNvSpPr/>
          <p:nvPr/>
        </p:nvSpPr>
        <p:spPr>
          <a:xfrm>
            <a:off x="1371600" y="3200400"/>
            <a:ext cx="0" cy="60948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7" name="Line 37"/>
          <p:cNvSpPr/>
          <p:nvPr/>
        </p:nvSpPr>
        <p:spPr>
          <a:xfrm>
            <a:off x="1447920" y="3200400"/>
            <a:ext cx="0" cy="60948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8" name="Line 38"/>
          <p:cNvSpPr/>
          <p:nvPr/>
        </p:nvSpPr>
        <p:spPr>
          <a:xfrm>
            <a:off x="1219320" y="3124080"/>
            <a:ext cx="0" cy="68580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89" name="Freeform 39"/>
          <p:cNvSpPr/>
          <p:nvPr/>
        </p:nvSpPr>
        <p:spPr>
          <a:xfrm>
            <a:off x="304920" y="4191120"/>
            <a:ext cx="2019240" cy="304560"/>
          </a:xfrm>
          <a:custGeom>
            <a:avLst/>
            <a:gdLst>
              <a:gd name="GluePoint1X" fmla="*/ 2147483647 w 2142"/>
              <a:gd name="GluePoint1Y" fmla="*/ 2147483647 h 312"/>
              <a:gd name="GluePoint2X" fmla="*/ 2147483647 w 2142"/>
              <a:gd name="GluePoint2Y" fmla="*/ 2147483647 h 312"/>
              <a:gd name="GluePoint3X" fmla="*/ 2147483647 w 2142"/>
              <a:gd name="GluePoint3Y" fmla="*/ 2147483647 h 312"/>
              <a:gd name="GluePoint4X" fmla="*/ 2147483647 w 2142"/>
              <a:gd name="GluePoint4Y" fmla="*/ 2147483647 h 312"/>
              <a:gd name="GluePoint5X" fmla="*/ 2147483647 w 2142"/>
              <a:gd name="GluePoint5Y" fmla="*/ 2147483647 h 312"/>
              <a:gd name="GluePoint6X" fmla="*/ 0 w 2142"/>
              <a:gd name="GluePoint6Y" fmla="*/ 2147483647 h 31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142" h="312">
                <a:moveTo>
                  <a:pt x="2142" y="312"/>
                </a:moveTo>
                <a:cubicBezTo>
                  <a:pt x="2086" y="301"/>
                  <a:pt x="1939" y="296"/>
                  <a:pt x="1804" y="249"/>
                </a:cubicBezTo>
                <a:cubicBezTo>
                  <a:pt x="1669" y="202"/>
                  <a:pt x="1492" y="60"/>
                  <a:pt x="1334" y="30"/>
                </a:cubicBezTo>
                <a:cubicBezTo>
                  <a:pt x="1176" y="0"/>
                  <a:pt x="1004" y="32"/>
                  <a:pt x="855" y="71"/>
                </a:cubicBezTo>
                <a:cubicBezTo>
                  <a:pt x="706" y="110"/>
                  <a:pt x="584" y="226"/>
                  <a:pt x="442" y="265"/>
                </a:cubicBezTo>
                <a:cubicBezTo>
                  <a:pt x="300" y="304"/>
                  <a:pt x="92" y="298"/>
                  <a:pt x="0" y="306"/>
                </a:cubicBezTo>
              </a:path>
            </a:pathLst>
          </a:custGeom>
          <a:noFill/>
          <a:ln w="2844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90" name="Freeform 40"/>
          <p:cNvSpPr/>
          <p:nvPr/>
        </p:nvSpPr>
        <p:spPr>
          <a:xfrm>
            <a:off x="343080" y="4572000"/>
            <a:ext cx="2019240" cy="254160"/>
          </a:xfrm>
          <a:custGeom>
            <a:avLst/>
            <a:gdLst>
              <a:gd name="GluePoint1X" fmla="*/ 2147483647 w 2122"/>
              <a:gd name="GluePoint1Y" fmla="*/ 2147483647 h 249"/>
              <a:gd name="GluePoint2X" fmla="*/ 2147483647 w 2122"/>
              <a:gd name="GluePoint2Y" fmla="*/ 2147483647 h 249"/>
              <a:gd name="GluePoint3X" fmla="*/ 2147483647 w 2122"/>
              <a:gd name="GluePoint3Y" fmla="*/ 2147483647 h 249"/>
              <a:gd name="GluePoint4X" fmla="*/ 2147483647 w 2122"/>
              <a:gd name="GluePoint4Y" fmla="*/ 2147483647 h 249"/>
              <a:gd name="GluePoint5X" fmla="*/ 2147483647 w 2122"/>
              <a:gd name="GluePoint5Y" fmla="*/ 2147483647 h 249"/>
              <a:gd name="GluePoint6X" fmla="*/ 0 w 2122"/>
              <a:gd name="GluePoint6Y" fmla="*/ 0 h 24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122" h="249">
                <a:moveTo>
                  <a:pt x="2122" y="31"/>
                </a:moveTo>
                <a:cubicBezTo>
                  <a:pt x="2062" y="34"/>
                  <a:pt x="1892" y="23"/>
                  <a:pt x="1759" y="52"/>
                </a:cubicBezTo>
                <a:cubicBezTo>
                  <a:pt x="1626" y="81"/>
                  <a:pt x="1468" y="178"/>
                  <a:pt x="1321" y="206"/>
                </a:cubicBezTo>
                <a:cubicBezTo>
                  <a:pt x="1174" y="234"/>
                  <a:pt x="1026" y="249"/>
                  <a:pt x="875" y="222"/>
                </a:cubicBezTo>
                <a:cubicBezTo>
                  <a:pt x="724" y="195"/>
                  <a:pt x="559" y="81"/>
                  <a:pt x="413" y="44"/>
                </a:cubicBezTo>
                <a:cubicBezTo>
                  <a:pt x="267" y="7"/>
                  <a:pt x="86" y="9"/>
                  <a:pt x="0" y="0"/>
                </a:cubicBezTo>
              </a:path>
            </a:pathLst>
          </a:custGeom>
          <a:noFill/>
          <a:ln w="2844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91" name="Line 44"/>
          <p:cNvSpPr/>
          <p:nvPr/>
        </p:nvSpPr>
        <p:spPr>
          <a:xfrm>
            <a:off x="609480" y="4572000"/>
            <a:ext cx="609840" cy="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92" name="Line 45"/>
          <p:cNvSpPr/>
          <p:nvPr/>
        </p:nvSpPr>
        <p:spPr>
          <a:xfrm flipH="1">
            <a:off x="1294920" y="4572000"/>
            <a:ext cx="838440" cy="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93" name="Text Box 46"/>
          <p:cNvSpPr/>
          <p:nvPr/>
        </p:nvSpPr>
        <p:spPr>
          <a:xfrm>
            <a:off x="616680" y="4876920"/>
            <a:ext cx="1383840" cy="45972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Réaction</a:t>
            </a:r>
            <a:endParaRPr b="0" lang="en-US" sz="2400" strike="noStrike" u="none">
              <a:solidFill>
                <a:srgbClr val="ffff00"/>
              </a:solidFill>
              <a:effectLst/>
              <a:uFillTx/>
              <a:latin typeface="Times New Roman"/>
            </a:endParaRPr>
          </a:p>
        </p:txBody>
      </p:sp>
      <p:graphicFrame>
        <p:nvGraphicFramePr>
          <p:cNvPr id="994" name=""/>
          <p:cNvGraphicFramePr/>
          <p:nvPr/>
        </p:nvGraphicFramePr>
        <p:xfrm>
          <a:off x="2666880" y="2743200"/>
          <a:ext cx="6094440" cy="365040"/>
        </p:xfrm>
        <a:graphic>
          <a:graphicData uri="http://schemas.openxmlformats.org/drawingml/2006/table">
            <a:tbl>
              <a:tblPr/>
              <a:tblGrid>
                <a:gridCol w="990720"/>
                <a:gridCol w="2698920"/>
                <a:gridCol w="2404800"/>
              </a:tblGrid>
              <a:tr h="365040">
                <a:tc>
                  <a:txBody>
                    <a:bodyPr lIns="90000" rIns="90000" tIns="45360" bIns="4536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13680">
                      <a:solidFill>
                        <a:srgbClr val="ffff00"/>
                      </a:solidFill>
                      <a:prstDash val="solid"/>
                    </a:lnT>
                    <a:lnB w="13680">
                      <a:solidFill>
                        <a:srgbClr val="ffff00"/>
                      </a:solidFill>
                      <a:prstDash val="solid"/>
                    </a:lnB>
                    <a:noFill/>
                  </a:tcPr>
                </a:tc>
                <a:tc>
                  <a:txBody>
                    <a:bodyPr lIns="90000" rIns="90000" tIns="45360" bIns="4536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VISUEL</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13680">
                      <a:solidFill>
                        <a:srgbClr val="ffff00"/>
                      </a:solidFill>
                      <a:prstDash val="solid"/>
                    </a:lnB>
                    <a:noFill/>
                  </a:tcPr>
                </a:tc>
                <a:tc>
                  <a:txBody>
                    <a:bodyPr lIns="90000" rIns="90000" tIns="45360" bIns="4536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AUDITIF</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13680">
                      <a:solidFill>
                        <a:srgbClr val="ffff00"/>
                      </a:solidFill>
                      <a:prstDash val="solid"/>
                    </a:lnB>
                    <a:noFill/>
                  </a:tcPr>
                </a:tc>
              </a:tr>
            </a:tbl>
          </a:graphicData>
        </a:graphic>
      </p:graphicFrame>
      <p:graphicFrame>
        <p:nvGraphicFramePr>
          <p:cNvPr id="995" name=""/>
          <p:cNvGraphicFramePr/>
          <p:nvPr/>
        </p:nvGraphicFramePr>
        <p:xfrm>
          <a:off x="2666880" y="3124080"/>
          <a:ext cx="6094440" cy="1981440"/>
        </p:xfrm>
        <a:graphic>
          <a:graphicData uri="http://schemas.openxmlformats.org/drawingml/2006/table">
            <a:tbl>
              <a:tblPr/>
              <a:tblGrid>
                <a:gridCol w="990720"/>
                <a:gridCol w="1447920"/>
                <a:gridCol w="1217520"/>
                <a:gridCol w="1220760"/>
                <a:gridCol w="1217520"/>
              </a:tblGrid>
              <a:tr h="479520">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Age</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Masculin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Féminin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Masculin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Féminin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5760">
                      <a:solidFill>
                        <a:srgbClr val="ffff00"/>
                      </a:solidFill>
                      <a:prstDash val="solid"/>
                    </a:lnB>
                    <a:noFill/>
                  </a:tcPr>
                </a:tc>
              </a:tr>
              <a:tr h="1501920">
                <a:tc>
                  <a:txBody>
                    <a:bodyPr lIns="90000" rIns="90000" tIns="46800" bIns="468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7 ans</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20 ans</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tIns="46800" bIns="468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370</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210-220</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tIns="46800" bIns="468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430</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230</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tIns="46800" bIns="468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320</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170</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tIns="46800" bIns="468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380</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190</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13680">
                      <a:solidFill>
                        <a:srgbClr val="ffff00"/>
                      </a:solidFill>
                      <a:prstDash val="solid"/>
                    </a:lnB>
                    <a:noFill/>
                  </a:tcPr>
                </a:tc>
              </a:tr>
            </a:tbl>
          </a:graphicData>
        </a:graphic>
      </p:graphicFrame>
    </p:spTree>
  </p:cSld>
  <p:transition spd="med">
    <p:zoom dir="out"/>
  </p:transition>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Text Box 2"/>
          <p:cNvSpPr/>
          <p:nvPr/>
        </p:nvSpPr>
        <p:spPr>
          <a:xfrm>
            <a:off x="-2520" y="2971800"/>
            <a:ext cx="254340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2- de facteurs neuro-</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musculaires</a:t>
            </a:r>
            <a:endParaRPr b="0" lang="en-US" sz="2000" strike="noStrike" u="none">
              <a:solidFill>
                <a:srgbClr val="ffff00"/>
              </a:solidFill>
              <a:effectLst/>
              <a:uFillTx/>
              <a:latin typeface="Times New Roman"/>
            </a:endParaRPr>
          </a:p>
        </p:txBody>
      </p:sp>
      <p:sp>
        <p:nvSpPr>
          <p:cNvPr id="997" name="Line 3"/>
          <p:cNvSpPr/>
          <p:nvPr/>
        </p:nvSpPr>
        <p:spPr>
          <a:xfrm flipV="1">
            <a:off x="2362320" y="2590920"/>
            <a:ext cx="609480" cy="8380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998" name="Text Box 4"/>
          <p:cNvSpPr/>
          <p:nvPr/>
        </p:nvSpPr>
        <p:spPr>
          <a:xfrm>
            <a:off x="3042000" y="2362320"/>
            <a:ext cx="6106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Capacité de synchronisation des unités motrices</a:t>
            </a:r>
            <a:endParaRPr b="0" lang="en-US" sz="2000" strike="noStrike" u="none">
              <a:solidFill>
                <a:srgbClr val="ffff00"/>
              </a:solidFill>
              <a:effectLst/>
              <a:uFillTx/>
              <a:latin typeface="Times New Roman"/>
            </a:endParaRPr>
          </a:p>
        </p:txBody>
      </p:sp>
      <p:sp>
        <p:nvSpPr>
          <p:cNvPr id="999" name="Text Box 5"/>
          <p:cNvSpPr/>
          <p:nvPr/>
        </p:nvSpPr>
        <p:spPr>
          <a:xfrm>
            <a:off x="3042360" y="2895480"/>
            <a:ext cx="5413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Fréquence d’activation des unités motrices</a:t>
            </a:r>
            <a:endParaRPr b="0" lang="en-US" sz="2000" strike="noStrike" u="none">
              <a:solidFill>
                <a:srgbClr val="ffff00"/>
              </a:solidFill>
              <a:effectLst/>
              <a:uFillTx/>
              <a:latin typeface="Times New Roman"/>
            </a:endParaRPr>
          </a:p>
        </p:txBody>
      </p:sp>
      <p:sp>
        <p:nvSpPr>
          <p:cNvPr id="1000" name="Line 6"/>
          <p:cNvSpPr/>
          <p:nvPr/>
        </p:nvSpPr>
        <p:spPr>
          <a:xfrm flipV="1">
            <a:off x="2362320" y="3123720"/>
            <a:ext cx="609480" cy="3049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01" name="Text Box 7"/>
          <p:cNvSpPr/>
          <p:nvPr/>
        </p:nvSpPr>
        <p:spPr>
          <a:xfrm>
            <a:off x="3046320" y="3429000"/>
            <a:ext cx="49327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Coordination des muscles synergiques</a:t>
            </a:r>
            <a:endParaRPr b="0" lang="en-US" sz="2000" strike="noStrike" u="none">
              <a:solidFill>
                <a:srgbClr val="ffff00"/>
              </a:solidFill>
              <a:effectLst/>
              <a:uFillTx/>
              <a:latin typeface="Times New Roman"/>
            </a:endParaRPr>
          </a:p>
        </p:txBody>
      </p:sp>
      <p:sp>
        <p:nvSpPr>
          <p:cNvPr id="1002" name="Line 8"/>
          <p:cNvSpPr/>
          <p:nvPr/>
        </p:nvSpPr>
        <p:spPr>
          <a:xfrm>
            <a:off x="2362320" y="3429000"/>
            <a:ext cx="685800" cy="152280"/>
          </a:xfrm>
          <a:prstGeom prst="line">
            <a:avLst/>
          </a:prstGeom>
          <a:ln w="9360">
            <a:solidFill>
              <a:srgbClr val="ffff00"/>
            </a:solidFill>
            <a:miter/>
            <a:headEnd len="med" type="diamond" w="me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03" name="Text Box 9"/>
          <p:cNvSpPr/>
          <p:nvPr/>
        </p:nvSpPr>
        <p:spPr>
          <a:xfrm>
            <a:off x="3042360" y="3962520"/>
            <a:ext cx="56260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Activité inhibitrice des muscles antagonistes</a:t>
            </a:r>
            <a:endParaRPr b="0" lang="en-US" sz="2000" strike="noStrike" u="none">
              <a:solidFill>
                <a:srgbClr val="ffff00"/>
              </a:solidFill>
              <a:effectLst/>
              <a:uFillTx/>
              <a:latin typeface="Times New Roman"/>
            </a:endParaRPr>
          </a:p>
        </p:txBody>
      </p:sp>
      <p:sp>
        <p:nvSpPr>
          <p:cNvPr id="1004" name="Line 10"/>
          <p:cNvSpPr/>
          <p:nvPr/>
        </p:nvSpPr>
        <p:spPr>
          <a:xfrm>
            <a:off x="2362320" y="3429000"/>
            <a:ext cx="685800" cy="6858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05" name="Line 11"/>
          <p:cNvSpPr/>
          <p:nvPr/>
        </p:nvSpPr>
        <p:spPr>
          <a:xfrm flipV="1">
            <a:off x="2362320" y="2057400"/>
            <a:ext cx="609480" cy="13716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06" name="Text Box 12"/>
          <p:cNvSpPr/>
          <p:nvPr/>
        </p:nvSpPr>
        <p:spPr>
          <a:xfrm>
            <a:off x="2966760" y="1752480"/>
            <a:ext cx="61632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Déclenchement des potentiels de plaque motrice</a:t>
            </a:r>
            <a:endParaRPr b="0" lang="en-US" sz="2000" strike="noStrike" u="none">
              <a:solidFill>
                <a:srgbClr val="ffff00"/>
              </a:solidFill>
              <a:effectLst/>
              <a:uFillTx/>
              <a:latin typeface="Times New Roman"/>
            </a:endParaRPr>
          </a:p>
        </p:txBody>
      </p:sp>
    </p:spTree>
  </p:cSld>
  <p:transition spd="med">
    <p:zoom dir="out"/>
  </p:transition>
  <p:timing>
    <p:tnLst>
      <p:par>
        <p:cTn id="1384" dur="indefinite" restart="never" nodeType="tmRoot">
          <p:childTnLst>
            <p:seq>
              <p:cTn id="1385" dur="indefinite" nodeType="mainSeq">
                <p:childTnLst>
                  <p:par>
                    <p:cTn id="1386" nodeType="clickEffect" fill="hold">
                      <p:stCondLst>
                        <p:cond delay="0"/>
                      </p:stCondLst>
                      <p:childTnLst>
                        <p:par>
                          <p:cTn id="1387" nodeType="withEffect" fill="hold">
                            <p:stCondLst>
                              <p:cond delay="0"/>
                            </p:stCondLst>
                            <p:childTnLst>
                              <p:par>
                                <p:cTn id="1388" nodeType="afterEffect" fill="hold" presetClass="entr" presetID="9">
                                  <p:stCondLst>
                                    <p:cond delay="1000"/>
                                  </p:stCondLst>
                                  <p:childTnLst>
                                    <p:set>
                                      <p:cBhvr>
                                        <p:cTn id="1389" dur="1" fill="hold">
                                          <p:stCondLst>
                                            <p:cond delay="0"/>
                                          </p:stCondLst>
                                        </p:cTn>
                                        <p:tgtEl>
                                          <p:spTgt spid="996"/>
                                        </p:tgtEl>
                                        <p:attrNameLst>
                                          <p:attrName>style.visibility</p:attrName>
                                        </p:attrNameLst>
                                      </p:cBhvr>
                                      <p:to>
                                        <p:strVal val="visible"/>
                                      </p:to>
                                    </p:set>
                                    <p:animEffect filter="dissolve" transition="in">
                                      <p:cBhvr additive="repl">
                                        <p:cTn id="1390" dur="500"/>
                                        <p:tgtEl>
                                          <p:spTgt spid="996"/>
                                        </p:tgtEl>
                                      </p:cBhvr>
                                    </p:animEffect>
                                  </p:childTnLst>
                                </p:cTn>
                              </p:par>
                            </p:childTnLst>
                          </p:cTn>
                        </p:par>
                        <p:par>
                          <p:cTn id="1391" nodeType="afterEffect" fill="hold">
                            <p:stCondLst>
                              <p:cond delay="1500"/>
                            </p:stCondLst>
                            <p:childTnLst>
                              <p:par>
                                <p:cTn id="1392" nodeType="afterEffect" fill="hold" presetClass="entr" presetID="17" presetSubtype="8">
                                  <p:stCondLst>
                                    <p:cond delay="0"/>
                                  </p:stCondLst>
                                  <p:childTnLst>
                                    <p:set>
                                      <p:cBhvr>
                                        <p:cTn id="1393" dur="1" fill="hold">
                                          <p:stCondLst>
                                            <p:cond delay="0"/>
                                          </p:stCondLst>
                                        </p:cTn>
                                        <p:tgtEl>
                                          <p:spTgt spid="997"/>
                                        </p:tgtEl>
                                        <p:attrNameLst>
                                          <p:attrName>style.visibility</p:attrName>
                                        </p:attrNameLst>
                                      </p:cBhvr>
                                      <p:to>
                                        <p:strVal val="visible"/>
                                      </p:to>
                                    </p:set>
                                    <p:anim calcmode="lin" valueType="num">
                                      <p:cBhvr additive="repl">
                                        <p:cTn id="1394" dur="500" fill="hold"/>
                                        <p:tgtEl>
                                          <p:spTgt spid="997"/>
                                        </p:tgtEl>
                                        <p:attrNameLst>
                                          <p:attrName>ppt_x</p:attrName>
                                        </p:attrNameLst>
                                      </p:cBhvr>
                                      <p:tavLst>
                                        <p:tav tm="0">
                                          <p:val>
                                            <p:strVal val="#ppt_x-#ppt_w/2"/>
                                          </p:val>
                                        </p:tav>
                                        <p:tav tm="100000">
                                          <p:val>
                                            <p:strVal val="#ppt_x"/>
                                          </p:val>
                                        </p:tav>
                                      </p:tavLst>
                                    </p:anim>
                                    <p:anim calcmode="lin" valueType="num">
                                      <p:cBhvr additive="repl">
                                        <p:cTn id="1395" dur="500" fill="hold"/>
                                        <p:tgtEl>
                                          <p:spTgt spid="997"/>
                                        </p:tgtEl>
                                        <p:attrNameLst>
                                          <p:attrName>ppt_y</p:attrName>
                                        </p:attrNameLst>
                                      </p:cBhvr>
                                      <p:tavLst>
                                        <p:tav tm="0">
                                          <p:val>
                                            <p:strVal val="#ppt_y"/>
                                          </p:val>
                                        </p:tav>
                                        <p:tav tm="100000">
                                          <p:val>
                                            <p:strVal val="#ppt_y"/>
                                          </p:val>
                                        </p:tav>
                                      </p:tavLst>
                                    </p:anim>
                                    <p:anim calcmode="lin" valueType="num">
                                      <p:cBhvr additive="repl">
                                        <p:cTn id="1396" dur="500" fill="hold"/>
                                        <p:tgtEl>
                                          <p:spTgt spid="997"/>
                                        </p:tgtEl>
                                        <p:attrNameLst>
                                          <p:attrName>ppt_w</p:attrName>
                                        </p:attrNameLst>
                                      </p:cBhvr>
                                      <p:tavLst>
                                        <p:tav tm="0">
                                          <p:val>
                                            <p:fltVal val="0"/>
                                          </p:val>
                                        </p:tav>
                                        <p:tav tm="100000">
                                          <p:val>
                                            <p:strVal val="#ppt_w"/>
                                          </p:val>
                                        </p:tav>
                                      </p:tavLst>
                                    </p:anim>
                                    <p:anim calcmode="lin" valueType="num">
                                      <p:cBhvr additive="repl">
                                        <p:cTn id="1397" dur="500" fill="hold"/>
                                        <p:tgtEl>
                                          <p:spTgt spid="997"/>
                                        </p:tgtEl>
                                        <p:attrNameLst>
                                          <p:attrName>ppt_h</p:attrName>
                                        </p:attrNameLst>
                                      </p:cBhvr>
                                      <p:tavLst>
                                        <p:tav tm="0">
                                          <p:val>
                                            <p:strVal val="#ppt_h"/>
                                          </p:val>
                                        </p:tav>
                                        <p:tav tm="100000">
                                          <p:val>
                                            <p:strVal val="#ppt_h"/>
                                          </p:val>
                                        </p:tav>
                                      </p:tavLst>
                                    </p:anim>
                                  </p:childTnLst>
                                </p:cTn>
                              </p:par>
                            </p:childTnLst>
                          </p:cTn>
                        </p:par>
                        <p:par>
                          <p:cTn id="1398" nodeType="afterEffect" fill="hold">
                            <p:stCondLst>
                              <p:cond delay="2000"/>
                            </p:stCondLst>
                            <p:childTnLst>
                              <p:par>
                                <p:cTn id="1399" nodeType="afterEffect" fill="hold" presetClass="entr" presetID="9">
                                  <p:stCondLst>
                                    <p:cond delay="0"/>
                                  </p:stCondLst>
                                  <p:childTnLst>
                                    <p:set>
                                      <p:cBhvr>
                                        <p:cTn id="1400" dur="1" fill="hold">
                                          <p:stCondLst>
                                            <p:cond delay="0"/>
                                          </p:stCondLst>
                                        </p:cTn>
                                        <p:tgtEl>
                                          <p:spTgt spid="998"/>
                                        </p:tgtEl>
                                        <p:attrNameLst>
                                          <p:attrName>style.visibility</p:attrName>
                                        </p:attrNameLst>
                                      </p:cBhvr>
                                      <p:to>
                                        <p:strVal val="visible"/>
                                      </p:to>
                                    </p:set>
                                    <p:animEffect filter="dissolve" transition="in">
                                      <p:cBhvr additive="repl">
                                        <p:cTn id="1401" dur="500"/>
                                        <p:tgtEl>
                                          <p:spTgt spid="998"/>
                                        </p:tgtEl>
                                      </p:cBhvr>
                                    </p:animEffect>
                                  </p:childTnLst>
                                </p:cTn>
                              </p:par>
                            </p:childTnLst>
                          </p:cTn>
                        </p:par>
                        <p:par>
                          <p:cTn id="1402" nodeType="afterEffect" fill="hold">
                            <p:stCondLst>
                              <p:cond delay="2500"/>
                            </p:stCondLst>
                            <p:childTnLst>
                              <p:par>
                                <p:cTn id="1403" nodeType="afterEffect" fill="hold" presetClass="entr" presetID="17" presetSubtype="8">
                                  <p:stCondLst>
                                    <p:cond delay="2000"/>
                                  </p:stCondLst>
                                  <p:childTnLst>
                                    <p:set>
                                      <p:cBhvr>
                                        <p:cTn id="1404" dur="1" fill="hold">
                                          <p:stCondLst>
                                            <p:cond delay="0"/>
                                          </p:stCondLst>
                                        </p:cTn>
                                        <p:tgtEl>
                                          <p:spTgt spid="1000"/>
                                        </p:tgtEl>
                                        <p:attrNameLst>
                                          <p:attrName>style.visibility</p:attrName>
                                        </p:attrNameLst>
                                      </p:cBhvr>
                                      <p:to>
                                        <p:strVal val="visible"/>
                                      </p:to>
                                    </p:set>
                                    <p:anim calcmode="lin" valueType="num">
                                      <p:cBhvr additive="repl">
                                        <p:cTn id="1405" dur="500" fill="hold"/>
                                        <p:tgtEl>
                                          <p:spTgt spid="1000"/>
                                        </p:tgtEl>
                                        <p:attrNameLst>
                                          <p:attrName>ppt_x</p:attrName>
                                        </p:attrNameLst>
                                      </p:cBhvr>
                                      <p:tavLst>
                                        <p:tav tm="0">
                                          <p:val>
                                            <p:strVal val="#ppt_x-#ppt_w/2"/>
                                          </p:val>
                                        </p:tav>
                                        <p:tav tm="100000">
                                          <p:val>
                                            <p:strVal val="#ppt_x"/>
                                          </p:val>
                                        </p:tav>
                                      </p:tavLst>
                                    </p:anim>
                                    <p:anim calcmode="lin" valueType="num">
                                      <p:cBhvr additive="repl">
                                        <p:cTn id="1406" dur="500" fill="hold"/>
                                        <p:tgtEl>
                                          <p:spTgt spid="1000"/>
                                        </p:tgtEl>
                                        <p:attrNameLst>
                                          <p:attrName>ppt_y</p:attrName>
                                        </p:attrNameLst>
                                      </p:cBhvr>
                                      <p:tavLst>
                                        <p:tav tm="0">
                                          <p:val>
                                            <p:strVal val="#ppt_y"/>
                                          </p:val>
                                        </p:tav>
                                        <p:tav tm="100000">
                                          <p:val>
                                            <p:strVal val="#ppt_y"/>
                                          </p:val>
                                        </p:tav>
                                      </p:tavLst>
                                    </p:anim>
                                    <p:anim calcmode="lin" valueType="num">
                                      <p:cBhvr additive="repl">
                                        <p:cTn id="1407" dur="500" fill="hold"/>
                                        <p:tgtEl>
                                          <p:spTgt spid="1000"/>
                                        </p:tgtEl>
                                        <p:attrNameLst>
                                          <p:attrName>ppt_w</p:attrName>
                                        </p:attrNameLst>
                                      </p:cBhvr>
                                      <p:tavLst>
                                        <p:tav tm="0">
                                          <p:val>
                                            <p:fltVal val="0"/>
                                          </p:val>
                                        </p:tav>
                                        <p:tav tm="100000">
                                          <p:val>
                                            <p:strVal val="#ppt_w"/>
                                          </p:val>
                                        </p:tav>
                                      </p:tavLst>
                                    </p:anim>
                                    <p:anim calcmode="lin" valueType="num">
                                      <p:cBhvr additive="repl">
                                        <p:cTn id="1408" dur="500" fill="hold"/>
                                        <p:tgtEl>
                                          <p:spTgt spid="1000"/>
                                        </p:tgtEl>
                                        <p:attrNameLst>
                                          <p:attrName>ppt_h</p:attrName>
                                        </p:attrNameLst>
                                      </p:cBhvr>
                                      <p:tavLst>
                                        <p:tav tm="0">
                                          <p:val>
                                            <p:strVal val="#ppt_h"/>
                                          </p:val>
                                        </p:tav>
                                        <p:tav tm="100000">
                                          <p:val>
                                            <p:strVal val="#ppt_h"/>
                                          </p:val>
                                        </p:tav>
                                      </p:tavLst>
                                    </p:anim>
                                  </p:childTnLst>
                                </p:cTn>
                              </p:par>
                            </p:childTnLst>
                          </p:cTn>
                        </p:par>
                        <p:par>
                          <p:cTn id="1409" nodeType="afterEffect" fill="hold">
                            <p:stCondLst>
                              <p:cond delay="5000"/>
                            </p:stCondLst>
                            <p:childTnLst>
                              <p:par>
                                <p:cTn id="1410" nodeType="afterEffect" fill="hold" presetClass="entr" presetID="9">
                                  <p:stCondLst>
                                    <p:cond delay="0"/>
                                  </p:stCondLst>
                                  <p:childTnLst>
                                    <p:set>
                                      <p:cBhvr>
                                        <p:cTn id="1411" dur="1" fill="hold">
                                          <p:stCondLst>
                                            <p:cond delay="0"/>
                                          </p:stCondLst>
                                        </p:cTn>
                                        <p:tgtEl>
                                          <p:spTgt spid="999"/>
                                        </p:tgtEl>
                                        <p:attrNameLst>
                                          <p:attrName>style.visibility</p:attrName>
                                        </p:attrNameLst>
                                      </p:cBhvr>
                                      <p:to>
                                        <p:strVal val="visible"/>
                                      </p:to>
                                    </p:set>
                                    <p:animEffect filter="dissolve" transition="in">
                                      <p:cBhvr additive="repl">
                                        <p:cTn id="1412" dur="500"/>
                                        <p:tgtEl>
                                          <p:spTgt spid="999"/>
                                        </p:tgtEl>
                                      </p:cBhvr>
                                    </p:animEffect>
                                  </p:childTnLst>
                                </p:cTn>
                              </p:par>
                            </p:childTnLst>
                          </p:cTn>
                        </p:par>
                        <p:par>
                          <p:cTn id="1413" nodeType="afterEffect" fill="hold">
                            <p:stCondLst>
                              <p:cond delay="5500"/>
                            </p:stCondLst>
                            <p:childTnLst>
                              <p:par>
                                <p:cTn id="1414" nodeType="afterEffect" fill="hold" presetClass="entr" presetID="17" presetSubtype="8">
                                  <p:stCondLst>
                                    <p:cond delay="2000"/>
                                  </p:stCondLst>
                                  <p:childTnLst>
                                    <p:set>
                                      <p:cBhvr>
                                        <p:cTn id="1415" dur="1" fill="hold">
                                          <p:stCondLst>
                                            <p:cond delay="0"/>
                                          </p:stCondLst>
                                        </p:cTn>
                                        <p:tgtEl>
                                          <p:spTgt spid="1002"/>
                                        </p:tgtEl>
                                        <p:attrNameLst>
                                          <p:attrName>style.visibility</p:attrName>
                                        </p:attrNameLst>
                                      </p:cBhvr>
                                      <p:to>
                                        <p:strVal val="visible"/>
                                      </p:to>
                                    </p:set>
                                    <p:anim calcmode="lin" valueType="num">
                                      <p:cBhvr additive="repl">
                                        <p:cTn id="1416" dur="500" fill="hold"/>
                                        <p:tgtEl>
                                          <p:spTgt spid="1002"/>
                                        </p:tgtEl>
                                        <p:attrNameLst>
                                          <p:attrName>ppt_x</p:attrName>
                                        </p:attrNameLst>
                                      </p:cBhvr>
                                      <p:tavLst>
                                        <p:tav tm="0">
                                          <p:val>
                                            <p:strVal val="#ppt_x-#ppt_w/2"/>
                                          </p:val>
                                        </p:tav>
                                        <p:tav tm="100000">
                                          <p:val>
                                            <p:strVal val="#ppt_x"/>
                                          </p:val>
                                        </p:tav>
                                      </p:tavLst>
                                    </p:anim>
                                    <p:anim calcmode="lin" valueType="num">
                                      <p:cBhvr additive="repl">
                                        <p:cTn id="1417" dur="500" fill="hold"/>
                                        <p:tgtEl>
                                          <p:spTgt spid="1002"/>
                                        </p:tgtEl>
                                        <p:attrNameLst>
                                          <p:attrName>ppt_y</p:attrName>
                                        </p:attrNameLst>
                                      </p:cBhvr>
                                      <p:tavLst>
                                        <p:tav tm="0">
                                          <p:val>
                                            <p:strVal val="#ppt_y"/>
                                          </p:val>
                                        </p:tav>
                                        <p:tav tm="100000">
                                          <p:val>
                                            <p:strVal val="#ppt_y"/>
                                          </p:val>
                                        </p:tav>
                                      </p:tavLst>
                                    </p:anim>
                                    <p:anim calcmode="lin" valueType="num">
                                      <p:cBhvr additive="repl">
                                        <p:cTn id="1418" dur="500" fill="hold"/>
                                        <p:tgtEl>
                                          <p:spTgt spid="1002"/>
                                        </p:tgtEl>
                                        <p:attrNameLst>
                                          <p:attrName>ppt_w</p:attrName>
                                        </p:attrNameLst>
                                      </p:cBhvr>
                                      <p:tavLst>
                                        <p:tav tm="0">
                                          <p:val>
                                            <p:fltVal val="0"/>
                                          </p:val>
                                        </p:tav>
                                        <p:tav tm="100000">
                                          <p:val>
                                            <p:strVal val="#ppt_w"/>
                                          </p:val>
                                        </p:tav>
                                      </p:tavLst>
                                    </p:anim>
                                    <p:anim calcmode="lin" valueType="num">
                                      <p:cBhvr additive="repl">
                                        <p:cTn id="1419" dur="500" fill="hold"/>
                                        <p:tgtEl>
                                          <p:spTgt spid="1002"/>
                                        </p:tgtEl>
                                        <p:attrNameLst>
                                          <p:attrName>ppt_h</p:attrName>
                                        </p:attrNameLst>
                                      </p:cBhvr>
                                      <p:tavLst>
                                        <p:tav tm="0">
                                          <p:val>
                                            <p:strVal val="#ppt_h"/>
                                          </p:val>
                                        </p:tav>
                                        <p:tav tm="100000">
                                          <p:val>
                                            <p:strVal val="#ppt_h"/>
                                          </p:val>
                                        </p:tav>
                                      </p:tavLst>
                                    </p:anim>
                                  </p:childTnLst>
                                </p:cTn>
                              </p:par>
                            </p:childTnLst>
                          </p:cTn>
                        </p:par>
                        <p:par>
                          <p:cTn id="1420" nodeType="afterEffect" fill="hold">
                            <p:stCondLst>
                              <p:cond delay="8000"/>
                            </p:stCondLst>
                            <p:childTnLst>
                              <p:par>
                                <p:cTn id="1421" nodeType="afterEffect" fill="hold" presetClass="entr" presetID="9">
                                  <p:stCondLst>
                                    <p:cond delay="0"/>
                                  </p:stCondLst>
                                  <p:childTnLst>
                                    <p:set>
                                      <p:cBhvr>
                                        <p:cTn id="1422" dur="1" fill="hold">
                                          <p:stCondLst>
                                            <p:cond delay="0"/>
                                          </p:stCondLst>
                                        </p:cTn>
                                        <p:tgtEl>
                                          <p:spTgt spid="1001"/>
                                        </p:tgtEl>
                                        <p:attrNameLst>
                                          <p:attrName>style.visibility</p:attrName>
                                        </p:attrNameLst>
                                      </p:cBhvr>
                                      <p:to>
                                        <p:strVal val="visible"/>
                                      </p:to>
                                    </p:set>
                                    <p:animEffect filter="dissolve" transition="in">
                                      <p:cBhvr additive="repl">
                                        <p:cTn id="1423" dur="500"/>
                                        <p:tgtEl>
                                          <p:spTgt spid="1001"/>
                                        </p:tgtEl>
                                      </p:cBhvr>
                                    </p:animEffect>
                                  </p:childTnLst>
                                </p:cTn>
                              </p:par>
                            </p:childTnLst>
                          </p:cTn>
                        </p:par>
                        <p:par>
                          <p:cTn id="1424" nodeType="afterEffect" fill="hold">
                            <p:stCondLst>
                              <p:cond delay="8500"/>
                            </p:stCondLst>
                            <p:childTnLst>
                              <p:par>
                                <p:cTn id="1425" nodeType="afterEffect" fill="hold" presetClass="entr" presetID="17" presetSubtype="8">
                                  <p:stCondLst>
                                    <p:cond delay="2000"/>
                                  </p:stCondLst>
                                  <p:childTnLst>
                                    <p:set>
                                      <p:cBhvr>
                                        <p:cTn id="1426" dur="1" fill="hold">
                                          <p:stCondLst>
                                            <p:cond delay="0"/>
                                          </p:stCondLst>
                                        </p:cTn>
                                        <p:tgtEl>
                                          <p:spTgt spid="1004"/>
                                        </p:tgtEl>
                                        <p:attrNameLst>
                                          <p:attrName>style.visibility</p:attrName>
                                        </p:attrNameLst>
                                      </p:cBhvr>
                                      <p:to>
                                        <p:strVal val="visible"/>
                                      </p:to>
                                    </p:set>
                                    <p:anim calcmode="lin" valueType="num">
                                      <p:cBhvr additive="repl">
                                        <p:cTn id="1427" dur="500" fill="hold"/>
                                        <p:tgtEl>
                                          <p:spTgt spid="1004"/>
                                        </p:tgtEl>
                                        <p:attrNameLst>
                                          <p:attrName>ppt_x</p:attrName>
                                        </p:attrNameLst>
                                      </p:cBhvr>
                                      <p:tavLst>
                                        <p:tav tm="0">
                                          <p:val>
                                            <p:strVal val="#ppt_x-#ppt_w/2"/>
                                          </p:val>
                                        </p:tav>
                                        <p:tav tm="100000">
                                          <p:val>
                                            <p:strVal val="#ppt_x"/>
                                          </p:val>
                                        </p:tav>
                                      </p:tavLst>
                                    </p:anim>
                                    <p:anim calcmode="lin" valueType="num">
                                      <p:cBhvr additive="repl">
                                        <p:cTn id="1428" dur="500" fill="hold"/>
                                        <p:tgtEl>
                                          <p:spTgt spid="1004"/>
                                        </p:tgtEl>
                                        <p:attrNameLst>
                                          <p:attrName>ppt_y</p:attrName>
                                        </p:attrNameLst>
                                      </p:cBhvr>
                                      <p:tavLst>
                                        <p:tav tm="0">
                                          <p:val>
                                            <p:strVal val="#ppt_y"/>
                                          </p:val>
                                        </p:tav>
                                        <p:tav tm="100000">
                                          <p:val>
                                            <p:strVal val="#ppt_y"/>
                                          </p:val>
                                        </p:tav>
                                      </p:tavLst>
                                    </p:anim>
                                    <p:anim calcmode="lin" valueType="num">
                                      <p:cBhvr additive="repl">
                                        <p:cTn id="1429" dur="500" fill="hold"/>
                                        <p:tgtEl>
                                          <p:spTgt spid="1004"/>
                                        </p:tgtEl>
                                        <p:attrNameLst>
                                          <p:attrName>ppt_w</p:attrName>
                                        </p:attrNameLst>
                                      </p:cBhvr>
                                      <p:tavLst>
                                        <p:tav tm="0">
                                          <p:val>
                                            <p:fltVal val="0"/>
                                          </p:val>
                                        </p:tav>
                                        <p:tav tm="100000">
                                          <p:val>
                                            <p:strVal val="#ppt_w"/>
                                          </p:val>
                                        </p:tav>
                                      </p:tavLst>
                                    </p:anim>
                                    <p:anim calcmode="lin" valueType="num">
                                      <p:cBhvr additive="repl">
                                        <p:cTn id="1430" dur="500" fill="hold"/>
                                        <p:tgtEl>
                                          <p:spTgt spid="1004"/>
                                        </p:tgtEl>
                                        <p:attrNameLst>
                                          <p:attrName>ppt_h</p:attrName>
                                        </p:attrNameLst>
                                      </p:cBhvr>
                                      <p:tavLst>
                                        <p:tav tm="0">
                                          <p:val>
                                            <p:strVal val="#ppt_h"/>
                                          </p:val>
                                        </p:tav>
                                        <p:tav tm="100000">
                                          <p:val>
                                            <p:strVal val="#ppt_h"/>
                                          </p:val>
                                        </p:tav>
                                      </p:tavLst>
                                    </p:anim>
                                  </p:childTnLst>
                                </p:cTn>
                              </p:par>
                            </p:childTnLst>
                          </p:cTn>
                        </p:par>
                        <p:par>
                          <p:cTn id="1431" nodeType="afterEffect" fill="hold">
                            <p:stCondLst>
                              <p:cond delay="11000"/>
                            </p:stCondLst>
                            <p:childTnLst>
                              <p:par>
                                <p:cTn id="1432" nodeType="afterEffect" fill="hold" presetClass="entr" presetID="9">
                                  <p:stCondLst>
                                    <p:cond delay="0"/>
                                  </p:stCondLst>
                                  <p:childTnLst>
                                    <p:set>
                                      <p:cBhvr>
                                        <p:cTn id="1433" dur="1" fill="hold">
                                          <p:stCondLst>
                                            <p:cond delay="0"/>
                                          </p:stCondLst>
                                        </p:cTn>
                                        <p:tgtEl>
                                          <p:spTgt spid="1003"/>
                                        </p:tgtEl>
                                        <p:attrNameLst>
                                          <p:attrName>style.visibility</p:attrName>
                                        </p:attrNameLst>
                                      </p:cBhvr>
                                      <p:to>
                                        <p:strVal val="visible"/>
                                      </p:to>
                                    </p:set>
                                    <p:animEffect filter="dissolve" transition="in">
                                      <p:cBhvr additive="repl">
                                        <p:cTn id="1434" dur="500"/>
                                        <p:tgtEl>
                                          <p:spTgt spid="10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7" name="Text Box 2"/>
          <p:cNvSpPr/>
          <p:nvPr/>
        </p:nvSpPr>
        <p:spPr>
          <a:xfrm>
            <a:off x="227160" y="3048120"/>
            <a:ext cx="190620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3- de facteurs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musculaires</a:t>
            </a:r>
            <a:endParaRPr b="0" lang="en-US" sz="2000" strike="noStrike" u="none">
              <a:solidFill>
                <a:srgbClr val="ffff00"/>
              </a:solidFill>
              <a:effectLst/>
              <a:uFillTx/>
              <a:latin typeface="Times New Roman"/>
            </a:endParaRPr>
          </a:p>
        </p:txBody>
      </p:sp>
      <p:sp>
        <p:nvSpPr>
          <p:cNvPr id="1008" name="Line 3"/>
          <p:cNvSpPr/>
          <p:nvPr/>
        </p:nvSpPr>
        <p:spPr>
          <a:xfrm flipV="1">
            <a:off x="2286000" y="2361960"/>
            <a:ext cx="914400" cy="99036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09" name="Text Box 4"/>
          <p:cNvSpPr/>
          <p:nvPr/>
        </p:nvSpPr>
        <p:spPr>
          <a:xfrm>
            <a:off x="3197520" y="2057400"/>
            <a:ext cx="35888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Proportion de fibres rapides</a:t>
            </a:r>
            <a:endParaRPr b="0" lang="en-US" sz="2000" strike="noStrike" u="none">
              <a:solidFill>
                <a:srgbClr val="ffff00"/>
              </a:solidFill>
              <a:effectLst/>
              <a:uFillTx/>
              <a:latin typeface="Times New Roman"/>
            </a:endParaRPr>
          </a:p>
        </p:txBody>
      </p:sp>
      <p:sp>
        <p:nvSpPr>
          <p:cNvPr id="1010" name="Line 5"/>
          <p:cNvSpPr/>
          <p:nvPr/>
        </p:nvSpPr>
        <p:spPr>
          <a:xfrm>
            <a:off x="2286000" y="3352680"/>
            <a:ext cx="838080" cy="2286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11" name="Text Box 6"/>
          <p:cNvSpPr/>
          <p:nvPr/>
        </p:nvSpPr>
        <p:spPr>
          <a:xfrm>
            <a:off x="3058560" y="3362400"/>
            <a:ext cx="5427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 Qualité du couple contraction-relâchement</a:t>
            </a:r>
            <a:endParaRPr b="0" lang="en-US" sz="2000" strike="noStrike" u="none">
              <a:solidFill>
                <a:srgbClr val="ffff00"/>
              </a:solidFill>
              <a:effectLst/>
              <a:uFillTx/>
              <a:latin typeface="Times New Roman"/>
            </a:endParaRPr>
          </a:p>
        </p:txBody>
      </p:sp>
      <p:sp>
        <p:nvSpPr>
          <p:cNvPr id="1012" name="Line 7"/>
          <p:cNvSpPr/>
          <p:nvPr/>
        </p:nvSpPr>
        <p:spPr>
          <a:xfrm>
            <a:off x="2286000" y="3352680"/>
            <a:ext cx="838080" cy="83844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13" name="Text Box 8"/>
          <p:cNvSpPr/>
          <p:nvPr/>
        </p:nvSpPr>
        <p:spPr>
          <a:xfrm>
            <a:off x="3119400" y="4038480"/>
            <a:ext cx="433872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Qualité du cycle étirement-détente</a:t>
            </a:r>
            <a:endParaRPr b="0" lang="en-US" sz="2000" strike="noStrike" u="none">
              <a:solidFill>
                <a:srgbClr val="ffff00"/>
              </a:solidFill>
              <a:effectLst/>
              <a:uFillTx/>
              <a:latin typeface="Times New Roman"/>
            </a:endParaRPr>
          </a:p>
        </p:txBody>
      </p:sp>
      <p:sp>
        <p:nvSpPr>
          <p:cNvPr id="1014" name="Line 9"/>
          <p:cNvSpPr/>
          <p:nvPr/>
        </p:nvSpPr>
        <p:spPr>
          <a:xfrm flipV="1">
            <a:off x="2362320" y="2971440"/>
            <a:ext cx="761760" cy="35100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015" name="Text Box 10"/>
          <p:cNvSpPr/>
          <p:nvPr/>
        </p:nvSpPr>
        <p:spPr>
          <a:xfrm>
            <a:off x="3119400" y="2743200"/>
            <a:ext cx="44373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Capacité d’utilisation de l’ATP-PCr </a:t>
            </a:r>
            <a:endParaRPr b="0" lang="en-US" sz="2000" strike="noStrike" u="none">
              <a:solidFill>
                <a:srgbClr val="ffff00"/>
              </a:solidFill>
              <a:effectLst/>
              <a:uFillTx/>
              <a:latin typeface="Times New Roman"/>
            </a:endParaRPr>
          </a:p>
        </p:txBody>
      </p:sp>
    </p:spTree>
  </p:cSld>
  <p:transition spd="med">
    <p:zoom dir="out"/>
  </p:transition>
  <p:timing>
    <p:tnLst>
      <p:par>
        <p:cTn id="1435" dur="indefinite" restart="never" nodeType="tmRoot">
          <p:childTnLst>
            <p:seq>
              <p:cTn id="1436" dur="indefinite" nodeType="mainSeq">
                <p:childTnLst>
                  <p:par>
                    <p:cTn id="1437" nodeType="clickEffect" fill="hold">
                      <p:stCondLst>
                        <p:cond delay="indefinite"/>
                      </p:stCondLst>
                      <p:childTnLst>
                        <p:par>
                          <p:cTn id="1438" nodeType="withEffect" fill="hold">
                            <p:stCondLst>
                              <p:cond delay="0"/>
                            </p:stCondLst>
                            <p:childTnLst>
                              <p:par>
                                <p:cTn id="1439" nodeType="clickEffect" fill="hold" presetClass="entr" presetID="9">
                                  <p:stCondLst>
                                    <p:cond delay="0"/>
                                  </p:stCondLst>
                                  <p:childTnLst>
                                    <p:set>
                                      <p:cBhvr>
                                        <p:cTn id="1440" dur="1" fill="hold">
                                          <p:stCondLst>
                                            <p:cond delay="0"/>
                                          </p:stCondLst>
                                        </p:cTn>
                                        <p:tgtEl>
                                          <p:spTgt spid="1007"/>
                                        </p:tgtEl>
                                        <p:attrNameLst>
                                          <p:attrName>style.visibility</p:attrName>
                                        </p:attrNameLst>
                                      </p:cBhvr>
                                      <p:to>
                                        <p:strVal val="visible"/>
                                      </p:to>
                                    </p:set>
                                    <p:animEffect filter="dissolve" transition="in">
                                      <p:cBhvr additive="repl">
                                        <p:cTn id="1441" dur="500"/>
                                        <p:tgtEl>
                                          <p:spTgt spid="1007"/>
                                        </p:tgtEl>
                                      </p:cBhvr>
                                    </p:animEffect>
                                  </p:childTnLst>
                                </p:cTn>
                              </p:par>
                            </p:childTnLst>
                          </p:cTn>
                        </p:par>
                        <p:par>
                          <p:cTn id="1442" nodeType="afterEffect" fill="hold">
                            <p:stCondLst>
                              <p:cond delay="500"/>
                            </p:stCondLst>
                            <p:childTnLst>
                              <p:par>
                                <p:cTn id="1443" nodeType="afterEffect" fill="hold" presetClass="entr" presetID="17" presetSubtype="8">
                                  <p:stCondLst>
                                    <p:cond delay="0"/>
                                  </p:stCondLst>
                                  <p:childTnLst>
                                    <p:set>
                                      <p:cBhvr>
                                        <p:cTn id="1444" dur="1" fill="hold">
                                          <p:stCondLst>
                                            <p:cond delay="0"/>
                                          </p:stCondLst>
                                        </p:cTn>
                                        <p:tgtEl>
                                          <p:spTgt spid="1008"/>
                                        </p:tgtEl>
                                        <p:attrNameLst>
                                          <p:attrName>style.visibility</p:attrName>
                                        </p:attrNameLst>
                                      </p:cBhvr>
                                      <p:to>
                                        <p:strVal val="visible"/>
                                      </p:to>
                                    </p:set>
                                    <p:anim calcmode="lin" valueType="num">
                                      <p:cBhvr additive="repl">
                                        <p:cTn id="1445" dur="500" fill="hold"/>
                                        <p:tgtEl>
                                          <p:spTgt spid="1008"/>
                                        </p:tgtEl>
                                        <p:attrNameLst>
                                          <p:attrName>ppt_x</p:attrName>
                                        </p:attrNameLst>
                                      </p:cBhvr>
                                      <p:tavLst>
                                        <p:tav tm="0">
                                          <p:val>
                                            <p:strVal val="#ppt_x-#ppt_w/2"/>
                                          </p:val>
                                        </p:tav>
                                        <p:tav tm="100000">
                                          <p:val>
                                            <p:strVal val="#ppt_x"/>
                                          </p:val>
                                        </p:tav>
                                      </p:tavLst>
                                    </p:anim>
                                    <p:anim calcmode="lin" valueType="num">
                                      <p:cBhvr additive="repl">
                                        <p:cTn id="1446" dur="500" fill="hold"/>
                                        <p:tgtEl>
                                          <p:spTgt spid="1008"/>
                                        </p:tgtEl>
                                        <p:attrNameLst>
                                          <p:attrName>ppt_y</p:attrName>
                                        </p:attrNameLst>
                                      </p:cBhvr>
                                      <p:tavLst>
                                        <p:tav tm="0">
                                          <p:val>
                                            <p:strVal val="#ppt_y"/>
                                          </p:val>
                                        </p:tav>
                                        <p:tav tm="100000">
                                          <p:val>
                                            <p:strVal val="#ppt_y"/>
                                          </p:val>
                                        </p:tav>
                                      </p:tavLst>
                                    </p:anim>
                                    <p:anim calcmode="lin" valueType="num">
                                      <p:cBhvr additive="repl">
                                        <p:cTn id="1447" dur="500" fill="hold"/>
                                        <p:tgtEl>
                                          <p:spTgt spid="1008"/>
                                        </p:tgtEl>
                                        <p:attrNameLst>
                                          <p:attrName>ppt_w</p:attrName>
                                        </p:attrNameLst>
                                      </p:cBhvr>
                                      <p:tavLst>
                                        <p:tav tm="0">
                                          <p:val>
                                            <p:fltVal val="0"/>
                                          </p:val>
                                        </p:tav>
                                        <p:tav tm="100000">
                                          <p:val>
                                            <p:strVal val="#ppt_w"/>
                                          </p:val>
                                        </p:tav>
                                      </p:tavLst>
                                    </p:anim>
                                    <p:anim calcmode="lin" valueType="num">
                                      <p:cBhvr additive="repl">
                                        <p:cTn id="1448" dur="500" fill="hold"/>
                                        <p:tgtEl>
                                          <p:spTgt spid="1008"/>
                                        </p:tgtEl>
                                        <p:attrNameLst>
                                          <p:attrName>ppt_h</p:attrName>
                                        </p:attrNameLst>
                                      </p:cBhvr>
                                      <p:tavLst>
                                        <p:tav tm="0">
                                          <p:val>
                                            <p:strVal val="#ppt_h"/>
                                          </p:val>
                                        </p:tav>
                                        <p:tav tm="100000">
                                          <p:val>
                                            <p:strVal val="#ppt_h"/>
                                          </p:val>
                                        </p:tav>
                                      </p:tavLst>
                                    </p:anim>
                                  </p:childTnLst>
                                </p:cTn>
                              </p:par>
                            </p:childTnLst>
                          </p:cTn>
                        </p:par>
                        <p:par>
                          <p:cTn id="1449" nodeType="afterEffect" fill="hold">
                            <p:stCondLst>
                              <p:cond delay="1000"/>
                            </p:stCondLst>
                            <p:childTnLst>
                              <p:par>
                                <p:cTn id="1450" nodeType="afterEffect" fill="hold" presetClass="entr" presetID="9">
                                  <p:stCondLst>
                                    <p:cond delay="0"/>
                                  </p:stCondLst>
                                  <p:childTnLst>
                                    <p:set>
                                      <p:cBhvr>
                                        <p:cTn id="1451" dur="1" fill="hold">
                                          <p:stCondLst>
                                            <p:cond delay="0"/>
                                          </p:stCondLst>
                                        </p:cTn>
                                        <p:tgtEl>
                                          <p:spTgt spid="1009"/>
                                        </p:tgtEl>
                                        <p:attrNameLst>
                                          <p:attrName>style.visibility</p:attrName>
                                        </p:attrNameLst>
                                      </p:cBhvr>
                                      <p:to>
                                        <p:strVal val="visible"/>
                                      </p:to>
                                    </p:set>
                                    <p:animEffect filter="dissolve" transition="in">
                                      <p:cBhvr additive="repl">
                                        <p:cTn id="1452" dur="500"/>
                                        <p:tgtEl>
                                          <p:spTgt spid="1009"/>
                                        </p:tgtEl>
                                      </p:cBhvr>
                                    </p:animEffect>
                                  </p:childTnLst>
                                </p:cTn>
                              </p:par>
                            </p:childTnLst>
                          </p:cTn>
                        </p:par>
                        <p:par>
                          <p:cTn id="1453" nodeType="afterEffect" fill="hold">
                            <p:stCondLst>
                              <p:cond delay="1500"/>
                            </p:stCondLst>
                            <p:childTnLst>
                              <p:par>
                                <p:cTn id="1454" nodeType="afterEffect" fill="hold" presetClass="entr" presetID="22" presetSubtype="8">
                                  <p:stCondLst>
                                    <p:cond delay="1000"/>
                                  </p:stCondLst>
                                  <p:childTnLst>
                                    <p:set>
                                      <p:cBhvr>
                                        <p:cTn id="1455" dur="1" fill="hold">
                                          <p:stCondLst>
                                            <p:cond delay="0"/>
                                          </p:stCondLst>
                                        </p:cTn>
                                        <p:tgtEl>
                                          <p:spTgt spid="1014"/>
                                        </p:tgtEl>
                                        <p:attrNameLst>
                                          <p:attrName>style.visibility</p:attrName>
                                        </p:attrNameLst>
                                      </p:cBhvr>
                                      <p:to>
                                        <p:strVal val="visible"/>
                                      </p:to>
                                    </p:set>
                                    <p:animEffect filter="wipe(left)" transition="in">
                                      <p:cBhvr additive="repl">
                                        <p:cTn id="1456" dur="500"/>
                                        <p:tgtEl>
                                          <p:spTgt spid="1014"/>
                                        </p:tgtEl>
                                      </p:cBhvr>
                                    </p:animEffect>
                                  </p:childTnLst>
                                </p:cTn>
                              </p:par>
                            </p:childTnLst>
                          </p:cTn>
                        </p:par>
                        <p:par>
                          <p:cTn id="1457" nodeType="afterEffect" fill="hold">
                            <p:stCondLst>
                              <p:cond delay="3000"/>
                            </p:stCondLst>
                            <p:childTnLst>
                              <p:par>
                                <p:cTn id="1458" nodeType="afterEffect" fill="hold" presetClass="entr" presetID="9">
                                  <p:stCondLst>
                                    <p:cond delay="1000"/>
                                  </p:stCondLst>
                                  <p:childTnLst>
                                    <p:set>
                                      <p:cBhvr>
                                        <p:cTn id="1459" dur="1" fill="hold">
                                          <p:stCondLst>
                                            <p:cond delay="0"/>
                                          </p:stCondLst>
                                        </p:cTn>
                                        <p:tgtEl>
                                          <p:spTgt spid="1015"/>
                                        </p:tgtEl>
                                        <p:attrNameLst>
                                          <p:attrName>style.visibility</p:attrName>
                                        </p:attrNameLst>
                                      </p:cBhvr>
                                      <p:to>
                                        <p:strVal val="visible"/>
                                      </p:to>
                                    </p:set>
                                    <p:animEffect filter="dissolve" transition="in">
                                      <p:cBhvr additive="repl">
                                        <p:cTn id="1460" dur="500"/>
                                        <p:tgtEl>
                                          <p:spTgt spid="1015"/>
                                        </p:tgtEl>
                                      </p:cBhvr>
                                    </p:animEffect>
                                  </p:childTnLst>
                                </p:cTn>
                              </p:par>
                            </p:childTnLst>
                          </p:cTn>
                        </p:par>
                        <p:par>
                          <p:cTn id="1461" nodeType="afterEffect" fill="hold">
                            <p:stCondLst>
                              <p:cond delay="4500"/>
                            </p:stCondLst>
                            <p:childTnLst>
                              <p:par>
                                <p:cTn id="1462" nodeType="afterEffect" fill="hold" presetClass="entr" presetID="17" presetSubtype="8">
                                  <p:stCondLst>
                                    <p:cond delay="2000"/>
                                  </p:stCondLst>
                                  <p:childTnLst>
                                    <p:set>
                                      <p:cBhvr>
                                        <p:cTn id="1463" dur="1" fill="hold">
                                          <p:stCondLst>
                                            <p:cond delay="0"/>
                                          </p:stCondLst>
                                        </p:cTn>
                                        <p:tgtEl>
                                          <p:spTgt spid="1010"/>
                                        </p:tgtEl>
                                        <p:attrNameLst>
                                          <p:attrName>style.visibility</p:attrName>
                                        </p:attrNameLst>
                                      </p:cBhvr>
                                      <p:to>
                                        <p:strVal val="visible"/>
                                      </p:to>
                                    </p:set>
                                    <p:anim calcmode="lin" valueType="num">
                                      <p:cBhvr additive="repl">
                                        <p:cTn id="1464" dur="500" fill="hold"/>
                                        <p:tgtEl>
                                          <p:spTgt spid="1010"/>
                                        </p:tgtEl>
                                        <p:attrNameLst>
                                          <p:attrName>ppt_x</p:attrName>
                                        </p:attrNameLst>
                                      </p:cBhvr>
                                      <p:tavLst>
                                        <p:tav tm="0">
                                          <p:val>
                                            <p:strVal val="#ppt_x-#ppt_w/2"/>
                                          </p:val>
                                        </p:tav>
                                        <p:tav tm="100000">
                                          <p:val>
                                            <p:strVal val="#ppt_x"/>
                                          </p:val>
                                        </p:tav>
                                      </p:tavLst>
                                    </p:anim>
                                    <p:anim calcmode="lin" valueType="num">
                                      <p:cBhvr additive="repl">
                                        <p:cTn id="1465" dur="500" fill="hold"/>
                                        <p:tgtEl>
                                          <p:spTgt spid="1010"/>
                                        </p:tgtEl>
                                        <p:attrNameLst>
                                          <p:attrName>ppt_y</p:attrName>
                                        </p:attrNameLst>
                                      </p:cBhvr>
                                      <p:tavLst>
                                        <p:tav tm="0">
                                          <p:val>
                                            <p:strVal val="#ppt_y"/>
                                          </p:val>
                                        </p:tav>
                                        <p:tav tm="100000">
                                          <p:val>
                                            <p:strVal val="#ppt_y"/>
                                          </p:val>
                                        </p:tav>
                                      </p:tavLst>
                                    </p:anim>
                                    <p:anim calcmode="lin" valueType="num">
                                      <p:cBhvr additive="repl">
                                        <p:cTn id="1466" dur="500" fill="hold"/>
                                        <p:tgtEl>
                                          <p:spTgt spid="1010"/>
                                        </p:tgtEl>
                                        <p:attrNameLst>
                                          <p:attrName>ppt_w</p:attrName>
                                        </p:attrNameLst>
                                      </p:cBhvr>
                                      <p:tavLst>
                                        <p:tav tm="0">
                                          <p:val>
                                            <p:fltVal val="0"/>
                                          </p:val>
                                        </p:tav>
                                        <p:tav tm="100000">
                                          <p:val>
                                            <p:strVal val="#ppt_w"/>
                                          </p:val>
                                        </p:tav>
                                      </p:tavLst>
                                    </p:anim>
                                    <p:anim calcmode="lin" valueType="num">
                                      <p:cBhvr additive="repl">
                                        <p:cTn id="1467" dur="500" fill="hold"/>
                                        <p:tgtEl>
                                          <p:spTgt spid="1010"/>
                                        </p:tgtEl>
                                        <p:attrNameLst>
                                          <p:attrName>ppt_h</p:attrName>
                                        </p:attrNameLst>
                                      </p:cBhvr>
                                      <p:tavLst>
                                        <p:tav tm="0">
                                          <p:val>
                                            <p:strVal val="#ppt_h"/>
                                          </p:val>
                                        </p:tav>
                                        <p:tav tm="100000">
                                          <p:val>
                                            <p:strVal val="#ppt_h"/>
                                          </p:val>
                                        </p:tav>
                                      </p:tavLst>
                                    </p:anim>
                                  </p:childTnLst>
                                </p:cTn>
                              </p:par>
                            </p:childTnLst>
                          </p:cTn>
                        </p:par>
                        <p:par>
                          <p:cTn id="1468" nodeType="afterEffect" fill="hold">
                            <p:stCondLst>
                              <p:cond delay="7000"/>
                            </p:stCondLst>
                            <p:childTnLst>
                              <p:par>
                                <p:cTn id="1469" nodeType="afterEffect" fill="hold" presetClass="entr" presetID="9">
                                  <p:stCondLst>
                                    <p:cond delay="0"/>
                                  </p:stCondLst>
                                  <p:childTnLst>
                                    <p:set>
                                      <p:cBhvr>
                                        <p:cTn id="1470" dur="1" fill="hold">
                                          <p:stCondLst>
                                            <p:cond delay="0"/>
                                          </p:stCondLst>
                                        </p:cTn>
                                        <p:tgtEl>
                                          <p:spTgt spid="1011"/>
                                        </p:tgtEl>
                                        <p:attrNameLst>
                                          <p:attrName>style.visibility</p:attrName>
                                        </p:attrNameLst>
                                      </p:cBhvr>
                                      <p:to>
                                        <p:strVal val="visible"/>
                                      </p:to>
                                    </p:set>
                                    <p:animEffect filter="dissolve" transition="in">
                                      <p:cBhvr additive="repl">
                                        <p:cTn id="1471" dur="500"/>
                                        <p:tgtEl>
                                          <p:spTgt spid="1011"/>
                                        </p:tgtEl>
                                      </p:cBhvr>
                                    </p:animEffect>
                                  </p:childTnLst>
                                </p:cTn>
                              </p:par>
                            </p:childTnLst>
                          </p:cTn>
                        </p:par>
                        <p:par>
                          <p:cTn id="1472" nodeType="afterEffect" fill="hold">
                            <p:stCondLst>
                              <p:cond delay="7500"/>
                            </p:stCondLst>
                            <p:childTnLst>
                              <p:par>
                                <p:cTn id="1473" nodeType="afterEffect" fill="hold" presetClass="entr" presetID="17" presetSubtype="1">
                                  <p:stCondLst>
                                    <p:cond delay="2000"/>
                                  </p:stCondLst>
                                  <p:childTnLst>
                                    <p:set>
                                      <p:cBhvr>
                                        <p:cTn id="1474" dur="1" fill="hold">
                                          <p:stCondLst>
                                            <p:cond delay="0"/>
                                          </p:stCondLst>
                                        </p:cTn>
                                        <p:tgtEl>
                                          <p:spTgt spid="1012"/>
                                        </p:tgtEl>
                                        <p:attrNameLst>
                                          <p:attrName>style.visibility</p:attrName>
                                        </p:attrNameLst>
                                      </p:cBhvr>
                                      <p:to>
                                        <p:strVal val="visible"/>
                                      </p:to>
                                    </p:set>
                                    <p:anim calcmode="lin" valueType="num">
                                      <p:cBhvr additive="repl">
                                        <p:cTn id="1475" dur="500" fill="hold"/>
                                        <p:tgtEl>
                                          <p:spTgt spid="1012"/>
                                        </p:tgtEl>
                                        <p:attrNameLst>
                                          <p:attrName>ppt_x</p:attrName>
                                        </p:attrNameLst>
                                      </p:cBhvr>
                                      <p:tavLst>
                                        <p:tav tm="0">
                                          <p:val>
                                            <p:strVal val="#ppt_x"/>
                                          </p:val>
                                        </p:tav>
                                        <p:tav tm="100000">
                                          <p:val>
                                            <p:strVal val="#ppt_x"/>
                                          </p:val>
                                        </p:tav>
                                      </p:tavLst>
                                    </p:anim>
                                    <p:anim calcmode="lin" valueType="num">
                                      <p:cBhvr additive="repl">
                                        <p:cTn id="1476" dur="500" fill="hold"/>
                                        <p:tgtEl>
                                          <p:spTgt spid="1012"/>
                                        </p:tgtEl>
                                        <p:attrNameLst>
                                          <p:attrName>ppt_y</p:attrName>
                                        </p:attrNameLst>
                                      </p:cBhvr>
                                      <p:tavLst>
                                        <p:tav tm="0">
                                          <p:val>
                                            <p:strVal val="#ppt_y-#ppt_h/2"/>
                                          </p:val>
                                        </p:tav>
                                        <p:tav tm="100000">
                                          <p:val>
                                            <p:strVal val="#ppt_y"/>
                                          </p:val>
                                        </p:tav>
                                      </p:tavLst>
                                    </p:anim>
                                    <p:anim calcmode="lin" valueType="num">
                                      <p:cBhvr additive="repl">
                                        <p:cTn id="1477" dur="500" fill="hold"/>
                                        <p:tgtEl>
                                          <p:spTgt spid="1012"/>
                                        </p:tgtEl>
                                        <p:attrNameLst>
                                          <p:attrName>ppt_w</p:attrName>
                                        </p:attrNameLst>
                                      </p:cBhvr>
                                      <p:tavLst>
                                        <p:tav tm="0">
                                          <p:val>
                                            <p:strVal val="#ppt_w"/>
                                          </p:val>
                                        </p:tav>
                                        <p:tav tm="100000">
                                          <p:val>
                                            <p:strVal val="#ppt_w"/>
                                          </p:val>
                                        </p:tav>
                                      </p:tavLst>
                                    </p:anim>
                                    <p:anim calcmode="lin" valueType="num">
                                      <p:cBhvr additive="repl">
                                        <p:cTn id="1478" dur="500" fill="hold"/>
                                        <p:tgtEl>
                                          <p:spTgt spid="1012"/>
                                        </p:tgtEl>
                                        <p:attrNameLst>
                                          <p:attrName>ppt_h</p:attrName>
                                        </p:attrNameLst>
                                      </p:cBhvr>
                                      <p:tavLst>
                                        <p:tav tm="0">
                                          <p:val>
                                            <p:fltVal val="0"/>
                                          </p:val>
                                        </p:tav>
                                        <p:tav tm="100000">
                                          <p:val>
                                            <p:strVal val="#ppt_h"/>
                                          </p:val>
                                        </p:tav>
                                      </p:tavLst>
                                    </p:anim>
                                  </p:childTnLst>
                                </p:cTn>
                              </p:par>
                            </p:childTnLst>
                          </p:cTn>
                        </p:par>
                        <p:par>
                          <p:cTn id="1479" nodeType="afterEffect" fill="hold">
                            <p:stCondLst>
                              <p:cond delay="10000"/>
                            </p:stCondLst>
                            <p:childTnLst>
                              <p:par>
                                <p:cTn id="1480" nodeType="afterEffect" fill="hold" presetClass="entr" presetID="9">
                                  <p:stCondLst>
                                    <p:cond delay="0"/>
                                  </p:stCondLst>
                                  <p:childTnLst>
                                    <p:set>
                                      <p:cBhvr>
                                        <p:cTn id="1481" dur="1" fill="hold">
                                          <p:stCondLst>
                                            <p:cond delay="0"/>
                                          </p:stCondLst>
                                        </p:cTn>
                                        <p:tgtEl>
                                          <p:spTgt spid="1013"/>
                                        </p:tgtEl>
                                        <p:attrNameLst>
                                          <p:attrName>style.visibility</p:attrName>
                                        </p:attrNameLst>
                                      </p:cBhvr>
                                      <p:to>
                                        <p:strVal val="visible"/>
                                      </p:to>
                                    </p:set>
                                    <p:animEffect filter="dissolve" transition="in">
                                      <p:cBhvr additive="repl">
                                        <p:cTn id="1482" dur="500"/>
                                        <p:tgtEl>
                                          <p:spTgt spid="10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16" name="Object 2"/>
          <p:cNvGraphicFramePr/>
          <p:nvPr/>
        </p:nvGraphicFramePr>
        <p:xfrm>
          <a:off x="2133720" y="533520"/>
          <a:ext cx="5141880" cy="6172200"/>
        </p:xfrm>
        <a:graphic>
          <a:graphicData uri="http://schemas.openxmlformats.org/presentationml/2006/ole">
            <p:oleObj r:id="rId1" spid="">
              <p:embed/>
              <p:pic>
                <p:nvPicPr>
                  <p:cNvPr id="1017" name="Object 2" descr=""/>
                  <p:cNvPicPr/>
                  <p:nvPr/>
                </p:nvPicPr>
                <p:blipFill>
                  <a:blip r:embed="rId2"/>
                  <a:stretch/>
                </p:blipFill>
                <p:spPr>
                  <a:xfrm>
                    <a:off x="2133720" y="533520"/>
                    <a:ext cx="5141880" cy="6172200"/>
                  </a:xfrm>
                  <a:prstGeom prst="rect">
                    <a:avLst/>
                  </a:prstGeom>
                  <a:noFill/>
                  <a:ln w="0">
                    <a:noFill/>
                  </a:ln>
                </p:spPr>
              </p:pic>
            </p:oleObj>
          </a:graphicData>
        </a:graphic>
      </p:graphicFrame>
      <p:sp>
        <p:nvSpPr>
          <p:cNvPr id="1018" name="Rectangle 3"/>
          <p:cNvSpPr/>
          <p:nvPr/>
        </p:nvSpPr>
        <p:spPr>
          <a:xfrm>
            <a:off x="4038480" y="1447920"/>
            <a:ext cx="1295640" cy="10666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Garçons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Filles</a:t>
            </a:r>
            <a:endParaRPr b="0" lang="en-US" sz="1600" strike="noStrike" u="none">
              <a:solidFill>
                <a:srgbClr val="ffff00"/>
              </a:solidFill>
              <a:effectLst/>
              <a:uFillTx/>
              <a:latin typeface="Times New Roman"/>
            </a:endParaRPr>
          </a:p>
        </p:txBody>
      </p:sp>
      <p:sp>
        <p:nvSpPr>
          <p:cNvPr id="1019" name="Rectangle 5"/>
          <p:cNvSpPr/>
          <p:nvPr/>
        </p:nvSpPr>
        <p:spPr>
          <a:xfrm>
            <a:off x="3581280" y="685800"/>
            <a:ext cx="2438640" cy="38088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Vitesse-navette</a:t>
            </a:r>
            <a:endParaRPr b="0" lang="en-US" sz="2400" strike="noStrike" u="none">
              <a:solidFill>
                <a:srgbClr val="ffff00"/>
              </a:solidFill>
              <a:effectLst/>
              <a:uFillTx/>
              <a:latin typeface="Times New Roman"/>
            </a:endParaRPr>
          </a:p>
        </p:txBody>
      </p:sp>
      <p:sp>
        <p:nvSpPr>
          <p:cNvPr id="1020" name="Rectangle 6"/>
          <p:cNvSpPr/>
          <p:nvPr/>
        </p:nvSpPr>
        <p:spPr>
          <a:xfrm>
            <a:off x="2666880" y="990720"/>
            <a:ext cx="685800" cy="47242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9.5</a:t>
            </a:r>
            <a:endParaRPr b="0" lang="en-US" sz="20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10.0</a:t>
            </a:r>
            <a:endParaRPr b="0" lang="en-US" sz="20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10.5</a:t>
            </a:r>
            <a:endParaRPr b="0" lang="en-US" sz="2000" strike="noStrike" u="none">
              <a:solidFill>
                <a:srgbClr val="ffff00"/>
              </a:solidFill>
              <a:effectLst/>
              <a:uFillTx/>
              <a:latin typeface="Times New Roman"/>
            </a:endParaRPr>
          </a:p>
          <a:p>
            <a:pPr algn="ctr">
              <a:lnSpc>
                <a:spcPct val="16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11.0</a:t>
            </a:r>
            <a:endParaRPr b="0" lang="en-US" sz="2000" strike="noStrike" u="none">
              <a:solidFill>
                <a:srgbClr val="ffff00"/>
              </a:solidFill>
              <a:effectLst/>
              <a:uFillTx/>
              <a:latin typeface="Times New Roman"/>
            </a:endParaRPr>
          </a:p>
          <a:p>
            <a:pPr algn="ctr">
              <a:lnSpc>
                <a:spcPct val="16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11.5</a:t>
            </a:r>
            <a:br>
              <a:rPr sz="2000"/>
            </a:br>
            <a:r>
              <a:rPr b="0" lang="fr-FR" sz="2000" strike="noStrike" u="none">
                <a:solidFill>
                  <a:srgbClr val="ffff00"/>
                </a:solidFill>
                <a:effectLst/>
                <a:uFillTx/>
                <a:latin typeface="Arial"/>
              </a:rPr>
              <a:t>12.0</a:t>
            </a:r>
            <a:br>
              <a:rPr sz="2000"/>
            </a:br>
            <a:r>
              <a:rPr b="0" lang="fr-FR" sz="2000" strike="noStrike" u="none">
                <a:solidFill>
                  <a:srgbClr val="ffff00"/>
                </a:solidFill>
                <a:effectLst/>
                <a:uFillTx/>
                <a:latin typeface="Arial"/>
              </a:rPr>
              <a:t>12.5</a:t>
            </a:r>
            <a:br>
              <a:rPr sz="2000"/>
            </a:br>
            <a:r>
              <a:rPr b="0" lang="fr-FR" sz="2000" strike="noStrike" u="none">
                <a:solidFill>
                  <a:srgbClr val="ffff00"/>
                </a:solidFill>
                <a:effectLst/>
                <a:uFillTx/>
                <a:latin typeface="Arial"/>
              </a:rPr>
              <a:t>13.0</a:t>
            </a:r>
            <a:br>
              <a:rPr sz="2000"/>
            </a:br>
            <a:r>
              <a:rPr b="0" lang="fr-FR" sz="2000" strike="noStrike" u="none">
                <a:solidFill>
                  <a:srgbClr val="ffff00"/>
                </a:solidFill>
                <a:effectLst/>
                <a:uFillTx/>
                <a:latin typeface="Arial"/>
              </a:rPr>
              <a:t>13.5</a:t>
            </a:r>
            <a:br>
              <a:rPr sz="2000"/>
            </a:br>
            <a:r>
              <a:rPr b="0" lang="fr-FR" sz="2000" strike="noStrike" u="none">
                <a:solidFill>
                  <a:srgbClr val="ffff00"/>
                </a:solidFill>
                <a:effectLst/>
                <a:uFillTx/>
                <a:latin typeface="Arial"/>
              </a:rPr>
              <a:t>14.0</a:t>
            </a:r>
            <a:endParaRPr b="0" lang="en-US" sz="2000" strike="noStrike" u="none">
              <a:solidFill>
                <a:srgbClr val="ffff00"/>
              </a:solidFill>
              <a:effectLst/>
              <a:uFillTx/>
              <a:latin typeface="Times New Roman"/>
            </a:endParaRPr>
          </a:p>
        </p:txBody>
      </p:sp>
      <p:sp>
        <p:nvSpPr>
          <p:cNvPr id="1021" name="Rectangle 7"/>
          <p:cNvSpPr/>
          <p:nvPr/>
        </p:nvSpPr>
        <p:spPr>
          <a:xfrm>
            <a:off x="4114800" y="6172200"/>
            <a:ext cx="2286000" cy="3808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Age (années)</a:t>
            </a:r>
            <a:endParaRPr b="0" lang="en-US" sz="2400" strike="noStrike" u="none">
              <a:solidFill>
                <a:srgbClr val="ffff00"/>
              </a:solidFill>
              <a:effectLst/>
              <a:uFillTx/>
              <a:latin typeface="Times New Roman"/>
            </a:endParaRPr>
          </a:p>
        </p:txBody>
      </p:sp>
      <p:sp>
        <p:nvSpPr>
          <p:cNvPr id="1022" name="Rectangle 8"/>
          <p:cNvSpPr/>
          <p:nvPr/>
        </p:nvSpPr>
        <p:spPr>
          <a:xfrm rot="16198200">
            <a:off x="1483920" y="3541320"/>
            <a:ext cx="1828800" cy="3808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Temps (s)</a:t>
            </a:r>
            <a:endParaRPr b="0" lang="en-US" sz="2400" strike="noStrike" u="none">
              <a:solidFill>
                <a:srgbClr val="ffff00"/>
              </a:solidFill>
              <a:effectLst/>
              <a:uFillTx/>
              <a:latin typeface="Times New Roman"/>
            </a:endParaRPr>
          </a:p>
        </p:txBody>
      </p:sp>
      <p:sp>
        <p:nvSpPr>
          <p:cNvPr id="1023" name="Text Box 9"/>
          <p:cNvSpPr/>
          <p:nvPr/>
        </p:nvSpPr>
        <p:spPr>
          <a:xfrm>
            <a:off x="3396960" y="152280"/>
            <a:ext cx="3475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VITESSE - COORDINATION</a:t>
            </a:r>
            <a:endParaRPr b="0" lang="en-US" sz="2000" strike="noStrike" u="none">
              <a:solidFill>
                <a:srgbClr val="ffff00"/>
              </a:solidFill>
              <a:effectLst/>
              <a:uFillTx/>
              <a:latin typeface="Times New Roman"/>
            </a:endParaRPr>
          </a:p>
        </p:txBody>
      </p:sp>
    </p:spTree>
  </p:cSld>
  <p:transition spd="med">
    <p:zoom dir="out"/>
  </p:transition>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Text Box 2"/>
          <p:cNvSpPr/>
          <p:nvPr/>
        </p:nvSpPr>
        <p:spPr>
          <a:xfrm>
            <a:off x="228600" y="115920"/>
            <a:ext cx="8610480" cy="162972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Avant l’âge de 10 ans, le niveau de vitesse gestuelle moins élevé chez l’enfant que chez l’adolescent et moins élevé chez l’adolescent que chez l’adulte, est très fortement lié :</a:t>
            </a:r>
            <a:endParaRPr b="0" lang="en-US" sz="2400" strike="noStrike" u="none">
              <a:solidFill>
                <a:srgbClr val="ffff00"/>
              </a:solidFill>
              <a:effectLst/>
              <a:uFillTx/>
              <a:latin typeface="Times New Roman"/>
            </a:endParaRPr>
          </a:p>
        </p:txBody>
      </p:sp>
      <p:sp>
        <p:nvSpPr>
          <p:cNvPr id="1025" name="Text Box 3"/>
          <p:cNvSpPr/>
          <p:nvPr/>
        </p:nvSpPr>
        <p:spPr>
          <a:xfrm>
            <a:off x="150840" y="2055960"/>
            <a:ext cx="55566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au niveau de maturation du système nerveux, </a:t>
            </a:r>
            <a:endParaRPr b="0" lang="en-US" sz="2000" strike="noStrike" u="none">
              <a:solidFill>
                <a:srgbClr val="ffff00"/>
              </a:solidFill>
              <a:effectLst/>
              <a:uFillTx/>
              <a:latin typeface="Times New Roman"/>
            </a:endParaRPr>
          </a:p>
        </p:txBody>
      </p:sp>
      <p:sp>
        <p:nvSpPr>
          <p:cNvPr id="1026" name="Text Box 4"/>
          <p:cNvSpPr/>
          <p:nvPr/>
        </p:nvSpPr>
        <p:spPr>
          <a:xfrm>
            <a:off x="80640" y="2774880"/>
            <a:ext cx="67878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au niveau encore inachevé de myélinisation des axones, </a:t>
            </a:r>
            <a:endParaRPr b="0" lang="en-US" sz="2000" strike="noStrike" u="none">
              <a:solidFill>
                <a:srgbClr val="ffff00"/>
              </a:solidFill>
              <a:effectLst/>
              <a:uFillTx/>
              <a:latin typeface="Times New Roman"/>
            </a:endParaRPr>
          </a:p>
        </p:txBody>
      </p:sp>
      <p:sp>
        <p:nvSpPr>
          <p:cNvPr id="1027" name="Text Box 5"/>
          <p:cNvSpPr/>
          <p:nvPr/>
        </p:nvSpPr>
        <p:spPr>
          <a:xfrm>
            <a:off x="97560" y="3495600"/>
            <a:ext cx="84841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à la concentration plus faible de l’acétylcholine (??) (neurotransmetteur)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au niveau de la jonction neuromusculaire,</a:t>
            </a:r>
            <a:endParaRPr b="0" lang="en-US" sz="2000" strike="noStrike" u="none">
              <a:solidFill>
                <a:srgbClr val="ffff00"/>
              </a:solidFill>
              <a:effectLst/>
              <a:uFillTx/>
              <a:latin typeface="Times New Roman"/>
            </a:endParaRPr>
          </a:p>
        </p:txBody>
      </p:sp>
      <p:sp>
        <p:nvSpPr>
          <p:cNvPr id="1028" name="Text Box 6"/>
          <p:cNvSpPr/>
          <p:nvPr/>
        </p:nvSpPr>
        <p:spPr>
          <a:xfrm>
            <a:off x="138600" y="5499000"/>
            <a:ext cx="882504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et à la capacité de coordination tant au niveau central que périphérique qui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dépend de la qualité et de la quantité des apprentissages antérieurs. </a:t>
            </a:r>
            <a:endParaRPr b="0" lang="en-US" sz="2000" strike="noStrike" u="none">
              <a:solidFill>
                <a:srgbClr val="ffff00"/>
              </a:solidFill>
              <a:effectLst/>
              <a:uFillTx/>
              <a:latin typeface="Times New Roman"/>
            </a:endParaRPr>
          </a:p>
        </p:txBody>
      </p:sp>
      <p:sp>
        <p:nvSpPr>
          <p:cNvPr id="1029" name="Text Box 7"/>
          <p:cNvSpPr/>
          <p:nvPr/>
        </p:nvSpPr>
        <p:spPr>
          <a:xfrm>
            <a:off x="66240" y="4527720"/>
            <a:ext cx="86968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à une moindre libération et repompage du calcium au niveau du réticulum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 sarcoplasmique  </a:t>
            </a:r>
            <a:endParaRPr b="0" lang="en-US" sz="2000" strike="noStrike" u="none">
              <a:solidFill>
                <a:srgbClr val="ffff00"/>
              </a:solidFill>
              <a:effectLst/>
              <a:uFillTx/>
              <a:latin typeface="Times New Roman"/>
            </a:endParaRPr>
          </a:p>
        </p:txBody>
      </p:sp>
    </p:spTree>
  </p:cSld>
  <p:transition spd="med">
    <p:zoom dir="out"/>
  </p:transition>
  <p:timing>
    <p:tnLst>
      <p:par>
        <p:cTn id="1483" dur="indefinite" restart="never" nodeType="tmRoot">
          <p:childTnLst>
            <p:seq>
              <p:cTn id="1484" dur="indefinite" nodeType="mainSeq">
                <p:childTnLst>
                  <p:par>
                    <p:cTn id="1485" nodeType="clickEffect" fill="hold">
                      <p:stCondLst>
                        <p:cond delay="indefinite"/>
                      </p:stCondLst>
                      <p:childTnLst>
                        <p:par>
                          <p:cTn id="1486" nodeType="withEffect" fill="hold">
                            <p:stCondLst>
                              <p:cond delay="0"/>
                            </p:stCondLst>
                            <p:childTnLst>
                              <p:par>
                                <p:cTn id="1487" nodeType="clickEffect" fill="hold" presetClass="entr" presetID="9">
                                  <p:stCondLst>
                                    <p:cond delay="0"/>
                                  </p:stCondLst>
                                  <p:childTnLst>
                                    <p:set>
                                      <p:cBhvr>
                                        <p:cTn id="1488" dur="1" fill="hold">
                                          <p:stCondLst>
                                            <p:cond delay="0"/>
                                          </p:stCondLst>
                                        </p:cTn>
                                        <p:tgtEl>
                                          <p:spTgt spid="1024"/>
                                        </p:tgtEl>
                                        <p:attrNameLst>
                                          <p:attrName>style.visibility</p:attrName>
                                        </p:attrNameLst>
                                      </p:cBhvr>
                                      <p:to>
                                        <p:strVal val="visible"/>
                                      </p:to>
                                    </p:set>
                                    <p:animEffect filter="dissolve" transition="in">
                                      <p:cBhvr additive="repl">
                                        <p:cTn id="1489" dur="500"/>
                                        <p:tgtEl>
                                          <p:spTgt spid="10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 name="Text Box 2"/>
          <p:cNvSpPr/>
          <p:nvPr/>
        </p:nvSpPr>
        <p:spPr>
          <a:xfrm>
            <a:off x="800640" y="498600"/>
            <a:ext cx="7276320" cy="825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ENTRAINEMENT DE LA VITESSE AU COURS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DE LA CROISSANCE</a:t>
            </a:r>
            <a:endParaRPr b="0" lang="en-US" sz="2400" strike="noStrike" u="none">
              <a:solidFill>
                <a:srgbClr val="ffff00"/>
              </a:solidFill>
              <a:effectLst/>
              <a:uFillTx/>
              <a:latin typeface="Times New Roman"/>
            </a:endParaRPr>
          </a:p>
        </p:txBody>
      </p:sp>
      <p:sp>
        <p:nvSpPr>
          <p:cNvPr id="1031" name="Text Box 3"/>
          <p:cNvSpPr/>
          <p:nvPr/>
        </p:nvSpPr>
        <p:spPr>
          <a:xfrm>
            <a:off x="0" y="1639800"/>
            <a:ext cx="8991720" cy="1374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Bien que limitée par les facteurs héréditaires, la vitesse-vivacité et la vitesse vélocité peuvent être développées par une pratique d’exercices de vélocité réalisées </a:t>
            </a:r>
            <a:r>
              <a:rPr b="1" lang="fr-FR" sz="2000" strike="noStrike" u="none">
                <a:solidFill>
                  <a:srgbClr val="ffffff"/>
                </a:solidFill>
                <a:effectLst/>
                <a:uFillTx/>
                <a:latin typeface="Arial"/>
              </a:rPr>
              <a:t>avant et pendant la puberté</a:t>
            </a:r>
            <a:r>
              <a:rPr b="1" lang="fr-FR" sz="2000" strike="noStrike" u="none">
                <a:solidFill>
                  <a:srgbClr val="ffff00"/>
                </a:solidFill>
                <a:effectLst/>
                <a:uFillTx/>
                <a:latin typeface="Arial"/>
              </a:rPr>
              <a:t> (Ratchev et Stoev, 1979 : </a:t>
            </a:r>
            <a:r>
              <a:rPr b="1" lang="fr-FR" sz="2000" strike="noStrike" u="none">
                <a:solidFill>
                  <a:srgbClr val="ffffff"/>
                </a:solidFill>
                <a:effectLst/>
                <a:uFillTx/>
                <a:latin typeface="Arial"/>
              </a:rPr>
              <a:t>jeunes âgés de 11 à 14 ans)</a:t>
            </a:r>
            <a:r>
              <a:rPr b="0" lang="fr-FR" sz="2400" strike="noStrike" u="none">
                <a:solidFill>
                  <a:srgbClr val="ffffff"/>
                </a:solidFill>
                <a:effectLst/>
                <a:uFillTx/>
                <a:latin typeface="Times New Roman"/>
              </a:rPr>
              <a:t> </a:t>
            </a:r>
            <a:endParaRPr b="0" lang="en-US" sz="2400" strike="noStrike" u="none">
              <a:solidFill>
                <a:srgbClr val="ffff00"/>
              </a:solidFill>
              <a:effectLst/>
              <a:uFillTx/>
              <a:latin typeface="Times New Roman"/>
            </a:endParaRPr>
          </a:p>
        </p:txBody>
      </p:sp>
      <p:sp>
        <p:nvSpPr>
          <p:cNvPr id="1032" name="Text Box 5"/>
          <p:cNvSpPr/>
          <p:nvPr/>
        </p:nvSpPr>
        <p:spPr>
          <a:xfrm>
            <a:off x="-11880" y="3276720"/>
            <a:ext cx="9175680" cy="34480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Par l’utilisation de toutes les formes de jeu, il est parfaitement justifié de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d’envisager très tôt </a:t>
            </a:r>
            <a:r>
              <a:rPr b="1" lang="fr-FR" sz="2000" strike="noStrike" u="none">
                <a:solidFill>
                  <a:srgbClr val="ffffff"/>
                </a:solidFill>
                <a:effectLst/>
                <a:uFillTx/>
                <a:latin typeface="Arial"/>
              </a:rPr>
              <a:t>(vers 6 ans) le début du développement de la vitesse</a:t>
            </a: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car celle-ci dépend étroitement de la coordination nerveuse et du dévelop-</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pement des programmes moteurs.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C’est dans le premier âge scolaire</a:t>
            </a:r>
            <a:r>
              <a:rPr b="1" lang="fr-FR" sz="2000" strike="noStrike" u="none">
                <a:solidFill>
                  <a:srgbClr val="ffff00"/>
                </a:solidFill>
                <a:effectLst/>
                <a:uFillTx/>
                <a:latin typeface="Arial"/>
              </a:rPr>
              <a:t> que se manifeste la plus forte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amélioration </a:t>
            </a:r>
            <a:r>
              <a:rPr b="1" lang="fr-FR" sz="2000" strike="noStrike" u="none">
                <a:solidFill>
                  <a:srgbClr val="ffffff"/>
                </a:solidFill>
                <a:effectLst/>
                <a:uFillTx/>
                <a:latin typeface="Arial"/>
              </a:rPr>
              <a:t>de la fréquence</a:t>
            </a:r>
            <a:r>
              <a:rPr b="1" lang="fr-FR" sz="2000" strike="noStrike" u="none">
                <a:solidFill>
                  <a:srgbClr val="ffff00"/>
                </a:solidFill>
                <a:effectLst/>
                <a:uFillTx/>
                <a:latin typeface="Arial"/>
              </a:rPr>
              <a:t> et de la vitesse de mouvement (Kohler et al.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1978, Stemmler 1977).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L’amplitude </a:t>
            </a:r>
            <a:r>
              <a:rPr b="1" lang="fr-FR" sz="2000" strike="noStrike" u="none">
                <a:solidFill>
                  <a:srgbClr val="ffff00"/>
                </a:solidFill>
                <a:effectLst/>
                <a:uFillTx/>
                <a:latin typeface="Arial"/>
              </a:rPr>
              <a:t>explique ensuite au cours de la croissance l’amélioration de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la vitesse cyclique.</a:t>
            </a:r>
            <a:endParaRPr b="0" lang="en-US" sz="2000" strike="noStrike" u="none">
              <a:solidFill>
                <a:srgbClr val="ffff00"/>
              </a:solidFill>
              <a:effectLst/>
              <a:uFillTx/>
              <a:latin typeface="Times New Roman"/>
            </a:endParaRPr>
          </a:p>
        </p:txBody>
      </p:sp>
    </p:spTree>
  </p:cSld>
  <p:transition spd="med">
    <p:zoom dir="out"/>
  </p:transition>
  <p:timing>
    <p:tnLst>
      <p:par>
        <p:cTn id="1490" dur="indefinite" restart="never" nodeType="tmRoot">
          <p:childTnLst>
            <p:seq>
              <p:cTn id="1491" dur="indefinite" nodeType="mainSeq">
                <p:childTnLst>
                  <p:par>
                    <p:cTn id="1492" nodeType="clickEffect" fill="hold">
                      <p:stCondLst>
                        <p:cond delay="0"/>
                      </p:stCondLst>
                      <p:childTnLst>
                        <p:par>
                          <p:cTn id="1493" nodeType="withEffect" fill="hold">
                            <p:stCondLst>
                              <p:cond delay="0"/>
                            </p:stCondLst>
                            <p:childTnLst>
                              <p:par>
                                <p:cTn id="1494" nodeType="afterEffect" fill="hold" presetClass="entr" presetID="9">
                                  <p:stCondLst>
                                    <p:cond delay="0"/>
                                  </p:stCondLst>
                                  <p:childTnLst>
                                    <p:set>
                                      <p:cBhvr>
                                        <p:cTn id="1495" dur="1" fill="hold">
                                          <p:stCondLst>
                                            <p:cond delay="0"/>
                                          </p:stCondLst>
                                        </p:cTn>
                                        <p:tgtEl>
                                          <p:spTgt spid="1030"/>
                                        </p:tgtEl>
                                        <p:attrNameLst>
                                          <p:attrName>style.visibility</p:attrName>
                                        </p:attrNameLst>
                                      </p:cBhvr>
                                      <p:to>
                                        <p:strVal val="visible"/>
                                      </p:to>
                                    </p:set>
                                    <p:animEffect filter="dissolve" transition="in">
                                      <p:cBhvr additive="repl">
                                        <p:cTn id="1496" dur="500"/>
                                        <p:tgtEl>
                                          <p:spTgt spid="1030"/>
                                        </p:tgtEl>
                                      </p:cBhvr>
                                    </p:animEffect>
                                  </p:childTnLst>
                                </p:cTn>
                              </p:par>
                            </p:childTnLst>
                          </p:cTn>
                        </p:par>
                      </p:childTnLst>
                    </p:cTn>
                  </p:par>
                  <p:par>
                    <p:cTn id="1497" nodeType="clickEffect" fill="hold">
                      <p:stCondLst>
                        <p:cond delay="indefinite"/>
                      </p:stCondLst>
                      <p:childTnLst>
                        <p:par>
                          <p:cTn id="1498" nodeType="withEffect" fill="hold">
                            <p:stCondLst>
                              <p:cond delay="0"/>
                            </p:stCondLst>
                            <p:childTnLst>
                              <p:par>
                                <p:cTn id="1499" nodeType="clickEffect" fill="hold" presetClass="entr" presetID="9">
                                  <p:stCondLst>
                                    <p:cond delay="0"/>
                                  </p:stCondLst>
                                  <p:childTnLst>
                                    <p:set>
                                      <p:cBhvr>
                                        <p:cTn id="1500" dur="1" fill="hold">
                                          <p:stCondLst>
                                            <p:cond delay="0"/>
                                          </p:stCondLst>
                                        </p:cTn>
                                        <p:tgtEl>
                                          <p:spTgt spid="1031"/>
                                        </p:tgtEl>
                                        <p:attrNameLst>
                                          <p:attrName>style.visibility</p:attrName>
                                        </p:attrNameLst>
                                      </p:cBhvr>
                                      <p:to>
                                        <p:strVal val="visible"/>
                                      </p:to>
                                    </p:set>
                                    <p:animEffect filter="dissolve" transition="in">
                                      <p:cBhvr additive="repl">
                                        <p:cTn id="1501" dur="500"/>
                                        <p:tgtEl>
                                          <p:spTgt spid="1031"/>
                                        </p:tgtEl>
                                      </p:cBhvr>
                                    </p:animEffect>
                                  </p:childTnLst>
                                </p:cTn>
                              </p:par>
                            </p:childTnLst>
                          </p:cTn>
                        </p:par>
                      </p:childTnLst>
                    </p:cTn>
                  </p:par>
                  <p:par>
                    <p:cTn id="1502" nodeType="clickEffect" fill="hold">
                      <p:stCondLst>
                        <p:cond delay="indefinite"/>
                      </p:stCondLst>
                      <p:childTnLst>
                        <p:par>
                          <p:cTn id="1503" nodeType="withEffect" fill="hold">
                            <p:stCondLst>
                              <p:cond delay="0"/>
                            </p:stCondLst>
                            <p:childTnLst>
                              <p:par>
                                <p:cTn id="1504" nodeType="clickEffect" fill="hold" presetClass="entr" presetID="9">
                                  <p:stCondLst>
                                    <p:cond delay="0"/>
                                  </p:stCondLst>
                                  <p:childTnLst>
                                    <p:set>
                                      <p:cBhvr>
                                        <p:cTn id="1505" dur="1" fill="hold">
                                          <p:stCondLst>
                                            <p:cond delay="0"/>
                                          </p:stCondLst>
                                        </p:cTn>
                                        <p:tgtEl>
                                          <p:spTgt spid="1032"/>
                                        </p:tgtEl>
                                        <p:attrNameLst>
                                          <p:attrName>style.visibility</p:attrName>
                                        </p:attrNameLst>
                                      </p:cBhvr>
                                      <p:to>
                                        <p:strVal val="visible"/>
                                      </p:to>
                                    </p:set>
                                    <p:animEffect filter="dissolve" transition="in">
                                      <p:cBhvr additive="repl">
                                        <p:cTn id="1506" dur="500"/>
                                        <p:tgtEl>
                                          <p:spTgt spid="1032"/>
                                        </p:tgtEl>
                                      </p:cBhvr>
                                    </p:animEffect>
                                  </p:childTnLst>
                                </p:cTn>
                              </p:par>
                              <p:animClr clrSpc="rgb">
                                <p:cBhvr>
                                  <p:cTn id="1507" dur="1" fill="hold">
                                    <p:stCondLst>
                                      <p:cond delay="0"/>
                                    </p:stCondLst>
                                  </p:cTn>
                                  <p:tgtEl>
                                    <p:spTgt spid="1031"/>
                                  </p:tgtEl>
                                  <p:attrNameLst>
                                    <p:attrName>ppt_c</p:attrName>
                                  </p:attrNameLst>
                                </p:cBhvr>
                                <p:to>
                                  <a:srgbClr val="ccccff"/>
                                </p:to>
                              </p:animClr>
                            </p:childTnLst>
                          </p:cTn>
                        </p:par>
                      </p:childTnLst>
                    </p:cTn>
                  </p:par>
                  <p:par>
                    <p:cTn id="1508" fill="hold">
                      <p:stCondLst>
                        <p:cond delay="indefinite"/>
                      </p:stCondLst>
                      <p:childTnLst>
                        <p:par>
                          <p:cTn id="1509" fill="hold">
                            <p:stCondLst>
                              <p:cond delay="0"/>
                            </p:stCondLst>
                            <p:childTnLst>
                              <p:animClr clrSpc="rgb">
                                <p:cBhvr>
                                  <p:cTn id="1510" dur="1" fill="hold"/>
                                  <p:tgtEl>
                                    <p:spTgt spid="1032"/>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Text Box 2"/>
          <p:cNvSpPr/>
          <p:nvPr/>
        </p:nvSpPr>
        <p:spPr>
          <a:xfrm>
            <a:off x="2044080" y="2943360"/>
            <a:ext cx="48715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Bookman Old Style"/>
              </a:rPr>
              <a:t>La force musculaire</a:t>
            </a:r>
            <a:endParaRPr b="0" lang="en-US" sz="3600" strike="noStrike" u="none">
              <a:solidFill>
                <a:srgbClr val="ffff00"/>
              </a:solidFill>
              <a:effectLst/>
              <a:uFillTx/>
              <a:latin typeface="Times New Roman"/>
            </a:endParaRPr>
          </a:p>
        </p:txBody>
      </p:sp>
    </p:spTree>
  </p:cSld>
  <p:transition spd="med">
    <p:zoom dir="out"/>
  </p:transition>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 name="Text Box 2"/>
          <p:cNvSpPr/>
          <p:nvPr/>
        </p:nvSpPr>
        <p:spPr>
          <a:xfrm>
            <a:off x="3584880" y="604800"/>
            <a:ext cx="204840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Définition</a:t>
            </a:r>
            <a:endParaRPr b="0" lang="en-US" sz="2800" strike="noStrike" u="none">
              <a:solidFill>
                <a:srgbClr val="ffff00"/>
              </a:solidFill>
              <a:effectLst/>
              <a:uFillTx/>
              <a:latin typeface="Times New Roman"/>
            </a:endParaRPr>
          </a:p>
        </p:txBody>
      </p:sp>
      <p:sp>
        <p:nvSpPr>
          <p:cNvPr id="1035" name="Text Box 3"/>
          <p:cNvSpPr/>
          <p:nvPr/>
        </p:nvSpPr>
        <p:spPr>
          <a:xfrm>
            <a:off x="262080" y="2048040"/>
            <a:ext cx="869292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La force est la capacité d’un muscle ou d’un groupe musculaire à développer une tension.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Tree>
  </p:cSld>
  <p:transition spd="med">
    <p:zoom dir="out"/>
  </p:transition>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Text Box 2"/>
          <p:cNvSpPr/>
          <p:nvPr/>
        </p:nvSpPr>
        <p:spPr>
          <a:xfrm>
            <a:off x="462960" y="1062000"/>
            <a:ext cx="86036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Facteurs déterminants de la force musculaire</a:t>
            </a:r>
            <a:endParaRPr b="0" lang="en-US" sz="2800" strike="noStrike" u="none">
              <a:solidFill>
                <a:srgbClr val="ffff00"/>
              </a:solidFill>
              <a:effectLst/>
              <a:uFillTx/>
              <a:latin typeface="Times New Roman"/>
            </a:endParaRPr>
          </a:p>
        </p:txBody>
      </p:sp>
      <p:sp>
        <p:nvSpPr>
          <p:cNvPr id="1037" name="Text Box 3"/>
          <p:cNvSpPr/>
          <p:nvPr/>
        </p:nvSpPr>
        <p:spPr>
          <a:xfrm>
            <a:off x="1915920" y="2438280"/>
            <a:ext cx="7853400" cy="2142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La force musculaire dépend de l’inter-action de trois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facteurs:</a:t>
            </a: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de la qualité de la commande nerveuse,</a:t>
            </a: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de la qualité des groupes musculaires sollicités,</a:t>
            </a: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et du couple muscles-articulation(s) mis en jeu.</a:t>
            </a:r>
            <a:endParaRPr b="0" lang="en-US" sz="2400" strike="noStrike" u="none">
              <a:solidFill>
                <a:srgbClr val="ffff00"/>
              </a:solidFill>
              <a:effectLst/>
              <a:uFillTx/>
              <a:latin typeface="Times New Roman"/>
            </a:endParaRPr>
          </a:p>
        </p:txBody>
      </p:sp>
    </p:spTree>
  </p:cSld>
  <p:transition spd="med">
    <p:zoom dir="out"/>
  </p:transition>
  <p:timing>
    <p:tnLst>
      <p:par>
        <p:cTn id="1511" dur="indefinite" restart="never" nodeType="tmRoot">
          <p:childTnLst>
            <p:seq>
              <p:cTn id="1512" dur="indefinite" nodeType="mainSeq">
                <p:childTnLst>
                  <p:par>
                    <p:cTn id="1513" nodeType="clickEffect" fill="hold">
                      <p:stCondLst>
                        <p:cond delay="0"/>
                      </p:stCondLst>
                      <p:childTnLst>
                        <p:par>
                          <p:cTn id="1514" nodeType="withEffect" fill="hold">
                            <p:stCondLst>
                              <p:cond delay="0"/>
                            </p:stCondLst>
                            <p:childTnLst>
                              <p:par>
                                <p:cTn id="1515" nodeType="afterEffect" fill="hold" presetClass="entr" presetID="9">
                                  <p:stCondLst>
                                    <p:cond delay="0"/>
                                  </p:stCondLst>
                                  <p:iterate type="wd">
                                    <p:tmAbs val="300"/>
                                  </p:iterate>
                                  <p:childTnLst>
                                    <p:set>
                                      <p:cBhvr>
                                        <p:cTn id="1516" dur="1" fill="hold">
                                          <p:stCondLst>
                                            <p:cond delay="0"/>
                                          </p:stCondLst>
                                        </p:cTn>
                                        <p:tgtEl>
                                          <p:spTgt spid="1036"/>
                                        </p:tgtEl>
                                        <p:attrNameLst>
                                          <p:attrName>style.visibility</p:attrName>
                                        </p:attrNameLst>
                                      </p:cBhvr>
                                      <p:to>
                                        <p:strVal val="visible"/>
                                      </p:to>
                                    </p:set>
                                    <p:animEffect filter="dissolve" transition="in">
                                      <p:cBhvr additive="repl">
                                        <p:cTn id="1517" dur="300"/>
                                        <p:tgtEl>
                                          <p:spTgt spid="1036"/>
                                        </p:tgtEl>
                                      </p:cBhvr>
                                    </p:animEffect>
                                  </p:childTnLst>
                                </p:cTn>
                              </p:par>
                            </p:childTnLst>
                          </p:cTn>
                        </p:par>
                      </p:childTnLst>
                    </p:cTn>
                  </p:par>
                  <p:par>
                    <p:cTn id="1518" nodeType="clickEffect" fill="hold">
                      <p:stCondLst>
                        <p:cond delay="indefinite"/>
                      </p:stCondLst>
                      <p:childTnLst>
                        <p:par>
                          <p:cTn id="1519" nodeType="withEffect" fill="hold">
                            <p:stCondLst>
                              <p:cond delay="0"/>
                            </p:stCondLst>
                            <p:childTnLst>
                              <p:par>
                                <p:cTn id="1520" nodeType="clickEffect" fill="hold" presetClass="entr" presetID="9">
                                  <p:stCondLst>
                                    <p:cond delay="0"/>
                                  </p:stCondLst>
                                  <p:iterate type="wd">
                                    <p:tmAbs val="300"/>
                                  </p:iterate>
                                  <p:childTnLst>
                                    <p:set>
                                      <p:cBhvr>
                                        <p:cTn id="1521" dur="1" fill="hold">
                                          <p:stCondLst>
                                            <p:cond delay="0"/>
                                          </p:stCondLst>
                                        </p:cTn>
                                        <p:tgtEl>
                                          <p:spTgt spid="1037"/>
                                        </p:tgtEl>
                                        <p:attrNameLst>
                                          <p:attrName>style.visibility</p:attrName>
                                        </p:attrNameLst>
                                      </p:cBhvr>
                                      <p:to>
                                        <p:strVal val="visible"/>
                                      </p:to>
                                    </p:set>
                                    <p:animEffect filter="dissolve" transition="in">
                                      <p:cBhvr additive="repl">
                                        <p:cTn id="1522" dur="300"/>
                                        <p:tgtEl>
                                          <p:spTgt spid="10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Text Box 2"/>
          <p:cNvSpPr/>
          <p:nvPr/>
        </p:nvSpPr>
        <p:spPr>
          <a:xfrm>
            <a:off x="1992960" y="528480"/>
            <a:ext cx="5222880" cy="9478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Développement de la force </a:t>
            </a:r>
            <a:endParaRPr b="0" lang="en-US" sz="2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au cours de la croissance</a:t>
            </a:r>
            <a:endParaRPr b="0" lang="en-US" sz="2800" strike="noStrike" u="none">
              <a:solidFill>
                <a:srgbClr val="ffff00"/>
              </a:solidFill>
              <a:effectLst/>
              <a:uFillTx/>
              <a:latin typeface="Times New Roman"/>
            </a:endParaRPr>
          </a:p>
        </p:txBody>
      </p:sp>
      <p:sp>
        <p:nvSpPr>
          <p:cNvPr id="1039" name="Text Box 3"/>
          <p:cNvSpPr/>
          <p:nvPr/>
        </p:nvSpPr>
        <p:spPr>
          <a:xfrm>
            <a:off x="609480" y="1798560"/>
            <a:ext cx="822960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La force musculaire augmente progressivement au cours de la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croissance en fonction de l’accroissement de la masse corporelle.</a:t>
            </a:r>
            <a:endParaRPr b="0" lang="en-US" sz="2000" strike="noStrike" u="none">
              <a:solidFill>
                <a:srgbClr val="ffff00"/>
              </a:solidFill>
              <a:effectLst/>
              <a:uFillTx/>
              <a:latin typeface="Times New Roman"/>
            </a:endParaRPr>
          </a:p>
        </p:txBody>
      </p:sp>
      <p:sp>
        <p:nvSpPr>
          <p:cNvPr id="1040" name="Text Box 5"/>
          <p:cNvSpPr/>
          <p:nvPr/>
        </p:nvSpPr>
        <p:spPr>
          <a:xfrm>
            <a:off x="598320" y="2727360"/>
            <a:ext cx="790308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Avant la puberté, la force maximale des garçons et des filles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n’est pas très différente (Weltman, 1989, Sunnegardh et al.1994)</a:t>
            </a:r>
            <a:endParaRPr b="0" lang="en-US" sz="2000" strike="noStrike" u="none">
              <a:solidFill>
                <a:srgbClr val="ffff00"/>
              </a:solidFill>
              <a:effectLst/>
              <a:uFillTx/>
              <a:latin typeface="Times New Roman"/>
            </a:endParaRPr>
          </a:p>
        </p:txBody>
      </p:sp>
      <p:sp>
        <p:nvSpPr>
          <p:cNvPr id="1041" name="Text Box 6"/>
          <p:cNvSpPr/>
          <p:nvPr/>
        </p:nvSpPr>
        <p:spPr>
          <a:xfrm>
            <a:off x="685800" y="3733920"/>
            <a:ext cx="845820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En moyenne, les filles présentent l ’accroissement en force la plus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élevée pendant les années de croissance maximale: </a:t>
            </a:r>
            <a:r>
              <a:rPr b="1" lang="fr-FR" sz="2000" strike="noStrike" u="none">
                <a:solidFill>
                  <a:srgbClr val="ffffff"/>
                </a:solidFill>
                <a:effectLst/>
                <a:uFillTx/>
                <a:latin typeface="Arial"/>
              </a:rPr>
              <a:t>11,5 à 12,5 ans</a:t>
            </a:r>
            <a:endParaRPr b="0" lang="en-US" sz="2000" strike="noStrike" u="none">
              <a:solidFill>
                <a:srgbClr val="ffff00"/>
              </a:solidFill>
              <a:effectLst/>
              <a:uFillTx/>
              <a:latin typeface="Times New Roman"/>
            </a:endParaRPr>
          </a:p>
        </p:txBody>
      </p:sp>
      <p:sp>
        <p:nvSpPr>
          <p:cNvPr id="1042" name="Text Box 9"/>
          <p:cNvSpPr/>
          <p:nvPr/>
        </p:nvSpPr>
        <p:spPr>
          <a:xfrm>
            <a:off x="685800" y="5410080"/>
            <a:ext cx="8458200" cy="1008720"/>
          </a:xfrm>
          <a:prstGeom prst="rect">
            <a:avLst/>
          </a:prstGeom>
          <a:noFill/>
          <a:ln w="0">
            <a:noFill/>
          </a:ln>
        </p:spPr>
        <p:style>
          <a:lnRef idx="0"/>
          <a:fillRef idx="0"/>
          <a:effectRef idx="0"/>
          <a:fontRef idx="minor"/>
        </p:style>
        <p:txBody>
          <a:bodyPr lIns="90000" rIns="90000" tIns="46800" bIns="46800" anchor="t">
            <a:spAutoFit/>
          </a:bodyPr>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La force maximale se stabilise </a:t>
            </a:r>
            <a:r>
              <a:rPr b="1" lang="fr-FR" sz="2000" strike="noStrike" u="none">
                <a:solidFill>
                  <a:srgbClr val="ffffff"/>
                </a:solidFill>
                <a:effectLst/>
                <a:uFillTx/>
                <a:latin typeface="Arial"/>
              </a:rPr>
              <a:t>vers 18 ans chez la fille et entre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20 et 30 ans chez le garçon.</a:t>
            </a:r>
            <a:endParaRPr b="0" lang="en-US" sz="2000" strike="noStrike" u="none">
              <a:solidFill>
                <a:srgbClr val="ffff00"/>
              </a:solidFill>
              <a:effectLst/>
              <a:uFillTx/>
              <a:latin typeface="Times New Roman"/>
            </a:endParaRPr>
          </a:p>
        </p:txBody>
      </p:sp>
      <p:sp>
        <p:nvSpPr>
          <p:cNvPr id="1043" name="Text Box 10"/>
          <p:cNvSpPr/>
          <p:nvPr/>
        </p:nvSpPr>
        <p:spPr>
          <a:xfrm>
            <a:off x="598320" y="4572000"/>
            <a:ext cx="8345880" cy="82548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Chez les garçons, l’augmentation est maximale un an après le pic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 croissance :</a:t>
            </a:r>
            <a:r>
              <a:rPr b="1" lang="fr-FR" sz="2000" strike="noStrike" u="none">
                <a:solidFill>
                  <a:srgbClr val="ffffff"/>
                </a:solidFill>
                <a:effectLst/>
                <a:uFillTx/>
                <a:latin typeface="Arial"/>
              </a:rPr>
              <a:t>14,5 à 15,5 ans (Bar-Or 1989).</a:t>
            </a:r>
            <a:r>
              <a:rPr b="0"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Tree>
  </p:cSld>
  <p:transition spd="med">
    <p:zoom dir="out"/>
  </p:transition>
  <p:timing>
    <p:tnLst>
      <p:par>
        <p:cTn id="1523" dur="indefinite" restart="never" nodeType="tmRoot">
          <p:childTnLst>
            <p:seq>
              <p:cTn id="1524" dur="indefinite" nodeType="mainSeq">
                <p:childTnLst>
                  <p:par>
                    <p:cTn id="1525" nodeType="clickEffect" fill="hold">
                      <p:stCondLst>
                        <p:cond delay="0"/>
                      </p:stCondLst>
                      <p:childTnLst>
                        <p:par>
                          <p:cTn id="1526" nodeType="withEffect" fill="hold">
                            <p:stCondLst>
                              <p:cond delay="0"/>
                            </p:stCondLst>
                            <p:childTnLst>
                              <p:par>
                                <p:cTn id="1527" nodeType="afterEffect" fill="hold" presetClass="entr" presetID="9">
                                  <p:stCondLst>
                                    <p:cond delay="0"/>
                                  </p:stCondLst>
                                  <p:childTnLst>
                                    <p:set>
                                      <p:cBhvr>
                                        <p:cTn id="1528" dur="1" fill="hold">
                                          <p:stCondLst>
                                            <p:cond delay="0"/>
                                          </p:stCondLst>
                                        </p:cTn>
                                        <p:tgtEl>
                                          <p:spTgt spid="1038"/>
                                        </p:tgtEl>
                                        <p:attrNameLst>
                                          <p:attrName>style.visibility</p:attrName>
                                        </p:attrNameLst>
                                      </p:cBhvr>
                                      <p:to>
                                        <p:strVal val="visible"/>
                                      </p:to>
                                    </p:set>
                                    <p:animEffect filter="dissolve" transition="in">
                                      <p:cBhvr additive="repl">
                                        <p:cTn id="1529" dur="500"/>
                                        <p:tgtEl>
                                          <p:spTgt spid="1038"/>
                                        </p:tgtEl>
                                      </p:cBhvr>
                                    </p:animEffect>
                                  </p:childTnLst>
                                </p:cTn>
                              </p:par>
                            </p:childTnLst>
                          </p:cTn>
                        </p:par>
                      </p:childTnLst>
                    </p:cTn>
                  </p:par>
                  <p:par>
                    <p:cTn id="1530" nodeType="clickEffect" fill="hold">
                      <p:stCondLst>
                        <p:cond delay="indefinite"/>
                      </p:stCondLst>
                      <p:childTnLst>
                        <p:par>
                          <p:cTn id="1531" nodeType="withEffect" fill="hold">
                            <p:stCondLst>
                              <p:cond delay="0"/>
                            </p:stCondLst>
                            <p:childTnLst>
                              <p:par>
                                <p:cTn id="1532" nodeType="clickEffect" fill="hold" presetClass="entr" presetID="9">
                                  <p:stCondLst>
                                    <p:cond delay="0"/>
                                  </p:stCondLst>
                                  <p:childTnLst>
                                    <p:set>
                                      <p:cBhvr>
                                        <p:cTn id="1533" dur="1" fill="hold">
                                          <p:stCondLst>
                                            <p:cond delay="0"/>
                                          </p:stCondLst>
                                        </p:cTn>
                                        <p:tgtEl>
                                          <p:spTgt spid="1039"/>
                                        </p:tgtEl>
                                        <p:attrNameLst>
                                          <p:attrName>style.visibility</p:attrName>
                                        </p:attrNameLst>
                                      </p:cBhvr>
                                      <p:to>
                                        <p:strVal val="visible"/>
                                      </p:to>
                                    </p:set>
                                    <p:animEffect filter="dissolve" transition="in">
                                      <p:cBhvr additive="repl">
                                        <p:cTn id="1534" dur="500"/>
                                        <p:tgtEl>
                                          <p:spTgt spid="1039"/>
                                        </p:tgtEl>
                                      </p:cBhvr>
                                    </p:animEffect>
                                  </p:childTnLst>
                                </p:cTn>
                              </p:par>
                            </p:childTnLst>
                          </p:cTn>
                        </p:par>
                      </p:childTnLst>
                    </p:cTn>
                  </p:par>
                  <p:par>
                    <p:cTn id="1535" nodeType="clickEffect" fill="hold">
                      <p:stCondLst>
                        <p:cond delay="indefinite"/>
                      </p:stCondLst>
                      <p:childTnLst>
                        <p:par>
                          <p:cTn id="1536" nodeType="withEffect" fill="hold">
                            <p:stCondLst>
                              <p:cond delay="0"/>
                            </p:stCondLst>
                            <p:childTnLst>
                              <p:par>
                                <p:cTn id="1537" nodeType="clickEffect" fill="hold" presetClass="entr" presetID="9">
                                  <p:stCondLst>
                                    <p:cond delay="0"/>
                                  </p:stCondLst>
                                  <p:childTnLst>
                                    <p:set>
                                      <p:cBhvr>
                                        <p:cTn id="1538" dur="1" fill="hold">
                                          <p:stCondLst>
                                            <p:cond delay="0"/>
                                          </p:stCondLst>
                                        </p:cTn>
                                        <p:tgtEl>
                                          <p:spTgt spid="1040"/>
                                        </p:tgtEl>
                                        <p:attrNameLst>
                                          <p:attrName>style.visibility</p:attrName>
                                        </p:attrNameLst>
                                      </p:cBhvr>
                                      <p:to>
                                        <p:strVal val="visible"/>
                                      </p:to>
                                    </p:set>
                                    <p:animEffect filter="dissolve" transition="in">
                                      <p:cBhvr additive="repl">
                                        <p:cTn id="1539" dur="500"/>
                                        <p:tgtEl>
                                          <p:spTgt spid="1040"/>
                                        </p:tgtEl>
                                      </p:cBhvr>
                                    </p:animEffect>
                                  </p:childTnLst>
                                </p:cTn>
                              </p:par>
                            </p:childTnLst>
                          </p:cTn>
                        </p:par>
                      </p:childTnLst>
                    </p:cTn>
                  </p:par>
                  <p:par>
                    <p:cTn id="1540" nodeType="clickEffect" fill="hold">
                      <p:stCondLst>
                        <p:cond delay="indefinite"/>
                      </p:stCondLst>
                      <p:childTnLst>
                        <p:par>
                          <p:cTn id="1541" nodeType="withEffect" fill="hold">
                            <p:stCondLst>
                              <p:cond delay="0"/>
                            </p:stCondLst>
                            <p:childTnLst>
                              <p:par>
                                <p:cTn id="1542" nodeType="clickEffect" fill="hold" presetClass="entr" presetID="9">
                                  <p:stCondLst>
                                    <p:cond delay="0"/>
                                  </p:stCondLst>
                                  <p:childTnLst>
                                    <p:set>
                                      <p:cBhvr>
                                        <p:cTn id="1543" dur="1" fill="hold">
                                          <p:stCondLst>
                                            <p:cond delay="0"/>
                                          </p:stCondLst>
                                        </p:cTn>
                                        <p:tgtEl>
                                          <p:spTgt spid="1041"/>
                                        </p:tgtEl>
                                        <p:attrNameLst>
                                          <p:attrName>style.visibility</p:attrName>
                                        </p:attrNameLst>
                                      </p:cBhvr>
                                      <p:to>
                                        <p:strVal val="visible"/>
                                      </p:to>
                                    </p:set>
                                    <p:animEffect filter="dissolve" transition="in">
                                      <p:cBhvr additive="repl">
                                        <p:cTn id="1544" dur="500"/>
                                        <p:tgtEl>
                                          <p:spTgt spid="1041"/>
                                        </p:tgtEl>
                                      </p:cBhvr>
                                    </p:animEffect>
                                  </p:childTnLst>
                                </p:cTn>
                              </p:par>
                            </p:childTnLst>
                          </p:cTn>
                        </p:par>
                      </p:childTnLst>
                    </p:cTn>
                  </p:par>
                  <p:par>
                    <p:cTn id="1545" nodeType="clickEffect" fill="hold">
                      <p:stCondLst>
                        <p:cond delay="indefinite"/>
                      </p:stCondLst>
                      <p:childTnLst>
                        <p:par>
                          <p:cTn id="1546" nodeType="withEffect" fill="hold">
                            <p:stCondLst>
                              <p:cond delay="0"/>
                            </p:stCondLst>
                            <p:childTnLst>
                              <p:par>
                                <p:cTn id="1547" nodeType="clickEffect" fill="hold" presetClass="entr" presetID="9">
                                  <p:stCondLst>
                                    <p:cond delay="0"/>
                                  </p:stCondLst>
                                  <p:childTnLst>
                                    <p:set>
                                      <p:cBhvr>
                                        <p:cTn id="1548" dur="1" fill="hold">
                                          <p:stCondLst>
                                            <p:cond delay="0"/>
                                          </p:stCondLst>
                                        </p:cTn>
                                        <p:tgtEl>
                                          <p:spTgt spid="1043"/>
                                        </p:tgtEl>
                                        <p:attrNameLst>
                                          <p:attrName>style.visibility</p:attrName>
                                        </p:attrNameLst>
                                      </p:cBhvr>
                                      <p:to>
                                        <p:strVal val="visible"/>
                                      </p:to>
                                    </p:set>
                                    <p:animEffect filter="dissolve" transition="in">
                                      <p:cBhvr additive="repl">
                                        <p:cTn id="1549" dur="500"/>
                                        <p:tgtEl>
                                          <p:spTgt spid="1043"/>
                                        </p:tgtEl>
                                      </p:cBhvr>
                                    </p:animEffect>
                                  </p:childTnLst>
                                </p:cTn>
                              </p:par>
                            </p:childTnLst>
                          </p:cTn>
                        </p:par>
                      </p:childTnLst>
                    </p:cTn>
                  </p:par>
                  <p:par>
                    <p:cTn id="1550" nodeType="clickEffect" fill="hold">
                      <p:stCondLst>
                        <p:cond delay="indefinite"/>
                      </p:stCondLst>
                      <p:childTnLst>
                        <p:par>
                          <p:cTn id="1551" nodeType="withEffect" fill="hold">
                            <p:stCondLst>
                              <p:cond delay="0"/>
                            </p:stCondLst>
                            <p:childTnLst>
                              <p:par>
                                <p:cTn id="1552" nodeType="clickEffect" fill="hold" presetClass="entr" presetID="9">
                                  <p:stCondLst>
                                    <p:cond delay="0"/>
                                  </p:stCondLst>
                                  <p:childTnLst>
                                    <p:set>
                                      <p:cBhvr>
                                        <p:cTn id="1553" dur="1" fill="hold">
                                          <p:stCondLst>
                                            <p:cond delay="0"/>
                                          </p:stCondLst>
                                        </p:cTn>
                                        <p:tgtEl>
                                          <p:spTgt spid="1042"/>
                                        </p:tgtEl>
                                        <p:attrNameLst>
                                          <p:attrName>style.visibility</p:attrName>
                                        </p:attrNameLst>
                                      </p:cBhvr>
                                      <p:to>
                                        <p:strVal val="visible"/>
                                      </p:to>
                                    </p:set>
                                    <p:animEffect filter="dissolve" transition="in">
                                      <p:cBhvr additive="repl">
                                        <p:cTn id="1554" dur="500"/>
                                        <p:tgtEl>
                                          <p:spTgt spid="10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44" name="Object 2"/>
          <p:cNvGraphicFramePr/>
          <p:nvPr/>
        </p:nvGraphicFramePr>
        <p:xfrm>
          <a:off x="1371600" y="1327320"/>
          <a:ext cx="6172200" cy="5530680"/>
        </p:xfrm>
        <a:graphic>
          <a:graphicData uri="http://schemas.openxmlformats.org/presentationml/2006/ole">
            <p:oleObj r:id="rId1" spid="">
              <p:embed/>
              <p:pic>
                <p:nvPicPr>
                  <p:cNvPr id="1045" name="Object 2" descr=""/>
                  <p:cNvPicPr/>
                  <p:nvPr/>
                </p:nvPicPr>
                <p:blipFill>
                  <a:blip r:embed="rId2"/>
                  <a:stretch/>
                </p:blipFill>
                <p:spPr>
                  <a:xfrm>
                    <a:off x="1371600" y="1327320"/>
                    <a:ext cx="6172200" cy="5530680"/>
                  </a:xfrm>
                  <a:prstGeom prst="rect">
                    <a:avLst/>
                  </a:prstGeom>
                  <a:noFill/>
                  <a:ln w="0">
                    <a:noFill/>
                  </a:ln>
                </p:spPr>
              </p:pic>
            </p:oleObj>
          </a:graphicData>
        </a:graphic>
      </p:graphicFrame>
      <p:sp>
        <p:nvSpPr>
          <p:cNvPr id="1046" name="Line 3"/>
          <p:cNvSpPr/>
          <p:nvPr/>
        </p:nvSpPr>
        <p:spPr>
          <a:xfrm>
            <a:off x="4952880" y="4343400"/>
            <a:ext cx="0" cy="1219320"/>
          </a:xfrm>
          <a:prstGeom prst="line">
            <a:avLst/>
          </a:prstGeom>
          <a:ln w="3816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47" name="Line 4"/>
          <p:cNvSpPr/>
          <p:nvPr/>
        </p:nvSpPr>
        <p:spPr>
          <a:xfrm>
            <a:off x="6172200" y="2743200"/>
            <a:ext cx="0" cy="2895480"/>
          </a:xfrm>
          <a:prstGeom prst="line">
            <a:avLst/>
          </a:prstGeom>
          <a:ln w="3816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48" name="Line 5"/>
          <p:cNvSpPr/>
          <p:nvPr/>
        </p:nvSpPr>
        <p:spPr>
          <a:xfrm flipV="1">
            <a:off x="5334120" y="3505320"/>
            <a:ext cx="609480" cy="761760"/>
          </a:xfrm>
          <a:prstGeom prst="line">
            <a:avLst/>
          </a:prstGeom>
          <a:ln w="28440">
            <a:solidFill>
              <a:srgbClr val="80808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49" name="Text Box 6"/>
          <p:cNvSpPr/>
          <p:nvPr/>
        </p:nvSpPr>
        <p:spPr>
          <a:xfrm>
            <a:off x="380880" y="39600"/>
            <a:ext cx="830592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Etude longitudinale de l ’augmentation de la force chez des garçons entre 8 et 18 ans. On remarque une augmentation plus rapide entre 12 et 16 ans</a:t>
            </a:r>
            <a:endParaRPr b="0" lang="en-US" sz="2400" strike="noStrike" u="none">
              <a:solidFill>
                <a:srgbClr val="ffff00"/>
              </a:solidFill>
              <a:effectLst/>
              <a:uFillTx/>
              <a:latin typeface="Times New Roman"/>
            </a:endParaRPr>
          </a:p>
        </p:txBody>
      </p:sp>
      <p:sp>
        <p:nvSpPr>
          <p:cNvPr id="1050" name="Rectangle 7"/>
          <p:cNvSpPr/>
          <p:nvPr/>
        </p:nvSpPr>
        <p:spPr>
          <a:xfrm>
            <a:off x="3886200" y="6248520"/>
            <a:ext cx="1981080" cy="3808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Age (années)</a:t>
            </a:r>
            <a:endParaRPr b="0" lang="en-US" sz="2400" strike="noStrike" u="none">
              <a:solidFill>
                <a:srgbClr val="ffff00"/>
              </a:solidFill>
              <a:effectLst/>
              <a:uFillTx/>
              <a:latin typeface="Times New Roman"/>
            </a:endParaRPr>
          </a:p>
        </p:txBody>
      </p:sp>
      <p:sp>
        <p:nvSpPr>
          <p:cNvPr id="1051" name="Rectangle 8"/>
          <p:cNvSpPr/>
          <p:nvPr/>
        </p:nvSpPr>
        <p:spPr>
          <a:xfrm rot="16201800">
            <a:off x="-799920" y="3695400"/>
            <a:ext cx="4800600" cy="30456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Force des membres inférieurs (Ib)</a:t>
            </a:r>
            <a:r>
              <a:rPr b="0" lang="fr-FR" sz="2400" strike="noStrike" u="none">
                <a:solidFill>
                  <a:srgbClr val="808080"/>
                </a:solidFill>
                <a:effectLst/>
                <a:uFillTx/>
                <a:latin typeface="Arial"/>
              </a:rPr>
              <a:t> </a:t>
            </a:r>
            <a:endParaRPr b="0" lang="en-US" sz="2400" strike="noStrike" u="none">
              <a:solidFill>
                <a:srgbClr val="ffff00"/>
              </a:solidFill>
              <a:effectLst/>
              <a:uFillTx/>
              <a:latin typeface="Times New Roman"/>
            </a:endParaRPr>
          </a:p>
        </p:txBody>
      </p:sp>
      <p:sp>
        <p:nvSpPr>
          <p:cNvPr id="1052" name="Line 9"/>
          <p:cNvSpPr/>
          <p:nvPr/>
        </p:nvSpPr>
        <p:spPr>
          <a:xfrm flipV="1">
            <a:off x="3733920" y="5029200"/>
            <a:ext cx="228600" cy="76320"/>
          </a:xfrm>
          <a:prstGeom prst="line">
            <a:avLst/>
          </a:prstGeom>
          <a:ln w="9360">
            <a:solidFill>
              <a:srgbClr val="ffff00"/>
            </a:solidFill>
            <a:miter/>
          </a:ln>
        </p:spPr>
        <p:style>
          <a:lnRef idx="0"/>
          <a:fillRef idx="0"/>
          <a:effectRef idx="0"/>
          <a:fontRef idx="minor"/>
        </p:style>
        <p:txBody>
          <a:bodyPr lIns="90000" rIns="90000" tIns="29520" bIns="29520" anchor="ctr">
            <a:noAutofit/>
          </a:bodyPr>
          <a:p>
            <a:endParaRPr b="0" lang="en-US" sz="2400" strike="noStrike" u="none">
              <a:solidFill>
                <a:srgbClr val="ffff00"/>
              </a:solidFill>
              <a:effectLst/>
              <a:uFillTx/>
              <a:latin typeface="Times New Roman"/>
            </a:endParaRPr>
          </a:p>
        </p:txBody>
      </p:sp>
      <p:sp>
        <p:nvSpPr>
          <p:cNvPr id="1053" name="Freeform 10"/>
          <p:cNvSpPr/>
          <p:nvPr/>
        </p:nvSpPr>
        <p:spPr>
          <a:xfrm>
            <a:off x="3733920" y="2286000"/>
            <a:ext cx="3047760" cy="2819520"/>
          </a:xfrm>
          <a:custGeom>
            <a:avLst/>
            <a:gdLst>
              <a:gd name="GluePoint1X" fmla="*/ 0 w 1920"/>
              <a:gd name="GluePoint1Y" fmla="*/ 2147483647 h 1776"/>
              <a:gd name="GluePoint2X" fmla="*/ 2147483647 w 1920"/>
              <a:gd name="GluePoint2Y" fmla="*/ 2147483647 h 1776"/>
              <a:gd name="GluePoint3X" fmla="*/ 2147483647 w 1920"/>
              <a:gd name="GluePoint3Y" fmla="*/ 2147483647 h 1776"/>
              <a:gd name="GluePoint4X" fmla="*/ 2147483647 w 1920"/>
              <a:gd name="GluePoint4Y" fmla="*/ 2147483647 h 1776"/>
              <a:gd name="GluePoint5X" fmla="*/ 2147483647 w 1920"/>
              <a:gd name="GluePoint5Y" fmla="*/ 2147483647 h 1776"/>
              <a:gd name="GluePoint6X" fmla="*/ 2147483647 w 1920"/>
              <a:gd name="GluePoint6Y" fmla="*/ 2147483647 h 1776"/>
              <a:gd name="GluePoint7X" fmla="*/ 2147483647 w 1920"/>
              <a:gd name="GluePoint7Y" fmla="*/ 2147483647 h 1776"/>
              <a:gd name="GluePoint8X" fmla="*/ 2147483647 w 1920"/>
              <a:gd name="GluePoint8Y" fmla="*/ 2147483647 h 1776"/>
              <a:gd name="GluePoint9X" fmla="*/ 2147483647 w 1920"/>
              <a:gd name="GluePoint9Y" fmla="*/ 2147483647 h 1776"/>
              <a:gd name="GluePoint10X" fmla="*/ 2147483647 w 1920"/>
              <a:gd name="GluePoint10Y" fmla="*/ 2147483647 h 1776"/>
              <a:gd name="GluePoint11X" fmla="*/ 2147483647 w 1920"/>
              <a:gd name="GluePoint11Y" fmla="*/ 0 h 17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l" t="t" r="r" b="b"/>
            <a:pathLst>
              <a:path w="1920" h="1776">
                <a:moveTo>
                  <a:pt x="0" y="1776"/>
                </a:moveTo>
                <a:cubicBezTo>
                  <a:pt x="64" y="1768"/>
                  <a:pt x="128" y="1760"/>
                  <a:pt x="192" y="1728"/>
                </a:cubicBezTo>
                <a:cubicBezTo>
                  <a:pt x="256" y="1696"/>
                  <a:pt x="320" y="1632"/>
                  <a:pt x="384" y="1584"/>
                </a:cubicBezTo>
                <a:cubicBezTo>
                  <a:pt x="448" y="1536"/>
                  <a:pt x="512" y="1496"/>
                  <a:pt x="576" y="1440"/>
                </a:cubicBezTo>
                <a:cubicBezTo>
                  <a:pt x="640" y="1384"/>
                  <a:pt x="704" y="1312"/>
                  <a:pt x="768" y="1248"/>
                </a:cubicBezTo>
                <a:cubicBezTo>
                  <a:pt x="832" y="1184"/>
                  <a:pt x="896" y="1128"/>
                  <a:pt x="960" y="1056"/>
                </a:cubicBezTo>
                <a:cubicBezTo>
                  <a:pt x="1024" y="984"/>
                  <a:pt x="1096" y="896"/>
                  <a:pt x="1152" y="816"/>
                </a:cubicBezTo>
                <a:cubicBezTo>
                  <a:pt x="1208" y="736"/>
                  <a:pt x="1232" y="672"/>
                  <a:pt x="1296" y="576"/>
                </a:cubicBezTo>
                <a:cubicBezTo>
                  <a:pt x="1360" y="480"/>
                  <a:pt x="1464" y="320"/>
                  <a:pt x="1536" y="240"/>
                </a:cubicBezTo>
                <a:cubicBezTo>
                  <a:pt x="1608" y="160"/>
                  <a:pt x="1664" y="136"/>
                  <a:pt x="1728" y="96"/>
                </a:cubicBezTo>
                <a:cubicBezTo>
                  <a:pt x="1792" y="56"/>
                  <a:pt x="1888" y="16"/>
                  <a:pt x="1920" y="0"/>
                </a:cubicBezTo>
              </a:path>
            </a:pathLst>
          </a:custGeom>
          <a:noFill/>
          <a:ln w="9360">
            <a:solidFill>
              <a:srgbClr val="ffff00"/>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054" name="Line 11"/>
          <p:cNvSpPr/>
          <p:nvPr/>
        </p:nvSpPr>
        <p:spPr>
          <a:xfrm flipV="1">
            <a:off x="5334120" y="3580920"/>
            <a:ext cx="533160" cy="68580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55" name="Line 12"/>
          <p:cNvSpPr/>
          <p:nvPr/>
        </p:nvSpPr>
        <p:spPr>
          <a:xfrm flipV="1">
            <a:off x="4952880" y="3962520"/>
            <a:ext cx="304920" cy="30456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56" name="Line 13"/>
          <p:cNvSpPr/>
          <p:nvPr/>
        </p:nvSpPr>
        <p:spPr>
          <a:xfrm flipV="1">
            <a:off x="5257800" y="3657240"/>
            <a:ext cx="228600" cy="30492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57" name="Line 14"/>
          <p:cNvSpPr/>
          <p:nvPr/>
        </p:nvSpPr>
        <p:spPr>
          <a:xfrm flipV="1">
            <a:off x="5562720" y="3200400"/>
            <a:ext cx="228600" cy="38088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58" name="Line 15"/>
          <p:cNvSpPr/>
          <p:nvPr/>
        </p:nvSpPr>
        <p:spPr>
          <a:xfrm flipV="1">
            <a:off x="5867280" y="2743200"/>
            <a:ext cx="228600" cy="380880"/>
          </a:xfrm>
          <a:prstGeom prst="line">
            <a:avLst/>
          </a:prstGeom>
          <a:ln w="381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PlaceHolder 1"/>
          <p:cNvSpPr>
            <a:spLocks noGrp="1"/>
          </p:cNvSpPr>
          <p:nvPr>
            <p:ph type="title"/>
          </p:nvPr>
        </p:nvSpPr>
        <p:spPr>
          <a:xfrm>
            <a:off x="685800" y="609480"/>
            <a:ext cx="7772400" cy="906480"/>
          </a:xfrm>
          <a:prstGeom prst="rect">
            <a:avLst/>
          </a:prstGeom>
          <a:noFill/>
          <a:ln w="0">
            <a:noFill/>
          </a:ln>
        </p:spPr>
        <p:txBody>
          <a:bodyPr lIns="92160" rIns="92160" tIns="46080" bIns="4608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Times New Roman"/>
              </a:rPr>
              <a:t>Force isométrique </a:t>
            </a:r>
            <a:endParaRPr b="0" lang="en-US" sz="4400" strike="noStrike" u="none">
              <a:solidFill>
                <a:srgbClr val="ffffff"/>
              </a:solidFill>
              <a:effectLst/>
              <a:uFillTx/>
              <a:latin typeface="Times New Roman"/>
            </a:endParaRPr>
          </a:p>
        </p:txBody>
      </p:sp>
      <p:sp>
        <p:nvSpPr>
          <p:cNvPr id="1060" name="Freeform 3"/>
          <p:cNvSpPr/>
          <p:nvPr/>
        </p:nvSpPr>
        <p:spPr>
          <a:xfrm>
            <a:off x="2741760" y="504828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61" name="Line 4"/>
          <p:cNvSpPr/>
          <p:nvPr/>
        </p:nvSpPr>
        <p:spPr>
          <a:xfrm>
            <a:off x="2797200" y="5048280"/>
            <a:ext cx="0" cy="2714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62" name="Freeform 5"/>
          <p:cNvSpPr/>
          <p:nvPr/>
        </p:nvSpPr>
        <p:spPr>
          <a:xfrm>
            <a:off x="2741760" y="531972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63" name="Line 6"/>
          <p:cNvSpPr/>
          <p:nvPr/>
        </p:nvSpPr>
        <p:spPr>
          <a:xfrm flipV="1">
            <a:off x="2797200" y="4819680"/>
            <a:ext cx="878040" cy="36360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64" name="Freeform 7"/>
          <p:cNvSpPr/>
          <p:nvPr/>
        </p:nvSpPr>
        <p:spPr>
          <a:xfrm>
            <a:off x="3621240" y="454824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65" name="Line 8"/>
          <p:cNvSpPr/>
          <p:nvPr/>
        </p:nvSpPr>
        <p:spPr>
          <a:xfrm>
            <a:off x="3675240" y="4548240"/>
            <a:ext cx="0" cy="54612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66" name="Freeform 9"/>
          <p:cNvSpPr/>
          <p:nvPr/>
        </p:nvSpPr>
        <p:spPr>
          <a:xfrm>
            <a:off x="3621240" y="509436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67" name="Line 10"/>
          <p:cNvSpPr/>
          <p:nvPr/>
        </p:nvSpPr>
        <p:spPr>
          <a:xfrm flipV="1">
            <a:off x="3675240" y="3047760"/>
            <a:ext cx="879120" cy="177156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68" name="Freeform 11"/>
          <p:cNvSpPr/>
          <p:nvPr/>
        </p:nvSpPr>
        <p:spPr>
          <a:xfrm>
            <a:off x="4498920" y="2554200"/>
            <a:ext cx="114480" cy="180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069" name="Line 12"/>
          <p:cNvSpPr/>
          <p:nvPr/>
        </p:nvSpPr>
        <p:spPr>
          <a:xfrm>
            <a:off x="4554360" y="2554200"/>
            <a:ext cx="0" cy="98928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70" name="Freeform 13"/>
          <p:cNvSpPr/>
          <p:nvPr/>
        </p:nvSpPr>
        <p:spPr>
          <a:xfrm>
            <a:off x="4498920" y="3543480"/>
            <a:ext cx="11448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71" name="Line 14"/>
          <p:cNvSpPr/>
          <p:nvPr/>
        </p:nvSpPr>
        <p:spPr>
          <a:xfrm flipV="1">
            <a:off x="4554360" y="2908440"/>
            <a:ext cx="879480" cy="13968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72" name="Freeform 15"/>
          <p:cNvSpPr/>
          <p:nvPr/>
        </p:nvSpPr>
        <p:spPr>
          <a:xfrm>
            <a:off x="5378400" y="2411280"/>
            <a:ext cx="114480" cy="180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073" name="Line 16"/>
          <p:cNvSpPr/>
          <p:nvPr/>
        </p:nvSpPr>
        <p:spPr>
          <a:xfrm>
            <a:off x="5433840" y="2411280"/>
            <a:ext cx="0" cy="99720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74" name="Freeform 17"/>
          <p:cNvSpPr/>
          <p:nvPr/>
        </p:nvSpPr>
        <p:spPr>
          <a:xfrm>
            <a:off x="5378400" y="3408480"/>
            <a:ext cx="11448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ff"/>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75" name="Oval 18"/>
          <p:cNvSpPr/>
          <p:nvPr/>
        </p:nvSpPr>
        <p:spPr>
          <a:xfrm>
            <a:off x="2747880" y="5140440"/>
            <a:ext cx="100080" cy="8892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76" name="Oval 19"/>
          <p:cNvSpPr/>
          <p:nvPr/>
        </p:nvSpPr>
        <p:spPr>
          <a:xfrm>
            <a:off x="3627360" y="4776840"/>
            <a:ext cx="100080" cy="88920"/>
          </a:xfrm>
          <a:prstGeom prst="ellipse">
            <a:avLst/>
          </a:prstGeom>
          <a:solidFill>
            <a:srgbClr val="ff0000"/>
          </a:solidFill>
          <a:ln w="12600">
            <a:solidFill>
              <a:srgbClr val="ffffff"/>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77" name="Oval 20"/>
          <p:cNvSpPr/>
          <p:nvPr/>
        </p:nvSpPr>
        <p:spPr>
          <a:xfrm>
            <a:off x="4505400" y="3005280"/>
            <a:ext cx="100080" cy="88920"/>
          </a:xfrm>
          <a:prstGeom prst="ellipse">
            <a:avLst/>
          </a:prstGeom>
          <a:solidFill>
            <a:srgbClr val="ff0000"/>
          </a:solidFill>
          <a:ln w="12600">
            <a:solidFill>
              <a:srgbClr val="ffffff"/>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78" name="Oval 21"/>
          <p:cNvSpPr/>
          <p:nvPr/>
        </p:nvSpPr>
        <p:spPr>
          <a:xfrm>
            <a:off x="5384880" y="2865600"/>
            <a:ext cx="100080" cy="88560"/>
          </a:xfrm>
          <a:prstGeom prst="ellipse">
            <a:avLst/>
          </a:prstGeom>
          <a:solidFill>
            <a:srgbClr val="ff0000"/>
          </a:solidFill>
          <a:ln w="12600">
            <a:solidFill>
              <a:srgbClr val="ffffff"/>
            </a:solidFill>
            <a:miter/>
          </a:ln>
        </p:spPr>
        <p:style>
          <a:lnRef idx="0"/>
          <a:fillRef idx="0"/>
          <a:effectRef idx="0"/>
          <a:fontRef idx="minor"/>
        </p:style>
        <p:txBody>
          <a:bodyPr wrap="none" lIns="90000" rIns="90000" tIns="15840" bIns="15840" anchor="ctr">
            <a:noAutofit/>
          </a:bodyPr>
          <a:p>
            <a:endParaRPr b="0" lang="en-US" sz="2400" strike="noStrike" u="none">
              <a:solidFill>
                <a:srgbClr val="ffff00"/>
              </a:solidFill>
              <a:effectLst/>
              <a:uFillTx/>
              <a:latin typeface="Times New Roman"/>
            </a:endParaRPr>
          </a:p>
        </p:txBody>
      </p:sp>
      <p:sp>
        <p:nvSpPr>
          <p:cNvPr id="1079" name="Freeform 22"/>
          <p:cNvSpPr/>
          <p:nvPr/>
        </p:nvSpPr>
        <p:spPr>
          <a:xfrm>
            <a:off x="2741760" y="5141880"/>
            <a:ext cx="114120" cy="180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080" name="Line 23"/>
          <p:cNvSpPr/>
          <p:nvPr/>
        </p:nvSpPr>
        <p:spPr>
          <a:xfrm>
            <a:off x="2797200" y="5141880"/>
            <a:ext cx="0" cy="263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81" name="Freeform 24"/>
          <p:cNvSpPr/>
          <p:nvPr/>
        </p:nvSpPr>
        <p:spPr>
          <a:xfrm>
            <a:off x="2741760" y="5405400"/>
            <a:ext cx="114120" cy="180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082" name="Line 25"/>
          <p:cNvSpPr/>
          <p:nvPr/>
        </p:nvSpPr>
        <p:spPr>
          <a:xfrm flipV="1">
            <a:off x="2797200" y="4866840"/>
            <a:ext cx="585720" cy="4064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83" name="Freeform 26"/>
          <p:cNvSpPr/>
          <p:nvPr/>
        </p:nvSpPr>
        <p:spPr>
          <a:xfrm>
            <a:off x="3327480" y="470232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84" name="Line 27"/>
          <p:cNvSpPr/>
          <p:nvPr/>
        </p:nvSpPr>
        <p:spPr>
          <a:xfrm>
            <a:off x="3382920" y="4702320"/>
            <a:ext cx="0" cy="3301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85" name="Freeform 28"/>
          <p:cNvSpPr/>
          <p:nvPr/>
        </p:nvSpPr>
        <p:spPr>
          <a:xfrm>
            <a:off x="3327480" y="503244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86" name="Line 29"/>
          <p:cNvSpPr/>
          <p:nvPr/>
        </p:nvSpPr>
        <p:spPr>
          <a:xfrm flipV="1">
            <a:off x="3382920" y="4319280"/>
            <a:ext cx="878040" cy="5475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87" name="Freeform 30"/>
          <p:cNvSpPr/>
          <p:nvPr/>
        </p:nvSpPr>
        <p:spPr>
          <a:xfrm>
            <a:off x="4206960" y="404496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88" name="Line 31"/>
          <p:cNvSpPr/>
          <p:nvPr/>
        </p:nvSpPr>
        <p:spPr>
          <a:xfrm>
            <a:off x="4260960" y="4044960"/>
            <a:ext cx="0" cy="5493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89" name="Freeform 32"/>
          <p:cNvSpPr/>
          <p:nvPr/>
        </p:nvSpPr>
        <p:spPr>
          <a:xfrm>
            <a:off x="4206960" y="4594320"/>
            <a:ext cx="114120" cy="144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090" name="Line 33"/>
          <p:cNvSpPr/>
          <p:nvPr/>
        </p:nvSpPr>
        <p:spPr>
          <a:xfrm flipV="1">
            <a:off x="4260960" y="4273560"/>
            <a:ext cx="733320" cy="46080"/>
          </a:xfrm>
          <a:prstGeom prst="line">
            <a:avLst/>
          </a:prstGeom>
          <a:ln w="12600">
            <a:solidFill>
              <a:srgbClr val="ffff00"/>
            </a:solidFill>
            <a:miter/>
          </a:ln>
        </p:spPr>
        <p:style>
          <a:lnRef idx="0"/>
          <a:fillRef idx="0"/>
          <a:effectRef idx="0"/>
          <a:fontRef idx="minor"/>
        </p:style>
        <p:txBody>
          <a:bodyPr lIns="90000" rIns="90000" tIns="-720" bIns="-720" anchor="ctr">
            <a:noAutofit/>
          </a:bodyPr>
          <a:p>
            <a:endParaRPr b="0" lang="en-US" sz="2400" strike="noStrike" u="none">
              <a:solidFill>
                <a:srgbClr val="ffff00"/>
              </a:solidFill>
              <a:effectLst/>
              <a:uFillTx/>
              <a:latin typeface="Times New Roman"/>
            </a:endParaRPr>
          </a:p>
        </p:txBody>
      </p:sp>
      <p:sp>
        <p:nvSpPr>
          <p:cNvPr id="1091" name="Freeform 34"/>
          <p:cNvSpPr/>
          <p:nvPr/>
        </p:nvSpPr>
        <p:spPr>
          <a:xfrm>
            <a:off x="4938840" y="3957480"/>
            <a:ext cx="114120" cy="180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092" name="Line 35"/>
          <p:cNvSpPr/>
          <p:nvPr/>
        </p:nvSpPr>
        <p:spPr>
          <a:xfrm>
            <a:off x="4994280" y="3957480"/>
            <a:ext cx="0" cy="6350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093" name="Freeform 36"/>
          <p:cNvSpPr/>
          <p:nvPr/>
        </p:nvSpPr>
        <p:spPr>
          <a:xfrm>
            <a:off x="4938840" y="4592520"/>
            <a:ext cx="114120" cy="1800"/>
          </a:xfrm>
          <a:custGeom>
            <a:avLst/>
            <a:gdLst>
              <a:gd name="GluePoint1X" fmla="*/ 0 w 72"/>
              <a:gd name="GluePoint1Y" fmla="*/ 0 h 1"/>
              <a:gd name="GluePoint2X" fmla="*/ 2147483647 w 72"/>
              <a:gd name="GluePoint2Y" fmla="*/ 0 h 1"/>
              <a:gd name="GluePoint3X" fmla="*/ 0 w 72"/>
              <a:gd name="GluePoint3Y" fmla="*/ 0 h 1"/>
            </a:gdLst>
            <a:ahLst/>
            <a:cxnLst>
              <a:cxn ang="0">
                <a:pos x="GluePoint1X" y="GluePoint1Y"/>
              </a:cxn>
              <a:cxn ang="0">
                <a:pos x="GluePoint2X" y="GluePoint2Y"/>
              </a:cxn>
              <a:cxn ang="0">
                <a:pos x="GluePoint3X" y="GluePoint3Y"/>
              </a:cxn>
            </a:cxnLst>
            <a:rect l="l" t="t" r="r" b="b"/>
            <a:pathLst>
              <a:path w="72" h="1">
                <a:moveTo>
                  <a:pt x="0" y="0"/>
                </a:moveTo>
                <a:lnTo>
                  <a:pt x="71"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094" name="Oval 37"/>
          <p:cNvSpPr/>
          <p:nvPr/>
        </p:nvSpPr>
        <p:spPr>
          <a:xfrm>
            <a:off x="2747880" y="5230800"/>
            <a:ext cx="100080" cy="8892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95" name="Oval 38"/>
          <p:cNvSpPr/>
          <p:nvPr/>
        </p:nvSpPr>
        <p:spPr>
          <a:xfrm>
            <a:off x="3333600" y="4824360"/>
            <a:ext cx="100080" cy="8892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96" name="Oval 39"/>
          <p:cNvSpPr/>
          <p:nvPr/>
        </p:nvSpPr>
        <p:spPr>
          <a:xfrm>
            <a:off x="4213080" y="4276800"/>
            <a:ext cx="100080" cy="8892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97" name="Oval 40"/>
          <p:cNvSpPr/>
          <p:nvPr/>
        </p:nvSpPr>
        <p:spPr>
          <a:xfrm>
            <a:off x="4944960" y="4230720"/>
            <a:ext cx="100080" cy="8892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098" name="Rectangle 41"/>
          <p:cNvSpPr/>
          <p:nvPr/>
        </p:nvSpPr>
        <p:spPr>
          <a:xfrm>
            <a:off x="2271600" y="1616040"/>
            <a:ext cx="3207240" cy="4276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200" strike="noStrike" u="none">
                <a:solidFill>
                  <a:srgbClr val="66ff66"/>
                </a:solidFill>
                <a:effectLst/>
                <a:uFillTx/>
                <a:latin typeface="Arial"/>
              </a:rPr>
              <a:t>Fléchisseurs du coude</a:t>
            </a:r>
            <a:endParaRPr b="0" lang="en-US" sz="2200" strike="noStrike" u="none">
              <a:solidFill>
                <a:srgbClr val="ffff00"/>
              </a:solidFill>
              <a:effectLst/>
              <a:uFillTx/>
              <a:latin typeface="Times New Roman"/>
            </a:endParaRPr>
          </a:p>
        </p:txBody>
      </p:sp>
      <p:sp>
        <p:nvSpPr>
          <p:cNvPr id="1099" name="Line 42"/>
          <p:cNvSpPr/>
          <p:nvPr/>
        </p:nvSpPr>
        <p:spPr>
          <a:xfrm>
            <a:off x="1917720" y="5545080"/>
            <a:ext cx="36622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00" name="Line 43"/>
          <p:cNvSpPr/>
          <p:nvPr/>
        </p:nvSpPr>
        <p:spPr>
          <a:xfrm flipV="1">
            <a:off x="1917720" y="5454360"/>
            <a:ext cx="0" cy="90360"/>
          </a:xfrm>
          <a:prstGeom prst="line">
            <a:avLst/>
          </a:prstGeom>
          <a:ln w="12600">
            <a:solidFill>
              <a:srgbClr val="ffffff"/>
            </a:solidFill>
            <a:miter/>
          </a:ln>
        </p:spPr>
        <p:style>
          <a:lnRef idx="0"/>
          <a:fillRef idx="0"/>
          <a:effectRef idx="0"/>
          <a:fontRef idx="minor"/>
        </p:style>
        <p:txBody>
          <a:bodyPr lIns="90000" rIns="90000" tIns="43560" bIns="43560" anchor="ctr">
            <a:noAutofit/>
          </a:bodyPr>
          <a:p>
            <a:endParaRPr b="0" lang="en-US" sz="2400" strike="noStrike" u="none">
              <a:solidFill>
                <a:srgbClr val="ffff00"/>
              </a:solidFill>
              <a:effectLst/>
              <a:uFillTx/>
              <a:latin typeface="Times New Roman"/>
            </a:endParaRPr>
          </a:p>
        </p:txBody>
      </p:sp>
      <p:sp>
        <p:nvSpPr>
          <p:cNvPr id="1101" name="Rectangle 44"/>
          <p:cNvSpPr/>
          <p:nvPr/>
        </p:nvSpPr>
        <p:spPr>
          <a:xfrm>
            <a:off x="1761840" y="5530680"/>
            <a:ext cx="312120" cy="36684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0</a:t>
            </a:r>
            <a:endParaRPr b="0" lang="en-US" sz="1800" strike="noStrike" u="none">
              <a:solidFill>
                <a:srgbClr val="ffff00"/>
              </a:solidFill>
              <a:effectLst/>
              <a:uFillTx/>
              <a:latin typeface="Times New Roman"/>
            </a:endParaRPr>
          </a:p>
        </p:txBody>
      </p:sp>
      <p:sp>
        <p:nvSpPr>
          <p:cNvPr id="1102" name="Line 45"/>
          <p:cNvSpPr/>
          <p:nvPr/>
        </p:nvSpPr>
        <p:spPr>
          <a:xfrm flipV="1">
            <a:off x="2649600" y="5454360"/>
            <a:ext cx="0" cy="90360"/>
          </a:xfrm>
          <a:prstGeom prst="line">
            <a:avLst/>
          </a:prstGeom>
          <a:ln w="12600">
            <a:solidFill>
              <a:srgbClr val="ffffff"/>
            </a:solidFill>
            <a:miter/>
          </a:ln>
        </p:spPr>
        <p:style>
          <a:lnRef idx="0"/>
          <a:fillRef idx="0"/>
          <a:effectRef idx="0"/>
          <a:fontRef idx="minor"/>
        </p:style>
        <p:txBody>
          <a:bodyPr lIns="90000" rIns="90000" tIns="43560" bIns="43560" anchor="ctr">
            <a:noAutofit/>
          </a:bodyPr>
          <a:p>
            <a:endParaRPr b="0" lang="en-US" sz="2400" strike="noStrike" u="none">
              <a:solidFill>
                <a:srgbClr val="ffff00"/>
              </a:solidFill>
              <a:effectLst/>
              <a:uFillTx/>
              <a:latin typeface="Times New Roman"/>
            </a:endParaRPr>
          </a:p>
        </p:txBody>
      </p:sp>
      <p:sp>
        <p:nvSpPr>
          <p:cNvPr id="1103" name="Rectangle 46"/>
          <p:cNvSpPr/>
          <p:nvPr/>
        </p:nvSpPr>
        <p:spPr>
          <a:xfrm>
            <a:off x="2493720" y="5530680"/>
            <a:ext cx="312120" cy="36684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5</a:t>
            </a:r>
            <a:endParaRPr b="0" lang="en-US" sz="1800" strike="noStrike" u="none">
              <a:solidFill>
                <a:srgbClr val="ffff00"/>
              </a:solidFill>
              <a:effectLst/>
              <a:uFillTx/>
              <a:latin typeface="Times New Roman"/>
            </a:endParaRPr>
          </a:p>
        </p:txBody>
      </p:sp>
      <p:sp>
        <p:nvSpPr>
          <p:cNvPr id="1104" name="Line 47"/>
          <p:cNvSpPr/>
          <p:nvPr/>
        </p:nvSpPr>
        <p:spPr>
          <a:xfrm flipV="1">
            <a:off x="3382920" y="5454360"/>
            <a:ext cx="0" cy="90360"/>
          </a:xfrm>
          <a:prstGeom prst="line">
            <a:avLst/>
          </a:prstGeom>
          <a:ln w="12600">
            <a:solidFill>
              <a:srgbClr val="ffffff"/>
            </a:solidFill>
            <a:miter/>
          </a:ln>
        </p:spPr>
        <p:style>
          <a:lnRef idx="0"/>
          <a:fillRef idx="0"/>
          <a:effectRef idx="0"/>
          <a:fontRef idx="minor"/>
        </p:style>
        <p:txBody>
          <a:bodyPr lIns="90000" rIns="90000" tIns="43560" bIns="43560" anchor="ctr">
            <a:noAutofit/>
          </a:bodyPr>
          <a:p>
            <a:endParaRPr b="0" lang="en-US" sz="2400" strike="noStrike" u="none">
              <a:solidFill>
                <a:srgbClr val="ffff00"/>
              </a:solidFill>
              <a:effectLst/>
              <a:uFillTx/>
              <a:latin typeface="Times New Roman"/>
            </a:endParaRPr>
          </a:p>
        </p:txBody>
      </p:sp>
      <p:sp>
        <p:nvSpPr>
          <p:cNvPr id="1105" name="Rectangle 48"/>
          <p:cNvSpPr/>
          <p:nvPr/>
        </p:nvSpPr>
        <p:spPr>
          <a:xfrm>
            <a:off x="3163680" y="5530680"/>
            <a:ext cx="439200" cy="36684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10</a:t>
            </a:r>
            <a:endParaRPr b="0" lang="en-US" sz="1800" strike="noStrike" u="none">
              <a:solidFill>
                <a:srgbClr val="ffff00"/>
              </a:solidFill>
              <a:effectLst/>
              <a:uFillTx/>
              <a:latin typeface="Times New Roman"/>
            </a:endParaRPr>
          </a:p>
        </p:txBody>
      </p:sp>
      <p:sp>
        <p:nvSpPr>
          <p:cNvPr id="1106" name="Line 49"/>
          <p:cNvSpPr/>
          <p:nvPr/>
        </p:nvSpPr>
        <p:spPr>
          <a:xfrm flipV="1">
            <a:off x="4114800" y="5454360"/>
            <a:ext cx="0" cy="90360"/>
          </a:xfrm>
          <a:prstGeom prst="line">
            <a:avLst/>
          </a:prstGeom>
          <a:ln w="12600">
            <a:solidFill>
              <a:srgbClr val="ffffff"/>
            </a:solidFill>
            <a:miter/>
          </a:ln>
        </p:spPr>
        <p:style>
          <a:lnRef idx="0"/>
          <a:fillRef idx="0"/>
          <a:effectRef idx="0"/>
          <a:fontRef idx="minor"/>
        </p:style>
        <p:txBody>
          <a:bodyPr lIns="90000" rIns="90000" tIns="43560" bIns="43560" anchor="ctr">
            <a:noAutofit/>
          </a:bodyPr>
          <a:p>
            <a:endParaRPr b="0" lang="en-US" sz="2400" strike="noStrike" u="none">
              <a:solidFill>
                <a:srgbClr val="ffff00"/>
              </a:solidFill>
              <a:effectLst/>
              <a:uFillTx/>
              <a:latin typeface="Times New Roman"/>
            </a:endParaRPr>
          </a:p>
        </p:txBody>
      </p:sp>
      <p:sp>
        <p:nvSpPr>
          <p:cNvPr id="1107" name="Rectangle 50"/>
          <p:cNvSpPr/>
          <p:nvPr/>
        </p:nvSpPr>
        <p:spPr>
          <a:xfrm>
            <a:off x="3895200" y="5530680"/>
            <a:ext cx="439200" cy="36684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15</a:t>
            </a:r>
            <a:endParaRPr b="0" lang="en-US" sz="1800" strike="noStrike" u="none">
              <a:solidFill>
                <a:srgbClr val="ffff00"/>
              </a:solidFill>
              <a:effectLst/>
              <a:uFillTx/>
              <a:latin typeface="Times New Roman"/>
            </a:endParaRPr>
          </a:p>
        </p:txBody>
      </p:sp>
      <p:sp>
        <p:nvSpPr>
          <p:cNvPr id="1108" name="Line 51"/>
          <p:cNvSpPr/>
          <p:nvPr/>
        </p:nvSpPr>
        <p:spPr>
          <a:xfrm flipV="1">
            <a:off x="4848120" y="5454360"/>
            <a:ext cx="0" cy="90360"/>
          </a:xfrm>
          <a:prstGeom prst="line">
            <a:avLst/>
          </a:prstGeom>
          <a:ln w="12600">
            <a:solidFill>
              <a:srgbClr val="ffffff"/>
            </a:solidFill>
            <a:miter/>
          </a:ln>
        </p:spPr>
        <p:style>
          <a:lnRef idx="0"/>
          <a:fillRef idx="0"/>
          <a:effectRef idx="0"/>
          <a:fontRef idx="minor"/>
        </p:style>
        <p:txBody>
          <a:bodyPr lIns="90000" rIns="90000" tIns="43560" bIns="43560" anchor="ctr">
            <a:noAutofit/>
          </a:bodyPr>
          <a:p>
            <a:endParaRPr b="0" lang="en-US" sz="2400" strike="noStrike" u="none">
              <a:solidFill>
                <a:srgbClr val="ffff00"/>
              </a:solidFill>
              <a:effectLst/>
              <a:uFillTx/>
              <a:latin typeface="Times New Roman"/>
            </a:endParaRPr>
          </a:p>
        </p:txBody>
      </p:sp>
      <p:sp>
        <p:nvSpPr>
          <p:cNvPr id="1109" name="Rectangle 52"/>
          <p:cNvSpPr/>
          <p:nvPr/>
        </p:nvSpPr>
        <p:spPr>
          <a:xfrm>
            <a:off x="4628880" y="5530680"/>
            <a:ext cx="439200" cy="36684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20</a:t>
            </a:r>
            <a:endParaRPr b="0" lang="en-US" sz="1800" strike="noStrike" u="none">
              <a:solidFill>
                <a:srgbClr val="ffff00"/>
              </a:solidFill>
              <a:effectLst/>
              <a:uFillTx/>
              <a:latin typeface="Times New Roman"/>
            </a:endParaRPr>
          </a:p>
        </p:txBody>
      </p:sp>
      <p:sp>
        <p:nvSpPr>
          <p:cNvPr id="1110" name="Line 53"/>
          <p:cNvSpPr/>
          <p:nvPr/>
        </p:nvSpPr>
        <p:spPr>
          <a:xfrm flipV="1">
            <a:off x="5580000" y="5454360"/>
            <a:ext cx="0" cy="90360"/>
          </a:xfrm>
          <a:prstGeom prst="line">
            <a:avLst/>
          </a:prstGeom>
          <a:ln w="12600">
            <a:solidFill>
              <a:srgbClr val="ffffff"/>
            </a:solidFill>
            <a:miter/>
          </a:ln>
        </p:spPr>
        <p:style>
          <a:lnRef idx="0"/>
          <a:fillRef idx="0"/>
          <a:effectRef idx="0"/>
          <a:fontRef idx="minor"/>
        </p:style>
        <p:txBody>
          <a:bodyPr lIns="90000" rIns="90000" tIns="43560" bIns="43560" anchor="ctr">
            <a:noAutofit/>
          </a:bodyPr>
          <a:p>
            <a:endParaRPr b="0" lang="en-US" sz="2400" strike="noStrike" u="none">
              <a:solidFill>
                <a:srgbClr val="ffff00"/>
              </a:solidFill>
              <a:effectLst/>
              <a:uFillTx/>
              <a:latin typeface="Times New Roman"/>
            </a:endParaRPr>
          </a:p>
        </p:txBody>
      </p:sp>
      <p:sp>
        <p:nvSpPr>
          <p:cNvPr id="1111" name="Rectangle 54"/>
          <p:cNvSpPr/>
          <p:nvPr/>
        </p:nvSpPr>
        <p:spPr>
          <a:xfrm>
            <a:off x="5360760" y="5530680"/>
            <a:ext cx="439200" cy="36684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25</a:t>
            </a:r>
            <a:endParaRPr b="0" lang="en-US" sz="1800" strike="noStrike" u="none">
              <a:solidFill>
                <a:srgbClr val="ffff00"/>
              </a:solidFill>
              <a:effectLst/>
              <a:uFillTx/>
              <a:latin typeface="Times New Roman"/>
            </a:endParaRPr>
          </a:p>
        </p:txBody>
      </p:sp>
      <p:sp>
        <p:nvSpPr>
          <p:cNvPr id="1112" name="Line 55"/>
          <p:cNvSpPr/>
          <p:nvPr/>
        </p:nvSpPr>
        <p:spPr>
          <a:xfrm flipV="1">
            <a:off x="1917720" y="2249640"/>
            <a:ext cx="0" cy="329544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13" name="Line 56"/>
          <p:cNvSpPr/>
          <p:nvPr/>
        </p:nvSpPr>
        <p:spPr>
          <a:xfrm>
            <a:off x="1917720" y="5545080"/>
            <a:ext cx="10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14" name="Rectangle 57"/>
          <p:cNvSpPr/>
          <p:nvPr/>
        </p:nvSpPr>
        <p:spPr>
          <a:xfrm>
            <a:off x="1661760" y="5370480"/>
            <a:ext cx="312120" cy="3668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0</a:t>
            </a:r>
            <a:endParaRPr b="0" lang="en-US" sz="1800" strike="noStrike" u="none">
              <a:solidFill>
                <a:srgbClr val="ffff00"/>
              </a:solidFill>
              <a:effectLst/>
              <a:uFillTx/>
              <a:latin typeface="Times New Roman"/>
            </a:endParaRPr>
          </a:p>
        </p:txBody>
      </p:sp>
      <p:sp>
        <p:nvSpPr>
          <p:cNvPr id="1115" name="Line 58"/>
          <p:cNvSpPr/>
          <p:nvPr/>
        </p:nvSpPr>
        <p:spPr>
          <a:xfrm>
            <a:off x="1917720" y="4721400"/>
            <a:ext cx="10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16" name="Rectangle 59"/>
          <p:cNvSpPr/>
          <p:nvPr/>
        </p:nvSpPr>
        <p:spPr>
          <a:xfrm>
            <a:off x="1534680" y="4546440"/>
            <a:ext cx="439200" cy="3668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25</a:t>
            </a:r>
            <a:endParaRPr b="0" lang="en-US" sz="1800" strike="noStrike" u="none">
              <a:solidFill>
                <a:srgbClr val="ffff00"/>
              </a:solidFill>
              <a:effectLst/>
              <a:uFillTx/>
              <a:latin typeface="Times New Roman"/>
            </a:endParaRPr>
          </a:p>
        </p:txBody>
      </p:sp>
      <p:sp>
        <p:nvSpPr>
          <p:cNvPr id="1117" name="Line 60"/>
          <p:cNvSpPr/>
          <p:nvPr/>
        </p:nvSpPr>
        <p:spPr>
          <a:xfrm>
            <a:off x="1917720" y="3897360"/>
            <a:ext cx="10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18" name="Rectangle 61"/>
          <p:cNvSpPr/>
          <p:nvPr/>
        </p:nvSpPr>
        <p:spPr>
          <a:xfrm>
            <a:off x="1534680" y="3722760"/>
            <a:ext cx="439200" cy="3668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50</a:t>
            </a:r>
            <a:endParaRPr b="0" lang="en-US" sz="1800" strike="noStrike" u="none">
              <a:solidFill>
                <a:srgbClr val="ffff00"/>
              </a:solidFill>
              <a:effectLst/>
              <a:uFillTx/>
              <a:latin typeface="Times New Roman"/>
            </a:endParaRPr>
          </a:p>
        </p:txBody>
      </p:sp>
      <p:sp>
        <p:nvSpPr>
          <p:cNvPr id="1119" name="Line 62"/>
          <p:cNvSpPr/>
          <p:nvPr/>
        </p:nvSpPr>
        <p:spPr>
          <a:xfrm>
            <a:off x="1917720" y="3073320"/>
            <a:ext cx="10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20" name="Rectangle 63"/>
          <p:cNvSpPr/>
          <p:nvPr/>
        </p:nvSpPr>
        <p:spPr>
          <a:xfrm>
            <a:off x="1534680" y="2898720"/>
            <a:ext cx="439200" cy="3668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75</a:t>
            </a:r>
            <a:endParaRPr b="0" lang="en-US" sz="1800" strike="noStrike" u="none">
              <a:solidFill>
                <a:srgbClr val="ffff00"/>
              </a:solidFill>
              <a:effectLst/>
              <a:uFillTx/>
              <a:latin typeface="Times New Roman"/>
            </a:endParaRPr>
          </a:p>
        </p:txBody>
      </p:sp>
      <p:sp>
        <p:nvSpPr>
          <p:cNvPr id="1121" name="Line 64"/>
          <p:cNvSpPr/>
          <p:nvPr/>
        </p:nvSpPr>
        <p:spPr>
          <a:xfrm>
            <a:off x="1917720" y="2249640"/>
            <a:ext cx="10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22" name="Rectangle 65"/>
          <p:cNvSpPr/>
          <p:nvPr/>
        </p:nvSpPr>
        <p:spPr>
          <a:xfrm>
            <a:off x="1407600" y="2075040"/>
            <a:ext cx="566280" cy="3668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Arial"/>
              </a:rPr>
              <a:t>100</a:t>
            </a:r>
            <a:endParaRPr b="0" lang="en-US" sz="1800" strike="noStrike" u="none">
              <a:solidFill>
                <a:srgbClr val="ffff00"/>
              </a:solidFill>
              <a:effectLst/>
              <a:uFillTx/>
              <a:latin typeface="Times New Roman"/>
            </a:endParaRPr>
          </a:p>
        </p:txBody>
      </p:sp>
      <p:sp>
        <p:nvSpPr>
          <p:cNvPr id="1123" name="Rectangle 66"/>
          <p:cNvSpPr/>
          <p:nvPr/>
        </p:nvSpPr>
        <p:spPr>
          <a:xfrm>
            <a:off x="6896520" y="2946240"/>
            <a:ext cx="779040" cy="3974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000" strike="noStrike" u="none">
                <a:solidFill>
                  <a:srgbClr val="ffffff"/>
                </a:solidFill>
                <a:effectLst/>
                <a:uFillTx/>
                <a:latin typeface="Arial"/>
              </a:rPr>
              <a:t>Filles</a:t>
            </a:r>
            <a:endParaRPr b="0" lang="en-US" sz="2000" strike="noStrike" u="none">
              <a:solidFill>
                <a:srgbClr val="ffff00"/>
              </a:solidFill>
              <a:effectLst/>
              <a:uFillTx/>
              <a:latin typeface="Times New Roman"/>
            </a:endParaRPr>
          </a:p>
        </p:txBody>
      </p:sp>
      <p:sp>
        <p:nvSpPr>
          <p:cNvPr id="1124" name="Line 67"/>
          <p:cNvSpPr/>
          <p:nvPr/>
        </p:nvSpPr>
        <p:spPr>
          <a:xfrm>
            <a:off x="6380280" y="3130560"/>
            <a:ext cx="53640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25" name="Oval 68"/>
          <p:cNvSpPr/>
          <p:nvPr/>
        </p:nvSpPr>
        <p:spPr>
          <a:xfrm>
            <a:off x="6599160" y="3087720"/>
            <a:ext cx="100080" cy="8892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126" name="Rectangle 69"/>
          <p:cNvSpPr/>
          <p:nvPr/>
        </p:nvSpPr>
        <p:spPr>
          <a:xfrm>
            <a:off x="6915600" y="3408480"/>
            <a:ext cx="1146960" cy="3974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000" strike="noStrike" u="none">
                <a:solidFill>
                  <a:srgbClr val="ffffff"/>
                </a:solidFill>
                <a:effectLst/>
                <a:uFillTx/>
                <a:latin typeface="Arial"/>
              </a:rPr>
              <a:t>Garçons</a:t>
            </a:r>
            <a:endParaRPr b="0" lang="en-US" sz="2000" strike="noStrike" u="none">
              <a:solidFill>
                <a:srgbClr val="ffff00"/>
              </a:solidFill>
              <a:effectLst/>
              <a:uFillTx/>
              <a:latin typeface="Times New Roman"/>
            </a:endParaRPr>
          </a:p>
        </p:txBody>
      </p:sp>
      <p:sp>
        <p:nvSpPr>
          <p:cNvPr id="1127" name="Line 70"/>
          <p:cNvSpPr/>
          <p:nvPr/>
        </p:nvSpPr>
        <p:spPr>
          <a:xfrm>
            <a:off x="6397560" y="3592440"/>
            <a:ext cx="5382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28" name="Oval 71"/>
          <p:cNvSpPr/>
          <p:nvPr/>
        </p:nvSpPr>
        <p:spPr>
          <a:xfrm>
            <a:off x="6618240" y="3549600"/>
            <a:ext cx="100080" cy="88920"/>
          </a:xfrm>
          <a:prstGeom prst="ellipse">
            <a:avLst/>
          </a:prstGeom>
          <a:solidFill>
            <a:srgbClr val="ff0000"/>
          </a:solidFill>
          <a:ln w="12600">
            <a:solidFill>
              <a:srgbClr val="ffffff"/>
            </a:solidFill>
            <a:miter/>
          </a:ln>
        </p:spPr>
        <p:style>
          <a:lnRef idx="0"/>
          <a:fillRef idx="0"/>
          <a:effectRef idx="0"/>
          <a:fontRef idx="minor"/>
        </p:style>
        <p:txBody>
          <a:bodyPr wrap="none" lIns="90000" rIns="90000" tIns="16200" bIns="16200" anchor="ctr">
            <a:noAutofit/>
          </a:bodyPr>
          <a:p>
            <a:endParaRPr b="0" lang="en-US" sz="2400" strike="noStrike" u="none">
              <a:solidFill>
                <a:srgbClr val="ffff00"/>
              </a:solidFill>
              <a:effectLst/>
              <a:uFillTx/>
              <a:latin typeface="Times New Roman"/>
            </a:endParaRPr>
          </a:p>
        </p:txBody>
      </p:sp>
      <p:sp>
        <p:nvSpPr>
          <p:cNvPr id="1129" name="Rectangle 72"/>
          <p:cNvSpPr/>
          <p:nvPr/>
        </p:nvSpPr>
        <p:spPr>
          <a:xfrm>
            <a:off x="6245280" y="2881440"/>
            <a:ext cx="1928880" cy="960480"/>
          </a:xfrm>
          <a:prstGeom prst="rect">
            <a:avLst/>
          </a:prstGeom>
          <a:noFill/>
          <a:ln w="1260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130" name="Rectangle 73"/>
          <p:cNvSpPr/>
          <p:nvPr/>
        </p:nvSpPr>
        <p:spPr>
          <a:xfrm>
            <a:off x="3381120" y="5891040"/>
            <a:ext cx="712080" cy="4276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200" strike="noStrike" u="none">
                <a:solidFill>
                  <a:srgbClr val="ffffff"/>
                </a:solidFill>
                <a:effectLst/>
                <a:uFillTx/>
                <a:latin typeface="Arial"/>
              </a:rPr>
              <a:t>Age</a:t>
            </a:r>
            <a:endParaRPr b="0" lang="en-US" sz="2200" strike="noStrike" u="none">
              <a:solidFill>
                <a:srgbClr val="ffff00"/>
              </a:solidFill>
              <a:effectLst/>
              <a:uFillTx/>
              <a:latin typeface="Times New Roman"/>
            </a:endParaRPr>
          </a:p>
        </p:txBody>
      </p:sp>
      <p:sp>
        <p:nvSpPr>
          <p:cNvPr id="1131" name="Rectangle 74"/>
          <p:cNvSpPr/>
          <p:nvPr/>
        </p:nvSpPr>
        <p:spPr>
          <a:xfrm rot="16200000">
            <a:off x="-583560" y="3763800"/>
            <a:ext cx="3005280" cy="4276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200" strike="noStrike" u="none">
                <a:solidFill>
                  <a:srgbClr val="ffffff"/>
                </a:solidFill>
                <a:effectLst/>
                <a:uFillTx/>
                <a:latin typeface="Arial"/>
              </a:rPr>
              <a:t>Couple de force (Nm)</a:t>
            </a:r>
            <a:endParaRPr b="0" lang="en-US" sz="2200" strike="noStrike" u="none">
              <a:solidFill>
                <a:srgbClr val="ffff00"/>
              </a:solidFill>
              <a:effectLst/>
              <a:uFillTx/>
              <a:latin typeface="Times New Roman"/>
            </a:endParaRPr>
          </a:p>
        </p:txBody>
      </p:sp>
      <p:sp>
        <p:nvSpPr>
          <p:cNvPr id="1132" name="Rectangle 75"/>
          <p:cNvSpPr/>
          <p:nvPr/>
        </p:nvSpPr>
        <p:spPr>
          <a:xfrm>
            <a:off x="4931640" y="6354720"/>
            <a:ext cx="351432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66ff66"/>
                </a:solidFill>
                <a:effectLst/>
                <a:uFillTx/>
                <a:latin typeface="Times New Roman"/>
              </a:rPr>
              <a:t>D’après Gerbeaux et al. (1986)</a:t>
            </a:r>
            <a:endParaRPr b="0" lang="en-US" sz="2000" strike="noStrike" u="none">
              <a:solidFill>
                <a:srgbClr val="ffff00"/>
              </a:solidFill>
              <a:effectLst/>
              <a:uFillTx/>
              <a:latin typeface="Times New Roman"/>
            </a:endParaRPr>
          </a:p>
        </p:txBody>
      </p:sp>
    </p:spTree>
  </p:cSld>
  <p:transition spd="med">
    <p:zoom dir="out"/>
  </p:transition>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title"/>
          </p:nvPr>
        </p:nvSpPr>
        <p:spPr>
          <a:xfrm>
            <a:off x="685800" y="304920"/>
            <a:ext cx="7772400" cy="906480"/>
          </a:xfrm>
          <a:prstGeom prst="rect">
            <a:avLst/>
          </a:prstGeom>
          <a:noFill/>
          <a:ln w="0">
            <a:noFill/>
          </a:ln>
        </p:spPr>
        <p:txBody>
          <a:bodyPr lIns="92160" rIns="92160" tIns="46080" bIns="4608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Bookman Old Style"/>
              </a:rPr>
              <a:t>Force isocinétique</a:t>
            </a:r>
            <a:endParaRPr b="0" lang="en-US" sz="4400" strike="noStrike" u="none">
              <a:solidFill>
                <a:srgbClr val="ffffff"/>
              </a:solidFill>
              <a:effectLst/>
              <a:uFillTx/>
              <a:latin typeface="Times New Roman"/>
            </a:endParaRPr>
          </a:p>
        </p:txBody>
      </p:sp>
      <p:grpSp>
        <p:nvGrpSpPr>
          <p:cNvPr id="1134" name="Group 3"/>
          <p:cNvGrpSpPr/>
          <p:nvPr/>
        </p:nvGrpSpPr>
        <p:grpSpPr>
          <a:xfrm>
            <a:off x="44280" y="1671480"/>
            <a:ext cx="4886280" cy="4447440"/>
            <a:chOff x="44280" y="1671480"/>
            <a:chExt cx="4886280" cy="4447440"/>
          </a:xfrm>
        </p:grpSpPr>
        <p:sp>
          <p:nvSpPr>
            <p:cNvPr id="1135" name="Line 4"/>
            <p:cNvSpPr/>
            <p:nvPr/>
          </p:nvSpPr>
          <p:spPr>
            <a:xfrm>
              <a:off x="1231920" y="2995560"/>
              <a:ext cx="163440" cy="3999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36" name="Line 5"/>
            <p:cNvSpPr/>
            <p:nvPr/>
          </p:nvSpPr>
          <p:spPr>
            <a:xfrm>
              <a:off x="1395360" y="3395520"/>
              <a:ext cx="165240" cy="1098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37" name="Line 6"/>
            <p:cNvSpPr/>
            <p:nvPr/>
          </p:nvSpPr>
          <p:spPr>
            <a:xfrm>
              <a:off x="1560600" y="3505320"/>
              <a:ext cx="328680" cy="85680"/>
            </a:xfrm>
            <a:prstGeom prst="line">
              <a:avLst/>
            </a:prstGeom>
            <a:ln w="12600">
              <a:solidFill>
                <a:srgbClr val="ff0000"/>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138" name="Line 7"/>
            <p:cNvSpPr/>
            <p:nvPr/>
          </p:nvSpPr>
          <p:spPr>
            <a:xfrm>
              <a:off x="1889280" y="3591000"/>
              <a:ext cx="658800" cy="2523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39" name="Line 8"/>
            <p:cNvSpPr/>
            <p:nvPr/>
          </p:nvSpPr>
          <p:spPr>
            <a:xfrm>
              <a:off x="2548080" y="3843360"/>
              <a:ext cx="657000" cy="1652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40" name="Line 9"/>
            <p:cNvSpPr/>
            <p:nvPr/>
          </p:nvSpPr>
          <p:spPr>
            <a:xfrm>
              <a:off x="3205080" y="4008600"/>
              <a:ext cx="657360" cy="2030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41" name="Oval 10"/>
            <p:cNvSpPr/>
            <p:nvPr/>
          </p:nvSpPr>
          <p:spPr>
            <a:xfrm>
              <a:off x="1193760" y="2955960"/>
              <a:ext cx="77760" cy="824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142" name="Oval 11"/>
            <p:cNvSpPr/>
            <p:nvPr/>
          </p:nvSpPr>
          <p:spPr>
            <a:xfrm>
              <a:off x="1357200" y="335592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43" name="Oval 12"/>
            <p:cNvSpPr/>
            <p:nvPr/>
          </p:nvSpPr>
          <p:spPr>
            <a:xfrm>
              <a:off x="1523880" y="3465360"/>
              <a:ext cx="7632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44" name="Oval 13"/>
            <p:cNvSpPr/>
            <p:nvPr/>
          </p:nvSpPr>
          <p:spPr>
            <a:xfrm>
              <a:off x="1852560" y="3551400"/>
              <a:ext cx="76320" cy="806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145" name="Oval 14"/>
            <p:cNvSpPr/>
            <p:nvPr/>
          </p:nvSpPr>
          <p:spPr>
            <a:xfrm>
              <a:off x="2509920" y="380376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46" name="Oval 15"/>
            <p:cNvSpPr/>
            <p:nvPr/>
          </p:nvSpPr>
          <p:spPr>
            <a:xfrm>
              <a:off x="3166920" y="396864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47" name="Oval 16"/>
            <p:cNvSpPr/>
            <p:nvPr/>
          </p:nvSpPr>
          <p:spPr>
            <a:xfrm>
              <a:off x="3824280" y="417204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48" name="Line 17"/>
            <p:cNvSpPr/>
            <p:nvPr/>
          </p:nvSpPr>
          <p:spPr>
            <a:xfrm>
              <a:off x="1231920" y="3481560"/>
              <a:ext cx="163440" cy="2743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49" name="Line 18"/>
            <p:cNvSpPr/>
            <p:nvPr/>
          </p:nvSpPr>
          <p:spPr>
            <a:xfrm>
              <a:off x="1395360" y="3755880"/>
              <a:ext cx="165240" cy="87480"/>
            </a:xfrm>
            <a:prstGeom prst="line">
              <a:avLst/>
            </a:prstGeom>
            <a:ln w="12600">
              <a:solidFill>
                <a:srgbClr val="ffff00"/>
              </a:solidFill>
              <a:miter/>
            </a:ln>
          </p:spPr>
          <p:style>
            <a:lnRef idx="0"/>
            <a:fillRef idx="0"/>
            <a:effectRef idx="0"/>
            <a:fontRef idx="minor"/>
          </p:style>
          <p:txBody>
            <a:bodyPr lIns="90000" rIns="90000" tIns="40680" bIns="40680" anchor="ctr">
              <a:noAutofit/>
            </a:bodyPr>
            <a:p>
              <a:endParaRPr b="0" lang="en-US" sz="2400" strike="noStrike" u="none">
                <a:solidFill>
                  <a:srgbClr val="ffff00"/>
                </a:solidFill>
                <a:effectLst/>
                <a:uFillTx/>
                <a:latin typeface="Times New Roman"/>
              </a:endParaRPr>
            </a:p>
          </p:txBody>
        </p:sp>
        <p:sp>
          <p:nvSpPr>
            <p:cNvPr id="1150" name="Line 19"/>
            <p:cNvSpPr/>
            <p:nvPr/>
          </p:nvSpPr>
          <p:spPr>
            <a:xfrm>
              <a:off x="1560600" y="3843360"/>
              <a:ext cx="328680" cy="77760"/>
            </a:xfrm>
            <a:prstGeom prst="line">
              <a:avLst/>
            </a:prstGeom>
            <a:ln w="12600">
              <a:solidFill>
                <a:srgbClr val="ffff00"/>
              </a:solidFill>
              <a:miter/>
            </a:ln>
          </p:spPr>
          <p:style>
            <a:lnRef idx="0"/>
            <a:fillRef idx="0"/>
            <a:effectRef idx="0"/>
            <a:fontRef idx="minor"/>
          </p:style>
          <p:txBody>
            <a:bodyPr lIns="90000" rIns="90000" tIns="30960" bIns="30960" anchor="ctr">
              <a:noAutofit/>
            </a:bodyPr>
            <a:p>
              <a:endParaRPr b="0" lang="en-US" sz="2400" strike="noStrike" u="none">
                <a:solidFill>
                  <a:srgbClr val="ffff00"/>
                </a:solidFill>
                <a:effectLst/>
                <a:uFillTx/>
                <a:latin typeface="Times New Roman"/>
              </a:endParaRPr>
            </a:p>
          </p:txBody>
        </p:sp>
        <p:sp>
          <p:nvSpPr>
            <p:cNvPr id="1151" name="Line 20"/>
            <p:cNvSpPr/>
            <p:nvPr/>
          </p:nvSpPr>
          <p:spPr>
            <a:xfrm>
              <a:off x="1889280" y="3921120"/>
              <a:ext cx="658800" cy="1476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52" name="Line 21"/>
            <p:cNvSpPr/>
            <p:nvPr/>
          </p:nvSpPr>
          <p:spPr>
            <a:xfrm>
              <a:off x="2548080" y="4068720"/>
              <a:ext cx="657000" cy="1270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53" name="Line 22"/>
            <p:cNvSpPr/>
            <p:nvPr/>
          </p:nvSpPr>
          <p:spPr>
            <a:xfrm>
              <a:off x="3205080" y="4195800"/>
              <a:ext cx="657360" cy="2268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54" name="Oval 23"/>
            <p:cNvSpPr/>
            <p:nvPr/>
          </p:nvSpPr>
          <p:spPr>
            <a:xfrm>
              <a:off x="1193760" y="3441600"/>
              <a:ext cx="77760" cy="828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155" name="Oval 24"/>
            <p:cNvSpPr/>
            <p:nvPr/>
          </p:nvSpPr>
          <p:spPr>
            <a:xfrm>
              <a:off x="1357200" y="3716280"/>
              <a:ext cx="777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56" name="Oval 25"/>
            <p:cNvSpPr/>
            <p:nvPr/>
          </p:nvSpPr>
          <p:spPr>
            <a:xfrm>
              <a:off x="1523880" y="3803760"/>
              <a:ext cx="7632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57" name="Oval 26"/>
            <p:cNvSpPr/>
            <p:nvPr/>
          </p:nvSpPr>
          <p:spPr>
            <a:xfrm>
              <a:off x="1852560" y="3881520"/>
              <a:ext cx="76320" cy="824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158" name="Oval 27"/>
            <p:cNvSpPr/>
            <p:nvPr/>
          </p:nvSpPr>
          <p:spPr>
            <a:xfrm>
              <a:off x="2509920" y="4029120"/>
              <a:ext cx="777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59" name="Oval 28"/>
            <p:cNvSpPr/>
            <p:nvPr/>
          </p:nvSpPr>
          <p:spPr>
            <a:xfrm>
              <a:off x="3166920" y="4156200"/>
              <a:ext cx="77760" cy="824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160" name="Oval 29"/>
            <p:cNvSpPr/>
            <p:nvPr/>
          </p:nvSpPr>
          <p:spPr>
            <a:xfrm>
              <a:off x="3824280" y="4383000"/>
              <a:ext cx="777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61" name="Line 30"/>
            <p:cNvSpPr/>
            <p:nvPr/>
          </p:nvSpPr>
          <p:spPr>
            <a:xfrm>
              <a:off x="1231920" y="4076640"/>
              <a:ext cx="163440" cy="14292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62" name="Line 31"/>
            <p:cNvSpPr/>
            <p:nvPr/>
          </p:nvSpPr>
          <p:spPr>
            <a:xfrm>
              <a:off x="1395360" y="4219560"/>
              <a:ext cx="165240" cy="9360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63" name="Line 32"/>
            <p:cNvSpPr/>
            <p:nvPr/>
          </p:nvSpPr>
          <p:spPr>
            <a:xfrm>
              <a:off x="1560600" y="4313160"/>
              <a:ext cx="328680" cy="10944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64" name="Line 33"/>
            <p:cNvSpPr/>
            <p:nvPr/>
          </p:nvSpPr>
          <p:spPr>
            <a:xfrm>
              <a:off x="1889280" y="4422600"/>
              <a:ext cx="658800" cy="47880"/>
            </a:xfrm>
            <a:prstGeom prst="line">
              <a:avLst/>
            </a:prstGeom>
            <a:ln w="12600">
              <a:solidFill>
                <a:srgbClr val="00ff00"/>
              </a:solidFill>
              <a:miter/>
            </a:ln>
          </p:spPr>
          <p:style>
            <a:lnRef idx="0"/>
            <a:fillRef idx="0"/>
            <a:effectRef idx="0"/>
            <a:fontRef idx="minor"/>
          </p:style>
          <p:txBody>
            <a:bodyPr lIns="90000" rIns="90000" tIns="1080" bIns="1080" anchor="ctr">
              <a:noAutofit/>
            </a:bodyPr>
            <a:p>
              <a:endParaRPr b="0" lang="en-US" sz="2400" strike="noStrike" u="none">
                <a:solidFill>
                  <a:srgbClr val="ffff00"/>
                </a:solidFill>
                <a:effectLst/>
                <a:uFillTx/>
                <a:latin typeface="Times New Roman"/>
              </a:endParaRPr>
            </a:p>
          </p:txBody>
        </p:sp>
        <p:sp>
          <p:nvSpPr>
            <p:cNvPr id="1165" name="Line 34"/>
            <p:cNvSpPr/>
            <p:nvPr/>
          </p:nvSpPr>
          <p:spPr>
            <a:xfrm>
              <a:off x="2548080" y="4470480"/>
              <a:ext cx="657000" cy="11736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66" name="Line 35"/>
            <p:cNvSpPr/>
            <p:nvPr/>
          </p:nvSpPr>
          <p:spPr>
            <a:xfrm>
              <a:off x="3205080" y="4587840"/>
              <a:ext cx="657360" cy="46080"/>
            </a:xfrm>
            <a:prstGeom prst="line">
              <a:avLst/>
            </a:prstGeom>
            <a:ln w="12600">
              <a:solidFill>
                <a:srgbClr val="00ff00"/>
              </a:solidFill>
              <a:miter/>
            </a:ln>
          </p:spPr>
          <p:style>
            <a:lnRef idx="0"/>
            <a:fillRef idx="0"/>
            <a:effectRef idx="0"/>
            <a:fontRef idx="minor"/>
          </p:style>
          <p:txBody>
            <a:bodyPr lIns="90000" rIns="90000" tIns="-720" bIns="-720" anchor="ctr">
              <a:noAutofit/>
            </a:bodyPr>
            <a:p>
              <a:endParaRPr b="0" lang="en-US" sz="2400" strike="noStrike" u="none">
                <a:solidFill>
                  <a:srgbClr val="ffff00"/>
                </a:solidFill>
                <a:effectLst/>
                <a:uFillTx/>
                <a:latin typeface="Times New Roman"/>
              </a:endParaRPr>
            </a:p>
          </p:txBody>
        </p:sp>
        <p:sp>
          <p:nvSpPr>
            <p:cNvPr id="1167" name="Oval 36"/>
            <p:cNvSpPr/>
            <p:nvPr/>
          </p:nvSpPr>
          <p:spPr>
            <a:xfrm>
              <a:off x="1193760" y="403704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68" name="Oval 37"/>
            <p:cNvSpPr/>
            <p:nvPr/>
          </p:nvSpPr>
          <p:spPr>
            <a:xfrm>
              <a:off x="1357200" y="417996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69" name="Oval 38"/>
            <p:cNvSpPr/>
            <p:nvPr/>
          </p:nvSpPr>
          <p:spPr>
            <a:xfrm>
              <a:off x="1523880" y="4273560"/>
              <a:ext cx="7632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70" name="Oval 39"/>
            <p:cNvSpPr/>
            <p:nvPr/>
          </p:nvSpPr>
          <p:spPr>
            <a:xfrm>
              <a:off x="1852560" y="4383000"/>
              <a:ext cx="7632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71" name="Oval 40"/>
            <p:cNvSpPr/>
            <p:nvPr/>
          </p:nvSpPr>
          <p:spPr>
            <a:xfrm>
              <a:off x="2509920" y="4430880"/>
              <a:ext cx="77760" cy="8064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172" name="Oval 41"/>
            <p:cNvSpPr/>
            <p:nvPr/>
          </p:nvSpPr>
          <p:spPr>
            <a:xfrm>
              <a:off x="3166920" y="454824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73" name="Oval 42"/>
            <p:cNvSpPr/>
            <p:nvPr/>
          </p:nvSpPr>
          <p:spPr>
            <a:xfrm>
              <a:off x="3824280" y="459432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74" name="Line 43"/>
            <p:cNvSpPr/>
            <p:nvPr/>
          </p:nvSpPr>
          <p:spPr>
            <a:xfrm>
              <a:off x="1231920" y="4508640"/>
              <a:ext cx="163440" cy="117360"/>
            </a:xfrm>
            <a:prstGeom prst="line">
              <a:avLst/>
            </a:prstGeom>
            <a:ln w="12600">
              <a:solidFill>
                <a:srgbClr val="ff00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75" name="Line 44"/>
            <p:cNvSpPr/>
            <p:nvPr/>
          </p:nvSpPr>
          <p:spPr>
            <a:xfrm>
              <a:off x="1395360" y="4626000"/>
              <a:ext cx="165240" cy="71280"/>
            </a:xfrm>
            <a:prstGeom prst="line">
              <a:avLst/>
            </a:prstGeom>
            <a:ln w="12600">
              <a:solidFill>
                <a:srgbClr val="ff00ff"/>
              </a:solidFill>
              <a:miter/>
            </a:ln>
          </p:spPr>
          <p:style>
            <a:lnRef idx="0"/>
            <a:fillRef idx="0"/>
            <a:effectRef idx="0"/>
            <a:fontRef idx="minor"/>
          </p:style>
          <p:txBody>
            <a:bodyPr lIns="90000" rIns="90000" tIns="24480" bIns="24480" anchor="ctr">
              <a:noAutofit/>
            </a:bodyPr>
            <a:p>
              <a:endParaRPr b="0" lang="en-US" sz="2400" strike="noStrike" u="none">
                <a:solidFill>
                  <a:srgbClr val="ffff00"/>
                </a:solidFill>
                <a:effectLst/>
                <a:uFillTx/>
                <a:latin typeface="Times New Roman"/>
              </a:endParaRPr>
            </a:p>
          </p:txBody>
        </p:sp>
        <p:sp>
          <p:nvSpPr>
            <p:cNvPr id="1176" name="Line 45"/>
            <p:cNvSpPr/>
            <p:nvPr/>
          </p:nvSpPr>
          <p:spPr>
            <a:xfrm>
              <a:off x="1560600" y="4697280"/>
              <a:ext cx="328680" cy="63720"/>
            </a:xfrm>
            <a:prstGeom prst="line">
              <a:avLst/>
            </a:prstGeom>
            <a:ln w="12600">
              <a:solidFill>
                <a:srgbClr val="ff00ff"/>
              </a:solidFill>
              <a:miter/>
            </a:ln>
          </p:spPr>
          <p:style>
            <a:lnRef idx="0"/>
            <a:fillRef idx="0"/>
            <a:effectRef idx="0"/>
            <a:fontRef idx="minor"/>
          </p:style>
          <p:txBody>
            <a:bodyPr lIns="90000" rIns="90000" tIns="16920" bIns="16920" anchor="ctr">
              <a:noAutofit/>
            </a:bodyPr>
            <a:p>
              <a:endParaRPr b="0" lang="en-US" sz="2400" strike="noStrike" u="none">
                <a:solidFill>
                  <a:srgbClr val="ffff00"/>
                </a:solidFill>
                <a:effectLst/>
                <a:uFillTx/>
                <a:latin typeface="Times New Roman"/>
              </a:endParaRPr>
            </a:p>
          </p:txBody>
        </p:sp>
        <p:sp>
          <p:nvSpPr>
            <p:cNvPr id="1177" name="Line 46"/>
            <p:cNvSpPr/>
            <p:nvPr/>
          </p:nvSpPr>
          <p:spPr>
            <a:xfrm>
              <a:off x="1889280" y="4761000"/>
              <a:ext cx="658800" cy="21960"/>
            </a:xfrm>
            <a:prstGeom prst="line">
              <a:avLst/>
            </a:prstGeom>
            <a:ln w="12600">
              <a:solidFill>
                <a:srgbClr val="ff00ff"/>
              </a:solidFill>
              <a:miter/>
            </a:ln>
          </p:spPr>
          <p:style>
            <a:lnRef idx="0"/>
            <a:fillRef idx="0"/>
            <a:effectRef idx="0"/>
            <a:fontRef idx="minor"/>
          </p:style>
          <p:txBody>
            <a:bodyPr lIns="90000" rIns="90000" tIns="-24840" bIns="-24840" anchor="ctr">
              <a:noAutofit/>
            </a:bodyPr>
            <a:p>
              <a:endParaRPr b="0" lang="en-US" sz="2400" strike="noStrike" u="none">
                <a:solidFill>
                  <a:srgbClr val="ffff00"/>
                </a:solidFill>
                <a:effectLst/>
                <a:uFillTx/>
                <a:latin typeface="Times New Roman"/>
              </a:endParaRPr>
            </a:p>
          </p:txBody>
        </p:sp>
        <p:sp>
          <p:nvSpPr>
            <p:cNvPr id="1178" name="Line 47"/>
            <p:cNvSpPr/>
            <p:nvPr/>
          </p:nvSpPr>
          <p:spPr>
            <a:xfrm>
              <a:off x="2548080" y="4782960"/>
              <a:ext cx="657000" cy="55800"/>
            </a:xfrm>
            <a:prstGeom prst="line">
              <a:avLst/>
            </a:prstGeom>
            <a:ln w="12600">
              <a:solidFill>
                <a:srgbClr val="ff00ff"/>
              </a:solidFill>
              <a:miter/>
            </a:ln>
          </p:spPr>
          <p:style>
            <a:lnRef idx="0"/>
            <a:fillRef idx="0"/>
            <a:effectRef idx="0"/>
            <a:fontRef idx="minor"/>
          </p:style>
          <p:txBody>
            <a:bodyPr lIns="90000" rIns="90000" tIns="9000" bIns="9000" anchor="ctr">
              <a:noAutofit/>
            </a:bodyPr>
            <a:p>
              <a:endParaRPr b="0" lang="en-US" sz="2400" strike="noStrike" u="none">
                <a:solidFill>
                  <a:srgbClr val="ffff00"/>
                </a:solidFill>
                <a:effectLst/>
                <a:uFillTx/>
                <a:latin typeface="Times New Roman"/>
              </a:endParaRPr>
            </a:p>
          </p:txBody>
        </p:sp>
        <p:sp>
          <p:nvSpPr>
            <p:cNvPr id="1179" name="Line 48"/>
            <p:cNvSpPr/>
            <p:nvPr/>
          </p:nvSpPr>
          <p:spPr>
            <a:xfrm>
              <a:off x="3205080" y="4838760"/>
              <a:ext cx="657360" cy="7920"/>
            </a:xfrm>
            <a:prstGeom prst="line">
              <a:avLst/>
            </a:prstGeom>
            <a:ln w="12600">
              <a:solidFill>
                <a:srgbClr val="ff00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180" name="Oval 49"/>
            <p:cNvSpPr/>
            <p:nvPr/>
          </p:nvSpPr>
          <p:spPr>
            <a:xfrm>
              <a:off x="1193760" y="4468680"/>
              <a:ext cx="77760" cy="828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181" name="Oval 50"/>
            <p:cNvSpPr/>
            <p:nvPr/>
          </p:nvSpPr>
          <p:spPr>
            <a:xfrm>
              <a:off x="1357200" y="458640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82" name="Oval 51"/>
            <p:cNvSpPr/>
            <p:nvPr/>
          </p:nvSpPr>
          <p:spPr>
            <a:xfrm>
              <a:off x="1523880" y="4657680"/>
              <a:ext cx="7632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83" name="Oval 52"/>
            <p:cNvSpPr/>
            <p:nvPr/>
          </p:nvSpPr>
          <p:spPr>
            <a:xfrm>
              <a:off x="1852560" y="4721400"/>
              <a:ext cx="76320" cy="8064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184" name="Oval 53"/>
            <p:cNvSpPr/>
            <p:nvPr/>
          </p:nvSpPr>
          <p:spPr>
            <a:xfrm>
              <a:off x="2509920" y="474336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185" name="Oval 54"/>
            <p:cNvSpPr/>
            <p:nvPr/>
          </p:nvSpPr>
          <p:spPr>
            <a:xfrm>
              <a:off x="3166920" y="4799160"/>
              <a:ext cx="77760" cy="8244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186" name="Oval 55"/>
            <p:cNvSpPr/>
            <p:nvPr/>
          </p:nvSpPr>
          <p:spPr>
            <a:xfrm>
              <a:off x="3824280" y="4807080"/>
              <a:ext cx="77760" cy="8244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187" name="Rectangle 56"/>
            <p:cNvSpPr/>
            <p:nvPr/>
          </p:nvSpPr>
          <p:spPr>
            <a:xfrm>
              <a:off x="2111400" y="1671480"/>
              <a:ext cx="820440" cy="4276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200" strike="noStrike" u="none">
                  <a:solidFill>
                    <a:srgbClr val="66ff66"/>
                  </a:solidFill>
                  <a:effectLst/>
                  <a:uFillTx/>
                  <a:latin typeface="Arial"/>
                </a:rPr>
                <a:t>Girls</a:t>
              </a:r>
              <a:endParaRPr b="0" lang="en-US" sz="2200" strike="noStrike" u="none">
                <a:solidFill>
                  <a:srgbClr val="ffff00"/>
                </a:solidFill>
                <a:effectLst/>
                <a:uFillTx/>
                <a:latin typeface="Times New Roman"/>
              </a:endParaRPr>
            </a:p>
          </p:txBody>
        </p:sp>
        <p:sp>
          <p:nvSpPr>
            <p:cNvPr id="1188" name="Line 57"/>
            <p:cNvSpPr/>
            <p:nvPr/>
          </p:nvSpPr>
          <p:spPr>
            <a:xfrm>
              <a:off x="1231920" y="5400720"/>
              <a:ext cx="263052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189" name="Line 58"/>
            <p:cNvSpPr/>
            <p:nvPr/>
          </p:nvSpPr>
          <p:spPr>
            <a:xfrm flipV="1">
              <a:off x="1231920" y="531648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190" name="Rectangle 59"/>
            <p:cNvSpPr/>
            <p:nvPr/>
          </p:nvSpPr>
          <p:spPr>
            <a:xfrm>
              <a:off x="1079280" y="5380200"/>
              <a:ext cx="3052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0</a:t>
              </a:r>
              <a:endParaRPr b="0" lang="en-US" sz="1700" strike="noStrike" u="none">
                <a:solidFill>
                  <a:srgbClr val="ffff00"/>
                </a:solidFill>
                <a:effectLst/>
                <a:uFillTx/>
                <a:latin typeface="Times New Roman"/>
              </a:endParaRPr>
            </a:p>
          </p:txBody>
        </p:sp>
        <p:sp>
          <p:nvSpPr>
            <p:cNvPr id="1191" name="Line 60"/>
            <p:cNvSpPr/>
            <p:nvPr/>
          </p:nvSpPr>
          <p:spPr>
            <a:xfrm flipV="1">
              <a:off x="1889280" y="531648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192" name="Rectangle 61"/>
            <p:cNvSpPr/>
            <p:nvPr/>
          </p:nvSpPr>
          <p:spPr>
            <a:xfrm>
              <a:off x="1676880" y="5380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60</a:t>
              </a:r>
              <a:endParaRPr b="0" lang="en-US" sz="1700" strike="noStrike" u="none">
                <a:solidFill>
                  <a:srgbClr val="ffff00"/>
                </a:solidFill>
                <a:effectLst/>
                <a:uFillTx/>
                <a:latin typeface="Times New Roman"/>
              </a:endParaRPr>
            </a:p>
          </p:txBody>
        </p:sp>
        <p:sp>
          <p:nvSpPr>
            <p:cNvPr id="1193" name="Line 62"/>
            <p:cNvSpPr/>
            <p:nvPr/>
          </p:nvSpPr>
          <p:spPr>
            <a:xfrm flipV="1">
              <a:off x="2548080" y="531648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194" name="Rectangle 63"/>
            <p:cNvSpPr/>
            <p:nvPr/>
          </p:nvSpPr>
          <p:spPr>
            <a:xfrm>
              <a:off x="2275920" y="5380200"/>
              <a:ext cx="54612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120</a:t>
              </a:r>
              <a:endParaRPr b="0" lang="en-US" sz="1700" strike="noStrike" u="none">
                <a:solidFill>
                  <a:srgbClr val="ffff00"/>
                </a:solidFill>
                <a:effectLst/>
                <a:uFillTx/>
                <a:latin typeface="Times New Roman"/>
              </a:endParaRPr>
            </a:p>
          </p:txBody>
        </p:sp>
        <p:sp>
          <p:nvSpPr>
            <p:cNvPr id="1195" name="Line 64"/>
            <p:cNvSpPr/>
            <p:nvPr/>
          </p:nvSpPr>
          <p:spPr>
            <a:xfrm flipV="1">
              <a:off x="3205080" y="531648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196" name="Rectangle 65"/>
            <p:cNvSpPr/>
            <p:nvPr/>
          </p:nvSpPr>
          <p:spPr>
            <a:xfrm>
              <a:off x="2932920" y="5380200"/>
              <a:ext cx="54612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180</a:t>
              </a:r>
              <a:endParaRPr b="0" lang="en-US" sz="1700" strike="noStrike" u="none">
                <a:solidFill>
                  <a:srgbClr val="ffff00"/>
                </a:solidFill>
                <a:effectLst/>
                <a:uFillTx/>
                <a:latin typeface="Times New Roman"/>
              </a:endParaRPr>
            </a:p>
          </p:txBody>
        </p:sp>
        <p:sp>
          <p:nvSpPr>
            <p:cNvPr id="1197" name="Line 66"/>
            <p:cNvSpPr/>
            <p:nvPr/>
          </p:nvSpPr>
          <p:spPr>
            <a:xfrm flipV="1">
              <a:off x="3862440" y="531648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198" name="Rectangle 67"/>
            <p:cNvSpPr/>
            <p:nvPr/>
          </p:nvSpPr>
          <p:spPr>
            <a:xfrm>
              <a:off x="3590280" y="5380200"/>
              <a:ext cx="54612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240</a:t>
              </a:r>
              <a:endParaRPr b="0" lang="en-US" sz="1700" strike="noStrike" u="none">
                <a:solidFill>
                  <a:srgbClr val="ffff00"/>
                </a:solidFill>
                <a:effectLst/>
                <a:uFillTx/>
                <a:latin typeface="Times New Roman"/>
              </a:endParaRPr>
            </a:p>
          </p:txBody>
        </p:sp>
        <p:sp>
          <p:nvSpPr>
            <p:cNvPr id="1199" name="Line 68"/>
            <p:cNvSpPr/>
            <p:nvPr/>
          </p:nvSpPr>
          <p:spPr>
            <a:xfrm flipV="1">
              <a:off x="939960" y="2349000"/>
              <a:ext cx="0" cy="274644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0" name="Line 69"/>
            <p:cNvSpPr/>
            <p:nvPr/>
          </p:nvSpPr>
          <p:spPr>
            <a:xfrm>
              <a:off x="939960" y="509580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1" name="Rectangle 70"/>
            <p:cNvSpPr/>
            <p:nvPr/>
          </p:nvSpPr>
          <p:spPr>
            <a:xfrm>
              <a:off x="698400" y="4923000"/>
              <a:ext cx="3052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0</a:t>
              </a:r>
              <a:endParaRPr b="0" lang="en-US" sz="1700" strike="noStrike" u="none">
                <a:solidFill>
                  <a:srgbClr val="ffff00"/>
                </a:solidFill>
                <a:effectLst/>
                <a:uFillTx/>
                <a:latin typeface="Times New Roman"/>
              </a:endParaRPr>
            </a:p>
          </p:txBody>
        </p:sp>
        <p:sp>
          <p:nvSpPr>
            <p:cNvPr id="1202" name="Line 71"/>
            <p:cNvSpPr/>
            <p:nvPr/>
          </p:nvSpPr>
          <p:spPr>
            <a:xfrm>
              <a:off x="939960" y="470376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3" name="Rectangle 72"/>
            <p:cNvSpPr/>
            <p:nvPr/>
          </p:nvSpPr>
          <p:spPr>
            <a:xfrm>
              <a:off x="698400" y="4532400"/>
              <a:ext cx="3052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5</a:t>
              </a:r>
              <a:endParaRPr b="0" lang="en-US" sz="1700" strike="noStrike" u="none">
                <a:solidFill>
                  <a:srgbClr val="ffff00"/>
                </a:solidFill>
                <a:effectLst/>
                <a:uFillTx/>
                <a:latin typeface="Times New Roman"/>
              </a:endParaRPr>
            </a:p>
          </p:txBody>
        </p:sp>
        <p:sp>
          <p:nvSpPr>
            <p:cNvPr id="1204" name="Line 73"/>
            <p:cNvSpPr/>
            <p:nvPr/>
          </p:nvSpPr>
          <p:spPr>
            <a:xfrm>
              <a:off x="939960" y="431316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5" name="Rectangle 74"/>
            <p:cNvSpPr/>
            <p:nvPr/>
          </p:nvSpPr>
          <p:spPr>
            <a:xfrm>
              <a:off x="578520" y="414036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10</a:t>
              </a:r>
              <a:endParaRPr b="0" lang="en-US" sz="1700" strike="noStrike" u="none">
                <a:solidFill>
                  <a:srgbClr val="ffff00"/>
                </a:solidFill>
                <a:effectLst/>
                <a:uFillTx/>
                <a:latin typeface="Times New Roman"/>
              </a:endParaRPr>
            </a:p>
          </p:txBody>
        </p:sp>
        <p:sp>
          <p:nvSpPr>
            <p:cNvPr id="1206" name="Line 75"/>
            <p:cNvSpPr/>
            <p:nvPr/>
          </p:nvSpPr>
          <p:spPr>
            <a:xfrm>
              <a:off x="939960" y="392112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7" name="Rectangle 76"/>
            <p:cNvSpPr/>
            <p:nvPr/>
          </p:nvSpPr>
          <p:spPr>
            <a:xfrm>
              <a:off x="578520" y="374796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15</a:t>
              </a:r>
              <a:endParaRPr b="0" lang="en-US" sz="1700" strike="noStrike" u="none">
                <a:solidFill>
                  <a:srgbClr val="ffff00"/>
                </a:solidFill>
                <a:effectLst/>
                <a:uFillTx/>
                <a:latin typeface="Times New Roman"/>
              </a:endParaRPr>
            </a:p>
          </p:txBody>
        </p:sp>
        <p:sp>
          <p:nvSpPr>
            <p:cNvPr id="1208" name="Line 77"/>
            <p:cNvSpPr/>
            <p:nvPr/>
          </p:nvSpPr>
          <p:spPr>
            <a:xfrm>
              <a:off x="939960" y="352728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09" name="Rectangle 78"/>
            <p:cNvSpPr/>
            <p:nvPr/>
          </p:nvSpPr>
          <p:spPr>
            <a:xfrm>
              <a:off x="578520" y="335448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20</a:t>
              </a:r>
              <a:endParaRPr b="0" lang="en-US" sz="1700" strike="noStrike" u="none">
                <a:solidFill>
                  <a:srgbClr val="ffff00"/>
                </a:solidFill>
                <a:effectLst/>
                <a:uFillTx/>
                <a:latin typeface="Times New Roman"/>
              </a:endParaRPr>
            </a:p>
          </p:txBody>
        </p:sp>
        <p:sp>
          <p:nvSpPr>
            <p:cNvPr id="1210" name="Line 79"/>
            <p:cNvSpPr/>
            <p:nvPr/>
          </p:nvSpPr>
          <p:spPr>
            <a:xfrm>
              <a:off x="939960" y="313524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11" name="Rectangle 80"/>
            <p:cNvSpPr/>
            <p:nvPr/>
          </p:nvSpPr>
          <p:spPr>
            <a:xfrm>
              <a:off x="578520" y="296244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25</a:t>
              </a:r>
              <a:endParaRPr b="0" lang="en-US" sz="1700" strike="noStrike" u="none">
                <a:solidFill>
                  <a:srgbClr val="ffff00"/>
                </a:solidFill>
                <a:effectLst/>
                <a:uFillTx/>
                <a:latin typeface="Times New Roman"/>
              </a:endParaRPr>
            </a:p>
          </p:txBody>
        </p:sp>
        <p:sp>
          <p:nvSpPr>
            <p:cNvPr id="1212" name="Line 81"/>
            <p:cNvSpPr/>
            <p:nvPr/>
          </p:nvSpPr>
          <p:spPr>
            <a:xfrm>
              <a:off x="939960" y="274464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13" name="Rectangle 82"/>
            <p:cNvSpPr/>
            <p:nvPr/>
          </p:nvSpPr>
          <p:spPr>
            <a:xfrm>
              <a:off x="578520" y="257184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30</a:t>
              </a:r>
              <a:endParaRPr b="0" lang="en-US" sz="1700" strike="noStrike" u="none">
                <a:solidFill>
                  <a:srgbClr val="ffff00"/>
                </a:solidFill>
                <a:effectLst/>
                <a:uFillTx/>
                <a:latin typeface="Times New Roman"/>
              </a:endParaRPr>
            </a:p>
          </p:txBody>
        </p:sp>
        <p:sp>
          <p:nvSpPr>
            <p:cNvPr id="1214" name="Line 83"/>
            <p:cNvSpPr/>
            <p:nvPr/>
          </p:nvSpPr>
          <p:spPr>
            <a:xfrm>
              <a:off x="939960" y="2349360"/>
              <a:ext cx="80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15" name="Rectangle 84"/>
            <p:cNvSpPr/>
            <p:nvPr/>
          </p:nvSpPr>
          <p:spPr>
            <a:xfrm>
              <a:off x="578520" y="217800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35</a:t>
              </a:r>
              <a:endParaRPr b="0" lang="en-US" sz="1700" strike="noStrike" u="none">
                <a:solidFill>
                  <a:srgbClr val="ffff00"/>
                </a:solidFill>
                <a:effectLst/>
                <a:uFillTx/>
                <a:latin typeface="Times New Roman"/>
              </a:endParaRPr>
            </a:p>
          </p:txBody>
        </p:sp>
        <p:sp>
          <p:nvSpPr>
            <p:cNvPr id="1216" name="Rectangle 85"/>
            <p:cNvSpPr/>
            <p:nvPr/>
          </p:nvSpPr>
          <p:spPr>
            <a:xfrm>
              <a:off x="3915360" y="2278080"/>
              <a:ext cx="894600" cy="35172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6 years</a:t>
              </a:r>
              <a:endParaRPr b="0" lang="en-US" sz="1700" strike="noStrike" u="none">
                <a:solidFill>
                  <a:srgbClr val="ffff00"/>
                </a:solidFill>
                <a:effectLst/>
                <a:uFillTx/>
                <a:latin typeface="Times New Roman"/>
              </a:endParaRPr>
            </a:p>
          </p:txBody>
        </p:sp>
        <p:sp>
          <p:nvSpPr>
            <p:cNvPr id="1217" name="Line 86"/>
            <p:cNvSpPr/>
            <p:nvPr/>
          </p:nvSpPr>
          <p:spPr>
            <a:xfrm>
              <a:off x="3521160" y="2441520"/>
              <a:ext cx="428400" cy="0"/>
            </a:xfrm>
            <a:prstGeom prst="line">
              <a:avLst/>
            </a:prstGeom>
            <a:ln w="12600">
              <a:solidFill>
                <a:srgbClr val="ff00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18" name="Oval 87"/>
            <p:cNvSpPr/>
            <p:nvPr/>
          </p:nvSpPr>
          <p:spPr>
            <a:xfrm>
              <a:off x="3699000" y="2401920"/>
              <a:ext cx="75960" cy="8244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219" name="Rectangle 88"/>
            <p:cNvSpPr/>
            <p:nvPr/>
          </p:nvSpPr>
          <p:spPr>
            <a:xfrm>
              <a:off x="3915360" y="2568600"/>
              <a:ext cx="894600" cy="35172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9 years</a:t>
              </a:r>
              <a:endParaRPr b="0" lang="en-US" sz="1700" strike="noStrike" u="none">
                <a:solidFill>
                  <a:srgbClr val="ffff00"/>
                </a:solidFill>
                <a:effectLst/>
                <a:uFillTx/>
                <a:latin typeface="Times New Roman"/>
              </a:endParaRPr>
            </a:p>
          </p:txBody>
        </p:sp>
        <p:sp>
          <p:nvSpPr>
            <p:cNvPr id="1220" name="Line 89"/>
            <p:cNvSpPr/>
            <p:nvPr/>
          </p:nvSpPr>
          <p:spPr>
            <a:xfrm>
              <a:off x="3521160" y="2732040"/>
              <a:ext cx="428400" cy="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21" name="Oval 90"/>
            <p:cNvSpPr/>
            <p:nvPr/>
          </p:nvSpPr>
          <p:spPr>
            <a:xfrm>
              <a:off x="3699000" y="2692440"/>
              <a:ext cx="759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22" name="Rectangle 91"/>
            <p:cNvSpPr/>
            <p:nvPr/>
          </p:nvSpPr>
          <p:spPr>
            <a:xfrm>
              <a:off x="3915360" y="2843280"/>
              <a:ext cx="1015200" cy="35172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12 years</a:t>
              </a:r>
              <a:endParaRPr b="0" lang="en-US" sz="1700" strike="noStrike" u="none">
                <a:solidFill>
                  <a:srgbClr val="ffff00"/>
                </a:solidFill>
                <a:effectLst/>
                <a:uFillTx/>
                <a:latin typeface="Times New Roman"/>
              </a:endParaRPr>
            </a:p>
          </p:txBody>
        </p:sp>
        <p:sp>
          <p:nvSpPr>
            <p:cNvPr id="1223" name="Line 92"/>
            <p:cNvSpPr/>
            <p:nvPr/>
          </p:nvSpPr>
          <p:spPr>
            <a:xfrm>
              <a:off x="3521160" y="3006720"/>
              <a:ext cx="42840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24" name="Oval 93"/>
            <p:cNvSpPr/>
            <p:nvPr/>
          </p:nvSpPr>
          <p:spPr>
            <a:xfrm>
              <a:off x="3699000" y="2967120"/>
              <a:ext cx="759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25" name="Rectangle 94"/>
            <p:cNvSpPr/>
            <p:nvPr/>
          </p:nvSpPr>
          <p:spPr>
            <a:xfrm>
              <a:off x="3915360" y="3147840"/>
              <a:ext cx="1015200" cy="35172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15 years</a:t>
              </a:r>
              <a:endParaRPr b="0" lang="en-US" sz="1700" strike="noStrike" u="none">
                <a:solidFill>
                  <a:srgbClr val="ffff00"/>
                </a:solidFill>
                <a:effectLst/>
                <a:uFillTx/>
                <a:latin typeface="Times New Roman"/>
              </a:endParaRPr>
            </a:p>
          </p:txBody>
        </p:sp>
        <p:sp>
          <p:nvSpPr>
            <p:cNvPr id="1226" name="Line 95"/>
            <p:cNvSpPr/>
            <p:nvPr/>
          </p:nvSpPr>
          <p:spPr>
            <a:xfrm>
              <a:off x="3521160" y="3311640"/>
              <a:ext cx="42840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27" name="Oval 96"/>
            <p:cNvSpPr/>
            <p:nvPr/>
          </p:nvSpPr>
          <p:spPr>
            <a:xfrm>
              <a:off x="3699000" y="3271680"/>
              <a:ext cx="759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28" name="Rectangle 97"/>
            <p:cNvSpPr/>
            <p:nvPr/>
          </p:nvSpPr>
          <p:spPr>
            <a:xfrm>
              <a:off x="1730160" y="5721480"/>
              <a:ext cx="1715400" cy="3974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ff"/>
                  </a:solidFill>
                  <a:effectLst/>
                  <a:uFillTx/>
                  <a:latin typeface="Arial"/>
                </a:rPr>
                <a:t>Velocity (°/s)</a:t>
              </a:r>
              <a:endParaRPr b="0" lang="en-US" sz="2000" strike="noStrike" u="none">
                <a:solidFill>
                  <a:srgbClr val="ffff00"/>
                </a:solidFill>
                <a:effectLst/>
                <a:uFillTx/>
                <a:latin typeface="Times New Roman"/>
              </a:endParaRPr>
            </a:p>
          </p:txBody>
        </p:sp>
        <p:sp>
          <p:nvSpPr>
            <p:cNvPr id="1229" name="Rectangle 98"/>
            <p:cNvSpPr/>
            <p:nvPr/>
          </p:nvSpPr>
          <p:spPr>
            <a:xfrm rot="16200000">
              <a:off x="-605520" y="3630600"/>
              <a:ext cx="1697760" cy="3974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ff"/>
                  </a:solidFill>
                  <a:effectLst/>
                  <a:uFillTx/>
                  <a:latin typeface="Arial"/>
                </a:rPr>
                <a:t>Torque (Nm)</a:t>
              </a:r>
              <a:endParaRPr b="0" lang="en-US" sz="2000" strike="noStrike" u="none">
                <a:solidFill>
                  <a:srgbClr val="ffff00"/>
                </a:solidFill>
                <a:effectLst/>
                <a:uFillTx/>
                <a:latin typeface="Times New Roman"/>
              </a:endParaRPr>
            </a:p>
          </p:txBody>
        </p:sp>
        <p:sp>
          <p:nvSpPr>
            <p:cNvPr id="1230" name="Rectangle 99"/>
            <p:cNvSpPr/>
            <p:nvPr/>
          </p:nvSpPr>
          <p:spPr>
            <a:xfrm>
              <a:off x="3379680" y="2295360"/>
              <a:ext cx="1506600" cy="1176480"/>
            </a:xfrm>
            <a:prstGeom prst="rect">
              <a:avLst/>
            </a:prstGeom>
            <a:noFill/>
            <a:ln w="1260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nvGrpSpPr>
          <p:cNvPr id="1231" name="Group 100"/>
          <p:cNvGrpSpPr/>
          <p:nvPr/>
        </p:nvGrpSpPr>
        <p:grpSpPr>
          <a:xfrm>
            <a:off x="4938840" y="1668600"/>
            <a:ext cx="4088520" cy="4455000"/>
            <a:chOff x="4938840" y="1668600"/>
            <a:chExt cx="4088520" cy="4455000"/>
          </a:xfrm>
        </p:grpSpPr>
        <p:grpSp>
          <p:nvGrpSpPr>
            <p:cNvPr id="1232" name="Group 101"/>
            <p:cNvGrpSpPr/>
            <p:nvPr/>
          </p:nvGrpSpPr>
          <p:grpSpPr>
            <a:xfrm>
              <a:off x="5472720" y="1668600"/>
              <a:ext cx="3554640" cy="4455000"/>
              <a:chOff x="5472720" y="1668600"/>
              <a:chExt cx="3554640" cy="4455000"/>
            </a:xfrm>
          </p:grpSpPr>
          <p:sp>
            <p:nvSpPr>
              <p:cNvPr id="1233" name="Line 102"/>
              <p:cNvSpPr/>
              <p:nvPr/>
            </p:nvSpPr>
            <p:spPr>
              <a:xfrm>
                <a:off x="6126120" y="2400480"/>
                <a:ext cx="163440" cy="4395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34" name="Line 103"/>
              <p:cNvSpPr/>
              <p:nvPr/>
            </p:nvSpPr>
            <p:spPr>
              <a:xfrm>
                <a:off x="6289560" y="2840040"/>
                <a:ext cx="165240" cy="20952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35" name="Line 104"/>
              <p:cNvSpPr/>
              <p:nvPr/>
            </p:nvSpPr>
            <p:spPr>
              <a:xfrm>
                <a:off x="6454800" y="3049560"/>
                <a:ext cx="328680" cy="1252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36" name="Line 105"/>
              <p:cNvSpPr/>
              <p:nvPr/>
            </p:nvSpPr>
            <p:spPr>
              <a:xfrm>
                <a:off x="6783480" y="3174840"/>
                <a:ext cx="657000" cy="2048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37" name="Line 106"/>
              <p:cNvSpPr/>
              <p:nvPr/>
            </p:nvSpPr>
            <p:spPr>
              <a:xfrm>
                <a:off x="7440480" y="3379680"/>
                <a:ext cx="655920" cy="3510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38" name="Line 107"/>
              <p:cNvSpPr/>
              <p:nvPr/>
            </p:nvSpPr>
            <p:spPr>
              <a:xfrm>
                <a:off x="8096400" y="3730680"/>
                <a:ext cx="657000" cy="1569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39" name="Oval 108"/>
              <p:cNvSpPr/>
              <p:nvPr/>
            </p:nvSpPr>
            <p:spPr>
              <a:xfrm>
                <a:off x="6087960" y="236052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40" name="Oval 109"/>
              <p:cNvSpPr/>
              <p:nvPr/>
            </p:nvSpPr>
            <p:spPr>
              <a:xfrm>
                <a:off x="6251400" y="2800440"/>
                <a:ext cx="7812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41" name="Oval 110"/>
              <p:cNvSpPr/>
              <p:nvPr/>
            </p:nvSpPr>
            <p:spPr>
              <a:xfrm>
                <a:off x="6416640" y="301140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42" name="Oval 111"/>
              <p:cNvSpPr/>
              <p:nvPr/>
            </p:nvSpPr>
            <p:spPr>
              <a:xfrm>
                <a:off x="6745320" y="313524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43" name="Oval 112"/>
              <p:cNvSpPr/>
              <p:nvPr/>
            </p:nvSpPr>
            <p:spPr>
              <a:xfrm>
                <a:off x="7402680" y="3341520"/>
                <a:ext cx="77760" cy="810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44" name="Oval 113"/>
              <p:cNvSpPr/>
              <p:nvPr/>
            </p:nvSpPr>
            <p:spPr>
              <a:xfrm>
                <a:off x="8059680" y="3691080"/>
                <a:ext cx="77760" cy="824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245" name="Oval 114"/>
              <p:cNvSpPr/>
              <p:nvPr/>
            </p:nvSpPr>
            <p:spPr>
              <a:xfrm>
                <a:off x="8717040" y="3849840"/>
                <a:ext cx="75960" cy="806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246" name="Line 115"/>
              <p:cNvSpPr/>
              <p:nvPr/>
            </p:nvSpPr>
            <p:spPr>
              <a:xfrm>
                <a:off x="6126120" y="3467160"/>
                <a:ext cx="163440" cy="263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47" name="Line 116"/>
              <p:cNvSpPr/>
              <p:nvPr/>
            </p:nvSpPr>
            <p:spPr>
              <a:xfrm>
                <a:off x="6289560" y="3730680"/>
                <a:ext cx="165240" cy="33120"/>
              </a:xfrm>
              <a:prstGeom prst="line">
                <a:avLst/>
              </a:prstGeom>
              <a:ln w="12600">
                <a:solidFill>
                  <a:srgbClr val="ffff00"/>
                </a:solidFill>
                <a:miter/>
              </a:ln>
            </p:spPr>
            <p:style>
              <a:lnRef idx="0"/>
              <a:fillRef idx="0"/>
              <a:effectRef idx="0"/>
              <a:fontRef idx="minor"/>
            </p:style>
            <p:txBody>
              <a:bodyPr lIns="90000" rIns="90000" tIns="-13680" bIns="-13680" anchor="ctr">
                <a:noAutofit/>
              </a:bodyPr>
              <a:p>
                <a:endParaRPr b="0" lang="en-US" sz="2400" strike="noStrike" u="none">
                  <a:solidFill>
                    <a:srgbClr val="ffff00"/>
                  </a:solidFill>
                  <a:effectLst/>
                  <a:uFillTx/>
                  <a:latin typeface="Times New Roman"/>
                </a:endParaRPr>
              </a:p>
            </p:txBody>
          </p:sp>
          <p:sp>
            <p:nvSpPr>
              <p:cNvPr id="1248" name="Line 117"/>
              <p:cNvSpPr/>
              <p:nvPr/>
            </p:nvSpPr>
            <p:spPr>
              <a:xfrm>
                <a:off x="6454800" y="3763800"/>
                <a:ext cx="328680" cy="1238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49" name="Line 118"/>
              <p:cNvSpPr/>
              <p:nvPr/>
            </p:nvSpPr>
            <p:spPr>
              <a:xfrm>
                <a:off x="6783480" y="3887640"/>
                <a:ext cx="657000" cy="954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50" name="Line 119"/>
              <p:cNvSpPr/>
              <p:nvPr/>
            </p:nvSpPr>
            <p:spPr>
              <a:xfrm>
                <a:off x="7440480" y="3983040"/>
                <a:ext cx="655920" cy="1573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51" name="Line 120"/>
              <p:cNvSpPr/>
              <p:nvPr/>
            </p:nvSpPr>
            <p:spPr>
              <a:xfrm>
                <a:off x="8096400" y="4140360"/>
                <a:ext cx="657000" cy="1648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52" name="Oval 121"/>
              <p:cNvSpPr/>
              <p:nvPr/>
            </p:nvSpPr>
            <p:spPr>
              <a:xfrm>
                <a:off x="6087960" y="3427560"/>
                <a:ext cx="77760" cy="806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253" name="Oval 122"/>
              <p:cNvSpPr/>
              <p:nvPr/>
            </p:nvSpPr>
            <p:spPr>
              <a:xfrm>
                <a:off x="6251400" y="3691080"/>
                <a:ext cx="78120" cy="824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254" name="Oval 123"/>
              <p:cNvSpPr/>
              <p:nvPr/>
            </p:nvSpPr>
            <p:spPr>
              <a:xfrm>
                <a:off x="6416640" y="3724200"/>
                <a:ext cx="777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55" name="Oval 124"/>
              <p:cNvSpPr/>
              <p:nvPr/>
            </p:nvSpPr>
            <p:spPr>
              <a:xfrm>
                <a:off x="6745320" y="3849840"/>
                <a:ext cx="77760" cy="806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256" name="Oval 125"/>
              <p:cNvSpPr/>
              <p:nvPr/>
            </p:nvSpPr>
            <p:spPr>
              <a:xfrm>
                <a:off x="7402680" y="3943440"/>
                <a:ext cx="777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57" name="Oval 126"/>
              <p:cNvSpPr/>
              <p:nvPr/>
            </p:nvSpPr>
            <p:spPr>
              <a:xfrm>
                <a:off x="8059680" y="4100400"/>
                <a:ext cx="777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58" name="Oval 127"/>
              <p:cNvSpPr/>
              <p:nvPr/>
            </p:nvSpPr>
            <p:spPr>
              <a:xfrm>
                <a:off x="8717040" y="4265640"/>
                <a:ext cx="75960" cy="810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59" name="Line 128"/>
              <p:cNvSpPr/>
              <p:nvPr/>
            </p:nvSpPr>
            <p:spPr>
              <a:xfrm>
                <a:off x="6126120" y="4084560"/>
                <a:ext cx="163440" cy="17964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60" name="Line 129"/>
              <p:cNvSpPr/>
              <p:nvPr/>
            </p:nvSpPr>
            <p:spPr>
              <a:xfrm>
                <a:off x="6289560" y="4264200"/>
                <a:ext cx="165240" cy="48960"/>
              </a:xfrm>
              <a:prstGeom prst="line">
                <a:avLst/>
              </a:prstGeom>
              <a:ln w="12600">
                <a:solidFill>
                  <a:srgbClr val="00ff00"/>
                </a:solidFill>
                <a:miter/>
              </a:ln>
            </p:spPr>
            <p:style>
              <a:lnRef idx="0"/>
              <a:fillRef idx="0"/>
              <a:effectRef idx="0"/>
              <a:fontRef idx="minor"/>
            </p:style>
            <p:txBody>
              <a:bodyPr lIns="90000" rIns="90000" tIns="2160" bIns="2160" anchor="ctr">
                <a:noAutofit/>
              </a:bodyPr>
              <a:p>
                <a:endParaRPr b="0" lang="en-US" sz="2400" strike="noStrike" u="none">
                  <a:solidFill>
                    <a:srgbClr val="ffff00"/>
                  </a:solidFill>
                  <a:effectLst/>
                  <a:uFillTx/>
                  <a:latin typeface="Times New Roman"/>
                </a:endParaRPr>
              </a:p>
            </p:txBody>
          </p:sp>
          <p:sp>
            <p:nvSpPr>
              <p:cNvPr id="1261" name="Line 130"/>
              <p:cNvSpPr/>
              <p:nvPr/>
            </p:nvSpPr>
            <p:spPr>
              <a:xfrm>
                <a:off x="6454800" y="4313160"/>
                <a:ext cx="328680" cy="38160"/>
              </a:xfrm>
              <a:prstGeom prst="line">
                <a:avLst/>
              </a:prstGeom>
              <a:ln w="12600">
                <a:solidFill>
                  <a:srgbClr val="00ff00"/>
                </a:solidFill>
                <a:miter/>
              </a:ln>
            </p:spPr>
            <p:style>
              <a:lnRef idx="0"/>
              <a:fillRef idx="0"/>
              <a:effectRef idx="0"/>
              <a:fontRef idx="minor"/>
            </p:style>
            <p:txBody>
              <a:bodyPr lIns="90000" rIns="90000" tIns="-8640" bIns="-8640" anchor="ctr">
                <a:noAutofit/>
              </a:bodyPr>
              <a:p>
                <a:endParaRPr b="0" lang="en-US" sz="2400" strike="noStrike" u="none">
                  <a:solidFill>
                    <a:srgbClr val="ffff00"/>
                  </a:solidFill>
                  <a:effectLst/>
                  <a:uFillTx/>
                  <a:latin typeface="Times New Roman"/>
                </a:endParaRPr>
              </a:p>
            </p:txBody>
          </p:sp>
          <p:sp>
            <p:nvSpPr>
              <p:cNvPr id="1262" name="Line 131"/>
              <p:cNvSpPr/>
              <p:nvPr/>
            </p:nvSpPr>
            <p:spPr>
              <a:xfrm>
                <a:off x="6783480" y="4351320"/>
                <a:ext cx="657000" cy="39600"/>
              </a:xfrm>
              <a:prstGeom prst="line">
                <a:avLst/>
              </a:prstGeom>
              <a:ln w="12600">
                <a:solidFill>
                  <a:srgbClr val="00ff00"/>
                </a:solidFill>
                <a:miter/>
              </a:ln>
            </p:spPr>
            <p:style>
              <a:lnRef idx="0"/>
              <a:fillRef idx="0"/>
              <a:effectRef idx="0"/>
              <a:fontRef idx="minor"/>
            </p:style>
            <p:txBody>
              <a:bodyPr lIns="90000" rIns="90000" tIns="-7200" bIns="-7200" anchor="ctr">
                <a:noAutofit/>
              </a:bodyPr>
              <a:p>
                <a:endParaRPr b="0" lang="en-US" sz="2400" strike="noStrike" u="none">
                  <a:solidFill>
                    <a:srgbClr val="ffff00"/>
                  </a:solidFill>
                  <a:effectLst/>
                  <a:uFillTx/>
                  <a:latin typeface="Times New Roman"/>
                </a:endParaRPr>
              </a:p>
            </p:txBody>
          </p:sp>
          <p:sp>
            <p:nvSpPr>
              <p:cNvPr id="1263" name="Line 132"/>
              <p:cNvSpPr/>
              <p:nvPr/>
            </p:nvSpPr>
            <p:spPr>
              <a:xfrm>
                <a:off x="7440480" y="4390920"/>
                <a:ext cx="655920" cy="125640"/>
              </a:xfrm>
              <a:prstGeom prst="line">
                <a:avLst/>
              </a:prstGeom>
              <a:ln w="12600">
                <a:solidFill>
                  <a:srgbClr val="00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64" name="Line 133"/>
              <p:cNvSpPr/>
              <p:nvPr/>
            </p:nvSpPr>
            <p:spPr>
              <a:xfrm>
                <a:off x="8096400" y="4516560"/>
                <a:ext cx="657000" cy="85680"/>
              </a:xfrm>
              <a:prstGeom prst="line">
                <a:avLst/>
              </a:prstGeom>
              <a:ln w="12600">
                <a:solidFill>
                  <a:srgbClr val="00ff00"/>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265" name="Oval 134"/>
              <p:cNvSpPr/>
              <p:nvPr/>
            </p:nvSpPr>
            <p:spPr>
              <a:xfrm>
                <a:off x="6087960" y="404496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66" name="Oval 135"/>
              <p:cNvSpPr/>
              <p:nvPr/>
            </p:nvSpPr>
            <p:spPr>
              <a:xfrm>
                <a:off x="6251400" y="4224240"/>
                <a:ext cx="78120" cy="828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267" name="Oval 136"/>
              <p:cNvSpPr/>
              <p:nvPr/>
            </p:nvSpPr>
            <p:spPr>
              <a:xfrm>
                <a:off x="6416640" y="427356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68" name="Oval 137"/>
              <p:cNvSpPr/>
              <p:nvPr/>
            </p:nvSpPr>
            <p:spPr>
              <a:xfrm>
                <a:off x="6745320" y="431172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69" name="Oval 138"/>
              <p:cNvSpPr/>
              <p:nvPr/>
            </p:nvSpPr>
            <p:spPr>
              <a:xfrm>
                <a:off x="7402680" y="4351320"/>
                <a:ext cx="77760" cy="8244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270" name="Oval 139"/>
              <p:cNvSpPr/>
              <p:nvPr/>
            </p:nvSpPr>
            <p:spPr>
              <a:xfrm>
                <a:off x="8059680" y="4476600"/>
                <a:ext cx="77760" cy="810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71" name="Oval 140"/>
              <p:cNvSpPr/>
              <p:nvPr/>
            </p:nvSpPr>
            <p:spPr>
              <a:xfrm>
                <a:off x="8717040" y="4562640"/>
                <a:ext cx="75960" cy="8064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0800" bIns="10800" anchor="ctr">
                <a:noAutofit/>
              </a:bodyPr>
              <a:p>
                <a:endParaRPr b="0" lang="en-US" sz="2400" strike="noStrike" u="none">
                  <a:solidFill>
                    <a:srgbClr val="ffff00"/>
                  </a:solidFill>
                  <a:effectLst/>
                  <a:uFillTx/>
                  <a:latin typeface="Times New Roman"/>
                </a:endParaRPr>
              </a:p>
            </p:txBody>
          </p:sp>
          <p:sp>
            <p:nvSpPr>
              <p:cNvPr id="1272" name="Line 141"/>
              <p:cNvSpPr/>
              <p:nvPr/>
            </p:nvSpPr>
            <p:spPr>
              <a:xfrm>
                <a:off x="6126120" y="4516560"/>
                <a:ext cx="163440" cy="108000"/>
              </a:xfrm>
              <a:prstGeom prst="line">
                <a:avLst/>
              </a:prstGeom>
              <a:ln w="12600">
                <a:solidFill>
                  <a:srgbClr val="ff00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73" name="Line 142"/>
              <p:cNvSpPr/>
              <p:nvPr/>
            </p:nvSpPr>
            <p:spPr>
              <a:xfrm>
                <a:off x="6289560" y="4624560"/>
                <a:ext cx="165240" cy="56880"/>
              </a:xfrm>
              <a:prstGeom prst="line">
                <a:avLst/>
              </a:prstGeom>
              <a:ln w="12600">
                <a:solidFill>
                  <a:srgbClr val="ff00ff"/>
                </a:solidFill>
                <a:miter/>
              </a:ln>
            </p:spPr>
            <p:style>
              <a:lnRef idx="0"/>
              <a:fillRef idx="0"/>
              <a:effectRef idx="0"/>
              <a:fontRef idx="minor"/>
            </p:style>
            <p:txBody>
              <a:bodyPr lIns="90000" rIns="90000" tIns="10080" bIns="10080" anchor="ctr">
                <a:noAutofit/>
              </a:bodyPr>
              <a:p>
                <a:endParaRPr b="0" lang="en-US" sz="2400" strike="noStrike" u="none">
                  <a:solidFill>
                    <a:srgbClr val="ffff00"/>
                  </a:solidFill>
                  <a:effectLst/>
                  <a:uFillTx/>
                  <a:latin typeface="Times New Roman"/>
                </a:endParaRPr>
              </a:p>
            </p:txBody>
          </p:sp>
          <p:sp>
            <p:nvSpPr>
              <p:cNvPr id="1274" name="Line 143"/>
              <p:cNvSpPr/>
              <p:nvPr/>
            </p:nvSpPr>
            <p:spPr>
              <a:xfrm>
                <a:off x="6454800" y="4681440"/>
                <a:ext cx="328680" cy="44640"/>
              </a:xfrm>
              <a:prstGeom prst="line">
                <a:avLst/>
              </a:prstGeom>
              <a:ln w="12600">
                <a:solidFill>
                  <a:srgbClr val="ff00ff"/>
                </a:solidFill>
                <a:miter/>
              </a:ln>
            </p:spPr>
            <p:style>
              <a:lnRef idx="0"/>
              <a:fillRef idx="0"/>
              <a:effectRef idx="0"/>
              <a:fontRef idx="minor"/>
            </p:style>
            <p:txBody>
              <a:bodyPr lIns="90000" rIns="90000" tIns="-2160" bIns="-2160" anchor="ctr">
                <a:noAutofit/>
              </a:bodyPr>
              <a:p>
                <a:endParaRPr b="0" lang="en-US" sz="2400" strike="noStrike" u="none">
                  <a:solidFill>
                    <a:srgbClr val="ffff00"/>
                  </a:solidFill>
                  <a:effectLst/>
                  <a:uFillTx/>
                  <a:latin typeface="Times New Roman"/>
                </a:endParaRPr>
              </a:p>
            </p:txBody>
          </p:sp>
          <p:sp>
            <p:nvSpPr>
              <p:cNvPr id="1275" name="Line 144"/>
              <p:cNvSpPr/>
              <p:nvPr/>
            </p:nvSpPr>
            <p:spPr>
              <a:xfrm>
                <a:off x="6783480" y="4726080"/>
                <a:ext cx="657000" cy="41040"/>
              </a:xfrm>
              <a:prstGeom prst="line">
                <a:avLst/>
              </a:prstGeom>
              <a:ln w="12600">
                <a:solidFill>
                  <a:srgbClr val="ff00ff"/>
                </a:solidFill>
                <a:miter/>
              </a:ln>
            </p:spPr>
            <p:style>
              <a:lnRef idx="0"/>
              <a:fillRef idx="0"/>
              <a:effectRef idx="0"/>
              <a:fontRef idx="minor"/>
            </p:style>
            <p:txBody>
              <a:bodyPr lIns="90000" rIns="90000" tIns="-5760" bIns="-5760" anchor="ctr">
                <a:noAutofit/>
              </a:bodyPr>
              <a:p>
                <a:endParaRPr b="0" lang="en-US" sz="2400" strike="noStrike" u="none">
                  <a:solidFill>
                    <a:srgbClr val="ffff00"/>
                  </a:solidFill>
                  <a:effectLst/>
                  <a:uFillTx/>
                  <a:latin typeface="Times New Roman"/>
                </a:endParaRPr>
              </a:p>
            </p:txBody>
          </p:sp>
          <p:sp>
            <p:nvSpPr>
              <p:cNvPr id="1276" name="Line 145"/>
              <p:cNvSpPr/>
              <p:nvPr/>
            </p:nvSpPr>
            <p:spPr>
              <a:xfrm>
                <a:off x="7440480" y="4767120"/>
                <a:ext cx="655920" cy="60480"/>
              </a:xfrm>
              <a:prstGeom prst="line">
                <a:avLst/>
              </a:prstGeom>
              <a:ln w="12600">
                <a:solidFill>
                  <a:srgbClr val="ff00ff"/>
                </a:solidFill>
                <a:miter/>
              </a:ln>
            </p:spPr>
            <p:style>
              <a:lnRef idx="0"/>
              <a:fillRef idx="0"/>
              <a:effectRef idx="0"/>
              <a:fontRef idx="minor"/>
            </p:style>
            <p:txBody>
              <a:bodyPr lIns="90000" rIns="90000" tIns="13680" bIns="13680" anchor="ctr">
                <a:noAutofit/>
              </a:bodyPr>
              <a:p>
                <a:endParaRPr b="0" lang="en-US" sz="2400" strike="noStrike" u="none">
                  <a:solidFill>
                    <a:srgbClr val="ffff00"/>
                  </a:solidFill>
                  <a:effectLst/>
                  <a:uFillTx/>
                  <a:latin typeface="Times New Roman"/>
                </a:endParaRPr>
              </a:p>
            </p:txBody>
          </p:sp>
          <p:sp>
            <p:nvSpPr>
              <p:cNvPr id="1277" name="Line 146"/>
              <p:cNvSpPr/>
              <p:nvPr/>
            </p:nvSpPr>
            <p:spPr>
              <a:xfrm>
                <a:off x="8096400" y="4827600"/>
                <a:ext cx="657000" cy="25560"/>
              </a:xfrm>
              <a:prstGeom prst="line">
                <a:avLst/>
              </a:prstGeom>
              <a:ln w="12600">
                <a:solidFill>
                  <a:srgbClr val="ff00ff"/>
                </a:solidFill>
                <a:miter/>
              </a:ln>
            </p:spPr>
            <p:style>
              <a:lnRef idx="0"/>
              <a:fillRef idx="0"/>
              <a:effectRef idx="0"/>
              <a:fontRef idx="minor"/>
            </p:style>
            <p:txBody>
              <a:bodyPr lIns="90000" rIns="90000" tIns="-21240" bIns="-21240" anchor="ctr">
                <a:noAutofit/>
              </a:bodyPr>
              <a:p>
                <a:endParaRPr b="0" lang="en-US" sz="2400" strike="noStrike" u="none">
                  <a:solidFill>
                    <a:srgbClr val="ffff00"/>
                  </a:solidFill>
                  <a:effectLst/>
                  <a:uFillTx/>
                  <a:latin typeface="Times New Roman"/>
                </a:endParaRPr>
              </a:p>
            </p:txBody>
          </p:sp>
          <p:sp>
            <p:nvSpPr>
              <p:cNvPr id="1278" name="Oval 147"/>
              <p:cNvSpPr/>
              <p:nvPr/>
            </p:nvSpPr>
            <p:spPr>
              <a:xfrm>
                <a:off x="6087960" y="447660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79" name="Oval 148"/>
              <p:cNvSpPr/>
              <p:nvPr/>
            </p:nvSpPr>
            <p:spPr>
              <a:xfrm>
                <a:off x="6251400" y="4586400"/>
                <a:ext cx="7812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80" name="Oval 149"/>
              <p:cNvSpPr/>
              <p:nvPr/>
            </p:nvSpPr>
            <p:spPr>
              <a:xfrm>
                <a:off x="6416640" y="464184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81" name="Oval 150"/>
              <p:cNvSpPr/>
              <p:nvPr/>
            </p:nvSpPr>
            <p:spPr>
              <a:xfrm>
                <a:off x="6745320" y="468792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82" name="Oval 151"/>
              <p:cNvSpPr/>
              <p:nvPr/>
            </p:nvSpPr>
            <p:spPr>
              <a:xfrm>
                <a:off x="7402680" y="472752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83" name="Oval 152"/>
              <p:cNvSpPr/>
              <p:nvPr/>
            </p:nvSpPr>
            <p:spPr>
              <a:xfrm>
                <a:off x="8059680" y="4789440"/>
                <a:ext cx="777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84" name="Oval 153"/>
              <p:cNvSpPr/>
              <p:nvPr/>
            </p:nvSpPr>
            <p:spPr>
              <a:xfrm>
                <a:off x="8717040" y="4815000"/>
                <a:ext cx="75960" cy="81000"/>
              </a:xfrm>
              <a:prstGeom prst="ellipse">
                <a:avLst/>
              </a:prstGeom>
              <a:solidFill>
                <a:srgbClr val="ff00ff"/>
              </a:solidFill>
              <a:ln w="12600">
                <a:solidFill>
                  <a:srgbClr val="ff00ff"/>
                </a:solidFill>
                <a:miter/>
              </a:ln>
            </p:spPr>
            <p:style>
              <a:lnRef idx="0"/>
              <a:fillRef idx="0"/>
              <a:effectRef idx="0"/>
              <a:fontRef idx="minor"/>
            </p:style>
            <p:txBody>
              <a:bodyPr wrap="none" lIns="90000" rIns="90000" tIns="10440" bIns="10440" anchor="ctr">
                <a:noAutofit/>
              </a:bodyPr>
              <a:p>
                <a:endParaRPr b="0" lang="en-US" sz="2400" strike="noStrike" u="none">
                  <a:solidFill>
                    <a:srgbClr val="ffff00"/>
                  </a:solidFill>
                  <a:effectLst/>
                  <a:uFillTx/>
                  <a:latin typeface="Times New Roman"/>
                </a:endParaRPr>
              </a:p>
            </p:txBody>
          </p:sp>
          <p:sp>
            <p:nvSpPr>
              <p:cNvPr id="1285" name="Rectangle 154"/>
              <p:cNvSpPr/>
              <p:nvPr/>
            </p:nvSpPr>
            <p:spPr>
              <a:xfrm>
                <a:off x="6974280" y="1668600"/>
                <a:ext cx="900720" cy="44280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300" strike="noStrike" u="none">
                    <a:solidFill>
                      <a:srgbClr val="66ff66"/>
                    </a:solidFill>
                    <a:effectLst/>
                    <a:uFillTx/>
                    <a:latin typeface="Arial"/>
                  </a:rPr>
                  <a:t>Boys</a:t>
                </a:r>
                <a:endParaRPr b="0" lang="en-US" sz="2300" strike="noStrike" u="none">
                  <a:solidFill>
                    <a:srgbClr val="ffff00"/>
                  </a:solidFill>
                  <a:effectLst/>
                  <a:uFillTx/>
                  <a:latin typeface="Times New Roman"/>
                </a:endParaRPr>
              </a:p>
            </p:txBody>
          </p:sp>
          <p:sp>
            <p:nvSpPr>
              <p:cNvPr id="1286" name="Line 155"/>
              <p:cNvSpPr/>
              <p:nvPr/>
            </p:nvSpPr>
            <p:spPr>
              <a:xfrm>
                <a:off x="6126120" y="5407200"/>
                <a:ext cx="26272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87" name="Line 156"/>
              <p:cNvSpPr/>
              <p:nvPr/>
            </p:nvSpPr>
            <p:spPr>
              <a:xfrm flipV="1">
                <a:off x="6126120" y="532296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288" name="Rectangle 157"/>
              <p:cNvSpPr/>
              <p:nvPr/>
            </p:nvSpPr>
            <p:spPr>
              <a:xfrm>
                <a:off x="5973480" y="5386320"/>
                <a:ext cx="3052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0</a:t>
                </a:r>
                <a:endParaRPr b="0" lang="en-US" sz="1700" strike="noStrike" u="none">
                  <a:solidFill>
                    <a:srgbClr val="ffff00"/>
                  </a:solidFill>
                  <a:effectLst/>
                  <a:uFillTx/>
                  <a:latin typeface="Times New Roman"/>
                </a:endParaRPr>
              </a:p>
            </p:txBody>
          </p:sp>
          <p:sp>
            <p:nvSpPr>
              <p:cNvPr id="1289" name="Line 158"/>
              <p:cNvSpPr/>
              <p:nvPr/>
            </p:nvSpPr>
            <p:spPr>
              <a:xfrm flipV="1">
                <a:off x="6783480" y="532296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290" name="Rectangle 159"/>
              <p:cNvSpPr/>
              <p:nvPr/>
            </p:nvSpPr>
            <p:spPr>
              <a:xfrm>
                <a:off x="6571440" y="538632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60</a:t>
                </a:r>
                <a:endParaRPr b="0" lang="en-US" sz="1700" strike="noStrike" u="none">
                  <a:solidFill>
                    <a:srgbClr val="ffff00"/>
                  </a:solidFill>
                  <a:effectLst/>
                  <a:uFillTx/>
                  <a:latin typeface="Times New Roman"/>
                </a:endParaRPr>
              </a:p>
            </p:txBody>
          </p:sp>
          <p:sp>
            <p:nvSpPr>
              <p:cNvPr id="1291" name="Line 160"/>
              <p:cNvSpPr/>
              <p:nvPr/>
            </p:nvSpPr>
            <p:spPr>
              <a:xfrm flipV="1">
                <a:off x="7440480" y="532296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292" name="Rectangle 161"/>
              <p:cNvSpPr/>
              <p:nvPr/>
            </p:nvSpPr>
            <p:spPr>
              <a:xfrm>
                <a:off x="7168320" y="5386320"/>
                <a:ext cx="54612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120</a:t>
                </a:r>
                <a:endParaRPr b="0" lang="en-US" sz="1700" strike="noStrike" u="none">
                  <a:solidFill>
                    <a:srgbClr val="ffff00"/>
                  </a:solidFill>
                  <a:effectLst/>
                  <a:uFillTx/>
                  <a:latin typeface="Times New Roman"/>
                </a:endParaRPr>
              </a:p>
            </p:txBody>
          </p:sp>
          <p:sp>
            <p:nvSpPr>
              <p:cNvPr id="1293" name="Line 162"/>
              <p:cNvSpPr/>
              <p:nvPr/>
            </p:nvSpPr>
            <p:spPr>
              <a:xfrm flipV="1">
                <a:off x="8096400" y="532296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294" name="Rectangle 163"/>
              <p:cNvSpPr/>
              <p:nvPr/>
            </p:nvSpPr>
            <p:spPr>
              <a:xfrm>
                <a:off x="7824240" y="5386320"/>
                <a:ext cx="54612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180</a:t>
                </a:r>
                <a:endParaRPr b="0" lang="en-US" sz="1700" strike="noStrike" u="none">
                  <a:solidFill>
                    <a:srgbClr val="ffff00"/>
                  </a:solidFill>
                  <a:effectLst/>
                  <a:uFillTx/>
                  <a:latin typeface="Times New Roman"/>
                </a:endParaRPr>
              </a:p>
            </p:txBody>
          </p:sp>
          <p:sp>
            <p:nvSpPr>
              <p:cNvPr id="1295" name="Line 164"/>
              <p:cNvSpPr/>
              <p:nvPr/>
            </p:nvSpPr>
            <p:spPr>
              <a:xfrm flipV="1">
                <a:off x="8753400" y="5322960"/>
                <a:ext cx="0" cy="84240"/>
              </a:xfrm>
              <a:prstGeom prst="line">
                <a:avLst/>
              </a:prstGeom>
              <a:ln w="12600">
                <a:solidFill>
                  <a:srgbClr val="ffffff"/>
                </a:solidFill>
                <a:miter/>
              </a:ln>
            </p:spPr>
            <p:style>
              <a:lnRef idx="0"/>
              <a:fillRef idx="0"/>
              <a:effectRef idx="0"/>
              <a:fontRef idx="minor"/>
            </p:style>
            <p:txBody>
              <a:bodyPr lIns="90000" rIns="90000" tIns="37440" bIns="37440" anchor="ctr">
                <a:noAutofit/>
              </a:bodyPr>
              <a:p>
                <a:endParaRPr b="0" lang="en-US" sz="2400" strike="noStrike" u="none">
                  <a:solidFill>
                    <a:srgbClr val="ffff00"/>
                  </a:solidFill>
                  <a:effectLst/>
                  <a:uFillTx/>
                  <a:latin typeface="Times New Roman"/>
                </a:endParaRPr>
              </a:p>
            </p:txBody>
          </p:sp>
          <p:sp>
            <p:nvSpPr>
              <p:cNvPr id="1296" name="Rectangle 165"/>
              <p:cNvSpPr/>
              <p:nvPr/>
            </p:nvSpPr>
            <p:spPr>
              <a:xfrm>
                <a:off x="8481240" y="5386320"/>
                <a:ext cx="54612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240</a:t>
                </a:r>
                <a:endParaRPr b="0" lang="en-US" sz="1700" strike="noStrike" u="none">
                  <a:solidFill>
                    <a:srgbClr val="ffff00"/>
                  </a:solidFill>
                  <a:effectLst/>
                  <a:uFillTx/>
                  <a:latin typeface="Times New Roman"/>
                </a:endParaRPr>
              </a:p>
            </p:txBody>
          </p:sp>
          <p:sp>
            <p:nvSpPr>
              <p:cNvPr id="1297" name="Line 166"/>
              <p:cNvSpPr/>
              <p:nvPr/>
            </p:nvSpPr>
            <p:spPr>
              <a:xfrm flipV="1">
                <a:off x="5834160" y="2359080"/>
                <a:ext cx="0" cy="274320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98" name="Line 167"/>
              <p:cNvSpPr/>
              <p:nvPr/>
            </p:nvSpPr>
            <p:spPr>
              <a:xfrm>
                <a:off x="5834160" y="510228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299" name="Rectangle 168"/>
              <p:cNvSpPr/>
              <p:nvPr/>
            </p:nvSpPr>
            <p:spPr>
              <a:xfrm>
                <a:off x="5592600" y="4929120"/>
                <a:ext cx="3052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0</a:t>
                </a:r>
                <a:endParaRPr b="0" lang="en-US" sz="1700" strike="noStrike" u="none">
                  <a:solidFill>
                    <a:srgbClr val="ffff00"/>
                  </a:solidFill>
                  <a:effectLst/>
                  <a:uFillTx/>
                  <a:latin typeface="Times New Roman"/>
                </a:endParaRPr>
              </a:p>
            </p:txBody>
          </p:sp>
          <p:sp>
            <p:nvSpPr>
              <p:cNvPr id="1300" name="Line 169"/>
              <p:cNvSpPr/>
              <p:nvPr/>
            </p:nvSpPr>
            <p:spPr>
              <a:xfrm>
                <a:off x="5834160" y="471168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01" name="Rectangle 170"/>
              <p:cNvSpPr/>
              <p:nvPr/>
            </p:nvSpPr>
            <p:spPr>
              <a:xfrm>
                <a:off x="5592600" y="4538520"/>
                <a:ext cx="3052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5</a:t>
                </a:r>
                <a:endParaRPr b="0" lang="en-US" sz="1700" strike="noStrike" u="none">
                  <a:solidFill>
                    <a:srgbClr val="ffff00"/>
                  </a:solidFill>
                  <a:effectLst/>
                  <a:uFillTx/>
                  <a:latin typeface="Times New Roman"/>
                </a:endParaRPr>
              </a:p>
            </p:txBody>
          </p:sp>
          <p:sp>
            <p:nvSpPr>
              <p:cNvPr id="1302" name="Line 171"/>
              <p:cNvSpPr/>
              <p:nvPr/>
            </p:nvSpPr>
            <p:spPr>
              <a:xfrm>
                <a:off x="5834160" y="431964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03" name="Rectangle 172"/>
              <p:cNvSpPr/>
              <p:nvPr/>
            </p:nvSpPr>
            <p:spPr>
              <a:xfrm>
                <a:off x="5472720" y="414828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10</a:t>
                </a:r>
                <a:endParaRPr b="0" lang="en-US" sz="1700" strike="noStrike" u="none">
                  <a:solidFill>
                    <a:srgbClr val="ffff00"/>
                  </a:solidFill>
                  <a:effectLst/>
                  <a:uFillTx/>
                  <a:latin typeface="Times New Roman"/>
                </a:endParaRPr>
              </a:p>
            </p:txBody>
          </p:sp>
          <p:sp>
            <p:nvSpPr>
              <p:cNvPr id="1304" name="Line 173"/>
              <p:cNvSpPr/>
              <p:nvPr/>
            </p:nvSpPr>
            <p:spPr>
              <a:xfrm>
                <a:off x="5834160" y="392904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05" name="Rectangle 174"/>
              <p:cNvSpPr/>
              <p:nvPr/>
            </p:nvSpPr>
            <p:spPr>
              <a:xfrm>
                <a:off x="5472720" y="375588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15</a:t>
                </a:r>
                <a:endParaRPr b="0" lang="en-US" sz="1700" strike="noStrike" u="none">
                  <a:solidFill>
                    <a:srgbClr val="ffff00"/>
                  </a:solidFill>
                  <a:effectLst/>
                  <a:uFillTx/>
                  <a:latin typeface="Times New Roman"/>
                </a:endParaRPr>
              </a:p>
            </p:txBody>
          </p:sp>
          <p:sp>
            <p:nvSpPr>
              <p:cNvPr id="1306" name="Line 175"/>
              <p:cNvSpPr/>
              <p:nvPr/>
            </p:nvSpPr>
            <p:spPr>
              <a:xfrm>
                <a:off x="5834160" y="353520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07" name="Rectangle 176"/>
              <p:cNvSpPr/>
              <p:nvPr/>
            </p:nvSpPr>
            <p:spPr>
              <a:xfrm>
                <a:off x="5472720" y="336240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20</a:t>
                </a:r>
                <a:endParaRPr b="0" lang="en-US" sz="1700" strike="noStrike" u="none">
                  <a:solidFill>
                    <a:srgbClr val="ffff00"/>
                  </a:solidFill>
                  <a:effectLst/>
                  <a:uFillTx/>
                  <a:latin typeface="Times New Roman"/>
                </a:endParaRPr>
              </a:p>
            </p:txBody>
          </p:sp>
          <p:sp>
            <p:nvSpPr>
              <p:cNvPr id="1308" name="Line 177"/>
              <p:cNvSpPr/>
              <p:nvPr/>
            </p:nvSpPr>
            <p:spPr>
              <a:xfrm>
                <a:off x="5834160" y="314496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09" name="Rectangle 178"/>
              <p:cNvSpPr/>
              <p:nvPr/>
            </p:nvSpPr>
            <p:spPr>
              <a:xfrm>
                <a:off x="5472720" y="297180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25</a:t>
                </a:r>
                <a:endParaRPr b="0" lang="en-US" sz="1700" strike="noStrike" u="none">
                  <a:solidFill>
                    <a:srgbClr val="ffff00"/>
                  </a:solidFill>
                  <a:effectLst/>
                  <a:uFillTx/>
                  <a:latin typeface="Times New Roman"/>
                </a:endParaRPr>
              </a:p>
            </p:txBody>
          </p:sp>
          <p:sp>
            <p:nvSpPr>
              <p:cNvPr id="1310" name="Line 179"/>
              <p:cNvSpPr/>
              <p:nvPr/>
            </p:nvSpPr>
            <p:spPr>
              <a:xfrm>
                <a:off x="5834160" y="275256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11" name="Rectangle 180"/>
              <p:cNvSpPr/>
              <p:nvPr/>
            </p:nvSpPr>
            <p:spPr>
              <a:xfrm>
                <a:off x="5472720" y="2581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30</a:t>
                </a:r>
                <a:endParaRPr b="0" lang="en-US" sz="1700" strike="noStrike" u="none">
                  <a:solidFill>
                    <a:srgbClr val="ffff00"/>
                  </a:solidFill>
                  <a:effectLst/>
                  <a:uFillTx/>
                  <a:latin typeface="Times New Roman"/>
                </a:endParaRPr>
              </a:p>
            </p:txBody>
          </p:sp>
          <p:sp>
            <p:nvSpPr>
              <p:cNvPr id="1312" name="Line 181"/>
              <p:cNvSpPr/>
              <p:nvPr/>
            </p:nvSpPr>
            <p:spPr>
              <a:xfrm>
                <a:off x="5834160" y="2359080"/>
                <a:ext cx="810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13" name="Rectangle 182"/>
              <p:cNvSpPr/>
              <p:nvPr/>
            </p:nvSpPr>
            <p:spPr>
              <a:xfrm>
                <a:off x="5472720" y="218772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35</a:t>
                </a:r>
                <a:endParaRPr b="0" lang="en-US" sz="1700" strike="noStrike" u="none">
                  <a:solidFill>
                    <a:srgbClr val="ffff00"/>
                  </a:solidFill>
                  <a:effectLst/>
                  <a:uFillTx/>
                  <a:latin typeface="Times New Roman"/>
                </a:endParaRPr>
              </a:p>
            </p:txBody>
          </p:sp>
          <p:sp>
            <p:nvSpPr>
              <p:cNvPr id="1314" name="Rectangle 183"/>
              <p:cNvSpPr/>
              <p:nvPr/>
            </p:nvSpPr>
            <p:spPr>
              <a:xfrm>
                <a:off x="6624360" y="5726160"/>
                <a:ext cx="1715400" cy="3974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ff"/>
                    </a:solidFill>
                    <a:effectLst/>
                    <a:uFillTx/>
                    <a:latin typeface="Arial"/>
                  </a:rPr>
                  <a:t>Velocity (°/s)</a:t>
                </a:r>
                <a:endParaRPr b="0" lang="en-US" sz="2000" strike="noStrike" u="none">
                  <a:solidFill>
                    <a:srgbClr val="ffff00"/>
                  </a:solidFill>
                  <a:effectLst/>
                  <a:uFillTx/>
                  <a:latin typeface="Times New Roman"/>
                </a:endParaRPr>
              </a:p>
            </p:txBody>
          </p:sp>
        </p:grpSp>
        <p:sp>
          <p:nvSpPr>
            <p:cNvPr id="1315" name="Rectangle 184"/>
            <p:cNvSpPr/>
            <p:nvPr/>
          </p:nvSpPr>
          <p:spPr>
            <a:xfrm rot="16200000">
              <a:off x="4288680" y="3638520"/>
              <a:ext cx="1697760" cy="3974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ff"/>
                  </a:solidFill>
                  <a:effectLst/>
                  <a:uFillTx/>
                  <a:latin typeface="Arial"/>
                </a:rPr>
                <a:t>Torque (Nm)</a:t>
              </a:r>
              <a:endParaRPr b="0" lang="en-US" sz="2000" strike="noStrike" u="none">
                <a:solidFill>
                  <a:srgbClr val="ffff00"/>
                </a:solidFill>
                <a:effectLst/>
                <a:uFillTx/>
                <a:latin typeface="Times New Roman"/>
              </a:endParaRPr>
            </a:p>
          </p:txBody>
        </p:sp>
      </p:grpSp>
      <p:sp>
        <p:nvSpPr>
          <p:cNvPr id="1316" name="Rectangle 185"/>
          <p:cNvSpPr/>
          <p:nvPr/>
        </p:nvSpPr>
        <p:spPr>
          <a:xfrm>
            <a:off x="4856760" y="6278400"/>
            <a:ext cx="390312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66ff66"/>
                </a:solidFill>
                <a:effectLst/>
                <a:uFillTx/>
                <a:latin typeface="Times New Roman"/>
              </a:rPr>
              <a:t>D’après Backman et Oberg (1989)</a:t>
            </a:r>
            <a:endParaRPr b="0" lang="en-US" sz="2000" strike="noStrike" u="none">
              <a:solidFill>
                <a:srgbClr val="ffff00"/>
              </a:solidFill>
              <a:effectLst/>
              <a:uFillTx/>
              <a:latin typeface="Times New Roman"/>
            </a:endParaRPr>
          </a:p>
        </p:txBody>
      </p:sp>
    </p:spTree>
  </p:cSld>
  <p:transition spd="med">
    <p:zoom dir="out"/>
  </p:transition>
  <p:timing>
    <p:tnLst>
      <p:par>
        <p:cTn id="1555" dur="indefinite" restart="never" nodeType="tmRoot">
          <p:childTnLst>
            <p:seq>
              <p:cTn id="1556" dur="indefinite" nodeType="mainSeq">
                <p:childTnLst>
                  <p:par>
                    <p:cTn id="1557" nodeType="clickEffect" fill="hold">
                      <p:stCondLst>
                        <p:cond delay="indefinite"/>
                      </p:stCondLst>
                      <p:childTnLst>
                        <p:par>
                          <p:cTn id="1558" nodeType="withEffect" fill="hold">
                            <p:stCondLst>
                              <p:cond delay="0"/>
                            </p:stCondLst>
                            <p:childTnLst>
                              <p:par>
                                <p:cTn id="1559" nodeType="clickEffect" fill="hold" presetClass="entr" presetID="1">
                                  <p:stCondLst>
                                    <p:cond delay="0"/>
                                  </p:stCondLst>
                                  <p:childTnLst>
                                    <p:set>
                                      <p:cBhvr>
                                        <p:cTn id="1560" dur="1" fill="hold">
                                          <p:stCondLst>
                                            <p:cond delay="499"/>
                                          </p:stCondLst>
                                        </p:cTn>
                                        <p:tgtEl>
                                          <p:spTgt spid="1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7" name="PlaceHolder 1"/>
          <p:cNvSpPr>
            <a:spLocks noGrp="1"/>
          </p:cNvSpPr>
          <p:nvPr>
            <p:ph type="title"/>
          </p:nvPr>
        </p:nvSpPr>
        <p:spPr>
          <a:xfrm>
            <a:off x="685800" y="609120"/>
            <a:ext cx="7772400" cy="986040"/>
          </a:xfrm>
          <a:prstGeom prst="rect">
            <a:avLst/>
          </a:prstGeom>
          <a:noFill/>
          <a:ln w="0">
            <a:noFill/>
          </a:ln>
        </p:spPr>
        <p:txBody>
          <a:bodyPr lIns="92160" rIns="92160" tIns="46080" bIns="4608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Times New Roman"/>
              </a:rPr>
              <a:t>Détente verticale </a:t>
            </a:r>
            <a:endParaRPr b="0" lang="en-US" sz="4400" strike="noStrike" u="none">
              <a:solidFill>
                <a:srgbClr val="ffffff"/>
              </a:solidFill>
              <a:effectLst/>
              <a:uFillTx/>
              <a:latin typeface="Times New Roman"/>
            </a:endParaRPr>
          </a:p>
        </p:txBody>
      </p:sp>
      <p:sp>
        <p:nvSpPr>
          <p:cNvPr id="1318" name="Rectangle 3"/>
          <p:cNvSpPr/>
          <p:nvPr/>
        </p:nvSpPr>
        <p:spPr>
          <a:xfrm>
            <a:off x="5466960" y="6278400"/>
            <a:ext cx="307584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66ff66"/>
                </a:solidFill>
                <a:effectLst/>
                <a:uFillTx/>
                <a:latin typeface="Times New Roman"/>
              </a:rPr>
              <a:t>D’après Bosco et al. (1991)</a:t>
            </a:r>
            <a:endParaRPr b="0" lang="en-US" sz="2000" strike="noStrike" u="none">
              <a:solidFill>
                <a:srgbClr val="ffff00"/>
              </a:solidFill>
              <a:effectLst/>
              <a:uFillTx/>
              <a:latin typeface="Times New Roman"/>
            </a:endParaRPr>
          </a:p>
        </p:txBody>
      </p:sp>
      <p:sp>
        <p:nvSpPr>
          <p:cNvPr id="1319" name="Freeform 4"/>
          <p:cNvSpPr/>
          <p:nvPr/>
        </p:nvSpPr>
        <p:spPr>
          <a:xfrm>
            <a:off x="2254320" y="3726000"/>
            <a:ext cx="95040" cy="144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20" name="Line 5"/>
          <p:cNvSpPr/>
          <p:nvPr/>
        </p:nvSpPr>
        <p:spPr>
          <a:xfrm>
            <a:off x="2301840" y="3726000"/>
            <a:ext cx="0" cy="3920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21" name="Line 6"/>
          <p:cNvSpPr/>
          <p:nvPr/>
        </p:nvSpPr>
        <p:spPr>
          <a:xfrm flipV="1">
            <a:off x="2301840" y="4019400"/>
            <a:ext cx="390600" cy="986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22" name="Freeform 7"/>
          <p:cNvSpPr/>
          <p:nvPr/>
        </p:nvSpPr>
        <p:spPr>
          <a:xfrm>
            <a:off x="2644920" y="3726000"/>
            <a:ext cx="95040" cy="144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23" name="Line 8"/>
          <p:cNvSpPr/>
          <p:nvPr/>
        </p:nvSpPr>
        <p:spPr>
          <a:xfrm>
            <a:off x="2692440" y="3726000"/>
            <a:ext cx="0" cy="2934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24" name="Line 9"/>
          <p:cNvSpPr/>
          <p:nvPr/>
        </p:nvSpPr>
        <p:spPr>
          <a:xfrm flipV="1">
            <a:off x="2692440" y="3970440"/>
            <a:ext cx="387360" cy="48960"/>
          </a:xfrm>
          <a:prstGeom prst="line">
            <a:avLst/>
          </a:prstGeom>
          <a:ln w="12600">
            <a:solidFill>
              <a:srgbClr val="ff0000"/>
            </a:solidFill>
            <a:miter/>
          </a:ln>
        </p:spPr>
        <p:style>
          <a:lnRef idx="0"/>
          <a:fillRef idx="0"/>
          <a:effectRef idx="0"/>
          <a:fontRef idx="minor"/>
        </p:style>
        <p:txBody>
          <a:bodyPr lIns="90000" rIns="90000" tIns="2160" bIns="2160" anchor="ctr">
            <a:noAutofit/>
          </a:bodyPr>
          <a:p>
            <a:endParaRPr b="0" lang="en-US" sz="2400" strike="noStrike" u="none">
              <a:solidFill>
                <a:srgbClr val="ffff00"/>
              </a:solidFill>
              <a:effectLst/>
              <a:uFillTx/>
              <a:latin typeface="Times New Roman"/>
            </a:endParaRPr>
          </a:p>
        </p:txBody>
      </p:sp>
      <p:sp>
        <p:nvSpPr>
          <p:cNvPr id="1325" name="Freeform 10"/>
          <p:cNvSpPr/>
          <p:nvPr/>
        </p:nvSpPr>
        <p:spPr>
          <a:xfrm>
            <a:off x="3033720" y="3774960"/>
            <a:ext cx="95400" cy="180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26" name="Line 11"/>
          <p:cNvSpPr/>
          <p:nvPr/>
        </p:nvSpPr>
        <p:spPr>
          <a:xfrm>
            <a:off x="3079800" y="3774960"/>
            <a:ext cx="0" cy="1954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27" name="Line 12"/>
          <p:cNvSpPr/>
          <p:nvPr/>
        </p:nvSpPr>
        <p:spPr>
          <a:xfrm flipV="1">
            <a:off x="3079800" y="3920760"/>
            <a:ext cx="393480" cy="49320"/>
          </a:xfrm>
          <a:prstGeom prst="line">
            <a:avLst/>
          </a:prstGeom>
          <a:ln w="12600">
            <a:solidFill>
              <a:srgbClr val="ff0000"/>
            </a:solidFill>
            <a:miter/>
          </a:ln>
        </p:spPr>
        <p:style>
          <a:lnRef idx="0"/>
          <a:fillRef idx="0"/>
          <a:effectRef idx="0"/>
          <a:fontRef idx="minor"/>
        </p:style>
        <p:txBody>
          <a:bodyPr lIns="90000" rIns="90000" tIns="2520" bIns="2520" anchor="ctr">
            <a:noAutofit/>
          </a:bodyPr>
          <a:p>
            <a:endParaRPr b="0" lang="en-US" sz="2400" strike="noStrike" u="none">
              <a:solidFill>
                <a:srgbClr val="ffff00"/>
              </a:solidFill>
              <a:effectLst/>
              <a:uFillTx/>
              <a:latin typeface="Times New Roman"/>
            </a:endParaRPr>
          </a:p>
        </p:txBody>
      </p:sp>
      <p:sp>
        <p:nvSpPr>
          <p:cNvPr id="1328" name="Freeform 13"/>
          <p:cNvSpPr/>
          <p:nvPr/>
        </p:nvSpPr>
        <p:spPr>
          <a:xfrm>
            <a:off x="3425760" y="3629160"/>
            <a:ext cx="96840" cy="144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29" name="Line 14"/>
          <p:cNvSpPr/>
          <p:nvPr/>
        </p:nvSpPr>
        <p:spPr>
          <a:xfrm>
            <a:off x="3473280" y="3629160"/>
            <a:ext cx="0" cy="2919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30" name="Line 15"/>
          <p:cNvSpPr/>
          <p:nvPr/>
        </p:nvSpPr>
        <p:spPr>
          <a:xfrm flipV="1">
            <a:off x="3473280" y="3873600"/>
            <a:ext cx="390600" cy="47520"/>
          </a:xfrm>
          <a:prstGeom prst="line">
            <a:avLst/>
          </a:prstGeom>
          <a:ln w="12600">
            <a:solidFill>
              <a:srgbClr val="ff0000"/>
            </a:solidFill>
            <a:miter/>
          </a:ln>
        </p:spPr>
        <p:style>
          <a:lnRef idx="0"/>
          <a:fillRef idx="0"/>
          <a:effectRef idx="0"/>
          <a:fontRef idx="minor"/>
        </p:style>
        <p:txBody>
          <a:bodyPr lIns="90000" rIns="90000" tIns="720" bIns="720" anchor="ctr">
            <a:noAutofit/>
          </a:bodyPr>
          <a:p>
            <a:endParaRPr b="0" lang="en-US" sz="2400" strike="noStrike" u="none">
              <a:solidFill>
                <a:srgbClr val="ffff00"/>
              </a:solidFill>
              <a:effectLst/>
              <a:uFillTx/>
              <a:latin typeface="Times New Roman"/>
            </a:endParaRPr>
          </a:p>
        </p:txBody>
      </p:sp>
      <p:sp>
        <p:nvSpPr>
          <p:cNvPr id="1331" name="Freeform 16"/>
          <p:cNvSpPr/>
          <p:nvPr/>
        </p:nvSpPr>
        <p:spPr>
          <a:xfrm>
            <a:off x="3817800" y="3579840"/>
            <a:ext cx="95400" cy="144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32" name="Line 17"/>
          <p:cNvSpPr/>
          <p:nvPr/>
        </p:nvSpPr>
        <p:spPr>
          <a:xfrm>
            <a:off x="3863880" y="3579840"/>
            <a:ext cx="0" cy="2937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33" name="Line 18"/>
          <p:cNvSpPr/>
          <p:nvPr/>
        </p:nvSpPr>
        <p:spPr>
          <a:xfrm flipV="1">
            <a:off x="3863880" y="3823920"/>
            <a:ext cx="387360" cy="49320"/>
          </a:xfrm>
          <a:prstGeom prst="line">
            <a:avLst/>
          </a:prstGeom>
          <a:ln w="12600">
            <a:solidFill>
              <a:srgbClr val="ff0000"/>
            </a:solidFill>
            <a:miter/>
          </a:ln>
        </p:spPr>
        <p:style>
          <a:lnRef idx="0"/>
          <a:fillRef idx="0"/>
          <a:effectRef idx="0"/>
          <a:fontRef idx="minor"/>
        </p:style>
        <p:txBody>
          <a:bodyPr lIns="90000" rIns="90000" tIns="2520" bIns="2520" anchor="ctr">
            <a:noAutofit/>
          </a:bodyPr>
          <a:p>
            <a:endParaRPr b="0" lang="en-US" sz="2400" strike="noStrike" u="none">
              <a:solidFill>
                <a:srgbClr val="ffff00"/>
              </a:solidFill>
              <a:effectLst/>
              <a:uFillTx/>
              <a:latin typeface="Times New Roman"/>
            </a:endParaRPr>
          </a:p>
        </p:txBody>
      </p:sp>
      <p:sp>
        <p:nvSpPr>
          <p:cNvPr id="1334" name="Freeform 19"/>
          <p:cNvSpPr/>
          <p:nvPr/>
        </p:nvSpPr>
        <p:spPr>
          <a:xfrm>
            <a:off x="4205160" y="3433680"/>
            <a:ext cx="95400" cy="180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35" name="Line 20"/>
          <p:cNvSpPr/>
          <p:nvPr/>
        </p:nvSpPr>
        <p:spPr>
          <a:xfrm>
            <a:off x="4251240" y="3433680"/>
            <a:ext cx="0" cy="3906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36" name="Line 21"/>
          <p:cNvSpPr/>
          <p:nvPr/>
        </p:nvSpPr>
        <p:spPr>
          <a:xfrm flipV="1">
            <a:off x="4251240" y="3629160"/>
            <a:ext cx="393840" cy="19512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37" name="Freeform 22"/>
          <p:cNvSpPr/>
          <p:nvPr/>
        </p:nvSpPr>
        <p:spPr>
          <a:xfrm>
            <a:off x="4599000" y="3139920"/>
            <a:ext cx="95400" cy="180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38" name="Line 23"/>
          <p:cNvSpPr/>
          <p:nvPr/>
        </p:nvSpPr>
        <p:spPr>
          <a:xfrm>
            <a:off x="4645080" y="3139920"/>
            <a:ext cx="0" cy="4892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39" name="Line 24"/>
          <p:cNvSpPr/>
          <p:nvPr/>
        </p:nvSpPr>
        <p:spPr>
          <a:xfrm flipV="1">
            <a:off x="4645080" y="3433320"/>
            <a:ext cx="390600" cy="1954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0" name="Freeform 25"/>
          <p:cNvSpPr/>
          <p:nvPr/>
        </p:nvSpPr>
        <p:spPr>
          <a:xfrm>
            <a:off x="4989600" y="2898720"/>
            <a:ext cx="95040" cy="180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41" name="Line 26"/>
          <p:cNvSpPr/>
          <p:nvPr/>
        </p:nvSpPr>
        <p:spPr>
          <a:xfrm>
            <a:off x="5035680" y="2898720"/>
            <a:ext cx="0" cy="5349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2" name="Line 27"/>
          <p:cNvSpPr/>
          <p:nvPr/>
        </p:nvSpPr>
        <p:spPr>
          <a:xfrm flipV="1">
            <a:off x="5035680" y="3238560"/>
            <a:ext cx="390240" cy="19512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3" name="Freeform 28"/>
          <p:cNvSpPr/>
          <p:nvPr/>
        </p:nvSpPr>
        <p:spPr>
          <a:xfrm>
            <a:off x="5380200" y="2556000"/>
            <a:ext cx="95040" cy="144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44" name="Line 29"/>
          <p:cNvSpPr/>
          <p:nvPr/>
        </p:nvSpPr>
        <p:spPr>
          <a:xfrm>
            <a:off x="5425920" y="2556000"/>
            <a:ext cx="0" cy="6825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5" name="Line 30"/>
          <p:cNvSpPr/>
          <p:nvPr/>
        </p:nvSpPr>
        <p:spPr>
          <a:xfrm flipV="1">
            <a:off x="5425920" y="2993760"/>
            <a:ext cx="390600" cy="2444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6" name="Freeform 31"/>
          <p:cNvSpPr/>
          <p:nvPr/>
        </p:nvSpPr>
        <p:spPr>
          <a:xfrm>
            <a:off x="5770440" y="2508120"/>
            <a:ext cx="95400" cy="180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47" name="Line 32"/>
          <p:cNvSpPr/>
          <p:nvPr/>
        </p:nvSpPr>
        <p:spPr>
          <a:xfrm>
            <a:off x="5816520" y="2508120"/>
            <a:ext cx="0" cy="4860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8" name="Line 33"/>
          <p:cNvSpPr/>
          <p:nvPr/>
        </p:nvSpPr>
        <p:spPr>
          <a:xfrm flipV="1">
            <a:off x="5816520" y="2752200"/>
            <a:ext cx="390600" cy="2415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49" name="Freeform 34"/>
          <p:cNvSpPr/>
          <p:nvPr/>
        </p:nvSpPr>
        <p:spPr>
          <a:xfrm>
            <a:off x="6161040" y="2313000"/>
            <a:ext cx="95400" cy="1440"/>
          </a:xfrm>
          <a:custGeom>
            <a:avLst/>
            <a:gdLst>
              <a:gd name="GluePoint1X" fmla="*/ 0 w 60"/>
              <a:gd name="GluePoint1Y" fmla="*/ 0 h 1"/>
              <a:gd name="GluePoint2X" fmla="*/ 2147483647 w 60"/>
              <a:gd name="GluePoint2Y" fmla="*/ 0 h 1"/>
              <a:gd name="GluePoint3X" fmla="*/ 0 w 60"/>
              <a:gd name="GluePoint3Y" fmla="*/ 0 h 1"/>
            </a:gdLst>
            <a:ahLst/>
            <a:cxnLst>
              <a:cxn ang="0">
                <a:pos x="GluePoint1X" y="GluePoint1Y"/>
              </a:cxn>
              <a:cxn ang="0">
                <a:pos x="GluePoint2X" y="GluePoint2Y"/>
              </a:cxn>
              <a:cxn ang="0">
                <a:pos x="GluePoint3X" y="GluePoint3Y"/>
              </a:cxn>
            </a:cxnLst>
            <a:rect l="l" t="t" r="r" b="b"/>
            <a:pathLst>
              <a:path w="60" h="1">
                <a:moveTo>
                  <a:pt x="0" y="0"/>
                </a:moveTo>
                <a:lnTo>
                  <a:pt x="59" y="0"/>
                </a:lnTo>
                <a:lnTo>
                  <a:pt x="0" y="0"/>
                </a:lnTo>
              </a:path>
            </a:pathLst>
          </a:custGeom>
          <a:noFill/>
          <a:ln cap="rnd" w="12600">
            <a:solidFill>
              <a:srgbClr val="ff00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50" name="Line 35"/>
          <p:cNvSpPr/>
          <p:nvPr/>
        </p:nvSpPr>
        <p:spPr>
          <a:xfrm>
            <a:off x="6207120" y="2313000"/>
            <a:ext cx="0" cy="4395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51" name="Oval 36"/>
          <p:cNvSpPr/>
          <p:nvPr/>
        </p:nvSpPr>
        <p:spPr>
          <a:xfrm>
            <a:off x="2260440" y="4078440"/>
            <a:ext cx="84240" cy="824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352" name="Oval 37"/>
          <p:cNvSpPr/>
          <p:nvPr/>
        </p:nvSpPr>
        <p:spPr>
          <a:xfrm>
            <a:off x="2651040" y="3979800"/>
            <a:ext cx="84240" cy="824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353" name="Oval 38"/>
          <p:cNvSpPr/>
          <p:nvPr/>
        </p:nvSpPr>
        <p:spPr>
          <a:xfrm>
            <a:off x="3040200" y="3929040"/>
            <a:ext cx="82440" cy="842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354" name="Oval 39"/>
          <p:cNvSpPr/>
          <p:nvPr/>
        </p:nvSpPr>
        <p:spPr>
          <a:xfrm>
            <a:off x="3432240" y="3879720"/>
            <a:ext cx="84240" cy="842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355" name="Oval 40"/>
          <p:cNvSpPr/>
          <p:nvPr/>
        </p:nvSpPr>
        <p:spPr>
          <a:xfrm>
            <a:off x="3824280" y="3833640"/>
            <a:ext cx="82440" cy="828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356" name="Oval 41"/>
          <p:cNvSpPr/>
          <p:nvPr/>
        </p:nvSpPr>
        <p:spPr>
          <a:xfrm>
            <a:off x="4211640" y="3784680"/>
            <a:ext cx="84240" cy="824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357" name="Oval 42"/>
          <p:cNvSpPr/>
          <p:nvPr/>
        </p:nvSpPr>
        <p:spPr>
          <a:xfrm>
            <a:off x="4605480" y="3589200"/>
            <a:ext cx="82440" cy="828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358" name="Oval 43"/>
          <p:cNvSpPr/>
          <p:nvPr/>
        </p:nvSpPr>
        <p:spPr>
          <a:xfrm>
            <a:off x="4995720" y="3394080"/>
            <a:ext cx="82800" cy="824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359" name="Oval 44"/>
          <p:cNvSpPr/>
          <p:nvPr/>
        </p:nvSpPr>
        <p:spPr>
          <a:xfrm>
            <a:off x="5386320" y="3198960"/>
            <a:ext cx="82440" cy="8388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600" bIns="12600" anchor="ctr">
            <a:noAutofit/>
          </a:bodyPr>
          <a:p>
            <a:endParaRPr b="0" lang="en-US" sz="2400" strike="noStrike" u="none">
              <a:solidFill>
                <a:srgbClr val="ffff00"/>
              </a:solidFill>
              <a:effectLst/>
              <a:uFillTx/>
              <a:latin typeface="Times New Roman"/>
            </a:endParaRPr>
          </a:p>
        </p:txBody>
      </p:sp>
      <p:sp>
        <p:nvSpPr>
          <p:cNvPr id="1360" name="Oval 45"/>
          <p:cNvSpPr/>
          <p:nvPr/>
        </p:nvSpPr>
        <p:spPr>
          <a:xfrm>
            <a:off x="5776920" y="2954160"/>
            <a:ext cx="82440" cy="8424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361" name="Oval 46"/>
          <p:cNvSpPr/>
          <p:nvPr/>
        </p:nvSpPr>
        <p:spPr>
          <a:xfrm>
            <a:off x="6167520" y="2712960"/>
            <a:ext cx="83880" cy="82800"/>
          </a:xfrm>
          <a:prstGeom prst="ellipse">
            <a:avLst/>
          </a:prstGeom>
          <a:solidFill>
            <a:srgbClr val="ff0000"/>
          </a:solidFill>
          <a:ln w="12600">
            <a:solidFill>
              <a:srgbClr val="ff00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362" name="Freeform 47"/>
          <p:cNvSpPr/>
          <p:nvPr/>
        </p:nvSpPr>
        <p:spPr>
          <a:xfrm>
            <a:off x="2254320" y="4703760"/>
            <a:ext cx="98280" cy="1440"/>
          </a:xfrm>
          <a:custGeom>
            <a:avLst/>
            <a:gdLst>
              <a:gd name="GluePoint1X" fmla="*/ 0 w 62"/>
              <a:gd name="GluePoint1Y" fmla="*/ 0 h 1"/>
              <a:gd name="GluePoint2X" fmla="*/ 2147483647 w 62"/>
              <a:gd name="GluePoint2Y" fmla="*/ 0 h 1"/>
              <a:gd name="GluePoint3X" fmla="*/ 0 w 62"/>
              <a:gd name="GluePoint3Y" fmla="*/ 0 h 1"/>
            </a:gdLst>
            <a:ahLst/>
            <a:cxnLst>
              <a:cxn ang="0">
                <a:pos x="GluePoint1X" y="GluePoint1Y"/>
              </a:cxn>
              <a:cxn ang="0">
                <a:pos x="GluePoint2X" y="GluePoint2Y"/>
              </a:cxn>
              <a:cxn ang="0">
                <a:pos x="GluePoint3X" y="GluePoint3Y"/>
              </a:cxn>
            </a:cxnLst>
            <a:rect l="l" t="t" r="r" b="b"/>
            <a:pathLst>
              <a:path w="62" h="1">
                <a:moveTo>
                  <a:pt x="0" y="0"/>
                </a:moveTo>
                <a:lnTo>
                  <a:pt x="6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63" name="Line 48"/>
          <p:cNvSpPr/>
          <p:nvPr/>
        </p:nvSpPr>
        <p:spPr>
          <a:xfrm flipV="1">
            <a:off x="2301840" y="4361040"/>
            <a:ext cx="0" cy="3427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64" name="Line 49"/>
          <p:cNvSpPr/>
          <p:nvPr/>
        </p:nvSpPr>
        <p:spPr>
          <a:xfrm flipV="1">
            <a:off x="2301840" y="4263840"/>
            <a:ext cx="390600" cy="968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65" name="Freeform 50"/>
          <p:cNvSpPr/>
          <p:nvPr/>
        </p:nvSpPr>
        <p:spPr>
          <a:xfrm>
            <a:off x="2644920" y="4459320"/>
            <a:ext cx="98280" cy="1440"/>
          </a:xfrm>
          <a:custGeom>
            <a:avLst/>
            <a:gdLst>
              <a:gd name="GluePoint1X" fmla="*/ 0 w 62"/>
              <a:gd name="GluePoint1Y" fmla="*/ 0 h 1"/>
              <a:gd name="GluePoint2X" fmla="*/ 2147483647 w 62"/>
              <a:gd name="GluePoint2Y" fmla="*/ 0 h 1"/>
              <a:gd name="GluePoint3X" fmla="*/ 0 w 62"/>
              <a:gd name="GluePoint3Y" fmla="*/ 0 h 1"/>
            </a:gdLst>
            <a:ahLst/>
            <a:cxnLst>
              <a:cxn ang="0">
                <a:pos x="GluePoint1X" y="GluePoint1Y"/>
              </a:cxn>
              <a:cxn ang="0">
                <a:pos x="GluePoint2X" y="GluePoint2Y"/>
              </a:cxn>
              <a:cxn ang="0">
                <a:pos x="GluePoint3X" y="GluePoint3Y"/>
              </a:cxn>
            </a:cxnLst>
            <a:rect l="l" t="t" r="r" b="b"/>
            <a:pathLst>
              <a:path w="62" h="1">
                <a:moveTo>
                  <a:pt x="0" y="0"/>
                </a:moveTo>
                <a:lnTo>
                  <a:pt x="6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66" name="Line 51"/>
          <p:cNvSpPr/>
          <p:nvPr/>
        </p:nvSpPr>
        <p:spPr>
          <a:xfrm flipV="1">
            <a:off x="2692440" y="4264200"/>
            <a:ext cx="0" cy="1951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67" name="Line 52"/>
          <p:cNvSpPr/>
          <p:nvPr/>
        </p:nvSpPr>
        <p:spPr>
          <a:xfrm flipV="1">
            <a:off x="2692440" y="4214520"/>
            <a:ext cx="387360" cy="49320"/>
          </a:xfrm>
          <a:prstGeom prst="line">
            <a:avLst/>
          </a:prstGeom>
          <a:ln w="12600">
            <a:solidFill>
              <a:srgbClr val="ffff00"/>
            </a:solidFill>
            <a:miter/>
          </a:ln>
        </p:spPr>
        <p:style>
          <a:lnRef idx="0"/>
          <a:fillRef idx="0"/>
          <a:effectRef idx="0"/>
          <a:fontRef idx="minor"/>
        </p:style>
        <p:txBody>
          <a:bodyPr lIns="90000" rIns="90000" tIns="2520" bIns="2520" anchor="ctr">
            <a:noAutofit/>
          </a:bodyPr>
          <a:p>
            <a:endParaRPr b="0" lang="en-US" sz="2400" strike="noStrike" u="none">
              <a:solidFill>
                <a:srgbClr val="ffff00"/>
              </a:solidFill>
              <a:effectLst/>
              <a:uFillTx/>
              <a:latin typeface="Times New Roman"/>
            </a:endParaRPr>
          </a:p>
        </p:txBody>
      </p:sp>
      <p:sp>
        <p:nvSpPr>
          <p:cNvPr id="1368" name="Freeform 53"/>
          <p:cNvSpPr/>
          <p:nvPr/>
        </p:nvSpPr>
        <p:spPr>
          <a:xfrm>
            <a:off x="3033720" y="4410000"/>
            <a:ext cx="96840" cy="180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69" name="Line 54"/>
          <p:cNvSpPr/>
          <p:nvPr/>
        </p:nvSpPr>
        <p:spPr>
          <a:xfrm flipV="1">
            <a:off x="3079800" y="4214880"/>
            <a:ext cx="0" cy="1951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70" name="Line 55"/>
          <p:cNvSpPr/>
          <p:nvPr/>
        </p:nvSpPr>
        <p:spPr>
          <a:xfrm flipV="1">
            <a:off x="3079800" y="4165200"/>
            <a:ext cx="393480" cy="49320"/>
          </a:xfrm>
          <a:prstGeom prst="line">
            <a:avLst/>
          </a:prstGeom>
          <a:ln w="12600">
            <a:solidFill>
              <a:srgbClr val="ffff00"/>
            </a:solidFill>
            <a:miter/>
          </a:ln>
        </p:spPr>
        <p:style>
          <a:lnRef idx="0"/>
          <a:fillRef idx="0"/>
          <a:effectRef idx="0"/>
          <a:fontRef idx="minor"/>
        </p:style>
        <p:txBody>
          <a:bodyPr lIns="90000" rIns="90000" tIns="2520" bIns="2520" anchor="ctr">
            <a:noAutofit/>
          </a:bodyPr>
          <a:p>
            <a:endParaRPr b="0" lang="en-US" sz="2400" strike="noStrike" u="none">
              <a:solidFill>
                <a:srgbClr val="ffff00"/>
              </a:solidFill>
              <a:effectLst/>
              <a:uFillTx/>
              <a:latin typeface="Times New Roman"/>
            </a:endParaRPr>
          </a:p>
        </p:txBody>
      </p:sp>
      <p:sp>
        <p:nvSpPr>
          <p:cNvPr id="1371" name="Freeform 56"/>
          <p:cNvSpPr/>
          <p:nvPr/>
        </p:nvSpPr>
        <p:spPr>
          <a:xfrm>
            <a:off x="3425760" y="4459320"/>
            <a:ext cx="98640" cy="1440"/>
          </a:xfrm>
          <a:custGeom>
            <a:avLst/>
            <a:gdLst>
              <a:gd name="GluePoint1X" fmla="*/ 0 w 62"/>
              <a:gd name="GluePoint1Y" fmla="*/ 0 h 1"/>
              <a:gd name="GluePoint2X" fmla="*/ 2147483647 w 62"/>
              <a:gd name="GluePoint2Y" fmla="*/ 0 h 1"/>
              <a:gd name="GluePoint3X" fmla="*/ 0 w 62"/>
              <a:gd name="GluePoint3Y" fmla="*/ 0 h 1"/>
            </a:gdLst>
            <a:ahLst/>
            <a:cxnLst>
              <a:cxn ang="0">
                <a:pos x="GluePoint1X" y="GluePoint1Y"/>
              </a:cxn>
              <a:cxn ang="0">
                <a:pos x="GluePoint2X" y="GluePoint2Y"/>
              </a:cxn>
              <a:cxn ang="0">
                <a:pos x="GluePoint3X" y="GluePoint3Y"/>
              </a:cxn>
            </a:cxnLst>
            <a:rect l="l" t="t" r="r" b="b"/>
            <a:pathLst>
              <a:path w="62" h="1">
                <a:moveTo>
                  <a:pt x="0" y="0"/>
                </a:moveTo>
                <a:lnTo>
                  <a:pt x="6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72" name="Line 57"/>
          <p:cNvSpPr/>
          <p:nvPr/>
        </p:nvSpPr>
        <p:spPr>
          <a:xfrm flipV="1">
            <a:off x="3473280" y="4165560"/>
            <a:ext cx="0" cy="2937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73" name="Line 58"/>
          <p:cNvSpPr/>
          <p:nvPr/>
        </p:nvSpPr>
        <p:spPr>
          <a:xfrm flipV="1">
            <a:off x="3473280" y="4118040"/>
            <a:ext cx="390600" cy="47520"/>
          </a:xfrm>
          <a:prstGeom prst="line">
            <a:avLst/>
          </a:prstGeom>
          <a:ln w="12600">
            <a:solidFill>
              <a:srgbClr val="ffff00"/>
            </a:solidFill>
            <a:miter/>
          </a:ln>
        </p:spPr>
        <p:style>
          <a:lnRef idx="0"/>
          <a:fillRef idx="0"/>
          <a:effectRef idx="0"/>
          <a:fontRef idx="minor"/>
        </p:style>
        <p:txBody>
          <a:bodyPr lIns="90000" rIns="90000" tIns="720" bIns="720" anchor="ctr">
            <a:noAutofit/>
          </a:bodyPr>
          <a:p>
            <a:endParaRPr b="0" lang="en-US" sz="2400" strike="noStrike" u="none">
              <a:solidFill>
                <a:srgbClr val="ffff00"/>
              </a:solidFill>
              <a:effectLst/>
              <a:uFillTx/>
              <a:latin typeface="Times New Roman"/>
            </a:endParaRPr>
          </a:p>
        </p:txBody>
      </p:sp>
      <p:sp>
        <p:nvSpPr>
          <p:cNvPr id="1374" name="Freeform 59"/>
          <p:cNvSpPr/>
          <p:nvPr/>
        </p:nvSpPr>
        <p:spPr>
          <a:xfrm>
            <a:off x="3817800" y="4410000"/>
            <a:ext cx="96840" cy="180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75" name="Line 60"/>
          <p:cNvSpPr/>
          <p:nvPr/>
        </p:nvSpPr>
        <p:spPr>
          <a:xfrm flipV="1">
            <a:off x="3863880" y="4117680"/>
            <a:ext cx="0" cy="2919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76" name="Line 61"/>
          <p:cNvSpPr/>
          <p:nvPr/>
        </p:nvSpPr>
        <p:spPr>
          <a:xfrm flipV="1">
            <a:off x="3863880" y="4068360"/>
            <a:ext cx="387360" cy="49320"/>
          </a:xfrm>
          <a:prstGeom prst="line">
            <a:avLst/>
          </a:prstGeom>
          <a:ln w="12600">
            <a:solidFill>
              <a:srgbClr val="ffff00"/>
            </a:solidFill>
            <a:miter/>
          </a:ln>
        </p:spPr>
        <p:style>
          <a:lnRef idx="0"/>
          <a:fillRef idx="0"/>
          <a:effectRef idx="0"/>
          <a:fontRef idx="minor"/>
        </p:style>
        <p:txBody>
          <a:bodyPr lIns="90000" rIns="90000" tIns="2520" bIns="2520" anchor="ctr">
            <a:noAutofit/>
          </a:bodyPr>
          <a:p>
            <a:endParaRPr b="0" lang="en-US" sz="2400" strike="noStrike" u="none">
              <a:solidFill>
                <a:srgbClr val="ffff00"/>
              </a:solidFill>
              <a:effectLst/>
              <a:uFillTx/>
              <a:latin typeface="Times New Roman"/>
            </a:endParaRPr>
          </a:p>
        </p:txBody>
      </p:sp>
      <p:sp>
        <p:nvSpPr>
          <p:cNvPr id="1377" name="Freeform 62"/>
          <p:cNvSpPr/>
          <p:nvPr/>
        </p:nvSpPr>
        <p:spPr>
          <a:xfrm>
            <a:off x="4205160" y="4389480"/>
            <a:ext cx="98640" cy="1440"/>
          </a:xfrm>
          <a:custGeom>
            <a:avLst/>
            <a:gdLst>
              <a:gd name="GluePoint1X" fmla="*/ 0 w 62"/>
              <a:gd name="GluePoint1Y" fmla="*/ 0 h 1"/>
              <a:gd name="GluePoint2X" fmla="*/ 2147483647 w 62"/>
              <a:gd name="GluePoint2Y" fmla="*/ 0 h 1"/>
              <a:gd name="GluePoint3X" fmla="*/ 0 w 62"/>
              <a:gd name="GluePoint3Y" fmla="*/ 0 h 1"/>
            </a:gdLst>
            <a:ahLst/>
            <a:cxnLst>
              <a:cxn ang="0">
                <a:pos x="GluePoint1X" y="GluePoint1Y"/>
              </a:cxn>
              <a:cxn ang="0">
                <a:pos x="GluePoint2X" y="GluePoint2Y"/>
              </a:cxn>
              <a:cxn ang="0">
                <a:pos x="GluePoint3X" y="GluePoint3Y"/>
              </a:cxn>
            </a:cxnLst>
            <a:rect l="l" t="t" r="r" b="b"/>
            <a:pathLst>
              <a:path w="62" h="1">
                <a:moveTo>
                  <a:pt x="0" y="0"/>
                </a:moveTo>
                <a:lnTo>
                  <a:pt x="6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78" name="Line 63"/>
          <p:cNvSpPr/>
          <p:nvPr/>
        </p:nvSpPr>
        <p:spPr>
          <a:xfrm flipV="1">
            <a:off x="4251240" y="4068360"/>
            <a:ext cx="0" cy="3207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79" name="Line 64"/>
          <p:cNvSpPr/>
          <p:nvPr/>
        </p:nvSpPr>
        <p:spPr>
          <a:xfrm flipV="1">
            <a:off x="4251240" y="3921120"/>
            <a:ext cx="393840" cy="1476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0" name="Freeform 65"/>
          <p:cNvSpPr/>
          <p:nvPr/>
        </p:nvSpPr>
        <p:spPr>
          <a:xfrm>
            <a:off x="4599000" y="4410000"/>
            <a:ext cx="96840" cy="180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ff00"/>
            </a:solidFill>
            <a:round/>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1381" name="Line 66"/>
          <p:cNvSpPr/>
          <p:nvPr/>
        </p:nvSpPr>
        <p:spPr>
          <a:xfrm flipV="1">
            <a:off x="4645080" y="3921120"/>
            <a:ext cx="0" cy="4888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2" name="Line 67"/>
          <p:cNvSpPr/>
          <p:nvPr/>
        </p:nvSpPr>
        <p:spPr>
          <a:xfrm flipV="1">
            <a:off x="4645080" y="3726000"/>
            <a:ext cx="390600" cy="1951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3" name="Freeform 68"/>
          <p:cNvSpPr/>
          <p:nvPr/>
        </p:nvSpPr>
        <p:spPr>
          <a:xfrm>
            <a:off x="4989600" y="4214880"/>
            <a:ext cx="96840" cy="144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84" name="Line 69"/>
          <p:cNvSpPr/>
          <p:nvPr/>
        </p:nvSpPr>
        <p:spPr>
          <a:xfrm flipV="1">
            <a:off x="5035680" y="3726000"/>
            <a:ext cx="0" cy="4888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5" name="Line 70"/>
          <p:cNvSpPr/>
          <p:nvPr/>
        </p:nvSpPr>
        <p:spPr>
          <a:xfrm flipV="1">
            <a:off x="5035680" y="3628800"/>
            <a:ext cx="390240" cy="968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6" name="Freeform 71"/>
          <p:cNvSpPr/>
          <p:nvPr/>
        </p:nvSpPr>
        <p:spPr>
          <a:xfrm>
            <a:off x="5380200" y="4214880"/>
            <a:ext cx="96840" cy="144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87" name="Line 72"/>
          <p:cNvSpPr/>
          <p:nvPr/>
        </p:nvSpPr>
        <p:spPr>
          <a:xfrm flipV="1">
            <a:off x="5425920" y="3628800"/>
            <a:ext cx="0" cy="5857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8" name="Line 73"/>
          <p:cNvSpPr/>
          <p:nvPr/>
        </p:nvSpPr>
        <p:spPr>
          <a:xfrm flipV="1">
            <a:off x="5425920" y="3238200"/>
            <a:ext cx="390600" cy="3906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89" name="Freeform 74"/>
          <p:cNvSpPr/>
          <p:nvPr/>
        </p:nvSpPr>
        <p:spPr>
          <a:xfrm>
            <a:off x="5770440" y="3726000"/>
            <a:ext cx="96840" cy="1440"/>
          </a:xfrm>
          <a:custGeom>
            <a:avLst/>
            <a:gdLst>
              <a:gd name="GluePoint1X" fmla="*/ 0 w 61"/>
              <a:gd name="GluePoint1Y" fmla="*/ 0 h 1"/>
              <a:gd name="GluePoint2X" fmla="*/ 2147483647 w 61"/>
              <a:gd name="GluePoint2Y" fmla="*/ 0 h 1"/>
              <a:gd name="GluePoint3X" fmla="*/ 0 w 61"/>
              <a:gd name="GluePoint3Y" fmla="*/ 0 h 1"/>
            </a:gdLst>
            <a:ahLst/>
            <a:cxnLst>
              <a:cxn ang="0">
                <a:pos x="GluePoint1X" y="GluePoint1Y"/>
              </a:cxn>
              <a:cxn ang="0">
                <a:pos x="GluePoint2X" y="GluePoint2Y"/>
              </a:cxn>
              <a:cxn ang="0">
                <a:pos x="GluePoint3X" y="GluePoint3Y"/>
              </a:cxn>
            </a:cxnLst>
            <a:rect l="l" t="t" r="r" b="b"/>
            <a:pathLst>
              <a:path w="61" h="1">
                <a:moveTo>
                  <a:pt x="0" y="0"/>
                </a:moveTo>
                <a:lnTo>
                  <a:pt x="60"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90" name="Line 75"/>
          <p:cNvSpPr/>
          <p:nvPr/>
        </p:nvSpPr>
        <p:spPr>
          <a:xfrm flipV="1">
            <a:off x="5816520" y="3238560"/>
            <a:ext cx="0" cy="4874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91" name="Line 76"/>
          <p:cNvSpPr/>
          <p:nvPr/>
        </p:nvSpPr>
        <p:spPr>
          <a:xfrm flipV="1">
            <a:off x="5816520" y="3093840"/>
            <a:ext cx="390600" cy="1443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92" name="Freeform 77"/>
          <p:cNvSpPr/>
          <p:nvPr/>
        </p:nvSpPr>
        <p:spPr>
          <a:xfrm>
            <a:off x="6161040" y="3483000"/>
            <a:ext cx="98640" cy="1440"/>
          </a:xfrm>
          <a:custGeom>
            <a:avLst/>
            <a:gdLst>
              <a:gd name="GluePoint1X" fmla="*/ 0 w 62"/>
              <a:gd name="GluePoint1Y" fmla="*/ 0 h 1"/>
              <a:gd name="GluePoint2X" fmla="*/ 2147483647 w 62"/>
              <a:gd name="GluePoint2Y" fmla="*/ 0 h 1"/>
              <a:gd name="GluePoint3X" fmla="*/ 0 w 62"/>
              <a:gd name="GluePoint3Y" fmla="*/ 0 h 1"/>
            </a:gdLst>
            <a:ahLst/>
            <a:cxnLst>
              <a:cxn ang="0">
                <a:pos x="GluePoint1X" y="GluePoint1Y"/>
              </a:cxn>
              <a:cxn ang="0">
                <a:pos x="GluePoint2X" y="GluePoint2Y"/>
              </a:cxn>
              <a:cxn ang="0">
                <a:pos x="GluePoint3X" y="GluePoint3Y"/>
              </a:cxn>
            </a:cxnLst>
            <a:rect l="l" t="t" r="r" b="b"/>
            <a:pathLst>
              <a:path w="62" h="1">
                <a:moveTo>
                  <a:pt x="0" y="0"/>
                </a:moveTo>
                <a:lnTo>
                  <a:pt x="61" y="0"/>
                </a:lnTo>
                <a:lnTo>
                  <a:pt x="0" y="0"/>
                </a:lnTo>
              </a:path>
            </a:pathLst>
          </a:custGeom>
          <a:noFill/>
          <a:ln cap="rnd" w="12600">
            <a:solidFill>
              <a:srgbClr val="ffff00"/>
            </a:solidFill>
            <a:round/>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1393" name="Line 78"/>
          <p:cNvSpPr/>
          <p:nvPr/>
        </p:nvSpPr>
        <p:spPr>
          <a:xfrm flipV="1">
            <a:off x="6207120" y="3094200"/>
            <a:ext cx="0" cy="3888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394" name="Oval 79"/>
          <p:cNvSpPr/>
          <p:nvPr/>
        </p:nvSpPr>
        <p:spPr>
          <a:xfrm>
            <a:off x="2260440" y="4319640"/>
            <a:ext cx="84240" cy="842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395" name="Oval 80"/>
          <p:cNvSpPr/>
          <p:nvPr/>
        </p:nvSpPr>
        <p:spPr>
          <a:xfrm>
            <a:off x="2651040" y="4224240"/>
            <a:ext cx="84240" cy="828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396" name="Oval 81"/>
          <p:cNvSpPr/>
          <p:nvPr/>
        </p:nvSpPr>
        <p:spPr>
          <a:xfrm>
            <a:off x="3040200" y="4173480"/>
            <a:ext cx="82440" cy="842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397" name="Oval 82"/>
          <p:cNvSpPr/>
          <p:nvPr/>
        </p:nvSpPr>
        <p:spPr>
          <a:xfrm>
            <a:off x="3432240" y="4124160"/>
            <a:ext cx="84240" cy="842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398" name="Oval 83"/>
          <p:cNvSpPr/>
          <p:nvPr/>
        </p:nvSpPr>
        <p:spPr>
          <a:xfrm>
            <a:off x="3824280" y="4078440"/>
            <a:ext cx="82440" cy="824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399" name="Oval 84"/>
          <p:cNvSpPr/>
          <p:nvPr/>
        </p:nvSpPr>
        <p:spPr>
          <a:xfrm>
            <a:off x="4211640" y="4029120"/>
            <a:ext cx="84240" cy="824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1880" bIns="11880" anchor="ctr">
            <a:noAutofit/>
          </a:bodyPr>
          <a:p>
            <a:endParaRPr b="0" lang="en-US" sz="2400" strike="noStrike" u="none">
              <a:solidFill>
                <a:srgbClr val="ffff00"/>
              </a:solidFill>
              <a:effectLst/>
              <a:uFillTx/>
              <a:latin typeface="Times New Roman"/>
            </a:endParaRPr>
          </a:p>
        </p:txBody>
      </p:sp>
      <p:sp>
        <p:nvSpPr>
          <p:cNvPr id="1400" name="Oval 85"/>
          <p:cNvSpPr/>
          <p:nvPr/>
        </p:nvSpPr>
        <p:spPr>
          <a:xfrm>
            <a:off x="4605480" y="3879720"/>
            <a:ext cx="82440" cy="842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401" name="Oval 86"/>
          <p:cNvSpPr/>
          <p:nvPr/>
        </p:nvSpPr>
        <p:spPr>
          <a:xfrm>
            <a:off x="4995720" y="3684600"/>
            <a:ext cx="82800" cy="842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402" name="Oval 87"/>
          <p:cNvSpPr/>
          <p:nvPr/>
        </p:nvSpPr>
        <p:spPr>
          <a:xfrm>
            <a:off x="5386320" y="3589200"/>
            <a:ext cx="82440" cy="8280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240" bIns="12240" anchor="ctr">
            <a:noAutofit/>
          </a:bodyPr>
          <a:p>
            <a:endParaRPr b="0" lang="en-US" sz="2400" strike="noStrike" u="none">
              <a:solidFill>
                <a:srgbClr val="ffff00"/>
              </a:solidFill>
              <a:effectLst/>
              <a:uFillTx/>
              <a:latin typeface="Times New Roman"/>
            </a:endParaRPr>
          </a:p>
        </p:txBody>
      </p:sp>
      <p:sp>
        <p:nvSpPr>
          <p:cNvPr id="1403" name="Oval 88"/>
          <p:cNvSpPr/>
          <p:nvPr/>
        </p:nvSpPr>
        <p:spPr>
          <a:xfrm>
            <a:off x="5776920" y="3198960"/>
            <a:ext cx="82440" cy="8388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600" bIns="12600" anchor="ctr">
            <a:noAutofit/>
          </a:bodyPr>
          <a:p>
            <a:endParaRPr b="0" lang="en-US" sz="2400" strike="noStrike" u="none">
              <a:solidFill>
                <a:srgbClr val="ffff00"/>
              </a:solidFill>
              <a:effectLst/>
              <a:uFillTx/>
              <a:latin typeface="Times New Roman"/>
            </a:endParaRPr>
          </a:p>
        </p:txBody>
      </p:sp>
      <p:sp>
        <p:nvSpPr>
          <p:cNvPr id="1404" name="Oval 89"/>
          <p:cNvSpPr/>
          <p:nvPr/>
        </p:nvSpPr>
        <p:spPr>
          <a:xfrm>
            <a:off x="6167520" y="3052800"/>
            <a:ext cx="83880" cy="84240"/>
          </a:xfrm>
          <a:prstGeom prst="ellipse">
            <a:avLst/>
          </a:prstGeom>
          <a:solidFill>
            <a:srgbClr val="ffff00"/>
          </a:solidFill>
          <a:ln w="12600">
            <a:solidFill>
              <a:srgbClr val="ffff00"/>
            </a:solidFill>
            <a:miter/>
          </a:ln>
        </p:spPr>
        <p:style>
          <a:lnRef idx="0"/>
          <a:fillRef idx="0"/>
          <a:effectRef idx="0"/>
          <a:fontRef idx="minor"/>
        </p:style>
        <p:txBody>
          <a:bodyPr wrap="none" lIns="90000" rIns="90000" tIns="12960" bIns="12960" anchor="ctr">
            <a:noAutofit/>
          </a:bodyPr>
          <a:p>
            <a:endParaRPr b="0" lang="en-US" sz="2400" strike="noStrike" u="none">
              <a:solidFill>
                <a:srgbClr val="ffff00"/>
              </a:solidFill>
              <a:effectLst/>
              <a:uFillTx/>
              <a:latin typeface="Times New Roman"/>
            </a:endParaRPr>
          </a:p>
        </p:txBody>
      </p:sp>
      <p:sp>
        <p:nvSpPr>
          <p:cNvPr id="1405" name="Line 90"/>
          <p:cNvSpPr/>
          <p:nvPr/>
        </p:nvSpPr>
        <p:spPr>
          <a:xfrm>
            <a:off x="1911240" y="5286240"/>
            <a:ext cx="46864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06" name="Line 91"/>
          <p:cNvSpPr/>
          <p:nvPr/>
        </p:nvSpPr>
        <p:spPr>
          <a:xfrm flipV="1">
            <a:off x="191124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07" name="Rectangle 92"/>
          <p:cNvSpPr/>
          <p:nvPr/>
        </p:nvSpPr>
        <p:spPr>
          <a:xfrm>
            <a:off x="1758960" y="5272200"/>
            <a:ext cx="3052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6</a:t>
            </a:r>
            <a:endParaRPr b="0" lang="en-US" sz="1700" strike="noStrike" u="none">
              <a:solidFill>
                <a:srgbClr val="ffff00"/>
              </a:solidFill>
              <a:effectLst/>
              <a:uFillTx/>
              <a:latin typeface="Times New Roman"/>
            </a:endParaRPr>
          </a:p>
        </p:txBody>
      </p:sp>
      <p:sp>
        <p:nvSpPr>
          <p:cNvPr id="1408" name="Line 93"/>
          <p:cNvSpPr/>
          <p:nvPr/>
        </p:nvSpPr>
        <p:spPr>
          <a:xfrm flipV="1">
            <a:off x="269244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09" name="Rectangle 94"/>
          <p:cNvSpPr/>
          <p:nvPr/>
        </p:nvSpPr>
        <p:spPr>
          <a:xfrm>
            <a:off x="2539800" y="5272200"/>
            <a:ext cx="3052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8</a:t>
            </a:r>
            <a:endParaRPr b="0" lang="en-US" sz="1700" strike="noStrike" u="none">
              <a:solidFill>
                <a:srgbClr val="ffff00"/>
              </a:solidFill>
              <a:effectLst/>
              <a:uFillTx/>
              <a:latin typeface="Times New Roman"/>
            </a:endParaRPr>
          </a:p>
        </p:txBody>
      </p:sp>
      <p:sp>
        <p:nvSpPr>
          <p:cNvPr id="1410" name="Line 95"/>
          <p:cNvSpPr/>
          <p:nvPr/>
        </p:nvSpPr>
        <p:spPr>
          <a:xfrm flipV="1">
            <a:off x="347328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11" name="Rectangle 96"/>
          <p:cNvSpPr/>
          <p:nvPr/>
        </p:nvSpPr>
        <p:spPr>
          <a:xfrm>
            <a:off x="3262320" y="5272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10</a:t>
            </a:r>
            <a:endParaRPr b="0" lang="en-US" sz="1700" strike="noStrike" u="none">
              <a:solidFill>
                <a:srgbClr val="ffff00"/>
              </a:solidFill>
              <a:effectLst/>
              <a:uFillTx/>
              <a:latin typeface="Times New Roman"/>
            </a:endParaRPr>
          </a:p>
        </p:txBody>
      </p:sp>
      <p:sp>
        <p:nvSpPr>
          <p:cNvPr id="1412" name="Line 97"/>
          <p:cNvSpPr/>
          <p:nvPr/>
        </p:nvSpPr>
        <p:spPr>
          <a:xfrm flipV="1">
            <a:off x="425448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13" name="Rectangle 98"/>
          <p:cNvSpPr/>
          <p:nvPr/>
        </p:nvSpPr>
        <p:spPr>
          <a:xfrm>
            <a:off x="4043160" y="5272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12</a:t>
            </a:r>
            <a:endParaRPr b="0" lang="en-US" sz="1700" strike="noStrike" u="none">
              <a:solidFill>
                <a:srgbClr val="ffff00"/>
              </a:solidFill>
              <a:effectLst/>
              <a:uFillTx/>
              <a:latin typeface="Times New Roman"/>
            </a:endParaRPr>
          </a:p>
        </p:txBody>
      </p:sp>
      <p:sp>
        <p:nvSpPr>
          <p:cNvPr id="1414" name="Line 99"/>
          <p:cNvSpPr/>
          <p:nvPr/>
        </p:nvSpPr>
        <p:spPr>
          <a:xfrm flipV="1">
            <a:off x="503568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15" name="Rectangle 100"/>
          <p:cNvSpPr/>
          <p:nvPr/>
        </p:nvSpPr>
        <p:spPr>
          <a:xfrm>
            <a:off x="4824360" y="5272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14</a:t>
            </a:r>
            <a:endParaRPr b="0" lang="en-US" sz="1700" strike="noStrike" u="none">
              <a:solidFill>
                <a:srgbClr val="ffff00"/>
              </a:solidFill>
              <a:effectLst/>
              <a:uFillTx/>
              <a:latin typeface="Times New Roman"/>
            </a:endParaRPr>
          </a:p>
        </p:txBody>
      </p:sp>
      <p:sp>
        <p:nvSpPr>
          <p:cNvPr id="1416" name="Line 101"/>
          <p:cNvSpPr/>
          <p:nvPr/>
        </p:nvSpPr>
        <p:spPr>
          <a:xfrm flipV="1">
            <a:off x="581652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17" name="Rectangle 102"/>
          <p:cNvSpPr/>
          <p:nvPr/>
        </p:nvSpPr>
        <p:spPr>
          <a:xfrm>
            <a:off x="5605560" y="5272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16</a:t>
            </a:r>
            <a:endParaRPr b="0" lang="en-US" sz="1700" strike="noStrike" u="none">
              <a:solidFill>
                <a:srgbClr val="ffff00"/>
              </a:solidFill>
              <a:effectLst/>
              <a:uFillTx/>
              <a:latin typeface="Times New Roman"/>
            </a:endParaRPr>
          </a:p>
        </p:txBody>
      </p:sp>
      <p:sp>
        <p:nvSpPr>
          <p:cNvPr id="1418" name="Line 103"/>
          <p:cNvSpPr/>
          <p:nvPr/>
        </p:nvSpPr>
        <p:spPr>
          <a:xfrm flipV="1">
            <a:off x="6597720" y="5200560"/>
            <a:ext cx="0" cy="85680"/>
          </a:xfrm>
          <a:prstGeom prst="line">
            <a:avLst/>
          </a:prstGeom>
          <a:ln w="12600">
            <a:solidFill>
              <a:srgbClr val="ffffff"/>
            </a:solidFill>
            <a:miter/>
          </a:ln>
        </p:spPr>
        <p:style>
          <a:lnRef idx="0"/>
          <a:fillRef idx="0"/>
          <a:effectRef idx="0"/>
          <a:fontRef idx="minor"/>
        </p:style>
        <p:txBody>
          <a:bodyPr lIns="90000" rIns="90000" tIns="38880" bIns="38880" anchor="ctr">
            <a:noAutofit/>
          </a:bodyPr>
          <a:p>
            <a:endParaRPr b="0" lang="en-US" sz="2400" strike="noStrike" u="none">
              <a:solidFill>
                <a:srgbClr val="ffff00"/>
              </a:solidFill>
              <a:effectLst/>
              <a:uFillTx/>
              <a:latin typeface="Times New Roman"/>
            </a:endParaRPr>
          </a:p>
        </p:txBody>
      </p:sp>
      <p:sp>
        <p:nvSpPr>
          <p:cNvPr id="1419" name="Rectangle 104"/>
          <p:cNvSpPr/>
          <p:nvPr/>
        </p:nvSpPr>
        <p:spPr>
          <a:xfrm>
            <a:off x="6386400" y="5272200"/>
            <a:ext cx="425880" cy="351720"/>
          </a:xfrm>
          <a:prstGeom prst="rect">
            <a:avLst/>
          </a:prstGeom>
          <a:noFill/>
          <a:ln w="0">
            <a:noFill/>
          </a:ln>
        </p:spPr>
        <p:style>
          <a:lnRef idx="0"/>
          <a:fillRef idx="0"/>
          <a:effectRef idx="0"/>
          <a:fontRef idx="minor"/>
        </p:style>
        <p:txBody>
          <a:bodyPr wrap="none"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18</a:t>
            </a:r>
            <a:endParaRPr b="0" lang="en-US" sz="1700" strike="noStrike" u="none">
              <a:solidFill>
                <a:srgbClr val="ffff00"/>
              </a:solidFill>
              <a:effectLst/>
              <a:uFillTx/>
              <a:latin typeface="Times New Roman"/>
            </a:endParaRPr>
          </a:p>
        </p:txBody>
      </p:sp>
      <p:sp>
        <p:nvSpPr>
          <p:cNvPr id="1420" name="Line 105"/>
          <p:cNvSpPr/>
          <p:nvPr/>
        </p:nvSpPr>
        <p:spPr>
          <a:xfrm flipV="1">
            <a:off x="1911240" y="2165040"/>
            <a:ext cx="0" cy="312084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21" name="Line 106"/>
          <p:cNvSpPr/>
          <p:nvPr/>
        </p:nvSpPr>
        <p:spPr>
          <a:xfrm>
            <a:off x="1911240" y="528624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22" name="Rectangle 107"/>
          <p:cNvSpPr/>
          <p:nvPr/>
        </p:nvSpPr>
        <p:spPr>
          <a:xfrm>
            <a:off x="1546200" y="512136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10</a:t>
            </a:r>
            <a:endParaRPr b="0" lang="en-US" sz="1700" strike="noStrike" u="none">
              <a:solidFill>
                <a:srgbClr val="ffff00"/>
              </a:solidFill>
              <a:effectLst/>
              <a:uFillTx/>
              <a:latin typeface="Times New Roman"/>
            </a:endParaRPr>
          </a:p>
        </p:txBody>
      </p:sp>
      <p:sp>
        <p:nvSpPr>
          <p:cNvPr id="1423" name="Line 108"/>
          <p:cNvSpPr/>
          <p:nvPr/>
        </p:nvSpPr>
        <p:spPr>
          <a:xfrm>
            <a:off x="1911240" y="4800600"/>
            <a:ext cx="46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24" name="Line 109"/>
          <p:cNvSpPr/>
          <p:nvPr/>
        </p:nvSpPr>
        <p:spPr>
          <a:xfrm>
            <a:off x="1911240" y="431172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25" name="Rectangle 110"/>
          <p:cNvSpPr/>
          <p:nvPr/>
        </p:nvSpPr>
        <p:spPr>
          <a:xfrm>
            <a:off x="1546200" y="414504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20</a:t>
            </a:r>
            <a:endParaRPr b="0" lang="en-US" sz="1700" strike="noStrike" u="none">
              <a:solidFill>
                <a:srgbClr val="ffff00"/>
              </a:solidFill>
              <a:effectLst/>
              <a:uFillTx/>
              <a:latin typeface="Times New Roman"/>
            </a:endParaRPr>
          </a:p>
        </p:txBody>
      </p:sp>
      <p:sp>
        <p:nvSpPr>
          <p:cNvPr id="1426" name="Line 111"/>
          <p:cNvSpPr/>
          <p:nvPr/>
        </p:nvSpPr>
        <p:spPr>
          <a:xfrm>
            <a:off x="1911240" y="3824280"/>
            <a:ext cx="46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27" name="Line 112"/>
          <p:cNvSpPr/>
          <p:nvPr/>
        </p:nvSpPr>
        <p:spPr>
          <a:xfrm>
            <a:off x="1911240" y="333540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28" name="Rectangle 113"/>
          <p:cNvSpPr/>
          <p:nvPr/>
        </p:nvSpPr>
        <p:spPr>
          <a:xfrm>
            <a:off x="1546200" y="317016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30</a:t>
            </a:r>
            <a:endParaRPr b="0" lang="en-US" sz="1700" strike="noStrike" u="none">
              <a:solidFill>
                <a:srgbClr val="ffff00"/>
              </a:solidFill>
              <a:effectLst/>
              <a:uFillTx/>
              <a:latin typeface="Times New Roman"/>
            </a:endParaRPr>
          </a:p>
        </p:txBody>
      </p:sp>
      <p:sp>
        <p:nvSpPr>
          <p:cNvPr id="1429" name="Line 114"/>
          <p:cNvSpPr/>
          <p:nvPr/>
        </p:nvSpPr>
        <p:spPr>
          <a:xfrm>
            <a:off x="1911240" y="2849400"/>
            <a:ext cx="46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30" name="Line 115"/>
          <p:cNvSpPr/>
          <p:nvPr/>
        </p:nvSpPr>
        <p:spPr>
          <a:xfrm>
            <a:off x="1911240" y="236052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31" name="Rectangle 116"/>
          <p:cNvSpPr/>
          <p:nvPr/>
        </p:nvSpPr>
        <p:spPr>
          <a:xfrm>
            <a:off x="1546200" y="2193840"/>
            <a:ext cx="425880" cy="35172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700" strike="noStrike" u="none">
                <a:solidFill>
                  <a:srgbClr val="ffffff"/>
                </a:solidFill>
                <a:effectLst/>
                <a:uFillTx/>
                <a:latin typeface="Arial"/>
              </a:rPr>
              <a:t>40</a:t>
            </a:r>
            <a:endParaRPr b="0" lang="en-US" sz="1700" strike="noStrike" u="none">
              <a:solidFill>
                <a:srgbClr val="ffff00"/>
              </a:solidFill>
              <a:effectLst/>
              <a:uFillTx/>
              <a:latin typeface="Times New Roman"/>
            </a:endParaRPr>
          </a:p>
        </p:txBody>
      </p:sp>
      <p:sp>
        <p:nvSpPr>
          <p:cNvPr id="1432" name="Rectangle 117"/>
          <p:cNvSpPr/>
          <p:nvPr/>
        </p:nvSpPr>
        <p:spPr>
          <a:xfrm>
            <a:off x="3575880" y="5607000"/>
            <a:ext cx="1400040" cy="41256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100" strike="noStrike" u="none">
                <a:solidFill>
                  <a:srgbClr val="ffffff"/>
                </a:solidFill>
                <a:effectLst/>
                <a:uFillTx/>
                <a:latin typeface="Arial"/>
              </a:rPr>
              <a:t>Age (ans)</a:t>
            </a:r>
            <a:endParaRPr b="0" lang="en-US" sz="2100" strike="noStrike" u="none">
              <a:solidFill>
                <a:srgbClr val="ffff00"/>
              </a:solidFill>
              <a:effectLst/>
              <a:uFillTx/>
              <a:latin typeface="Times New Roman"/>
            </a:endParaRPr>
          </a:p>
        </p:txBody>
      </p:sp>
      <p:sp>
        <p:nvSpPr>
          <p:cNvPr id="1433" name="Rectangle 118"/>
          <p:cNvSpPr/>
          <p:nvPr/>
        </p:nvSpPr>
        <p:spPr>
          <a:xfrm rot="16200000">
            <a:off x="-245520" y="3593880"/>
            <a:ext cx="2837880" cy="41256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100" strike="noStrike" u="none">
                <a:solidFill>
                  <a:srgbClr val="ffffff"/>
                </a:solidFill>
                <a:effectLst/>
                <a:uFillTx/>
                <a:latin typeface="Arial"/>
              </a:rPr>
              <a:t>Hauteur de saut (cm)</a:t>
            </a:r>
            <a:endParaRPr b="0" lang="en-US" sz="2100" strike="noStrike" u="none">
              <a:solidFill>
                <a:srgbClr val="ffff00"/>
              </a:solidFill>
              <a:effectLst/>
              <a:uFillTx/>
              <a:latin typeface="Times New Roman"/>
            </a:endParaRPr>
          </a:p>
        </p:txBody>
      </p:sp>
      <p:pic>
        <p:nvPicPr>
          <p:cNvPr id="1434" name="Picture 119" descr=""/>
          <p:cNvPicPr/>
          <p:nvPr/>
        </p:nvPicPr>
        <p:blipFill>
          <a:blip r:embed="rId1"/>
          <a:srcRect l="4413" t="0" r="2832" b="0"/>
          <a:stretch/>
        </p:blipFill>
        <p:spPr>
          <a:xfrm>
            <a:off x="6519960" y="3200400"/>
            <a:ext cx="1299960" cy="1819440"/>
          </a:xfrm>
          <a:prstGeom prst="rect">
            <a:avLst/>
          </a:prstGeom>
          <a:noFill/>
          <a:ln w="0">
            <a:noFill/>
          </a:ln>
        </p:spPr>
      </p:pic>
      <p:pic>
        <p:nvPicPr>
          <p:cNvPr id="1435" name="Picture 120" descr=""/>
          <p:cNvPicPr/>
          <p:nvPr/>
        </p:nvPicPr>
        <p:blipFill>
          <a:blip r:embed="rId2"/>
          <a:srcRect l="0" t="1062" r="12396" b="0"/>
          <a:stretch/>
        </p:blipFill>
        <p:spPr>
          <a:xfrm>
            <a:off x="2629080" y="1652760"/>
            <a:ext cx="1301400" cy="1776240"/>
          </a:xfrm>
          <a:prstGeom prst="rect">
            <a:avLst/>
          </a:prstGeom>
          <a:noFill/>
          <a:ln w="0">
            <a:noFill/>
          </a:ln>
        </p:spPr>
      </p:pic>
      <p:sp>
        <p:nvSpPr>
          <p:cNvPr id="1436" name="Rectangle 121"/>
          <p:cNvSpPr/>
          <p:nvPr/>
        </p:nvSpPr>
        <p:spPr>
          <a:xfrm>
            <a:off x="2574360" y="1706400"/>
            <a:ext cx="73620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3333cc"/>
                </a:solidFill>
                <a:effectLst/>
                <a:uFillTx/>
                <a:latin typeface="Times New Roman"/>
              </a:rPr>
              <a:t>CMJ</a:t>
            </a:r>
            <a:endParaRPr b="0" lang="en-US" sz="2000" strike="noStrike" u="none">
              <a:solidFill>
                <a:srgbClr val="ffff00"/>
              </a:solidFill>
              <a:effectLst/>
              <a:uFillTx/>
              <a:latin typeface="Times New Roman"/>
            </a:endParaRPr>
          </a:p>
        </p:txBody>
      </p:sp>
      <p:sp>
        <p:nvSpPr>
          <p:cNvPr id="1437" name="Arc 122"/>
          <p:cNvSpPr/>
          <p:nvPr/>
        </p:nvSpPr>
        <p:spPr>
          <a:xfrm>
            <a:off x="4191120" y="2440080"/>
            <a:ext cx="610920" cy="380880"/>
          </a:xfrm>
          <a:custGeom>
            <a:avLst/>
            <a:gdLst>
              <a:gd name="GluePoint1X" fmla="*/ 0 w 21656"/>
              <a:gd name="GluePoint1Y" fmla="*/ 0 h 21600"/>
              <a:gd name="GluePoint2X" fmla="*/ 2147483647 w 21656"/>
              <a:gd name="GluePoint2Y" fmla="*/ 2147483647 h 21600"/>
              <a:gd name="GluePoint3X" fmla="*/ 2147483647 w 21656"/>
              <a:gd name="GluePoint3Y" fmla="*/ 2147483647 h 21600"/>
            </a:gdLst>
            <a:ahLst/>
            <a:cxnLst>
              <a:cxn ang="0">
                <a:pos x="GluePoint1X" y="GluePoint1Y"/>
              </a:cxn>
              <a:cxn ang="0">
                <a:pos x="GluePoint2X" y="GluePoint2Y"/>
              </a:cxn>
              <a:cxn ang="0">
                <a:pos x="GluePoint3X" y="GluePoint3Y"/>
              </a:cxn>
            </a:cxnLst>
            <a:rect l="l" t="t" r="r" b="b"/>
            <a:pathLst>
              <a:path fill="none" w="21656" h="21600">
                <a:moveTo>
                  <a:pt x="0" y="0"/>
                </a:moveTo>
                <a:cubicBezTo>
                  <a:pt x="18" y="0"/>
                  <a:pt x="37" y="-1"/>
                  <a:pt x="56" y="0"/>
                </a:cubicBezTo>
                <a:cubicBezTo>
                  <a:pt x="11985" y="0"/>
                  <a:pt x="21656" y="9670"/>
                  <a:pt x="21656" y="21600"/>
                </a:cubicBezTo>
              </a:path>
              <a:path stroke="0" w="21656" h="21600">
                <a:moveTo>
                  <a:pt x="0" y="0"/>
                </a:moveTo>
                <a:cubicBezTo>
                  <a:pt x="18" y="0"/>
                  <a:pt x="37" y="-1"/>
                  <a:pt x="56" y="0"/>
                </a:cubicBezTo>
                <a:cubicBezTo>
                  <a:pt x="11985" y="0"/>
                  <a:pt x="21656" y="9670"/>
                  <a:pt x="21656" y="21600"/>
                </a:cubicBezTo>
                <a:lnTo>
                  <a:pt x="56" y="21600"/>
                </a:lnTo>
                <a:lnTo>
                  <a:pt x="0" y="0"/>
                </a:lnTo>
                <a:close/>
              </a:path>
            </a:pathLst>
          </a:custGeom>
          <a:noFill/>
          <a:ln cap="rnd" w="50760">
            <a:solidFill>
              <a:srgbClr val="ffff00"/>
            </a:solidFill>
            <a:round/>
            <a:tailEnd len="lg" type="stealth" w="me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38" name="Arc 123"/>
          <p:cNvSpPr/>
          <p:nvPr/>
        </p:nvSpPr>
        <p:spPr>
          <a:xfrm>
            <a:off x="5640480" y="3962520"/>
            <a:ext cx="685800" cy="533160"/>
          </a:xfrm>
          <a:custGeom>
            <a:avLst/>
            <a:gdLst>
              <a:gd name="GluePoint1X" fmla="*/ 2147483647 w 21600"/>
              <a:gd name="GluePoint1Y" fmla="*/ 2147483647 h 21600"/>
              <a:gd name="GluePoint2X" fmla="*/ 0 w 21600"/>
              <a:gd name="GluePoint2Y" fmla="*/ 0 h 21600"/>
              <a:gd name="GluePoint3X" fmla="*/ 2147483647 w 21600"/>
              <a:gd name="GluePoint3Y" fmla="*/ 0 h 21600"/>
            </a:gdLst>
            <a:ahLst/>
            <a:cxnLst>
              <a:cxn ang="0">
                <a:pos x="GluePoint1X" y="GluePoint1Y"/>
              </a:cxn>
              <a:cxn ang="0">
                <a:pos x="GluePoint2X" y="GluePoint2Y"/>
              </a:cxn>
              <a:cxn ang="0">
                <a:pos x="GluePoint3X" y="GluePoint3Y"/>
              </a:cxn>
            </a:cxnLst>
            <a:rect l="l" t="t" r="r" b="b"/>
            <a:pathLst>
              <a:path fill="none" w="21600" h="21600">
                <a:moveTo>
                  <a:pt x="21600" y="21600"/>
                </a:moveTo>
                <a:cubicBezTo>
                  <a:pt x="9670" y="21600"/>
                  <a:pt x="0" y="11929"/>
                  <a:pt x="0" y="0"/>
                </a:cubicBezTo>
              </a:path>
              <a:path stroke="0" w="21600" h="21600">
                <a:moveTo>
                  <a:pt x="21600" y="21600"/>
                </a:moveTo>
                <a:cubicBezTo>
                  <a:pt x="9670" y="21600"/>
                  <a:pt x="0" y="11929"/>
                  <a:pt x="0" y="0"/>
                </a:cubicBezTo>
                <a:lnTo>
                  <a:pt x="21600" y="0"/>
                </a:lnTo>
                <a:lnTo>
                  <a:pt x="21600" y="21600"/>
                </a:lnTo>
                <a:close/>
              </a:path>
            </a:pathLst>
          </a:custGeom>
          <a:noFill/>
          <a:ln cap="rnd" w="50760">
            <a:solidFill>
              <a:srgbClr val="ffff00"/>
            </a:solidFill>
            <a:round/>
            <a:tailEnd len="lg" type="stealth" w="me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39" name="Rectangle 124"/>
          <p:cNvSpPr/>
          <p:nvPr/>
        </p:nvSpPr>
        <p:spPr>
          <a:xfrm>
            <a:off x="6689880" y="3184560"/>
            <a:ext cx="183960" cy="45720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1440" name="Rectangle 125"/>
          <p:cNvSpPr/>
          <p:nvPr/>
        </p:nvSpPr>
        <p:spPr>
          <a:xfrm>
            <a:off x="6613560" y="3260880"/>
            <a:ext cx="183960" cy="45720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1441" name="Rectangle 126"/>
          <p:cNvSpPr/>
          <p:nvPr/>
        </p:nvSpPr>
        <p:spPr>
          <a:xfrm>
            <a:off x="6536520" y="3230640"/>
            <a:ext cx="45396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3333cc"/>
                </a:solidFill>
                <a:effectLst/>
                <a:uFillTx/>
                <a:latin typeface="Times New Roman"/>
              </a:rPr>
              <a:t>SJ</a:t>
            </a:r>
            <a:endParaRPr b="0" lang="en-US" sz="2000" strike="noStrike" u="none">
              <a:solidFill>
                <a:srgbClr val="ffff00"/>
              </a:solidFill>
              <a:effectLst/>
              <a:uFillTx/>
              <a:latin typeface="Times New Roman"/>
            </a:endParaRPr>
          </a:p>
        </p:txBody>
      </p:sp>
    </p:spTree>
  </p:cSld>
  <p:transition spd="med">
    <p:zoom dir="out"/>
  </p:transition>
  <p:timing>
    <p:tnLst>
      <p:par>
        <p:cTn id="1561" dur="indefinite" restart="never" nodeType="tmRoot">
          <p:childTnLst>
            <p:seq>
              <p:cTn id="1562" dur="indefinite" nodeType="mainSeq">
                <p:childTnLst>
                  <p:par>
                    <p:cTn id="1563" nodeType="clickEffect" fill="hold">
                      <p:stCondLst>
                        <p:cond delay="indefinite"/>
                      </p:stCondLst>
                      <p:childTnLst>
                        <p:par>
                          <p:cTn id="1564" nodeType="withEffect" fill="hold">
                            <p:stCondLst>
                              <p:cond delay="0"/>
                            </p:stCondLst>
                            <p:childTnLst>
                              <p:par>
                                <p:cTn id="1565" nodeType="clickEffect" fill="hold" presetClass="entr" presetID="1">
                                  <p:stCondLst>
                                    <p:cond delay="0"/>
                                  </p:stCondLst>
                                  <p:childTnLst>
                                    <p:set>
                                      <p:cBhvr>
                                        <p:cTn id="1566" dur="1" fill="hold">
                                          <p:stCondLst>
                                            <p:cond delay="499"/>
                                          </p:stCondLst>
                                        </p:cTn>
                                        <p:tgtEl>
                                          <p:spTgt spid="1434"/>
                                        </p:tgtEl>
                                        <p:attrNameLst>
                                          <p:attrName>style.visibility</p:attrName>
                                        </p:attrNameLst>
                                      </p:cBhvr>
                                      <p:to>
                                        <p:strVal val="visible"/>
                                      </p:to>
                                    </p:set>
                                  </p:childTnLst>
                                </p:cTn>
                              </p:par>
                            </p:childTnLst>
                          </p:cTn>
                        </p:par>
                      </p:childTnLst>
                    </p:cTn>
                  </p:par>
                  <p:par>
                    <p:cTn id="1567" nodeType="clickEffect" fill="hold">
                      <p:stCondLst>
                        <p:cond delay="indefinite"/>
                      </p:stCondLst>
                      <p:childTnLst>
                        <p:par>
                          <p:cTn id="1568" nodeType="withEffect" fill="hold">
                            <p:stCondLst>
                              <p:cond delay="0"/>
                            </p:stCondLst>
                            <p:childTnLst>
                              <p:par>
                                <p:cTn id="1569" nodeType="clickEffect" fill="hold" presetClass="entr" presetID="1">
                                  <p:stCondLst>
                                    <p:cond delay="0"/>
                                  </p:stCondLst>
                                  <p:childTnLst>
                                    <p:set>
                                      <p:cBhvr>
                                        <p:cTn id="1570" dur="1" fill="hold">
                                          <p:stCondLst>
                                            <p:cond delay="499"/>
                                          </p:stCondLst>
                                        </p:cTn>
                                        <p:tgtEl>
                                          <p:spTgt spid="1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2" name="PlaceHolder 1"/>
          <p:cNvSpPr>
            <a:spLocks noGrp="1"/>
          </p:cNvSpPr>
          <p:nvPr>
            <p:ph type="title"/>
          </p:nvPr>
        </p:nvSpPr>
        <p:spPr>
          <a:xfrm>
            <a:off x="685800" y="609480"/>
            <a:ext cx="7772400" cy="90648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ff"/>
                </a:solidFill>
                <a:effectLst/>
                <a:uFillTx/>
                <a:latin typeface="Arial"/>
              </a:rPr>
              <a:t>Elasticité musculaire</a:t>
            </a:r>
            <a:endParaRPr b="0" lang="en-US" sz="3600" strike="noStrike" u="none">
              <a:solidFill>
                <a:srgbClr val="ffffff"/>
              </a:solidFill>
              <a:effectLst/>
              <a:uFillTx/>
              <a:latin typeface="Times New Roman"/>
            </a:endParaRPr>
          </a:p>
        </p:txBody>
      </p:sp>
      <p:pic>
        <p:nvPicPr>
          <p:cNvPr id="1443" name="Picture 3" descr=""/>
          <p:cNvPicPr/>
          <p:nvPr/>
        </p:nvPicPr>
        <p:blipFill>
          <a:blip r:embed="rId1"/>
          <a:stretch/>
        </p:blipFill>
        <p:spPr>
          <a:xfrm>
            <a:off x="1295280" y="1828800"/>
            <a:ext cx="6400800" cy="4240080"/>
          </a:xfrm>
          <a:prstGeom prst="rect">
            <a:avLst/>
          </a:prstGeom>
          <a:noFill/>
          <a:ln w="0">
            <a:noFill/>
          </a:ln>
        </p:spPr>
      </p:pic>
      <p:sp>
        <p:nvSpPr>
          <p:cNvPr id="1444" name="Text Box 4"/>
          <p:cNvSpPr/>
          <p:nvPr/>
        </p:nvSpPr>
        <p:spPr>
          <a:xfrm>
            <a:off x="5773320" y="6186600"/>
            <a:ext cx="307152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66ff66"/>
                </a:solidFill>
                <a:effectLst/>
                <a:uFillTx/>
                <a:latin typeface="Times New Roman"/>
              </a:rPr>
              <a:t>D’après Bosco et al. (1991)</a:t>
            </a:r>
            <a:endParaRPr b="0" lang="en-US" sz="2000" strike="noStrike" u="none">
              <a:solidFill>
                <a:srgbClr val="ffff00"/>
              </a:solidFill>
              <a:effectLst/>
              <a:uFillTx/>
              <a:latin typeface="Times New Roman"/>
            </a:endParaRPr>
          </a:p>
        </p:txBody>
      </p:sp>
    </p:spTree>
  </p:cSld>
  <p:transition spd="med">
    <p:zoom dir="out"/>
  </p:transition>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5" name="PlaceHolder 1"/>
          <p:cNvSpPr>
            <a:spLocks noGrp="1"/>
          </p:cNvSpPr>
          <p:nvPr>
            <p:ph type="title"/>
          </p:nvPr>
        </p:nvSpPr>
        <p:spPr>
          <a:xfrm>
            <a:off x="685800" y="609120"/>
            <a:ext cx="7772400" cy="1063800"/>
          </a:xfrm>
          <a:prstGeom prst="rect">
            <a:avLst/>
          </a:prstGeom>
          <a:noFill/>
          <a:ln w="0">
            <a:noFill/>
          </a:ln>
        </p:spPr>
        <p:txBody>
          <a:bodyPr lIns="92160" rIns="92160" tIns="46080" bIns="4608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Times New Roman"/>
              </a:rPr>
              <a:t>Force-endurance</a:t>
            </a:r>
            <a:endParaRPr b="0" lang="en-US" sz="4400" strike="noStrike" u="none">
              <a:solidFill>
                <a:srgbClr val="ffffff"/>
              </a:solidFill>
              <a:effectLst/>
              <a:uFillTx/>
              <a:latin typeface="Times New Roman"/>
            </a:endParaRPr>
          </a:p>
        </p:txBody>
      </p:sp>
      <p:pic>
        <p:nvPicPr>
          <p:cNvPr id="1446" name="Picture 3" descr=""/>
          <p:cNvPicPr/>
          <p:nvPr/>
        </p:nvPicPr>
        <p:blipFill>
          <a:blip r:embed="rId1"/>
          <a:srcRect l="0" t="22753" r="11348" b="1243"/>
          <a:stretch/>
        </p:blipFill>
        <p:spPr>
          <a:xfrm>
            <a:off x="1020600" y="1600200"/>
            <a:ext cx="6931080" cy="4495680"/>
          </a:xfrm>
          <a:prstGeom prst="rect">
            <a:avLst/>
          </a:prstGeom>
          <a:noFill/>
          <a:ln w="0">
            <a:noFill/>
          </a:ln>
        </p:spPr>
      </p:pic>
      <p:sp>
        <p:nvSpPr>
          <p:cNvPr id="1447" name="Rectangle 4"/>
          <p:cNvSpPr/>
          <p:nvPr/>
        </p:nvSpPr>
        <p:spPr>
          <a:xfrm>
            <a:off x="4704480" y="6354720"/>
            <a:ext cx="389628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66ff66"/>
                </a:solidFill>
                <a:effectLst/>
                <a:uFillTx/>
                <a:latin typeface="Times New Roman"/>
              </a:rPr>
              <a:t>D’après  Hayden et Yuhasz (1965)</a:t>
            </a:r>
            <a:endParaRPr b="0" lang="en-US" sz="2000" strike="noStrike" u="none">
              <a:solidFill>
                <a:srgbClr val="ffff00"/>
              </a:solidFill>
              <a:effectLst/>
              <a:uFillTx/>
              <a:latin typeface="Times New Roman"/>
            </a:endParaRPr>
          </a:p>
        </p:txBody>
      </p:sp>
    </p:spTree>
  </p:cSld>
  <p:transition spd="med">
    <p:zoom dir="out"/>
  </p:transition>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8" name="PlaceHolder 1"/>
          <p:cNvSpPr>
            <a:spLocks noGrp="1"/>
          </p:cNvSpPr>
          <p:nvPr>
            <p:ph type="title"/>
          </p:nvPr>
        </p:nvSpPr>
        <p:spPr>
          <a:xfrm>
            <a:off x="394920" y="1125360"/>
            <a:ext cx="8381880" cy="1105200"/>
          </a:xfrm>
          <a:prstGeom prst="rect">
            <a:avLst/>
          </a:prstGeom>
          <a:noFill/>
          <a:ln w="0">
            <a:noFill/>
          </a:ln>
        </p:spPr>
        <p:txBody>
          <a:bodyPr lIns="92160" rIns="92160" tIns="46080" bIns="4608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000" strike="noStrike" u="none">
                <a:solidFill>
                  <a:srgbClr val="ffffff"/>
                </a:solidFill>
                <a:effectLst/>
                <a:uFillTx/>
                <a:latin typeface="Times New Roman"/>
              </a:rPr>
              <a:t>Mécanismes responsables de l’accroissement en force </a:t>
            </a:r>
            <a:br>
              <a:rPr sz="4000"/>
            </a:br>
            <a:r>
              <a:rPr b="0" lang="fr-BE" sz="4000" strike="noStrike" u="none">
                <a:solidFill>
                  <a:srgbClr val="ffffff"/>
                </a:solidFill>
                <a:effectLst/>
                <a:uFillTx/>
                <a:latin typeface="Times New Roman"/>
              </a:rPr>
              <a:t>chez l’enfant et l’adolescent</a:t>
            </a:r>
            <a:endParaRPr b="0" lang="en-US" sz="4000" strike="noStrike" u="none">
              <a:solidFill>
                <a:srgbClr val="ffffff"/>
              </a:solidFill>
              <a:effectLst/>
              <a:uFillTx/>
              <a:latin typeface="Times New Roman"/>
            </a:endParaRPr>
          </a:p>
        </p:txBody>
      </p:sp>
      <p:sp>
        <p:nvSpPr>
          <p:cNvPr id="1449" name="PlaceHolder 2"/>
          <p:cNvSpPr>
            <a:spLocks noGrp="1"/>
          </p:cNvSpPr>
          <p:nvPr>
            <p:ph/>
          </p:nvPr>
        </p:nvSpPr>
        <p:spPr>
          <a:xfrm>
            <a:off x="468360" y="2565000"/>
            <a:ext cx="8153280" cy="3962520"/>
          </a:xfrm>
          <a:prstGeom prst="rect">
            <a:avLst/>
          </a:prstGeom>
          <a:noFill/>
          <a:ln w="0">
            <a:noFill/>
          </a:ln>
        </p:spPr>
        <p:txBody>
          <a:bodyPr lIns="92160" rIns="92160" tIns="46080" bIns="46080" anchor="t">
            <a:normAutofit/>
          </a:bodyPr>
          <a:p>
            <a:pPr marL="343080" indent="-343080">
              <a:lnSpc>
                <a:spcPct val="115000"/>
              </a:lnSpc>
              <a:spcBef>
                <a:spcPts val="700"/>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00"/>
                </a:solidFill>
                <a:effectLst/>
                <a:uFillTx/>
                <a:latin typeface="Times New Roman"/>
              </a:rPr>
              <a:t>Augmentation de la masse musculaire</a:t>
            </a:r>
            <a:endParaRPr b="0" lang="en-US" sz="2800" strike="noStrike" u="none">
              <a:solidFill>
                <a:srgbClr val="ffff00"/>
              </a:solidFill>
              <a:effectLst/>
              <a:uFillTx/>
              <a:latin typeface="Times New Roman"/>
            </a:endParaRPr>
          </a:p>
          <a:p>
            <a:pPr marL="343080" indent="-343080">
              <a:lnSpc>
                <a:spcPct val="115000"/>
              </a:lnSpc>
              <a:spcBef>
                <a:spcPts val="700"/>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00"/>
                </a:solidFill>
                <a:effectLst/>
                <a:uFillTx/>
                <a:latin typeface="Times New Roman"/>
              </a:rPr>
              <a:t>Amélioration de l’activation nerveuse</a:t>
            </a:r>
            <a:endParaRPr b="0" lang="en-US" sz="2800" strike="noStrike" u="none">
              <a:solidFill>
                <a:srgbClr val="ffff00"/>
              </a:solidFill>
              <a:effectLst/>
              <a:uFillTx/>
              <a:latin typeface="Times New Roman"/>
            </a:endParaRPr>
          </a:p>
          <a:p>
            <a:pPr marL="343080" indent="-343080">
              <a:lnSpc>
                <a:spcPct val="115000"/>
              </a:lnSpc>
              <a:spcBef>
                <a:spcPts val="700"/>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00"/>
                </a:solidFill>
                <a:effectLst/>
                <a:uFillTx/>
                <a:latin typeface="Times New Roman"/>
              </a:rPr>
              <a:t>Amélioration de la restitution de l’énergie élastique</a:t>
            </a:r>
            <a:endParaRPr b="0" lang="en-US" sz="2800" strike="noStrike" u="none">
              <a:solidFill>
                <a:srgbClr val="ffff00"/>
              </a:solidFill>
              <a:effectLst/>
              <a:uFillTx/>
              <a:latin typeface="Times New Roman"/>
            </a:endParaRPr>
          </a:p>
          <a:p>
            <a:pPr marL="343080" indent="-343080">
              <a:lnSpc>
                <a:spcPct val="115000"/>
              </a:lnSpc>
              <a:spcBef>
                <a:spcPts val="700"/>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00"/>
                </a:solidFill>
                <a:effectLst/>
                <a:uFillTx/>
                <a:latin typeface="Times New Roman"/>
              </a:rPr>
              <a:t>Intensification du couplage excitation-contraction?</a:t>
            </a:r>
            <a:endParaRPr b="0" lang="en-US" sz="2800" strike="noStrike" u="none">
              <a:solidFill>
                <a:srgbClr val="ffff00"/>
              </a:solidFill>
              <a:effectLst/>
              <a:uFillTx/>
              <a:latin typeface="Times New Roman"/>
            </a:endParaRPr>
          </a:p>
          <a:p>
            <a:pPr marL="343080" indent="-343080">
              <a:lnSpc>
                <a:spcPct val="115000"/>
              </a:lnSpc>
              <a:spcBef>
                <a:spcPts val="700"/>
              </a:spcBef>
              <a:buClr>
                <a:srgbClr val="ffff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BE" sz="2800" strike="noStrike" u="none">
                <a:solidFill>
                  <a:srgbClr val="ffff00"/>
                </a:solidFill>
                <a:effectLst/>
                <a:uFillTx/>
                <a:latin typeface="Times New Roman"/>
              </a:rPr>
              <a:t>Amélioration de la transmission de la force?</a:t>
            </a:r>
            <a:endParaRPr b="0" lang="en-US" sz="2800" strike="noStrike" u="none">
              <a:solidFill>
                <a:srgbClr val="ffff00"/>
              </a:solidFill>
              <a:effectLst/>
              <a:uFillTx/>
              <a:latin typeface="Times New Roman"/>
            </a:endParaRPr>
          </a:p>
        </p:txBody>
      </p:sp>
    </p:spTree>
  </p:cSld>
  <p:transition spd="med">
    <p:zoom dir="out"/>
  </p:transition>
  <p:timing>
    <p:tnLst>
      <p:par>
        <p:cTn id="1571" dur="indefinite" restart="never" nodeType="tmRoot">
          <p:childTnLst>
            <p:seq>
              <p:cTn id="1572" dur="indefinite" nodeType="mainSeq">
                <p:childTnLst>
                  <p:par>
                    <p:cTn id="1573" nodeType="clickEffect" fill="hold">
                      <p:stCondLst>
                        <p:cond delay="indefinite"/>
                      </p:stCondLst>
                      <p:childTnLst>
                        <p:par>
                          <p:cTn id="1574" nodeType="withEffect" fill="hold">
                            <p:stCondLst>
                              <p:cond delay="0"/>
                            </p:stCondLst>
                            <p:childTnLst>
                              <p:par>
                                <p:cTn id="1575" nodeType="clickEffect" fill="hold" presetClass="entr" presetID="1">
                                  <p:stCondLst>
                                    <p:cond delay="0"/>
                                  </p:stCondLst>
                                  <p:childTnLst>
                                    <p:set>
                                      <p:cBhvr>
                                        <p:cTn id="1576" dur="1" fill="hold">
                                          <p:stCondLst>
                                            <p:cond delay="499"/>
                                          </p:stCondLst>
                                        </p:cTn>
                                        <p:tgtEl>
                                          <p:spTgt spid="1449">
                                            <p:txEl>
                                              <p:pRg st="0" end="0"/>
                                            </p:txEl>
                                          </p:spTgt>
                                        </p:tgtEl>
                                        <p:attrNameLst>
                                          <p:attrName>style.visibility</p:attrName>
                                        </p:attrNameLst>
                                      </p:cBhvr>
                                      <p:to>
                                        <p:strVal val="visible"/>
                                      </p:to>
                                    </p:set>
                                  </p:childTnLst>
                                </p:cTn>
                              </p:par>
                            </p:childTnLst>
                          </p:cTn>
                        </p:par>
                      </p:childTnLst>
                    </p:cTn>
                  </p:par>
                  <p:par>
                    <p:cTn id="1577" nodeType="clickEffect" fill="hold">
                      <p:stCondLst>
                        <p:cond delay="indefinite"/>
                      </p:stCondLst>
                      <p:childTnLst>
                        <p:par>
                          <p:cTn id="1578" nodeType="withEffect" fill="hold">
                            <p:stCondLst>
                              <p:cond delay="0"/>
                            </p:stCondLst>
                            <p:childTnLst>
                              <p:par>
                                <p:cTn id="1579" nodeType="clickEffect" fill="hold" presetClass="entr" presetID="1">
                                  <p:stCondLst>
                                    <p:cond delay="0"/>
                                  </p:stCondLst>
                                  <p:childTnLst>
                                    <p:set>
                                      <p:cBhvr>
                                        <p:cTn id="1580" dur="1" fill="hold">
                                          <p:stCondLst>
                                            <p:cond delay="499"/>
                                          </p:stCondLst>
                                        </p:cTn>
                                        <p:tgtEl>
                                          <p:spTgt spid="1449">
                                            <p:txEl>
                                              <p:pRg st="1" end="1"/>
                                            </p:txEl>
                                          </p:spTgt>
                                        </p:tgtEl>
                                        <p:attrNameLst>
                                          <p:attrName>style.visibility</p:attrName>
                                        </p:attrNameLst>
                                      </p:cBhvr>
                                      <p:to>
                                        <p:strVal val="visible"/>
                                      </p:to>
                                    </p:set>
                                  </p:childTnLst>
                                </p:cTn>
                              </p:par>
                            </p:childTnLst>
                          </p:cTn>
                        </p:par>
                      </p:childTnLst>
                    </p:cTn>
                  </p:par>
                  <p:par>
                    <p:cTn id="1581" nodeType="clickEffect" fill="hold">
                      <p:stCondLst>
                        <p:cond delay="indefinite"/>
                      </p:stCondLst>
                      <p:childTnLst>
                        <p:par>
                          <p:cTn id="1582" nodeType="withEffect" fill="hold">
                            <p:stCondLst>
                              <p:cond delay="0"/>
                            </p:stCondLst>
                            <p:childTnLst>
                              <p:par>
                                <p:cTn id="1583" nodeType="clickEffect" fill="hold" presetClass="entr" presetID="1">
                                  <p:stCondLst>
                                    <p:cond delay="0"/>
                                  </p:stCondLst>
                                  <p:childTnLst>
                                    <p:set>
                                      <p:cBhvr>
                                        <p:cTn id="1584" dur="1" fill="hold">
                                          <p:stCondLst>
                                            <p:cond delay="499"/>
                                          </p:stCondLst>
                                        </p:cTn>
                                        <p:tgtEl>
                                          <p:spTgt spid="1449">
                                            <p:txEl>
                                              <p:pRg st="2" end="2"/>
                                            </p:txEl>
                                          </p:spTgt>
                                        </p:tgtEl>
                                        <p:attrNameLst>
                                          <p:attrName>style.visibility</p:attrName>
                                        </p:attrNameLst>
                                      </p:cBhvr>
                                      <p:to>
                                        <p:strVal val="visible"/>
                                      </p:to>
                                    </p:set>
                                  </p:childTnLst>
                                </p:cTn>
                              </p:par>
                            </p:childTnLst>
                          </p:cTn>
                        </p:par>
                      </p:childTnLst>
                    </p:cTn>
                  </p:par>
                  <p:par>
                    <p:cTn id="1585" nodeType="clickEffect" fill="hold">
                      <p:stCondLst>
                        <p:cond delay="indefinite"/>
                      </p:stCondLst>
                      <p:childTnLst>
                        <p:par>
                          <p:cTn id="1586" nodeType="withEffect" fill="hold">
                            <p:stCondLst>
                              <p:cond delay="0"/>
                            </p:stCondLst>
                            <p:childTnLst>
                              <p:par>
                                <p:cTn id="1587" nodeType="clickEffect" fill="hold" presetClass="entr" presetID="1">
                                  <p:stCondLst>
                                    <p:cond delay="0"/>
                                  </p:stCondLst>
                                  <p:childTnLst>
                                    <p:set>
                                      <p:cBhvr>
                                        <p:cTn id="1588" dur="1" fill="hold">
                                          <p:stCondLst>
                                            <p:cond delay="499"/>
                                          </p:stCondLst>
                                        </p:cTn>
                                        <p:tgtEl>
                                          <p:spTgt spid="1449">
                                            <p:txEl>
                                              <p:pRg st="3" end="3"/>
                                            </p:txEl>
                                          </p:spTgt>
                                        </p:tgtEl>
                                        <p:attrNameLst>
                                          <p:attrName>style.visibility</p:attrName>
                                        </p:attrNameLst>
                                      </p:cBhvr>
                                      <p:to>
                                        <p:strVal val="visible"/>
                                      </p:to>
                                    </p:set>
                                  </p:childTnLst>
                                </p:cTn>
                              </p:par>
                            </p:childTnLst>
                          </p:cTn>
                        </p:par>
                      </p:childTnLst>
                    </p:cTn>
                  </p:par>
                  <p:par>
                    <p:cTn id="1589" nodeType="clickEffect" fill="hold">
                      <p:stCondLst>
                        <p:cond delay="indefinite"/>
                      </p:stCondLst>
                      <p:childTnLst>
                        <p:par>
                          <p:cTn id="1590" nodeType="withEffect" fill="hold">
                            <p:stCondLst>
                              <p:cond delay="0"/>
                            </p:stCondLst>
                            <p:childTnLst>
                              <p:par>
                                <p:cTn id="1591" nodeType="clickEffect" fill="hold" presetClass="entr" presetID="1">
                                  <p:stCondLst>
                                    <p:cond delay="0"/>
                                  </p:stCondLst>
                                  <p:childTnLst>
                                    <p:set>
                                      <p:cBhvr>
                                        <p:cTn id="1592" dur="1" fill="hold">
                                          <p:stCondLst>
                                            <p:cond delay="499"/>
                                          </p:stCondLst>
                                        </p:cTn>
                                        <p:tgtEl>
                                          <p:spTgt spid="1449">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0" name="Text Box 2"/>
          <p:cNvSpPr/>
          <p:nvPr/>
        </p:nvSpPr>
        <p:spPr>
          <a:xfrm>
            <a:off x="3839760" y="765000"/>
            <a:ext cx="4274280" cy="15573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omic Sans MS"/>
              </a:rPr>
              <a:t>Peut-on et doit-on entraîner </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omic Sans MS"/>
              </a:rPr>
              <a:t>la force chez l’enfant </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omic Sans MS"/>
              </a:rPr>
              <a:t>et l’adolescent?</a:t>
            </a:r>
            <a:endParaRPr b="0" lang="en-US" sz="3200" strike="noStrike" u="none">
              <a:solidFill>
                <a:srgbClr val="ffff00"/>
              </a:solidFill>
              <a:effectLst/>
              <a:uFillTx/>
              <a:latin typeface="Times New Roman"/>
            </a:endParaRPr>
          </a:p>
        </p:txBody>
      </p:sp>
      <p:pic>
        <p:nvPicPr>
          <p:cNvPr id="1451" name="Picture 3" descr="dia9"/>
          <p:cNvPicPr/>
          <p:nvPr/>
        </p:nvPicPr>
        <p:blipFill>
          <a:blip r:embed="rId1"/>
          <a:srcRect l="7808" t="17999" r="18967" b="9716"/>
          <a:stretch/>
        </p:blipFill>
        <p:spPr>
          <a:xfrm>
            <a:off x="152280" y="0"/>
            <a:ext cx="2641680" cy="3809880"/>
          </a:xfrm>
          <a:prstGeom prst="rect">
            <a:avLst/>
          </a:prstGeom>
          <a:noFill/>
          <a:ln w="0">
            <a:noFill/>
          </a:ln>
        </p:spPr>
      </p:pic>
      <p:pic>
        <p:nvPicPr>
          <p:cNvPr id="1452" name="Picture 4" descr="presse"/>
          <p:cNvPicPr/>
          <p:nvPr/>
        </p:nvPicPr>
        <p:blipFill>
          <a:blip r:embed="rId2"/>
          <a:stretch/>
        </p:blipFill>
        <p:spPr>
          <a:xfrm>
            <a:off x="5029200" y="2819520"/>
            <a:ext cx="2852640" cy="3733560"/>
          </a:xfrm>
          <a:prstGeom prst="rect">
            <a:avLst/>
          </a:prstGeom>
          <a:noFill/>
          <a:ln w="0">
            <a:noFill/>
          </a:ln>
        </p:spPr>
      </p:pic>
    </p:spTree>
  </p:cSld>
  <p:transition spd="med">
    <p:zoom dir="out"/>
  </p:transition>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3" name="PlaceHolder 1"/>
          <p:cNvSpPr>
            <a:spLocks noGrp="1"/>
          </p:cNvSpPr>
          <p:nvPr>
            <p:ph type="title"/>
          </p:nvPr>
        </p:nvSpPr>
        <p:spPr>
          <a:xfrm>
            <a:off x="685800" y="75960"/>
            <a:ext cx="7772400" cy="1143000"/>
          </a:xfrm>
          <a:prstGeom prst="rect">
            <a:avLst/>
          </a:prstGeom>
          <a:noFill/>
          <a:ln w="0">
            <a:noFill/>
          </a:ln>
        </p:spPr>
        <p:txBody>
          <a:bodyPr lIns="92160" rIns="92160" tIns="46080" bIns="4608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Arial"/>
              </a:rPr>
              <a:t>Bénéfices de la musculation</a:t>
            </a:r>
            <a:endParaRPr b="0" lang="en-US" sz="4400" strike="noStrike" u="none">
              <a:solidFill>
                <a:srgbClr val="ffffff"/>
              </a:solidFill>
              <a:effectLst/>
              <a:uFillTx/>
              <a:latin typeface="Times New Roman"/>
            </a:endParaRPr>
          </a:p>
        </p:txBody>
      </p:sp>
      <p:sp>
        <p:nvSpPr>
          <p:cNvPr id="1454" name="PlaceHolder 2"/>
          <p:cNvSpPr>
            <a:spLocks noGrp="1"/>
          </p:cNvSpPr>
          <p:nvPr>
            <p:ph/>
          </p:nvPr>
        </p:nvSpPr>
        <p:spPr>
          <a:xfrm>
            <a:off x="837720" y="1676160"/>
            <a:ext cx="5334120" cy="533160"/>
          </a:xfrm>
          <a:prstGeom prst="rect">
            <a:avLst/>
          </a:prstGeom>
          <a:noFill/>
          <a:ln w="0">
            <a:noFill/>
          </a:ln>
        </p:spPr>
        <p:txBody>
          <a:bodyPr lIns="92160" rIns="92160" tIns="46080" bIns="46080" anchor="t">
            <a:normAutofit fontScale="92500" lnSpcReduction="19999"/>
          </a:bodyPr>
          <a:p>
            <a:pPr marL="674640" indent="-67464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  Force et /ou puissance musculaire</a:t>
            </a:r>
            <a:r>
              <a:rPr b="0" lang="fr-BE" sz="2400" strike="noStrike" u="none">
                <a:solidFill>
                  <a:srgbClr val="ffff00"/>
                </a:solidFill>
                <a:effectLst/>
                <a:uFillTx/>
                <a:latin typeface="Arial"/>
              </a:rPr>
              <a:t>	</a:t>
            </a:r>
            <a:r>
              <a:rPr b="0" lang="fr-BE"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p:txBody>
      </p:sp>
      <p:sp>
        <p:nvSpPr>
          <p:cNvPr id="1455" name="Line 4"/>
          <p:cNvSpPr/>
          <p:nvPr/>
        </p:nvSpPr>
        <p:spPr>
          <a:xfrm flipV="1">
            <a:off x="685800" y="1752120"/>
            <a:ext cx="152280" cy="228600"/>
          </a:xfrm>
          <a:prstGeom prst="line">
            <a:avLst/>
          </a:prstGeom>
          <a:ln w="25560">
            <a:solidFill>
              <a:srgbClr val="ffff00"/>
            </a:solidFill>
            <a:miter/>
            <a:tailEnd len="med"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56" name="Line 5"/>
          <p:cNvSpPr/>
          <p:nvPr/>
        </p:nvSpPr>
        <p:spPr>
          <a:xfrm flipV="1">
            <a:off x="685800" y="2590560"/>
            <a:ext cx="152280" cy="228600"/>
          </a:xfrm>
          <a:prstGeom prst="line">
            <a:avLst/>
          </a:prstGeom>
          <a:ln w="25560">
            <a:solidFill>
              <a:srgbClr val="ffff00"/>
            </a:solidFill>
            <a:miter/>
            <a:tailEnd len="med"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57" name="AutoShape 6"/>
          <p:cNvSpPr/>
          <p:nvPr/>
        </p:nvSpPr>
        <p:spPr>
          <a:xfrm>
            <a:off x="380880" y="3581280"/>
            <a:ext cx="381240" cy="228600"/>
          </a:xfrm>
          <a:prstGeom prst="rightArrow">
            <a:avLst>
              <a:gd name="adj1" fmla="val 50000"/>
              <a:gd name="adj2" fmla="val 83393"/>
            </a:avLst>
          </a:prstGeom>
          <a:solidFill>
            <a:srgbClr val="11ee1e"/>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58" name="Text Box 7"/>
          <p:cNvSpPr/>
          <p:nvPr/>
        </p:nvSpPr>
        <p:spPr>
          <a:xfrm>
            <a:off x="919440" y="4648320"/>
            <a:ext cx="77540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Prévention des blessures pendant les activités sportives</a:t>
            </a:r>
            <a:endParaRPr b="0" lang="en-US" sz="2400" strike="noStrike" u="none">
              <a:solidFill>
                <a:srgbClr val="ffff00"/>
              </a:solidFill>
              <a:effectLst/>
              <a:uFillTx/>
              <a:latin typeface="Times New Roman"/>
            </a:endParaRPr>
          </a:p>
        </p:txBody>
      </p:sp>
      <p:sp>
        <p:nvSpPr>
          <p:cNvPr id="1459" name="Text Box 8"/>
          <p:cNvSpPr/>
          <p:nvPr/>
        </p:nvSpPr>
        <p:spPr>
          <a:xfrm>
            <a:off x="990720" y="3352680"/>
            <a:ext cx="756108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66ff66"/>
                </a:solidFill>
                <a:effectLst/>
                <a:uFillTx/>
                <a:latin typeface="Arial"/>
              </a:rPr>
              <a:t>Amélioration de la capacité de performance dans les activités sportives (loisirs ou compétition)</a:t>
            </a:r>
            <a:endParaRPr b="0" lang="en-US" sz="2400" strike="noStrike" u="none">
              <a:solidFill>
                <a:srgbClr val="ffff00"/>
              </a:solidFill>
              <a:effectLst/>
              <a:uFillTx/>
              <a:latin typeface="Times New Roman"/>
            </a:endParaRPr>
          </a:p>
        </p:txBody>
      </p:sp>
      <p:sp>
        <p:nvSpPr>
          <p:cNvPr id="1460" name="Text Box 9"/>
          <p:cNvSpPr/>
          <p:nvPr/>
        </p:nvSpPr>
        <p:spPr>
          <a:xfrm>
            <a:off x="992160" y="2438280"/>
            <a:ext cx="475272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2400" strike="noStrike" u="none">
                <a:solidFill>
                  <a:srgbClr val="ffff00"/>
                </a:solidFill>
                <a:effectLst/>
                <a:uFillTx/>
                <a:latin typeface="Arial"/>
              </a:rPr>
              <a:t>Endurance musculaire locale</a:t>
            </a:r>
            <a:r>
              <a:rPr b="0" lang="fr-BE"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p:txBody>
      </p:sp>
    </p:spTree>
  </p:cSld>
  <p:timing>
    <p:tnLst>
      <p:par>
        <p:cTn id="1593" dur="indefinite" restart="never" nodeType="tmRoot">
          <p:childTnLst>
            <p:seq>
              <p:cTn id="1594" dur="indefinite" nodeType="mainSeq">
                <p:childTnLst>
                  <p:par>
                    <p:cTn id="1595" nodeType="clickEffect" fill="hold">
                      <p:stCondLst>
                        <p:cond delay="indefinite"/>
                      </p:stCondLst>
                      <p:childTnLst>
                        <p:par>
                          <p:cTn id="1596" nodeType="withEffect" fill="hold">
                            <p:stCondLst>
                              <p:cond delay="0"/>
                            </p:stCondLst>
                            <p:childTnLst>
                              <p:par>
                                <p:cTn id="1597" nodeType="clickEffect" fill="hold" presetClass="entr" presetID="9">
                                  <p:stCondLst>
                                    <p:cond delay="0"/>
                                  </p:stCondLst>
                                  <p:childTnLst>
                                    <p:set>
                                      <p:cBhvr>
                                        <p:cTn id="1598" dur="1" fill="hold">
                                          <p:stCondLst>
                                            <p:cond delay="0"/>
                                          </p:stCondLst>
                                        </p:cTn>
                                        <p:tgtEl>
                                          <p:spTgt spid="1455"/>
                                        </p:tgtEl>
                                        <p:attrNameLst>
                                          <p:attrName>style.visibility</p:attrName>
                                        </p:attrNameLst>
                                      </p:cBhvr>
                                      <p:to>
                                        <p:strVal val="visible"/>
                                      </p:to>
                                    </p:set>
                                    <p:animEffect filter="dissolve" transition="in">
                                      <p:cBhvr additive="repl">
                                        <p:cTn id="1599" dur="500"/>
                                        <p:tgtEl>
                                          <p:spTgt spid="1455"/>
                                        </p:tgtEl>
                                      </p:cBhvr>
                                    </p:animEffect>
                                  </p:childTnLst>
                                </p:cTn>
                              </p:par>
                            </p:childTnLst>
                          </p:cTn>
                        </p:par>
                        <p:par>
                          <p:cTn id="1600" nodeType="afterEffect" fill="hold">
                            <p:stCondLst>
                              <p:cond delay="500"/>
                            </p:stCondLst>
                            <p:childTnLst>
                              <p:par>
                                <p:cTn id="1601" nodeType="afterEffect" fill="hold" presetClass="entr" presetID="9">
                                  <p:stCondLst>
                                    <p:cond delay="1000"/>
                                  </p:stCondLst>
                                  <p:childTnLst>
                                    <p:set>
                                      <p:cBhvr>
                                        <p:cTn id="1602" dur="1" fill="hold">
                                          <p:stCondLst>
                                            <p:cond delay="0"/>
                                          </p:stCondLst>
                                        </p:cTn>
                                        <p:tgtEl>
                                          <p:spTgt spid="1454">
                                            <p:txEl>
                                              <p:pRg st="0" end="0"/>
                                            </p:txEl>
                                          </p:spTgt>
                                        </p:tgtEl>
                                        <p:attrNameLst>
                                          <p:attrName>style.visibility</p:attrName>
                                        </p:attrNameLst>
                                      </p:cBhvr>
                                      <p:to>
                                        <p:strVal val="visible"/>
                                      </p:to>
                                    </p:set>
                                    <p:animEffect filter="dissolve" transition="in">
                                      <p:cBhvr additive="repl">
                                        <p:cTn id="1603" dur="500"/>
                                        <p:tgtEl>
                                          <p:spTgt spid="1454">
                                            <p:txEl>
                                              <p:pRg st="0" end="0"/>
                                            </p:txEl>
                                          </p:spTgt>
                                        </p:tgtEl>
                                      </p:cBhvr>
                                    </p:animEffect>
                                  </p:childTnLst>
                                </p:cTn>
                              </p:par>
                              <p:animClr clrSpc="rgb">
                                <p:cBhvr>
                                  <p:cTn id="1604" dur="1" fill="hold">
                                    <p:stCondLst>
                                      <p:cond delay="1000"/>
                                    </p:stCondLst>
                                  </p:cTn>
                                  <p:tgtEl>
                                    <p:spTgt spid="1455"/>
                                  </p:tgtEl>
                                  <p:attrNameLst>
                                    <p:attrName>ppt_c</p:attrName>
                                  </p:attrNameLst>
                                </p:cBhvr>
                                <p:to>
                                  <a:srgbClr val="ccccff"/>
                                </p:to>
                              </p:animClr>
                            </p:childTnLst>
                          </p:cTn>
                        </p:par>
                        <p:par>
                          <p:cTn id="1605" nodeType="afterEffect" fill="hold">
                            <p:stCondLst>
                              <p:cond delay="2000"/>
                            </p:stCondLst>
                            <p:childTnLst>
                              <p:par>
                                <p:cTn id="1606" nodeType="afterEffect" fill="hold" presetClass="entr" presetID="9">
                                  <p:stCondLst>
                                    <p:cond delay="2000"/>
                                  </p:stCondLst>
                                  <p:childTnLst>
                                    <p:set>
                                      <p:cBhvr>
                                        <p:cTn id="1607" dur="1" fill="hold">
                                          <p:stCondLst>
                                            <p:cond delay="0"/>
                                          </p:stCondLst>
                                        </p:cTn>
                                        <p:tgtEl>
                                          <p:spTgt spid="1456"/>
                                        </p:tgtEl>
                                        <p:attrNameLst>
                                          <p:attrName>style.visibility</p:attrName>
                                        </p:attrNameLst>
                                      </p:cBhvr>
                                      <p:to>
                                        <p:strVal val="visible"/>
                                      </p:to>
                                    </p:set>
                                    <p:animEffect filter="dissolve" transition="in">
                                      <p:cBhvr additive="repl">
                                        <p:cTn id="1608" dur="500"/>
                                        <p:tgtEl>
                                          <p:spTgt spid="1456"/>
                                        </p:tgtEl>
                                      </p:cBhvr>
                                    </p:animEffect>
                                  </p:childTnLst>
                                </p:cTn>
                              </p:par>
                              <p:animClr clrSpc="rgb">
                                <p:cBhvr>
                                  <p:cTn id="1609" dur="1" fill="hold">
                                    <p:stCondLst>
                                      <p:cond delay="2000"/>
                                    </p:stCondLst>
                                  </p:cTn>
                                  <p:tgtEl>
                                    <p:spTgt spid="1454">
                                      <p:txEl>
                                        <p:pRg st="0" end="0"/>
                                      </p:txEl>
                                    </p:spTgt>
                                  </p:tgtEl>
                                  <p:attrNameLst>
                                    <p:attrName>ppt_c</p:attrName>
                                  </p:attrNameLst>
                                </p:cBhvr>
                                <p:to>
                                  <a:srgbClr val="ccccff"/>
                                </p:to>
                              </p:animClr>
                            </p:childTnLst>
                          </p:cTn>
                        </p:par>
                        <p:par>
                          <p:cTn id="1610" nodeType="afterEffect" fill="hold">
                            <p:stCondLst>
                              <p:cond delay="4500"/>
                            </p:stCondLst>
                            <p:childTnLst>
                              <p:par>
                                <p:cTn id="1611" nodeType="afterEffect" fill="hold" presetClass="entr" presetID="9">
                                  <p:stCondLst>
                                    <p:cond delay="0"/>
                                  </p:stCondLst>
                                  <p:childTnLst>
                                    <p:set>
                                      <p:cBhvr>
                                        <p:cTn id="1612" dur="1" fill="hold">
                                          <p:stCondLst>
                                            <p:cond delay="0"/>
                                          </p:stCondLst>
                                        </p:cTn>
                                        <p:tgtEl>
                                          <p:spTgt spid="1460"/>
                                        </p:tgtEl>
                                        <p:attrNameLst>
                                          <p:attrName>style.visibility</p:attrName>
                                        </p:attrNameLst>
                                      </p:cBhvr>
                                      <p:to>
                                        <p:strVal val="visible"/>
                                      </p:to>
                                    </p:set>
                                    <p:animEffect filter="dissolve" transition="in">
                                      <p:cBhvr additive="repl">
                                        <p:cTn id="1613" dur="500"/>
                                        <p:tgtEl>
                                          <p:spTgt spid="1460"/>
                                        </p:tgtEl>
                                      </p:cBhvr>
                                    </p:animEffect>
                                  </p:childTnLst>
                                </p:cTn>
                              </p:par>
                              <p:animClr clrSpc="rgb">
                                <p:cBhvr>
                                  <p:cTn id="1614" dur="1" fill="hold">
                                    <p:stCondLst>
                                      <p:cond delay="0"/>
                                    </p:stCondLst>
                                  </p:cTn>
                                  <p:tgtEl>
                                    <p:spTgt spid="1456"/>
                                  </p:tgtEl>
                                  <p:attrNameLst>
                                    <p:attrName>ppt_c</p:attrName>
                                  </p:attrNameLst>
                                </p:cBhvr>
                                <p:to>
                                  <a:srgbClr val="ccccff"/>
                                </p:to>
                              </p:animClr>
                            </p:childTnLst>
                          </p:cTn>
                        </p:par>
                        <p:par>
                          <p:cTn id="1615" nodeType="afterEffect" fill="hold">
                            <p:stCondLst>
                              <p:cond delay="5000"/>
                            </p:stCondLst>
                            <p:childTnLst>
                              <p:par>
                                <p:cTn id="1616" nodeType="afterEffect" fill="hold" presetClass="entr" presetID="9">
                                  <p:stCondLst>
                                    <p:cond delay="2000"/>
                                  </p:stCondLst>
                                  <p:childTnLst>
                                    <p:set>
                                      <p:cBhvr>
                                        <p:cTn id="1617" dur="1" fill="hold">
                                          <p:stCondLst>
                                            <p:cond delay="0"/>
                                          </p:stCondLst>
                                        </p:cTn>
                                        <p:tgtEl>
                                          <p:spTgt spid="1457"/>
                                        </p:tgtEl>
                                        <p:attrNameLst>
                                          <p:attrName>style.visibility</p:attrName>
                                        </p:attrNameLst>
                                      </p:cBhvr>
                                      <p:to>
                                        <p:strVal val="visible"/>
                                      </p:to>
                                    </p:set>
                                    <p:animEffect filter="dissolve" transition="in">
                                      <p:cBhvr additive="repl">
                                        <p:cTn id="1618" dur="500"/>
                                        <p:tgtEl>
                                          <p:spTgt spid="1457"/>
                                        </p:tgtEl>
                                      </p:cBhvr>
                                    </p:animEffect>
                                  </p:childTnLst>
                                </p:cTn>
                              </p:par>
                              <p:animClr clrSpc="rgb">
                                <p:cBhvr>
                                  <p:cTn id="1619" dur="1" fill="hold">
                                    <p:stCondLst>
                                      <p:cond delay="2000"/>
                                    </p:stCondLst>
                                  </p:cTn>
                                  <p:tgtEl>
                                    <p:spTgt spid="1460"/>
                                  </p:tgtEl>
                                  <p:attrNameLst>
                                    <p:attrName>ppt_c</p:attrName>
                                  </p:attrNameLst>
                                </p:cBhvr>
                                <p:to>
                                  <a:srgbClr val="ccccff"/>
                                </p:to>
                              </p:animClr>
                            </p:childTnLst>
                          </p:cTn>
                        </p:par>
                        <p:par>
                          <p:cTn id="1620" nodeType="afterEffect" fill="hold">
                            <p:stCondLst>
                              <p:cond delay="7500"/>
                            </p:stCondLst>
                            <p:childTnLst>
                              <p:par>
                                <p:cTn id="1621" nodeType="afterEffect" fill="hold" presetClass="entr" presetID="9">
                                  <p:stCondLst>
                                    <p:cond delay="0"/>
                                  </p:stCondLst>
                                  <p:childTnLst>
                                    <p:set>
                                      <p:cBhvr>
                                        <p:cTn id="1622" dur="1" fill="hold">
                                          <p:stCondLst>
                                            <p:cond delay="0"/>
                                          </p:stCondLst>
                                        </p:cTn>
                                        <p:tgtEl>
                                          <p:spTgt spid="1459"/>
                                        </p:tgtEl>
                                        <p:attrNameLst>
                                          <p:attrName>style.visibility</p:attrName>
                                        </p:attrNameLst>
                                      </p:cBhvr>
                                      <p:to>
                                        <p:strVal val="visible"/>
                                      </p:to>
                                    </p:set>
                                    <p:animEffect filter="dissolve" transition="in">
                                      <p:cBhvr additive="repl">
                                        <p:cTn id="1623" dur="500"/>
                                        <p:tgtEl>
                                          <p:spTgt spid="1459"/>
                                        </p:tgtEl>
                                      </p:cBhvr>
                                    </p:animEffect>
                                  </p:childTnLst>
                                </p:cTn>
                              </p:par>
                              <p:animClr clrSpc="rgb">
                                <p:cBhvr>
                                  <p:cTn id="1624" dur="1" fill="hold">
                                    <p:stCondLst>
                                      <p:cond delay="0"/>
                                    </p:stCondLst>
                                  </p:cTn>
                                  <p:tgtEl>
                                    <p:spTgt spid="1457"/>
                                  </p:tgtEl>
                                  <p:attrNameLst>
                                    <p:attrName>ppt_c</p:attrName>
                                  </p:attrNameLst>
                                </p:cBhvr>
                                <p:to>
                                  <a:srgbClr val="ccccff"/>
                                </p:to>
                              </p:animClr>
                            </p:childTnLst>
                          </p:cTn>
                        </p:par>
                        <p:par>
                          <p:cTn id="1625" nodeType="afterEffect" fill="hold">
                            <p:stCondLst>
                              <p:cond delay="8000"/>
                            </p:stCondLst>
                            <p:childTnLst>
                              <p:par>
                                <p:cTn id="1626" nodeType="afterEffect" fill="hold" presetClass="entr" presetID="9">
                                  <p:stCondLst>
                                    <p:cond delay="2000"/>
                                  </p:stCondLst>
                                  <p:childTnLst>
                                    <p:set>
                                      <p:cBhvr>
                                        <p:cTn id="1627" dur="1" fill="hold">
                                          <p:stCondLst>
                                            <p:cond delay="0"/>
                                          </p:stCondLst>
                                        </p:cTn>
                                        <p:tgtEl>
                                          <p:spTgt spid="1458"/>
                                        </p:tgtEl>
                                        <p:attrNameLst>
                                          <p:attrName>style.visibility</p:attrName>
                                        </p:attrNameLst>
                                      </p:cBhvr>
                                      <p:to>
                                        <p:strVal val="visible"/>
                                      </p:to>
                                    </p:set>
                                    <p:animEffect filter="dissolve" transition="in">
                                      <p:cBhvr additive="repl">
                                        <p:cTn id="1628" dur="500"/>
                                        <p:tgtEl>
                                          <p:spTgt spid="1458"/>
                                        </p:tgtEl>
                                      </p:cBhvr>
                                    </p:animEffect>
                                  </p:childTnLst>
                                </p:cTn>
                              </p:par>
                              <p:animClr clrSpc="rgb">
                                <p:cBhvr>
                                  <p:cTn id="1629" dur="1" fill="hold">
                                    <p:stCondLst>
                                      <p:cond delay="2000"/>
                                    </p:stCondLst>
                                  </p:cTn>
                                  <p:tgtEl>
                                    <p:spTgt spid="1459"/>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1" name="Text Box 2"/>
          <p:cNvSpPr/>
          <p:nvPr/>
        </p:nvSpPr>
        <p:spPr>
          <a:xfrm>
            <a:off x="457200" y="228600"/>
            <a:ext cx="8534520" cy="11912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Il a été longtemps soutenu qu’il ne fallait pas soumettre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l’enfant à des programmes de renforcement musculaire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et de musculation</a:t>
            </a:r>
            <a:r>
              <a:rPr b="1" lang="fr-FR" sz="2400" strike="noStrike" u="none">
                <a:solidFill>
                  <a:srgbClr val="3333cc"/>
                </a:solidFill>
                <a:effectLst/>
                <a:uFillTx/>
                <a:latin typeface="Arial"/>
              </a:rPr>
              <a:t>       </a:t>
            </a:r>
            <a:endParaRPr b="0" lang="en-US" sz="2400" strike="noStrike" u="none">
              <a:solidFill>
                <a:srgbClr val="ffff00"/>
              </a:solidFill>
              <a:effectLst/>
              <a:uFillTx/>
              <a:latin typeface="Times New Roman"/>
            </a:endParaRPr>
          </a:p>
        </p:txBody>
      </p:sp>
      <p:sp>
        <p:nvSpPr>
          <p:cNvPr id="1462" name="Text Box 3"/>
          <p:cNvSpPr/>
          <p:nvPr/>
        </p:nvSpPr>
        <p:spPr>
          <a:xfrm>
            <a:off x="0" y="2133720"/>
            <a:ext cx="9144000" cy="35571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Les arguments proposés sont de deux ordres: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3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les premiers s ’appuient sur les risques de la musculation </a:t>
            </a:r>
            <a:r>
              <a:rPr b="1" lang="fr-FR" sz="2000" strike="noStrike" u="sng">
                <a:solidFill>
                  <a:srgbClr val="ffffff"/>
                </a:solidFill>
                <a:effectLst/>
                <a:uFillTx/>
                <a:latin typeface="Arial"/>
              </a:rPr>
              <a:t>avec charges</a:t>
            </a: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sur un squelette encore incomplètement ossifié et en pleine croissance (Fleck et Kraemer 1987),</a:t>
            </a:r>
            <a:endParaRPr b="0" lang="en-US" sz="20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les seconds sur le déficit en testostérone de l’enfant pré-pubère qui rendrait inefficace la musculation sur l’augmentation de la force (Vrijens 1978).</a:t>
            </a:r>
            <a:endParaRPr b="0" lang="en-US" sz="2000" strike="noStrike" u="none">
              <a:solidFill>
                <a:srgbClr val="ffff00"/>
              </a:solidFill>
              <a:effectLst/>
              <a:uFillTx/>
              <a:latin typeface="Times New Roman"/>
            </a:endParaRPr>
          </a:p>
        </p:txBody>
      </p:sp>
      <p:sp>
        <p:nvSpPr>
          <p:cNvPr id="1463" name="Rectangle 5"/>
          <p:cNvSpPr/>
          <p:nvPr/>
        </p:nvSpPr>
        <p:spPr>
          <a:xfrm>
            <a:off x="2207520" y="5943600"/>
            <a:ext cx="39398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Qu ’en est-il aujourd’hui ?</a:t>
            </a:r>
            <a:endParaRPr b="0" lang="en-US" sz="2400" strike="noStrike" u="none">
              <a:solidFill>
                <a:srgbClr val="ffff00"/>
              </a:solidFill>
              <a:effectLst/>
              <a:uFillTx/>
              <a:latin typeface="Times New Roman"/>
            </a:endParaRPr>
          </a:p>
        </p:txBody>
      </p:sp>
    </p:spTree>
  </p:cSld>
  <p:transition spd="med">
    <p:zoom dir="out"/>
  </p:transition>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4" name="PlaceHolder 1"/>
          <p:cNvSpPr>
            <a:spLocks noGrp="1"/>
          </p:cNvSpPr>
          <p:nvPr>
            <p:ph type="title"/>
          </p:nvPr>
        </p:nvSpPr>
        <p:spPr>
          <a:xfrm>
            <a:off x="762120" y="981000"/>
            <a:ext cx="7772400" cy="681120"/>
          </a:xfrm>
          <a:prstGeom prst="rect">
            <a:avLst/>
          </a:prstGeom>
          <a:noFill/>
          <a:ln w="0">
            <a:noFill/>
          </a:ln>
        </p:spPr>
        <p:txBody>
          <a:bodyPr lIns="92160" rIns="92160" tIns="46080" bIns="4608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3600" strike="noStrike" u="none">
                <a:solidFill>
                  <a:srgbClr val="ffffff"/>
                </a:solidFill>
                <a:effectLst/>
                <a:uFillTx/>
                <a:latin typeface="Arial"/>
              </a:rPr>
              <a:t>Accidents sportifs</a:t>
            </a:r>
            <a:endParaRPr b="0" lang="en-US" sz="3600" strike="noStrike" u="none">
              <a:solidFill>
                <a:srgbClr val="ffffff"/>
              </a:solidFill>
              <a:effectLst/>
              <a:uFillTx/>
              <a:latin typeface="Times New Roman"/>
            </a:endParaRPr>
          </a:p>
        </p:txBody>
      </p:sp>
      <p:sp>
        <p:nvSpPr>
          <p:cNvPr id="1465" name="Rectangle 3"/>
          <p:cNvSpPr/>
          <p:nvPr/>
        </p:nvSpPr>
        <p:spPr>
          <a:xfrm>
            <a:off x="382320" y="2262240"/>
            <a:ext cx="7504560" cy="5194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Arial"/>
              </a:rPr>
              <a:t>Sports</a:t>
            </a:r>
            <a:r>
              <a:rPr b="0" lang="en-US" sz="2800" strike="noStrike" u="none">
                <a:solidFill>
                  <a:srgbClr val="ffff00"/>
                </a:solidFill>
                <a:effectLst/>
                <a:uFillTx/>
                <a:latin typeface="Arial"/>
              </a:rPr>
              <a:t>	</a:t>
            </a:r>
            <a:r>
              <a:rPr b="0" lang="en-US" sz="2800" strike="noStrike" u="none">
                <a:solidFill>
                  <a:srgbClr val="ffff00"/>
                </a:solidFill>
                <a:effectLst/>
                <a:uFillTx/>
                <a:latin typeface="Arial"/>
              </a:rPr>
              <a:t>	</a:t>
            </a:r>
            <a:r>
              <a:rPr b="0" lang="en-US" sz="2800" strike="noStrike" u="none">
                <a:solidFill>
                  <a:srgbClr val="ffff00"/>
                </a:solidFill>
                <a:effectLst/>
                <a:uFillTx/>
                <a:latin typeface="Arial"/>
              </a:rPr>
              <a:t>Fréquence (pers/an)</a:t>
            </a:r>
            <a:r>
              <a:rPr b="0" lang="en-US" sz="2800" strike="noStrike" u="none">
                <a:solidFill>
                  <a:srgbClr val="ffff00"/>
                </a:solidFill>
                <a:effectLst/>
                <a:uFillTx/>
                <a:latin typeface="Arial"/>
              </a:rPr>
              <a:t>	</a:t>
            </a:r>
            <a:r>
              <a:rPr b="0" lang="en-US" sz="2800" strike="noStrike" u="none">
                <a:solidFill>
                  <a:srgbClr val="ffff00"/>
                </a:solidFill>
                <a:effectLst/>
                <a:uFillTx/>
                <a:latin typeface="Arial"/>
              </a:rPr>
              <a:t>Auteurs</a:t>
            </a:r>
            <a:endParaRPr b="0" lang="en-US" sz="2800" strike="noStrike" u="none">
              <a:solidFill>
                <a:srgbClr val="ffff00"/>
              </a:solidFill>
              <a:effectLst/>
              <a:uFillTx/>
              <a:latin typeface="Times New Roman"/>
            </a:endParaRPr>
          </a:p>
        </p:txBody>
      </p:sp>
      <p:sp>
        <p:nvSpPr>
          <p:cNvPr id="1466" name="Line 4"/>
          <p:cNvSpPr/>
          <p:nvPr/>
        </p:nvSpPr>
        <p:spPr>
          <a:xfrm>
            <a:off x="474840" y="2997360"/>
            <a:ext cx="79246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67" name="Rectangle 5"/>
          <p:cNvSpPr/>
          <p:nvPr/>
        </p:nvSpPr>
        <p:spPr>
          <a:xfrm>
            <a:off x="152280" y="3241800"/>
            <a:ext cx="8767800" cy="314172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Entraînement de musculation</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5 - 11%</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Risser et al. (1990)</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Football américain</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25%</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Powell (1987)</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Lutte</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39 - 81%</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Garrick et al. (1981)</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Gymnastique fém.</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Basket ball</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Football</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25-35%</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	</a:t>
            </a:r>
            <a:r>
              <a:rPr b="1" lang="en-US" sz="2000" strike="noStrike" u="none">
                <a:solidFill>
                  <a:srgbClr val="ffff00"/>
                </a:solidFill>
                <a:effectLst/>
                <a:uFillTx/>
                <a:latin typeface="Arial"/>
              </a:rPr>
              <a:t>Garrick et al. (1981)</a:t>
            </a:r>
            <a:endParaRPr b="0" lang="en-US" sz="20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ffff00"/>
                </a:solidFill>
                <a:effectLst/>
                <a:uFillTx/>
                <a:latin typeface="Arial"/>
              </a:rPr>
              <a:t>Athlétisme</a:t>
            </a:r>
            <a:endParaRPr b="0" lang="en-US" sz="2000" strike="noStrike" u="none">
              <a:solidFill>
                <a:srgbClr val="ffff00"/>
              </a:solidFill>
              <a:effectLst/>
              <a:uFillTx/>
              <a:latin typeface="Times New Roman"/>
            </a:endParaRPr>
          </a:p>
        </p:txBody>
      </p:sp>
    </p:spTree>
  </p:cSld>
  <p:transition spd="med">
    <p:zoom dir="out"/>
  </p:transition>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8" name="Text Box 4"/>
          <p:cNvSpPr/>
          <p:nvPr/>
        </p:nvSpPr>
        <p:spPr>
          <a:xfrm>
            <a:off x="229320" y="1747800"/>
            <a:ext cx="86234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Les travaux de Vrijens 1978 (programme de 8 semaines),</a:t>
            </a:r>
            <a:r>
              <a:rPr b="1" lang="fr-FR" sz="2000" strike="noStrike" u="none">
                <a:solidFill>
                  <a:srgbClr val="ffff00"/>
                </a:solidFill>
                <a:effectLst/>
                <a:uFillTx/>
                <a:latin typeface="Arial"/>
              </a:rPr>
              <a:t> : </a:t>
            </a:r>
            <a:endParaRPr b="0" lang="en-US" sz="2000" strike="noStrike" u="none">
              <a:solidFill>
                <a:srgbClr val="ffff00"/>
              </a:solidFill>
              <a:effectLst/>
              <a:uFillTx/>
              <a:latin typeface="Times New Roman"/>
            </a:endParaRPr>
          </a:p>
        </p:txBody>
      </p:sp>
      <p:sp>
        <p:nvSpPr>
          <p:cNvPr id="1469" name="Text Box 5"/>
          <p:cNvSpPr/>
          <p:nvPr/>
        </p:nvSpPr>
        <p:spPr>
          <a:xfrm>
            <a:off x="1981440" y="490680"/>
            <a:ext cx="57715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00"/>
                </a:solidFill>
                <a:effectLst/>
                <a:uFillTx/>
                <a:latin typeface="Arial"/>
              </a:rPr>
              <a:t>2 - Déficit en testostérone...</a:t>
            </a:r>
            <a:endParaRPr b="0" lang="en-US" sz="3600" strike="noStrike" u="none">
              <a:solidFill>
                <a:srgbClr val="ffff00"/>
              </a:solidFill>
              <a:effectLst/>
              <a:uFillTx/>
              <a:latin typeface="Times New Roman"/>
            </a:endParaRPr>
          </a:p>
        </p:txBody>
      </p:sp>
      <p:sp>
        <p:nvSpPr>
          <p:cNvPr id="1470" name="Text Box 6"/>
          <p:cNvSpPr/>
          <p:nvPr/>
        </p:nvSpPr>
        <p:spPr>
          <a:xfrm>
            <a:off x="153360" y="2498760"/>
            <a:ext cx="8938800" cy="283716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Selon les résultats de ces travaux seuls les muscles du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tronc bénéficieraient des effets de la musculation chez les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enfants pré-pubères alors que les muscles des membres en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bénéficieraient aussi chez les adolescents de 16-17 ans </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(effets de la testostérone…?);</a:t>
            </a:r>
            <a:endParaRPr b="0" lang="en-US" sz="2400" strike="noStrike" u="none">
              <a:solidFill>
                <a:srgbClr val="ffff00"/>
              </a:solidFill>
              <a:effectLst/>
              <a:uFillTx/>
              <a:latin typeface="Times New Roman"/>
            </a:endParaRPr>
          </a:p>
        </p:txBody>
      </p:sp>
    </p:spTree>
  </p:cSld>
  <p:transition spd="med">
    <p:zoom dir="out"/>
  </p:transition>
  <p:timing>
    <p:tnLst>
      <p:par>
        <p:cTn id="1630" dur="indefinite" restart="never" nodeType="tmRoot">
          <p:childTnLst>
            <p:seq>
              <p:cTn id="1631" dur="indefinite" nodeType="mainSeq">
                <p:childTnLst>
                  <p:par>
                    <p:cTn id="1632" nodeType="clickEffect" fill="hold">
                      <p:stCondLst>
                        <p:cond delay="0"/>
                      </p:stCondLst>
                      <p:childTnLst>
                        <p:par>
                          <p:cTn id="1633" nodeType="withEffect" fill="hold">
                            <p:stCondLst>
                              <p:cond delay="0"/>
                            </p:stCondLst>
                            <p:childTnLst>
                              <p:par>
                                <p:cTn id="1634" nodeType="afterEffect" fill="hold" presetClass="entr" presetID="9">
                                  <p:stCondLst>
                                    <p:cond delay="0"/>
                                  </p:stCondLst>
                                  <p:childTnLst>
                                    <p:set>
                                      <p:cBhvr>
                                        <p:cTn id="1635" dur="1" fill="hold">
                                          <p:stCondLst>
                                            <p:cond delay="0"/>
                                          </p:stCondLst>
                                        </p:cTn>
                                        <p:tgtEl>
                                          <p:spTgt spid="1469"/>
                                        </p:tgtEl>
                                        <p:attrNameLst>
                                          <p:attrName>style.visibility</p:attrName>
                                        </p:attrNameLst>
                                      </p:cBhvr>
                                      <p:to>
                                        <p:strVal val="visible"/>
                                      </p:to>
                                    </p:set>
                                    <p:animEffect filter="dissolve" transition="in">
                                      <p:cBhvr additive="repl">
                                        <p:cTn id="1636" dur="500"/>
                                        <p:tgtEl>
                                          <p:spTgt spid="1469"/>
                                        </p:tgtEl>
                                      </p:cBhvr>
                                    </p:animEffect>
                                  </p:childTnLst>
                                </p:cTn>
                              </p:par>
                            </p:childTnLst>
                          </p:cTn>
                        </p:par>
                        <p:par>
                          <p:cTn id="1637" nodeType="afterEffect" fill="hold">
                            <p:stCondLst>
                              <p:cond delay="500"/>
                            </p:stCondLst>
                            <p:childTnLst>
                              <p:par>
                                <p:cTn id="1638" nodeType="afterEffect" fill="hold" presetClass="entr" presetID="9">
                                  <p:stCondLst>
                                    <p:cond delay="1000"/>
                                  </p:stCondLst>
                                  <p:childTnLst>
                                    <p:set>
                                      <p:cBhvr>
                                        <p:cTn id="1639" dur="1" fill="hold">
                                          <p:stCondLst>
                                            <p:cond delay="0"/>
                                          </p:stCondLst>
                                        </p:cTn>
                                        <p:tgtEl>
                                          <p:spTgt spid="1468"/>
                                        </p:tgtEl>
                                        <p:attrNameLst>
                                          <p:attrName>style.visibility</p:attrName>
                                        </p:attrNameLst>
                                      </p:cBhvr>
                                      <p:to>
                                        <p:strVal val="visible"/>
                                      </p:to>
                                    </p:set>
                                    <p:animEffect filter="dissolve" transition="in">
                                      <p:cBhvr additive="repl">
                                        <p:cTn id="1640" dur="500"/>
                                        <p:tgtEl>
                                          <p:spTgt spid="1468"/>
                                        </p:tgtEl>
                                      </p:cBhvr>
                                    </p:animEffect>
                                  </p:childTnLst>
                                </p:cTn>
                              </p:par>
                            </p:childTnLst>
                          </p:cTn>
                        </p:par>
                      </p:childTnLst>
                    </p:cTn>
                  </p:par>
                  <p:par>
                    <p:cTn id="1641" nodeType="clickEffect" fill="hold">
                      <p:stCondLst>
                        <p:cond delay="indefinite"/>
                      </p:stCondLst>
                      <p:childTnLst>
                        <p:par>
                          <p:cTn id="1642" nodeType="withEffect" fill="hold">
                            <p:stCondLst>
                              <p:cond delay="0"/>
                            </p:stCondLst>
                            <p:childTnLst>
                              <p:par>
                                <p:cTn id="1643" nodeType="clickEffect" fill="hold" presetClass="entr" presetID="22" presetSubtype="8">
                                  <p:stCondLst>
                                    <p:cond delay="0"/>
                                  </p:stCondLst>
                                  <p:iterate type="wd">
                                    <p:tmAbs val="0"/>
                                  </p:iterate>
                                  <p:childTnLst>
                                    <p:set>
                                      <p:cBhvr>
                                        <p:cTn id="1644" dur="1" fill="hold">
                                          <p:stCondLst>
                                            <p:cond delay="0"/>
                                          </p:stCondLst>
                                        </p:cTn>
                                        <p:tgtEl>
                                          <p:spTgt spid="1470"/>
                                        </p:tgtEl>
                                        <p:attrNameLst>
                                          <p:attrName>style.visibility</p:attrName>
                                        </p:attrNameLst>
                                      </p:cBhvr>
                                      <p:to>
                                        <p:strVal val="visible"/>
                                      </p:to>
                                    </p:set>
                                    <p:animEffect filter="wipe(left)" transition="in">
                                      <p:cBhvr additive="repl">
                                        <p:cTn id="1645" dur="500"/>
                                        <p:tgtEl>
                                          <p:spTgt spid="1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1" name="PlaceHolder 1"/>
          <p:cNvSpPr>
            <a:spLocks noGrp="1"/>
          </p:cNvSpPr>
          <p:nvPr>
            <p:ph type="title"/>
          </p:nvPr>
        </p:nvSpPr>
        <p:spPr>
          <a:xfrm>
            <a:off x="380520" y="266760"/>
            <a:ext cx="8610840" cy="952560"/>
          </a:xfrm>
          <a:prstGeom prst="rect">
            <a:avLst/>
          </a:prstGeom>
          <a:noFill/>
          <a:ln w="0">
            <a:noFill/>
          </a:ln>
        </p:spPr>
        <p:txBody>
          <a:bodyPr lIns="92160" rIns="92160" tIns="46080" bIns="4608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BE" sz="4400" strike="noStrike" u="none">
                <a:solidFill>
                  <a:srgbClr val="ffffff"/>
                </a:solidFill>
                <a:effectLst/>
                <a:uFillTx/>
                <a:latin typeface="Times New Roman"/>
              </a:rPr>
              <a:t>Accroissement en force maximale</a:t>
            </a:r>
            <a:endParaRPr b="0" lang="en-US" sz="4400" strike="noStrike" u="none">
              <a:solidFill>
                <a:srgbClr val="ffffff"/>
              </a:solidFill>
              <a:effectLst/>
              <a:uFillTx/>
              <a:latin typeface="Times New Roman"/>
            </a:endParaRPr>
          </a:p>
        </p:txBody>
      </p:sp>
      <p:sp>
        <p:nvSpPr>
          <p:cNvPr id="1472" name="Rectangle 3"/>
          <p:cNvSpPr/>
          <p:nvPr/>
        </p:nvSpPr>
        <p:spPr>
          <a:xfrm>
            <a:off x="1922400" y="4008600"/>
            <a:ext cx="182520" cy="78876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73" name="Line 4"/>
          <p:cNvSpPr/>
          <p:nvPr/>
        </p:nvSpPr>
        <p:spPr>
          <a:xfrm flipV="1">
            <a:off x="1922400" y="4008240"/>
            <a:ext cx="0" cy="7887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74" name="Line 5"/>
          <p:cNvSpPr/>
          <p:nvPr/>
        </p:nvSpPr>
        <p:spPr>
          <a:xfrm>
            <a:off x="1922400" y="4008600"/>
            <a:ext cx="0" cy="7887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75" name="Line 6"/>
          <p:cNvSpPr/>
          <p:nvPr/>
        </p:nvSpPr>
        <p:spPr>
          <a:xfrm>
            <a:off x="1922400" y="400860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76" name="Line 7"/>
          <p:cNvSpPr/>
          <p:nvPr/>
        </p:nvSpPr>
        <p:spPr>
          <a:xfrm flipH="1">
            <a:off x="1922040" y="400860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77" name="Line 8"/>
          <p:cNvSpPr/>
          <p:nvPr/>
        </p:nvSpPr>
        <p:spPr>
          <a:xfrm flipV="1">
            <a:off x="2103480" y="4008240"/>
            <a:ext cx="0" cy="7887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78" name="Line 9"/>
          <p:cNvSpPr/>
          <p:nvPr/>
        </p:nvSpPr>
        <p:spPr>
          <a:xfrm>
            <a:off x="2103480" y="4008600"/>
            <a:ext cx="0" cy="78876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79" name="Line 10"/>
          <p:cNvSpPr/>
          <p:nvPr/>
        </p:nvSpPr>
        <p:spPr>
          <a:xfrm>
            <a:off x="1922400" y="479736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0" name="Line 11"/>
          <p:cNvSpPr/>
          <p:nvPr/>
        </p:nvSpPr>
        <p:spPr>
          <a:xfrm flipH="1">
            <a:off x="1922040" y="479736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1" name="Rectangle 12"/>
          <p:cNvSpPr/>
          <p:nvPr/>
        </p:nvSpPr>
        <p:spPr>
          <a:xfrm>
            <a:off x="2743200" y="2425680"/>
            <a:ext cx="184320" cy="237168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82" name="Line 13"/>
          <p:cNvSpPr/>
          <p:nvPr/>
        </p:nvSpPr>
        <p:spPr>
          <a:xfrm flipV="1">
            <a:off x="2743200" y="2425680"/>
            <a:ext cx="0" cy="23716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3" name="Line 14"/>
          <p:cNvSpPr/>
          <p:nvPr/>
        </p:nvSpPr>
        <p:spPr>
          <a:xfrm>
            <a:off x="2743200" y="2425680"/>
            <a:ext cx="0" cy="23716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4" name="Line 15"/>
          <p:cNvSpPr/>
          <p:nvPr/>
        </p:nvSpPr>
        <p:spPr>
          <a:xfrm>
            <a:off x="2743200" y="242568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5" name="Line 16"/>
          <p:cNvSpPr/>
          <p:nvPr/>
        </p:nvSpPr>
        <p:spPr>
          <a:xfrm flipH="1">
            <a:off x="2742840" y="242568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6" name="Line 17"/>
          <p:cNvSpPr/>
          <p:nvPr/>
        </p:nvSpPr>
        <p:spPr>
          <a:xfrm flipV="1">
            <a:off x="2925720" y="2425680"/>
            <a:ext cx="0" cy="23716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7" name="Line 18"/>
          <p:cNvSpPr/>
          <p:nvPr/>
        </p:nvSpPr>
        <p:spPr>
          <a:xfrm>
            <a:off x="2925720" y="2425680"/>
            <a:ext cx="0" cy="23716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8" name="Line 19"/>
          <p:cNvSpPr/>
          <p:nvPr/>
        </p:nvSpPr>
        <p:spPr>
          <a:xfrm>
            <a:off x="2743200" y="479736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89" name="Line 20"/>
          <p:cNvSpPr/>
          <p:nvPr/>
        </p:nvSpPr>
        <p:spPr>
          <a:xfrm flipH="1">
            <a:off x="2742840" y="479736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0" name="Line 21"/>
          <p:cNvSpPr/>
          <p:nvPr/>
        </p:nvSpPr>
        <p:spPr>
          <a:xfrm>
            <a:off x="4405320" y="3503520"/>
            <a:ext cx="0" cy="12938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1" name="Line 22"/>
          <p:cNvSpPr/>
          <p:nvPr/>
        </p:nvSpPr>
        <p:spPr>
          <a:xfrm>
            <a:off x="4586400" y="3503520"/>
            <a:ext cx="0" cy="129384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2" name="Line 23"/>
          <p:cNvSpPr/>
          <p:nvPr/>
        </p:nvSpPr>
        <p:spPr>
          <a:xfrm>
            <a:off x="3567240" y="4797360"/>
            <a:ext cx="1807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3" name="Line 24"/>
          <p:cNvSpPr/>
          <p:nvPr/>
        </p:nvSpPr>
        <p:spPr>
          <a:xfrm flipH="1">
            <a:off x="3567240" y="4797360"/>
            <a:ext cx="1807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4" name="Rectangle 25"/>
          <p:cNvSpPr/>
          <p:nvPr/>
        </p:nvSpPr>
        <p:spPr>
          <a:xfrm>
            <a:off x="3551400" y="2425680"/>
            <a:ext cx="182520" cy="237168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495" name="Line 26"/>
          <p:cNvSpPr/>
          <p:nvPr/>
        </p:nvSpPr>
        <p:spPr>
          <a:xfrm>
            <a:off x="3551400" y="2425680"/>
            <a:ext cx="0" cy="23716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6" name="Line 27"/>
          <p:cNvSpPr/>
          <p:nvPr/>
        </p:nvSpPr>
        <p:spPr>
          <a:xfrm>
            <a:off x="3730680" y="2425680"/>
            <a:ext cx="0" cy="237168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7" name="Line 28"/>
          <p:cNvSpPr/>
          <p:nvPr/>
        </p:nvSpPr>
        <p:spPr>
          <a:xfrm>
            <a:off x="4389480" y="4797360"/>
            <a:ext cx="1792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8" name="Line 29"/>
          <p:cNvSpPr/>
          <p:nvPr/>
        </p:nvSpPr>
        <p:spPr>
          <a:xfrm flipH="1">
            <a:off x="4389480" y="4797360"/>
            <a:ext cx="1792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499" name="Rectangle 30"/>
          <p:cNvSpPr/>
          <p:nvPr/>
        </p:nvSpPr>
        <p:spPr>
          <a:xfrm>
            <a:off x="5211720" y="2928960"/>
            <a:ext cx="182520" cy="187020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00" name="Line 31"/>
          <p:cNvSpPr/>
          <p:nvPr/>
        </p:nvSpPr>
        <p:spPr>
          <a:xfrm flipV="1">
            <a:off x="5211720" y="2928960"/>
            <a:ext cx="0" cy="18684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1" name="Line 32"/>
          <p:cNvSpPr/>
          <p:nvPr/>
        </p:nvSpPr>
        <p:spPr>
          <a:xfrm>
            <a:off x="5211720" y="2928960"/>
            <a:ext cx="0" cy="18684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2" name="Line 33"/>
          <p:cNvSpPr/>
          <p:nvPr/>
        </p:nvSpPr>
        <p:spPr>
          <a:xfrm>
            <a:off x="5211720" y="292896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3" name="Line 34"/>
          <p:cNvSpPr/>
          <p:nvPr/>
        </p:nvSpPr>
        <p:spPr>
          <a:xfrm flipH="1">
            <a:off x="5211360" y="292896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4" name="Line 35"/>
          <p:cNvSpPr/>
          <p:nvPr/>
        </p:nvSpPr>
        <p:spPr>
          <a:xfrm flipV="1">
            <a:off x="5392800" y="2928960"/>
            <a:ext cx="0" cy="18684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5" name="Line 36"/>
          <p:cNvSpPr/>
          <p:nvPr/>
        </p:nvSpPr>
        <p:spPr>
          <a:xfrm>
            <a:off x="5392800" y="2928960"/>
            <a:ext cx="0" cy="18684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6" name="Line 37"/>
          <p:cNvSpPr/>
          <p:nvPr/>
        </p:nvSpPr>
        <p:spPr>
          <a:xfrm>
            <a:off x="5211720" y="479736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7" name="Line 38"/>
          <p:cNvSpPr/>
          <p:nvPr/>
        </p:nvSpPr>
        <p:spPr>
          <a:xfrm flipH="1">
            <a:off x="5211360" y="4797360"/>
            <a:ext cx="18108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08" name="Rectangle 39"/>
          <p:cNvSpPr/>
          <p:nvPr/>
        </p:nvSpPr>
        <p:spPr>
          <a:xfrm>
            <a:off x="6032520" y="3573360"/>
            <a:ext cx="183960" cy="122400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09" name="Line 40"/>
          <p:cNvSpPr/>
          <p:nvPr/>
        </p:nvSpPr>
        <p:spPr>
          <a:xfrm flipV="1">
            <a:off x="6032520" y="3573360"/>
            <a:ext cx="0" cy="12240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0" name="Line 41"/>
          <p:cNvSpPr/>
          <p:nvPr/>
        </p:nvSpPr>
        <p:spPr>
          <a:xfrm>
            <a:off x="6032520" y="3573360"/>
            <a:ext cx="0" cy="12240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1" name="Line 42"/>
          <p:cNvSpPr/>
          <p:nvPr/>
        </p:nvSpPr>
        <p:spPr>
          <a:xfrm>
            <a:off x="6032520" y="357336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2" name="Line 43"/>
          <p:cNvSpPr/>
          <p:nvPr/>
        </p:nvSpPr>
        <p:spPr>
          <a:xfrm flipH="1">
            <a:off x="6032160" y="357336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3" name="Line 44"/>
          <p:cNvSpPr/>
          <p:nvPr/>
        </p:nvSpPr>
        <p:spPr>
          <a:xfrm flipV="1">
            <a:off x="6215040" y="3573360"/>
            <a:ext cx="0" cy="12240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4" name="Line 45"/>
          <p:cNvSpPr/>
          <p:nvPr/>
        </p:nvSpPr>
        <p:spPr>
          <a:xfrm>
            <a:off x="6215040" y="3573360"/>
            <a:ext cx="0" cy="122400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5" name="Line 46"/>
          <p:cNvSpPr/>
          <p:nvPr/>
        </p:nvSpPr>
        <p:spPr>
          <a:xfrm>
            <a:off x="6032520" y="479736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6" name="Line 47"/>
          <p:cNvSpPr/>
          <p:nvPr/>
        </p:nvSpPr>
        <p:spPr>
          <a:xfrm flipH="1">
            <a:off x="6032160" y="4797360"/>
            <a:ext cx="182520" cy="0"/>
          </a:xfrm>
          <a:prstGeom prst="line">
            <a:avLst/>
          </a:prstGeom>
          <a:ln w="12600">
            <a:solidFill>
              <a:srgbClr val="ff00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7" name="Rectangle 48"/>
          <p:cNvSpPr/>
          <p:nvPr/>
        </p:nvSpPr>
        <p:spPr>
          <a:xfrm>
            <a:off x="1647720" y="4797360"/>
            <a:ext cx="184320" cy="14436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18" name="Line 49"/>
          <p:cNvSpPr/>
          <p:nvPr/>
        </p:nvSpPr>
        <p:spPr>
          <a:xfrm flipV="1">
            <a:off x="1647720" y="4797000"/>
            <a:ext cx="0" cy="1443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19" name="Line 50"/>
          <p:cNvSpPr/>
          <p:nvPr/>
        </p:nvSpPr>
        <p:spPr>
          <a:xfrm>
            <a:off x="1647720" y="4797360"/>
            <a:ext cx="0" cy="1443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0" name="Line 51"/>
          <p:cNvSpPr/>
          <p:nvPr/>
        </p:nvSpPr>
        <p:spPr>
          <a:xfrm>
            <a:off x="164772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1" name="Line 52"/>
          <p:cNvSpPr/>
          <p:nvPr/>
        </p:nvSpPr>
        <p:spPr>
          <a:xfrm flipH="1">
            <a:off x="164736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2" name="Line 53"/>
          <p:cNvSpPr/>
          <p:nvPr/>
        </p:nvSpPr>
        <p:spPr>
          <a:xfrm flipV="1">
            <a:off x="1828800" y="4797000"/>
            <a:ext cx="0" cy="1443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3" name="Line 54"/>
          <p:cNvSpPr/>
          <p:nvPr/>
        </p:nvSpPr>
        <p:spPr>
          <a:xfrm>
            <a:off x="1828800" y="4797360"/>
            <a:ext cx="0" cy="1443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4" name="Line 55"/>
          <p:cNvSpPr/>
          <p:nvPr/>
        </p:nvSpPr>
        <p:spPr>
          <a:xfrm>
            <a:off x="1647720" y="494172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5" name="Line 56"/>
          <p:cNvSpPr/>
          <p:nvPr/>
        </p:nvSpPr>
        <p:spPr>
          <a:xfrm flipH="1">
            <a:off x="1647360" y="494172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6" name="Rectangle 57"/>
          <p:cNvSpPr/>
          <p:nvPr/>
        </p:nvSpPr>
        <p:spPr>
          <a:xfrm>
            <a:off x="2470320" y="4344840"/>
            <a:ext cx="183960" cy="45252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27" name="Line 58"/>
          <p:cNvSpPr/>
          <p:nvPr/>
        </p:nvSpPr>
        <p:spPr>
          <a:xfrm flipV="1">
            <a:off x="2470320" y="4344480"/>
            <a:ext cx="0" cy="452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8" name="Line 59"/>
          <p:cNvSpPr/>
          <p:nvPr/>
        </p:nvSpPr>
        <p:spPr>
          <a:xfrm>
            <a:off x="2470320" y="4344840"/>
            <a:ext cx="0" cy="452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29" name="Line 60"/>
          <p:cNvSpPr/>
          <p:nvPr/>
        </p:nvSpPr>
        <p:spPr>
          <a:xfrm>
            <a:off x="2470320" y="4344840"/>
            <a:ext cx="1825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0" name="Line 61"/>
          <p:cNvSpPr/>
          <p:nvPr/>
        </p:nvSpPr>
        <p:spPr>
          <a:xfrm flipH="1">
            <a:off x="2469960" y="4344840"/>
            <a:ext cx="1825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1" name="Line 62"/>
          <p:cNvSpPr/>
          <p:nvPr/>
        </p:nvSpPr>
        <p:spPr>
          <a:xfrm flipV="1">
            <a:off x="2652840" y="4344480"/>
            <a:ext cx="0" cy="452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2" name="Line 63"/>
          <p:cNvSpPr/>
          <p:nvPr/>
        </p:nvSpPr>
        <p:spPr>
          <a:xfrm>
            <a:off x="2652840" y="4344840"/>
            <a:ext cx="0" cy="452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3" name="Line 64"/>
          <p:cNvSpPr/>
          <p:nvPr/>
        </p:nvSpPr>
        <p:spPr>
          <a:xfrm>
            <a:off x="2470320" y="4797360"/>
            <a:ext cx="1825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4" name="Line 65"/>
          <p:cNvSpPr/>
          <p:nvPr/>
        </p:nvSpPr>
        <p:spPr>
          <a:xfrm flipH="1">
            <a:off x="2469960" y="4797360"/>
            <a:ext cx="1825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5" name="Rectangle 66"/>
          <p:cNvSpPr/>
          <p:nvPr/>
        </p:nvSpPr>
        <p:spPr>
          <a:xfrm>
            <a:off x="4130640" y="4797360"/>
            <a:ext cx="182520" cy="32400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36" name="Line 67"/>
          <p:cNvSpPr/>
          <p:nvPr/>
        </p:nvSpPr>
        <p:spPr>
          <a:xfrm>
            <a:off x="4130640" y="4797360"/>
            <a:ext cx="0" cy="3240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7" name="Line 68"/>
          <p:cNvSpPr/>
          <p:nvPr/>
        </p:nvSpPr>
        <p:spPr>
          <a:xfrm>
            <a:off x="3292560" y="4797360"/>
            <a:ext cx="1807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8" name="Line 69"/>
          <p:cNvSpPr/>
          <p:nvPr/>
        </p:nvSpPr>
        <p:spPr>
          <a:xfrm flipH="1">
            <a:off x="3292560" y="4797360"/>
            <a:ext cx="1807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39" name="Line 70"/>
          <p:cNvSpPr/>
          <p:nvPr/>
        </p:nvSpPr>
        <p:spPr>
          <a:xfrm flipV="1">
            <a:off x="4311720" y="4797360"/>
            <a:ext cx="0" cy="32400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0" name="Rectangle 71"/>
          <p:cNvSpPr/>
          <p:nvPr/>
        </p:nvSpPr>
        <p:spPr>
          <a:xfrm>
            <a:off x="3276720" y="4605480"/>
            <a:ext cx="182520" cy="19188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41" name="Line 72"/>
          <p:cNvSpPr/>
          <p:nvPr/>
        </p:nvSpPr>
        <p:spPr>
          <a:xfrm>
            <a:off x="411480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2" name="Line 73"/>
          <p:cNvSpPr/>
          <p:nvPr/>
        </p:nvSpPr>
        <p:spPr>
          <a:xfrm flipH="1">
            <a:off x="411444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3" name="Rectangle 74"/>
          <p:cNvSpPr/>
          <p:nvPr/>
        </p:nvSpPr>
        <p:spPr>
          <a:xfrm>
            <a:off x="4937040" y="2209680"/>
            <a:ext cx="184320" cy="258768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44" name="Line 75"/>
          <p:cNvSpPr/>
          <p:nvPr/>
        </p:nvSpPr>
        <p:spPr>
          <a:xfrm flipV="1">
            <a:off x="4937040" y="2209680"/>
            <a:ext cx="0" cy="25876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5" name="Line 76"/>
          <p:cNvSpPr/>
          <p:nvPr/>
        </p:nvSpPr>
        <p:spPr>
          <a:xfrm>
            <a:off x="4937040" y="2209680"/>
            <a:ext cx="0" cy="25876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6" name="Line 77"/>
          <p:cNvSpPr/>
          <p:nvPr/>
        </p:nvSpPr>
        <p:spPr>
          <a:xfrm>
            <a:off x="4937040" y="220968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7" name="Line 78"/>
          <p:cNvSpPr/>
          <p:nvPr/>
        </p:nvSpPr>
        <p:spPr>
          <a:xfrm flipH="1">
            <a:off x="4936680" y="220968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8" name="Line 79"/>
          <p:cNvSpPr/>
          <p:nvPr/>
        </p:nvSpPr>
        <p:spPr>
          <a:xfrm flipV="1">
            <a:off x="5118120" y="2209680"/>
            <a:ext cx="0" cy="25876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49" name="Line 80"/>
          <p:cNvSpPr/>
          <p:nvPr/>
        </p:nvSpPr>
        <p:spPr>
          <a:xfrm>
            <a:off x="5118120" y="2209680"/>
            <a:ext cx="0" cy="258768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0" name="Line 81"/>
          <p:cNvSpPr/>
          <p:nvPr/>
        </p:nvSpPr>
        <p:spPr>
          <a:xfrm>
            <a:off x="493704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1" name="Line 82"/>
          <p:cNvSpPr/>
          <p:nvPr/>
        </p:nvSpPr>
        <p:spPr>
          <a:xfrm flipH="1">
            <a:off x="493668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2" name="Rectangle 83"/>
          <p:cNvSpPr/>
          <p:nvPr/>
        </p:nvSpPr>
        <p:spPr>
          <a:xfrm>
            <a:off x="5759280" y="2136600"/>
            <a:ext cx="184320" cy="266076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53" name="Line 84"/>
          <p:cNvSpPr/>
          <p:nvPr/>
        </p:nvSpPr>
        <p:spPr>
          <a:xfrm flipV="1">
            <a:off x="5759280" y="2136240"/>
            <a:ext cx="0" cy="26607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4" name="Line 85"/>
          <p:cNvSpPr/>
          <p:nvPr/>
        </p:nvSpPr>
        <p:spPr>
          <a:xfrm>
            <a:off x="5759280" y="2136600"/>
            <a:ext cx="0" cy="26607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5" name="Line 86"/>
          <p:cNvSpPr/>
          <p:nvPr/>
        </p:nvSpPr>
        <p:spPr>
          <a:xfrm>
            <a:off x="5759280" y="213660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6" name="Line 87"/>
          <p:cNvSpPr/>
          <p:nvPr/>
        </p:nvSpPr>
        <p:spPr>
          <a:xfrm flipH="1">
            <a:off x="5758920" y="213660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7" name="Line 88"/>
          <p:cNvSpPr/>
          <p:nvPr/>
        </p:nvSpPr>
        <p:spPr>
          <a:xfrm flipV="1">
            <a:off x="5940360" y="2136240"/>
            <a:ext cx="0" cy="26607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8" name="Line 89"/>
          <p:cNvSpPr/>
          <p:nvPr/>
        </p:nvSpPr>
        <p:spPr>
          <a:xfrm>
            <a:off x="5940360" y="2136600"/>
            <a:ext cx="0" cy="266076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59" name="Line 90"/>
          <p:cNvSpPr/>
          <p:nvPr/>
        </p:nvSpPr>
        <p:spPr>
          <a:xfrm>
            <a:off x="575928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0" name="Line 91"/>
          <p:cNvSpPr/>
          <p:nvPr/>
        </p:nvSpPr>
        <p:spPr>
          <a:xfrm flipH="1">
            <a:off x="5758920" y="4797360"/>
            <a:ext cx="18108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1" name="Line 92"/>
          <p:cNvSpPr/>
          <p:nvPr/>
        </p:nvSpPr>
        <p:spPr>
          <a:xfrm flipV="1">
            <a:off x="1558800" y="1918800"/>
            <a:ext cx="0" cy="359748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2" name="Line 93"/>
          <p:cNvSpPr/>
          <p:nvPr/>
        </p:nvSpPr>
        <p:spPr>
          <a:xfrm>
            <a:off x="1558800" y="551664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3" name="Rectangle 94"/>
          <p:cNvSpPr/>
          <p:nvPr/>
        </p:nvSpPr>
        <p:spPr>
          <a:xfrm>
            <a:off x="1064880" y="5340240"/>
            <a:ext cx="559800" cy="3668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800" strike="noStrike" u="none">
                <a:solidFill>
                  <a:srgbClr val="ffffff"/>
                </a:solidFill>
                <a:effectLst/>
                <a:uFillTx/>
                <a:latin typeface="Bookman Old Style"/>
              </a:rPr>
              <a:t>-10</a:t>
            </a:r>
            <a:endParaRPr b="0" lang="en-US" sz="1800" strike="noStrike" u="none">
              <a:solidFill>
                <a:srgbClr val="ffff00"/>
              </a:solidFill>
              <a:effectLst/>
              <a:uFillTx/>
              <a:latin typeface="Times New Roman"/>
            </a:endParaRPr>
          </a:p>
        </p:txBody>
      </p:sp>
      <p:sp>
        <p:nvSpPr>
          <p:cNvPr id="1564" name="Line 95"/>
          <p:cNvSpPr/>
          <p:nvPr/>
        </p:nvSpPr>
        <p:spPr>
          <a:xfrm>
            <a:off x="1558800" y="479736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5" name="Rectangle 96"/>
          <p:cNvSpPr/>
          <p:nvPr/>
        </p:nvSpPr>
        <p:spPr>
          <a:xfrm>
            <a:off x="1326960" y="4621320"/>
            <a:ext cx="297720" cy="3362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0</a:t>
            </a:r>
            <a:endParaRPr b="0" lang="en-US" sz="1600" strike="noStrike" u="none">
              <a:solidFill>
                <a:srgbClr val="ffff00"/>
              </a:solidFill>
              <a:effectLst/>
              <a:uFillTx/>
              <a:latin typeface="Times New Roman"/>
            </a:endParaRPr>
          </a:p>
        </p:txBody>
      </p:sp>
      <p:sp>
        <p:nvSpPr>
          <p:cNvPr id="1566" name="Line 97"/>
          <p:cNvSpPr/>
          <p:nvPr/>
        </p:nvSpPr>
        <p:spPr>
          <a:xfrm>
            <a:off x="1558800" y="407988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7" name="Rectangle 98"/>
          <p:cNvSpPr/>
          <p:nvPr/>
        </p:nvSpPr>
        <p:spPr>
          <a:xfrm>
            <a:off x="1213920" y="3903840"/>
            <a:ext cx="410400" cy="3362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10</a:t>
            </a:r>
            <a:endParaRPr b="0" lang="en-US" sz="1600" strike="noStrike" u="none">
              <a:solidFill>
                <a:srgbClr val="ffff00"/>
              </a:solidFill>
              <a:effectLst/>
              <a:uFillTx/>
              <a:latin typeface="Times New Roman"/>
            </a:endParaRPr>
          </a:p>
        </p:txBody>
      </p:sp>
      <p:sp>
        <p:nvSpPr>
          <p:cNvPr id="1568" name="Line 99"/>
          <p:cNvSpPr/>
          <p:nvPr/>
        </p:nvSpPr>
        <p:spPr>
          <a:xfrm>
            <a:off x="1558800" y="335772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69" name="Rectangle 100"/>
          <p:cNvSpPr/>
          <p:nvPr/>
        </p:nvSpPr>
        <p:spPr>
          <a:xfrm>
            <a:off x="1213920" y="3182760"/>
            <a:ext cx="410400" cy="3362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20</a:t>
            </a:r>
            <a:endParaRPr b="0" lang="en-US" sz="1600" strike="noStrike" u="none">
              <a:solidFill>
                <a:srgbClr val="ffff00"/>
              </a:solidFill>
              <a:effectLst/>
              <a:uFillTx/>
              <a:latin typeface="Times New Roman"/>
            </a:endParaRPr>
          </a:p>
        </p:txBody>
      </p:sp>
      <p:sp>
        <p:nvSpPr>
          <p:cNvPr id="1570" name="Line 101"/>
          <p:cNvSpPr/>
          <p:nvPr/>
        </p:nvSpPr>
        <p:spPr>
          <a:xfrm>
            <a:off x="1558800" y="263988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71" name="Rectangle 102"/>
          <p:cNvSpPr/>
          <p:nvPr/>
        </p:nvSpPr>
        <p:spPr>
          <a:xfrm>
            <a:off x="1213920" y="2463840"/>
            <a:ext cx="410400" cy="3362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30</a:t>
            </a:r>
            <a:endParaRPr b="0" lang="en-US" sz="1600" strike="noStrike" u="none">
              <a:solidFill>
                <a:srgbClr val="ffff00"/>
              </a:solidFill>
              <a:effectLst/>
              <a:uFillTx/>
              <a:latin typeface="Times New Roman"/>
            </a:endParaRPr>
          </a:p>
        </p:txBody>
      </p:sp>
      <p:sp>
        <p:nvSpPr>
          <p:cNvPr id="1572" name="Line 103"/>
          <p:cNvSpPr/>
          <p:nvPr/>
        </p:nvSpPr>
        <p:spPr>
          <a:xfrm>
            <a:off x="1558800" y="1919160"/>
            <a:ext cx="856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73" name="Rectangle 104"/>
          <p:cNvSpPr/>
          <p:nvPr/>
        </p:nvSpPr>
        <p:spPr>
          <a:xfrm>
            <a:off x="1213920" y="1743120"/>
            <a:ext cx="410400" cy="336240"/>
          </a:xfrm>
          <a:prstGeom prst="rect">
            <a:avLst/>
          </a:prstGeom>
          <a:noFill/>
          <a:ln w="0">
            <a:noFill/>
          </a:ln>
        </p:spPr>
        <p:style>
          <a:lnRef idx="0"/>
          <a:fillRef idx="0"/>
          <a:effectRef idx="0"/>
          <a:fontRef idx="minor"/>
        </p:style>
        <p:txBody>
          <a:bodyPr wrap="none" lIns="92160" rIns="92160" tIns="46080" bIns="46080" anchor="t">
            <a:spAutoFit/>
          </a:bodyPr>
          <a:p>
            <a:pPr algn="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40</a:t>
            </a:r>
            <a:endParaRPr b="0" lang="en-US" sz="1600" strike="noStrike" u="none">
              <a:solidFill>
                <a:srgbClr val="ffff00"/>
              </a:solidFill>
              <a:effectLst/>
              <a:uFillTx/>
              <a:latin typeface="Times New Roman"/>
            </a:endParaRPr>
          </a:p>
        </p:txBody>
      </p:sp>
      <p:sp>
        <p:nvSpPr>
          <p:cNvPr id="1574" name="Rectangle 105"/>
          <p:cNvSpPr/>
          <p:nvPr/>
        </p:nvSpPr>
        <p:spPr>
          <a:xfrm>
            <a:off x="7112160" y="2575080"/>
            <a:ext cx="556920" cy="3362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 Pre</a:t>
            </a:r>
            <a:endParaRPr b="0" lang="en-US" sz="1600" strike="noStrike" u="none">
              <a:solidFill>
                <a:srgbClr val="ffff00"/>
              </a:solidFill>
              <a:effectLst/>
              <a:uFillTx/>
              <a:latin typeface="Times New Roman"/>
            </a:endParaRPr>
          </a:p>
        </p:txBody>
      </p:sp>
      <p:sp>
        <p:nvSpPr>
          <p:cNvPr id="1575" name="Rectangle 106"/>
          <p:cNvSpPr/>
          <p:nvPr/>
        </p:nvSpPr>
        <p:spPr>
          <a:xfrm>
            <a:off x="6676920" y="2681280"/>
            <a:ext cx="468360" cy="131760"/>
          </a:xfrm>
          <a:prstGeom prst="rect">
            <a:avLst/>
          </a:prstGeom>
          <a:solidFill>
            <a:srgbClr val="ffff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76" name="Rectangle 107"/>
          <p:cNvSpPr/>
          <p:nvPr/>
        </p:nvSpPr>
        <p:spPr>
          <a:xfrm>
            <a:off x="6683400" y="2687760"/>
            <a:ext cx="455760" cy="118800"/>
          </a:xfrm>
          <a:prstGeom prst="rect">
            <a:avLst/>
          </a:prstGeom>
          <a:no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77" name="Rectangle 108"/>
          <p:cNvSpPr/>
          <p:nvPr/>
        </p:nvSpPr>
        <p:spPr>
          <a:xfrm>
            <a:off x="7127280" y="2938320"/>
            <a:ext cx="1334520" cy="3362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trike="noStrike" u="none">
                <a:solidFill>
                  <a:srgbClr val="ffffff"/>
                </a:solidFill>
                <a:effectLst/>
                <a:uFillTx/>
                <a:latin typeface="Arial"/>
              </a:rPr>
              <a:t> Post pubère</a:t>
            </a:r>
            <a:endParaRPr b="0" lang="en-US" sz="1600" strike="noStrike" u="none">
              <a:solidFill>
                <a:srgbClr val="ffff00"/>
              </a:solidFill>
              <a:effectLst/>
              <a:uFillTx/>
              <a:latin typeface="Times New Roman"/>
            </a:endParaRPr>
          </a:p>
        </p:txBody>
      </p:sp>
      <p:sp>
        <p:nvSpPr>
          <p:cNvPr id="1578" name="Rectangle 109"/>
          <p:cNvSpPr/>
          <p:nvPr/>
        </p:nvSpPr>
        <p:spPr>
          <a:xfrm>
            <a:off x="6692760" y="3046320"/>
            <a:ext cx="470160" cy="13356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79" name="Rectangle 110"/>
          <p:cNvSpPr/>
          <p:nvPr/>
        </p:nvSpPr>
        <p:spPr>
          <a:xfrm>
            <a:off x="6699240" y="3052800"/>
            <a:ext cx="455760" cy="120600"/>
          </a:xfrm>
          <a:prstGeom prst="rect">
            <a:avLst/>
          </a:prstGeom>
          <a:noFill/>
          <a:ln w="12600">
            <a:solidFill>
              <a:srgbClr val="ff00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80" name="Rectangle 111"/>
          <p:cNvSpPr/>
          <p:nvPr/>
        </p:nvSpPr>
        <p:spPr>
          <a:xfrm>
            <a:off x="6593040" y="2440080"/>
            <a:ext cx="1858680" cy="914400"/>
          </a:xfrm>
          <a:prstGeom prst="rect">
            <a:avLst/>
          </a:prstGeom>
          <a:noFill/>
          <a:ln w="1260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81" name="Line 112"/>
          <p:cNvSpPr/>
          <p:nvPr/>
        </p:nvSpPr>
        <p:spPr>
          <a:xfrm>
            <a:off x="1565280" y="4794120"/>
            <a:ext cx="46944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582" name="Rectangle 113"/>
          <p:cNvSpPr/>
          <p:nvPr/>
        </p:nvSpPr>
        <p:spPr>
          <a:xfrm rot="16200000">
            <a:off x="-703440" y="3456000"/>
            <a:ext cx="2691720" cy="45828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400" strike="noStrike" u="none">
                <a:solidFill>
                  <a:srgbClr val="ffffff"/>
                </a:solidFill>
                <a:effectLst/>
                <a:uFillTx/>
                <a:latin typeface="Arial"/>
              </a:rPr>
              <a:t>Gain en force (%)</a:t>
            </a:r>
            <a:endParaRPr b="0" lang="en-US" sz="2400" strike="noStrike" u="none">
              <a:solidFill>
                <a:srgbClr val="ffff00"/>
              </a:solidFill>
              <a:effectLst/>
              <a:uFillTx/>
              <a:latin typeface="Times New Roman"/>
            </a:endParaRPr>
          </a:p>
        </p:txBody>
      </p:sp>
      <p:sp>
        <p:nvSpPr>
          <p:cNvPr id="1583" name="Rectangle 114"/>
          <p:cNvSpPr/>
          <p:nvPr/>
        </p:nvSpPr>
        <p:spPr>
          <a:xfrm>
            <a:off x="1584000" y="5089680"/>
            <a:ext cx="49608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66ff66"/>
                </a:solidFill>
                <a:effectLst/>
                <a:uFillTx/>
                <a:latin typeface="Bookman Old Style"/>
              </a:rPr>
              <a:t>Fl.</a:t>
            </a:r>
            <a:endParaRPr b="0" lang="en-US" sz="1800" strike="noStrike" u="none">
              <a:solidFill>
                <a:srgbClr val="ffff00"/>
              </a:solidFill>
              <a:effectLst/>
              <a:uFillTx/>
              <a:latin typeface="Times New Roman"/>
            </a:endParaRPr>
          </a:p>
        </p:txBody>
      </p:sp>
      <p:sp>
        <p:nvSpPr>
          <p:cNvPr id="1584" name="Rectangle 115"/>
          <p:cNvSpPr/>
          <p:nvPr/>
        </p:nvSpPr>
        <p:spPr>
          <a:xfrm>
            <a:off x="2422080" y="5089680"/>
            <a:ext cx="669600" cy="64116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66ff66"/>
                </a:solidFill>
                <a:effectLst/>
                <a:uFillTx/>
                <a:latin typeface="Bookman Old Style"/>
              </a:rPr>
              <a:t>Ext.</a:t>
            </a:r>
            <a:endParaRPr b="0" lang="en-US" sz="1800" strike="noStrike" u="none">
              <a:solidFill>
                <a:srgbClr val="ffff00"/>
              </a:solidFill>
              <a:effectLst/>
              <a:uFillTx/>
              <a:latin typeface="Times New Roman"/>
            </a:endParaRPr>
          </a:p>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800" strike="noStrike" u="none">
              <a:solidFill>
                <a:srgbClr val="ffff00"/>
              </a:solidFill>
              <a:effectLst/>
              <a:uFillTx/>
              <a:latin typeface="Times New Roman"/>
            </a:endParaRPr>
          </a:p>
        </p:txBody>
      </p:sp>
      <p:sp>
        <p:nvSpPr>
          <p:cNvPr id="1585" name="Rectangle 116"/>
          <p:cNvSpPr/>
          <p:nvPr/>
        </p:nvSpPr>
        <p:spPr>
          <a:xfrm>
            <a:off x="3260520" y="5089680"/>
            <a:ext cx="49608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3333cc"/>
                </a:solidFill>
                <a:effectLst/>
                <a:uFillTx/>
                <a:latin typeface="Bookman Old Style"/>
              </a:rPr>
              <a:t>Fl.</a:t>
            </a:r>
            <a:endParaRPr b="0" lang="en-US" sz="1800" strike="noStrike" u="none">
              <a:solidFill>
                <a:srgbClr val="ffff00"/>
              </a:solidFill>
              <a:effectLst/>
              <a:uFillTx/>
              <a:latin typeface="Times New Roman"/>
            </a:endParaRPr>
          </a:p>
        </p:txBody>
      </p:sp>
      <p:sp>
        <p:nvSpPr>
          <p:cNvPr id="1586" name="Rectangle 117"/>
          <p:cNvSpPr/>
          <p:nvPr/>
        </p:nvSpPr>
        <p:spPr>
          <a:xfrm>
            <a:off x="4707720" y="5089680"/>
            <a:ext cx="85248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66ff66"/>
                </a:solidFill>
                <a:effectLst/>
                <a:uFillTx/>
                <a:latin typeface="Bookman Old Style"/>
              </a:rPr>
              <a:t>Abdo.</a:t>
            </a:r>
            <a:endParaRPr b="0" lang="en-US" sz="1800" strike="noStrike" u="none">
              <a:solidFill>
                <a:srgbClr val="ffff00"/>
              </a:solidFill>
              <a:effectLst/>
              <a:uFillTx/>
              <a:latin typeface="Times New Roman"/>
            </a:endParaRPr>
          </a:p>
        </p:txBody>
      </p:sp>
      <p:sp>
        <p:nvSpPr>
          <p:cNvPr id="1587" name="Rectangle 118"/>
          <p:cNvSpPr/>
          <p:nvPr/>
        </p:nvSpPr>
        <p:spPr>
          <a:xfrm>
            <a:off x="5622120" y="5089680"/>
            <a:ext cx="80676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66ff66"/>
                </a:solidFill>
                <a:effectLst/>
                <a:uFillTx/>
                <a:latin typeface="Bookman Old Style"/>
              </a:rPr>
              <a:t>Dors.</a:t>
            </a:r>
            <a:endParaRPr b="0" lang="en-US" sz="1800" strike="noStrike" u="none">
              <a:solidFill>
                <a:srgbClr val="ffff00"/>
              </a:solidFill>
              <a:effectLst/>
              <a:uFillTx/>
              <a:latin typeface="Times New Roman"/>
            </a:endParaRPr>
          </a:p>
        </p:txBody>
      </p:sp>
      <p:sp>
        <p:nvSpPr>
          <p:cNvPr id="1588" name="Rectangle 119"/>
          <p:cNvSpPr/>
          <p:nvPr/>
        </p:nvSpPr>
        <p:spPr>
          <a:xfrm>
            <a:off x="1888920" y="5470560"/>
            <a:ext cx="67896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66ff66"/>
                </a:solidFill>
                <a:effectLst/>
                <a:uFillTx/>
                <a:latin typeface="Bookman Old Style"/>
              </a:rPr>
              <a:t>bras</a:t>
            </a:r>
            <a:endParaRPr b="0" lang="en-US" sz="1800" strike="noStrike" u="none">
              <a:solidFill>
                <a:srgbClr val="ffff00"/>
              </a:solidFill>
              <a:effectLst/>
              <a:uFillTx/>
              <a:latin typeface="Times New Roman"/>
            </a:endParaRPr>
          </a:p>
        </p:txBody>
      </p:sp>
      <p:sp>
        <p:nvSpPr>
          <p:cNvPr id="1589" name="Rectangle 120"/>
          <p:cNvSpPr/>
          <p:nvPr/>
        </p:nvSpPr>
        <p:spPr>
          <a:xfrm>
            <a:off x="3413160" y="5470560"/>
            <a:ext cx="101268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3333cc"/>
                </a:solidFill>
                <a:effectLst/>
                <a:uFillTx/>
                <a:latin typeface="Bookman Old Style"/>
              </a:rPr>
              <a:t>jambes</a:t>
            </a:r>
            <a:endParaRPr b="0" lang="en-US" sz="1800" strike="noStrike" u="none">
              <a:solidFill>
                <a:srgbClr val="ffff00"/>
              </a:solidFill>
              <a:effectLst/>
              <a:uFillTx/>
              <a:latin typeface="Times New Roman"/>
            </a:endParaRPr>
          </a:p>
        </p:txBody>
      </p:sp>
      <p:sp>
        <p:nvSpPr>
          <p:cNvPr id="1590" name="Rectangle 121"/>
          <p:cNvSpPr/>
          <p:nvPr/>
        </p:nvSpPr>
        <p:spPr>
          <a:xfrm>
            <a:off x="4405320" y="3503520"/>
            <a:ext cx="184320" cy="1293840"/>
          </a:xfrm>
          <a:prstGeom prst="rect">
            <a:avLst/>
          </a:prstGeom>
          <a:solidFill>
            <a:srgbClr val="ff0000"/>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591" name="Rectangle 122"/>
          <p:cNvSpPr/>
          <p:nvPr/>
        </p:nvSpPr>
        <p:spPr>
          <a:xfrm>
            <a:off x="4022280" y="5089680"/>
            <a:ext cx="664920" cy="3668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800" strike="noStrike" u="none">
                <a:solidFill>
                  <a:srgbClr val="3333cc"/>
                </a:solidFill>
                <a:effectLst/>
                <a:uFillTx/>
                <a:latin typeface="Bookman Old Style"/>
              </a:rPr>
              <a:t>Ext</a:t>
            </a:r>
            <a:r>
              <a:rPr b="0" lang="en-US" sz="1800" strike="noStrike" u="none">
                <a:solidFill>
                  <a:srgbClr val="3333cc"/>
                </a:solidFill>
                <a:effectLst/>
                <a:uFillTx/>
                <a:latin typeface="Bookman Old Style"/>
              </a:rPr>
              <a:t>.</a:t>
            </a:r>
            <a:endParaRPr b="0" lang="en-US" sz="1800" strike="noStrike" u="none">
              <a:solidFill>
                <a:srgbClr val="ffff00"/>
              </a:solidFill>
              <a:effectLst/>
              <a:uFillTx/>
              <a:latin typeface="Times New Roman"/>
            </a:endParaRPr>
          </a:p>
        </p:txBody>
      </p:sp>
      <p:sp>
        <p:nvSpPr>
          <p:cNvPr id="1592" name="Rectangle 123"/>
          <p:cNvSpPr/>
          <p:nvPr/>
        </p:nvSpPr>
        <p:spPr>
          <a:xfrm>
            <a:off x="1812600" y="359568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3" name="Rectangle 124"/>
          <p:cNvSpPr/>
          <p:nvPr/>
        </p:nvSpPr>
        <p:spPr>
          <a:xfrm>
            <a:off x="2651040" y="207180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4" name="Rectangle 125"/>
          <p:cNvSpPr/>
          <p:nvPr/>
        </p:nvSpPr>
        <p:spPr>
          <a:xfrm>
            <a:off x="3489120" y="207180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5" name="Rectangle 126"/>
          <p:cNvSpPr/>
          <p:nvPr/>
        </p:nvSpPr>
        <p:spPr>
          <a:xfrm>
            <a:off x="4327200" y="313848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6" name="Rectangle 127"/>
          <p:cNvSpPr/>
          <p:nvPr/>
        </p:nvSpPr>
        <p:spPr>
          <a:xfrm>
            <a:off x="4860720" y="184320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7" name="Rectangle 128"/>
          <p:cNvSpPr/>
          <p:nvPr/>
        </p:nvSpPr>
        <p:spPr>
          <a:xfrm>
            <a:off x="5089320" y="252900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8" name="Rectangle 129"/>
          <p:cNvSpPr/>
          <p:nvPr/>
        </p:nvSpPr>
        <p:spPr>
          <a:xfrm>
            <a:off x="5698800" y="176688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599" name="Rectangle 130"/>
          <p:cNvSpPr/>
          <p:nvPr/>
        </p:nvSpPr>
        <p:spPr>
          <a:xfrm>
            <a:off x="5927400" y="3214800"/>
            <a:ext cx="362520" cy="51948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1600" name="Rectangle 131"/>
          <p:cNvSpPr/>
          <p:nvPr/>
        </p:nvSpPr>
        <p:spPr>
          <a:xfrm>
            <a:off x="5940720" y="6248520"/>
            <a:ext cx="2658960" cy="3974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2000" strike="noStrike" u="none">
                <a:solidFill>
                  <a:srgbClr val="66ff66"/>
                </a:solidFill>
                <a:effectLst/>
                <a:uFillTx/>
                <a:latin typeface="Times New Roman"/>
              </a:rPr>
              <a:t>D’après Vrijens (1978)</a:t>
            </a:r>
            <a:endParaRPr b="0" lang="en-US" sz="2000" strike="noStrike" u="none">
              <a:solidFill>
                <a:srgbClr val="ffff00"/>
              </a:solidFill>
              <a:effectLst/>
              <a:uFillTx/>
              <a:latin typeface="Times New Roman"/>
            </a:endParaRPr>
          </a:p>
        </p:txBody>
      </p:sp>
      <p:sp>
        <p:nvSpPr>
          <p:cNvPr id="1601" name="Rectangle 132"/>
          <p:cNvSpPr/>
          <p:nvPr/>
        </p:nvSpPr>
        <p:spPr>
          <a:xfrm>
            <a:off x="7592040" y="2575080"/>
            <a:ext cx="816120" cy="33624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pubère</a:t>
            </a:r>
            <a:endParaRPr b="0" lang="en-US" sz="1600" strike="noStrike" u="none">
              <a:solidFill>
                <a:srgbClr val="ffff00"/>
              </a:solidFill>
              <a:effectLst/>
              <a:uFillTx/>
              <a:latin typeface="Times New Roman"/>
            </a:endParaRPr>
          </a:p>
        </p:txBody>
      </p:sp>
    </p:spTree>
  </p:cSld>
  <p:transition spd="med">
    <p:zoom dir="out"/>
  </p:transition>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2" name="Text Box 2"/>
          <p:cNvSpPr/>
          <p:nvPr/>
        </p:nvSpPr>
        <p:spPr>
          <a:xfrm>
            <a:off x="1338480" y="1676520"/>
            <a:ext cx="58251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Critiques des travaux de Vrijens 1978 </a:t>
            </a: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p:txBody>
      </p:sp>
      <p:sp>
        <p:nvSpPr>
          <p:cNvPr id="1603" name="Text Box 3"/>
          <p:cNvSpPr/>
          <p:nvPr/>
        </p:nvSpPr>
        <p:spPr>
          <a:xfrm>
            <a:off x="1403640" y="177840"/>
            <a:ext cx="57715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ffffff"/>
                </a:solidFill>
                <a:effectLst/>
                <a:uFillTx/>
                <a:latin typeface="Arial"/>
              </a:rPr>
              <a:t>2 - Déficit en testostérone...</a:t>
            </a:r>
            <a:endParaRPr b="0" lang="en-US" sz="3600" strike="noStrike" u="none">
              <a:solidFill>
                <a:srgbClr val="ffff00"/>
              </a:solidFill>
              <a:effectLst/>
              <a:uFillTx/>
              <a:latin typeface="Times New Roman"/>
            </a:endParaRPr>
          </a:p>
        </p:txBody>
      </p:sp>
      <p:sp>
        <p:nvSpPr>
          <p:cNvPr id="1604" name="Text Box 5"/>
          <p:cNvSpPr/>
          <p:nvPr/>
        </p:nvSpPr>
        <p:spPr>
          <a:xfrm>
            <a:off x="249120" y="3022560"/>
            <a:ext cx="8920800" cy="173988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La testostérone ne peut avoir des effets aussi sélectifs;</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Les charges utilisées étaient trop faibles (20 à 30 % 1 RM);</a:t>
            </a:r>
            <a:endParaRPr b="0" lang="en-US" sz="24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La spécificité de la contraction n’était pas prise en compte.</a:t>
            </a:r>
            <a:endParaRPr b="0" lang="en-US" sz="2400" strike="noStrike" u="none">
              <a:solidFill>
                <a:srgbClr val="ffff00"/>
              </a:solidFill>
              <a:effectLst/>
              <a:uFillTx/>
              <a:latin typeface="Times New Roman"/>
            </a:endParaRPr>
          </a:p>
        </p:txBody>
      </p:sp>
    </p:spTree>
  </p:cSld>
  <p:transition spd="med">
    <p:zoom dir="out"/>
  </p:transition>
  <p:timing>
    <p:tnLst>
      <p:par>
        <p:cTn id="1646" dur="indefinite" restart="never" nodeType="tmRoot">
          <p:childTnLst>
            <p:seq>
              <p:cTn id="1647" dur="indefinite" nodeType="mainSeq">
                <p:childTnLst>
                  <p:par>
                    <p:cTn id="1648" nodeType="clickEffect" fill="hold">
                      <p:stCondLst>
                        <p:cond delay="0"/>
                      </p:stCondLst>
                      <p:childTnLst>
                        <p:par>
                          <p:cTn id="1649" nodeType="withEffect" fill="hold">
                            <p:stCondLst>
                              <p:cond delay="0"/>
                            </p:stCondLst>
                            <p:childTnLst>
                              <p:par>
                                <p:cTn id="1650" nodeType="afterEffect" fill="hold" presetClass="entr" presetID="9">
                                  <p:stCondLst>
                                    <p:cond delay="0"/>
                                  </p:stCondLst>
                                  <p:childTnLst>
                                    <p:set>
                                      <p:cBhvr>
                                        <p:cTn id="1651" dur="1" fill="hold">
                                          <p:stCondLst>
                                            <p:cond delay="0"/>
                                          </p:stCondLst>
                                        </p:cTn>
                                        <p:tgtEl>
                                          <p:spTgt spid="1603"/>
                                        </p:tgtEl>
                                        <p:attrNameLst>
                                          <p:attrName>style.visibility</p:attrName>
                                        </p:attrNameLst>
                                      </p:cBhvr>
                                      <p:to>
                                        <p:strVal val="visible"/>
                                      </p:to>
                                    </p:set>
                                    <p:animEffect filter="dissolve" transition="in">
                                      <p:cBhvr additive="repl">
                                        <p:cTn id="1652" dur="500"/>
                                        <p:tgtEl>
                                          <p:spTgt spid="1603"/>
                                        </p:tgtEl>
                                      </p:cBhvr>
                                    </p:animEffect>
                                  </p:childTnLst>
                                </p:cTn>
                              </p:par>
                            </p:childTnLst>
                          </p:cTn>
                        </p:par>
                        <p:par>
                          <p:cTn id="1653" nodeType="afterEffect" fill="hold">
                            <p:stCondLst>
                              <p:cond delay="500"/>
                            </p:stCondLst>
                            <p:childTnLst>
                              <p:par>
                                <p:cTn id="1654" nodeType="afterEffect" fill="hold" presetClass="entr" presetID="9">
                                  <p:stCondLst>
                                    <p:cond delay="1000"/>
                                  </p:stCondLst>
                                  <p:childTnLst>
                                    <p:set>
                                      <p:cBhvr>
                                        <p:cTn id="1655" dur="1" fill="hold">
                                          <p:stCondLst>
                                            <p:cond delay="0"/>
                                          </p:stCondLst>
                                        </p:cTn>
                                        <p:tgtEl>
                                          <p:spTgt spid="1602"/>
                                        </p:tgtEl>
                                        <p:attrNameLst>
                                          <p:attrName>style.visibility</p:attrName>
                                        </p:attrNameLst>
                                      </p:cBhvr>
                                      <p:to>
                                        <p:strVal val="visible"/>
                                      </p:to>
                                    </p:set>
                                    <p:animEffect filter="dissolve" transition="in">
                                      <p:cBhvr additive="repl">
                                        <p:cTn id="1656" dur="500"/>
                                        <p:tgtEl>
                                          <p:spTgt spid="1602"/>
                                        </p:tgtEl>
                                      </p:cBhvr>
                                    </p:animEffect>
                                  </p:childTnLst>
                                </p:cTn>
                              </p:par>
                            </p:childTnLst>
                          </p:cTn>
                        </p:par>
                      </p:childTnLst>
                    </p:cTn>
                  </p:par>
                  <p:par>
                    <p:cTn id="1657" nodeType="clickEffect" fill="hold">
                      <p:stCondLst>
                        <p:cond delay="indefinite"/>
                      </p:stCondLst>
                      <p:childTnLst>
                        <p:par>
                          <p:cTn id="1658" nodeType="withEffect" fill="hold">
                            <p:stCondLst>
                              <p:cond delay="0"/>
                            </p:stCondLst>
                            <p:childTnLst>
                              <p:par>
                                <p:cTn id="1659" nodeType="clickEffect" fill="hold" presetClass="entr" presetID="9">
                                  <p:stCondLst>
                                    <p:cond delay="0"/>
                                  </p:stCondLst>
                                  <p:childTnLst>
                                    <p:set>
                                      <p:cBhvr>
                                        <p:cTn id="1660" dur="1" fill="hold">
                                          <p:stCondLst>
                                            <p:cond delay="0"/>
                                          </p:stCondLst>
                                        </p:cTn>
                                        <p:tgtEl>
                                          <p:spTgt spid="1604">
                                            <p:txEl>
                                              <p:pRg st="0" end="0"/>
                                            </p:txEl>
                                          </p:spTgt>
                                        </p:tgtEl>
                                        <p:attrNameLst>
                                          <p:attrName>style.visibility</p:attrName>
                                        </p:attrNameLst>
                                      </p:cBhvr>
                                      <p:to>
                                        <p:strVal val="visible"/>
                                      </p:to>
                                    </p:set>
                                    <p:animEffect filter="dissolve" transition="in">
                                      <p:cBhvr additive="repl">
                                        <p:cTn id="1661" dur="500"/>
                                        <p:tgtEl>
                                          <p:spTgt spid="1604">
                                            <p:txEl>
                                              <p:pRg st="0" end="0"/>
                                            </p:txEl>
                                          </p:spTgt>
                                        </p:tgtEl>
                                      </p:cBhvr>
                                    </p:animEffect>
                                  </p:childTnLst>
                                </p:cTn>
                              </p:par>
                            </p:childTnLst>
                          </p:cTn>
                        </p:par>
                      </p:childTnLst>
                    </p:cTn>
                  </p:par>
                  <p:par>
                    <p:cTn id="1662" nodeType="clickEffect" fill="hold">
                      <p:stCondLst>
                        <p:cond delay="indefinite"/>
                      </p:stCondLst>
                      <p:childTnLst>
                        <p:par>
                          <p:cTn id="1663" nodeType="withEffect" fill="hold">
                            <p:stCondLst>
                              <p:cond delay="0"/>
                            </p:stCondLst>
                            <p:childTnLst>
                              <p:par>
                                <p:cTn id="1664" nodeType="clickEffect" fill="hold" presetClass="entr" presetID="9">
                                  <p:stCondLst>
                                    <p:cond delay="0"/>
                                  </p:stCondLst>
                                  <p:childTnLst>
                                    <p:set>
                                      <p:cBhvr>
                                        <p:cTn id="1665" dur="1" fill="hold">
                                          <p:stCondLst>
                                            <p:cond delay="0"/>
                                          </p:stCondLst>
                                        </p:cTn>
                                        <p:tgtEl>
                                          <p:spTgt spid="1604">
                                            <p:txEl>
                                              <p:pRg st="1" end="1"/>
                                            </p:txEl>
                                          </p:spTgt>
                                        </p:tgtEl>
                                        <p:attrNameLst>
                                          <p:attrName>style.visibility</p:attrName>
                                        </p:attrNameLst>
                                      </p:cBhvr>
                                      <p:to>
                                        <p:strVal val="visible"/>
                                      </p:to>
                                    </p:set>
                                    <p:animEffect filter="dissolve" transition="in">
                                      <p:cBhvr additive="repl">
                                        <p:cTn id="1666" dur="500"/>
                                        <p:tgtEl>
                                          <p:spTgt spid="1604">
                                            <p:txEl>
                                              <p:pRg st="1" end="1"/>
                                            </p:txEl>
                                          </p:spTgt>
                                        </p:tgtEl>
                                      </p:cBhvr>
                                    </p:animEffect>
                                  </p:childTnLst>
                                </p:cTn>
                              </p:par>
                              <p:animClr clrSpc="rgb">
                                <p:cBhvr>
                                  <p:cTn id="1667" dur="1" fill="hold">
                                    <p:stCondLst>
                                      <p:cond delay="0"/>
                                    </p:stCondLst>
                                  </p:cTn>
                                  <p:tgtEl>
                                    <p:spTgt spid="1604">
                                      <p:txEl>
                                        <p:pRg st="0" end="0"/>
                                      </p:txEl>
                                    </p:spTgt>
                                  </p:tgtEl>
                                  <p:attrNameLst>
                                    <p:attrName>ppt_c</p:attrName>
                                  </p:attrNameLst>
                                </p:cBhvr>
                                <p:to>
                                  <a:srgbClr val="ccccff"/>
                                </p:to>
                              </p:animClr>
                            </p:childTnLst>
                          </p:cTn>
                        </p:par>
                      </p:childTnLst>
                    </p:cTn>
                  </p:par>
                  <p:par>
                    <p:cTn id="1668" nodeType="clickEffect" fill="hold">
                      <p:stCondLst>
                        <p:cond delay="indefinite"/>
                      </p:stCondLst>
                      <p:childTnLst>
                        <p:par>
                          <p:cTn id="1669" nodeType="withEffect" fill="hold">
                            <p:stCondLst>
                              <p:cond delay="0"/>
                            </p:stCondLst>
                            <p:childTnLst>
                              <p:par>
                                <p:cTn id="1670" nodeType="clickEffect" fill="hold" presetClass="entr" presetID="9">
                                  <p:stCondLst>
                                    <p:cond delay="0"/>
                                  </p:stCondLst>
                                  <p:childTnLst>
                                    <p:set>
                                      <p:cBhvr>
                                        <p:cTn id="1671" dur="1" fill="hold">
                                          <p:stCondLst>
                                            <p:cond delay="0"/>
                                          </p:stCondLst>
                                        </p:cTn>
                                        <p:tgtEl>
                                          <p:spTgt spid="1604">
                                            <p:txEl>
                                              <p:pRg st="2" end="2"/>
                                            </p:txEl>
                                          </p:spTgt>
                                        </p:tgtEl>
                                        <p:attrNameLst>
                                          <p:attrName>style.visibility</p:attrName>
                                        </p:attrNameLst>
                                      </p:cBhvr>
                                      <p:to>
                                        <p:strVal val="visible"/>
                                      </p:to>
                                    </p:set>
                                    <p:animEffect filter="dissolve" transition="in">
                                      <p:cBhvr additive="repl">
                                        <p:cTn id="1672" dur="500"/>
                                        <p:tgtEl>
                                          <p:spTgt spid="1604">
                                            <p:txEl>
                                              <p:pRg st="2" end="2"/>
                                            </p:txEl>
                                          </p:spTgt>
                                        </p:tgtEl>
                                      </p:cBhvr>
                                    </p:animEffect>
                                  </p:childTnLst>
                                </p:cTn>
                              </p:par>
                              <p:animClr clrSpc="rgb">
                                <p:cBhvr>
                                  <p:cTn id="1673" dur="1" fill="hold">
                                    <p:stCondLst>
                                      <p:cond delay="0"/>
                                    </p:stCondLst>
                                  </p:cTn>
                                  <p:tgtEl>
                                    <p:spTgt spid="1604">
                                      <p:txEl>
                                        <p:pRg st="1" end="1"/>
                                      </p:txEl>
                                    </p:spTgt>
                                  </p:tgtEl>
                                  <p:attrNameLst>
                                    <p:attrName>ppt_c</p:attrName>
                                  </p:attrNameLst>
                                </p:cBhvr>
                                <p:to>
                                  <a:srgbClr val="ccccff"/>
                                </p:to>
                              </p:animClr>
                            </p:childTnLst>
                          </p:cTn>
                        </p:par>
                      </p:childTnLst>
                    </p:cTn>
                  </p:par>
                  <p:par>
                    <p:cTn id="1674" fill="hold">
                      <p:stCondLst>
                        <p:cond delay="indefinite"/>
                      </p:stCondLst>
                      <p:childTnLst>
                        <p:par>
                          <p:cTn id="1675" fill="hold">
                            <p:stCondLst>
                              <p:cond delay="0"/>
                            </p:stCondLst>
                            <p:childTnLst>
                              <p:animClr clrSpc="rgb">
                                <p:cBhvr>
                                  <p:cTn id="1676" dur="1" fill="hold"/>
                                  <p:tgtEl>
                                    <p:spTgt spid="1604">
                                      <p:txEl>
                                        <p:pRg st="2" end="2"/>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5" name="Text Box 2"/>
          <p:cNvSpPr/>
          <p:nvPr/>
        </p:nvSpPr>
        <p:spPr>
          <a:xfrm>
            <a:off x="1383480" y="765000"/>
            <a:ext cx="592416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omic Sans MS"/>
              </a:rPr>
              <a:t>    </a:t>
            </a:r>
            <a:r>
              <a:rPr b="1" lang="fr-FR" sz="2800" strike="noStrike" u="none">
                <a:solidFill>
                  <a:srgbClr val="ffff00"/>
                </a:solidFill>
                <a:effectLst/>
                <a:uFillTx/>
                <a:latin typeface="Comic Sans MS"/>
              </a:rPr>
              <a:t>Selon les résultats de travaux plus récents :</a:t>
            </a:r>
            <a:r>
              <a:rPr b="0" lang="fr-FR" sz="2400" strike="noStrike" u="none">
                <a:solidFill>
                  <a:srgbClr val="ffffff"/>
                </a:solidFill>
                <a:effectLst/>
                <a:uFillTx/>
                <a:latin typeface="Times New Roman"/>
              </a:rPr>
              <a:t> </a:t>
            </a:r>
            <a:endParaRPr b="0" lang="en-US" sz="2400" strike="noStrike" u="none">
              <a:solidFill>
                <a:srgbClr val="ffff00"/>
              </a:solidFill>
              <a:effectLst/>
              <a:uFillTx/>
              <a:latin typeface="Times New Roman"/>
            </a:endParaRPr>
          </a:p>
        </p:txBody>
      </p:sp>
      <p:sp>
        <p:nvSpPr>
          <p:cNvPr id="1606" name="Text Box 3"/>
          <p:cNvSpPr/>
          <p:nvPr/>
        </p:nvSpPr>
        <p:spPr>
          <a:xfrm>
            <a:off x="-11880" y="5016600"/>
            <a:ext cx="8653320" cy="12218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A la condition de respecter certaines précautions, l’enfant est donc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totalement capable d’augmenter sa force musculaire dans les mêmes </a:t>
            </a:r>
            <a:endParaRPr b="0" lang="en-US" sz="20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proportions que celles de l’adulte.</a:t>
            </a:r>
            <a:endParaRPr b="0" lang="en-US" sz="2000" strike="noStrike" u="none">
              <a:solidFill>
                <a:srgbClr val="ffff00"/>
              </a:solidFill>
              <a:effectLst/>
              <a:uFillTx/>
              <a:latin typeface="Times New Roman"/>
            </a:endParaRPr>
          </a:p>
        </p:txBody>
      </p:sp>
      <p:sp>
        <p:nvSpPr>
          <p:cNvPr id="1607" name="Text Box 4"/>
          <p:cNvSpPr/>
          <p:nvPr/>
        </p:nvSpPr>
        <p:spPr>
          <a:xfrm>
            <a:off x="-12600" y="1484280"/>
            <a:ext cx="8977320" cy="137412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Servedio et al. 1985; Sewal et Micheli; 1985 Pfeiffer et Francis 1986;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Hakkinen et al. 1989; Ramsey et al. 1990 (50 à 100 % de la charge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permettant 10 répétitions), Duchateau 1998 (entraînement pliométrique) :</a:t>
            </a:r>
            <a:endParaRPr b="0" lang="en-US" sz="2000" strike="noStrike" u="none">
              <a:solidFill>
                <a:srgbClr val="ffff00"/>
              </a:solidFill>
              <a:effectLst/>
              <a:uFillTx/>
              <a:latin typeface="Times New Roman"/>
            </a:endParaRPr>
          </a:p>
        </p:txBody>
      </p:sp>
      <p:sp>
        <p:nvSpPr>
          <p:cNvPr id="1608" name="Text Box 5"/>
          <p:cNvSpPr/>
          <p:nvPr/>
        </p:nvSpPr>
        <p:spPr>
          <a:xfrm>
            <a:off x="73080" y="3068640"/>
            <a:ext cx="8964720" cy="192276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ea typeface="Arial"/>
              </a:rPr>
              <a:t>ont montré, aussi bien chez les garçons que chez les filles des gains de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ea typeface="Arial"/>
              </a:rPr>
              <a:t>force maximale isométrique, de force isocinétique à différentes vitesses,</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ea typeface="Arial"/>
              </a:rPr>
              <a:t>de puissance  et d ’endurance musculaires.</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timing>
    <p:tnLst>
      <p:par>
        <p:cTn id="1677" dur="indefinite" restart="never" nodeType="tmRoot">
          <p:childTnLst>
            <p:seq>
              <p:cTn id="1678" dur="indefinite" nodeType="mainSeq">
                <p:childTnLst>
                  <p:par>
                    <p:cTn id="1679" nodeType="clickEffect" fill="hold">
                      <p:stCondLst>
                        <p:cond delay="0"/>
                      </p:stCondLst>
                      <p:childTnLst>
                        <p:par>
                          <p:cTn id="1680" nodeType="withEffect" fill="hold">
                            <p:stCondLst>
                              <p:cond delay="0"/>
                            </p:stCondLst>
                            <p:childTnLst>
                              <p:par>
                                <p:cTn id="1681" nodeType="afterEffect" fill="hold" presetClass="entr" presetID="9">
                                  <p:stCondLst>
                                    <p:cond delay="1000"/>
                                  </p:stCondLst>
                                  <p:childTnLst>
                                    <p:set>
                                      <p:cBhvr>
                                        <p:cTn id="1682" dur="1" fill="hold">
                                          <p:stCondLst>
                                            <p:cond delay="0"/>
                                          </p:stCondLst>
                                        </p:cTn>
                                        <p:tgtEl>
                                          <p:spTgt spid="1605">
                                            <p:txEl>
                                              <p:pRg st="0" end="0"/>
                                            </p:txEl>
                                          </p:spTgt>
                                        </p:tgtEl>
                                        <p:attrNameLst>
                                          <p:attrName>style.visibility</p:attrName>
                                        </p:attrNameLst>
                                      </p:cBhvr>
                                      <p:to>
                                        <p:strVal val="visible"/>
                                      </p:to>
                                    </p:set>
                                    <p:animEffect filter="dissolve" transition="in">
                                      <p:cBhvr additive="repl">
                                        <p:cTn id="1683" dur="500"/>
                                        <p:tgtEl>
                                          <p:spTgt spid="1605">
                                            <p:txEl>
                                              <p:pRg st="0" end="0"/>
                                            </p:txEl>
                                          </p:spTgt>
                                        </p:tgtEl>
                                      </p:cBhvr>
                                    </p:animEffect>
                                  </p:childTnLst>
                                </p:cTn>
                              </p:par>
                            </p:childTnLst>
                          </p:cTn>
                        </p:par>
                      </p:childTnLst>
                    </p:cTn>
                  </p:par>
                  <p:par>
                    <p:cTn id="1684" nodeType="clickEffect" fill="hold">
                      <p:stCondLst>
                        <p:cond delay="indefinite"/>
                      </p:stCondLst>
                      <p:childTnLst>
                        <p:par>
                          <p:cTn id="1685" nodeType="withEffect" fill="hold">
                            <p:stCondLst>
                              <p:cond delay="0"/>
                            </p:stCondLst>
                            <p:childTnLst>
                              <p:par>
                                <p:cTn id="1686" nodeType="clickEffect" fill="hold" presetClass="entr" presetID="22" presetSubtype="8">
                                  <p:stCondLst>
                                    <p:cond delay="0"/>
                                  </p:stCondLst>
                                  <p:childTnLst>
                                    <p:set>
                                      <p:cBhvr>
                                        <p:cTn id="1687" dur="1" fill="hold">
                                          <p:stCondLst>
                                            <p:cond delay="0"/>
                                          </p:stCondLst>
                                        </p:cTn>
                                        <p:tgtEl>
                                          <p:spTgt spid="1607"/>
                                        </p:tgtEl>
                                        <p:attrNameLst>
                                          <p:attrName>style.visibility</p:attrName>
                                        </p:attrNameLst>
                                      </p:cBhvr>
                                      <p:to>
                                        <p:strVal val="visible"/>
                                      </p:to>
                                    </p:set>
                                    <p:animEffect filter="wipe(left)" transition="in">
                                      <p:cBhvr additive="repl">
                                        <p:cTn id="1688" dur="2000"/>
                                        <p:tgtEl>
                                          <p:spTgt spid="1607"/>
                                        </p:tgtEl>
                                      </p:cBhvr>
                                    </p:animEffect>
                                  </p:childTnLst>
                                </p:cTn>
                              </p:par>
                            </p:childTnLst>
                          </p:cTn>
                        </p:par>
                      </p:childTnLst>
                    </p:cTn>
                  </p:par>
                  <p:par>
                    <p:cTn id="1689" nodeType="clickEffect" fill="hold">
                      <p:stCondLst>
                        <p:cond delay="indefinite"/>
                      </p:stCondLst>
                      <p:childTnLst>
                        <p:par>
                          <p:cTn id="1690" nodeType="withEffect" fill="hold">
                            <p:stCondLst>
                              <p:cond delay="0"/>
                            </p:stCondLst>
                            <p:childTnLst>
                              <p:par>
                                <p:cTn id="1691" nodeType="clickEffect" fill="hold" presetClass="entr" presetID="22" presetSubtype="8">
                                  <p:stCondLst>
                                    <p:cond delay="0"/>
                                  </p:stCondLst>
                                  <p:childTnLst>
                                    <p:set>
                                      <p:cBhvr>
                                        <p:cTn id="1692" dur="1" fill="hold">
                                          <p:stCondLst>
                                            <p:cond delay="0"/>
                                          </p:stCondLst>
                                        </p:cTn>
                                        <p:tgtEl>
                                          <p:spTgt spid="1608"/>
                                        </p:tgtEl>
                                        <p:attrNameLst>
                                          <p:attrName>style.visibility</p:attrName>
                                        </p:attrNameLst>
                                      </p:cBhvr>
                                      <p:to>
                                        <p:strVal val="visible"/>
                                      </p:to>
                                    </p:set>
                                    <p:animEffect filter="wipe(left)" transition="in">
                                      <p:cBhvr additive="repl">
                                        <p:cTn id="1693" dur="2000"/>
                                        <p:tgtEl>
                                          <p:spTgt spid="1608"/>
                                        </p:tgtEl>
                                      </p:cBhvr>
                                    </p:animEffect>
                                  </p:childTnLst>
                                </p:cTn>
                              </p:par>
                            </p:childTnLst>
                          </p:cTn>
                        </p:par>
                      </p:childTnLst>
                    </p:cTn>
                  </p:par>
                  <p:par>
                    <p:cTn id="1694" nodeType="clickEffect" fill="hold">
                      <p:stCondLst>
                        <p:cond delay="indefinite"/>
                      </p:stCondLst>
                      <p:childTnLst>
                        <p:par>
                          <p:cTn id="1695" nodeType="withEffect" fill="hold">
                            <p:stCondLst>
                              <p:cond delay="0"/>
                            </p:stCondLst>
                            <p:childTnLst>
                              <p:par>
                                <p:cTn id="1696" nodeType="clickEffect" fill="hold" presetClass="entr" presetID="22" presetSubtype="8">
                                  <p:stCondLst>
                                    <p:cond delay="0"/>
                                  </p:stCondLst>
                                  <p:childTnLst>
                                    <p:set>
                                      <p:cBhvr>
                                        <p:cTn id="1697" dur="1" fill="hold">
                                          <p:stCondLst>
                                            <p:cond delay="0"/>
                                          </p:stCondLst>
                                        </p:cTn>
                                        <p:tgtEl>
                                          <p:spTgt spid="1606"/>
                                        </p:tgtEl>
                                        <p:attrNameLst>
                                          <p:attrName>style.visibility</p:attrName>
                                        </p:attrNameLst>
                                      </p:cBhvr>
                                      <p:to>
                                        <p:strVal val="visible"/>
                                      </p:to>
                                    </p:set>
                                    <p:animEffect filter="wipe(left)" transition="in">
                                      <p:cBhvr additive="repl">
                                        <p:cTn id="1698" dur="2000"/>
                                        <p:tgtEl>
                                          <p:spTgt spid="16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9" name="Line 2"/>
          <p:cNvSpPr/>
          <p:nvPr/>
        </p:nvSpPr>
        <p:spPr>
          <a:xfrm>
            <a:off x="1295280" y="609480"/>
            <a:ext cx="0" cy="34290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10" name="Line 3"/>
          <p:cNvSpPr/>
          <p:nvPr/>
        </p:nvSpPr>
        <p:spPr>
          <a:xfrm>
            <a:off x="1295280" y="3352680"/>
            <a:ext cx="30481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11" name="Rectangle 4" descr="Diagonales larges vers le haut"/>
          <p:cNvSpPr/>
          <p:nvPr/>
        </p:nvSpPr>
        <p:spPr>
          <a:xfrm>
            <a:off x="1523880" y="1981080"/>
            <a:ext cx="381240" cy="1371600"/>
          </a:xfrm>
          <a:prstGeom prst="rect">
            <a:avLst/>
          </a:prstGeom>
          <a:blipFill rotWithShape="0">
            <a:blip r:embed="rId1"/>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12" name="Rectangle 5" descr="Diagonales larges vers le haut"/>
          <p:cNvSpPr/>
          <p:nvPr/>
        </p:nvSpPr>
        <p:spPr>
          <a:xfrm>
            <a:off x="3124080" y="1447920"/>
            <a:ext cx="381240" cy="1904760"/>
          </a:xfrm>
          <a:prstGeom prst="rect">
            <a:avLst/>
          </a:prstGeom>
          <a:blipFill rotWithShape="0">
            <a:blip r:embed="rId2"/>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13" name="Rectangle 6"/>
          <p:cNvSpPr/>
          <p:nvPr/>
        </p:nvSpPr>
        <p:spPr>
          <a:xfrm flipV="1">
            <a:off x="2133720" y="3276000"/>
            <a:ext cx="380880" cy="75960"/>
          </a:xfrm>
          <a:prstGeom prst="rect">
            <a:avLst/>
          </a:prstGeom>
          <a:solidFill>
            <a:srgbClr val="ffffff"/>
          </a:solidFill>
          <a:ln w="9360">
            <a:solidFill>
              <a:srgbClr val="ffff00"/>
            </a:solidFill>
            <a:miter/>
          </a:ln>
        </p:spPr>
        <p:style>
          <a:lnRef idx="0"/>
          <a:fillRef idx="0"/>
          <a:effectRef idx="0"/>
          <a:fontRef idx="minor"/>
        </p:style>
        <p:txBody>
          <a:bodyPr wrap="none" lIns="90000" rIns="90000" tIns="29160" bIns="29160" anchor="ctr">
            <a:noAutofit/>
          </a:bodyPr>
          <a:p>
            <a:endParaRPr b="0" lang="en-US" sz="2400" strike="noStrike" u="none">
              <a:solidFill>
                <a:srgbClr val="ffff00"/>
              </a:solidFill>
              <a:effectLst/>
              <a:uFillTx/>
              <a:latin typeface="Times New Roman"/>
            </a:endParaRPr>
          </a:p>
        </p:txBody>
      </p:sp>
      <p:sp>
        <p:nvSpPr>
          <p:cNvPr id="1614" name="Rectangle 7"/>
          <p:cNvSpPr/>
          <p:nvPr/>
        </p:nvSpPr>
        <p:spPr>
          <a:xfrm flipV="1">
            <a:off x="3733920" y="3352680"/>
            <a:ext cx="380880" cy="76320"/>
          </a:xfrm>
          <a:prstGeom prst="rect">
            <a:avLst/>
          </a:prstGeom>
          <a:solidFill>
            <a:srgbClr val="ffffff"/>
          </a:solidFill>
          <a:ln w="9360">
            <a:solidFill>
              <a:srgbClr val="ffff00"/>
            </a:solidFill>
            <a:miter/>
          </a:ln>
        </p:spPr>
        <p:style>
          <a:lnRef idx="0"/>
          <a:fillRef idx="0"/>
          <a:effectRef idx="0"/>
          <a:fontRef idx="minor"/>
        </p:style>
        <p:txBody>
          <a:bodyPr wrap="none" lIns="90000" rIns="90000" tIns="29520" bIns="29520" anchor="ctr">
            <a:noAutofit/>
          </a:bodyPr>
          <a:p>
            <a:endParaRPr b="0" lang="en-US" sz="2400" strike="noStrike" u="none">
              <a:solidFill>
                <a:srgbClr val="ffff00"/>
              </a:solidFill>
              <a:effectLst/>
              <a:uFillTx/>
              <a:latin typeface="Times New Roman"/>
            </a:endParaRPr>
          </a:p>
        </p:txBody>
      </p:sp>
      <p:sp>
        <p:nvSpPr>
          <p:cNvPr id="1615" name="Line 8"/>
          <p:cNvSpPr/>
          <p:nvPr/>
        </p:nvSpPr>
        <p:spPr>
          <a:xfrm>
            <a:off x="5562720" y="457200"/>
            <a:ext cx="0" cy="3581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16" name="Line 9"/>
          <p:cNvSpPr/>
          <p:nvPr/>
        </p:nvSpPr>
        <p:spPr>
          <a:xfrm>
            <a:off x="5562720" y="3352680"/>
            <a:ext cx="304776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17" name="Rectangle 10" descr="Diagonales larges vers le haut"/>
          <p:cNvSpPr/>
          <p:nvPr/>
        </p:nvSpPr>
        <p:spPr>
          <a:xfrm>
            <a:off x="5791320" y="1981080"/>
            <a:ext cx="380880" cy="1371600"/>
          </a:xfrm>
          <a:prstGeom prst="rect">
            <a:avLst/>
          </a:prstGeom>
          <a:blipFill rotWithShape="0">
            <a:blip r:embed="rId3"/>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18" name="Rectangle 11" descr="Diagonales larges vers le haut"/>
          <p:cNvSpPr/>
          <p:nvPr/>
        </p:nvSpPr>
        <p:spPr>
          <a:xfrm>
            <a:off x="7391520" y="1447920"/>
            <a:ext cx="380880" cy="1904760"/>
          </a:xfrm>
          <a:prstGeom prst="rect">
            <a:avLst/>
          </a:prstGeom>
          <a:blipFill rotWithShape="0">
            <a:blip r:embed="rId4"/>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19" name="Rectangle 12"/>
          <p:cNvSpPr/>
          <p:nvPr/>
        </p:nvSpPr>
        <p:spPr>
          <a:xfrm flipV="1">
            <a:off x="6400800" y="3276000"/>
            <a:ext cx="380880" cy="75960"/>
          </a:xfrm>
          <a:prstGeom prst="rect">
            <a:avLst/>
          </a:prstGeom>
          <a:solidFill>
            <a:srgbClr val="ffffff"/>
          </a:solidFill>
          <a:ln w="9360">
            <a:solidFill>
              <a:srgbClr val="ffff00"/>
            </a:solidFill>
            <a:miter/>
          </a:ln>
        </p:spPr>
        <p:style>
          <a:lnRef idx="0"/>
          <a:fillRef idx="0"/>
          <a:effectRef idx="0"/>
          <a:fontRef idx="minor"/>
        </p:style>
        <p:txBody>
          <a:bodyPr wrap="none" lIns="90000" rIns="90000" tIns="29160" bIns="29160" anchor="ctr">
            <a:noAutofit/>
          </a:bodyPr>
          <a:p>
            <a:endParaRPr b="0" lang="en-US" sz="2400" strike="noStrike" u="none">
              <a:solidFill>
                <a:srgbClr val="ffff00"/>
              </a:solidFill>
              <a:effectLst/>
              <a:uFillTx/>
              <a:latin typeface="Times New Roman"/>
            </a:endParaRPr>
          </a:p>
        </p:txBody>
      </p:sp>
      <p:sp>
        <p:nvSpPr>
          <p:cNvPr id="1620" name="Rectangle 13"/>
          <p:cNvSpPr/>
          <p:nvPr/>
        </p:nvSpPr>
        <p:spPr>
          <a:xfrm flipV="1">
            <a:off x="8001000" y="3352680"/>
            <a:ext cx="380880" cy="76320"/>
          </a:xfrm>
          <a:prstGeom prst="rect">
            <a:avLst/>
          </a:prstGeom>
          <a:solidFill>
            <a:srgbClr val="ffffff"/>
          </a:solidFill>
          <a:ln w="9360">
            <a:solidFill>
              <a:srgbClr val="ffff00"/>
            </a:solidFill>
            <a:miter/>
          </a:ln>
        </p:spPr>
        <p:style>
          <a:lnRef idx="0"/>
          <a:fillRef idx="0"/>
          <a:effectRef idx="0"/>
          <a:fontRef idx="minor"/>
        </p:style>
        <p:txBody>
          <a:bodyPr wrap="none" lIns="90000" rIns="90000" tIns="29520" bIns="29520" anchor="ctr">
            <a:noAutofit/>
          </a:bodyPr>
          <a:p>
            <a:endParaRPr b="0" lang="en-US" sz="2400" strike="noStrike" u="none">
              <a:solidFill>
                <a:srgbClr val="ffff00"/>
              </a:solidFill>
              <a:effectLst/>
              <a:uFillTx/>
              <a:latin typeface="Times New Roman"/>
            </a:endParaRPr>
          </a:p>
        </p:txBody>
      </p:sp>
      <p:sp>
        <p:nvSpPr>
          <p:cNvPr id="1621" name="Text Box 14"/>
          <p:cNvSpPr/>
          <p:nvPr/>
        </p:nvSpPr>
        <p:spPr>
          <a:xfrm>
            <a:off x="841680" y="380880"/>
            <a:ext cx="642240" cy="37976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20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15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10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5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0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5 – </a:t>
            </a:r>
            <a:endParaRPr b="0" lang="en-US" sz="1600" strike="noStrike" u="none">
              <a:solidFill>
                <a:srgbClr val="ffff00"/>
              </a:solidFill>
              <a:effectLst/>
              <a:uFillTx/>
              <a:latin typeface="Times New Roman"/>
            </a:endParaRPr>
          </a:p>
        </p:txBody>
      </p:sp>
      <p:sp>
        <p:nvSpPr>
          <p:cNvPr id="1622" name="Text Box 15"/>
          <p:cNvSpPr/>
          <p:nvPr/>
        </p:nvSpPr>
        <p:spPr>
          <a:xfrm>
            <a:off x="5108760" y="380880"/>
            <a:ext cx="642240" cy="37976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20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15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10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5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0 –</a:t>
            </a: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95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5 – </a:t>
            </a:r>
            <a:endParaRPr b="0" lang="en-US" sz="1600" strike="noStrike" u="none">
              <a:solidFill>
                <a:srgbClr val="ffff00"/>
              </a:solidFill>
              <a:effectLst/>
              <a:uFillTx/>
              <a:latin typeface="Times New Roman"/>
            </a:endParaRPr>
          </a:p>
        </p:txBody>
      </p:sp>
      <p:sp>
        <p:nvSpPr>
          <p:cNvPr id="1623" name="Line 16"/>
          <p:cNvSpPr/>
          <p:nvPr/>
        </p:nvSpPr>
        <p:spPr>
          <a:xfrm>
            <a:off x="1295280" y="4191120"/>
            <a:ext cx="0" cy="23619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24" name="Line 17"/>
          <p:cNvSpPr/>
          <p:nvPr/>
        </p:nvSpPr>
        <p:spPr>
          <a:xfrm>
            <a:off x="1295280" y="6553080"/>
            <a:ext cx="30481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25" name="Rectangle 18" descr="Diagonales larges vers le haut"/>
          <p:cNvSpPr/>
          <p:nvPr/>
        </p:nvSpPr>
        <p:spPr>
          <a:xfrm>
            <a:off x="1905120" y="4876920"/>
            <a:ext cx="380880" cy="1676160"/>
          </a:xfrm>
          <a:prstGeom prst="rect">
            <a:avLst/>
          </a:prstGeom>
          <a:blipFill rotWithShape="0">
            <a:blip r:embed="rId5"/>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26" name="Rectangle 20"/>
          <p:cNvSpPr/>
          <p:nvPr/>
        </p:nvSpPr>
        <p:spPr>
          <a:xfrm flipV="1">
            <a:off x="2971800" y="4876920"/>
            <a:ext cx="380880" cy="1676160"/>
          </a:xfrm>
          <a:prstGeom prst="rect">
            <a:avLst/>
          </a:prstGeom>
          <a:solidFill>
            <a:srgbClr val="ffffff"/>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27" name="Text Box 22"/>
          <p:cNvSpPr/>
          <p:nvPr/>
        </p:nvSpPr>
        <p:spPr>
          <a:xfrm>
            <a:off x="766080" y="4191120"/>
            <a:ext cx="631440" cy="2504520"/>
          </a:xfrm>
          <a:prstGeom prst="rect">
            <a:avLst/>
          </a:prstGeom>
          <a:noFill/>
          <a:ln w="0">
            <a:noFill/>
          </a:ln>
        </p:spPr>
        <p:style>
          <a:lnRef idx="0"/>
          <a:fillRef idx="0"/>
          <a:effectRef idx="0"/>
          <a:fontRef idx="minor"/>
        </p:style>
        <p:txBody>
          <a:bodyPr wrap="none" lIns="90000" rIns="90000" tIns="46800" bIns="4680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10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7.5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5.0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2.5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0 –</a:t>
            </a:r>
            <a:endParaRPr b="0" lang="en-US" sz="1600" strike="noStrike" u="none">
              <a:solidFill>
                <a:srgbClr val="ffff00"/>
              </a:solidFill>
              <a:effectLst/>
              <a:uFillTx/>
              <a:latin typeface="Times New Roman"/>
            </a:endParaRPr>
          </a:p>
        </p:txBody>
      </p:sp>
      <p:sp>
        <p:nvSpPr>
          <p:cNvPr id="1628" name="Line 23"/>
          <p:cNvSpPr/>
          <p:nvPr/>
        </p:nvSpPr>
        <p:spPr>
          <a:xfrm>
            <a:off x="5562720" y="4191120"/>
            <a:ext cx="0" cy="23619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29" name="Line 24"/>
          <p:cNvSpPr/>
          <p:nvPr/>
        </p:nvSpPr>
        <p:spPr>
          <a:xfrm>
            <a:off x="5562720" y="6553080"/>
            <a:ext cx="304776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630" name="Rectangle 25" descr="Diagonales larges vers le haut"/>
          <p:cNvSpPr/>
          <p:nvPr/>
        </p:nvSpPr>
        <p:spPr>
          <a:xfrm>
            <a:off x="6172200" y="4876920"/>
            <a:ext cx="380880" cy="1676160"/>
          </a:xfrm>
          <a:prstGeom prst="rect">
            <a:avLst/>
          </a:prstGeom>
          <a:blipFill rotWithShape="0">
            <a:blip r:embed="rId6"/>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31" name="Rectangle 26"/>
          <p:cNvSpPr/>
          <p:nvPr/>
        </p:nvSpPr>
        <p:spPr>
          <a:xfrm flipV="1">
            <a:off x="7238880" y="4876920"/>
            <a:ext cx="381240" cy="1676160"/>
          </a:xfrm>
          <a:prstGeom prst="rect">
            <a:avLst/>
          </a:prstGeom>
          <a:solidFill>
            <a:srgbClr val="ffffff"/>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32" name="Text Box 27"/>
          <p:cNvSpPr/>
          <p:nvPr/>
        </p:nvSpPr>
        <p:spPr>
          <a:xfrm>
            <a:off x="5033160" y="4114800"/>
            <a:ext cx="631440" cy="2504520"/>
          </a:xfrm>
          <a:prstGeom prst="rect">
            <a:avLst/>
          </a:prstGeom>
          <a:noFill/>
          <a:ln w="0">
            <a:noFill/>
          </a:ln>
        </p:spPr>
        <p:style>
          <a:lnRef idx="0"/>
          <a:fillRef idx="0"/>
          <a:effectRef idx="0"/>
          <a:fontRef idx="minor"/>
        </p:style>
        <p:txBody>
          <a:bodyPr wrap="none" lIns="90000" rIns="90000" tIns="46800" bIns="4680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10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7.5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5.0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2.5 –</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0 –</a:t>
            </a:r>
            <a:endParaRPr b="0" lang="en-US" sz="1600" strike="noStrike" u="none">
              <a:solidFill>
                <a:srgbClr val="ffff00"/>
              </a:solidFill>
              <a:effectLst/>
              <a:uFillTx/>
              <a:latin typeface="Times New Roman"/>
            </a:endParaRPr>
          </a:p>
        </p:txBody>
      </p:sp>
      <p:sp>
        <p:nvSpPr>
          <p:cNvPr id="1633" name="Rectangle 28"/>
          <p:cNvSpPr/>
          <p:nvPr/>
        </p:nvSpPr>
        <p:spPr>
          <a:xfrm>
            <a:off x="0" y="380880"/>
            <a:ext cx="8991720" cy="37339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34" name="Rectangle 29"/>
          <p:cNvSpPr/>
          <p:nvPr/>
        </p:nvSpPr>
        <p:spPr>
          <a:xfrm>
            <a:off x="0" y="4114800"/>
            <a:ext cx="8991720" cy="274320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35" name="Text Box 30"/>
          <p:cNvSpPr/>
          <p:nvPr/>
        </p:nvSpPr>
        <p:spPr>
          <a:xfrm>
            <a:off x="1675800" y="380880"/>
            <a:ext cx="27270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Fléchisseurs du coude</a:t>
            </a:r>
            <a:endParaRPr b="0" lang="en-US" sz="2000" strike="noStrike" u="none">
              <a:solidFill>
                <a:srgbClr val="ffff00"/>
              </a:solidFill>
              <a:effectLst/>
              <a:uFillTx/>
              <a:latin typeface="Times New Roman"/>
            </a:endParaRPr>
          </a:p>
        </p:txBody>
      </p:sp>
      <p:sp>
        <p:nvSpPr>
          <p:cNvPr id="1636" name="Text Box 31"/>
          <p:cNvSpPr/>
          <p:nvPr/>
        </p:nvSpPr>
        <p:spPr>
          <a:xfrm>
            <a:off x="6018120" y="380880"/>
            <a:ext cx="2586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Extenseurs du genou</a:t>
            </a:r>
            <a:endParaRPr b="0" lang="en-US" sz="2000" strike="noStrike" u="none">
              <a:solidFill>
                <a:srgbClr val="ffff00"/>
              </a:solidFill>
              <a:effectLst/>
              <a:uFillTx/>
              <a:latin typeface="Times New Roman"/>
            </a:endParaRPr>
          </a:p>
        </p:txBody>
      </p:sp>
      <p:sp>
        <p:nvSpPr>
          <p:cNvPr id="1637" name="Text Box 32"/>
          <p:cNvSpPr/>
          <p:nvPr/>
        </p:nvSpPr>
        <p:spPr>
          <a:xfrm>
            <a:off x="1298880" y="3505320"/>
            <a:ext cx="15552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Après 10 sem.</a:t>
            </a:r>
            <a:endParaRPr b="0" lang="en-US" sz="1600" strike="noStrike" u="none">
              <a:solidFill>
                <a:srgbClr val="ffff00"/>
              </a:solidFill>
              <a:effectLst/>
              <a:uFillTx/>
              <a:latin typeface="Times New Roman"/>
            </a:endParaRPr>
          </a:p>
        </p:txBody>
      </p:sp>
      <p:sp>
        <p:nvSpPr>
          <p:cNvPr id="1638" name="Text Box 33"/>
          <p:cNvSpPr/>
          <p:nvPr/>
        </p:nvSpPr>
        <p:spPr>
          <a:xfrm>
            <a:off x="3051360" y="3505320"/>
            <a:ext cx="15552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Après 20 sem.</a:t>
            </a:r>
            <a:endParaRPr b="0" lang="en-US" sz="1600" strike="noStrike" u="none">
              <a:solidFill>
                <a:srgbClr val="ffff00"/>
              </a:solidFill>
              <a:effectLst/>
              <a:uFillTx/>
              <a:latin typeface="Times New Roman"/>
            </a:endParaRPr>
          </a:p>
        </p:txBody>
      </p:sp>
      <p:sp>
        <p:nvSpPr>
          <p:cNvPr id="1639" name="Text Box 34"/>
          <p:cNvSpPr/>
          <p:nvPr/>
        </p:nvSpPr>
        <p:spPr>
          <a:xfrm>
            <a:off x="5565960" y="3505320"/>
            <a:ext cx="15552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Après 10 sem.</a:t>
            </a:r>
            <a:endParaRPr b="0" lang="en-US" sz="1600" strike="noStrike" u="none">
              <a:solidFill>
                <a:srgbClr val="ffff00"/>
              </a:solidFill>
              <a:effectLst/>
              <a:uFillTx/>
              <a:latin typeface="Times New Roman"/>
            </a:endParaRPr>
          </a:p>
        </p:txBody>
      </p:sp>
      <p:sp>
        <p:nvSpPr>
          <p:cNvPr id="1640" name="Text Box 35"/>
          <p:cNvSpPr/>
          <p:nvPr/>
        </p:nvSpPr>
        <p:spPr>
          <a:xfrm>
            <a:off x="7318440" y="3505320"/>
            <a:ext cx="15552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Après 20 sem.</a:t>
            </a:r>
            <a:endParaRPr b="0" lang="en-US" sz="1600" strike="noStrike" u="none">
              <a:solidFill>
                <a:srgbClr val="ffff00"/>
              </a:solidFill>
              <a:effectLst/>
              <a:uFillTx/>
              <a:latin typeface="Times New Roman"/>
            </a:endParaRPr>
          </a:p>
        </p:txBody>
      </p:sp>
      <p:sp>
        <p:nvSpPr>
          <p:cNvPr id="1641" name="Text Box 36"/>
          <p:cNvSpPr/>
          <p:nvPr/>
        </p:nvSpPr>
        <p:spPr>
          <a:xfrm>
            <a:off x="1908720" y="6521400"/>
            <a:ext cx="20736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Après 20 semaines.</a:t>
            </a:r>
            <a:endParaRPr b="0" lang="en-US" sz="1600" strike="noStrike" u="none">
              <a:solidFill>
                <a:srgbClr val="ffff00"/>
              </a:solidFill>
              <a:effectLst/>
              <a:uFillTx/>
              <a:latin typeface="Times New Roman"/>
            </a:endParaRPr>
          </a:p>
        </p:txBody>
      </p:sp>
      <p:sp>
        <p:nvSpPr>
          <p:cNvPr id="1642" name="Text Box 37"/>
          <p:cNvSpPr/>
          <p:nvPr/>
        </p:nvSpPr>
        <p:spPr>
          <a:xfrm>
            <a:off x="6099480" y="6521400"/>
            <a:ext cx="20736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Après 20 semaines.</a:t>
            </a:r>
            <a:endParaRPr b="0" lang="en-US" sz="1600" strike="noStrike" u="none">
              <a:solidFill>
                <a:srgbClr val="ffff00"/>
              </a:solidFill>
              <a:effectLst/>
              <a:uFillTx/>
              <a:latin typeface="Times New Roman"/>
            </a:endParaRPr>
          </a:p>
        </p:txBody>
      </p:sp>
      <p:sp>
        <p:nvSpPr>
          <p:cNvPr id="1643" name="Text Box 38"/>
          <p:cNvSpPr/>
          <p:nvPr/>
        </p:nvSpPr>
        <p:spPr>
          <a:xfrm rot="16200000">
            <a:off x="-1314360" y="2078280"/>
            <a:ext cx="36104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Activation neuromusculaire (%)</a:t>
            </a:r>
            <a:endParaRPr b="0" lang="en-US" sz="1800" strike="noStrike" u="none">
              <a:solidFill>
                <a:srgbClr val="ffff00"/>
              </a:solidFill>
              <a:effectLst/>
              <a:uFillTx/>
              <a:latin typeface="Times New Roman"/>
            </a:endParaRPr>
          </a:p>
        </p:txBody>
      </p:sp>
      <p:sp>
        <p:nvSpPr>
          <p:cNvPr id="1644" name="Text Box 39"/>
          <p:cNvSpPr/>
          <p:nvPr/>
        </p:nvSpPr>
        <p:spPr>
          <a:xfrm rot="16200000">
            <a:off x="2989080" y="2041200"/>
            <a:ext cx="3686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Activation neuro-musculaire (%)</a:t>
            </a:r>
            <a:endParaRPr b="0" lang="en-US" sz="1800" strike="noStrike" u="none">
              <a:solidFill>
                <a:srgbClr val="ffff00"/>
              </a:solidFill>
              <a:effectLst/>
              <a:uFillTx/>
              <a:latin typeface="Times New Roman"/>
            </a:endParaRPr>
          </a:p>
        </p:txBody>
      </p:sp>
      <p:sp>
        <p:nvSpPr>
          <p:cNvPr id="1645" name="Text Box 40"/>
          <p:cNvSpPr/>
          <p:nvPr/>
        </p:nvSpPr>
        <p:spPr>
          <a:xfrm rot="16200000">
            <a:off x="-818280" y="5085360"/>
            <a:ext cx="2279880" cy="642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Surface de section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musculaire (%)</a:t>
            </a:r>
            <a:endParaRPr b="0" lang="en-US" sz="1800" strike="noStrike" u="none">
              <a:solidFill>
                <a:srgbClr val="ffff00"/>
              </a:solidFill>
              <a:effectLst/>
              <a:uFillTx/>
              <a:latin typeface="Times New Roman"/>
            </a:endParaRPr>
          </a:p>
        </p:txBody>
      </p:sp>
      <p:sp>
        <p:nvSpPr>
          <p:cNvPr id="1646" name="Text Box 41"/>
          <p:cNvSpPr/>
          <p:nvPr/>
        </p:nvSpPr>
        <p:spPr>
          <a:xfrm rot="16200000">
            <a:off x="3524760" y="5085360"/>
            <a:ext cx="2279880" cy="6426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Surface de section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musculaire (%)</a:t>
            </a:r>
            <a:endParaRPr b="0" lang="en-US" sz="1800" strike="noStrike" u="none">
              <a:solidFill>
                <a:srgbClr val="ffff00"/>
              </a:solidFill>
              <a:effectLst/>
              <a:uFillTx/>
              <a:latin typeface="Times New Roman"/>
            </a:endParaRPr>
          </a:p>
        </p:txBody>
      </p:sp>
      <p:sp>
        <p:nvSpPr>
          <p:cNvPr id="1647" name="Rectangle 42" descr="Diagonales larges vers le haut"/>
          <p:cNvSpPr/>
          <p:nvPr/>
        </p:nvSpPr>
        <p:spPr>
          <a:xfrm>
            <a:off x="1389240" y="826920"/>
            <a:ext cx="380880" cy="152640"/>
          </a:xfrm>
          <a:prstGeom prst="rect">
            <a:avLst/>
          </a:prstGeom>
          <a:blipFill rotWithShape="0">
            <a:blip r:embed="rId7"/>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48" name="Text Box 43"/>
          <p:cNvSpPr/>
          <p:nvPr/>
        </p:nvSpPr>
        <p:spPr>
          <a:xfrm>
            <a:off x="1827000" y="762120"/>
            <a:ext cx="15580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Groupe entraîné</a:t>
            </a:r>
            <a:endParaRPr b="0" lang="en-US" sz="1400" strike="noStrike" u="none">
              <a:solidFill>
                <a:srgbClr val="ffff00"/>
              </a:solidFill>
              <a:effectLst/>
              <a:uFillTx/>
              <a:latin typeface="Times New Roman"/>
            </a:endParaRPr>
          </a:p>
        </p:txBody>
      </p:sp>
      <p:sp>
        <p:nvSpPr>
          <p:cNvPr id="1649" name="Rectangle 44"/>
          <p:cNvSpPr/>
          <p:nvPr/>
        </p:nvSpPr>
        <p:spPr>
          <a:xfrm flipV="1">
            <a:off x="1389240" y="1131120"/>
            <a:ext cx="380880" cy="152280"/>
          </a:xfrm>
          <a:prstGeom prst="rect">
            <a:avLst/>
          </a:prstGeom>
          <a:solidFill>
            <a:srgbClr val="ffffff"/>
          </a:solid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650" name="Text Box 45"/>
          <p:cNvSpPr/>
          <p:nvPr/>
        </p:nvSpPr>
        <p:spPr>
          <a:xfrm>
            <a:off x="1843560" y="1055520"/>
            <a:ext cx="156780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Groupe contrôle</a:t>
            </a:r>
            <a:endParaRPr b="0" lang="en-US" sz="1400" strike="noStrike" u="none">
              <a:solidFill>
                <a:srgbClr val="ffff00"/>
              </a:solidFill>
              <a:effectLst/>
              <a:uFillTx/>
              <a:latin typeface="Times New Roman"/>
            </a:endParaRPr>
          </a:p>
        </p:txBody>
      </p:sp>
      <p:sp>
        <p:nvSpPr>
          <p:cNvPr id="1651" name="Text Box 46"/>
          <p:cNvSpPr/>
          <p:nvPr/>
        </p:nvSpPr>
        <p:spPr>
          <a:xfrm>
            <a:off x="0" y="0"/>
            <a:ext cx="9036000" cy="7038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Modes d’acquisition de la force chez des jeunes prépubères (Duchateau 1998)</a:t>
            </a:r>
            <a:endParaRPr b="0" lang="en-US" sz="2000" strike="noStrike" u="none">
              <a:solidFill>
                <a:srgbClr val="ffff00"/>
              </a:solidFill>
              <a:effectLst/>
              <a:uFillTx/>
              <a:latin typeface="Times New Roman"/>
            </a:endParaRPr>
          </a:p>
        </p:txBody>
      </p:sp>
    </p:spTree>
  </p:cSld>
  <p:transition spd="med">
    <p:zoom dir="out"/>
  </p:transition>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52" name="Group 2"/>
          <p:cNvGrpSpPr/>
          <p:nvPr/>
        </p:nvGrpSpPr>
        <p:grpSpPr>
          <a:xfrm>
            <a:off x="0" y="109440"/>
            <a:ext cx="9451440" cy="6632280"/>
            <a:chOff x="0" y="109440"/>
            <a:chExt cx="9451440" cy="6632280"/>
          </a:xfrm>
        </p:grpSpPr>
        <p:graphicFrame>
          <p:nvGraphicFramePr>
            <p:cNvPr id="1653" name="Object 3"/>
            <p:cNvGraphicFramePr/>
            <p:nvPr/>
          </p:nvGraphicFramePr>
          <p:xfrm>
            <a:off x="0" y="109440"/>
            <a:ext cx="9451440" cy="6499800"/>
          </p:xfrm>
          <a:graphic>
            <a:graphicData uri="http://schemas.openxmlformats.org/presentationml/2006/ole">
              <p:oleObj progId="Word.Document.12" r:id="rId1" spid="">
                <p:embed/>
                <p:pic>
                  <p:nvPicPr>
                    <p:cNvPr id="1654" name="Object 3" descr=""/>
                    <p:cNvPicPr/>
                    <p:nvPr/>
                  </p:nvPicPr>
                  <p:blipFill>
                    <a:blip r:embed="rId2"/>
                    <a:stretch/>
                  </p:blipFill>
                  <p:spPr>
                    <a:xfrm>
                      <a:off x="0" y="109440"/>
                      <a:ext cx="9451440" cy="6499800"/>
                    </a:xfrm>
                    <a:prstGeom prst="rect">
                      <a:avLst/>
                    </a:prstGeom>
                    <a:noFill/>
                    <a:ln w="0">
                      <a:noFill/>
                    </a:ln>
                  </p:spPr>
                </p:pic>
              </p:oleObj>
            </a:graphicData>
          </a:graphic>
        </p:graphicFrame>
        <p:sp>
          <p:nvSpPr>
            <p:cNvPr id="1655" name="Line 4"/>
            <p:cNvSpPr/>
            <p:nvPr/>
          </p:nvSpPr>
          <p:spPr>
            <a:xfrm>
              <a:off x="209520" y="6741720"/>
              <a:ext cx="88956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grpSp>
    </p:spTree>
  </p:cSld>
  <p:transition spd="med">
    <p:zoom dir="out"/>
  </p:transition>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6" name="Text Box 2"/>
          <p:cNvSpPr/>
          <p:nvPr/>
        </p:nvSpPr>
        <p:spPr>
          <a:xfrm>
            <a:off x="545400" y="3619440"/>
            <a:ext cx="7765560" cy="21852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Règles à respecter pour tout programme </a:t>
            </a:r>
            <a:endParaRPr b="0" lang="en-US" sz="2800" strike="noStrike" u="none">
              <a:solidFill>
                <a:srgbClr val="ffff00"/>
              </a:solidFill>
              <a:effectLst/>
              <a:uFillTx/>
              <a:latin typeface="Times New Roman"/>
            </a:endParaRPr>
          </a:p>
          <a:p>
            <a:pPr algn="ct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visant à développer</a:t>
            </a:r>
            <a:endParaRPr b="0" lang="en-US" sz="2800" strike="noStrike" u="none">
              <a:solidFill>
                <a:srgbClr val="ffff00"/>
              </a:solidFill>
              <a:effectLst/>
              <a:uFillTx/>
              <a:latin typeface="Times New Roman"/>
            </a:endParaRPr>
          </a:p>
          <a:p>
            <a:pPr algn="ct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la puissance et la force </a:t>
            </a:r>
            <a:endParaRPr b="0" lang="en-US" sz="2800" strike="noStrike" u="none">
              <a:solidFill>
                <a:srgbClr val="ffff00"/>
              </a:solidFill>
              <a:effectLst/>
              <a:uFillTx/>
              <a:latin typeface="Times New Roman"/>
            </a:endParaRPr>
          </a:p>
          <a:p>
            <a:pPr algn="ct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Bookman Old Style"/>
              </a:rPr>
              <a:t>chez l ’enfant et l ’adolescent :</a:t>
            </a:r>
            <a:endParaRPr b="0" lang="en-US" sz="2800" strike="noStrike" u="none">
              <a:solidFill>
                <a:srgbClr val="ffff00"/>
              </a:solidFill>
              <a:effectLst/>
              <a:uFillTx/>
              <a:latin typeface="Times New Roman"/>
            </a:endParaRPr>
          </a:p>
        </p:txBody>
      </p:sp>
      <p:sp>
        <p:nvSpPr>
          <p:cNvPr id="1657" name="Text Box 3"/>
          <p:cNvSpPr/>
          <p:nvPr/>
        </p:nvSpPr>
        <p:spPr>
          <a:xfrm>
            <a:off x="1003320" y="687240"/>
            <a:ext cx="6878520" cy="10695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Bookman Old Style"/>
                <a:ea typeface="Arial"/>
              </a:rPr>
              <a:t>Un renforcement des capacités </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Bookman Old Style"/>
                <a:ea typeface="Arial"/>
              </a:rPr>
              <a:t>musculaires chez l’enfant ?</a:t>
            </a:r>
            <a:endParaRPr b="0" lang="en-US" sz="3200" strike="noStrike" u="none">
              <a:solidFill>
                <a:srgbClr val="ffff00"/>
              </a:solidFill>
              <a:effectLst/>
              <a:uFillTx/>
              <a:latin typeface="Times New Roman"/>
            </a:endParaRPr>
          </a:p>
        </p:txBody>
      </p:sp>
      <p:sp>
        <p:nvSpPr>
          <p:cNvPr id="1658" name="Text Box 4"/>
          <p:cNvSpPr/>
          <p:nvPr/>
        </p:nvSpPr>
        <p:spPr>
          <a:xfrm>
            <a:off x="3111840" y="2270160"/>
            <a:ext cx="246744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Bookman Old Style"/>
              </a:rPr>
              <a:t>Oui mais…</a:t>
            </a:r>
            <a:endParaRPr b="0" lang="en-US" sz="3200" strike="noStrike" u="none">
              <a:solidFill>
                <a:srgbClr val="ffff00"/>
              </a:solidFill>
              <a:effectLst/>
              <a:uFillTx/>
              <a:latin typeface="Times New Roman"/>
            </a:endParaRPr>
          </a:p>
        </p:txBody>
      </p:sp>
    </p:spTree>
  </p:cSld>
  <p:transition spd="med">
    <p:zoom dir="out"/>
  </p:transition>
  <p:timing>
    <p:tnLst>
      <p:par>
        <p:cTn id="1699" dur="indefinite" restart="never" nodeType="tmRoot">
          <p:childTnLst>
            <p:seq>
              <p:cTn id="1700" dur="indefinite" nodeType="mainSeq">
                <p:childTnLst>
                  <p:par>
                    <p:cTn id="1701" nodeType="clickEffect" fill="hold">
                      <p:stCondLst>
                        <p:cond delay="0"/>
                      </p:stCondLst>
                      <p:childTnLst>
                        <p:par>
                          <p:cTn id="1702" nodeType="withEffect" fill="hold">
                            <p:stCondLst>
                              <p:cond delay="0"/>
                            </p:stCondLst>
                            <p:childTnLst>
                              <p:par>
                                <p:cTn id="1703" nodeType="withEffect" fill="hold" presetClass="entr" presetID="22" presetSubtype="8">
                                  <p:stCondLst>
                                    <p:cond delay="0"/>
                                  </p:stCondLst>
                                  <p:childTnLst>
                                    <p:set>
                                      <p:cBhvr>
                                        <p:cTn id="1704" dur="1" fill="hold">
                                          <p:stCondLst>
                                            <p:cond delay="0"/>
                                          </p:stCondLst>
                                        </p:cTn>
                                        <p:tgtEl>
                                          <p:spTgt spid="1657"/>
                                        </p:tgtEl>
                                        <p:attrNameLst>
                                          <p:attrName>style.visibility</p:attrName>
                                        </p:attrNameLst>
                                      </p:cBhvr>
                                      <p:to>
                                        <p:strVal val="visible"/>
                                      </p:to>
                                    </p:set>
                                    <p:animEffect filter="wipe(left)" transition="in">
                                      <p:cBhvr additive="repl">
                                        <p:cTn id="1705" dur="1000"/>
                                        <p:tgtEl>
                                          <p:spTgt spid="1657"/>
                                        </p:tgtEl>
                                      </p:cBhvr>
                                    </p:animEffect>
                                  </p:childTnLst>
                                </p:cTn>
                              </p:par>
                            </p:childTnLst>
                          </p:cTn>
                        </p:par>
                      </p:childTnLst>
                    </p:cTn>
                  </p:par>
                  <p:par>
                    <p:cTn id="1706" nodeType="clickEffect" fill="hold">
                      <p:stCondLst>
                        <p:cond delay="indefinite"/>
                      </p:stCondLst>
                      <p:childTnLst>
                        <p:par>
                          <p:cTn id="1707" nodeType="withEffect" fill="hold">
                            <p:stCondLst>
                              <p:cond delay="0"/>
                            </p:stCondLst>
                            <p:childTnLst>
                              <p:par>
                                <p:cTn id="1708" nodeType="clickEffect" fill="hold" presetClass="entr" presetID="22" presetSubtype="8">
                                  <p:stCondLst>
                                    <p:cond delay="0"/>
                                  </p:stCondLst>
                                  <p:childTnLst>
                                    <p:set>
                                      <p:cBhvr>
                                        <p:cTn id="1709" dur="1" fill="hold">
                                          <p:stCondLst>
                                            <p:cond delay="0"/>
                                          </p:stCondLst>
                                        </p:cTn>
                                        <p:tgtEl>
                                          <p:spTgt spid="1658"/>
                                        </p:tgtEl>
                                        <p:attrNameLst>
                                          <p:attrName>style.visibility</p:attrName>
                                        </p:attrNameLst>
                                      </p:cBhvr>
                                      <p:to>
                                        <p:strVal val="visible"/>
                                      </p:to>
                                    </p:set>
                                    <p:animEffect filter="wipe(left)" transition="in">
                                      <p:cBhvr additive="repl">
                                        <p:cTn id="1710" dur="3000"/>
                                        <p:tgtEl>
                                          <p:spTgt spid="1658"/>
                                        </p:tgtEl>
                                      </p:cBhvr>
                                    </p:animEffect>
                                  </p:childTnLst>
                                </p:cTn>
                              </p:par>
                            </p:childTnLst>
                          </p:cTn>
                        </p:par>
                      </p:childTnLst>
                    </p:cTn>
                  </p:par>
                  <p:par>
                    <p:cTn id="1711" nodeType="clickEffect" fill="hold">
                      <p:stCondLst>
                        <p:cond delay="indefinite"/>
                      </p:stCondLst>
                      <p:childTnLst>
                        <p:par>
                          <p:cTn id="1712" nodeType="withEffect" fill="hold">
                            <p:stCondLst>
                              <p:cond delay="0"/>
                            </p:stCondLst>
                            <p:childTnLst>
                              <p:par>
                                <p:cTn id="1713" nodeType="clickEffect" fill="hold" presetClass="entr" presetID="22" presetSubtype="8">
                                  <p:stCondLst>
                                    <p:cond delay="0"/>
                                  </p:stCondLst>
                                  <p:childTnLst>
                                    <p:set>
                                      <p:cBhvr>
                                        <p:cTn id="1714" dur="1" fill="hold">
                                          <p:stCondLst>
                                            <p:cond delay="0"/>
                                          </p:stCondLst>
                                        </p:cTn>
                                        <p:tgtEl>
                                          <p:spTgt spid="1656"/>
                                        </p:tgtEl>
                                        <p:attrNameLst>
                                          <p:attrName>style.visibility</p:attrName>
                                        </p:attrNameLst>
                                      </p:cBhvr>
                                      <p:to>
                                        <p:strVal val="visible"/>
                                      </p:to>
                                    </p:set>
                                    <p:animEffect filter="wipe(left)" transition="in">
                                      <p:cBhvr additive="repl">
                                        <p:cTn id="1715" dur="2000"/>
                                        <p:tgtEl>
                                          <p:spTgt spid="1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9" name="Text Box 2"/>
          <p:cNvSpPr/>
          <p:nvPr/>
        </p:nvSpPr>
        <p:spPr>
          <a:xfrm>
            <a:off x="152280" y="990720"/>
            <a:ext cx="8610840" cy="1618200"/>
          </a:xfrm>
          <a:prstGeom prst="rect">
            <a:avLst/>
          </a:prstGeom>
          <a:noFill/>
          <a:ln w="0">
            <a:noFill/>
          </a:ln>
        </p:spPr>
        <p:style>
          <a:lnRef idx="0"/>
          <a:fillRef idx="0"/>
          <a:effectRef idx="0"/>
          <a:fontRef idx="minor"/>
        </p:style>
        <p:txBody>
          <a:bodyPr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1- examen médical préalable</a:t>
            </a:r>
            <a:endParaRPr b="0" lang="en-US" sz="20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2- respecter la motivation de l’enfant et de l’adolescent,</a:t>
            </a:r>
            <a:endParaRPr b="0" lang="en-US" sz="20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3- programme dirigé par des éducateurs compétents et spécialistes de </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l’enfant et l’adolescent,</a:t>
            </a:r>
            <a:endParaRPr b="0" lang="en-US" sz="2000" strike="noStrike" u="none">
              <a:solidFill>
                <a:srgbClr val="ffff00"/>
              </a:solidFill>
              <a:effectLst/>
              <a:uFillTx/>
              <a:latin typeface="Times New Roman"/>
            </a:endParaRPr>
          </a:p>
        </p:txBody>
      </p:sp>
      <p:sp>
        <p:nvSpPr>
          <p:cNvPr id="1660" name="Text Box 3"/>
          <p:cNvSpPr/>
          <p:nvPr/>
        </p:nvSpPr>
        <p:spPr>
          <a:xfrm>
            <a:off x="0" y="2819520"/>
            <a:ext cx="9142560" cy="17395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4- ce programme doit faire partie d ’un entraînement général,</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5- Chaque séance doit toujours être précédée d’un échauffement et </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suivie d ’exercices d’étirement et de récupération,</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6- doit inclure surtout des exercices à base de contractions concentriques (les</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contraction excentriques doivent être évitées surtout chez les plus jeunes),</a:t>
            </a:r>
            <a:endParaRPr b="0" lang="en-US" sz="2000" strike="noStrike" u="none">
              <a:solidFill>
                <a:srgbClr val="ffff00"/>
              </a:solidFill>
              <a:effectLst/>
              <a:uFillTx/>
              <a:latin typeface="Times New Roman"/>
            </a:endParaRPr>
          </a:p>
        </p:txBody>
      </p:sp>
      <p:sp>
        <p:nvSpPr>
          <p:cNvPr id="1661" name="Text Box 4"/>
          <p:cNvSpPr/>
          <p:nvPr/>
        </p:nvSpPr>
        <p:spPr>
          <a:xfrm>
            <a:off x="0" y="4876920"/>
            <a:ext cx="9144000" cy="1099440"/>
          </a:xfrm>
          <a:prstGeom prst="rect">
            <a:avLst/>
          </a:prstGeom>
          <a:noFill/>
          <a:ln w="0">
            <a:noFill/>
          </a:ln>
        </p:spPr>
        <p:style>
          <a:lnRef idx="0"/>
          <a:fillRef idx="0"/>
          <a:effectRef idx="0"/>
          <a:fontRef idx="minor"/>
        </p:style>
        <p:txBody>
          <a:bodyPr lIns="90000" rIns="90000" tIns="46800" bIns="4680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7- doit concerner un maximum de groupes musculaires,</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8- la compétition doit être formellement proscrite,</a:t>
            </a:r>
            <a:endParaRPr b="0" lang="en-US" sz="20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9- ne jamais utiliser des charges maximales chez l’enfant pré-pubère. </a:t>
            </a:r>
            <a:endParaRPr b="0" lang="en-US" sz="2000" strike="noStrike" u="none">
              <a:solidFill>
                <a:srgbClr val="ffff00"/>
              </a:solidFill>
              <a:effectLst/>
              <a:uFillTx/>
              <a:latin typeface="Times New Roman"/>
            </a:endParaRPr>
          </a:p>
        </p:txBody>
      </p:sp>
      <p:sp>
        <p:nvSpPr>
          <p:cNvPr id="1662" name="Text Box 5"/>
          <p:cNvSpPr/>
          <p:nvPr/>
        </p:nvSpPr>
        <p:spPr>
          <a:xfrm>
            <a:off x="2221920" y="198360"/>
            <a:ext cx="44906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omic Sans MS"/>
              </a:rPr>
              <a:t>Règles à respecter pour éviter les risques:</a:t>
            </a:r>
            <a:endParaRPr b="0" lang="en-US" sz="2400" strike="noStrike" u="none">
              <a:solidFill>
                <a:srgbClr val="ffff00"/>
              </a:solidFill>
              <a:effectLst/>
              <a:uFillTx/>
              <a:latin typeface="Times New Roman"/>
            </a:endParaRPr>
          </a:p>
        </p:txBody>
      </p:sp>
    </p:spTree>
  </p:cSld>
  <p:transition spd="med">
    <p:zoom dir="out"/>
  </p:transition>
  <p:timing>
    <p:tnLst>
      <p:par>
        <p:cTn id="1716" dur="indefinite" restart="never" nodeType="tmRoot">
          <p:childTnLst>
            <p:seq>
              <p:cTn id="1717" dur="indefinite" nodeType="mainSeq">
                <p:childTnLst>
                  <p:par>
                    <p:cTn id="1718" nodeType="clickEffect" fill="hold">
                      <p:stCondLst>
                        <p:cond delay="0"/>
                      </p:stCondLst>
                      <p:childTnLst>
                        <p:par>
                          <p:cTn id="1719" nodeType="withEffect" fill="hold">
                            <p:stCondLst>
                              <p:cond delay="0"/>
                            </p:stCondLst>
                            <p:childTnLst>
                              <p:par>
                                <p:cTn id="1720" nodeType="afterEffect" fill="hold" presetClass="entr" presetID="9">
                                  <p:stCondLst>
                                    <p:cond delay="0"/>
                                  </p:stCondLst>
                                  <p:childTnLst>
                                    <p:set>
                                      <p:cBhvr>
                                        <p:cTn id="1721" dur="1" fill="hold">
                                          <p:stCondLst>
                                            <p:cond delay="0"/>
                                          </p:stCondLst>
                                        </p:cTn>
                                        <p:tgtEl>
                                          <p:spTgt spid="1662"/>
                                        </p:tgtEl>
                                        <p:attrNameLst>
                                          <p:attrName>style.visibility</p:attrName>
                                        </p:attrNameLst>
                                      </p:cBhvr>
                                      <p:to>
                                        <p:strVal val="visible"/>
                                      </p:to>
                                    </p:set>
                                    <p:animEffect filter="dissolve" transition="in">
                                      <p:cBhvr additive="repl">
                                        <p:cTn id="1722" dur="500"/>
                                        <p:tgtEl>
                                          <p:spTgt spid="1662"/>
                                        </p:tgtEl>
                                      </p:cBhvr>
                                    </p:animEffect>
                                  </p:childTnLst>
                                </p:cTn>
                              </p:par>
                            </p:childTnLst>
                          </p:cTn>
                        </p:par>
                        <p:par>
                          <p:cTn id="1723" nodeType="afterEffect" fill="hold">
                            <p:stCondLst>
                              <p:cond delay="500"/>
                            </p:stCondLst>
                            <p:childTnLst>
                              <p:par>
                                <p:cTn id="1724" nodeType="afterEffect" fill="hold" presetClass="entr" presetID="9">
                                  <p:stCondLst>
                                    <p:cond delay="3000"/>
                                  </p:stCondLst>
                                  <p:childTnLst>
                                    <p:set>
                                      <p:cBhvr>
                                        <p:cTn id="1725" dur="1" fill="hold">
                                          <p:stCondLst>
                                            <p:cond delay="0"/>
                                          </p:stCondLst>
                                        </p:cTn>
                                        <p:tgtEl>
                                          <p:spTgt spid="1659">
                                            <p:txEl>
                                              <p:pRg st="0" end="0"/>
                                            </p:txEl>
                                          </p:spTgt>
                                        </p:tgtEl>
                                        <p:attrNameLst>
                                          <p:attrName>style.visibility</p:attrName>
                                        </p:attrNameLst>
                                      </p:cBhvr>
                                      <p:to>
                                        <p:strVal val="visible"/>
                                      </p:to>
                                    </p:set>
                                    <p:animEffect filter="dissolve" transition="in">
                                      <p:cBhvr additive="repl">
                                        <p:cTn id="1726" dur="500"/>
                                        <p:tgtEl>
                                          <p:spTgt spid="1659">
                                            <p:txEl>
                                              <p:pRg st="0" end="0"/>
                                            </p:txEl>
                                          </p:spTgt>
                                        </p:tgtEl>
                                      </p:cBhvr>
                                    </p:animEffect>
                                  </p:childTnLst>
                                </p:cTn>
                              </p:par>
                            </p:childTnLst>
                          </p:cTn>
                        </p:par>
                        <p:par>
                          <p:cTn id="1727" nodeType="afterEffect" fill="hold">
                            <p:stCondLst>
                              <p:cond delay="4000"/>
                            </p:stCondLst>
                            <p:childTnLst>
                              <p:par>
                                <p:cTn id="1728" nodeType="afterEffect" fill="hold" presetClass="entr" presetID="9">
                                  <p:stCondLst>
                                    <p:cond delay="3000"/>
                                  </p:stCondLst>
                                  <p:childTnLst>
                                    <p:set>
                                      <p:cBhvr>
                                        <p:cTn id="1729" dur="1" fill="hold">
                                          <p:stCondLst>
                                            <p:cond delay="0"/>
                                          </p:stCondLst>
                                        </p:cTn>
                                        <p:tgtEl>
                                          <p:spTgt spid="1659">
                                            <p:txEl>
                                              <p:pRg st="1" end="1"/>
                                            </p:txEl>
                                          </p:spTgt>
                                        </p:tgtEl>
                                        <p:attrNameLst>
                                          <p:attrName>style.visibility</p:attrName>
                                        </p:attrNameLst>
                                      </p:cBhvr>
                                      <p:to>
                                        <p:strVal val="visible"/>
                                      </p:to>
                                    </p:set>
                                    <p:animEffect filter="dissolve" transition="in">
                                      <p:cBhvr additive="repl">
                                        <p:cTn id="1730" dur="500"/>
                                        <p:tgtEl>
                                          <p:spTgt spid="1659">
                                            <p:txEl>
                                              <p:pRg st="1" end="1"/>
                                            </p:txEl>
                                          </p:spTgt>
                                        </p:tgtEl>
                                      </p:cBhvr>
                                    </p:animEffect>
                                  </p:childTnLst>
                                </p:cTn>
                              </p:par>
                              <p:animClr clrSpc="rgb">
                                <p:cBhvr>
                                  <p:cTn id="1731" dur="1" fill="hold">
                                    <p:stCondLst>
                                      <p:cond delay="3000"/>
                                    </p:stCondLst>
                                  </p:cTn>
                                  <p:tgtEl>
                                    <p:spTgt spid="1659">
                                      <p:txEl>
                                        <p:pRg st="0" end="0"/>
                                      </p:txEl>
                                    </p:spTgt>
                                  </p:tgtEl>
                                  <p:attrNameLst>
                                    <p:attrName>ppt_c</p:attrName>
                                  </p:attrNameLst>
                                </p:cBhvr>
                                <p:to>
                                  <a:srgbClr val="ccccff"/>
                                </p:to>
                              </p:animClr>
                            </p:childTnLst>
                          </p:cTn>
                        </p:par>
                        <p:par>
                          <p:cTn id="1732" nodeType="afterEffect" fill="hold">
                            <p:stCondLst>
                              <p:cond delay="7500"/>
                            </p:stCondLst>
                            <p:childTnLst>
                              <p:par>
                                <p:cTn id="1733" nodeType="afterEffect" fill="hold" presetClass="entr" presetID="9">
                                  <p:stCondLst>
                                    <p:cond delay="3000"/>
                                  </p:stCondLst>
                                  <p:childTnLst>
                                    <p:set>
                                      <p:cBhvr>
                                        <p:cTn id="1734" dur="1" fill="hold">
                                          <p:stCondLst>
                                            <p:cond delay="0"/>
                                          </p:stCondLst>
                                        </p:cTn>
                                        <p:tgtEl>
                                          <p:spTgt spid="1659">
                                            <p:txEl>
                                              <p:pRg st="2" end="2"/>
                                            </p:txEl>
                                          </p:spTgt>
                                        </p:tgtEl>
                                        <p:attrNameLst>
                                          <p:attrName>style.visibility</p:attrName>
                                        </p:attrNameLst>
                                      </p:cBhvr>
                                      <p:to>
                                        <p:strVal val="visible"/>
                                      </p:to>
                                    </p:set>
                                    <p:animEffect filter="dissolve" transition="in">
                                      <p:cBhvr additive="repl">
                                        <p:cTn id="1735" dur="500"/>
                                        <p:tgtEl>
                                          <p:spTgt spid="1659">
                                            <p:txEl>
                                              <p:pRg st="2" end="2"/>
                                            </p:txEl>
                                          </p:spTgt>
                                        </p:tgtEl>
                                      </p:cBhvr>
                                    </p:animEffect>
                                  </p:childTnLst>
                                </p:cTn>
                              </p:par>
                              <p:animClr clrSpc="rgb">
                                <p:cBhvr>
                                  <p:cTn id="1736" dur="1" fill="hold">
                                    <p:stCondLst>
                                      <p:cond delay="3000"/>
                                    </p:stCondLst>
                                  </p:cTn>
                                  <p:tgtEl>
                                    <p:spTgt spid="1659">
                                      <p:txEl>
                                        <p:pRg st="1" end="1"/>
                                      </p:txEl>
                                    </p:spTgt>
                                  </p:tgtEl>
                                  <p:attrNameLst>
                                    <p:attrName>ppt_c</p:attrName>
                                  </p:attrNameLst>
                                </p:cBhvr>
                                <p:to>
                                  <a:srgbClr val="ccccff"/>
                                </p:to>
                              </p:animClr>
                            </p:childTnLst>
                          </p:cTn>
                        </p:par>
                        <p:par>
                          <p:cTn id="1737" nodeType="afterEffect" fill="hold">
                            <p:stCondLst>
                              <p:cond delay="11000"/>
                            </p:stCondLst>
                            <p:childTnLst>
                              <p:par>
                                <p:cTn id="1738" nodeType="afterEffect" fill="hold" presetClass="entr" presetID="9">
                                  <p:stCondLst>
                                    <p:cond delay="3000"/>
                                  </p:stCondLst>
                                  <p:childTnLst>
                                    <p:set>
                                      <p:cBhvr>
                                        <p:cTn id="1739" dur="1" fill="hold">
                                          <p:stCondLst>
                                            <p:cond delay="0"/>
                                          </p:stCondLst>
                                        </p:cTn>
                                        <p:tgtEl>
                                          <p:spTgt spid="1659">
                                            <p:txEl>
                                              <p:pRg st="3" end="3"/>
                                            </p:txEl>
                                          </p:spTgt>
                                        </p:tgtEl>
                                        <p:attrNameLst>
                                          <p:attrName>style.visibility</p:attrName>
                                        </p:attrNameLst>
                                      </p:cBhvr>
                                      <p:to>
                                        <p:strVal val="visible"/>
                                      </p:to>
                                    </p:set>
                                    <p:animEffect filter="dissolve" transition="in">
                                      <p:cBhvr additive="repl">
                                        <p:cTn id="1740" dur="500"/>
                                        <p:tgtEl>
                                          <p:spTgt spid="1659">
                                            <p:txEl>
                                              <p:pRg st="3" end="3"/>
                                            </p:txEl>
                                          </p:spTgt>
                                        </p:tgtEl>
                                      </p:cBhvr>
                                    </p:animEffect>
                                  </p:childTnLst>
                                </p:cTn>
                              </p:par>
                              <p:animClr clrSpc="rgb">
                                <p:cBhvr>
                                  <p:cTn id="1741" dur="1" fill="hold">
                                    <p:stCondLst>
                                      <p:cond delay="3000"/>
                                    </p:stCondLst>
                                  </p:cTn>
                                  <p:tgtEl>
                                    <p:spTgt spid="1659">
                                      <p:txEl>
                                        <p:pRg st="2" end="2"/>
                                      </p:txEl>
                                    </p:spTgt>
                                  </p:tgtEl>
                                  <p:attrNameLst>
                                    <p:attrName>ppt_c</p:attrName>
                                  </p:attrNameLst>
                                </p:cBhvr>
                                <p:to>
                                  <a:srgbClr val="ccccff"/>
                                </p:to>
                              </p:animClr>
                            </p:childTnLst>
                          </p:cTn>
                        </p:par>
                        <p:par>
                          <p:cTn id="1742" nodeType="afterEffect" fill="hold">
                            <p:stCondLst>
                              <p:cond delay="14500"/>
                            </p:stCondLst>
                            <p:childTnLst>
                              <p:par>
                                <p:cTn id="1743" nodeType="afterEffect" fill="hold" presetClass="entr" presetID="9">
                                  <p:stCondLst>
                                    <p:cond delay="3000"/>
                                  </p:stCondLst>
                                  <p:childTnLst>
                                    <p:set>
                                      <p:cBhvr>
                                        <p:cTn id="1744" dur="1" fill="hold">
                                          <p:stCondLst>
                                            <p:cond delay="0"/>
                                          </p:stCondLst>
                                        </p:cTn>
                                        <p:tgtEl>
                                          <p:spTgt spid="1660">
                                            <p:txEl>
                                              <p:pRg st="0" end="0"/>
                                            </p:txEl>
                                          </p:spTgt>
                                        </p:tgtEl>
                                        <p:attrNameLst>
                                          <p:attrName>style.visibility</p:attrName>
                                        </p:attrNameLst>
                                      </p:cBhvr>
                                      <p:to>
                                        <p:strVal val="visible"/>
                                      </p:to>
                                    </p:set>
                                    <p:animEffect filter="dissolve" transition="in">
                                      <p:cBhvr additive="repl">
                                        <p:cTn id="1745" dur="500"/>
                                        <p:tgtEl>
                                          <p:spTgt spid="1660">
                                            <p:txEl>
                                              <p:pRg st="0" end="0"/>
                                            </p:txEl>
                                          </p:spTgt>
                                        </p:tgtEl>
                                      </p:cBhvr>
                                    </p:animEffect>
                                  </p:childTnLst>
                                </p:cTn>
                              </p:par>
                              <p:animClr clrSpc="rgb">
                                <p:cBhvr>
                                  <p:cTn id="1746" dur="1" fill="hold">
                                    <p:stCondLst>
                                      <p:cond delay="3000"/>
                                    </p:stCondLst>
                                  </p:cTn>
                                  <p:tgtEl>
                                    <p:spTgt spid="1659">
                                      <p:txEl>
                                        <p:pRg st="3" end="3"/>
                                      </p:txEl>
                                    </p:spTgt>
                                  </p:tgtEl>
                                  <p:attrNameLst>
                                    <p:attrName>ppt_c</p:attrName>
                                  </p:attrNameLst>
                                </p:cBhvr>
                                <p:to>
                                  <a:srgbClr val="ccccff"/>
                                </p:to>
                              </p:animClr>
                            </p:childTnLst>
                          </p:cTn>
                        </p:par>
                        <p:par>
                          <p:cTn id="1747" nodeType="afterEffect" fill="hold">
                            <p:stCondLst>
                              <p:cond delay="18000"/>
                            </p:stCondLst>
                            <p:childTnLst>
                              <p:par>
                                <p:cTn id="1748" nodeType="afterEffect" fill="hold" presetClass="entr" presetID="9">
                                  <p:stCondLst>
                                    <p:cond delay="3000"/>
                                  </p:stCondLst>
                                  <p:childTnLst>
                                    <p:set>
                                      <p:cBhvr>
                                        <p:cTn id="1749" dur="1" fill="hold">
                                          <p:stCondLst>
                                            <p:cond delay="0"/>
                                          </p:stCondLst>
                                        </p:cTn>
                                        <p:tgtEl>
                                          <p:spTgt spid="1660">
                                            <p:txEl>
                                              <p:pRg st="1" end="1"/>
                                            </p:txEl>
                                          </p:spTgt>
                                        </p:tgtEl>
                                        <p:attrNameLst>
                                          <p:attrName>style.visibility</p:attrName>
                                        </p:attrNameLst>
                                      </p:cBhvr>
                                      <p:to>
                                        <p:strVal val="visible"/>
                                      </p:to>
                                    </p:set>
                                    <p:animEffect filter="dissolve" transition="in">
                                      <p:cBhvr additive="repl">
                                        <p:cTn id="1750" dur="500"/>
                                        <p:tgtEl>
                                          <p:spTgt spid="1660">
                                            <p:txEl>
                                              <p:pRg st="1" end="1"/>
                                            </p:txEl>
                                          </p:spTgt>
                                        </p:tgtEl>
                                      </p:cBhvr>
                                    </p:animEffect>
                                  </p:childTnLst>
                                </p:cTn>
                              </p:par>
                              <p:animClr clrSpc="rgb">
                                <p:cBhvr>
                                  <p:cTn id="1751" dur="1" fill="hold">
                                    <p:stCondLst>
                                      <p:cond delay="3000"/>
                                    </p:stCondLst>
                                  </p:cTn>
                                  <p:tgtEl>
                                    <p:spTgt spid="1660">
                                      <p:txEl>
                                        <p:pRg st="0" end="0"/>
                                      </p:txEl>
                                    </p:spTgt>
                                  </p:tgtEl>
                                  <p:attrNameLst>
                                    <p:attrName>ppt_c</p:attrName>
                                  </p:attrNameLst>
                                </p:cBhvr>
                                <p:to>
                                  <a:srgbClr val="ccccff"/>
                                </p:to>
                              </p:animClr>
                            </p:childTnLst>
                          </p:cTn>
                        </p:par>
                        <p:par>
                          <p:cTn id="1752" nodeType="afterEffect" fill="hold">
                            <p:stCondLst>
                              <p:cond delay="21500"/>
                            </p:stCondLst>
                            <p:childTnLst>
                              <p:par>
                                <p:cTn id="1753" nodeType="afterEffect" fill="hold" presetClass="entr" presetID="9">
                                  <p:stCondLst>
                                    <p:cond delay="3000"/>
                                  </p:stCondLst>
                                  <p:childTnLst>
                                    <p:set>
                                      <p:cBhvr>
                                        <p:cTn id="1754" dur="1" fill="hold">
                                          <p:stCondLst>
                                            <p:cond delay="0"/>
                                          </p:stCondLst>
                                        </p:cTn>
                                        <p:tgtEl>
                                          <p:spTgt spid="1660">
                                            <p:txEl>
                                              <p:pRg st="2" end="2"/>
                                            </p:txEl>
                                          </p:spTgt>
                                        </p:tgtEl>
                                        <p:attrNameLst>
                                          <p:attrName>style.visibility</p:attrName>
                                        </p:attrNameLst>
                                      </p:cBhvr>
                                      <p:to>
                                        <p:strVal val="visible"/>
                                      </p:to>
                                    </p:set>
                                    <p:animEffect filter="dissolve" transition="in">
                                      <p:cBhvr additive="repl">
                                        <p:cTn id="1755" dur="500"/>
                                        <p:tgtEl>
                                          <p:spTgt spid="1660">
                                            <p:txEl>
                                              <p:pRg st="2" end="2"/>
                                            </p:txEl>
                                          </p:spTgt>
                                        </p:tgtEl>
                                      </p:cBhvr>
                                    </p:animEffect>
                                  </p:childTnLst>
                                </p:cTn>
                              </p:par>
                              <p:animClr clrSpc="rgb">
                                <p:cBhvr>
                                  <p:cTn id="1756" dur="1" fill="hold">
                                    <p:stCondLst>
                                      <p:cond delay="3000"/>
                                    </p:stCondLst>
                                  </p:cTn>
                                  <p:tgtEl>
                                    <p:spTgt spid="1660">
                                      <p:txEl>
                                        <p:pRg st="1" end="1"/>
                                      </p:txEl>
                                    </p:spTgt>
                                  </p:tgtEl>
                                  <p:attrNameLst>
                                    <p:attrName>ppt_c</p:attrName>
                                  </p:attrNameLst>
                                </p:cBhvr>
                                <p:to>
                                  <a:srgbClr val="ccccff"/>
                                </p:to>
                              </p:animClr>
                            </p:childTnLst>
                          </p:cTn>
                        </p:par>
                        <p:par>
                          <p:cTn id="1757" nodeType="afterEffect" fill="hold">
                            <p:stCondLst>
                              <p:cond delay="25000"/>
                            </p:stCondLst>
                            <p:childTnLst>
                              <p:par>
                                <p:cTn id="1758" nodeType="afterEffect" fill="hold" presetClass="entr" presetID="9">
                                  <p:stCondLst>
                                    <p:cond delay="3000"/>
                                  </p:stCondLst>
                                  <p:childTnLst>
                                    <p:set>
                                      <p:cBhvr>
                                        <p:cTn id="1759" dur="1" fill="hold">
                                          <p:stCondLst>
                                            <p:cond delay="0"/>
                                          </p:stCondLst>
                                        </p:cTn>
                                        <p:tgtEl>
                                          <p:spTgt spid="1660">
                                            <p:txEl>
                                              <p:pRg st="3" end="3"/>
                                            </p:txEl>
                                          </p:spTgt>
                                        </p:tgtEl>
                                        <p:attrNameLst>
                                          <p:attrName>style.visibility</p:attrName>
                                        </p:attrNameLst>
                                      </p:cBhvr>
                                      <p:to>
                                        <p:strVal val="visible"/>
                                      </p:to>
                                    </p:set>
                                    <p:animEffect filter="dissolve" transition="in">
                                      <p:cBhvr additive="repl">
                                        <p:cTn id="1760" dur="500"/>
                                        <p:tgtEl>
                                          <p:spTgt spid="1660">
                                            <p:txEl>
                                              <p:pRg st="3" end="3"/>
                                            </p:txEl>
                                          </p:spTgt>
                                        </p:tgtEl>
                                      </p:cBhvr>
                                    </p:animEffect>
                                  </p:childTnLst>
                                </p:cTn>
                              </p:par>
                              <p:animClr clrSpc="rgb">
                                <p:cBhvr>
                                  <p:cTn id="1761" dur="1" fill="hold">
                                    <p:stCondLst>
                                      <p:cond delay="3000"/>
                                    </p:stCondLst>
                                  </p:cTn>
                                  <p:tgtEl>
                                    <p:spTgt spid="1660">
                                      <p:txEl>
                                        <p:pRg st="2" end="2"/>
                                      </p:txEl>
                                    </p:spTgt>
                                  </p:tgtEl>
                                  <p:attrNameLst>
                                    <p:attrName>ppt_c</p:attrName>
                                  </p:attrNameLst>
                                </p:cBhvr>
                                <p:to>
                                  <a:srgbClr val="ccccff"/>
                                </p:to>
                              </p:animClr>
                            </p:childTnLst>
                          </p:cTn>
                        </p:par>
                        <p:par>
                          <p:cTn id="1762" nodeType="afterEffect" fill="hold">
                            <p:stCondLst>
                              <p:cond delay="28500"/>
                            </p:stCondLst>
                            <p:childTnLst>
                              <p:par>
                                <p:cTn id="1763" nodeType="afterEffect" fill="hold" presetClass="entr" presetID="9">
                                  <p:stCondLst>
                                    <p:cond delay="3000"/>
                                  </p:stCondLst>
                                  <p:childTnLst>
                                    <p:set>
                                      <p:cBhvr>
                                        <p:cTn id="1764" dur="1" fill="hold">
                                          <p:stCondLst>
                                            <p:cond delay="0"/>
                                          </p:stCondLst>
                                        </p:cTn>
                                        <p:tgtEl>
                                          <p:spTgt spid="1660">
                                            <p:txEl>
                                              <p:pRg st="4" end="4"/>
                                            </p:txEl>
                                          </p:spTgt>
                                        </p:tgtEl>
                                        <p:attrNameLst>
                                          <p:attrName>style.visibility</p:attrName>
                                        </p:attrNameLst>
                                      </p:cBhvr>
                                      <p:to>
                                        <p:strVal val="visible"/>
                                      </p:to>
                                    </p:set>
                                    <p:animEffect filter="dissolve" transition="in">
                                      <p:cBhvr additive="repl">
                                        <p:cTn id="1765" dur="500"/>
                                        <p:tgtEl>
                                          <p:spTgt spid="1660">
                                            <p:txEl>
                                              <p:pRg st="4" end="4"/>
                                            </p:txEl>
                                          </p:spTgt>
                                        </p:tgtEl>
                                      </p:cBhvr>
                                    </p:animEffect>
                                  </p:childTnLst>
                                </p:cTn>
                              </p:par>
                              <p:animClr clrSpc="rgb">
                                <p:cBhvr>
                                  <p:cTn id="1766" dur="1" fill="hold">
                                    <p:stCondLst>
                                      <p:cond delay="3000"/>
                                    </p:stCondLst>
                                  </p:cTn>
                                  <p:tgtEl>
                                    <p:spTgt spid="1660">
                                      <p:txEl>
                                        <p:pRg st="3" end="3"/>
                                      </p:txEl>
                                    </p:spTgt>
                                  </p:tgtEl>
                                  <p:attrNameLst>
                                    <p:attrName>ppt_c</p:attrName>
                                  </p:attrNameLst>
                                </p:cBhvr>
                                <p:to>
                                  <a:srgbClr val="ccccff"/>
                                </p:to>
                              </p:animClr>
                            </p:childTnLst>
                          </p:cTn>
                        </p:par>
                        <p:par>
                          <p:cTn id="1767" nodeType="afterEffect" fill="hold">
                            <p:stCondLst>
                              <p:cond delay="32000"/>
                            </p:stCondLst>
                            <p:childTnLst>
                              <p:par>
                                <p:cTn id="1768" nodeType="afterEffect" fill="hold" presetClass="entr" presetID="9">
                                  <p:stCondLst>
                                    <p:cond delay="3000"/>
                                  </p:stCondLst>
                                  <p:childTnLst>
                                    <p:set>
                                      <p:cBhvr>
                                        <p:cTn id="1769" dur="1" fill="hold">
                                          <p:stCondLst>
                                            <p:cond delay="0"/>
                                          </p:stCondLst>
                                        </p:cTn>
                                        <p:tgtEl>
                                          <p:spTgt spid="1661">
                                            <p:txEl>
                                              <p:pRg st="0" end="0"/>
                                            </p:txEl>
                                          </p:spTgt>
                                        </p:tgtEl>
                                        <p:attrNameLst>
                                          <p:attrName>style.visibility</p:attrName>
                                        </p:attrNameLst>
                                      </p:cBhvr>
                                      <p:to>
                                        <p:strVal val="visible"/>
                                      </p:to>
                                    </p:set>
                                    <p:animEffect filter="dissolve" transition="in">
                                      <p:cBhvr additive="repl">
                                        <p:cTn id="1770" dur="500"/>
                                        <p:tgtEl>
                                          <p:spTgt spid="1661">
                                            <p:txEl>
                                              <p:pRg st="0" end="0"/>
                                            </p:txEl>
                                          </p:spTgt>
                                        </p:tgtEl>
                                      </p:cBhvr>
                                    </p:animEffect>
                                  </p:childTnLst>
                                </p:cTn>
                              </p:par>
                              <p:animClr clrSpc="rgb">
                                <p:cBhvr>
                                  <p:cTn id="1771" dur="1" fill="hold">
                                    <p:stCondLst>
                                      <p:cond delay="3000"/>
                                    </p:stCondLst>
                                  </p:cTn>
                                  <p:tgtEl>
                                    <p:spTgt spid="1660">
                                      <p:txEl>
                                        <p:pRg st="4" end="4"/>
                                      </p:txEl>
                                    </p:spTgt>
                                  </p:tgtEl>
                                  <p:attrNameLst>
                                    <p:attrName>ppt_c</p:attrName>
                                  </p:attrNameLst>
                                </p:cBhvr>
                                <p:to>
                                  <a:srgbClr val="ccccff"/>
                                </p:to>
                              </p:animClr>
                            </p:childTnLst>
                          </p:cTn>
                        </p:par>
                        <p:par>
                          <p:cTn id="1772" nodeType="afterEffect" fill="hold">
                            <p:stCondLst>
                              <p:cond delay="35500"/>
                            </p:stCondLst>
                            <p:childTnLst>
                              <p:par>
                                <p:cTn id="1773" nodeType="afterEffect" fill="hold" presetClass="entr" presetID="9">
                                  <p:stCondLst>
                                    <p:cond delay="3000"/>
                                  </p:stCondLst>
                                  <p:childTnLst>
                                    <p:set>
                                      <p:cBhvr>
                                        <p:cTn id="1774" dur="1" fill="hold">
                                          <p:stCondLst>
                                            <p:cond delay="0"/>
                                          </p:stCondLst>
                                        </p:cTn>
                                        <p:tgtEl>
                                          <p:spTgt spid="1661">
                                            <p:txEl>
                                              <p:pRg st="1" end="1"/>
                                            </p:txEl>
                                          </p:spTgt>
                                        </p:tgtEl>
                                        <p:attrNameLst>
                                          <p:attrName>style.visibility</p:attrName>
                                        </p:attrNameLst>
                                      </p:cBhvr>
                                      <p:to>
                                        <p:strVal val="visible"/>
                                      </p:to>
                                    </p:set>
                                    <p:animEffect filter="dissolve" transition="in">
                                      <p:cBhvr additive="repl">
                                        <p:cTn id="1775" dur="500"/>
                                        <p:tgtEl>
                                          <p:spTgt spid="1661">
                                            <p:txEl>
                                              <p:pRg st="1" end="1"/>
                                            </p:txEl>
                                          </p:spTgt>
                                        </p:tgtEl>
                                      </p:cBhvr>
                                    </p:animEffect>
                                  </p:childTnLst>
                                </p:cTn>
                              </p:par>
                              <p:animClr clrSpc="rgb">
                                <p:cBhvr>
                                  <p:cTn id="1776" dur="1" fill="hold">
                                    <p:stCondLst>
                                      <p:cond delay="3000"/>
                                    </p:stCondLst>
                                  </p:cTn>
                                  <p:tgtEl>
                                    <p:spTgt spid="1661">
                                      <p:txEl>
                                        <p:pRg st="0" end="0"/>
                                      </p:txEl>
                                    </p:spTgt>
                                  </p:tgtEl>
                                  <p:attrNameLst>
                                    <p:attrName>ppt_c</p:attrName>
                                  </p:attrNameLst>
                                </p:cBhvr>
                                <p:to>
                                  <a:srgbClr val="ccccff"/>
                                </p:to>
                              </p:animClr>
                            </p:childTnLst>
                          </p:cTn>
                        </p:par>
                        <p:par>
                          <p:cTn id="1777" nodeType="afterEffect" fill="hold">
                            <p:stCondLst>
                              <p:cond delay="39000"/>
                            </p:stCondLst>
                            <p:childTnLst>
                              <p:par>
                                <p:cTn id="1778" nodeType="afterEffect" fill="hold" presetClass="entr" presetID="9">
                                  <p:stCondLst>
                                    <p:cond delay="3000"/>
                                  </p:stCondLst>
                                  <p:childTnLst>
                                    <p:set>
                                      <p:cBhvr>
                                        <p:cTn id="1779" dur="1" fill="hold">
                                          <p:stCondLst>
                                            <p:cond delay="0"/>
                                          </p:stCondLst>
                                        </p:cTn>
                                        <p:tgtEl>
                                          <p:spTgt spid="1661">
                                            <p:txEl>
                                              <p:pRg st="2" end="2"/>
                                            </p:txEl>
                                          </p:spTgt>
                                        </p:tgtEl>
                                        <p:attrNameLst>
                                          <p:attrName>style.visibility</p:attrName>
                                        </p:attrNameLst>
                                      </p:cBhvr>
                                      <p:to>
                                        <p:strVal val="visible"/>
                                      </p:to>
                                    </p:set>
                                    <p:animEffect filter="dissolve" transition="in">
                                      <p:cBhvr additive="repl">
                                        <p:cTn id="1780" dur="500"/>
                                        <p:tgtEl>
                                          <p:spTgt spid="1661">
                                            <p:txEl>
                                              <p:pRg st="2" end="2"/>
                                            </p:txEl>
                                          </p:spTgt>
                                        </p:tgtEl>
                                      </p:cBhvr>
                                    </p:animEffect>
                                  </p:childTnLst>
                                </p:cTn>
                              </p:par>
                              <p:animClr clrSpc="rgb">
                                <p:cBhvr>
                                  <p:cTn id="1781" dur="1" fill="hold">
                                    <p:stCondLst>
                                      <p:cond delay="3000"/>
                                    </p:stCondLst>
                                  </p:cTn>
                                  <p:tgtEl>
                                    <p:spTgt spid="1661">
                                      <p:txEl>
                                        <p:pRg st="1" end="1"/>
                                      </p:txEl>
                                    </p:spTgt>
                                  </p:tgtEl>
                                  <p:attrNameLst>
                                    <p:attrName>ppt_c</p:attrName>
                                  </p:attrNameLst>
                                </p:cBhvr>
                                <p:to>
                                  <a:srgbClr val="ccccff"/>
                                </p:to>
                              </p:animClr>
                            </p:childTnLst>
                          </p:cTn>
                        </p:par>
                      </p:childTnLst>
                    </p:cTn>
                  </p:par>
                  <p:par>
                    <p:cTn id="1782" fill="hold">
                      <p:stCondLst>
                        <p:cond delay="indefinite"/>
                      </p:stCondLst>
                      <p:childTnLst>
                        <p:par>
                          <p:cTn id="1783" fill="hold">
                            <p:stCondLst>
                              <p:cond delay="0"/>
                            </p:stCondLst>
                            <p:childTnLst>
                              <p:animClr clrSpc="rgb">
                                <p:cBhvr>
                                  <p:cTn id="1784" dur="1" fill="hold"/>
                                  <p:tgtEl>
                                    <p:spTgt spid="1661">
                                      <p:txEl>
                                        <p:pRg st="2" end="2"/>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3" name="Text Box 3"/>
          <p:cNvSpPr/>
          <p:nvPr/>
        </p:nvSpPr>
        <p:spPr>
          <a:xfrm>
            <a:off x="762120" y="2286000"/>
            <a:ext cx="8126280" cy="2800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sng">
                <a:solidFill>
                  <a:srgbClr val="ffff00"/>
                </a:solidFill>
                <a:effectLst/>
                <a:uFillTx/>
                <a:latin typeface="Arial"/>
              </a:rPr>
              <a:t>Le matériel</a:t>
            </a:r>
            <a:r>
              <a:rPr b="1"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doit être adapté à la morphologie et aux capacités de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l ’enfant et de l’adolescent,</a:t>
            </a:r>
            <a:endParaRPr b="0" lang="en-US" sz="2400" strike="noStrike" u="none">
              <a:solidFill>
                <a:srgbClr val="ffff00"/>
              </a:solidFill>
              <a:effectLst/>
              <a:uFillTx/>
              <a:latin typeface="Times New Roman"/>
            </a:endParaRPr>
          </a:p>
          <a:p>
            <a:pPr>
              <a:lnSpc>
                <a:spcPct val="12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doit présenter toutes les sécurités requises,</a:t>
            </a:r>
            <a:endParaRPr b="0" lang="en-US" sz="2400" strike="noStrike" u="none">
              <a:solidFill>
                <a:srgbClr val="ffff00"/>
              </a:solidFill>
              <a:effectLst/>
              <a:uFillTx/>
              <a:latin typeface="Times New Roman"/>
            </a:endParaRPr>
          </a:p>
          <a:p>
            <a:pPr>
              <a:lnSpc>
                <a:spcPct val="110000"/>
              </a:lnSpc>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doit être en parfait état de fonctionnement et vérifié </a:t>
            </a:r>
            <a:endParaRPr b="0" lang="en-US" sz="24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souvent,</a:t>
            </a:r>
            <a:endParaRPr b="0" lang="en-US" sz="2400" strike="noStrike" u="none">
              <a:solidFill>
                <a:srgbClr val="ffff00"/>
              </a:solidFill>
              <a:effectLst/>
              <a:uFillTx/>
              <a:latin typeface="Times New Roman"/>
            </a:endParaRPr>
          </a:p>
        </p:txBody>
      </p:sp>
      <p:sp>
        <p:nvSpPr>
          <p:cNvPr id="1664" name="Text Box 5"/>
          <p:cNvSpPr/>
          <p:nvPr/>
        </p:nvSpPr>
        <p:spPr>
          <a:xfrm>
            <a:off x="1630440" y="650880"/>
            <a:ext cx="24444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1665" name="Text Box 6"/>
          <p:cNvSpPr/>
          <p:nvPr/>
        </p:nvSpPr>
        <p:spPr>
          <a:xfrm>
            <a:off x="2084400" y="1143000"/>
            <a:ext cx="44906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Comic Sans MS"/>
              </a:rPr>
              <a:t>Règles à respecter pour éviter les risques:</a:t>
            </a:r>
            <a:endParaRPr b="0" lang="en-US" sz="2400" strike="noStrike" u="none">
              <a:solidFill>
                <a:srgbClr val="ffff00"/>
              </a:solidFill>
              <a:effectLst/>
              <a:uFillTx/>
              <a:latin typeface="Times New Roman"/>
            </a:endParaRPr>
          </a:p>
        </p:txBody>
      </p:sp>
    </p:spTree>
  </p:cSld>
  <p:transition spd="med">
    <p:zoom dir="out"/>
  </p:transition>
  <p:timing>
    <p:tnLst>
      <p:par>
        <p:cTn id="1785" dur="indefinite" restart="never" nodeType="tmRoot">
          <p:childTnLst>
            <p:seq>
              <p:cTn id="1786" dur="indefinite" nodeType="mainSeq">
                <p:childTnLst>
                  <p:par>
                    <p:cTn id="1787" nodeType="clickEffect" fill="hold">
                      <p:stCondLst>
                        <p:cond delay="0"/>
                      </p:stCondLst>
                      <p:childTnLst>
                        <p:par>
                          <p:cTn id="1788" nodeType="withEffect" fill="hold">
                            <p:stCondLst>
                              <p:cond delay="0"/>
                            </p:stCondLst>
                            <p:childTnLst>
                              <p:par>
                                <p:cTn id="1789" nodeType="afterEffect" fill="hold" presetClass="entr" presetID="9">
                                  <p:stCondLst>
                                    <p:cond delay="1000"/>
                                  </p:stCondLst>
                                  <p:childTnLst>
                                    <p:set>
                                      <p:cBhvr>
                                        <p:cTn id="1790" dur="1" fill="hold">
                                          <p:stCondLst>
                                            <p:cond delay="0"/>
                                          </p:stCondLst>
                                        </p:cTn>
                                        <p:tgtEl>
                                          <p:spTgt spid="1665"/>
                                        </p:tgtEl>
                                        <p:attrNameLst>
                                          <p:attrName>style.visibility</p:attrName>
                                        </p:attrNameLst>
                                      </p:cBhvr>
                                      <p:to>
                                        <p:strVal val="visible"/>
                                      </p:to>
                                    </p:set>
                                    <p:animEffect filter="dissolve" transition="in">
                                      <p:cBhvr additive="repl">
                                        <p:cTn id="1791" dur="500"/>
                                        <p:tgtEl>
                                          <p:spTgt spid="1665"/>
                                        </p:tgtEl>
                                      </p:cBhvr>
                                    </p:animEffect>
                                  </p:childTnLst>
                                </p:cTn>
                              </p:par>
                            </p:childTnLst>
                          </p:cTn>
                        </p:par>
                        <p:par>
                          <p:cTn id="1792" nodeType="afterEffect" fill="hold">
                            <p:stCondLst>
                              <p:cond delay="1500"/>
                            </p:stCondLst>
                            <p:childTnLst>
                              <p:par>
                                <p:cTn id="1793" nodeType="afterEffect" fill="hold" presetClass="entr" presetID="9">
                                  <p:stCondLst>
                                    <p:cond delay="2000"/>
                                  </p:stCondLst>
                                  <p:childTnLst>
                                    <p:set>
                                      <p:cBhvr>
                                        <p:cTn id="1794" dur="1" fill="hold">
                                          <p:stCondLst>
                                            <p:cond delay="0"/>
                                          </p:stCondLst>
                                        </p:cTn>
                                        <p:tgtEl>
                                          <p:spTgt spid="1663">
                                            <p:txEl>
                                              <p:pRg st="0" end="0"/>
                                            </p:txEl>
                                          </p:spTgt>
                                        </p:tgtEl>
                                        <p:attrNameLst>
                                          <p:attrName>style.visibility</p:attrName>
                                        </p:attrNameLst>
                                      </p:cBhvr>
                                      <p:to>
                                        <p:strVal val="visible"/>
                                      </p:to>
                                    </p:set>
                                    <p:animEffect filter="dissolve" transition="in">
                                      <p:cBhvr additive="repl">
                                        <p:cTn id="1795" dur="500"/>
                                        <p:tgtEl>
                                          <p:spTgt spid="1663">
                                            <p:txEl>
                                              <p:pRg st="0" end="0"/>
                                            </p:txEl>
                                          </p:spTgt>
                                        </p:tgtEl>
                                      </p:cBhvr>
                                    </p:animEffect>
                                  </p:childTnLst>
                                </p:cTn>
                              </p:par>
                            </p:childTnLst>
                          </p:cTn>
                        </p:par>
                        <p:par>
                          <p:cTn id="1796" nodeType="afterEffect" fill="hold">
                            <p:stCondLst>
                              <p:cond delay="4000"/>
                            </p:stCondLst>
                            <p:childTnLst>
                              <p:par>
                                <p:cTn id="1797" nodeType="afterEffect" fill="hold" presetClass="entr" presetID="9">
                                  <p:stCondLst>
                                    <p:cond delay="2000"/>
                                  </p:stCondLst>
                                  <p:childTnLst>
                                    <p:set>
                                      <p:cBhvr>
                                        <p:cTn id="1798" dur="1" fill="hold">
                                          <p:stCondLst>
                                            <p:cond delay="0"/>
                                          </p:stCondLst>
                                        </p:cTn>
                                        <p:tgtEl>
                                          <p:spTgt spid="1663">
                                            <p:txEl>
                                              <p:pRg st="2" end="2"/>
                                            </p:txEl>
                                          </p:spTgt>
                                        </p:tgtEl>
                                        <p:attrNameLst>
                                          <p:attrName>style.visibility</p:attrName>
                                        </p:attrNameLst>
                                      </p:cBhvr>
                                      <p:to>
                                        <p:strVal val="visible"/>
                                      </p:to>
                                    </p:set>
                                    <p:animEffect filter="dissolve" transition="in">
                                      <p:cBhvr additive="repl">
                                        <p:cTn id="1799" dur="500"/>
                                        <p:tgtEl>
                                          <p:spTgt spid="1663">
                                            <p:txEl>
                                              <p:pRg st="2" end="2"/>
                                            </p:txEl>
                                          </p:spTgt>
                                        </p:tgtEl>
                                      </p:cBhvr>
                                    </p:animEffect>
                                  </p:childTnLst>
                                </p:cTn>
                              </p:par>
                              <p:animClr clrSpc="rgb">
                                <p:cBhvr>
                                  <p:cTn id="1800" dur="1" fill="hold">
                                    <p:stCondLst>
                                      <p:cond delay="2000"/>
                                    </p:stCondLst>
                                  </p:cTn>
                                  <p:tgtEl>
                                    <p:spTgt spid="1663">
                                      <p:txEl>
                                        <p:pRg st="0" end="0"/>
                                      </p:txEl>
                                    </p:spTgt>
                                  </p:tgtEl>
                                  <p:attrNameLst>
                                    <p:attrName>ppt_c</p:attrName>
                                  </p:attrNameLst>
                                </p:cBhvr>
                                <p:to>
                                  <a:srgbClr val="ccccff"/>
                                </p:to>
                              </p:animClr>
                            </p:childTnLst>
                          </p:cTn>
                        </p:par>
                        <p:par>
                          <p:cTn id="1801" nodeType="afterEffect" fill="hold">
                            <p:stCondLst>
                              <p:cond delay="6500"/>
                            </p:stCondLst>
                            <p:childTnLst>
                              <p:par>
                                <p:cTn id="1802" nodeType="afterEffect" fill="hold" presetClass="entr" presetID="9">
                                  <p:stCondLst>
                                    <p:cond delay="2000"/>
                                  </p:stCondLst>
                                  <p:childTnLst>
                                    <p:set>
                                      <p:cBhvr>
                                        <p:cTn id="1803" dur="1" fill="hold">
                                          <p:stCondLst>
                                            <p:cond delay="0"/>
                                          </p:stCondLst>
                                        </p:cTn>
                                        <p:tgtEl>
                                          <p:spTgt spid="1663">
                                            <p:txEl>
                                              <p:pRg st="3" end="3"/>
                                            </p:txEl>
                                          </p:spTgt>
                                        </p:tgtEl>
                                        <p:attrNameLst>
                                          <p:attrName>style.visibility</p:attrName>
                                        </p:attrNameLst>
                                      </p:cBhvr>
                                      <p:to>
                                        <p:strVal val="visible"/>
                                      </p:to>
                                    </p:set>
                                    <p:animEffect filter="dissolve" transition="in">
                                      <p:cBhvr additive="repl">
                                        <p:cTn id="1804" dur="500"/>
                                        <p:tgtEl>
                                          <p:spTgt spid="1663">
                                            <p:txEl>
                                              <p:pRg st="3" end="3"/>
                                            </p:txEl>
                                          </p:spTgt>
                                        </p:tgtEl>
                                      </p:cBhvr>
                                    </p:animEffect>
                                  </p:childTnLst>
                                </p:cTn>
                              </p:par>
                              <p:animClr clrSpc="rgb">
                                <p:cBhvr>
                                  <p:cTn id="1805" dur="1" fill="hold">
                                    <p:stCondLst>
                                      <p:cond delay="2000"/>
                                    </p:stCondLst>
                                  </p:cTn>
                                  <p:tgtEl>
                                    <p:spTgt spid="1663">
                                      <p:txEl>
                                        <p:pRg st="2" end="2"/>
                                      </p:txEl>
                                    </p:spTgt>
                                  </p:tgtEl>
                                  <p:attrNameLst>
                                    <p:attrName>ppt_c</p:attrName>
                                  </p:attrNameLst>
                                </p:cBhvr>
                                <p:to>
                                  <a:srgbClr val="ccccff"/>
                                </p:to>
                              </p:animClr>
                            </p:childTnLst>
                          </p:cTn>
                        </p:par>
                        <p:par>
                          <p:cTn id="1806" nodeType="afterEffect" fill="hold">
                            <p:stCondLst>
                              <p:cond delay="9000"/>
                            </p:stCondLst>
                            <p:childTnLst>
                              <p:par>
                                <p:cTn id="1807" nodeType="afterEffect" fill="hold" presetClass="entr" presetID="9">
                                  <p:stCondLst>
                                    <p:cond delay="2000"/>
                                  </p:stCondLst>
                                  <p:childTnLst>
                                    <p:set>
                                      <p:cBhvr>
                                        <p:cTn id="1808" dur="1" fill="hold">
                                          <p:stCondLst>
                                            <p:cond delay="0"/>
                                          </p:stCondLst>
                                        </p:cTn>
                                        <p:tgtEl>
                                          <p:spTgt spid="1663">
                                            <p:txEl>
                                              <p:pRg st="4" end="4"/>
                                            </p:txEl>
                                          </p:spTgt>
                                        </p:tgtEl>
                                        <p:attrNameLst>
                                          <p:attrName>style.visibility</p:attrName>
                                        </p:attrNameLst>
                                      </p:cBhvr>
                                      <p:to>
                                        <p:strVal val="visible"/>
                                      </p:to>
                                    </p:set>
                                    <p:animEffect filter="dissolve" transition="in">
                                      <p:cBhvr additive="repl">
                                        <p:cTn id="1809" dur="500"/>
                                        <p:tgtEl>
                                          <p:spTgt spid="1663">
                                            <p:txEl>
                                              <p:pRg st="4" end="4"/>
                                            </p:txEl>
                                          </p:spTgt>
                                        </p:tgtEl>
                                      </p:cBhvr>
                                    </p:animEffect>
                                  </p:childTnLst>
                                </p:cTn>
                              </p:par>
                              <p:animClr clrSpc="rgb">
                                <p:cBhvr>
                                  <p:cTn id="1810" dur="1" fill="hold">
                                    <p:stCondLst>
                                      <p:cond delay="2000"/>
                                    </p:stCondLst>
                                  </p:cTn>
                                  <p:tgtEl>
                                    <p:spTgt spid="1663">
                                      <p:txEl>
                                        <p:pRg st="3" end="3"/>
                                      </p:txEl>
                                    </p:spTgt>
                                  </p:tgtEl>
                                  <p:attrNameLst>
                                    <p:attrName>ppt_c</p:attrName>
                                  </p:attrNameLst>
                                </p:cBhvr>
                                <p:to>
                                  <a:srgbClr val="ccccff"/>
                                </p:to>
                              </p:animClr>
                            </p:childTnLst>
                          </p:cTn>
                        </p:par>
                        <p:par>
                          <p:cTn id="1811" nodeType="afterEffect" fill="hold">
                            <p:stCondLst>
                              <p:cond delay="11500"/>
                            </p:stCondLst>
                            <p:childTnLst>
                              <p:par>
                                <p:cTn id="1812" nodeType="afterEffect" fill="hold" presetClass="entr" presetID="9">
                                  <p:stCondLst>
                                    <p:cond delay="2000"/>
                                  </p:stCondLst>
                                  <p:childTnLst>
                                    <p:set>
                                      <p:cBhvr>
                                        <p:cTn id="1813" dur="1" fill="hold">
                                          <p:stCondLst>
                                            <p:cond delay="0"/>
                                          </p:stCondLst>
                                        </p:cTn>
                                        <p:tgtEl>
                                          <p:spTgt spid="1663">
                                            <p:txEl>
                                              <p:pRg st="5" end="5"/>
                                            </p:txEl>
                                          </p:spTgt>
                                        </p:tgtEl>
                                        <p:attrNameLst>
                                          <p:attrName>style.visibility</p:attrName>
                                        </p:attrNameLst>
                                      </p:cBhvr>
                                      <p:to>
                                        <p:strVal val="visible"/>
                                      </p:to>
                                    </p:set>
                                    <p:animEffect filter="dissolve" transition="in">
                                      <p:cBhvr additive="repl">
                                        <p:cTn id="1814" dur="500"/>
                                        <p:tgtEl>
                                          <p:spTgt spid="1663">
                                            <p:txEl>
                                              <p:pRg st="5" end="5"/>
                                            </p:txEl>
                                          </p:spTgt>
                                        </p:tgtEl>
                                      </p:cBhvr>
                                    </p:animEffect>
                                  </p:childTnLst>
                                </p:cTn>
                              </p:par>
                              <p:animClr clrSpc="rgb">
                                <p:cBhvr>
                                  <p:cTn id="1815" dur="1" fill="hold">
                                    <p:stCondLst>
                                      <p:cond delay="2000"/>
                                    </p:stCondLst>
                                  </p:cTn>
                                  <p:tgtEl>
                                    <p:spTgt spid="1663">
                                      <p:txEl>
                                        <p:pRg st="4" end="4"/>
                                      </p:txEl>
                                    </p:spTgt>
                                  </p:tgtEl>
                                  <p:attrNameLst>
                                    <p:attrName>ppt_c</p:attrName>
                                  </p:attrNameLst>
                                </p:cBhvr>
                                <p:to>
                                  <a:srgbClr val="ccccff"/>
                                </p:to>
                              </p:animClr>
                            </p:childTnLst>
                          </p:cTn>
                        </p:par>
                        <p:par>
                          <p:cTn id="1816" nodeType="afterEffect" fill="hold">
                            <p:stCondLst>
                              <p:cond delay="14000"/>
                            </p:stCondLst>
                            <p:childTnLst>
                              <p:par>
                                <p:cTn id="1817" nodeType="afterEffect" fill="hold" presetClass="entr" presetID="9">
                                  <p:stCondLst>
                                    <p:cond delay="2000"/>
                                  </p:stCondLst>
                                  <p:childTnLst>
                                    <p:set>
                                      <p:cBhvr>
                                        <p:cTn id="1818" dur="1" fill="hold">
                                          <p:stCondLst>
                                            <p:cond delay="0"/>
                                          </p:stCondLst>
                                        </p:cTn>
                                        <p:tgtEl>
                                          <p:spTgt spid="1663">
                                            <p:txEl>
                                              <p:pRg st="6" end="6"/>
                                            </p:txEl>
                                          </p:spTgt>
                                        </p:tgtEl>
                                        <p:attrNameLst>
                                          <p:attrName>style.visibility</p:attrName>
                                        </p:attrNameLst>
                                      </p:cBhvr>
                                      <p:to>
                                        <p:strVal val="visible"/>
                                      </p:to>
                                    </p:set>
                                    <p:animEffect filter="dissolve" transition="in">
                                      <p:cBhvr additive="repl">
                                        <p:cTn id="1819" dur="500"/>
                                        <p:tgtEl>
                                          <p:spTgt spid="1663">
                                            <p:txEl>
                                              <p:pRg st="6" end="6"/>
                                            </p:txEl>
                                          </p:spTgt>
                                        </p:tgtEl>
                                      </p:cBhvr>
                                    </p:animEffect>
                                  </p:childTnLst>
                                </p:cTn>
                              </p:par>
                              <p:animClr clrSpc="rgb">
                                <p:cBhvr>
                                  <p:cTn id="1820" dur="1" fill="hold">
                                    <p:stCondLst>
                                      <p:cond delay="2000"/>
                                    </p:stCondLst>
                                  </p:cTn>
                                  <p:tgtEl>
                                    <p:spTgt spid="1663">
                                      <p:txEl>
                                        <p:pRg st="5" end="5"/>
                                      </p:txEl>
                                    </p:spTgt>
                                  </p:tgtEl>
                                  <p:attrNameLst>
                                    <p:attrName>ppt_c</p:attrName>
                                  </p:attrNameLst>
                                </p:cBhvr>
                                <p:to>
                                  <a:srgbClr val="ccccff"/>
                                </p:to>
                              </p:animClr>
                            </p:childTnLst>
                          </p:cTn>
                        </p:par>
                      </p:childTnLst>
                    </p:cTn>
                  </p:par>
                  <p:par>
                    <p:cTn id="1821" fill="hold">
                      <p:stCondLst>
                        <p:cond delay="indefinite"/>
                      </p:stCondLst>
                      <p:childTnLst>
                        <p:par>
                          <p:cTn id="1822" fill="hold">
                            <p:stCondLst>
                              <p:cond delay="0"/>
                            </p:stCondLst>
                            <p:childTnLst>
                              <p:animClr clrSpc="rgb">
                                <p:cBhvr>
                                  <p:cTn id="1823" dur="1" fill="hold"/>
                                  <p:tgtEl>
                                    <p:spTgt spid="1663">
                                      <p:txEl>
                                        <p:pRg st="6" end="6"/>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6" name="Text Box 2"/>
          <p:cNvSpPr/>
          <p:nvPr/>
        </p:nvSpPr>
        <p:spPr>
          <a:xfrm>
            <a:off x="2695680" y="228600"/>
            <a:ext cx="322740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Comic Sans MS"/>
              </a:rPr>
              <a:t>Conseils d ’entraînement</a:t>
            </a:r>
            <a:endParaRPr b="0" lang="en-US" sz="2800" strike="noStrike" u="none">
              <a:solidFill>
                <a:srgbClr val="ffff00"/>
              </a:solidFill>
              <a:effectLst/>
              <a:uFillTx/>
              <a:latin typeface="Times New Roman"/>
            </a:endParaRPr>
          </a:p>
        </p:txBody>
      </p:sp>
      <p:sp>
        <p:nvSpPr>
          <p:cNvPr id="1667" name="Text Box 3"/>
          <p:cNvSpPr/>
          <p:nvPr/>
        </p:nvSpPr>
        <p:spPr>
          <a:xfrm>
            <a:off x="304920" y="914400"/>
            <a:ext cx="8839080" cy="1922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Il est souhaitable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1- </a:t>
            </a:r>
            <a:r>
              <a:rPr b="1" lang="fr-FR" sz="2000" strike="noStrike" u="none">
                <a:solidFill>
                  <a:srgbClr val="ffff00"/>
                </a:solidFill>
                <a:effectLst/>
                <a:uFillTx/>
                <a:latin typeface="Arial"/>
              </a:rPr>
              <a:t>de commencer à utiliser le poids du corps ou des segments avant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d’évoluer progressivement vers l ’emploi de charges externes,</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2- plutôt que d’haltères, d ’utiliser des appareils de musculation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adaptés et assurant le bon placement de la colonne vertébrale</a:t>
            </a:r>
            <a:endParaRPr b="0" lang="en-US" sz="2000" strike="noStrike" u="none">
              <a:solidFill>
                <a:srgbClr val="ffff00"/>
              </a:solidFill>
              <a:effectLst/>
              <a:uFillTx/>
              <a:latin typeface="Times New Roman"/>
            </a:endParaRPr>
          </a:p>
        </p:txBody>
      </p:sp>
      <p:sp>
        <p:nvSpPr>
          <p:cNvPr id="1668" name="Text Box 4"/>
          <p:cNvSpPr/>
          <p:nvPr/>
        </p:nvSpPr>
        <p:spPr>
          <a:xfrm>
            <a:off x="228600" y="4635360"/>
            <a:ext cx="8915400" cy="222768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6- de ne jamais augmenter les charges tant que la technique n’est pas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parfaitement maîtrisée,</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7- que chaque exercice ne comporte au maximum que 2 à 3 séries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de 6 à 15 répétitions,</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8- lorsque l’enfant est capable de répéter l’exercice 15 fois on peut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augmenter la charge que très progressivement : 0.5 à 1 kg.</a:t>
            </a:r>
            <a:endParaRPr b="0" lang="en-US" sz="2000" strike="noStrike" u="none">
              <a:solidFill>
                <a:srgbClr val="ffff00"/>
              </a:solidFill>
              <a:effectLst/>
              <a:uFillTx/>
              <a:latin typeface="Times New Roman"/>
            </a:endParaRPr>
          </a:p>
        </p:txBody>
      </p:sp>
      <p:sp>
        <p:nvSpPr>
          <p:cNvPr id="1669" name="Text Box 5"/>
          <p:cNvSpPr/>
          <p:nvPr/>
        </p:nvSpPr>
        <p:spPr>
          <a:xfrm>
            <a:off x="291240" y="2971800"/>
            <a:ext cx="9118800" cy="1740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3- d’utiliser des exercices avec une amplitude maximale au départ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sans charge pour apprendre parfaitement la technique,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4- d’utiliser des charges permettant 8 à 10 répétitions minimum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(60-70% de la charge permettant une seule répétition au maximum: 1RM) </a:t>
            </a:r>
            <a:r>
              <a:rPr b="1" lang="fr-FR"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5- de s’entraîner 1 à 2 fois par semaine à raison de 15 à 20 min,</a:t>
            </a:r>
            <a:endParaRPr b="0" lang="en-US" sz="2000" strike="noStrike" u="none">
              <a:solidFill>
                <a:srgbClr val="ffff00"/>
              </a:solidFill>
              <a:effectLst/>
              <a:uFillTx/>
              <a:latin typeface="Times New Roman"/>
            </a:endParaRPr>
          </a:p>
        </p:txBody>
      </p:sp>
    </p:spTree>
  </p:cSld>
  <p:transition spd="med">
    <p:zoom dir="out"/>
  </p:transition>
  <p:timing>
    <p:tnLst>
      <p:par>
        <p:cTn id="1824" dur="indefinite" restart="never" nodeType="tmRoot">
          <p:childTnLst>
            <p:seq>
              <p:cTn id="1825" dur="indefinite" nodeType="mainSeq">
                <p:childTnLst>
                  <p:par>
                    <p:cTn id="1826" nodeType="clickEffect" fill="hold">
                      <p:stCondLst>
                        <p:cond delay="0"/>
                      </p:stCondLst>
                      <p:childTnLst>
                        <p:par>
                          <p:cTn id="1827" nodeType="withEffect" fill="hold">
                            <p:stCondLst>
                              <p:cond delay="0"/>
                            </p:stCondLst>
                            <p:childTnLst>
                              <p:par>
                                <p:cTn id="1828" nodeType="afterEffect" fill="hold" presetClass="entr" presetID="2" presetSubtype="8">
                                  <p:stCondLst>
                                    <p:cond delay="0"/>
                                  </p:stCondLst>
                                  <p:iterate type="lt">
                                    <p:tmAbs val="75"/>
                                  </p:iterate>
                                  <p:childTnLst>
                                    <p:set>
                                      <p:cBhvr>
                                        <p:cTn id="1829" dur="1" fill="hold">
                                          <p:stCondLst>
                                            <p:cond delay="0"/>
                                          </p:stCondLst>
                                        </p:cTn>
                                        <p:tgtEl>
                                          <p:spTgt spid="1666"/>
                                        </p:tgtEl>
                                        <p:attrNameLst>
                                          <p:attrName>style.visibility</p:attrName>
                                        </p:attrNameLst>
                                      </p:cBhvr>
                                      <p:to>
                                        <p:strVal val="visible"/>
                                      </p:to>
                                    </p:set>
                                    <p:anim calcmode="lin" valueType="num">
                                      <p:cBhvr additive="base">
                                        <p:cTn id="1830" dur="75" fill="hold"/>
                                        <p:tgtEl>
                                          <p:spTgt spid="1666"/>
                                        </p:tgtEl>
                                        <p:attrNameLst>
                                          <p:attrName>ppt_x</p:attrName>
                                        </p:attrNameLst>
                                      </p:cBhvr>
                                      <p:tavLst>
                                        <p:tav tm="0">
                                          <p:val>
                                            <p:strVal val="0-#ppt_w/2"/>
                                          </p:val>
                                        </p:tav>
                                        <p:tav tm="100000">
                                          <p:val>
                                            <p:strVal val="#ppt_x"/>
                                          </p:val>
                                        </p:tav>
                                      </p:tavLst>
                                    </p:anim>
                                    <p:anim calcmode="lin" valueType="num">
                                      <p:cBhvr additive="base">
                                        <p:cTn id="1831" dur="75" fill="hold"/>
                                        <p:tgtEl>
                                          <p:spTgt spid="1666"/>
                                        </p:tgtEl>
                                        <p:attrNameLst>
                                          <p:attrName>ppt_y</p:attrName>
                                        </p:attrNameLst>
                                      </p:cBhvr>
                                      <p:tavLst>
                                        <p:tav tm="0">
                                          <p:val>
                                            <p:strVal val="#ppt_y"/>
                                          </p:val>
                                        </p:tav>
                                        <p:tav tm="100000">
                                          <p:val>
                                            <p:strVal val="#ppt_y"/>
                                          </p:val>
                                        </p:tav>
                                      </p:tavLst>
                                    </p:anim>
                                  </p:childTnLst>
                                </p:cTn>
                              </p:par>
                            </p:childTnLst>
                          </p:cTn>
                        </p:par>
                        <p:par>
                          <p:cTn id="1832" nodeType="afterEffect" fill="hold">
                            <p:stCondLst>
                              <p:cond delay="1650"/>
                            </p:stCondLst>
                            <p:childTnLst>
                              <p:par>
                                <p:cTn id="1833" nodeType="afterEffect" fill="hold" presetClass="entr" presetID="9">
                                  <p:stCondLst>
                                    <p:cond delay="0"/>
                                  </p:stCondLst>
                                  <p:iterate type="lt">
                                    <p:tmAbs val="75"/>
                                  </p:iterate>
                                  <p:childTnLst>
                                    <p:set>
                                      <p:cBhvr>
                                        <p:cTn id="1834" dur="1" fill="hold">
                                          <p:stCondLst>
                                            <p:cond delay="0"/>
                                          </p:stCondLst>
                                        </p:cTn>
                                        <p:tgtEl>
                                          <p:spTgt spid="1667"/>
                                        </p:tgtEl>
                                        <p:attrNameLst>
                                          <p:attrName>style.visibility</p:attrName>
                                        </p:attrNameLst>
                                      </p:cBhvr>
                                      <p:to>
                                        <p:strVal val="visible"/>
                                      </p:to>
                                    </p:set>
                                    <p:animEffect filter="dissolve" transition="in">
                                      <p:cBhvr additive="repl">
                                        <p:cTn id="1835" dur="75"/>
                                        <p:tgtEl>
                                          <p:spTgt spid="1667"/>
                                        </p:tgtEl>
                                      </p:cBhvr>
                                    </p:animEffect>
                                  </p:childTnLst>
                                </p:cTn>
                              </p:par>
                            </p:childTnLst>
                          </p:cTn>
                        </p:par>
                      </p:childTnLst>
                    </p:cTn>
                  </p:par>
                  <p:par>
                    <p:cTn id="1836" nodeType="clickEffect" fill="hold">
                      <p:stCondLst>
                        <p:cond delay="indefinite"/>
                      </p:stCondLst>
                      <p:childTnLst>
                        <p:par>
                          <p:cTn id="1837" nodeType="withEffect" fill="hold">
                            <p:stCondLst>
                              <p:cond delay="0"/>
                            </p:stCondLst>
                            <p:childTnLst>
                              <p:par>
                                <p:cTn id="1838" nodeType="clickEffect" fill="hold" presetClass="entr" presetID="2" presetSubtype="8">
                                  <p:stCondLst>
                                    <p:cond delay="0"/>
                                  </p:stCondLst>
                                  <p:iterate type="lt">
                                    <p:tmAbs val="75"/>
                                  </p:iterate>
                                  <p:childTnLst>
                                    <p:set>
                                      <p:cBhvr>
                                        <p:cTn id="1839" dur="1" fill="hold">
                                          <p:stCondLst>
                                            <p:cond delay="0"/>
                                          </p:stCondLst>
                                        </p:cTn>
                                        <p:tgtEl>
                                          <p:spTgt spid="1669"/>
                                        </p:tgtEl>
                                        <p:attrNameLst>
                                          <p:attrName>style.visibility</p:attrName>
                                        </p:attrNameLst>
                                      </p:cBhvr>
                                      <p:to>
                                        <p:strVal val="visible"/>
                                      </p:to>
                                    </p:set>
                                    <p:anim calcmode="lin" valueType="num">
                                      <p:cBhvr additive="base">
                                        <p:cTn id="1840" dur="75" fill="hold"/>
                                        <p:tgtEl>
                                          <p:spTgt spid="1669"/>
                                        </p:tgtEl>
                                        <p:attrNameLst>
                                          <p:attrName>ppt_x</p:attrName>
                                        </p:attrNameLst>
                                      </p:cBhvr>
                                      <p:tavLst>
                                        <p:tav tm="0">
                                          <p:val>
                                            <p:strVal val="0-#ppt_w/2"/>
                                          </p:val>
                                        </p:tav>
                                        <p:tav tm="100000">
                                          <p:val>
                                            <p:strVal val="#ppt_x"/>
                                          </p:val>
                                        </p:tav>
                                      </p:tavLst>
                                    </p:anim>
                                    <p:anim calcmode="lin" valueType="num">
                                      <p:cBhvr additive="base">
                                        <p:cTn id="1841" dur="75" fill="hold"/>
                                        <p:tgtEl>
                                          <p:spTgt spid="1669"/>
                                        </p:tgtEl>
                                        <p:attrNameLst>
                                          <p:attrName>ppt_y</p:attrName>
                                        </p:attrNameLst>
                                      </p:cBhvr>
                                      <p:tavLst>
                                        <p:tav tm="0">
                                          <p:val>
                                            <p:strVal val="#ppt_y"/>
                                          </p:val>
                                        </p:tav>
                                        <p:tav tm="100000">
                                          <p:val>
                                            <p:strVal val="#ppt_y"/>
                                          </p:val>
                                        </p:tav>
                                      </p:tavLst>
                                    </p:anim>
                                  </p:childTnLst>
                                </p:cTn>
                              </p:par>
                            </p:childTnLst>
                          </p:cTn>
                        </p:par>
                      </p:childTnLst>
                    </p:cTn>
                  </p:par>
                  <p:par>
                    <p:cTn id="1842" nodeType="clickEffect" fill="hold">
                      <p:stCondLst>
                        <p:cond delay="indefinite"/>
                      </p:stCondLst>
                      <p:childTnLst>
                        <p:par>
                          <p:cTn id="1843" nodeType="withEffect" fill="hold">
                            <p:stCondLst>
                              <p:cond delay="0"/>
                            </p:stCondLst>
                            <p:childTnLst>
                              <p:par>
                                <p:cTn id="1844" nodeType="clickEffect" fill="hold" presetClass="entr" presetID="9">
                                  <p:stCondLst>
                                    <p:cond delay="0"/>
                                  </p:stCondLst>
                                  <p:iterate type="lt">
                                    <p:tmAbs val="75"/>
                                  </p:iterate>
                                  <p:childTnLst>
                                    <p:set>
                                      <p:cBhvr>
                                        <p:cTn id="1845" dur="1" fill="hold">
                                          <p:stCondLst>
                                            <p:cond delay="0"/>
                                          </p:stCondLst>
                                        </p:cTn>
                                        <p:tgtEl>
                                          <p:spTgt spid="1668"/>
                                        </p:tgtEl>
                                        <p:attrNameLst>
                                          <p:attrName>style.visibility</p:attrName>
                                        </p:attrNameLst>
                                      </p:cBhvr>
                                      <p:to>
                                        <p:strVal val="visible"/>
                                      </p:to>
                                    </p:set>
                                    <p:animEffect filter="dissolve" transition="in">
                                      <p:cBhvr additive="repl">
                                        <p:cTn id="1846" dur="75"/>
                                        <p:tgtEl>
                                          <p:spTgt spid="1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0" name="Text Box 2"/>
          <p:cNvSpPr/>
          <p:nvPr/>
        </p:nvSpPr>
        <p:spPr>
          <a:xfrm>
            <a:off x="1892520" y="2943360"/>
            <a:ext cx="60145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ff"/>
                </a:solidFill>
                <a:effectLst/>
                <a:uFillTx/>
                <a:latin typeface="Bookman Old Style"/>
              </a:rPr>
              <a:t>La puissance musculaire</a:t>
            </a:r>
            <a:endParaRPr b="0" lang="en-US" sz="3600" strike="noStrike" u="none">
              <a:solidFill>
                <a:srgbClr val="ffff00"/>
              </a:solidFill>
              <a:effectLst/>
              <a:uFillTx/>
              <a:latin typeface="Times New Roman"/>
            </a:endParaRPr>
          </a:p>
        </p:txBody>
      </p:sp>
    </p:spTree>
  </p:cSld>
  <p:transition spd="med">
    <p:zoom dir="out"/>
  </p:transition>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1" name="Text Box 2"/>
          <p:cNvSpPr/>
          <p:nvPr/>
        </p:nvSpPr>
        <p:spPr>
          <a:xfrm>
            <a:off x="3037320" y="754200"/>
            <a:ext cx="204840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ff"/>
                </a:solidFill>
                <a:effectLst/>
                <a:uFillTx/>
                <a:latin typeface="Bookman Old Style"/>
              </a:rPr>
              <a:t>Définition</a:t>
            </a:r>
            <a:endParaRPr b="0" lang="en-US" sz="2800" strike="noStrike" u="none">
              <a:solidFill>
                <a:srgbClr val="ffff00"/>
              </a:solidFill>
              <a:effectLst/>
              <a:uFillTx/>
              <a:latin typeface="Times New Roman"/>
            </a:endParaRPr>
          </a:p>
        </p:txBody>
      </p:sp>
      <p:sp>
        <p:nvSpPr>
          <p:cNvPr id="1672" name="Text Box 3"/>
          <p:cNvSpPr/>
          <p:nvPr/>
        </p:nvSpPr>
        <p:spPr>
          <a:xfrm>
            <a:off x="1694520" y="1981080"/>
            <a:ext cx="8803080" cy="30200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La puissance est égale au produit de la force par la vitesse:</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P (watts) = F (newtons) x V (m/s)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La puissance représente la force maximale susceptible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d’être développée par unité de temps.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Elle résulte donc de l’interaction de la force et de la vitesse</a:t>
            </a:r>
            <a:endParaRPr b="0" lang="en-US" sz="2400" strike="noStrike" u="none">
              <a:solidFill>
                <a:srgbClr val="ffff00"/>
              </a:solidFill>
              <a:effectLst/>
              <a:uFillTx/>
              <a:latin typeface="Times New Roman"/>
            </a:endParaRPr>
          </a:p>
        </p:txBody>
      </p:sp>
    </p:spTree>
  </p:cSld>
  <p:transition spd="med">
    <p:zoom dir="out"/>
  </p:transition>
  <p:timing>
    <p:tnLst>
      <p:par>
        <p:cTn id="1847" dur="indefinite" restart="never" nodeType="tmRoot">
          <p:childTnLst>
            <p:seq>
              <p:cTn id="1848" dur="indefinite" nodeType="mainSeq">
                <p:childTnLst>
                  <p:par>
                    <p:cTn id="1849" nodeType="clickEffect" fill="hold">
                      <p:stCondLst>
                        <p:cond delay="0"/>
                      </p:stCondLst>
                      <p:childTnLst>
                        <p:par>
                          <p:cTn id="1850" nodeType="withEffect" fill="hold">
                            <p:stCondLst>
                              <p:cond delay="0"/>
                            </p:stCondLst>
                            <p:childTnLst>
                              <p:par>
                                <p:cTn id="1851" nodeType="afterEffect" fill="hold" presetClass="entr" presetID="9">
                                  <p:stCondLst>
                                    <p:cond delay="0"/>
                                  </p:stCondLst>
                                  <p:iterate type="wd">
                                    <p:tmAbs val="300"/>
                                  </p:iterate>
                                  <p:childTnLst>
                                    <p:set>
                                      <p:cBhvr>
                                        <p:cTn id="1852" dur="1" fill="hold">
                                          <p:stCondLst>
                                            <p:cond delay="0"/>
                                          </p:stCondLst>
                                        </p:cTn>
                                        <p:tgtEl>
                                          <p:spTgt spid="1671"/>
                                        </p:tgtEl>
                                        <p:attrNameLst>
                                          <p:attrName>style.visibility</p:attrName>
                                        </p:attrNameLst>
                                      </p:cBhvr>
                                      <p:to>
                                        <p:strVal val="visible"/>
                                      </p:to>
                                    </p:set>
                                    <p:animEffect filter="dissolve" transition="in">
                                      <p:cBhvr additive="repl">
                                        <p:cTn id="1853" dur="300"/>
                                        <p:tgtEl>
                                          <p:spTgt spid="1671"/>
                                        </p:tgtEl>
                                      </p:cBhvr>
                                    </p:animEffect>
                                  </p:childTnLst>
                                </p:cTn>
                              </p:par>
                            </p:childTnLst>
                          </p:cTn>
                        </p:par>
                        <p:par>
                          <p:cTn id="1854" nodeType="afterEffect" fill="hold">
                            <p:stCondLst>
                              <p:cond delay="300"/>
                            </p:stCondLst>
                            <p:childTnLst>
                              <p:par>
                                <p:cTn id="1855" nodeType="afterEffect" fill="hold" presetClass="entr" presetID="9">
                                  <p:stCondLst>
                                    <p:cond delay="0"/>
                                  </p:stCondLst>
                                  <p:iterate type="wd">
                                    <p:tmAbs val="300"/>
                                  </p:iterate>
                                  <p:childTnLst>
                                    <p:set>
                                      <p:cBhvr>
                                        <p:cTn id="1856" dur="1" fill="hold">
                                          <p:stCondLst>
                                            <p:cond delay="0"/>
                                          </p:stCondLst>
                                        </p:cTn>
                                        <p:tgtEl>
                                          <p:spTgt spid="1672"/>
                                        </p:tgtEl>
                                        <p:attrNameLst>
                                          <p:attrName>style.visibility</p:attrName>
                                        </p:attrNameLst>
                                      </p:cBhvr>
                                      <p:to>
                                        <p:strVal val="visible"/>
                                      </p:to>
                                    </p:set>
                                    <p:animEffect filter="dissolve" transition="in">
                                      <p:cBhvr additive="repl">
                                        <p:cTn id="1857" dur="300"/>
                                        <p:tgtEl>
                                          <p:spTgt spid="1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3" name="PlaceHolder 1"/>
          <p:cNvSpPr>
            <a:spLocks noGrp="1"/>
          </p:cNvSpPr>
          <p:nvPr>
            <p:ph/>
          </p:nvPr>
        </p:nvSpPr>
        <p:spPr>
          <a:xfrm>
            <a:off x="914400" y="1066680"/>
            <a:ext cx="7772400" cy="5562720"/>
          </a:xfrm>
          <a:prstGeom prst="rect">
            <a:avLst/>
          </a:prstGeom>
          <a:noFill/>
          <a:ln w="0">
            <a:noFill/>
          </a:ln>
        </p:spPr>
        <p:txBody>
          <a:bodyPr lIns="91440" rIns="91440" tIns="45720" bIns="45720" anchor="t">
            <a:normAutofit/>
          </a:bodyPr>
          <a:p>
            <a:pPr lvl="4" marL="2057400" indent="0">
              <a:lnSpc>
                <a:spcPct val="100000"/>
              </a:lnSpc>
              <a:spcBef>
                <a:spcPts val="349"/>
              </a:spcBef>
              <a:buNone/>
              <a:tabLst>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omic Sans MS"/>
              </a:rPr>
              <a:t>  </a:t>
            </a:r>
            <a:r>
              <a:rPr b="1" lang="fr-FR" sz="2400" strike="noStrike" u="none">
                <a:solidFill>
                  <a:srgbClr val="ffff00"/>
                </a:solidFill>
                <a:effectLst/>
                <a:uFillTx/>
                <a:latin typeface="Arial"/>
              </a:rPr>
              <a:t>Aux facteurs précédemment énumérés qui conditionnent vitesse et force musculaire, </a:t>
            </a:r>
            <a:endParaRPr b="0" lang="en-US" sz="2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il convient d'ajouter:</a:t>
            </a:r>
            <a:endParaRPr b="0" lang="en-US" sz="2400" strike="noStrike" u="none">
              <a:solidFill>
                <a:srgbClr val="ffff00"/>
              </a:solidFill>
              <a:effectLst/>
              <a:uFillTx/>
              <a:latin typeface="Times New Roman"/>
            </a:endParaRPr>
          </a:p>
          <a:p>
            <a:pPr marL="343080" indent="-343080">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 </a:t>
            </a:r>
            <a:endParaRPr b="0" lang="en-US" sz="2000" strike="noStrike" u="none">
              <a:solidFill>
                <a:srgbClr val="ffff00"/>
              </a:solidFill>
              <a:effectLst/>
              <a:uFillTx/>
              <a:latin typeface="Times New Roman"/>
            </a:endParaRPr>
          </a:p>
          <a:p>
            <a:pPr marL="343080" indent="-343080" algn="just">
              <a:lnSpc>
                <a:spcPct val="10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la nature de la commande nerveuse</a:t>
            </a:r>
            <a:endParaRPr b="0" lang="en-US" sz="2000" strike="noStrike" u="none">
              <a:solidFill>
                <a:srgbClr val="ffff00"/>
              </a:solidFill>
              <a:effectLst/>
              <a:uFillTx/>
              <a:latin typeface="Times New Roman"/>
            </a:endParaRPr>
          </a:p>
          <a:p>
            <a:pPr marL="343080" indent="-343080" algn="just">
              <a:lnSpc>
                <a:spcPct val="10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le synchronisme des unités motrices entre elles</a:t>
            </a:r>
            <a:endParaRPr b="0" lang="en-US" sz="2000" strike="noStrike" u="none">
              <a:solidFill>
                <a:srgbClr val="ffff00"/>
              </a:solidFill>
              <a:effectLst/>
              <a:uFillTx/>
              <a:latin typeface="Times New Roman"/>
            </a:endParaRPr>
          </a:p>
          <a:p>
            <a:pPr marL="343080" indent="-343080" algn="just">
              <a:lnSpc>
                <a:spcPct val="10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les réserves en phosphagènes (ATP-PCr) disponibles</a:t>
            </a:r>
            <a:endParaRPr b="0" lang="en-US" sz="2000" strike="noStrike" u="none">
              <a:solidFill>
                <a:srgbClr val="ffff00"/>
              </a:solidFill>
              <a:effectLst/>
              <a:uFillTx/>
              <a:latin typeface="Times New Roman"/>
            </a:endParaRPr>
          </a:p>
          <a:p>
            <a:pPr marL="343080" indent="-343080" algn="just">
              <a:lnSpc>
                <a:spcPct val="10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les qualités élastiques du (ou des) muscle(s) mis en jeu</a:t>
            </a:r>
            <a:endParaRPr b="0" lang="en-US" sz="2000" strike="noStrike" u="none">
              <a:solidFill>
                <a:srgbClr val="ffff00"/>
              </a:solidFill>
              <a:effectLst/>
              <a:uFillTx/>
              <a:latin typeface="Times New Roman"/>
            </a:endParaRPr>
          </a:p>
          <a:p>
            <a:pPr marL="343080" indent="-343080" algn="just">
              <a:lnSpc>
                <a:spcPct val="10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et, la possibilité de liaison force-vitesse des muscles sollicités.</a:t>
            </a:r>
            <a:endParaRPr b="0" lang="en-US" sz="2000" strike="noStrike" u="none">
              <a:solidFill>
                <a:srgbClr val="ffff00"/>
              </a:solidFill>
              <a:effectLst/>
              <a:uFillTx/>
              <a:latin typeface="Times New Roman"/>
            </a:endParaRPr>
          </a:p>
          <a:p>
            <a:pPr marL="343080" indent="0" algn="just">
              <a:lnSpc>
                <a:spcPct val="10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marL="343080" indent="-343080" algn="just">
              <a:lnSpc>
                <a:spcPct val="100000"/>
              </a:lnSpc>
              <a:spcBef>
                <a:spcPts val="499"/>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Dans la plupart des épreuves qui évaluent la puissance musculaire (encore appelée "force explosive"), c'est l'ensemble de ces qualités qui est pris en compte.</a:t>
            </a:r>
            <a:endParaRPr b="0" lang="en-US" sz="2000" strike="noStrike" u="none">
              <a:solidFill>
                <a:srgbClr val="ffff00"/>
              </a:solidFill>
              <a:effectLst/>
              <a:uFillTx/>
              <a:latin typeface="Times New Roman"/>
            </a:endParaRPr>
          </a:p>
        </p:txBody>
      </p:sp>
      <p:sp>
        <p:nvSpPr>
          <p:cNvPr id="1674" name="Text Box 3"/>
          <p:cNvSpPr/>
          <p:nvPr/>
        </p:nvSpPr>
        <p:spPr>
          <a:xfrm>
            <a:off x="720" y="604800"/>
            <a:ext cx="91234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FACTEURS DONT DEPEND LA PUISSANCE MUSCULAIRE</a:t>
            </a:r>
            <a:endParaRPr b="0" lang="en-US" sz="2400" strike="noStrike" u="none">
              <a:solidFill>
                <a:srgbClr val="ffff00"/>
              </a:solidFill>
              <a:effectLst/>
              <a:uFillTx/>
              <a:latin typeface="Times New Roman"/>
            </a:endParaRPr>
          </a:p>
        </p:txBody>
      </p:sp>
    </p:spTree>
  </p:cSld>
  <p:transition spd="med">
    <p:zoom dir="out"/>
  </p:transition>
  <p:timing>
    <p:tnLst>
      <p:par>
        <p:cTn id="1858" dur="indefinite" restart="never" nodeType="tmRoot">
          <p:childTnLst>
            <p:seq>
              <p:cTn id="1859" dur="indefinite" nodeType="mainSeq">
                <p:childTnLst>
                  <p:par>
                    <p:cTn id="1860" nodeType="clickEffect" fill="hold">
                      <p:stCondLst>
                        <p:cond delay="0"/>
                      </p:stCondLst>
                      <p:childTnLst>
                        <p:par>
                          <p:cTn id="1861" nodeType="withEffect" fill="hold">
                            <p:stCondLst>
                              <p:cond delay="0"/>
                            </p:stCondLst>
                            <p:childTnLst>
                              <p:par>
                                <p:cTn id="1862" nodeType="afterEffect" fill="hold" presetClass="entr" presetID="9">
                                  <p:stCondLst>
                                    <p:cond delay="0"/>
                                  </p:stCondLst>
                                  <p:iterate type="wd">
                                    <p:tmAbs val="300"/>
                                  </p:iterate>
                                  <p:childTnLst>
                                    <p:set>
                                      <p:cBhvr>
                                        <p:cTn id="1863" dur="1" fill="hold">
                                          <p:stCondLst>
                                            <p:cond delay="0"/>
                                          </p:stCondLst>
                                        </p:cTn>
                                        <p:tgtEl>
                                          <p:spTgt spid="1674"/>
                                        </p:tgtEl>
                                        <p:attrNameLst>
                                          <p:attrName>style.visibility</p:attrName>
                                        </p:attrNameLst>
                                      </p:cBhvr>
                                      <p:to>
                                        <p:strVal val="visible"/>
                                      </p:to>
                                    </p:set>
                                    <p:animEffect filter="dissolve" transition="in">
                                      <p:cBhvr additive="repl">
                                        <p:cTn id="1864" dur="300"/>
                                        <p:tgtEl>
                                          <p:spTgt spid="1674"/>
                                        </p:tgtEl>
                                      </p:cBhvr>
                                    </p:animEffect>
                                  </p:childTnLst>
                                </p:cTn>
                              </p:par>
                            </p:childTnLst>
                          </p:cTn>
                        </p:par>
                      </p:childTnLst>
                    </p:cTn>
                  </p:par>
                  <p:par>
                    <p:cTn id="1865" nodeType="clickEffect" fill="hold">
                      <p:stCondLst>
                        <p:cond delay="indefinite"/>
                      </p:stCondLst>
                      <p:childTnLst>
                        <p:par>
                          <p:cTn id="1866" nodeType="withEffect" fill="hold">
                            <p:stCondLst>
                              <p:cond delay="0"/>
                            </p:stCondLst>
                            <p:childTnLst>
                              <p:par>
                                <p:cTn id="1867" nodeType="clickEffect" fill="hold" presetClass="entr" presetID="9">
                                  <p:stCondLst>
                                    <p:cond delay="0"/>
                                  </p:stCondLst>
                                  <p:iterate type="wd">
                                    <p:tmAbs val="300"/>
                                  </p:iterate>
                                  <p:childTnLst>
                                    <p:set>
                                      <p:cBhvr>
                                        <p:cTn id="1868" dur="1" fill="hold">
                                          <p:stCondLst>
                                            <p:cond delay="0"/>
                                          </p:stCondLst>
                                        </p:cTn>
                                        <p:tgtEl>
                                          <p:spTgt spid="1673">
                                            <p:txEl>
                                              <p:pRg st="1" end="1"/>
                                            </p:txEl>
                                          </p:spTgt>
                                        </p:tgtEl>
                                        <p:attrNameLst>
                                          <p:attrName>style.visibility</p:attrName>
                                        </p:attrNameLst>
                                      </p:cBhvr>
                                      <p:to>
                                        <p:strVal val="visible"/>
                                      </p:to>
                                    </p:set>
                                    <p:animEffect filter="dissolve" transition="in">
                                      <p:cBhvr additive="repl">
                                        <p:cTn id="1869" dur="300"/>
                                        <p:tgtEl>
                                          <p:spTgt spid="1673">
                                            <p:txEl>
                                              <p:pRg st="1" end="1"/>
                                            </p:txEl>
                                          </p:spTgt>
                                        </p:tgtEl>
                                      </p:cBhvr>
                                    </p:animEffect>
                                  </p:childTnLst>
                                </p:cTn>
                              </p:par>
                            </p:childTnLst>
                          </p:cTn>
                        </p:par>
                      </p:childTnLst>
                    </p:cTn>
                  </p:par>
                  <p:par>
                    <p:cTn id="1870" nodeType="clickEffect" fill="hold">
                      <p:stCondLst>
                        <p:cond delay="indefinite"/>
                      </p:stCondLst>
                      <p:childTnLst>
                        <p:par>
                          <p:cTn id="1871" nodeType="withEffect" fill="hold">
                            <p:stCondLst>
                              <p:cond delay="0"/>
                            </p:stCondLst>
                            <p:childTnLst>
                              <p:par>
                                <p:cTn id="1872" nodeType="clickEffect" fill="hold" presetClass="entr" presetID="9">
                                  <p:stCondLst>
                                    <p:cond delay="0"/>
                                  </p:stCondLst>
                                  <p:iterate type="wd">
                                    <p:tmAbs val="300"/>
                                  </p:iterate>
                                  <p:childTnLst>
                                    <p:set>
                                      <p:cBhvr>
                                        <p:cTn id="1873" dur="1" fill="hold">
                                          <p:stCondLst>
                                            <p:cond delay="0"/>
                                          </p:stCondLst>
                                        </p:cTn>
                                        <p:tgtEl>
                                          <p:spTgt spid="1673">
                                            <p:txEl>
                                              <p:pRg st="2" end="2"/>
                                            </p:txEl>
                                          </p:spTgt>
                                        </p:tgtEl>
                                        <p:attrNameLst>
                                          <p:attrName>style.visibility</p:attrName>
                                        </p:attrNameLst>
                                      </p:cBhvr>
                                      <p:to>
                                        <p:strVal val="visible"/>
                                      </p:to>
                                    </p:set>
                                    <p:animEffect filter="dissolve" transition="in">
                                      <p:cBhvr additive="repl">
                                        <p:cTn id="1874" dur="300"/>
                                        <p:tgtEl>
                                          <p:spTgt spid="1673">
                                            <p:txEl>
                                              <p:pRg st="2" end="2"/>
                                            </p:txEl>
                                          </p:spTgt>
                                        </p:tgtEl>
                                      </p:cBhvr>
                                    </p:animEffect>
                                  </p:childTnLst>
                                </p:cTn>
                              </p:par>
                            </p:childTnLst>
                          </p:cTn>
                        </p:par>
                      </p:childTnLst>
                    </p:cTn>
                  </p:par>
                  <p:par>
                    <p:cTn id="1875" nodeType="clickEffect" fill="hold">
                      <p:stCondLst>
                        <p:cond delay="indefinite"/>
                      </p:stCondLst>
                      <p:childTnLst>
                        <p:par>
                          <p:cTn id="1876" nodeType="withEffect" fill="hold">
                            <p:stCondLst>
                              <p:cond delay="0"/>
                            </p:stCondLst>
                            <p:childTnLst>
                              <p:par>
                                <p:cTn id="1877" nodeType="clickEffect" fill="hold" presetClass="entr" presetID="9">
                                  <p:stCondLst>
                                    <p:cond delay="0"/>
                                  </p:stCondLst>
                                  <p:iterate type="wd">
                                    <p:tmAbs val="300"/>
                                  </p:iterate>
                                  <p:childTnLst>
                                    <p:set>
                                      <p:cBhvr>
                                        <p:cTn id="1878" dur="1" fill="hold">
                                          <p:stCondLst>
                                            <p:cond delay="0"/>
                                          </p:stCondLst>
                                        </p:cTn>
                                        <p:tgtEl>
                                          <p:spTgt spid="1673">
                                            <p:txEl>
                                              <p:pRg st="3" end="3"/>
                                            </p:txEl>
                                          </p:spTgt>
                                        </p:tgtEl>
                                        <p:attrNameLst>
                                          <p:attrName>style.visibility</p:attrName>
                                        </p:attrNameLst>
                                      </p:cBhvr>
                                      <p:to>
                                        <p:strVal val="visible"/>
                                      </p:to>
                                    </p:set>
                                    <p:animEffect filter="dissolve" transition="in">
                                      <p:cBhvr additive="repl">
                                        <p:cTn id="1879" dur="300"/>
                                        <p:tgtEl>
                                          <p:spTgt spid="1673">
                                            <p:txEl>
                                              <p:pRg st="3" end="3"/>
                                            </p:txEl>
                                          </p:spTgt>
                                        </p:tgtEl>
                                      </p:cBhvr>
                                    </p:animEffect>
                                  </p:childTnLst>
                                </p:cTn>
                              </p:par>
                            </p:childTnLst>
                          </p:cTn>
                        </p:par>
                      </p:childTnLst>
                    </p:cTn>
                  </p:par>
                  <p:par>
                    <p:cTn id="1880" nodeType="clickEffect" fill="hold">
                      <p:stCondLst>
                        <p:cond delay="indefinite"/>
                      </p:stCondLst>
                      <p:childTnLst>
                        <p:par>
                          <p:cTn id="1881" nodeType="withEffect" fill="hold">
                            <p:stCondLst>
                              <p:cond delay="0"/>
                            </p:stCondLst>
                            <p:childTnLst>
                              <p:par>
                                <p:cTn id="1882" nodeType="clickEffect" fill="hold" presetClass="entr" presetID="9">
                                  <p:stCondLst>
                                    <p:cond delay="0"/>
                                  </p:stCondLst>
                                  <p:iterate type="wd">
                                    <p:tmAbs val="300"/>
                                  </p:iterate>
                                  <p:childTnLst>
                                    <p:set>
                                      <p:cBhvr>
                                        <p:cTn id="1883" dur="1" fill="hold">
                                          <p:stCondLst>
                                            <p:cond delay="0"/>
                                          </p:stCondLst>
                                        </p:cTn>
                                        <p:tgtEl>
                                          <p:spTgt spid="1673">
                                            <p:txEl>
                                              <p:pRg st="4" end="4"/>
                                            </p:txEl>
                                          </p:spTgt>
                                        </p:tgtEl>
                                        <p:attrNameLst>
                                          <p:attrName>style.visibility</p:attrName>
                                        </p:attrNameLst>
                                      </p:cBhvr>
                                      <p:to>
                                        <p:strVal val="visible"/>
                                      </p:to>
                                    </p:set>
                                    <p:animEffect filter="dissolve" transition="in">
                                      <p:cBhvr additive="repl">
                                        <p:cTn id="1884" dur="300"/>
                                        <p:tgtEl>
                                          <p:spTgt spid="1673">
                                            <p:txEl>
                                              <p:pRg st="4" end="4"/>
                                            </p:txEl>
                                          </p:spTgt>
                                        </p:tgtEl>
                                      </p:cBhvr>
                                    </p:animEffect>
                                  </p:childTnLst>
                                </p:cTn>
                              </p:par>
                            </p:childTnLst>
                          </p:cTn>
                        </p:par>
                      </p:childTnLst>
                    </p:cTn>
                  </p:par>
                  <p:par>
                    <p:cTn id="1885" nodeType="clickEffect" fill="hold">
                      <p:stCondLst>
                        <p:cond delay="indefinite"/>
                      </p:stCondLst>
                      <p:childTnLst>
                        <p:par>
                          <p:cTn id="1886" nodeType="withEffect" fill="hold">
                            <p:stCondLst>
                              <p:cond delay="0"/>
                            </p:stCondLst>
                            <p:childTnLst>
                              <p:par>
                                <p:cTn id="1887" nodeType="clickEffect" fill="hold" presetClass="entr" presetID="9">
                                  <p:stCondLst>
                                    <p:cond delay="0"/>
                                  </p:stCondLst>
                                  <p:iterate type="wd">
                                    <p:tmAbs val="300"/>
                                  </p:iterate>
                                  <p:childTnLst>
                                    <p:set>
                                      <p:cBhvr>
                                        <p:cTn id="1888" dur="1" fill="hold">
                                          <p:stCondLst>
                                            <p:cond delay="0"/>
                                          </p:stCondLst>
                                        </p:cTn>
                                        <p:tgtEl>
                                          <p:spTgt spid="1673">
                                            <p:txEl>
                                              <p:pRg st="5" end="5"/>
                                            </p:txEl>
                                          </p:spTgt>
                                        </p:tgtEl>
                                        <p:attrNameLst>
                                          <p:attrName>style.visibility</p:attrName>
                                        </p:attrNameLst>
                                      </p:cBhvr>
                                      <p:to>
                                        <p:strVal val="visible"/>
                                      </p:to>
                                    </p:set>
                                    <p:animEffect filter="dissolve" transition="in">
                                      <p:cBhvr additive="repl">
                                        <p:cTn id="1889" dur="300"/>
                                        <p:tgtEl>
                                          <p:spTgt spid="1673">
                                            <p:txEl>
                                              <p:pRg st="5" end="5"/>
                                            </p:txEl>
                                          </p:spTgt>
                                        </p:tgtEl>
                                      </p:cBhvr>
                                    </p:animEffect>
                                  </p:childTnLst>
                                </p:cTn>
                              </p:par>
                            </p:childTnLst>
                          </p:cTn>
                        </p:par>
                      </p:childTnLst>
                    </p:cTn>
                  </p:par>
                  <p:par>
                    <p:cTn id="1890" nodeType="clickEffect" fill="hold">
                      <p:stCondLst>
                        <p:cond delay="indefinite"/>
                      </p:stCondLst>
                      <p:childTnLst>
                        <p:par>
                          <p:cTn id="1891" nodeType="withEffect" fill="hold">
                            <p:stCondLst>
                              <p:cond delay="0"/>
                            </p:stCondLst>
                            <p:childTnLst>
                              <p:par>
                                <p:cTn id="1892" nodeType="clickEffect" fill="hold" presetClass="entr" presetID="9">
                                  <p:stCondLst>
                                    <p:cond delay="0"/>
                                  </p:stCondLst>
                                  <p:iterate type="wd">
                                    <p:tmAbs val="300"/>
                                  </p:iterate>
                                  <p:childTnLst>
                                    <p:set>
                                      <p:cBhvr>
                                        <p:cTn id="1893" dur="1" fill="hold">
                                          <p:stCondLst>
                                            <p:cond delay="0"/>
                                          </p:stCondLst>
                                        </p:cTn>
                                        <p:tgtEl>
                                          <p:spTgt spid="1673">
                                            <p:txEl>
                                              <p:pRg st="6" end="6"/>
                                            </p:txEl>
                                          </p:spTgt>
                                        </p:tgtEl>
                                        <p:attrNameLst>
                                          <p:attrName>style.visibility</p:attrName>
                                        </p:attrNameLst>
                                      </p:cBhvr>
                                      <p:to>
                                        <p:strVal val="visible"/>
                                      </p:to>
                                    </p:set>
                                    <p:animEffect filter="dissolve" transition="in">
                                      <p:cBhvr additive="repl">
                                        <p:cTn id="1894" dur="300"/>
                                        <p:tgtEl>
                                          <p:spTgt spid="1673">
                                            <p:txEl>
                                              <p:pRg st="6" end="6"/>
                                            </p:txEl>
                                          </p:spTgt>
                                        </p:tgtEl>
                                      </p:cBhvr>
                                    </p:animEffect>
                                  </p:childTnLst>
                                </p:cTn>
                              </p:par>
                            </p:childTnLst>
                          </p:cTn>
                        </p:par>
                      </p:childTnLst>
                    </p:cTn>
                  </p:par>
                  <p:par>
                    <p:cTn id="1895" nodeType="clickEffect" fill="hold">
                      <p:stCondLst>
                        <p:cond delay="indefinite"/>
                      </p:stCondLst>
                      <p:childTnLst>
                        <p:par>
                          <p:cTn id="1896" nodeType="withEffect" fill="hold">
                            <p:stCondLst>
                              <p:cond delay="0"/>
                            </p:stCondLst>
                            <p:childTnLst>
                              <p:par>
                                <p:cTn id="1897" nodeType="clickEffect" fill="hold" presetClass="entr" presetID="9">
                                  <p:stCondLst>
                                    <p:cond delay="0"/>
                                  </p:stCondLst>
                                  <p:iterate type="wd">
                                    <p:tmAbs val="300"/>
                                  </p:iterate>
                                  <p:childTnLst>
                                    <p:set>
                                      <p:cBhvr>
                                        <p:cTn id="1898" dur="1" fill="hold">
                                          <p:stCondLst>
                                            <p:cond delay="0"/>
                                          </p:stCondLst>
                                        </p:cTn>
                                        <p:tgtEl>
                                          <p:spTgt spid="1673">
                                            <p:txEl>
                                              <p:pRg st="7" end="7"/>
                                            </p:txEl>
                                          </p:spTgt>
                                        </p:tgtEl>
                                        <p:attrNameLst>
                                          <p:attrName>style.visibility</p:attrName>
                                        </p:attrNameLst>
                                      </p:cBhvr>
                                      <p:to>
                                        <p:strVal val="visible"/>
                                      </p:to>
                                    </p:set>
                                    <p:animEffect filter="dissolve" transition="in">
                                      <p:cBhvr additive="repl">
                                        <p:cTn id="1899" dur="300"/>
                                        <p:tgtEl>
                                          <p:spTgt spid="1673">
                                            <p:txEl>
                                              <p:pRg st="7" end="7"/>
                                            </p:txEl>
                                          </p:spTgt>
                                        </p:tgtEl>
                                      </p:cBhvr>
                                    </p:animEffect>
                                  </p:childTnLst>
                                </p:cTn>
                              </p:par>
                            </p:childTnLst>
                          </p:cTn>
                        </p:par>
                      </p:childTnLst>
                    </p:cTn>
                  </p:par>
                  <p:par>
                    <p:cTn id="1900" nodeType="clickEffect" fill="hold">
                      <p:stCondLst>
                        <p:cond delay="indefinite"/>
                      </p:stCondLst>
                      <p:childTnLst>
                        <p:par>
                          <p:cTn id="1901" nodeType="withEffect" fill="hold">
                            <p:stCondLst>
                              <p:cond delay="0"/>
                            </p:stCondLst>
                            <p:childTnLst>
                              <p:par>
                                <p:cTn id="1902" nodeType="clickEffect" fill="hold" presetClass="entr" presetID="9">
                                  <p:stCondLst>
                                    <p:cond delay="0"/>
                                  </p:stCondLst>
                                  <p:iterate type="wd">
                                    <p:tmAbs val="300"/>
                                  </p:iterate>
                                  <p:childTnLst>
                                    <p:set>
                                      <p:cBhvr>
                                        <p:cTn id="1903" dur="1" fill="hold">
                                          <p:stCondLst>
                                            <p:cond delay="0"/>
                                          </p:stCondLst>
                                        </p:cTn>
                                        <p:tgtEl>
                                          <p:spTgt spid="1673">
                                            <p:txEl>
                                              <p:pRg st="8" end="8"/>
                                            </p:txEl>
                                          </p:spTgt>
                                        </p:tgtEl>
                                        <p:attrNameLst>
                                          <p:attrName>style.visibility</p:attrName>
                                        </p:attrNameLst>
                                      </p:cBhvr>
                                      <p:to>
                                        <p:strVal val="visible"/>
                                      </p:to>
                                    </p:set>
                                    <p:animEffect filter="dissolve" transition="in">
                                      <p:cBhvr additive="repl">
                                        <p:cTn id="1904" dur="300"/>
                                        <p:tgtEl>
                                          <p:spTgt spid="1673">
                                            <p:txEl>
                                              <p:pRg st="8" end="8"/>
                                            </p:txEl>
                                          </p:spTgt>
                                        </p:tgtEl>
                                      </p:cBhvr>
                                    </p:animEffect>
                                  </p:childTnLst>
                                </p:cTn>
                              </p:par>
                            </p:childTnLst>
                          </p:cTn>
                        </p:par>
                      </p:childTnLst>
                    </p:cTn>
                  </p:par>
                  <p:par>
                    <p:cTn id="1905" nodeType="clickEffect" fill="hold">
                      <p:stCondLst>
                        <p:cond delay="indefinite"/>
                      </p:stCondLst>
                      <p:childTnLst>
                        <p:par>
                          <p:cTn id="1906" nodeType="withEffect" fill="hold">
                            <p:stCondLst>
                              <p:cond delay="0"/>
                            </p:stCondLst>
                            <p:childTnLst>
                              <p:par>
                                <p:cTn id="1907" nodeType="clickEffect" fill="hold" presetClass="entr" presetID="9">
                                  <p:stCondLst>
                                    <p:cond delay="0"/>
                                  </p:stCondLst>
                                  <p:iterate type="wd">
                                    <p:tmAbs val="300"/>
                                  </p:iterate>
                                  <p:childTnLst>
                                    <p:set>
                                      <p:cBhvr>
                                        <p:cTn id="1908" dur="1" fill="hold">
                                          <p:stCondLst>
                                            <p:cond delay="0"/>
                                          </p:stCondLst>
                                        </p:cTn>
                                        <p:tgtEl>
                                          <p:spTgt spid="1673">
                                            <p:txEl>
                                              <p:pRg st="10" end="10"/>
                                            </p:txEl>
                                          </p:spTgt>
                                        </p:tgtEl>
                                        <p:attrNameLst>
                                          <p:attrName>style.visibility</p:attrName>
                                        </p:attrNameLst>
                                      </p:cBhvr>
                                      <p:to>
                                        <p:strVal val="visible"/>
                                      </p:to>
                                    </p:set>
                                    <p:animEffect filter="dissolve" transition="in">
                                      <p:cBhvr additive="repl">
                                        <p:cTn id="1909" dur="300"/>
                                        <p:tgtEl>
                                          <p:spTgt spid="1673">
                                            <p:txEl>
                                              <p:pRg st="10" end="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675" name="Object 2"/>
          <p:cNvGraphicFramePr/>
          <p:nvPr/>
        </p:nvGraphicFramePr>
        <p:xfrm>
          <a:off x="1600200" y="685800"/>
          <a:ext cx="5097600" cy="6019920"/>
        </p:xfrm>
        <a:graphic>
          <a:graphicData uri="http://schemas.openxmlformats.org/presentationml/2006/ole">
            <p:oleObj r:id="rId1" spid="">
              <p:embed/>
              <p:pic>
                <p:nvPicPr>
                  <p:cNvPr id="1676" name="Object 2" descr=""/>
                  <p:cNvPicPr/>
                  <p:nvPr/>
                </p:nvPicPr>
                <p:blipFill>
                  <a:blip r:embed="rId2"/>
                  <a:stretch/>
                </p:blipFill>
                <p:spPr>
                  <a:xfrm>
                    <a:off x="1600200" y="685800"/>
                    <a:ext cx="5097600" cy="6019920"/>
                  </a:xfrm>
                  <a:prstGeom prst="rect">
                    <a:avLst/>
                  </a:prstGeom>
                  <a:noFill/>
                  <a:ln w="0">
                    <a:noFill/>
                  </a:ln>
                </p:spPr>
              </p:pic>
            </p:oleObj>
          </a:graphicData>
        </a:graphic>
      </p:graphicFrame>
      <p:sp>
        <p:nvSpPr>
          <p:cNvPr id="1677" name="Rectangle 3"/>
          <p:cNvSpPr/>
          <p:nvPr/>
        </p:nvSpPr>
        <p:spPr>
          <a:xfrm>
            <a:off x="3295800" y="1676520"/>
            <a:ext cx="1276200" cy="99036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Garçons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Filles</a:t>
            </a:r>
            <a:endParaRPr b="0" lang="en-US" sz="1600" strike="noStrike" u="none">
              <a:solidFill>
                <a:srgbClr val="ffff00"/>
              </a:solidFill>
              <a:effectLst/>
              <a:uFillTx/>
              <a:latin typeface="Times New Roman"/>
            </a:endParaRPr>
          </a:p>
        </p:txBody>
      </p:sp>
      <p:sp>
        <p:nvSpPr>
          <p:cNvPr id="1678" name="Rectangle 4"/>
          <p:cNvSpPr/>
          <p:nvPr/>
        </p:nvSpPr>
        <p:spPr>
          <a:xfrm>
            <a:off x="3200400" y="6248520"/>
            <a:ext cx="2514600" cy="3808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Age (années)</a:t>
            </a:r>
            <a:endParaRPr b="0" lang="en-US" sz="2400" strike="noStrike" u="none">
              <a:solidFill>
                <a:srgbClr val="ffff00"/>
              </a:solidFill>
              <a:effectLst/>
              <a:uFillTx/>
              <a:latin typeface="Times New Roman"/>
            </a:endParaRPr>
          </a:p>
        </p:txBody>
      </p:sp>
      <p:sp>
        <p:nvSpPr>
          <p:cNvPr id="1679" name="Rectangle 5"/>
          <p:cNvSpPr/>
          <p:nvPr/>
        </p:nvSpPr>
        <p:spPr>
          <a:xfrm rot="16198200">
            <a:off x="792000" y="3550680"/>
            <a:ext cx="1979640" cy="36360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Distance (cm)</a:t>
            </a:r>
            <a:endParaRPr b="0" lang="en-US" sz="2000" strike="noStrike" u="none">
              <a:solidFill>
                <a:srgbClr val="ffff00"/>
              </a:solidFill>
              <a:effectLst/>
              <a:uFillTx/>
              <a:latin typeface="Times New Roman"/>
            </a:endParaRPr>
          </a:p>
        </p:txBody>
      </p:sp>
      <p:sp>
        <p:nvSpPr>
          <p:cNvPr id="1680" name="Rectangle 6"/>
          <p:cNvSpPr/>
          <p:nvPr/>
        </p:nvSpPr>
        <p:spPr>
          <a:xfrm>
            <a:off x="1981080" y="1219320"/>
            <a:ext cx="547920" cy="464796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243</a:t>
            </a:r>
            <a:endParaRPr b="0" lang="en-US" sz="20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232</a:t>
            </a:r>
            <a:endParaRPr b="0" lang="en-US" sz="20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213</a:t>
            </a:r>
            <a:endParaRPr b="0" lang="en-US" sz="2000" strike="noStrike" u="none">
              <a:solidFill>
                <a:srgbClr val="ffff00"/>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201</a:t>
            </a:r>
            <a:endParaRPr b="0" lang="en-US" sz="2000" strike="noStrike" u="none">
              <a:solidFill>
                <a:srgbClr val="ffff00"/>
              </a:solidFill>
              <a:effectLst/>
              <a:uFillTx/>
              <a:latin typeface="Times New Roman"/>
            </a:endParaRPr>
          </a:p>
          <a:p>
            <a:pPr algn="ct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183</a:t>
            </a:r>
            <a:endParaRPr b="0" lang="en-US" sz="2000" strike="noStrike" u="none">
              <a:solidFill>
                <a:srgbClr val="ffff00"/>
              </a:solidFill>
              <a:effectLst/>
              <a:uFillTx/>
              <a:latin typeface="Times New Roman"/>
            </a:endParaRPr>
          </a:p>
          <a:p>
            <a:pPr algn="ct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170</a:t>
            </a: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152</a:t>
            </a: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140</a:t>
            </a: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122</a:t>
            </a:r>
            <a:endParaRPr b="0" lang="en-US" sz="2000" strike="noStrike" u="none">
              <a:solidFill>
                <a:srgbClr val="ffff00"/>
              </a:solidFill>
              <a:effectLst/>
              <a:uFillTx/>
              <a:latin typeface="Times New Roman"/>
            </a:endParaRPr>
          </a:p>
          <a:p>
            <a:pPr algn="ct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110</a:t>
            </a:r>
            <a:endParaRPr b="0" lang="en-US" sz="2000" strike="noStrike" u="none">
              <a:solidFill>
                <a:srgbClr val="ffff00"/>
              </a:solidFill>
              <a:effectLst/>
              <a:uFillTx/>
              <a:latin typeface="Times New Roman"/>
            </a:endParaRPr>
          </a:p>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91</a:t>
            </a:r>
            <a:endParaRPr b="0" lang="en-US" sz="2000" strike="noStrike" u="none">
              <a:solidFill>
                <a:srgbClr val="ffff00"/>
              </a:solidFill>
              <a:effectLst/>
              <a:uFillTx/>
              <a:latin typeface="Times New Roman"/>
            </a:endParaRPr>
          </a:p>
        </p:txBody>
      </p:sp>
      <p:sp>
        <p:nvSpPr>
          <p:cNvPr id="1681" name="Rectangle 7"/>
          <p:cNvSpPr/>
          <p:nvPr/>
        </p:nvSpPr>
        <p:spPr>
          <a:xfrm>
            <a:off x="3200400" y="838080"/>
            <a:ext cx="2827440" cy="60984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Saut en longueur</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sans élan </a:t>
            </a:r>
            <a:endParaRPr b="0" lang="en-US" sz="2000" strike="noStrike" u="none">
              <a:solidFill>
                <a:srgbClr val="ffff00"/>
              </a:solidFill>
              <a:effectLst/>
              <a:uFillTx/>
              <a:latin typeface="Times New Roman"/>
            </a:endParaRPr>
          </a:p>
        </p:txBody>
      </p:sp>
      <p:sp>
        <p:nvSpPr>
          <p:cNvPr id="1682" name="Text Box 14"/>
          <p:cNvSpPr/>
          <p:nvPr/>
        </p:nvSpPr>
        <p:spPr>
          <a:xfrm>
            <a:off x="685800" y="152280"/>
            <a:ext cx="721980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PUISSANCE DES MEMBRES INFERIEURS</a:t>
            </a:r>
            <a:endParaRPr b="0" lang="en-US" sz="2000" strike="noStrike" u="none">
              <a:solidFill>
                <a:srgbClr val="ffff00"/>
              </a:solidFill>
              <a:effectLst/>
              <a:uFillTx/>
              <a:latin typeface="Times New Roman"/>
            </a:endParaRPr>
          </a:p>
        </p:txBody>
      </p:sp>
    </p:spTree>
  </p:cSld>
  <p:transition spd="med">
    <p:zoom dir="out"/>
  </p:transition>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3" name="Text Box 2"/>
          <p:cNvSpPr/>
          <p:nvPr/>
        </p:nvSpPr>
        <p:spPr>
          <a:xfrm>
            <a:off x="3555720" y="3048120"/>
            <a:ext cx="40942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ffff00"/>
                </a:solidFill>
                <a:effectLst/>
                <a:uFillTx/>
                <a:latin typeface="Comic Sans MS"/>
              </a:rPr>
              <a:t>L ’endurance musculaire</a:t>
            </a:r>
            <a:endParaRPr b="0" lang="en-US" sz="3600" strike="noStrike" u="none">
              <a:solidFill>
                <a:srgbClr val="ffff00"/>
              </a:solidFill>
              <a:effectLst/>
              <a:uFillTx/>
              <a:latin typeface="Times New Roman"/>
            </a:endParaRPr>
          </a:p>
        </p:txBody>
      </p:sp>
    </p:spTree>
  </p:cSld>
  <p:transition spd="med">
    <p:zoom dir="out"/>
  </p:transition>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4" name="PlaceHolder 1"/>
          <p:cNvSpPr>
            <a:spLocks noGrp="1"/>
          </p:cNvSpPr>
          <p:nvPr>
            <p:ph type="title"/>
          </p:nvPr>
        </p:nvSpPr>
        <p:spPr>
          <a:xfrm>
            <a:off x="0" y="380520"/>
            <a:ext cx="9144000" cy="68580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fff00"/>
                </a:solidFill>
                <a:effectLst/>
                <a:uFillTx/>
                <a:latin typeface="Arial"/>
              </a:rPr>
              <a:t>Définitions de l ’endurance musculaire</a:t>
            </a:r>
            <a:endParaRPr b="0" lang="en-US" sz="2800" strike="noStrike" u="none">
              <a:solidFill>
                <a:srgbClr val="ffffff"/>
              </a:solidFill>
              <a:effectLst/>
              <a:uFillTx/>
              <a:latin typeface="Times New Roman"/>
            </a:endParaRPr>
          </a:p>
        </p:txBody>
      </p:sp>
      <p:sp>
        <p:nvSpPr>
          <p:cNvPr id="1685" name="Text Box 4"/>
          <p:cNvSpPr/>
          <p:nvPr/>
        </p:nvSpPr>
        <p:spPr>
          <a:xfrm>
            <a:off x="152280" y="1219320"/>
            <a:ext cx="8991720" cy="1983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s-ES" sz="2000" strike="noStrike" u="none">
                <a:solidFill>
                  <a:srgbClr val="6600ff"/>
                </a:solidFill>
                <a:effectLst/>
                <a:uFillTx/>
                <a:latin typeface="Arial"/>
              </a:rPr>
              <a:t>	</a:t>
            </a:r>
            <a:endParaRPr b="0" lang="en-US" sz="2000" strike="noStrike" u="none">
              <a:solidFill>
                <a:srgbClr val="ffff00"/>
              </a:solidFill>
              <a:effectLst/>
              <a:uFillTx/>
              <a:latin typeface="Times New Roman"/>
            </a:endParaRPr>
          </a:p>
          <a:p>
            <a:pPr>
              <a:lnSpc>
                <a:spcPts val="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2000" strike="noStrike" u="none">
              <a:solidFill>
                <a:srgbClr val="ffff00"/>
              </a:solidFill>
              <a:effectLst/>
              <a:uFillTx/>
              <a:latin typeface="Times New Roman"/>
            </a:endParaRPr>
          </a:p>
          <a:p>
            <a:pPr>
              <a:lnSpc>
                <a:spcPct val="8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s-ES" sz="2000" strike="noStrike" u="none">
                <a:solidFill>
                  <a:srgbClr val="669900"/>
                </a:solidFill>
                <a:effectLst/>
                <a:uFillTx/>
                <a:latin typeface="Arial"/>
              </a:rPr>
              <a:t>	</a:t>
            </a:r>
            <a:r>
              <a:rPr b="1" lang="es-ES" sz="2000" strike="noStrike" u="none">
                <a:solidFill>
                  <a:srgbClr val="3333cc"/>
                </a:solidFill>
                <a:effectLst/>
                <a:uFillTx/>
                <a:latin typeface="Arial"/>
              </a:rPr>
              <a:t>«L’endurance musculaire peut être définie de deux manières :</a:t>
            </a:r>
            <a:endParaRPr b="0" lang="en-US" sz="2000" strike="noStrike" u="none">
              <a:solidFill>
                <a:srgbClr val="ffff00"/>
              </a:solidFill>
              <a:effectLst/>
              <a:uFillTx/>
              <a:latin typeface="Times New Roman"/>
            </a:endParaRPr>
          </a:p>
          <a:p>
            <a:pPr>
              <a:lnSpc>
                <a:spcPct val="11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i="1" lang="es-ES" sz="2000" strike="noStrike" u="none">
                <a:solidFill>
                  <a:srgbClr val="ffffff"/>
                </a:solidFill>
                <a:effectLst/>
                <a:uFillTx/>
                <a:latin typeface="Arial"/>
              </a:rPr>
              <a:t> comme</a:t>
            </a:r>
            <a:r>
              <a:rPr b="1" i="1" lang="es-ES" sz="2000" strike="noStrike" u="none">
                <a:solidFill>
                  <a:srgbClr val="ccccff"/>
                </a:solidFill>
                <a:effectLst/>
                <a:uFillTx/>
                <a:latin typeface="Arial"/>
              </a:rPr>
              <a:t> </a:t>
            </a:r>
            <a:r>
              <a:rPr b="1" lang="es-ES" sz="2000" strike="noStrike" u="none">
                <a:solidFill>
                  <a:srgbClr val="ffff00"/>
                </a:solidFill>
                <a:effectLst/>
                <a:uFillTx/>
                <a:latin typeface="Arial"/>
              </a:rPr>
              <a:t>la capacité de maintenir le plus longtemps possible un pourcentage    élevé de la puissance maximale. Dans ce cas, les deux variables à retenir sont le </a:t>
            </a:r>
            <a:r>
              <a:rPr b="1" i="1" lang="es-ES" sz="2000" strike="noStrike" u="none">
                <a:solidFill>
                  <a:srgbClr val="ffffff"/>
                </a:solidFill>
                <a:effectLst/>
                <a:uFillTx/>
                <a:latin typeface="Arial"/>
              </a:rPr>
              <a:t>pourcentage et la durée</a:t>
            </a:r>
            <a:r>
              <a:rPr b="1" lang="es-ES" sz="2000" strike="noStrike" u="none">
                <a:solidFill>
                  <a:srgbClr val="ffff00"/>
                </a:solidFill>
                <a:effectLst/>
                <a:uFillTx/>
                <a:latin typeface="Arial"/>
              </a:rPr>
              <a:t> de  maintien de ce pourcentage,</a:t>
            </a:r>
            <a:endParaRPr b="0" lang="en-US" sz="2000" strike="noStrike" u="none">
              <a:solidFill>
                <a:srgbClr val="ffff00"/>
              </a:solidFill>
              <a:effectLst/>
              <a:uFillTx/>
              <a:latin typeface="Times New Roman"/>
            </a:endParaRPr>
          </a:p>
        </p:txBody>
      </p:sp>
      <p:sp>
        <p:nvSpPr>
          <p:cNvPr id="1686" name="Text Box 5"/>
          <p:cNvSpPr/>
          <p:nvPr/>
        </p:nvSpPr>
        <p:spPr>
          <a:xfrm>
            <a:off x="228600" y="3429000"/>
            <a:ext cx="8915400" cy="1313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i="1" lang="es-ES" sz="2000" strike="noStrike" u="none">
                <a:solidFill>
                  <a:srgbClr val="ffffff"/>
                </a:solidFill>
                <a:effectLst/>
                <a:uFillTx/>
                <a:latin typeface="Arial"/>
              </a:rPr>
              <a:t>ou comme</a:t>
            </a:r>
            <a:r>
              <a:rPr b="1" lang="es-ES" sz="2000" strike="noStrike" u="none">
                <a:solidFill>
                  <a:srgbClr val="ffff00"/>
                </a:solidFill>
                <a:effectLst/>
                <a:uFillTx/>
                <a:latin typeface="Arial"/>
              </a:rPr>
              <a:t> la capacité de répéter un nombre élevé de fois , un geste ou une action qui exige de la force : nombre d’abdominaux, de pompes, lutte contre un adversaire, démarrages de vitesse fréquents.... Dans ce cas, la variable à prendre en compte est </a:t>
            </a:r>
            <a:r>
              <a:rPr b="1" i="1" lang="es-ES" sz="2000" strike="noStrike" u="none">
                <a:solidFill>
                  <a:srgbClr val="ffffff"/>
                </a:solidFill>
                <a:effectLst/>
                <a:uFillTx/>
                <a:latin typeface="Arial"/>
              </a:rPr>
              <a:t>le nombre de répétitions</a:t>
            </a:r>
            <a:r>
              <a:rPr b="1" lang="es-ES" sz="2000" strike="noStrike" u="none">
                <a:solidFill>
                  <a:srgbClr val="ffffff"/>
                </a:solidFill>
                <a:effectLst/>
                <a:uFillTx/>
                <a:latin typeface="Arial"/>
              </a:rPr>
              <a:t> </a:t>
            </a:r>
            <a:r>
              <a:rPr b="1" i="1" lang="es-ES" sz="2000" strike="noStrike" u="none">
                <a:solidFill>
                  <a:srgbClr val="ffffff"/>
                </a:solidFill>
                <a:effectLst/>
                <a:uFillTx/>
                <a:latin typeface="Arial"/>
              </a:rPr>
              <a:t> </a:t>
            </a:r>
            <a:r>
              <a:rPr b="1" i="1" lang="es-ES" sz="2000" strike="noStrike" u="none">
                <a:solidFill>
                  <a:srgbClr val="b2b2b2"/>
                </a:solidFill>
                <a:effectLst/>
                <a:uFillTx/>
                <a:latin typeface="Arial"/>
              </a:rPr>
              <a:t>»</a:t>
            </a:r>
            <a:r>
              <a:rPr b="1" lang="es-ES" sz="2000" strike="noStrike" u="none">
                <a:solidFill>
                  <a:srgbClr val="b2b2b2"/>
                </a:solidFill>
                <a:effectLst/>
                <a:uFillTx/>
                <a:latin typeface="Arial"/>
              </a:rPr>
              <a:t>.</a:t>
            </a:r>
            <a:endParaRPr b="0" lang="en-US" sz="2000" strike="noStrike" u="none">
              <a:solidFill>
                <a:srgbClr val="ffff00"/>
              </a:solidFill>
              <a:effectLst/>
              <a:uFillTx/>
              <a:latin typeface="Times New Roman"/>
            </a:endParaRPr>
          </a:p>
        </p:txBody>
      </p:sp>
      <p:sp>
        <p:nvSpPr>
          <p:cNvPr id="1687" name="Text Box 6"/>
          <p:cNvSpPr/>
          <p:nvPr/>
        </p:nvSpPr>
        <p:spPr>
          <a:xfrm>
            <a:off x="228600" y="5105520"/>
            <a:ext cx="8915400" cy="13136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i="1" lang="es-ES" sz="2000" strike="noStrike" u="none">
                <a:solidFill>
                  <a:srgbClr val="ffffff"/>
                </a:solidFill>
                <a:effectLst/>
                <a:uFillTx/>
                <a:latin typeface="Arial"/>
              </a:rPr>
              <a:t>A titre d’exemple, l’endurance musculaire est sollicitée dans de nombreuses actions de la vie quotidienne : monter rapidement des escaliers, déplacer une charge lourde sur une distance importante, bêcher son jardin …</a:t>
            </a:r>
            <a:endParaRPr b="0" lang="en-US" sz="2000" strike="noStrike" u="none">
              <a:solidFill>
                <a:srgbClr val="ffff00"/>
              </a:solidFill>
              <a:effectLst/>
              <a:uFillTx/>
              <a:latin typeface="Times New Roman"/>
            </a:endParaRPr>
          </a:p>
        </p:txBody>
      </p:sp>
    </p:spTree>
  </p:cSld>
  <p:transition spd="med">
    <p:zoom dir="out"/>
  </p:transition>
  <p:timing>
    <p:tnLst>
      <p:par>
        <p:cTn id="1910" dur="indefinite" restart="never" nodeType="tmRoot">
          <p:childTnLst>
            <p:seq>
              <p:cTn id="1911" dur="indefinite" nodeType="mainSeq">
                <p:childTnLst>
                  <p:par>
                    <p:cTn id="1912" nodeType="clickEffect" fill="hold">
                      <p:stCondLst>
                        <p:cond delay="0"/>
                      </p:stCondLst>
                      <p:childTnLst>
                        <p:par>
                          <p:cTn id="1913" nodeType="withEffect" fill="hold">
                            <p:stCondLst>
                              <p:cond delay="0"/>
                            </p:stCondLst>
                            <p:childTnLst>
                              <p:par>
                                <p:cTn id="1914" nodeType="afterEffect" fill="hold" presetClass="entr" presetID="9">
                                  <p:stCondLst>
                                    <p:cond delay="0"/>
                                  </p:stCondLst>
                                  <p:childTnLst>
                                    <p:set>
                                      <p:cBhvr>
                                        <p:cTn id="1915" dur="1" fill="hold">
                                          <p:stCondLst>
                                            <p:cond delay="0"/>
                                          </p:stCondLst>
                                        </p:cTn>
                                        <p:tgtEl>
                                          <p:spTgt spid="1684"/>
                                        </p:tgtEl>
                                        <p:attrNameLst>
                                          <p:attrName>style.visibility</p:attrName>
                                        </p:attrNameLst>
                                      </p:cBhvr>
                                      <p:to>
                                        <p:strVal val="visible"/>
                                      </p:to>
                                    </p:set>
                                    <p:animEffect filter="dissolve" transition="in">
                                      <p:cBhvr additive="repl">
                                        <p:cTn id="1916" dur="500"/>
                                        <p:tgtEl>
                                          <p:spTgt spid="1684"/>
                                        </p:tgtEl>
                                      </p:cBhvr>
                                    </p:animEffect>
                                  </p:childTnLst>
                                </p:cTn>
                              </p:par>
                            </p:childTnLst>
                          </p:cTn>
                        </p:par>
                        <p:par>
                          <p:cTn id="1917" nodeType="afterEffect" fill="hold">
                            <p:stCondLst>
                              <p:cond delay="500"/>
                            </p:stCondLst>
                            <p:childTnLst>
                              <p:par>
                                <p:cTn id="1918" nodeType="afterEffect" fill="hold" presetClass="entr" presetID="9">
                                  <p:stCondLst>
                                    <p:cond delay="6000"/>
                                  </p:stCondLst>
                                  <p:iterate type="wd">
                                    <p:tmAbs val="300"/>
                                  </p:iterate>
                                  <p:childTnLst>
                                    <p:set>
                                      <p:cBhvr>
                                        <p:cTn id="1919" dur="1" fill="hold">
                                          <p:stCondLst>
                                            <p:cond delay="0"/>
                                          </p:stCondLst>
                                        </p:cTn>
                                        <p:tgtEl>
                                          <p:spTgt spid="1685"/>
                                        </p:tgtEl>
                                        <p:attrNameLst>
                                          <p:attrName>style.visibility</p:attrName>
                                        </p:attrNameLst>
                                      </p:cBhvr>
                                      <p:to>
                                        <p:strVal val="visible"/>
                                      </p:to>
                                    </p:set>
                                    <p:animEffect filter="dissolve" transition="in">
                                      <p:cBhvr additive="repl">
                                        <p:cTn id="1920" dur="300"/>
                                        <p:tgtEl>
                                          <p:spTgt spid="1685"/>
                                        </p:tgtEl>
                                      </p:cBhvr>
                                    </p:animEffect>
                                  </p:childTnLst>
                                </p:cTn>
                              </p:par>
                            </p:childTnLst>
                          </p:cTn>
                        </p:par>
                        <p:par>
                          <p:cTn id="1921" nodeType="afterEffect" fill="hold">
                            <p:stCondLst>
                              <p:cond delay="20900"/>
                            </p:stCondLst>
                            <p:childTnLst>
                              <p:par>
                                <p:cTn id="1922" nodeType="afterEffect" fill="hold" presetClass="entr" presetID="9">
                                  <p:stCondLst>
                                    <p:cond delay="3000"/>
                                  </p:stCondLst>
                                  <p:iterate type="wd">
                                    <p:tmAbs val="300"/>
                                  </p:iterate>
                                  <p:childTnLst>
                                    <p:set>
                                      <p:cBhvr>
                                        <p:cTn id="1923" dur="1" fill="hold">
                                          <p:stCondLst>
                                            <p:cond delay="0"/>
                                          </p:stCondLst>
                                        </p:cTn>
                                        <p:tgtEl>
                                          <p:spTgt spid="1686"/>
                                        </p:tgtEl>
                                        <p:attrNameLst>
                                          <p:attrName>style.visibility</p:attrName>
                                        </p:attrNameLst>
                                      </p:cBhvr>
                                      <p:to>
                                        <p:strVal val="visible"/>
                                      </p:to>
                                    </p:set>
                                    <p:animEffect filter="dissolve" transition="in">
                                      <p:cBhvr additive="repl">
                                        <p:cTn id="1924" dur="300"/>
                                        <p:tgtEl>
                                          <p:spTgt spid="1686"/>
                                        </p:tgtEl>
                                      </p:cBhvr>
                                    </p:animEffect>
                                  </p:childTnLst>
                                </p:cTn>
                              </p:par>
                            </p:childTnLst>
                          </p:cTn>
                        </p:par>
                        <p:par>
                          <p:cTn id="1925" nodeType="afterEffect" fill="hold">
                            <p:stCondLst>
                              <p:cond delay="40400"/>
                            </p:stCondLst>
                            <p:childTnLst>
                              <p:par>
                                <p:cTn id="1926" nodeType="afterEffect" fill="hold" presetClass="entr" presetID="9">
                                  <p:stCondLst>
                                    <p:cond delay="3000"/>
                                  </p:stCondLst>
                                  <p:iterate type="wd">
                                    <p:tmAbs val="300"/>
                                  </p:iterate>
                                  <p:childTnLst>
                                    <p:set>
                                      <p:cBhvr>
                                        <p:cTn id="1927" dur="1" fill="hold">
                                          <p:stCondLst>
                                            <p:cond delay="0"/>
                                          </p:stCondLst>
                                        </p:cTn>
                                        <p:tgtEl>
                                          <p:spTgt spid="1687"/>
                                        </p:tgtEl>
                                        <p:attrNameLst>
                                          <p:attrName>style.visibility</p:attrName>
                                        </p:attrNameLst>
                                      </p:cBhvr>
                                      <p:to>
                                        <p:strVal val="visible"/>
                                      </p:to>
                                    </p:set>
                                    <p:animEffect filter="dissolve" transition="in">
                                      <p:cBhvr additive="repl">
                                        <p:cTn id="1928" dur="300"/>
                                        <p:tgtEl>
                                          <p:spTgt spid="1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688" name="Object 2"/>
          <p:cNvGraphicFramePr/>
          <p:nvPr/>
        </p:nvGraphicFramePr>
        <p:xfrm>
          <a:off x="0" y="1312920"/>
          <a:ext cx="9144000" cy="5545080"/>
        </p:xfrm>
        <a:graphic>
          <a:graphicData uri="http://schemas.openxmlformats.org/presentationml/2006/ole">
            <p:oleObj r:id="rId1" spid="">
              <p:embed/>
              <p:pic>
                <p:nvPicPr>
                  <p:cNvPr id="1689" name="Object 2" descr=""/>
                  <p:cNvPicPr/>
                  <p:nvPr/>
                </p:nvPicPr>
                <p:blipFill>
                  <a:blip r:embed="rId2"/>
                  <a:stretch/>
                </p:blipFill>
                <p:spPr>
                  <a:xfrm>
                    <a:off x="0" y="1312920"/>
                    <a:ext cx="9144000" cy="5545080"/>
                  </a:xfrm>
                  <a:prstGeom prst="rect">
                    <a:avLst/>
                  </a:prstGeom>
                  <a:noFill/>
                  <a:ln w="0">
                    <a:noFill/>
                  </a:ln>
                </p:spPr>
              </p:pic>
            </p:oleObj>
          </a:graphicData>
        </a:graphic>
      </p:graphicFrame>
      <p:sp>
        <p:nvSpPr>
          <p:cNvPr id="1690" name="Rectangle 3"/>
          <p:cNvSpPr/>
          <p:nvPr/>
        </p:nvSpPr>
        <p:spPr>
          <a:xfrm>
            <a:off x="1600200" y="2209680"/>
            <a:ext cx="1143000" cy="91440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Garçons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Filles</a:t>
            </a:r>
            <a:endParaRPr b="0" lang="en-US" sz="2000" strike="noStrike" u="none">
              <a:solidFill>
                <a:srgbClr val="ffff00"/>
              </a:solidFill>
              <a:effectLst/>
              <a:uFillTx/>
              <a:latin typeface="Times New Roman"/>
            </a:endParaRPr>
          </a:p>
        </p:txBody>
      </p:sp>
      <p:sp>
        <p:nvSpPr>
          <p:cNvPr id="1691" name="Rectangle 4"/>
          <p:cNvSpPr/>
          <p:nvPr/>
        </p:nvSpPr>
        <p:spPr>
          <a:xfrm>
            <a:off x="6095880" y="2209680"/>
            <a:ext cx="1143000" cy="91440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Garçons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Filles</a:t>
            </a:r>
            <a:endParaRPr b="0" lang="en-US" sz="2000" strike="noStrike" u="none">
              <a:solidFill>
                <a:srgbClr val="ffff00"/>
              </a:solidFill>
              <a:effectLst/>
              <a:uFillTx/>
              <a:latin typeface="Times New Roman"/>
            </a:endParaRPr>
          </a:p>
        </p:txBody>
      </p:sp>
      <p:sp>
        <p:nvSpPr>
          <p:cNvPr id="1692" name="Rectangle 5"/>
          <p:cNvSpPr/>
          <p:nvPr/>
        </p:nvSpPr>
        <p:spPr>
          <a:xfrm rot="16201200">
            <a:off x="3237480" y="3542040"/>
            <a:ext cx="2745000" cy="3808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Nombre en 1 minute</a:t>
            </a:r>
            <a:endParaRPr b="0" lang="en-US" sz="2000" strike="noStrike" u="none">
              <a:solidFill>
                <a:srgbClr val="ffff00"/>
              </a:solidFill>
              <a:effectLst/>
              <a:uFillTx/>
              <a:latin typeface="Times New Roman"/>
            </a:endParaRPr>
          </a:p>
        </p:txBody>
      </p:sp>
      <p:sp>
        <p:nvSpPr>
          <p:cNvPr id="1693" name="Rectangle 6"/>
          <p:cNvSpPr/>
          <p:nvPr/>
        </p:nvSpPr>
        <p:spPr>
          <a:xfrm rot="16192200">
            <a:off x="-687240" y="3884040"/>
            <a:ext cx="2057400" cy="38088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Nombre</a:t>
            </a:r>
            <a:r>
              <a:rPr b="0" lang="fr-FR" sz="2000" strike="noStrike" u="none">
                <a:solidFill>
                  <a:srgbClr val="808080"/>
                </a:solidFill>
                <a:effectLst/>
                <a:uFillTx/>
                <a:latin typeface="Arial"/>
              </a:rPr>
              <a:t> </a:t>
            </a:r>
            <a:endParaRPr b="0" lang="en-US" sz="2000" strike="noStrike" u="none">
              <a:solidFill>
                <a:srgbClr val="ffff00"/>
              </a:solidFill>
              <a:effectLst/>
              <a:uFillTx/>
              <a:latin typeface="Times New Roman"/>
            </a:endParaRPr>
          </a:p>
        </p:txBody>
      </p:sp>
      <p:sp>
        <p:nvSpPr>
          <p:cNvPr id="1694" name="Rectangle 7"/>
          <p:cNvSpPr/>
          <p:nvPr/>
        </p:nvSpPr>
        <p:spPr>
          <a:xfrm>
            <a:off x="1676520" y="6477120"/>
            <a:ext cx="2057400" cy="38088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Age (Années)</a:t>
            </a:r>
            <a:endParaRPr b="0" lang="en-US" sz="2400" strike="noStrike" u="none">
              <a:solidFill>
                <a:srgbClr val="ffff00"/>
              </a:solidFill>
              <a:effectLst/>
              <a:uFillTx/>
              <a:latin typeface="Times New Roman"/>
            </a:endParaRPr>
          </a:p>
        </p:txBody>
      </p:sp>
      <p:sp>
        <p:nvSpPr>
          <p:cNvPr id="1695" name="Rectangle 8"/>
          <p:cNvSpPr/>
          <p:nvPr/>
        </p:nvSpPr>
        <p:spPr>
          <a:xfrm>
            <a:off x="6248520" y="6477120"/>
            <a:ext cx="2057400" cy="38088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Age (Années)</a:t>
            </a:r>
            <a:endParaRPr b="0" lang="en-US" sz="2400" strike="noStrike" u="none">
              <a:solidFill>
                <a:srgbClr val="ffff00"/>
              </a:solidFill>
              <a:effectLst/>
              <a:uFillTx/>
              <a:latin typeface="Times New Roman"/>
            </a:endParaRPr>
          </a:p>
        </p:txBody>
      </p:sp>
      <p:sp>
        <p:nvSpPr>
          <p:cNvPr id="1696" name="Text Box 9"/>
          <p:cNvSpPr/>
          <p:nvPr/>
        </p:nvSpPr>
        <p:spPr>
          <a:xfrm>
            <a:off x="243720" y="-1440"/>
            <a:ext cx="3619440" cy="1191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Endurance musculaire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des membres supérieurs </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Pompes »</a:t>
            </a:r>
            <a:endParaRPr b="0" lang="en-US" sz="2400" strike="noStrike" u="none">
              <a:solidFill>
                <a:srgbClr val="ffff00"/>
              </a:solidFill>
              <a:effectLst/>
              <a:uFillTx/>
              <a:latin typeface="Times New Roman"/>
            </a:endParaRPr>
          </a:p>
        </p:txBody>
      </p:sp>
      <p:sp>
        <p:nvSpPr>
          <p:cNvPr id="1697" name="Text Box 10"/>
          <p:cNvSpPr/>
          <p:nvPr/>
        </p:nvSpPr>
        <p:spPr>
          <a:xfrm>
            <a:off x="5413320" y="0"/>
            <a:ext cx="3449880" cy="1191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Endurance musculaire</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des membres inférieurs:</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Accroupi - Debout</a:t>
            </a:r>
            <a:endParaRPr b="0" lang="en-US" sz="2400" strike="noStrike" u="none">
              <a:solidFill>
                <a:srgbClr val="ffff00"/>
              </a:solidFill>
              <a:effectLst/>
              <a:uFillTx/>
              <a:latin typeface="Times New Roman"/>
            </a:endParaRPr>
          </a:p>
        </p:txBody>
      </p:sp>
    </p:spTree>
  </p:cSld>
  <p:transition spd="med">
    <p:zoom dir="out"/>
  </p:transition>
  <p:timing>
    <p:tnLst>
      <p:par>
        <p:cTn id="1929" dur="indefinite" restart="never" nodeType="tmRoot">
          <p:childTnLst>
            <p:seq>
              <p:cTn id="1930" dur="indefinite" nodeType="mainSeq">
                <p:childTnLst>
                  <p:par>
                    <p:cTn id="1931" nodeType="clickEffect" fill="hold">
                      <p:stCondLst>
                        <p:cond delay="0"/>
                      </p:stCondLst>
                      <p:childTnLst>
                        <p:par>
                          <p:cTn id="1932" nodeType="withEffect" fill="hold">
                            <p:stCondLst>
                              <p:cond delay="0"/>
                            </p:stCondLst>
                            <p:childTnLst>
                              <p:par>
                                <p:cTn id="1933" nodeType="afterEffect" fill="hold" presetClass="entr" presetID="17" presetSubtype="8">
                                  <p:stCondLst>
                                    <p:cond delay="0"/>
                                  </p:stCondLst>
                                  <p:iterate type="wd">
                                    <p:tmAbs val="300"/>
                                  </p:iterate>
                                  <p:childTnLst>
                                    <p:set>
                                      <p:cBhvr>
                                        <p:cTn id="1934" dur="1" fill="hold">
                                          <p:stCondLst>
                                            <p:cond delay="0"/>
                                          </p:stCondLst>
                                        </p:cTn>
                                        <p:tgtEl>
                                          <p:spTgt spid="1696"/>
                                        </p:tgtEl>
                                        <p:attrNameLst>
                                          <p:attrName>style.visibility</p:attrName>
                                        </p:attrNameLst>
                                      </p:cBhvr>
                                      <p:to>
                                        <p:strVal val="visible"/>
                                      </p:to>
                                    </p:set>
                                    <p:anim calcmode="lin" valueType="num">
                                      <p:cBhvr additive="repl">
                                        <p:cTn id="1935" dur="300" fill="hold"/>
                                        <p:tgtEl>
                                          <p:spTgt spid="1696"/>
                                        </p:tgtEl>
                                        <p:attrNameLst>
                                          <p:attrName>ppt_x</p:attrName>
                                        </p:attrNameLst>
                                      </p:cBhvr>
                                      <p:tavLst>
                                        <p:tav tm="0">
                                          <p:val>
                                            <p:strVal val="#ppt_x-#ppt_w/2"/>
                                          </p:val>
                                        </p:tav>
                                        <p:tav tm="100000">
                                          <p:val>
                                            <p:strVal val="#ppt_x"/>
                                          </p:val>
                                        </p:tav>
                                      </p:tavLst>
                                    </p:anim>
                                    <p:anim calcmode="lin" valueType="num">
                                      <p:cBhvr additive="repl">
                                        <p:cTn id="1936" dur="300" fill="hold"/>
                                        <p:tgtEl>
                                          <p:spTgt spid="1696"/>
                                        </p:tgtEl>
                                        <p:attrNameLst>
                                          <p:attrName>ppt_y</p:attrName>
                                        </p:attrNameLst>
                                      </p:cBhvr>
                                      <p:tavLst>
                                        <p:tav tm="0">
                                          <p:val>
                                            <p:strVal val="#ppt_y"/>
                                          </p:val>
                                        </p:tav>
                                        <p:tav tm="100000">
                                          <p:val>
                                            <p:strVal val="#ppt_y"/>
                                          </p:val>
                                        </p:tav>
                                      </p:tavLst>
                                    </p:anim>
                                    <p:anim calcmode="lin" valueType="num">
                                      <p:cBhvr additive="repl">
                                        <p:cTn id="1937" dur="300" fill="hold"/>
                                        <p:tgtEl>
                                          <p:spTgt spid="1696"/>
                                        </p:tgtEl>
                                        <p:attrNameLst>
                                          <p:attrName>ppt_w</p:attrName>
                                        </p:attrNameLst>
                                      </p:cBhvr>
                                      <p:tavLst>
                                        <p:tav tm="0">
                                          <p:val>
                                            <p:fltVal val="0"/>
                                          </p:val>
                                        </p:tav>
                                        <p:tav tm="100000">
                                          <p:val>
                                            <p:strVal val="#ppt_w"/>
                                          </p:val>
                                        </p:tav>
                                      </p:tavLst>
                                    </p:anim>
                                    <p:anim calcmode="lin" valueType="num">
                                      <p:cBhvr additive="repl">
                                        <p:cTn id="1938" dur="300" fill="hold"/>
                                        <p:tgtEl>
                                          <p:spTgt spid="1696"/>
                                        </p:tgtEl>
                                        <p:attrNameLst>
                                          <p:attrName>ppt_h</p:attrName>
                                        </p:attrNameLst>
                                      </p:cBhvr>
                                      <p:tavLst>
                                        <p:tav tm="0">
                                          <p:val>
                                            <p:strVal val="#ppt_h"/>
                                          </p:val>
                                        </p:tav>
                                        <p:tav tm="100000">
                                          <p:val>
                                            <p:strVal val="#ppt_h"/>
                                          </p:val>
                                        </p:tav>
                                      </p:tavLst>
                                    </p:anim>
                                  </p:childTnLst>
                                </p:cTn>
                              </p:par>
                            </p:childTnLst>
                          </p:cTn>
                        </p:par>
                        <p:par>
                          <p:cTn id="1939" nodeType="afterEffect" fill="hold">
                            <p:stCondLst>
                              <p:cond delay="2400"/>
                            </p:stCondLst>
                            <p:childTnLst>
                              <p:par>
                                <p:cTn id="1940" nodeType="afterEffect" fill="hold" presetClass="entr" presetID="17" presetSubtype="8">
                                  <p:stCondLst>
                                    <p:cond delay="0"/>
                                  </p:stCondLst>
                                  <p:iterate type="wd">
                                    <p:tmAbs val="300"/>
                                  </p:iterate>
                                  <p:childTnLst>
                                    <p:set>
                                      <p:cBhvr>
                                        <p:cTn id="1941" dur="1" fill="hold">
                                          <p:stCondLst>
                                            <p:cond delay="0"/>
                                          </p:stCondLst>
                                        </p:cTn>
                                        <p:tgtEl>
                                          <p:spTgt spid="1697"/>
                                        </p:tgtEl>
                                        <p:attrNameLst>
                                          <p:attrName>style.visibility</p:attrName>
                                        </p:attrNameLst>
                                      </p:cBhvr>
                                      <p:to>
                                        <p:strVal val="visible"/>
                                      </p:to>
                                    </p:set>
                                    <p:anim calcmode="lin" valueType="num">
                                      <p:cBhvr additive="repl">
                                        <p:cTn id="1942" dur="300" fill="hold"/>
                                        <p:tgtEl>
                                          <p:spTgt spid="1697"/>
                                        </p:tgtEl>
                                        <p:attrNameLst>
                                          <p:attrName>ppt_x</p:attrName>
                                        </p:attrNameLst>
                                      </p:cBhvr>
                                      <p:tavLst>
                                        <p:tav tm="0">
                                          <p:val>
                                            <p:strVal val="#ppt_x-#ppt_w/2"/>
                                          </p:val>
                                        </p:tav>
                                        <p:tav tm="100000">
                                          <p:val>
                                            <p:strVal val="#ppt_x"/>
                                          </p:val>
                                        </p:tav>
                                      </p:tavLst>
                                    </p:anim>
                                    <p:anim calcmode="lin" valueType="num">
                                      <p:cBhvr additive="repl">
                                        <p:cTn id="1943" dur="300" fill="hold"/>
                                        <p:tgtEl>
                                          <p:spTgt spid="1697"/>
                                        </p:tgtEl>
                                        <p:attrNameLst>
                                          <p:attrName>ppt_y</p:attrName>
                                        </p:attrNameLst>
                                      </p:cBhvr>
                                      <p:tavLst>
                                        <p:tav tm="0">
                                          <p:val>
                                            <p:strVal val="#ppt_y"/>
                                          </p:val>
                                        </p:tav>
                                        <p:tav tm="100000">
                                          <p:val>
                                            <p:strVal val="#ppt_y"/>
                                          </p:val>
                                        </p:tav>
                                      </p:tavLst>
                                    </p:anim>
                                    <p:anim calcmode="lin" valueType="num">
                                      <p:cBhvr additive="repl">
                                        <p:cTn id="1944" dur="300" fill="hold"/>
                                        <p:tgtEl>
                                          <p:spTgt spid="1697"/>
                                        </p:tgtEl>
                                        <p:attrNameLst>
                                          <p:attrName>ppt_w</p:attrName>
                                        </p:attrNameLst>
                                      </p:cBhvr>
                                      <p:tavLst>
                                        <p:tav tm="0">
                                          <p:val>
                                            <p:fltVal val="0"/>
                                          </p:val>
                                        </p:tav>
                                        <p:tav tm="100000">
                                          <p:val>
                                            <p:strVal val="#ppt_w"/>
                                          </p:val>
                                        </p:tav>
                                      </p:tavLst>
                                    </p:anim>
                                    <p:anim calcmode="lin" valueType="num">
                                      <p:cBhvr additive="repl">
                                        <p:cTn id="1945" dur="300" fill="hold"/>
                                        <p:tgtEl>
                                          <p:spTgt spid="16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8" name="PlaceHolder 1"/>
          <p:cNvSpPr>
            <a:spLocks noGrp="1"/>
          </p:cNvSpPr>
          <p:nvPr>
            <p:ph/>
          </p:nvPr>
        </p:nvSpPr>
        <p:spPr>
          <a:xfrm>
            <a:off x="762120" y="838080"/>
            <a:ext cx="7772400" cy="2362320"/>
          </a:xfrm>
          <a:prstGeom prst="rect">
            <a:avLst/>
          </a:prstGeom>
          <a:noFill/>
          <a:ln w="0">
            <a:noFill/>
          </a:ln>
        </p:spPr>
        <p:txBody>
          <a:bodyPr lIns="91440" rIns="91440" tIns="45720" bIns="45720" anchor="t">
            <a:normAutofit/>
          </a:bodyPr>
          <a:p>
            <a:pPr marL="343080" indent="-343080" algn="ctr">
              <a:lnSpc>
                <a:spcPct val="13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800" strike="noStrike" u="none">
                <a:solidFill>
                  <a:srgbClr val="ffffff"/>
                </a:solidFill>
                <a:effectLst/>
                <a:uFillTx/>
                <a:latin typeface="Bookman Old Style"/>
              </a:rPr>
              <a:t>CAPACITE ANAEROBIE ET APTITUDE A L’EXERCICE INTENSE DE COURTE DUREE DE L’ENFANT ET DE L’ADOLESCENT</a:t>
            </a:r>
            <a:endParaRPr b="0" lang="en-US" sz="2800" strike="noStrike" u="none">
              <a:solidFill>
                <a:srgbClr val="ffff00"/>
              </a:solidFill>
              <a:effectLst/>
              <a:uFillTx/>
              <a:latin typeface="Times New Roman"/>
            </a:endParaRPr>
          </a:p>
        </p:txBody>
      </p:sp>
      <p:pic>
        <p:nvPicPr>
          <p:cNvPr id="1699" name="Picture 3" descr=""/>
          <p:cNvPicPr/>
          <p:nvPr/>
        </p:nvPicPr>
        <p:blipFill>
          <a:blip r:embed="rId1">
            <a:lum bright="6000"/>
          </a:blip>
          <a:srcRect l="17326" t="361" r="6523" b="73444"/>
          <a:stretch/>
        </p:blipFill>
        <p:spPr>
          <a:xfrm>
            <a:off x="3429000" y="3657600"/>
            <a:ext cx="2876400" cy="2400480"/>
          </a:xfrm>
          <a:prstGeom prst="rect">
            <a:avLst/>
          </a:prstGeom>
          <a:noFill/>
          <a:ln w="9360">
            <a:solidFill>
              <a:srgbClr val="ffffff"/>
            </a:solidFill>
            <a:miter/>
          </a:ln>
        </p:spPr>
      </p:pic>
    </p:spTree>
  </p:cSld>
  <p:transition spd="med">
    <p:zoom dir="out"/>
  </p:transition>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00" name="Group 10"/>
          <p:cNvGrpSpPr/>
          <p:nvPr/>
        </p:nvGrpSpPr>
        <p:grpSpPr>
          <a:xfrm>
            <a:off x="1371600" y="4648320"/>
            <a:ext cx="6934320" cy="1110600"/>
            <a:chOff x="1371600" y="4648320"/>
            <a:chExt cx="6934320" cy="1110600"/>
          </a:xfrm>
        </p:grpSpPr>
        <p:sp>
          <p:nvSpPr>
            <p:cNvPr id="1701" name="Rectangle 11"/>
            <p:cNvSpPr/>
            <p:nvPr/>
          </p:nvSpPr>
          <p:spPr>
            <a:xfrm>
              <a:off x="6395400" y="5423040"/>
              <a:ext cx="1910160" cy="3358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02" name="Rectangle 12"/>
            <p:cNvSpPr/>
            <p:nvPr/>
          </p:nvSpPr>
          <p:spPr>
            <a:xfrm>
              <a:off x="1371600" y="4648320"/>
              <a:ext cx="6934320" cy="1007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EXERCICES INTENSES DE COURTE DUREE (&lt; 6s) SEPARES PAR DES PERIODES DE REPOS OU D’EXERCICES DE FAIBLE INTENSITE (20 à 30s )</a:t>
              </a:r>
              <a:endParaRPr b="0" lang="en-US" sz="2000" strike="noStrike" u="none">
                <a:solidFill>
                  <a:srgbClr val="ffff00"/>
                </a:solidFill>
                <a:effectLst/>
                <a:uFillTx/>
                <a:latin typeface="Times New Roman"/>
              </a:endParaRPr>
            </a:p>
          </p:txBody>
        </p:sp>
      </p:grpSp>
      <p:sp>
        <p:nvSpPr>
          <p:cNvPr id="1703" name="Text Box 17"/>
          <p:cNvSpPr/>
          <p:nvPr/>
        </p:nvSpPr>
        <p:spPr>
          <a:xfrm>
            <a:off x="1438920" y="2986200"/>
            <a:ext cx="1282680" cy="3682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rPr>
              <a:t>LUDIQUE</a:t>
            </a:r>
            <a:endParaRPr b="0" lang="en-US" sz="1800" strike="noStrike" u="none">
              <a:solidFill>
                <a:srgbClr val="ffff00"/>
              </a:solidFill>
              <a:effectLst/>
              <a:uFillTx/>
              <a:latin typeface="Times New Roman"/>
            </a:endParaRPr>
          </a:p>
        </p:txBody>
      </p:sp>
      <p:sp>
        <p:nvSpPr>
          <p:cNvPr id="1704" name="Text Box 19"/>
          <p:cNvSpPr/>
          <p:nvPr/>
        </p:nvSpPr>
        <p:spPr>
          <a:xfrm>
            <a:off x="5858280" y="3048120"/>
            <a:ext cx="1424160" cy="36828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Bookman Old Style"/>
              </a:rPr>
              <a:t>SPORTIVE</a:t>
            </a:r>
            <a:endParaRPr b="0" lang="en-US" sz="1800" strike="noStrike" u="none">
              <a:solidFill>
                <a:srgbClr val="ffff00"/>
              </a:solidFill>
              <a:effectLst/>
              <a:uFillTx/>
              <a:latin typeface="Times New Roman"/>
            </a:endParaRPr>
          </a:p>
        </p:txBody>
      </p:sp>
      <p:sp>
        <p:nvSpPr>
          <p:cNvPr id="1705" name="Text Box 20"/>
          <p:cNvSpPr/>
          <p:nvPr/>
        </p:nvSpPr>
        <p:spPr>
          <a:xfrm>
            <a:off x="677520" y="1143000"/>
            <a:ext cx="78462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Bookman Old Style"/>
              </a:rPr>
              <a:t>ACTIVITE SPONTANEE DES ENFANTS</a:t>
            </a:r>
            <a:r>
              <a:rPr b="0" lang="fr-FR" sz="2000" strike="noStrike" u="none">
                <a:solidFill>
                  <a:srgbClr val="ffff00"/>
                </a:solidFill>
                <a:effectLst/>
                <a:uFillTx/>
                <a:latin typeface="Bookman Old Style"/>
              </a:rPr>
              <a:t> (</a:t>
            </a:r>
            <a:r>
              <a:rPr b="1" lang="fr-FR" sz="2000" strike="noStrike" u="none">
                <a:solidFill>
                  <a:srgbClr val="ffffff"/>
                </a:solidFill>
                <a:effectLst/>
                <a:uFillTx/>
                <a:latin typeface="Bookman Old Style"/>
              </a:rPr>
              <a:t>Bailey et al. 1995)</a:t>
            </a:r>
            <a:r>
              <a:rPr b="0" lang="fr-FR" sz="2000" strike="noStrike" u="none">
                <a:solidFill>
                  <a:srgbClr val="ffff00"/>
                </a:solidFill>
                <a:effectLst/>
                <a:uFillTx/>
                <a:latin typeface="Bookman Old Style"/>
              </a:rPr>
              <a:t> </a:t>
            </a:r>
            <a:endParaRPr b="0" lang="en-US" sz="2000" strike="noStrike" u="none">
              <a:solidFill>
                <a:srgbClr val="ffff00"/>
              </a:solidFill>
              <a:effectLst/>
              <a:uFillTx/>
              <a:latin typeface="Times New Roman"/>
            </a:endParaRPr>
          </a:p>
        </p:txBody>
      </p:sp>
      <p:sp>
        <p:nvSpPr>
          <p:cNvPr id="1706" name="AutoShape 21"/>
          <p:cNvSpPr/>
          <p:nvPr/>
        </p:nvSpPr>
        <p:spPr>
          <a:xfrm rot="2422200">
            <a:off x="2285640" y="2057400"/>
            <a:ext cx="304920" cy="976320"/>
          </a:xfrm>
          <a:prstGeom prst="downArrow">
            <a:avLst>
              <a:gd name="adj1" fmla="val 50000"/>
              <a:gd name="adj2" fmla="val 80047"/>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07" name="AutoShape 22"/>
          <p:cNvSpPr/>
          <p:nvPr/>
        </p:nvSpPr>
        <p:spPr>
          <a:xfrm rot="19018200">
            <a:off x="5866920" y="1980720"/>
            <a:ext cx="304920" cy="976320"/>
          </a:xfrm>
          <a:prstGeom prst="downArrow">
            <a:avLst>
              <a:gd name="adj1" fmla="val 50000"/>
              <a:gd name="adj2" fmla="val 80047"/>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08" name="AutoShape 23"/>
          <p:cNvSpPr/>
          <p:nvPr/>
        </p:nvSpPr>
        <p:spPr>
          <a:xfrm rot="2422200">
            <a:off x="5866920" y="3505320"/>
            <a:ext cx="304920" cy="976320"/>
          </a:xfrm>
          <a:prstGeom prst="downArrow">
            <a:avLst>
              <a:gd name="adj1" fmla="val 50000"/>
              <a:gd name="adj2" fmla="val 80047"/>
            </a:avLst>
          </a:prstGeom>
          <a:solidFill>
            <a:srgbClr val="00cc99"/>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09" name="AutoShape 24"/>
          <p:cNvSpPr/>
          <p:nvPr/>
        </p:nvSpPr>
        <p:spPr>
          <a:xfrm rot="19018200">
            <a:off x="2285640" y="3428640"/>
            <a:ext cx="304920" cy="976320"/>
          </a:xfrm>
          <a:prstGeom prst="downArrow">
            <a:avLst>
              <a:gd name="adj1" fmla="val 50000"/>
              <a:gd name="adj2" fmla="val 80047"/>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710" name="Rectangle 25"/>
          <p:cNvSpPr/>
          <p:nvPr/>
        </p:nvSpPr>
        <p:spPr>
          <a:xfrm>
            <a:off x="1295280" y="4648320"/>
            <a:ext cx="6858000" cy="10666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timing>
    <p:tnLst>
      <p:par>
        <p:cTn id="1946" dur="indefinite" restart="never" nodeType="tmRoot">
          <p:childTnLst>
            <p:seq>
              <p:cTn id="1947" dur="indefinite" nodeType="mainSeq">
                <p:childTnLst>
                  <p:par>
                    <p:cTn id="1948" nodeType="clickEffect" fill="hold">
                      <p:stCondLst>
                        <p:cond delay="0"/>
                      </p:stCondLst>
                      <p:childTnLst>
                        <p:par>
                          <p:cTn id="1949" nodeType="withEffect" fill="hold">
                            <p:stCondLst>
                              <p:cond delay="0"/>
                            </p:stCondLst>
                            <p:childTnLst>
                              <p:par>
                                <p:cTn id="1950" nodeType="afterEffect" fill="hold" presetClass="entr" presetID="9">
                                  <p:stCondLst>
                                    <p:cond delay="0"/>
                                  </p:stCondLst>
                                  <p:childTnLst>
                                    <p:set>
                                      <p:cBhvr>
                                        <p:cTn id="1951" dur="1" fill="hold">
                                          <p:stCondLst>
                                            <p:cond delay="0"/>
                                          </p:stCondLst>
                                        </p:cTn>
                                        <p:tgtEl>
                                          <p:spTgt spid="1700"/>
                                        </p:tgtEl>
                                        <p:attrNameLst>
                                          <p:attrName>style.visibility</p:attrName>
                                        </p:attrNameLst>
                                      </p:cBhvr>
                                      <p:to>
                                        <p:strVal val="visible"/>
                                      </p:to>
                                    </p:set>
                                    <p:animEffect filter="dissolve" transition="in">
                                      <p:cBhvr additive="repl">
                                        <p:cTn id="1952" dur="500"/>
                                        <p:tgtEl>
                                          <p:spTgt spid="17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1" name="PlaceHolder 1"/>
          <p:cNvSpPr>
            <a:spLocks noGrp="1"/>
          </p:cNvSpPr>
          <p:nvPr>
            <p:ph type="title"/>
          </p:nvPr>
        </p:nvSpPr>
        <p:spPr>
          <a:xfrm>
            <a:off x="1294920" y="0"/>
            <a:ext cx="7086600" cy="83808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800" strike="noStrike" u="none">
                <a:solidFill>
                  <a:srgbClr val="ffff00"/>
                </a:solidFill>
                <a:effectLst/>
                <a:uFillTx/>
                <a:latin typeface="Arial"/>
              </a:rPr>
              <a:t>CAPACITES ANAEROBIES</a:t>
            </a:r>
            <a:endParaRPr b="0" lang="en-US" sz="2800" strike="noStrike" u="none">
              <a:solidFill>
                <a:srgbClr val="ffffff"/>
              </a:solidFill>
              <a:effectLst/>
              <a:uFillTx/>
              <a:latin typeface="Times New Roman"/>
            </a:endParaRPr>
          </a:p>
        </p:txBody>
      </p:sp>
      <p:grpSp>
        <p:nvGrpSpPr>
          <p:cNvPr id="1712" name="Group 28"/>
          <p:cNvGrpSpPr/>
          <p:nvPr/>
        </p:nvGrpSpPr>
        <p:grpSpPr>
          <a:xfrm>
            <a:off x="380880" y="762120"/>
            <a:ext cx="8763120" cy="5333760"/>
            <a:chOff x="380880" y="762120"/>
            <a:chExt cx="8763120" cy="5333760"/>
          </a:xfrm>
        </p:grpSpPr>
        <p:sp>
          <p:nvSpPr>
            <p:cNvPr id="1713" name="Line 3"/>
            <p:cNvSpPr/>
            <p:nvPr/>
          </p:nvSpPr>
          <p:spPr>
            <a:xfrm>
              <a:off x="1752480" y="838080"/>
              <a:ext cx="0" cy="52574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14" name="Line 4"/>
            <p:cNvSpPr/>
            <p:nvPr/>
          </p:nvSpPr>
          <p:spPr>
            <a:xfrm>
              <a:off x="6324480" y="838080"/>
              <a:ext cx="0" cy="52574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15" name="Line 5"/>
            <p:cNvSpPr/>
            <p:nvPr/>
          </p:nvSpPr>
          <p:spPr>
            <a:xfrm>
              <a:off x="1752480" y="1371600"/>
              <a:ext cx="45720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16" name="Line 6"/>
            <p:cNvSpPr/>
            <p:nvPr/>
          </p:nvSpPr>
          <p:spPr>
            <a:xfrm>
              <a:off x="3352680" y="1371600"/>
              <a:ext cx="0" cy="47239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17" name="Line 7"/>
            <p:cNvSpPr/>
            <p:nvPr/>
          </p:nvSpPr>
          <p:spPr>
            <a:xfrm>
              <a:off x="380880" y="2743200"/>
              <a:ext cx="87631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18" name="Text Box 8"/>
            <p:cNvSpPr/>
            <p:nvPr/>
          </p:nvSpPr>
          <p:spPr>
            <a:xfrm>
              <a:off x="3047400" y="884160"/>
              <a:ext cx="223200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Valeurs de repos</a:t>
              </a:r>
              <a:endParaRPr b="0" lang="en-US" sz="2000" strike="noStrike" u="none">
                <a:solidFill>
                  <a:srgbClr val="ffff00"/>
                </a:solidFill>
                <a:effectLst/>
                <a:uFillTx/>
                <a:latin typeface="Times New Roman"/>
              </a:endParaRPr>
            </a:p>
          </p:txBody>
        </p:sp>
        <p:sp>
          <p:nvSpPr>
            <p:cNvPr id="1719" name="Text Box 9"/>
            <p:cNvSpPr/>
            <p:nvPr/>
          </p:nvSpPr>
          <p:spPr>
            <a:xfrm>
              <a:off x="1677960" y="1371600"/>
              <a:ext cx="1730160" cy="1191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Concentration</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 musculaire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 mmole/ kg)</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de muscle</a:t>
              </a:r>
              <a:endParaRPr b="0" lang="en-US" sz="1800" strike="noStrike" u="none">
                <a:solidFill>
                  <a:srgbClr val="ffff00"/>
                </a:solidFill>
                <a:effectLst/>
                <a:uFillTx/>
                <a:latin typeface="Times New Roman"/>
              </a:endParaRPr>
            </a:p>
          </p:txBody>
        </p:sp>
        <p:sp>
          <p:nvSpPr>
            <p:cNvPr id="1720" name="Text Box 10"/>
            <p:cNvSpPr/>
            <p:nvPr/>
          </p:nvSpPr>
          <p:spPr>
            <a:xfrm>
              <a:off x="3449160" y="1805040"/>
              <a:ext cx="273456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Comparaison avec des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individus plus âgés</a:t>
              </a:r>
              <a:endParaRPr b="0" lang="en-US" sz="1800" strike="noStrike" u="none">
                <a:solidFill>
                  <a:srgbClr val="ffff00"/>
                </a:solidFill>
                <a:effectLst/>
                <a:uFillTx/>
                <a:latin typeface="Times New Roman"/>
              </a:endParaRPr>
            </a:p>
          </p:txBody>
        </p:sp>
        <p:sp>
          <p:nvSpPr>
            <p:cNvPr id="1721" name="Text Box 11"/>
            <p:cNvSpPr/>
            <p:nvPr/>
          </p:nvSpPr>
          <p:spPr>
            <a:xfrm>
              <a:off x="6402240" y="1805040"/>
              <a:ext cx="2327400" cy="9169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Vitesse d’utilisation</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au cours de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l’exercice</a:t>
              </a:r>
              <a:endParaRPr b="0" lang="en-US" sz="1800" strike="noStrike" u="none">
                <a:solidFill>
                  <a:srgbClr val="ffff00"/>
                </a:solidFill>
                <a:effectLst/>
                <a:uFillTx/>
                <a:latin typeface="Times New Roman"/>
              </a:endParaRPr>
            </a:p>
          </p:txBody>
        </p:sp>
        <p:sp>
          <p:nvSpPr>
            <p:cNvPr id="1722" name="Text Box 12"/>
            <p:cNvSpPr/>
            <p:nvPr/>
          </p:nvSpPr>
          <p:spPr>
            <a:xfrm>
              <a:off x="458640" y="1881000"/>
              <a:ext cx="12351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Substrats</a:t>
              </a:r>
              <a:endParaRPr b="0" lang="en-US" sz="1800" strike="noStrike" u="none">
                <a:solidFill>
                  <a:srgbClr val="ffff00"/>
                </a:solidFill>
                <a:effectLst/>
                <a:uFillTx/>
                <a:latin typeface="Times New Roman"/>
              </a:endParaRPr>
            </a:p>
          </p:txBody>
        </p:sp>
        <p:sp>
          <p:nvSpPr>
            <p:cNvPr id="1723" name="Line 13"/>
            <p:cNvSpPr/>
            <p:nvPr/>
          </p:nvSpPr>
          <p:spPr>
            <a:xfrm>
              <a:off x="380880" y="3962160"/>
              <a:ext cx="87631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24" name="Text Box 14"/>
            <p:cNvSpPr/>
            <p:nvPr/>
          </p:nvSpPr>
          <p:spPr>
            <a:xfrm>
              <a:off x="687600" y="3124080"/>
              <a:ext cx="6379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ATP</a:t>
              </a:r>
              <a:endParaRPr b="0" lang="en-US" sz="1800" strike="noStrike" u="none">
                <a:solidFill>
                  <a:srgbClr val="ffff00"/>
                </a:solidFill>
                <a:effectLst/>
                <a:uFillTx/>
                <a:latin typeface="Times New Roman"/>
              </a:endParaRPr>
            </a:p>
          </p:txBody>
        </p:sp>
        <p:sp>
          <p:nvSpPr>
            <p:cNvPr id="1725" name="Text Box 15"/>
            <p:cNvSpPr/>
            <p:nvPr/>
          </p:nvSpPr>
          <p:spPr>
            <a:xfrm>
              <a:off x="1982520" y="3195360"/>
              <a:ext cx="879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3.5 à 5</a:t>
              </a:r>
              <a:endParaRPr b="0" lang="en-US" sz="1800" strike="noStrike" u="none">
                <a:solidFill>
                  <a:srgbClr val="ffff00"/>
                </a:solidFill>
                <a:effectLst/>
                <a:uFillTx/>
                <a:latin typeface="Times New Roman"/>
              </a:endParaRPr>
            </a:p>
          </p:txBody>
        </p:sp>
        <p:sp>
          <p:nvSpPr>
            <p:cNvPr id="1726" name="Text Box 16"/>
            <p:cNvSpPr/>
            <p:nvPr/>
          </p:nvSpPr>
          <p:spPr>
            <a:xfrm>
              <a:off x="3652560" y="3124080"/>
              <a:ext cx="240372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Pas de modification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avec l’âge</a:t>
              </a:r>
              <a:endParaRPr b="0" lang="en-US" sz="1800" strike="noStrike" u="none">
                <a:solidFill>
                  <a:srgbClr val="ffff00"/>
                </a:solidFill>
                <a:effectLst/>
                <a:uFillTx/>
                <a:latin typeface="Times New Roman"/>
              </a:endParaRPr>
            </a:p>
          </p:txBody>
        </p:sp>
        <p:sp>
          <p:nvSpPr>
            <p:cNvPr id="1727" name="Text Box 17"/>
            <p:cNvSpPr/>
            <p:nvPr/>
          </p:nvSpPr>
          <p:spPr>
            <a:xfrm>
              <a:off x="6406920" y="3100320"/>
              <a:ext cx="195912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Identique à celle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de l’adulte</a:t>
              </a:r>
              <a:endParaRPr b="0" lang="en-US" sz="1800" strike="noStrike" u="none">
                <a:solidFill>
                  <a:srgbClr val="ffff00"/>
                </a:solidFill>
                <a:effectLst/>
                <a:uFillTx/>
                <a:latin typeface="Times New Roman"/>
              </a:endParaRPr>
            </a:p>
          </p:txBody>
        </p:sp>
        <p:sp>
          <p:nvSpPr>
            <p:cNvPr id="1728" name="Text Box 18"/>
            <p:cNvSpPr/>
            <p:nvPr/>
          </p:nvSpPr>
          <p:spPr>
            <a:xfrm>
              <a:off x="673200" y="4303440"/>
              <a:ext cx="4982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CP</a:t>
              </a:r>
              <a:endParaRPr b="0" lang="en-US" sz="1800" strike="noStrike" u="none">
                <a:solidFill>
                  <a:srgbClr val="ffff00"/>
                </a:solidFill>
                <a:effectLst/>
                <a:uFillTx/>
                <a:latin typeface="Times New Roman"/>
              </a:endParaRPr>
            </a:p>
          </p:txBody>
        </p:sp>
        <p:sp>
          <p:nvSpPr>
            <p:cNvPr id="1729" name="Text Box 19"/>
            <p:cNvSpPr/>
            <p:nvPr/>
          </p:nvSpPr>
          <p:spPr>
            <a:xfrm>
              <a:off x="1891800" y="4227480"/>
              <a:ext cx="9435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12 à 22</a:t>
              </a:r>
              <a:endParaRPr b="0" lang="en-US" sz="1800" strike="noStrike" u="none">
                <a:solidFill>
                  <a:srgbClr val="ffff00"/>
                </a:solidFill>
                <a:effectLst/>
                <a:uFillTx/>
                <a:latin typeface="Times New Roman"/>
              </a:endParaRPr>
            </a:p>
          </p:txBody>
        </p:sp>
        <p:sp>
          <p:nvSpPr>
            <p:cNvPr id="1730" name="Text Box 20"/>
            <p:cNvSpPr/>
            <p:nvPr/>
          </p:nvSpPr>
          <p:spPr>
            <a:xfrm>
              <a:off x="3507480" y="4243320"/>
              <a:ext cx="277200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Plus faible chez l’enfant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Mais non chez l’ado</a:t>
              </a:r>
              <a:endParaRPr b="0" lang="en-US" sz="1800" strike="noStrike" u="none">
                <a:solidFill>
                  <a:srgbClr val="ffff00"/>
                </a:solidFill>
                <a:effectLst/>
                <a:uFillTx/>
                <a:latin typeface="Times New Roman"/>
              </a:endParaRPr>
            </a:p>
          </p:txBody>
        </p:sp>
        <p:sp>
          <p:nvSpPr>
            <p:cNvPr id="1731" name="Text Box 21"/>
            <p:cNvSpPr/>
            <p:nvPr/>
          </p:nvSpPr>
          <p:spPr>
            <a:xfrm>
              <a:off x="6325920" y="4190760"/>
              <a:ext cx="26449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Identique ou inférieure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à celle de l’adulte</a:t>
              </a:r>
              <a:endParaRPr b="0" lang="en-US" sz="1800" strike="noStrike" u="none">
                <a:solidFill>
                  <a:srgbClr val="ffff00"/>
                </a:solidFill>
                <a:effectLst/>
                <a:uFillTx/>
                <a:latin typeface="Times New Roman"/>
              </a:endParaRPr>
            </a:p>
          </p:txBody>
        </p:sp>
        <p:sp>
          <p:nvSpPr>
            <p:cNvPr id="1732" name="Line 22"/>
            <p:cNvSpPr/>
            <p:nvPr/>
          </p:nvSpPr>
          <p:spPr>
            <a:xfrm>
              <a:off x="380880" y="5181480"/>
              <a:ext cx="87631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733" name="Text Box 23"/>
            <p:cNvSpPr/>
            <p:nvPr/>
          </p:nvSpPr>
          <p:spPr>
            <a:xfrm>
              <a:off x="382320" y="5410080"/>
              <a:ext cx="13496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Glycogène</a:t>
              </a:r>
              <a:endParaRPr b="0" lang="en-US" sz="1800" strike="noStrike" u="none">
                <a:solidFill>
                  <a:srgbClr val="ffff00"/>
                </a:solidFill>
                <a:effectLst/>
                <a:uFillTx/>
                <a:latin typeface="Times New Roman"/>
              </a:endParaRPr>
            </a:p>
          </p:txBody>
        </p:sp>
        <p:sp>
          <p:nvSpPr>
            <p:cNvPr id="1734" name="Text Box 24"/>
            <p:cNvSpPr/>
            <p:nvPr/>
          </p:nvSpPr>
          <p:spPr>
            <a:xfrm>
              <a:off x="1906200" y="5410080"/>
              <a:ext cx="9435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45 à 75</a:t>
              </a:r>
              <a:endParaRPr b="0" lang="en-US" sz="1800" strike="noStrike" u="none">
                <a:solidFill>
                  <a:srgbClr val="ffff00"/>
                </a:solidFill>
                <a:effectLst/>
                <a:uFillTx/>
                <a:latin typeface="Times New Roman"/>
              </a:endParaRPr>
            </a:p>
          </p:txBody>
        </p:sp>
        <p:sp>
          <p:nvSpPr>
            <p:cNvPr id="1735" name="Text Box 25"/>
            <p:cNvSpPr/>
            <p:nvPr/>
          </p:nvSpPr>
          <p:spPr>
            <a:xfrm>
              <a:off x="3595320" y="5408640"/>
              <a:ext cx="277200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Plus faible chez l’enfant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Proche chez l’ado</a:t>
              </a:r>
              <a:endParaRPr b="0" lang="en-US" sz="1800" strike="noStrike" u="none">
                <a:solidFill>
                  <a:srgbClr val="ffff00"/>
                </a:solidFill>
                <a:effectLst/>
                <a:uFillTx/>
                <a:latin typeface="Times New Roman"/>
              </a:endParaRPr>
            </a:p>
          </p:txBody>
        </p:sp>
        <p:sp>
          <p:nvSpPr>
            <p:cNvPr id="1736" name="Rectangle 26"/>
            <p:cNvSpPr/>
            <p:nvPr/>
          </p:nvSpPr>
          <p:spPr>
            <a:xfrm>
              <a:off x="380880" y="762120"/>
              <a:ext cx="8763120" cy="5333760"/>
            </a:xfrm>
            <a:prstGeom prst="rect">
              <a:avLst/>
            </a:prstGeom>
            <a:noFill/>
            <a:ln w="2844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37" name="Text Box 27"/>
            <p:cNvSpPr/>
            <p:nvPr/>
          </p:nvSpPr>
          <p:spPr>
            <a:xfrm>
              <a:off x="6325560" y="5410080"/>
              <a:ext cx="248040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Plus basse que celle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de l’adulte </a:t>
              </a:r>
              <a:endParaRPr b="0" lang="en-US" sz="1800" strike="noStrike" u="none">
                <a:solidFill>
                  <a:srgbClr val="ffff00"/>
                </a:solidFill>
                <a:effectLst/>
                <a:uFillTx/>
                <a:latin typeface="Times New Roman"/>
              </a:endParaRPr>
            </a:p>
          </p:txBody>
        </p:sp>
      </p:grpSp>
      <p:sp>
        <p:nvSpPr>
          <p:cNvPr id="1738" name="Text Box 29"/>
          <p:cNvSpPr/>
          <p:nvPr/>
        </p:nvSpPr>
        <p:spPr>
          <a:xfrm>
            <a:off x="600120" y="6248520"/>
            <a:ext cx="80456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D’après Eriksson et Saltin (1974), Eriksson (1980), et Karlsson (1971)</a:t>
            </a:r>
            <a:endParaRPr b="0" lang="en-US" sz="2000" strike="noStrike" u="none">
              <a:solidFill>
                <a:srgbClr val="ffff00"/>
              </a:solidFill>
              <a:effectLst/>
              <a:uFillTx/>
              <a:latin typeface="Times New Roman"/>
            </a:endParaRPr>
          </a:p>
        </p:txBody>
      </p:sp>
    </p:spTree>
  </p:cSld>
  <p:transition spd="med">
    <p:zoom dir="out"/>
  </p:transition>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9" name="PlaceHolder 1"/>
          <p:cNvSpPr>
            <a:spLocks noGrp="1"/>
          </p:cNvSpPr>
          <p:nvPr>
            <p:ph/>
          </p:nvPr>
        </p:nvSpPr>
        <p:spPr>
          <a:xfrm>
            <a:off x="685800" y="1980720"/>
            <a:ext cx="7772400" cy="2667240"/>
          </a:xfrm>
          <a:prstGeom prst="rect">
            <a:avLst/>
          </a:prstGeom>
          <a:noFill/>
          <a:ln w="0">
            <a:noFill/>
          </a:ln>
        </p:spPr>
        <p:txBody>
          <a:bodyPr lIns="91440" rIns="91440" tIns="45720" bIns="45720" anchor="t">
            <a:normAutofit/>
          </a:bodyPr>
          <a:p>
            <a:pPr marL="343080" indent="-343080" algn="ctr">
              <a:lnSpc>
                <a:spcPct val="13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800" strike="noStrike" u="none">
                <a:solidFill>
                  <a:srgbClr val="ffff00"/>
                </a:solidFill>
                <a:effectLst/>
                <a:uFillTx/>
                <a:latin typeface="Bookman Old Style"/>
              </a:rPr>
              <a:t>CAPACITE ANAEROBIE LACTIQUE ET APTITUDE A L’EXERCICE INTENSE DE MOYENNE DUREE DE L’ENFANT ET DE L’ADOLESCENT</a:t>
            </a:r>
            <a:endParaRPr b="0" lang="en-US" sz="2800" strike="noStrike" u="none">
              <a:solidFill>
                <a:srgbClr val="ffff00"/>
              </a:solidFill>
              <a:effectLst/>
              <a:uFillTx/>
              <a:latin typeface="Times New Roman"/>
            </a:endParaRPr>
          </a:p>
        </p:txBody>
      </p:sp>
    </p:spTree>
  </p:cSld>
  <p:transition spd="med">
    <p:zoom dir="out"/>
  </p:transition>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0" name="Text Box 2"/>
          <p:cNvSpPr/>
          <p:nvPr/>
        </p:nvSpPr>
        <p:spPr>
          <a:xfrm>
            <a:off x="539280" y="1447920"/>
            <a:ext cx="8346600" cy="1607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capacité anaérobie traduit la possibilité de maintenir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un exercice d’intensité  maximale ou supra maximale (égale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ou supérieure à VO</a:t>
            </a:r>
            <a:r>
              <a:rPr b="0" lang="fr-FR" sz="2400" strike="noStrike" u="none" baseline="-25000">
                <a:solidFill>
                  <a:srgbClr val="ffff00"/>
                </a:solidFill>
                <a:effectLst/>
                <a:uFillTx/>
                <a:latin typeface="Arial"/>
              </a:rPr>
              <a:t>2</a:t>
            </a:r>
            <a:r>
              <a:rPr b="0" lang="fr-FR" sz="2400" strike="noStrike" u="none">
                <a:solidFill>
                  <a:srgbClr val="ffff00"/>
                </a:solidFill>
                <a:effectLst/>
                <a:uFillTx/>
                <a:latin typeface="Arial"/>
              </a:rPr>
              <a:t>max ou à la PAM) pendant une durée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relativement courte, entre 20s et au maximum  2 à 3 min.</a:t>
            </a:r>
            <a:endParaRPr b="0" lang="en-US" sz="2400" strike="noStrike" u="none">
              <a:solidFill>
                <a:srgbClr val="ffff00"/>
              </a:solidFill>
              <a:effectLst/>
              <a:uFillTx/>
              <a:latin typeface="Times New Roman"/>
            </a:endParaRPr>
          </a:p>
        </p:txBody>
      </p:sp>
      <p:sp>
        <p:nvSpPr>
          <p:cNvPr id="1741" name="Text Box 3"/>
          <p:cNvSpPr/>
          <p:nvPr/>
        </p:nvSpPr>
        <p:spPr>
          <a:xfrm>
            <a:off x="514440" y="5141880"/>
            <a:ext cx="840096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Même lors d ’un exercice de très courte durée il est difficile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de connaître la part respective de ces deux sources.</a:t>
            </a:r>
            <a:r>
              <a:rPr b="0" lang="fr-FR" sz="2400" strike="noStrike" u="none">
                <a:solidFill>
                  <a:srgbClr val="ffff00"/>
                </a:solidFill>
                <a:effectLst/>
                <a:uFillTx/>
                <a:latin typeface="Times New Roman"/>
              </a:rPr>
              <a:t>   </a:t>
            </a:r>
            <a:endParaRPr b="0" lang="en-US" sz="2400" strike="noStrike" u="none">
              <a:solidFill>
                <a:srgbClr val="ffff00"/>
              </a:solidFill>
              <a:effectLst/>
              <a:uFillTx/>
              <a:latin typeface="Times New Roman"/>
            </a:endParaRPr>
          </a:p>
        </p:txBody>
      </p:sp>
      <p:sp>
        <p:nvSpPr>
          <p:cNvPr id="1742" name="Text Box 4"/>
          <p:cNvSpPr/>
          <p:nvPr/>
        </p:nvSpPr>
        <p:spPr>
          <a:xfrm>
            <a:off x="547560" y="3236760"/>
            <a:ext cx="8291520" cy="15570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D’un point de vue énergétique deux sources sont</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principalement mises en jeu: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1- la source des phosphagènes : ATP et PCr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2- la glycolyse lactique.</a:t>
            </a:r>
            <a:r>
              <a:rPr b="0" lang="fr-FR" sz="2400" strike="noStrike" u="none">
                <a:solidFill>
                  <a:srgbClr val="ffff00"/>
                </a:solidFill>
                <a:effectLst/>
                <a:uFillTx/>
                <a:latin typeface="Times New Roman"/>
              </a:rPr>
              <a:t> </a:t>
            </a:r>
            <a:endParaRPr b="0" lang="en-US" sz="2400" strike="noStrike" u="none">
              <a:solidFill>
                <a:srgbClr val="ffff00"/>
              </a:solidFill>
              <a:effectLst/>
              <a:uFillTx/>
              <a:latin typeface="Times New Roman"/>
            </a:endParaRPr>
          </a:p>
        </p:txBody>
      </p:sp>
      <p:sp>
        <p:nvSpPr>
          <p:cNvPr id="1743" name="Text Box 5"/>
          <p:cNvSpPr/>
          <p:nvPr/>
        </p:nvSpPr>
        <p:spPr>
          <a:xfrm>
            <a:off x="3277440" y="533520"/>
            <a:ext cx="19080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DEFINITION</a:t>
            </a:r>
            <a:endParaRPr b="0" lang="en-US" sz="2400" strike="noStrike" u="none">
              <a:solidFill>
                <a:srgbClr val="ffff00"/>
              </a:solidFill>
              <a:effectLst/>
              <a:uFillTx/>
              <a:latin typeface="Times New Roman"/>
            </a:endParaRPr>
          </a:p>
        </p:txBody>
      </p:sp>
    </p:spTree>
  </p:cSld>
  <p:transition spd="med">
    <p:zoom dir="out"/>
  </p:transition>
  <p:timing>
    <p:tnLst>
      <p:par>
        <p:cTn id="1953" dur="indefinite" restart="never" nodeType="tmRoot">
          <p:childTnLst>
            <p:seq>
              <p:cTn id="1954" dur="indefinite" nodeType="mainSeq">
                <p:childTnLst>
                  <p:par>
                    <p:cTn id="1955" nodeType="clickEffect" fill="hold">
                      <p:stCondLst>
                        <p:cond delay="0"/>
                      </p:stCondLst>
                      <p:childTnLst>
                        <p:par>
                          <p:cTn id="1956" nodeType="withEffect" fill="hold">
                            <p:stCondLst>
                              <p:cond delay="0"/>
                            </p:stCondLst>
                            <p:childTnLst>
                              <p:par>
                                <p:cTn id="1957" nodeType="afterEffect" fill="hold" presetClass="entr" presetID="9">
                                  <p:stCondLst>
                                    <p:cond delay="1000"/>
                                  </p:stCondLst>
                                  <p:childTnLst>
                                    <p:set>
                                      <p:cBhvr>
                                        <p:cTn id="1958" dur="1" fill="hold">
                                          <p:stCondLst>
                                            <p:cond delay="0"/>
                                          </p:stCondLst>
                                        </p:cTn>
                                        <p:tgtEl>
                                          <p:spTgt spid="1740"/>
                                        </p:tgtEl>
                                        <p:attrNameLst>
                                          <p:attrName>style.visibility</p:attrName>
                                        </p:attrNameLst>
                                      </p:cBhvr>
                                      <p:to>
                                        <p:strVal val="visible"/>
                                      </p:to>
                                    </p:set>
                                    <p:animEffect filter="dissolve" transition="in">
                                      <p:cBhvr additive="repl">
                                        <p:cTn id="1959" dur="500"/>
                                        <p:tgtEl>
                                          <p:spTgt spid="1740"/>
                                        </p:tgtEl>
                                      </p:cBhvr>
                                    </p:animEffect>
                                  </p:childTnLst>
                                </p:cTn>
                              </p:par>
                            </p:childTnLst>
                          </p:cTn>
                        </p:par>
                      </p:childTnLst>
                    </p:cTn>
                  </p:par>
                  <p:par>
                    <p:cTn id="1960" nodeType="clickEffect" fill="hold">
                      <p:stCondLst>
                        <p:cond delay="indefinite"/>
                      </p:stCondLst>
                      <p:childTnLst>
                        <p:par>
                          <p:cTn id="1961" nodeType="withEffect" fill="hold">
                            <p:stCondLst>
                              <p:cond delay="0"/>
                            </p:stCondLst>
                            <p:childTnLst>
                              <p:par>
                                <p:cTn id="1962" nodeType="clickEffect" fill="hold" presetClass="entr" presetID="9">
                                  <p:stCondLst>
                                    <p:cond delay="0"/>
                                  </p:stCondLst>
                                  <p:childTnLst>
                                    <p:set>
                                      <p:cBhvr>
                                        <p:cTn id="1963" dur="1" fill="hold">
                                          <p:stCondLst>
                                            <p:cond delay="0"/>
                                          </p:stCondLst>
                                        </p:cTn>
                                        <p:tgtEl>
                                          <p:spTgt spid="1742"/>
                                        </p:tgtEl>
                                        <p:attrNameLst>
                                          <p:attrName>style.visibility</p:attrName>
                                        </p:attrNameLst>
                                      </p:cBhvr>
                                      <p:to>
                                        <p:strVal val="visible"/>
                                      </p:to>
                                    </p:set>
                                    <p:animEffect filter="dissolve" transition="in">
                                      <p:cBhvr additive="repl">
                                        <p:cTn id="1964" dur="500"/>
                                        <p:tgtEl>
                                          <p:spTgt spid="1742"/>
                                        </p:tgtEl>
                                      </p:cBhvr>
                                    </p:animEffect>
                                  </p:childTnLst>
                                </p:cTn>
                              </p:par>
                            </p:childTnLst>
                          </p:cTn>
                        </p:par>
                      </p:childTnLst>
                    </p:cTn>
                  </p:par>
                  <p:par>
                    <p:cTn id="1965" nodeType="clickEffect" fill="hold">
                      <p:stCondLst>
                        <p:cond delay="indefinite"/>
                      </p:stCondLst>
                      <p:childTnLst>
                        <p:par>
                          <p:cTn id="1966" nodeType="withEffect" fill="hold">
                            <p:stCondLst>
                              <p:cond delay="0"/>
                            </p:stCondLst>
                            <p:childTnLst>
                              <p:par>
                                <p:cTn id="1967" nodeType="clickEffect" fill="hold" presetClass="entr" presetID="2" presetSubtype="1">
                                  <p:stCondLst>
                                    <p:cond delay="0"/>
                                  </p:stCondLst>
                                  <p:iterate type="lt">
                                    <p:tmAbs val="75"/>
                                  </p:iterate>
                                  <p:childTnLst>
                                    <p:set>
                                      <p:cBhvr>
                                        <p:cTn id="1968" dur="1" fill="hold">
                                          <p:stCondLst>
                                            <p:cond delay="0"/>
                                          </p:stCondLst>
                                        </p:cTn>
                                        <p:tgtEl>
                                          <p:spTgt spid="1741"/>
                                        </p:tgtEl>
                                        <p:attrNameLst>
                                          <p:attrName>style.visibility</p:attrName>
                                        </p:attrNameLst>
                                      </p:cBhvr>
                                      <p:to>
                                        <p:strVal val="visible"/>
                                      </p:to>
                                    </p:set>
                                    <p:anim calcmode="lin" valueType="num">
                                      <p:cBhvr additive="base">
                                        <p:cTn id="1969" dur="75" fill="hold"/>
                                        <p:tgtEl>
                                          <p:spTgt spid="1741"/>
                                        </p:tgtEl>
                                        <p:attrNameLst>
                                          <p:attrName>ppt_x</p:attrName>
                                        </p:attrNameLst>
                                      </p:cBhvr>
                                      <p:tavLst>
                                        <p:tav tm="0">
                                          <p:val>
                                            <p:strVal val="#ppt_x"/>
                                          </p:val>
                                        </p:tav>
                                        <p:tav tm="100000">
                                          <p:val>
                                            <p:strVal val="#ppt_x"/>
                                          </p:val>
                                        </p:tav>
                                      </p:tavLst>
                                    </p:anim>
                                    <p:anim calcmode="lin" valueType="num">
                                      <p:cBhvr additive="base">
                                        <p:cTn id="1970" dur="75" fill="hold"/>
                                        <p:tgtEl>
                                          <p:spTgt spid="174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4" name="Text Box 2"/>
          <p:cNvSpPr/>
          <p:nvPr/>
        </p:nvSpPr>
        <p:spPr>
          <a:xfrm>
            <a:off x="609480" y="1066680"/>
            <a:ext cx="8305920" cy="3420360"/>
          </a:xfrm>
          <a:prstGeom prst="rect">
            <a:avLst/>
          </a:prstGeom>
          <a:noFill/>
          <a:ln w="0">
            <a:noFill/>
          </a:ln>
        </p:spPr>
        <p:style>
          <a:lnRef idx="0"/>
          <a:fillRef idx="0"/>
          <a:effectRef idx="0"/>
          <a:fontRef idx="minor"/>
        </p:style>
        <p:txBody>
          <a:bodyPr lIns="90000" rIns="90000" tIns="46800" bIns="46800" anchor="t">
            <a:spAutoFit/>
          </a:bodyPr>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Il a été longtemps soutenu qu’il ne fallait pas soumettre </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l’enfant à des exercices de type anérobie lactique.</a:t>
            </a: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3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A cause d’une maturation insuffisante des enzymes glycolytiques chez l’enfant, ces exercices seraient inefficaces pour améliorer  la glycolyse lactique et pourraient même s’avérer dangereux pour sa santé.</a:t>
            </a:r>
            <a:endParaRPr b="0" lang="en-US" sz="2400" strike="noStrike" u="none">
              <a:solidFill>
                <a:srgbClr val="ffff00"/>
              </a:solidFill>
              <a:effectLst/>
              <a:uFillTx/>
              <a:latin typeface="Times New Roman"/>
            </a:endParaRPr>
          </a:p>
        </p:txBody>
      </p:sp>
      <p:sp>
        <p:nvSpPr>
          <p:cNvPr id="1745" name="Text Box 3"/>
          <p:cNvSpPr/>
          <p:nvPr/>
        </p:nvSpPr>
        <p:spPr>
          <a:xfrm>
            <a:off x="2667600" y="5181480"/>
            <a:ext cx="387324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Arial"/>
              </a:rPr>
              <a:t>Qu’en est-il exactement ?</a:t>
            </a:r>
            <a:endParaRPr b="0" lang="en-US" sz="2400" strike="noStrike" u="none">
              <a:solidFill>
                <a:srgbClr val="ffff00"/>
              </a:solidFill>
              <a:effectLst/>
              <a:uFillTx/>
              <a:latin typeface="Times New Roman"/>
            </a:endParaRPr>
          </a:p>
        </p:txBody>
      </p:sp>
    </p:spTree>
  </p:cSld>
  <p:transition spd="med">
    <p:zoom dir="out"/>
  </p:transition>
  <p:timing>
    <p:tnLst>
      <p:par>
        <p:cTn id="1971" dur="indefinite" restart="never" nodeType="tmRoot">
          <p:childTnLst>
            <p:seq>
              <p:cTn id="1972" dur="indefinite" nodeType="mainSeq">
                <p:childTnLst>
                  <p:par>
                    <p:cTn id="1973" nodeType="clickEffect" fill="hold">
                      <p:stCondLst>
                        <p:cond delay="0"/>
                      </p:stCondLst>
                      <p:childTnLst>
                        <p:par>
                          <p:cTn id="1974" nodeType="withEffect" fill="hold">
                            <p:stCondLst>
                              <p:cond delay="0"/>
                            </p:stCondLst>
                            <p:childTnLst>
                              <p:par>
                                <p:cTn id="1975" nodeType="afterEffect" fill="hold" presetClass="entr" presetID="9">
                                  <p:stCondLst>
                                    <p:cond delay="0"/>
                                  </p:stCondLst>
                                  <p:iterate type="wd">
                                    <p:tmAbs val="300"/>
                                  </p:iterate>
                                  <p:childTnLst>
                                    <p:set>
                                      <p:cBhvr>
                                        <p:cTn id="1976" dur="1" fill="hold">
                                          <p:stCondLst>
                                            <p:cond delay="0"/>
                                          </p:stCondLst>
                                        </p:cTn>
                                        <p:tgtEl>
                                          <p:spTgt spid="1744"/>
                                        </p:tgtEl>
                                        <p:attrNameLst>
                                          <p:attrName>style.visibility</p:attrName>
                                        </p:attrNameLst>
                                      </p:cBhvr>
                                      <p:to>
                                        <p:strVal val="visible"/>
                                      </p:to>
                                    </p:set>
                                    <p:animEffect filter="dissolve" transition="in">
                                      <p:cBhvr additive="repl">
                                        <p:cTn id="1977" dur="300"/>
                                        <p:tgtEl>
                                          <p:spTgt spid="1744"/>
                                        </p:tgtEl>
                                      </p:cBhvr>
                                    </p:animEffect>
                                  </p:childTnLst>
                                </p:cTn>
                              </p:par>
                            </p:childTnLst>
                          </p:cTn>
                        </p:par>
                        <p:par>
                          <p:cTn id="1978" nodeType="afterEffect" fill="hold">
                            <p:stCondLst>
                              <p:cond delay="14700"/>
                            </p:stCondLst>
                            <p:childTnLst>
                              <p:par>
                                <p:cTn id="1979" nodeType="afterEffect" fill="hold" presetClass="entr" presetID="9">
                                  <p:stCondLst>
                                    <p:cond delay="2000"/>
                                  </p:stCondLst>
                                  <p:childTnLst>
                                    <p:set>
                                      <p:cBhvr>
                                        <p:cTn id="1980" dur="1" fill="hold">
                                          <p:stCondLst>
                                            <p:cond delay="0"/>
                                          </p:stCondLst>
                                        </p:cTn>
                                        <p:tgtEl>
                                          <p:spTgt spid="1745"/>
                                        </p:tgtEl>
                                        <p:attrNameLst>
                                          <p:attrName>style.visibility</p:attrName>
                                        </p:attrNameLst>
                                      </p:cBhvr>
                                      <p:to>
                                        <p:strVal val="visible"/>
                                      </p:to>
                                    </p:set>
                                    <p:animEffect filter="dissolve" transition="in">
                                      <p:cBhvr additive="repl">
                                        <p:cTn id="1981" dur="500"/>
                                        <p:tgtEl>
                                          <p:spTgt spid="17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6" name="Rectangle 2"/>
          <p:cNvSpPr/>
          <p:nvPr/>
        </p:nvSpPr>
        <p:spPr>
          <a:xfrm>
            <a:off x="2514600" y="1492200"/>
            <a:ext cx="3962520" cy="336240"/>
          </a:xfrm>
          <a:prstGeom prst="rect">
            <a:avLst/>
          </a:prstGeom>
          <a:noFill/>
          <a:ln w="0">
            <a:noFill/>
          </a:ln>
        </p:spPr>
        <p:style>
          <a:lnRef idx="0"/>
          <a:fillRef idx="0"/>
          <a:effectRef idx="0"/>
          <a:fontRef idx="minor"/>
        </p:style>
        <p:txBody>
          <a:bodyPr lIns="92160" rIns="92160" tIns="46080" bIns="46080" anchor="t">
            <a:spAutoFit/>
          </a:bodyPr>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AU COURS D’UN EXERCICE INTENSE </a:t>
            </a:r>
            <a:endParaRPr b="0" lang="en-US" sz="1600" strike="noStrike" u="none">
              <a:solidFill>
                <a:srgbClr val="ffff00"/>
              </a:solidFill>
              <a:effectLst/>
              <a:uFillTx/>
              <a:latin typeface="Times New Roman"/>
            </a:endParaRPr>
          </a:p>
        </p:txBody>
      </p:sp>
      <p:graphicFrame>
        <p:nvGraphicFramePr>
          <p:cNvPr id="1747" name="Object 3"/>
          <p:cNvGraphicFramePr/>
          <p:nvPr/>
        </p:nvGraphicFramePr>
        <p:xfrm>
          <a:off x="6705720" y="566640"/>
          <a:ext cx="1550880" cy="1490760"/>
        </p:xfrm>
        <a:graphic>
          <a:graphicData uri="http://schemas.openxmlformats.org/presentationml/2006/ole">
            <p:oleObj r:id="rId1" spid="">
              <p:embed/>
              <p:pic>
                <p:nvPicPr>
                  <p:cNvPr id="1748" name="Object 3" descr=""/>
                  <p:cNvPicPr/>
                  <p:nvPr/>
                </p:nvPicPr>
                <p:blipFill>
                  <a:blip r:embed="rId2"/>
                  <a:stretch/>
                </p:blipFill>
                <p:spPr>
                  <a:xfrm>
                    <a:off x="6705720" y="566640"/>
                    <a:ext cx="1550880" cy="1490760"/>
                  </a:xfrm>
                  <a:prstGeom prst="rect">
                    <a:avLst/>
                  </a:prstGeom>
                  <a:noFill/>
                  <a:ln w="0">
                    <a:noFill/>
                  </a:ln>
                </p:spPr>
              </p:pic>
            </p:oleObj>
          </a:graphicData>
        </a:graphic>
      </p:graphicFrame>
      <p:graphicFrame>
        <p:nvGraphicFramePr>
          <p:cNvPr id="1749" name="Object 4"/>
          <p:cNvGraphicFramePr/>
          <p:nvPr/>
        </p:nvGraphicFramePr>
        <p:xfrm>
          <a:off x="657360" y="2362320"/>
          <a:ext cx="7827840" cy="3997080"/>
        </p:xfrm>
        <a:graphic>
          <a:graphicData uri="http://schemas.openxmlformats.org/presentationml/2006/ole">
            <p:oleObj progId="Word.Document.12" r:id="rId3" spid="">
              <p:embed/>
              <p:pic>
                <p:nvPicPr>
                  <p:cNvPr id="1750" name="Object 4" descr=""/>
                  <p:cNvPicPr/>
                  <p:nvPr/>
                </p:nvPicPr>
                <p:blipFill>
                  <a:blip r:embed="rId4"/>
                  <a:stretch/>
                </p:blipFill>
                <p:spPr>
                  <a:xfrm>
                    <a:off x="657360" y="2362320"/>
                    <a:ext cx="7827840" cy="3997080"/>
                  </a:xfrm>
                  <a:prstGeom prst="rect">
                    <a:avLst/>
                  </a:prstGeom>
                  <a:noFill/>
                  <a:ln w="0">
                    <a:noFill/>
                  </a:ln>
                </p:spPr>
              </p:pic>
            </p:oleObj>
          </a:graphicData>
        </a:graphic>
      </p:graphicFrame>
      <p:sp>
        <p:nvSpPr>
          <p:cNvPr id="1751" name="Rectangle 5"/>
          <p:cNvSpPr/>
          <p:nvPr/>
        </p:nvSpPr>
        <p:spPr>
          <a:xfrm>
            <a:off x="1066680" y="806400"/>
            <a:ext cx="3962520" cy="336240"/>
          </a:xfrm>
          <a:prstGeom prst="rect">
            <a:avLst/>
          </a:prstGeom>
          <a:noFill/>
          <a:ln w="0">
            <a:noFill/>
          </a:ln>
        </p:spPr>
        <p:style>
          <a:lnRef idx="0"/>
          <a:fillRef idx="0"/>
          <a:effectRef idx="0"/>
          <a:fontRef idx="minor"/>
        </p:style>
        <p:txBody>
          <a:bodyPr lIns="92160" rIns="92160" tIns="46080" bIns="46080" anchor="t">
            <a:spAutoFit/>
          </a:bodyPr>
          <a:p>
            <a:pPr>
              <a:spcBef>
                <a:spcPts val="1001"/>
              </a:spcBef>
              <a:buClr>
                <a:srgbClr val="ffff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  </a:t>
            </a:r>
            <a:r>
              <a:rPr b="1" lang="fr-FR" sz="1600" strike="noStrike" u="sng">
                <a:solidFill>
                  <a:srgbClr val="ffff00"/>
                </a:solidFill>
                <a:effectLst/>
                <a:uFillTx/>
                <a:latin typeface="Times New Roman"/>
              </a:rPr>
              <a:t>REPONSE PHYSIOLOGIQUE</a:t>
            </a:r>
            <a:r>
              <a:rPr b="1" lang="fr-FR" sz="1600" strike="noStrike" u="none">
                <a:solidFill>
                  <a:srgbClr val="ffff00"/>
                </a:solidFill>
                <a:effectLst/>
                <a:uFillTx/>
                <a:latin typeface="Times New Roman"/>
              </a:rPr>
              <a:t> </a:t>
            </a:r>
            <a:endParaRPr b="0" lang="en-US" sz="1600" strike="noStrike" u="none">
              <a:solidFill>
                <a:srgbClr val="ffff00"/>
              </a:solidFill>
              <a:effectLst/>
              <a:uFillTx/>
              <a:latin typeface="Times New Roman"/>
            </a:endParaRPr>
          </a:p>
        </p:txBody>
      </p:sp>
    </p:spTree>
  </p:cSld>
  <p:transition spd="med">
    <p:zoom dir="out"/>
  </p:transition>
  <p:timing>
    <p:tnLst>
      <p:par>
        <p:cTn id="1982" dur="indefinite" restart="never" nodeType="tmRoot">
          <p:childTnLst>
            <p:seq>
              <p:cTn id="1983" dur="indefinite" nodeType="mainSeq">
                <p:childTnLst>
                  <p:par>
                    <p:cTn id="1984" nodeType="clickEffect" fill="hold">
                      <p:stCondLst>
                        <p:cond delay="indefinite"/>
                      </p:stCondLst>
                      <p:childTnLst>
                        <p:par>
                          <p:cTn id="1985" nodeType="withEffect" fill="hold">
                            <p:stCondLst>
                              <p:cond delay="0"/>
                            </p:stCondLst>
                            <p:childTnLst>
                              <p:par>
                                <p:cTn id="1986" nodeType="clickEffect" fill="hold" presetClass="entr" presetID="22" presetSubtype="2">
                                  <p:stCondLst>
                                    <p:cond delay="0"/>
                                  </p:stCondLst>
                                  <p:childTnLst>
                                    <p:set>
                                      <p:cBhvr>
                                        <p:cTn id="1987" dur="1" fill="hold">
                                          <p:stCondLst>
                                            <p:cond delay="0"/>
                                          </p:stCondLst>
                                        </p:cTn>
                                        <p:tgtEl>
                                          <p:spTgt spid="1746"/>
                                        </p:tgtEl>
                                        <p:attrNameLst>
                                          <p:attrName>style.visibility</p:attrName>
                                        </p:attrNameLst>
                                      </p:cBhvr>
                                      <p:to>
                                        <p:strVal val="visible"/>
                                      </p:to>
                                    </p:set>
                                    <p:animEffect filter="wipe(right)" transition="in">
                                      <p:cBhvr additive="repl">
                                        <p:cTn id="1988" dur="500"/>
                                        <p:tgtEl>
                                          <p:spTgt spid="1746"/>
                                        </p:tgtEl>
                                      </p:cBhvr>
                                    </p:animEffect>
                                  </p:childTnLst>
                                </p:cTn>
                              </p:par>
                            </p:childTnLst>
                          </p:cTn>
                        </p:par>
                      </p:childTnLst>
                    </p:cTn>
                  </p:par>
                  <p:par>
                    <p:cTn id="1989" nodeType="clickEffect" fill="hold">
                      <p:stCondLst>
                        <p:cond delay="indefinite"/>
                      </p:stCondLst>
                      <p:childTnLst>
                        <p:par>
                          <p:cTn id="1990" nodeType="withEffect" fill="hold">
                            <p:stCondLst>
                              <p:cond delay="0"/>
                            </p:stCondLst>
                            <p:childTnLst>
                              <p:par>
                                <p:cTn id="1991" nodeType="clickEffect" fill="hold" presetClass="entr" presetID="4" presetSubtype="32">
                                  <p:stCondLst>
                                    <p:cond delay="0"/>
                                  </p:stCondLst>
                                  <p:childTnLst>
                                    <p:set>
                                      <p:cBhvr>
                                        <p:cTn id="1992" dur="1" fill="hold">
                                          <p:stCondLst>
                                            <p:cond delay="0"/>
                                          </p:stCondLst>
                                        </p:cTn>
                                        <p:tgtEl>
                                          <p:spTgt spid="1748"/>
                                        </p:tgtEl>
                                        <p:attrNameLst>
                                          <p:attrName>style.visibility</p:attrName>
                                        </p:attrNameLst>
                                      </p:cBhvr>
                                      <p:to>
                                        <p:strVal val="visible"/>
                                      </p:to>
                                    </p:set>
                                    <p:animEffect filter="box(out)" transition="in">
                                      <p:cBhvr additive="repl">
                                        <p:cTn id="1993" dur="500"/>
                                        <p:tgtEl>
                                          <p:spTgt spid="1748"/>
                                        </p:tgtEl>
                                      </p:cBhvr>
                                    </p:animEffect>
                                  </p:childTnLst>
                                </p:cTn>
                              </p:par>
                            </p:childTnLst>
                          </p:cTn>
                        </p:par>
                        <p:par>
                          <p:cTn id="1994" nodeType="afterEffect" fill="hold">
                            <p:stCondLst>
                              <p:cond delay="500"/>
                            </p:stCondLst>
                            <p:childTnLst>
                              <p:par>
                                <p:cTn id="1995" nodeType="afterEffect" fill="hold" presetClass="entr" presetID="14" presetSubtype="10">
                                  <p:stCondLst>
                                    <p:cond delay="0"/>
                                  </p:stCondLst>
                                  <p:childTnLst>
                                    <p:set>
                                      <p:cBhvr>
                                        <p:cTn id="1996" dur="1" fill="hold">
                                          <p:stCondLst>
                                            <p:cond delay="0"/>
                                          </p:stCondLst>
                                        </p:cTn>
                                        <p:tgtEl>
                                          <p:spTgt spid="1750"/>
                                        </p:tgtEl>
                                        <p:attrNameLst>
                                          <p:attrName>style.visibility</p:attrName>
                                        </p:attrNameLst>
                                      </p:cBhvr>
                                      <p:to>
                                        <p:strVal val="visible"/>
                                      </p:to>
                                    </p:set>
                                    <p:animEffect filter="randombar(horizontal)" transition="in">
                                      <p:cBhvr additive="repl">
                                        <p:cTn id="1997" dur="500"/>
                                        <p:tgtEl>
                                          <p:spTgt spid="1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2" name="Rectangle 2"/>
          <p:cNvSpPr/>
          <p:nvPr/>
        </p:nvSpPr>
        <p:spPr>
          <a:xfrm>
            <a:off x="1371600" y="1222200"/>
            <a:ext cx="3621240" cy="3362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rPr>
              <a:t>APRES L’EXERCICE INTENSE</a:t>
            </a:r>
            <a:endParaRPr b="0" lang="en-US" sz="1600" strike="noStrike" u="none">
              <a:solidFill>
                <a:srgbClr val="ffff00"/>
              </a:solidFill>
              <a:effectLst/>
              <a:uFillTx/>
              <a:latin typeface="Times New Roman"/>
            </a:endParaRPr>
          </a:p>
        </p:txBody>
      </p:sp>
      <p:sp>
        <p:nvSpPr>
          <p:cNvPr id="1753" name="AutoShape 3"/>
          <p:cNvSpPr/>
          <p:nvPr/>
        </p:nvSpPr>
        <p:spPr>
          <a:xfrm>
            <a:off x="4986360" y="1146240"/>
            <a:ext cx="957240" cy="520560"/>
          </a:xfrm>
          <a:prstGeom prst="rightArrow">
            <a:avLst>
              <a:gd name="adj1" fmla="val 50000"/>
              <a:gd name="adj2" fmla="val 91952"/>
            </a:avLst>
          </a:prstGeom>
          <a:noFill/>
          <a:ln w="2556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54" name="Rectangle 4"/>
          <p:cNvSpPr/>
          <p:nvPr/>
        </p:nvSpPr>
        <p:spPr>
          <a:xfrm>
            <a:off x="5791320" y="990720"/>
            <a:ext cx="3179520" cy="7070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rPr>
              <a:t>pH SANGUIN</a:t>
            </a:r>
            <a:endParaRPr b="0" lang="en-US" sz="1600" strike="noStrike" u="none">
              <a:solidFill>
                <a:srgbClr val="ffff00"/>
              </a:solidFill>
              <a:effectLst/>
              <a:uFillTx/>
              <a:latin typeface="Times New Roman"/>
            </a:endParaRPr>
          </a:p>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rPr>
              <a:t>ENFANT  &gt;  ADULTE</a:t>
            </a:r>
            <a:endParaRPr b="0" lang="en-US" sz="1600" strike="noStrike" u="none">
              <a:solidFill>
                <a:srgbClr val="ffff00"/>
              </a:solidFill>
              <a:effectLst/>
              <a:uFillTx/>
              <a:latin typeface="Times New Roman"/>
            </a:endParaRPr>
          </a:p>
        </p:txBody>
      </p:sp>
      <p:graphicFrame>
        <p:nvGraphicFramePr>
          <p:cNvPr id="1755" name="Object 5"/>
          <p:cNvGraphicFramePr/>
          <p:nvPr/>
        </p:nvGraphicFramePr>
        <p:xfrm>
          <a:off x="1220760" y="1917720"/>
          <a:ext cx="7243920" cy="4737240"/>
        </p:xfrm>
        <a:graphic>
          <a:graphicData uri="http://schemas.openxmlformats.org/presentationml/2006/ole">
            <p:oleObj progId="Word.Document.12" r:id="rId1" spid="">
              <p:embed/>
              <p:pic>
                <p:nvPicPr>
                  <p:cNvPr id="1756" name="Object 5" descr=""/>
                  <p:cNvPicPr/>
                  <p:nvPr/>
                </p:nvPicPr>
                <p:blipFill>
                  <a:blip r:embed="rId2"/>
                  <a:stretch/>
                </p:blipFill>
                <p:spPr>
                  <a:xfrm>
                    <a:off x="1220760" y="1917720"/>
                    <a:ext cx="7243920" cy="4737240"/>
                  </a:xfrm>
                  <a:prstGeom prst="rect">
                    <a:avLst/>
                  </a:prstGeom>
                  <a:noFill/>
                  <a:ln w="0">
                    <a:noFill/>
                  </a:ln>
                </p:spPr>
              </p:pic>
            </p:oleObj>
          </a:graphicData>
        </a:graphic>
      </p:graphicFrame>
      <p:sp>
        <p:nvSpPr>
          <p:cNvPr id="1757" name="Rectangle 6"/>
          <p:cNvSpPr/>
          <p:nvPr/>
        </p:nvSpPr>
        <p:spPr>
          <a:xfrm>
            <a:off x="7785000" y="2560680"/>
            <a:ext cx="584280" cy="431640"/>
          </a:xfrm>
          <a:prstGeom prst="rect">
            <a:avLst/>
          </a:prstGeom>
          <a:noFill/>
          <a:ln w="255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58" name="Rectangle 7"/>
          <p:cNvSpPr/>
          <p:nvPr/>
        </p:nvSpPr>
        <p:spPr>
          <a:xfrm>
            <a:off x="7785000" y="3094200"/>
            <a:ext cx="584280" cy="431640"/>
          </a:xfrm>
          <a:prstGeom prst="rect">
            <a:avLst/>
          </a:prstGeom>
          <a:noFill/>
          <a:ln w="255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59" name="Rectangle 8"/>
          <p:cNvSpPr/>
          <p:nvPr/>
        </p:nvSpPr>
        <p:spPr>
          <a:xfrm>
            <a:off x="7785000" y="3627360"/>
            <a:ext cx="584280" cy="432000"/>
          </a:xfrm>
          <a:prstGeom prst="rect">
            <a:avLst/>
          </a:prstGeom>
          <a:noFill/>
          <a:ln w="255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60" name="Rectangle 9"/>
          <p:cNvSpPr/>
          <p:nvPr/>
        </p:nvSpPr>
        <p:spPr>
          <a:xfrm>
            <a:off x="7785000" y="4237200"/>
            <a:ext cx="584280" cy="431640"/>
          </a:xfrm>
          <a:prstGeom prst="rect">
            <a:avLst/>
          </a:prstGeom>
          <a:noFill/>
          <a:ln w="255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61" name="Rectangle 10"/>
          <p:cNvSpPr/>
          <p:nvPr/>
        </p:nvSpPr>
        <p:spPr>
          <a:xfrm>
            <a:off x="7785000" y="4770360"/>
            <a:ext cx="584280" cy="432000"/>
          </a:xfrm>
          <a:prstGeom prst="rect">
            <a:avLst/>
          </a:prstGeom>
          <a:noFill/>
          <a:ln w="255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62" name="Rectangle 11"/>
          <p:cNvSpPr/>
          <p:nvPr/>
        </p:nvSpPr>
        <p:spPr>
          <a:xfrm>
            <a:off x="7785000" y="5380200"/>
            <a:ext cx="584280" cy="431640"/>
          </a:xfrm>
          <a:prstGeom prst="rect">
            <a:avLst/>
          </a:prstGeom>
          <a:noFill/>
          <a:ln w="255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63" name="Rectangle 12"/>
          <p:cNvSpPr/>
          <p:nvPr/>
        </p:nvSpPr>
        <p:spPr>
          <a:xfrm>
            <a:off x="7785000" y="5913360"/>
            <a:ext cx="584280" cy="432000"/>
          </a:xfrm>
          <a:prstGeom prst="rect">
            <a:avLst/>
          </a:prstGeom>
          <a:noFill/>
          <a:ln w="255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64" name="Rectangle 13"/>
          <p:cNvSpPr/>
          <p:nvPr/>
        </p:nvSpPr>
        <p:spPr>
          <a:xfrm>
            <a:off x="533520" y="609480"/>
            <a:ext cx="3886200" cy="3974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2/ </a:t>
            </a:r>
            <a:r>
              <a:rPr b="1" lang="fr-FR" sz="2000" strike="noStrike" u="sng">
                <a:solidFill>
                  <a:srgbClr val="ffff00"/>
                </a:solidFill>
                <a:effectLst/>
                <a:uFillTx/>
                <a:latin typeface="Bookman Old Style"/>
              </a:rPr>
              <a:t>AU NIVEAU SANGUIN</a:t>
            </a:r>
            <a:endParaRPr b="0" lang="en-US" sz="2000" strike="noStrike" u="none">
              <a:solidFill>
                <a:srgbClr val="ffff00"/>
              </a:solidFill>
              <a:effectLst/>
              <a:uFillTx/>
              <a:latin typeface="Times New Roman"/>
            </a:endParaRPr>
          </a:p>
        </p:txBody>
      </p:sp>
    </p:spTree>
  </p:cSld>
  <p:transition spd="med">
    <p:zoom dir="out"/>
  </p:transition>
  <p:timing>
    <p:tnLst>
      <p:par>
        <p:cTn id="1998" dur="indefinite" restart="never" nodeType="tmRoot">
          <p:childTnLst>
            <p:seq>
              <p:cTn id="1999" dur="indefinite" nodeType="mainSeq">
                <p:childTnLst>
                  <p:par>
                    <p:cTn id="2000" nodeType="clickEffect" fill="hold">
                      <p:stCondLst>
                        <p:cond delay="0"/>
                      </p:stCondLst>
                      <p:childTnLst>
                        <p:par>
                          <p:cTn id="2001" nodeType="withEffect" fill="hold">
                            <p:stCondLst>
                              <p:cond delay="0"/>
                            </p:stCondLst>
                            <p:childTnLst>
                              <p:par>
                                <p:cTn id="2002" nodeType="afterEffect" fill="hold" presetClass="entr" presetID="22" presetSubtype="2">
                                  <p:stCondLst>
                                    <p:cond delay="0"/>
                                  </p:stCondLst>
                                  <p:childTnLst>
                                    <p:set>
                                      <p:cBhvr>
                                        <p:cTn id="2003" dur="1" fill="hold">
                                          <p:stCondLst>
                                            <p:cond delay="0"/>
                                          </p:stCondLst>
                                        </p:cTn>
                                        <p:tgtEl>
                                          <p:spTgt spid="1752"/>
                                        </p:tgtEl>
                                        <p:attrNameLst>
                                          <p:attrName>style.visibility</p:attrName>
                                        </p:attrNameLst>
                                      </p:cBhvr>
                                      <p:to>
                                        <p:strVal val="visible"/>
                                      </p:to>
                                    </p:set>
                                    <p:animEffect filter="wipe(right)" transition="in">
                                      <p:cBhvr additive="repl">
                                        <p:cTn id="2004" dur="500"/>
                                        <p:tgtEl>
                                          <p:spTgt spid="1752"/>
                                        </p:tgtEl>
                                      </p:cBhvr>
                                    </p:animEffect>
                                  </p:childTnLst>
                                </p:cTn>
                              </p:par>
                            </p:childTnLst>
                          </p:cTn>
                        </p:par>
                        <p:par>
                          <p:cTn id="2005" nodeType="afterEffect" fill="hold">
                            <p:stCondLst>
                              <p:cond delay="500"/>
                            </p:stCondLst>
                            <p:childTnLst>
                              <p:par>
                                <p:cTn id="2006" nodeType="afterEffect" fill="hold" presetClass="entr" presetID="4" presetSubtype="32">
                                  <p:stCondLst>
                                    <p:cond delay="0"/>
                                  </p:stCondLst>
                                  <p:childTnLst>
                                    <p:set>
                                      <p:cBhvr>
                                        <p:cTn id="2007" dur="1" fill="hold">
                                          <p:stCondLst>
                                            <p:cond delay="0"/>
                                          </p:stCondLst>
                                        </p:cTn>
                                        <p:tgtEl>
                                          <p:spTgt spid="1753"/>
                                        </p:tgtEl>
                                        <p:attrNameLst>
                                          <p:attrName>style.visibility</p:attrName>
                                        </p:attrNameLst>
                                      </p:cBhvr>
                                      <p:to>
                                        <p:strVal val="visible"/>
                                      </p:to>
                                    </p:set>
                                    <p:animEffect filter="box(out)" transition="in">
                                      <p:cBhvr additive="repl">
                                        <p:cTn id="2008" dur="500"/>
                                        <p:tgtEl>
                                          <p:spTgt spid="1753"/>
                                        </p:tgtEl>
                                      </p:cBhvr>
                                    </p:animEffect>
                                  </p:childTnLst>
                                </p:cTn>
                              </p:par>
                            </p:childTnLst>
                          </p:cTn>
                        </p:par>
                        <p:par>
                          <p:cTn id="2009" nodeType="afterEffect" fill="hold">
                            <p:stCondLst>
                              <p:cond delay="1000"/>
                            </p:stCondLst>
                            <p:childTnLst>
                              <p:par>
                                <p:cTn id="2010" nodeType="afterEffect" fill="hold" presetClass="entr" presetID="22" presetSubtype="8">
                                  <p:stCondLst>
                                    <p:cond delay="0"/>
                                  </p:stCondLst>
                                  <p:childTnLst>
                                    <p:set>
                                      <p:cBhvr>
                                        <p:cTn id="2011" dur="1" fill="hold">
                                          <p:stCondLst>
                                            <p:cond delay="0"/>
                                          </p:stCondLst>
                                        </p:cTn>
                                        <p:tgtEl>
                                          <p:spTgt spid="1754"/>
                                        </p:tgtEl>
                                        <p:attrNameLst>
                                          <p:attrName>style.visibility</p:attrName>
                                        </p:attrNameLst>
                                      </p:cBhvr>
                                      <p:to>
                                        <p:strVal val="visible"/>
                                      </p:to>
                                    </p:set>
                                    <p:animEffect filter="wipe(left)" transition="in">
                                      <p:cBhvr additive="repl">
                                        <p:cTn id="2012" dur="500"/>
                                        <p:tgtEl>
                                          <p:spTgt spid="1754"/>
                                        </p:tgtEl>
                                      </p:cBhvr>
                                    </p:animEffect>
                                  </p:childTnLst>
                                </p:cTn>
                              </p:par>
                            </p:childTnLst>
                          </p:cTn>
                        </p:par>
                      </p:childTnLst>
                    </p:cTn>
                  </p:par>
                  <p:par>
                    <p:cTn id="2013" nodeType="clickEffect" fill="hold">
                      <p:stCondLst>
                        <p:cond delay="indefinite"/>
                      </p:stCondLst>
                      <p:childTnLst>
                        <p:par>
                          <p:cTn id="2014" nodeType="withEffect" fill="hold">
                            <p:stCondLst>
                              <p:cond delay="0"/>
                            </p:stCondLst>
                            <p:childTnLst>
                              <p:par>
                                <p:cTn id="2015" nodeType="clickEffect" fill="hold" presetClass="entr" presetID="9">
                                  <p:stCondLst>
                                    <p:cond delay="0"/>
                                  </p:stCondLst>
                                  <p:childTnLst>
                                    <p:set>
                                      <p:cBhvr>
                                        <p:cTn id="2016" dur="1" fill="hold">
                                          <p:stCondLst>
                                            <p:cond delay="0"/>
                                          </p:stCondLst>
                                        </p:cTn>
                                        <p:tgtEl>
                                          <p:spTgt spid="1756"/>
                                        </p:tgtEl>
                                        <p:attrNameLst>
                                          <p:attrName>style.visibility</p:attrName>
                                        </p:attrNameLst>
                                      </p:cBhvr>
                                      <p:to>
                                        <p:strVal val="visible"/>
                                      </p:to>
                                    </p:set>
                                    <p:animEffect filter="dissolve" transition="in">
                                      <p:cBhvr additive="repl">
                                        <p:cTn id="2017" dur="500"/>
                                        <p:tgtEl>
                                          <p:spTgt spid="1756"/>
                                        </p:tgtEl>
                                      </p:cBhvr>
                                    </p:animEffect>
                                  </p:childTnLst>
                                </p:cTn>
                              </p:par>
                            </p:childTnLst>
                          </p:cTn>
                        </p:par>
                      </p:childTnLst>
                    </p:cTn>
                  </p:par>
                  <p:par>
                    <p:cTn id="2018" nodeType="clickEffect" fill="hold">
                      <p:stCondLst>
                        <p:cond delay="indefinite"/>
                      </p:stCondLst>
                      <p:childTnLst>
                        <p:par>
                          <p:cTn id="2019" nodeType="withEffect" fill="hold">
                            <p:stCondLst>
                              <p:cond delay="0"/>
                            </p:stCondLst>
                            <p:childTnLst>
                              <p:par>
                                <p:cTn id="2020" nodeType="clickEffect" fill="hold" presetClass="entr" presetID="4" presetSubtype="32">
                                  <p:stCondLst>
                                    <p:cond delay="0"/>
                                  </p:stCondLst>
                                  <p:childTnLst>
                                    <p:set>
                                      <p:cBhvr>
                                        <p:cTn id="2021" dur="1" fill="hold">
                                          <p:stCondLst>
                                            <p:cond delay="0"/>
                                          </p:stCondLst>
                                        </p:cTn>
                                        <p:tgtEl>
                                          <p:spTgt spid="1757"/>
                                        </p:tgtEl>
                                        <p:attrNameLst>
                                          <p:attrName>style.visibility</p:attrName>
                                        </p:attrNameLst>
                                      </p:cBhvr>
                                      <p:to>
                                        <p:strVal val="visible"/>
                                      </p:to>
                                    </p:set>
                                    <p:animEffect filter="box(out)" transition="in">
                                      <p:cBhvr additive="repl">
                                        <p:cTn id="2022" dur="500"/>
                                        <p:tgtEl>
                                          <p:spTgt spid="1757"/>
                                        </p:tgtEl>
                                      </p:cBhvr>
                                    </p:animEffect>
                                  </p:childTnLst>
                                </p:cTn>
                              </p:par>
                            </p:childTnLst>
                          </p:cTn>
                        </p:par>
                        <p:par>
                          <p:cTn id="2023" nodeType="afterEffect" fill="hold">
                            <p:stCondLst>
                              <p:cond delay="500"/>
                            </p:stCondLst>
                            <p:childTnLst>
                              <p:par>
                                <p:cTn id="2024" nodeType="afterEffect" fill="hold" presetClass="entr" presetID="4" presetSubtype="32">
                                  <p:stCondLst>
                                    <p:cond delay="0"/>
                                  </p:stCondLst>
                                  <p:childTnLst>
                                    <p:set>
                                      <p:cBhvr>
                                        <p:cTn id="2025" dur="1" fill="hold">
                                          <p:stCondLst>
                                            <p:cond delay="0"/>
                                          </p:stCondLst>
                                        </p:cTn>
                                        <p:tgtEl>
                                          <p:spTgt spid="1758"/>
                                        </p:tgtEl>
                                        <p:attrNameLst>
                                          <p:attrName>style.visibility</p:attrName>
                                        </p:attrNameLst>
                                      </p:cBhvr>
                                      <p:to>
                                        <p:strVal val="visible"/>
                                      </p:to>
                                    </p:set>
                                    <p:animEffect filter="box(out)" transition="in">
                                      <p:cBhvr additive="repl">
                                        <p:cTn id="2026" dur="500"/>
                                        <p:tgtEl>
                                          <p:spTgt spid="1758"/>
                                        </p:tgtEl>
                                      </p:cBhvr>
                                    </p:animEffect>
                                  </p:childTnLst>
                                </p:cTn>
                              </p:par>
                            </p:childTnLst>
                          </p:cTn>
                        </p:par>
                        <p:par>
                          <p:cTn id="2027" nodeType="afterEffect" fill="hold">
                            <p:stCondLst>
                              <p:cond delay="1000"/>
                            </p:stCondLst>
                            <p:childTnLst>
                              <p:par>
                                <p:cTn id="2028" nodeType="afterEffect" fill="hold" presetClass="entr" presetID="4" presetSubtype="32">
                                  <p:stCondLst>
                                    <p:cond delay="0"/>
                                  </p:stCondLst>
                                  <p:childTnLst>
                                    <p:set>
                                      <p:cBhvr>
                                        <p:cTn id="2029" dur="1" fill="hold">
                                          <p:stCondLst>
                                            <p:cond delay="0"/>
                                          </p:stCondLst>
                                        </p:cTn>
                                        <p:tgtEl>
                                          <p:spTgt spid="1759"/>
                                        </p:tgtEl>
                                        <p:attrNameLst>
                                          <p:attrName>style.visibility</p:attrName>
                                        </p:attrNameLst>
                                      </p:cBhvr>
                                      <p:to>
                                        <p:strVal val="visible"/>
                                      </p:to>
                                    </p:set>
                                    <p:animEffect filter="box(out)" transition="in">
                                      <p:cBhvr additive="repl">
                                        <p:cTn id="2030" dur="500"/>
                                        <p:tgtEl>
                                          <p:spTgt spid="1759"/>
                                        </p:tgtEl>
                                      </p:cBhvr>
                                    </p:animEffect>
                                  </p:childTnLst>
                                </p:cTn>
                              </p:par>
                            </p:childTnLst>
                          </p:cTn>
                        </p:par>
                        <p:par>
                          <p:cTn id="2031" nodeType="afterEffect" fill="hold">
                            <p:stCondLst>
                              <p:cond delay="1500"/>
                            </p:stCondLst>
                            <p:childTnLst>
                              <p:par>
                                <p:cTn id="2032" nodeType="afterEffect" fill="hold" presetClass="entr" presetID="4" presetSubtype="32">
                                  <p:stCondLst>
                                    <p:cond delay="0"/>
                                  </p:stCondLst>
                                  <p:childTnLst>
                                    <p:set>
                                      <p:cBhvr>
                                        <p:cTn id="2033" dur="1" fill="hold">
                                          <p:stCondLst>
                                            <p:cond delay="0"/>
                                          </p:stCondLst>
                                        </p:cTn>
                                        <p:tgtEl>
                                          <p:spTgt spid="1760"/>
                                        </p:tgtEl>
                                        <p:attrNameLst>
                                          <p:attrName>style.visibility</p:attrName>
                                        </p:attrNameLst>
                                      </p:cBhvr>
                                      <p:to>
                                        <p:strVal val="visible"/>
                                      </p:to>
                                    </p:set>
                                    <p:animEffect filter="box(out)" transition="in">
                                      <p:cBhvr additive="repl">
                                        <p:cTn id="2034" dur="500"/>
                                        <p:tgtEl>
                                          <p:spTgt spid="1760"/>
                                        </p:tgtEl>
                                      </p:cBhvr>
                                    </p:animEffect>
                                  </p:childTnLst>
                                </p:cTn>
                              </p:par>
                            </p:childTnLst>
                          </p:cTn>
                        </p:par>
                      </p:childTnLst>
                    </p:cTn>
                  </p:par>
                  <p:par>
                    <p:cTn id="2035" nodeType="clickEffect" fill="hold">
                      <p:stCondLst>
                        <p:cond delay="indefinite"/>
                      </p:stCondLst>
                      <p:childTnLst>
                        <p:par>
                          <p:cTn id="2036" nodeType="withEffect" fill="hold">
                            <p:stCondLst>
                              <p:cond delay="0"/>
                            </p:stCondLst>
                            <p:childTnLst>
                              <p:par>
                                <p:cTn id="2037" nodeType="clickEffect" fill="hold" presetClass="entr" presetID="4" presetSubtype="32">
                                  <p:stCondLst>
                                    <p:cond delay="0"/>
                                  </p:stCondLst>
                                  <p:childTnLst>
                                    <p:set>
                                      <p:cBhvr>
                                        <p:cTn id="2038" dur="1" fill="hold">
                                          <p:stCondLst>
                                            <p:cond delay="0"/>
                                          </p:stCondLst>
                                        </p:cTn>
                                        <p:tgtEl>
                                          <p:spTgt spid="1761"/>
                                        </p:tgtEl>
                                        <p:attrNameLst>
                                          <p:attrName>style.visibility</p:attrName>
                                        </p:attrNameLst>
                                      </p:cBhvr>
                                      <p:to>
                                        <p:strVal val="visible"/>
                                      </p:to>
                                    </p:set>
                                    <p:animEffect filter="box(out)" transition="in">
                                      <p:cBhvr additive="repl">
                                        <p:cTn id="2039" dur="500"/>
                                        <p:tgtEl>
                                          <p:spTgt spid="1761"/>
                                        </p:tgtEl>
                                      </p:cBhvr>
                                    </p:animEffect>
                                  </p:childTnLst>
                                </p:cTn>
                              </p:par>
                            </p:childTnLst>
                          </p:cTn>
                        </p:par>
                        <p:par>
                          <p:cTn id="2040" nodeType="afterEffect" fill="hold">
                            <p:stCondLst>
                              <p:cond delay="500"/>
                            </p:stCondLst>
                            <p:childTnLst>
                              <p:par>
                                <p:cTn id="2041" nodeType="afterEffect" fill="hold" presetClass="entr" presetID="4" presetSubtype="32">
                                  <p:stCondLst>
                                    <p:cond delay="0"/>
                                  </p:stCondLst>
                                  <p:childTnLst>
                                    <p:set>
                                      <p:cBhvr>
                                        <p:cTn id="2042" dur="1" fill="hold">
                                          <p:stCondLst>
                                            <p:cond delay="0"/>
                                          </p:stCondLst>
                                        </p:cTn>
                                        <p:tgtEl>
                                          <p:spTgt spid="1762"/>
                                        </p:tgtEl>
                                        <p:attrNameLst>
                                          <p:attrName>style.visibility</p:attrName>
                                        </p:attrNameLst>
                                      </p:cBhvr>
                                      <p:to>
                                        <p:strVal val="visible"/>
                                      </p:to>
                                    </p:set>
                                    <p:animEffect filter="box(out)" transition="in">
                                      <p:cBhvr additive="repl">
                                        <p:cTn id="2043" dur="500"/>
                                        <p:tgtEl>
                                          <p:spTgt spid="1762"/>
                                        </p:tgtEl>
                                      </p:cBhvr>
                                    </p:animEffect>
                                  </p:childTnLst>
                                </p:cTn>
                              </p:par>
                            </p:childTnLst>
                          </p:cTn>
                        </p:par>
                        <p:par>
                          <p:cTn id="2044" nodeType="afterEffect" fill="hold">
                            <p:stCondLst>
                              <p:cond delay="1000"/>
                            </p:stCondLst>
                            <p:childTnLst>
                              <p:par>
                                <p:cTn id="2045" nodeType="afterEffect" fill="hold" presetClass="entr" presetID="4" presetSubtype="32">
                                  <p:stCondLst>
                                    <p:cond delay="0"/>
                                  </p:stCondLst>
                                  <p:childTnLst>
                                    <p:set>
                                      <p:cBhvr>
                                        <p:cTn id="2046" dur="1" fill="hold">
                                          <p:stCondLst>
                                            <p:cond delay="0"/>
                                          </p:stCondLst>
                                        </p:cTn>
                                        <p:tgtEl>
                                          <p:spTgt spid="1763"/>
                                        </p:tgtEl>
                                        <p:attrNameLst>
                                          <p:attrName>style.visibility</p:attrName>
                                        </p:attrNameLst>
                                      </p:cBhvr>
                                      <p:to>
                                        <p:strVal val="visible"/>
                                      </p:to>
                                    </p:set>
                                    <p:animEffect filter="box(out)" transition="in">
                                      <p:cBhvr additive="repl">
                                        <p:cTn id="2047" dur="500"/>
                                        <p:tgtEl>
                                          <p:spTgt spid="1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5" name="Rectangle 2"/>
          <p:cNvSpPr/>
          <p:nvPr/>
        </p:nvSpPr>
        <p:spPr>
          <a:xfrm>
            <a:off x="990720" y="806400"/>
            <a:ext cx="3352680" cy="3362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rPr>
              <a:t>APRES L’EXERCICE INTENSE</a:t>
            </a:r>
            <a:endParaRPr b="0" lang="en-US" sz="1600" strike="noStrike" u="none">
              <a:solidFill>
                <a:srgbClr val="ffff00"/>
              </a:solidFill>
              <a:effectLst/>
              <a:uFillTx/>
              <a:latin typeface="Times New Roman"/>
            </a:endParaRPr>
          </a:p>
        </p:txBody>
      </p:sp>
      <p:sp>
        <p:nvSpPr>
          <p:cNvPr id="1766" name="Rectangle 3"/>
          <p:cNvSpPr/>
          <p:nvPr/>
        </p:nvSpPr>
        <p:spPr>
          <a:xfrm>
            <a:off x="5334120" y="636480"/>
            <a:ext cx="3200400" cy="585360"/>
          </a:xfrm>
          <a:prstGeom prst="rect">
            <a:avLst/>
          </a:prstGeom>
          <a:noFill/>
          <a:ln w="0">
            <a:noFill/>
          </a:ln>
        </p:spPr>
        <p:style>
          <a:lnRef idx="0"/>
          <a:fillRef idx="0"/>
          <a:effectRef idx="0"/>
          <a:fontRef idx="minor"/>
        </p:style>
        <p:txBody>
          <a:bodyPr lIns="92160" rIns="92160" tIns="46080" bIns="46080" anchor="t">
            <a:spAutoFit/>
          </a:bodyPr>
          <a:p>
            <a:pPr algn="ctr">
              <a:lnSpc>
                <a:spcPct val="75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rPr>
              <a:t>LACTATEMIE</a:t>
            </a:r>
            <a:endParaRPr b="0" lang="en-US" sz="1600" strike="noStrike" u="none">
              <a:solidFill>
                <a:srgbClr val="ffff00"/>
              </a:solidFill>
              <a:effectLst/>
              <a:uFillTx/>
              <a:latin typeface="Times New Roman"/>
            </a:endParaRPr>
          </a:p>
          <a:p>
            <a:pPr algn="ctr">
              <a:lnSpc>
                <a:spcPct val="75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Bookman Old Style"/>
              </a:rPr>
              <a:t>ENFANT &lt; ADULTE</a:t>
            </a:r>
            <a:endParaRPr b="0" lang="en-US" sz="1600" strike="noStrike" u="none">
              <a:solidFill>
                <a:srgbClr val="ffff00"/>
              </a:solidFill>
              <a:effectLst/>
              <a:uFillTx/>
              <a:latin typeface="Times New Roman"/>
            </a:endParaRPr>
          </a:p>
        </p:txBody>
      </p:sp>
      <p:graphicFrame>
        <p:nvGraphicFramePr>
          <p:cNvPr id="1767" name="Object 4"/>
          <p:cNvGraphicFramePr/>
          <p:nvPr/>
        </p:nvGraphicFramePr>
        <p:xfrm>
          <a:off x="990720" y="1486080"/>
          <a:ext cx="7530840" cy="4876560"/>
        </p:xfrm>
        <a:graphic>
          <a:graphicData uri="http://schemas.openxmlformats.org/presentationml/2006/ole">
            <p:oleObj progId="Word.Document.12" r:id="rId1" spid="">
              <p:embed/>
              <p:pic>
                <p:nvPicPr>
                  <p:cNvPr id="1768" name="Object 4" descr=""/>
                  <p:cNvPicPr/>
                  <p:nvPr/>
                </p:nvPicPr>
                <p:blipFill>
                  <a:blip r:embed="rId2"/>
                  <a:stretch/>
                </p:blipFill>
                <p:spPr>
                  <a:xfrm>
                    <a:off x="990720" y="1486080"/>
                    <a:ext cx="7530840" cy="4876560"/>
                  </a:xfrm>
                  <a:prstGeom prst="rect">
                    <a:avLst/>
                  </a:prstGeom>
                  <a:noFill/>
                  <a:ln w="0">
                    <a:noFill/>
                  </a:ln>
                </p:spPr>
              </p:pic>
            </p:oleObj>
          </a:graphicData>
        </a:graphic>
      </p:graphicFrame>
      <p:sp>
        <p:nvSpPr>
          <p:cNvPr id="1769" name="Rectangle 5"/>
          <p:cNvSpPr/>
          <p:nvPr/>
        </p:nvSpPr>
        <p:spPr>
          <a:xfrm>
            <a:off x="7569360" y="2133720"/>
            <a:ext cx="583920" cy="431640"/>
          </a:xfrm>
          <a:prstGeom prst="rect">
            <a:avLst/>
          </a:prstGeom>
          <a:noFill/>
          <a:ln w="255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0" name="Rectangle 6"/>
          <p:cNvSpPr/>
          <p:nvPr/>
        </p:nvSpPr>
        <p:spPr>
          <a:xfrm>
            <a:off x="7556400" y="4491000"/>
            <a:ext cx="584280" cy="432000"/>
          </a:xfrm>
          <a:prstGeom prst="rect">
            <a:avLst/>
          </a:prstGeom>
          <a:noFill/>
          <a:ln w="255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1" name="Rectangle 7"/>
          <p:cNvSpPr/>
          <p:nvPr/>
        </p:nvSpPr>
        <p:spPr>
          <a:xfrm>
            <a:off x="7556400" y="5054760"/>
            <a:ext cx="584280" cy="431640"/>
          </a:xfrm>
          <a:prstGeom prst="rect">
            <a:avLst/>
          </a:prstGeom>
          <a:noFill/>
          <a:ln w="255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2" name="Rectangle 8"/>
          <p:cNvSpPr/>
          <p:nvPr/>
        </p:nvSpPr>
        <p:spPr>
          <a:xfrm>
            <a:off x="7556400" y="5664240"/>
            <a:ext cx="584280" cy="431640"/>
          </a:xfrm>
          <a:prstGeom prst="rect">
            <a:avLst/>
          </a:prstGeom>
          <a:noFill/>
          <a:ln w="255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3" name="Oval 9"/>
          <p:cNvSpPr/>
          <p:nvPr/>
        </p:nvSpPr>
        <p:spPr>
          <a:xfrm>
            <a:off x="7569360" y="2616120"/>
            <a:ext cx="583920" cy="584280"/>
          </a:xfrm>
          <a:prstGeom prst="ellipse">
            <a:avLst/>
          </a:prstGeom>
          <a:noFill/>
          <a:ln w="25560">
            <a:solidFill>
              <a:srgbClr val="ff00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4" name="Oval 10"/>
          <p:cNvSpPr/>
          <p:nvPr/>
        </p:nvSpPr>
        <p:spPr>
          <a:xfrm>
            <a:off x="7556400" y="3195720"/>
            <a:ext cx="584280" cy="584280"/>
          </a:xfrm>
          <a:prstGeom prst="ellipse">
            <a:avLst/>
          </a:prstGeom>
          <a:noFill/>
          <a:ln w="25560">
            <a:solidFill>
              <a:srgbClr val="ff00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5" name="AutoShape 11"/>
          <p:cNvSpPr/>
          <p:nvPr/>
        </p:nvSpPr>
        <p:spPr>
          <a:xfrm>
            <a:off x="4660920" y="698400"/>
            <a:ext cx="825480" cy="520920"/>
          </a:xfrm>
          <a:prstGeom prst="rightArrow">
            <a:avLst>
              <a:gd name="adj1" fmla="val 50000"/>
              <a:gd name="adj2" fmla="val 79240"/>
            </a:avLst>
          </a:prstGeom>
          <a:noFill/>
          <a:ln w="2556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76" name="Oval 13"/>
          <p:cNvSpPr/>
          <p:nvPr/>
        </p:nvSpPr>
        <p:spPr>
          <a:xfrm>
            <a:off x="7543800" y="3759120"/>
            <a:ext cx="584280" cy="584280"/>
          </a:xfrm>
          <a:prstGeom prst="ellipse">
            <a:avLst/>
          </a:prstGeom>
          <a:noFill/>
          <a:ln w="25560">
            <a:solidFill>
              <a:srgbClr val="ff00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timing>
    <p:tnLst>
      <p:par>
        <p:cTn id="2048" dur="indefinite" restart="never" nodeType="tmRoot">
          <p:childTnLst>
            <p:seq>
              <p:cTn id="2049" dur="indefinite" nodeType="mainSeq">
                <p:childTnLst>
                  <p:par>
                    <p:cTn id="2050" nodeType="clickEffect" fill="hold">
                      <p:stCondLst>
                        <p:cond delay="0"/>
                      </p:stCondLst>
                      <p:childTnLst>
                        <p:par>
                          <p:cTn id="2051" nodeType="withEffect" fill="hold">
                            <p:stCondLst>
                              <p:cond delay="0"/>
                            </p:stCondLst>
                            <p:childTnLst>
                              <p:par>
                                <p:cTn id="2052" nodeType="afterEffect" fill="hold" presetClass="entr" presetID="22" presetSubtype="2">
                                  <p:stCondLst>
                                    <p:cond delay="0"/>
                                  </p:stCondLst>
                                  <p:childTnLst>
                                    <p:set>
                                      <p:cBhvr>
                                        <p:cTn id="2053" dur="1" fill="hold">
                                          <p:stCondLst>
                                            <p:cond delay="0"/>
                                          </p:stCondLst>
                                        </p:cTn>
                                        <p:tgtEl>
                                          <p:spTgt spid="1765"/>
                                        </p:tgtEl>
                                        <p:attrNameLst>
                                          <p:attrName>style.visibility</p:attrName>
                                        </p:attrNameLst>
                                      </p:cBhvr>
                                      <p:to>
                                        <p:strVal val="visible"/>
                                      </p:to>
                                    </p:set>
                                    <p:animEffect filter="wipe(right)" transition="in">
                                      <p:cBhvr additive="repl">
                                        <p:cTn id="2054" dur="500"/>
                                        <p:tgtEl>
                                          <p:spTgt spid="1765"/>
                                        </p:tgtEl>
                                      </p:cBhvr>
                                    </p:animEffect>
                                  </p:childTnLst>
                                </p:cTn>
                              </p:par>
                            </p:childTnLst>
                          </p:cTn>
                        </p:par>
                        <p:par>
                          <p:cTn id="2055" nodeType="afterEffect" fill="hold">
                            <p:stCondLst>
                              <p:cond delay="500"/>
                            </p:stCondLst>
                            <p:childTnLst>
                              <p:par>
                                <p:cTn id="2056" nodeType="afterEffect" fill="hold" presetClass="entr" presetID="4" presetSubtype="32">
                                  <p:stCondLst>
                                    <p:cond delay="0"/>
                                  </p:stCondLst>
                                  <p:childTnLst>
                                    <p:set>
                                      <p:cBhvr>
                                        <p:cTn id="2057" dur="1" fill="hold">
                                          <p:stCondLst>
                                            <p:cond delay="0"/>
                                          </p:stCondLst>
                                        </p:cTn>
                                        <p:tgtEl>
                                          <p:spTgt spid="1775"/>
                                        </p:tgtEl>
                                        <p:attrNameLst>
                                          <p:attrName>style.visibility</p:attrName>
                                        </p:attrNameLst>
                                      </p:cBhvr>
                                      <p:to>
                                        <p:strVal val="visible"/>
                                      </p:to>
                                    </p:set>
                                    <p:animEffect filter="box(out)" transition="in">
                                      <p:cBhvr additive="repl">
                                        <p:cTn id="2058" dur="500"/>
                                        <p:tgtEl>
                                          <p:spTgt spid="1775"/>
                                        </p:tgtEl>
                                      </p:cBhvr>
                                    </p:animEffect>
                                  </p:childTnLst>
                                </p:cTn>
                              </p:par>
                            </p:childTnLst>
                          </p:cTn>
                        </p:par>
                        <p:par>
                          <p:cTn id="2059" nodeType="afterEffect" fill="hold">
                            <p:stCondLst>
                              <p:cond delay="1000"/>
                            </p:stCondLst>
                            <p:childTnLst>
                              <p:par>
                                <p:cTn id="2060" nodeType="afterEffect" fill="hold" presetClass="entr" presetID="22" presetSubtype="8">
                                  <p:stCondLst>
                                    <p:cond delay="0"/>
                                  </p:stCondLst>
                                  <p:childTnLst>
                                    <p:set>
                                      <p:cBhvr>
                                        <p:cTn id="2061" dur="1" fill="hold">
                                          <p:stCondLst>
                                            <p:cond delay="0"/>
                                          </p:stCondLst>
                                        </p:cTn>
                                        <p:tgtEl>
                                          <p:spTgt spid="1766"/>
                                        </p:tgtEl>
                                        <p:attrNameLst>
                                          <p:attrName>style.visibility</p:attrName>
                                        </p:attrNameLst>
                                      </p:cBhvr>
                                      <p:to>
                                        <p:strVal val="visible"/>
                                      </p:to>
                                    </p:set>
                                    <p:animEffect filter="wipe(left)" transition="in">
                                      <p:cBhvr additive="repl">
                                        <p:cTn id="2062" dur="500"/>
                                        <p:tgtEl>
                                          <p:spTgt spid="1766"/>
                                        </p:tgtEl>
                                      </p:cBhvr>
                                    </p:animEffect>
                                  </p:childTnLst>
                                </p:cTn>
                              </p:par>
                            </p:childTnLst>
                          </p:cTn>
                        </p:par>
                      </p:childTnLst>
                    </p:cTn>
                  </p:par>
                  <p:par>
                    <p:cTn id="2063" nodeType="clickEffect" fill="hold">
                      <p:stCondLst>
                        <p:cond delay="indefinite"/>
                      </p:stCondLst>
                      <p:childTnLst>
                        <p:par>
                          <p:cTn id="2064" nodeType="withEffect" fill="hold">
                            <p:stCondLst>
                              <p:cond delay="0"/>
                            </p:stCondLst>
                            <p:childTnLst>
                              <p:par>
                                <p:cTn id="2065" nodeType="clickEffect" fill="hold" presetClass="entr" presetID="9">
                                  <p:stCondLst>
                                    <p:cond delay="0"/>
                                  </p:stCondLst>
                                  <p:childTnLst>
                                    <p:set>
                                      <p:cBhvr>
                                        <p:cTn id="2066" dur="1" fill="hold">
                                          <p:stCondLst>
                                            <p:cond delay="0"/>
                                          </p:stCondLst>
                                        </p:cTn>
                                        <p:tgtEl>
                                          <p:spTgt spid="1768"/>
                                        </p:tgtEl>
                                        <p:attrNameLst>
                                          <p:attrName>style.visibility</p:attrName>
                                        </p:attrNameLst>
                                      </p:cBhvr>
                                      <p:to>
                                        <p:strVal val="visible"/>
                                      </p:to>
                                    </p:set>
                                    <p:animEffect filter="dissolve" transition="in">
                                      <p:cBhvr additive="repl">
                                        <p:cTn id="2067" dur="500"/>
                                        <p:tgtEl>
                                          <p:spTgt spid="1768"/>
                                        </p:tgtEl>
                                      </p:cBhvr>
                                    </p:animEffect>
                                  </p:childTnLst>
                                </p:cTn>
                              </p:par>
                            </p:childTnLst>
                          </p:cTn>
                        </p:par>
                      </p:childTnLst>
                    </p:cTn>
                  </p:par>
                  <p:par>
                    <p:cTn id="2068" nodeType="clickEffect" fill="hold">
                      <p:stCondLst>
                        <p:cond delay="indefinite"/>
                      </p:stCondLst>
                      <p:childTnLst>
                        <p:par>
                          <p:cTn id="2069" nodeType="withEffect" fill="hold">
                            <p:stCondLst>
                              <p:cond delay="0"/>
                            </p:stCondLst>
                            <p:childTnLst>
                              <p:par>
                                <p:cTn id="2070" nodeType="clickEffect" fill="hold" presetClass="entr" presetID="4" presetSubtype="32">
                                  <p:stCondLst>
                                    <p:cond delay="0"/>
                                  </p:stCondLst>
                                  <p:childTnLst>
                                    <p:set>
                                      <p:cBhvr>
                                        <p:cTn id="2071" dur="1" fill="hold">
                                          <p:stCondLst>
                                            <p:cond delay="0"/>
                                          </p:stCondLst>
                                        </p:cTn>
                                        <p:tgtEl>
                                          <p:spTgt spid="1769"/>
                                        </p:tgtEl>
                                        <p:attrNameLst>
                                          <p:attrName>style.visibility</p:attrName>
                                        </p:attrNameLst>
                                      </p:cBhvr>
                                      <p:to>
                                        <p:strVal val="visible"/>
                                      </p:to>
                                    </p:set>
                                    <p:animEffect filter="box(out)" transition="in">
                                      <p:cBhvr additive="repl">
                                        <p:cTn id="2072" dur="500"/>
                                        <p:tgtEl>
                                          <p:spTgt spid="1769"/>
                                        </p:tgtEl>
                                      </p:cBhvr>
                                    </p:animEffect>
                                  </p:childTnLst>
                                </p:cTn>
                              </p:par>
                            </p:childTnLst>
                          </p:cTn>
                        </p:par>
                      </p:childTnLst>
                    </p:cTn>
                  </p:par>
                  <p:par>
                    <p:cTn id="2073" nodeType="clickEffect" fill="hold">
                      <p:stCondLst>
                        <p:cond delay="indefinite"/>
                      </p:stCondLst>
                      <p:childTnLst>
                        <p:par>
                          <p:cTn id="2074" nodeType="withEffect" fill="hold">
                            <p:stCondLst>
                              <p:cond delay="0"/>
                            </p:stCondLst>
                            <p:childTnLst>
                              <p:par>
                                <p:cTn id="2075" nodeType="clickEffect" fill="hold" presetClass="entr" presetID="4" presetSubtype="32">
                                  <p:stCondLst>
                                    <p:cond delay="0"/>
                                  </p:stCondLst>
                                  <p:childTnLst>
                                    <p:set>
                                      <p:cBhvr>
                                        <p:cTn id="2076" dur="1" fill="hold">
                                          <p:stCondLst>
                                            <p:cond delay="0"/>
                                          </p:stCondLst>
                                        </p:cTn>
                                        <p:tgtEl>
                                          <p:spTgt spid="1770"/>
                                        </p:tgtEl>
                                        <p:attrNameLst>
                                          <p:attrName>style.visibility</p:attrName>
                                        </p:attrNameLst>
                                      </p:cBhvr>
                                      <p:to>
                                        <p:strVal val="visible"/>
                                      </p:to>
                                    </p:set>
                                    <p:animEffect filter="box(out)" transition="in">
                                      <p:cBhvr additive="repl">
                                        <p:cTn id="2077" dur="500"/>
                                        <p:tgtEl>
                                          <p:spTgt spid="1770"/>
                                        </p:tgtEl>
                                      </p:cBhvr>
                                    </p:animEffect>
                                  </p:childTnLst>
                                </p:cTn>
                              </p:par>
                            </p:childTnLst>
                          </p:cTn>
                        </p:par>
                        <p:par>
                          <p:cTn id="2078" nodeType="afterEffect" fill="hold">
                            <p:stCondLst>
                              <p:cond delay="500"/>
                            </p:stCondLst>
                            <p:childTnLst>
                              <p:par>
                                <p:cTn id="2079" nodeType="afterEffect" fill="hold" presetClass="entr" presetID="4" presetSubtype="32">
                                  <p:stCondLst>
                                    <p:cond delay="0"/>
                                  </p:stCondLst>
                                  <p:childTnLst>
                                    <p:set>
                                      <p:cBhvr>
                                        <p:cTn id="2080" dur="1" fill="hold">
                                          <p:stCondLst>
                                            <p:cond delay="0"/>
                                          </p:stCondLst>
                                        </p:cTn>
                                        <p:tgtEl>
                                          <p:spTgt spid="1771"/>
                                        </p:tgtEl>
                                        <p:attrNameLst>
                                          <p:attrName>style.visibility</p:attrName>
                                        </p:attrNameLst>
                                      </p:cBhvr>
                                      <p:to>
                                        <p:strVal val="visible"/>
                                      </p:to>
                                    </p:set>
                                    <p:animEffect filter="box(out)" transition="in">
                                      <p:cBhvr additive="repl">
                                        <p:cTn id="2081" dur="500"/>
                                        <p:tgtEl>
                                          <p:spTgt spid="1771"/>
                                        </p:tgtEl>
                                      </p:cBhvr>
                                    </p:animEffect>
                                  </p:childTnLst>
                                </p:cTn>
                              </p:par>
                            </p:childTnLst>
                          </p:cTn>
                        </p:par>
                        <p:par>
                          <p:cTn id="2082" nodeType="afterEffect" fill="hold">
                            <p:stCondLst>
                              <p:cond delay="1000"/>
                            </p:stCondLst>
                            <p:childTnLst>
                              <p:par>
                                <p:cTn id="2083" nodeType="afterEffect" fill="hold" presetClass="entr" presetID="4" presetSubtype="32">
                                  <p:stCondLst>
                                    <p:cond delay="0"/>
                                  </p:stCondLst>
                                  <p:childTnLst>
                                    <p:set>
                                      <p:cBhvr>
                                        <p:cTn id="2084" dur="1" fill="hold">
                                          <p:stCondLst>
                                            <p:cond delay="0"/>
                                          </p:stCondLst>
                                        </p:cTn>
                                        <p:tgtEl>
                                          <p:spTgt spid="1772"/>
                                        </p:tgtEl>
                                        <p:attrNameLst>
                                          <p:attrName>style.visibility</p:attrName>
                                        </p:attrNameLst>
                                      </p:cBhvr>
                                      <p:to>
                                        <p:strVal val="visible"/>
                                      </p:to>
                                    </p:set>
                                    <p:animEffect filter="box(out)" transition="in">
                                      <p:cBhvr additive="repl">
                                        <p:cTn id="2085" dur="500"/>
                                        <p:tgtEl>
                                          <p:spTgt spid="1772"/>
                                        </p:tgtEl>
                                      </p:cBhvr>
                                    </p:animEffect>
                                  </p:childTnLst>
                                </p:cTn>
                              </p:par>
                            </p:childTnLst>
                          </p:cTn>
                        </p:par>
                      </p:childTnLst>
                    </p:cTn>
                  </p:par>
                  <p:par>
                    <p:cTn id="2086" nodeType="clickEffect" fill="hold">
                      <p:stCondLst>
                        <p:cond delay="indefinite"/>
                      </p:stCondLst>
                      <p:childTnLst>
                        <p:par>
                          <p:cTn id="2087" nodeType="withEffect" fill="hold">
                            <p:stCondLst>
                              <p:cond delay="0"/>
                            </p:stCondLst>
                            <p:childTnLst>
                              <p:par>
                                <p:cTn id="2088" nodeType="clickEffect" fill="hold" presetClass="entr" presetID="4" presetSubtype="32">
                                  <p:stCondLst>
                                    <p:cond delay="0"/>
                                  </p:stCondLst>
                                  <p:childTnLst>
                                    <p:set>
                                      <p:cBhvr>
                                        <p:cTn id="2089" dur="1" fill="hold">
                                          <p:stCondLst>
                                            <p:cond delay="0"/>
                                          </p:stCondLst>
                                        </p:cTn>
                                        <p:tgtEl>
                                          <p:spTgt spid="1773"/>
                                        </p:tgtEl>
                                        <p:attrNameLst>
                                          <p:attrName>style.visibility</p:attrName>
                                        </p:attrNameLst>
                                      </p:cBhvr>
                                      <p:to>
                                        <p:strVal val="visible"/>
                                      </p:to>
                                    </p:set>
                                    <p:animEffect filter="box(out)" transition="in">
                                      <p:cBhvr additive="repl">
                                        <p:cTn id="2090" dur="500"/>
                                        <p:tgtEl>
                                          <p:spTgt spid="1773"/>
                                        </p:tgtEl>
                                      </p:cBhvr>
                                    </p:animEffect>
                                  </p:childTnLst>
                                </p:cTn>
                              </p:par>
                            </p:childTnLst>
                          </p:cTn>
                        </p:par>
                        <p:par>
                          <p:cTn id="2091" nodeType="afterEffect" fill="hold">
                            <p:stCondLst>
                              <p:cond delay="500"/>
                            </p:stCondLst>
                            <p:childTnLst>
                              <p:par>
                                <p:cTn id="2092" nodeType="afterEffect" fill="hold" presetClass="entr" presetID="4" presetSubtype="32">
                                  <p:stCondLst>
                                    <p:cond delay="0"/>
                                  </p:stCondLst>
                                  <p:childTnLst>
                                    <p:set>
                                      <p:cBhvr>
                                        <p:cTn id="2093" dur="1" fill="hold">
                                          <p:stCondLst>
                                            <p:cond delay="0"/>
                                          </p:stCondLst>
                                        </p:cTn>
                                        <p:tgtEl>
                                          <p:spTgt spid="1774"/>
                                        </p:tgtEl>
                                        <p:attrNameLst>
                                          <p:attrName>style.visibility</p:attrName>
                                        </p:attrNameLst>
                                      </p:cBhvr>
                                      <p:to>
                                        <p:strVal val="visible"/>
                                      </p:to>
                                    </p:set>
                                    <p:animEffect filter="box(out)" transition="in">
                                      <p:cBhvr additive="repl">
                                        <p:cTn id="2094" dur="500"/>
                                        <p:tgtEl>
                                          <p:spTgt spid="1774"/>
                                        </p:tgtEl>
                                      </p:cBhvr>
                                    </p:animEffect>
                                  </p:childTnLst>
                                </p:cTn>
                              </p:par>
                            </p:childTnLst>
                          </p:cTn>
                        </p:par>
                        <p:par>
                          <p:cTn id="2095" nodeType="afterEffect" fill="hold">
                            <p:stCondLst>
                              <p:cond delay="1000"/>
                            </p:stCondLst>
                            <p:childTnLst>
                              <p:par>
                                <p:cTn id="2096" nodeType="afterEffect" fill="hold" presetClass="entr" presetID="4" presetSubtype="32">
                                  <p:stCondLst>
                                    <p:cond delay="0"/>
                                  </p:stCondLst>
                                  <p:childTnLst>
                                    <p:set>
                                      <p:cBhvr>
                                        <p:cTn id="2097" dur="1" fill="hold">
                                          <p:stCondLst>
                                            <p:cond delay="0"/>
                                          </p:stCondLst>
                                        </p:cTn>
                                        <p:tgtEl>
                                          <p:spTgt spid="1776"/>
                                        </p:tgtEl>
                                        <p:attrNameLst>
                                          <p:attrName>style.visibility</p:attrName>
                                        </p:attrNameLst>
                                      </p:cBhvr>
                                      <p:to>
                                        <p:strVal val="visible"/>
                                      </p:to>
                                    </p:set>
                                    <p:animEffect filter="box(out)" transition="in">
                                      <p:cBhvr additive="repl">
                                        <p:cTn id="2098" dur="500"/>
                                        <p:tgtEl>
                                          <p:spTgt spid="17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7" name="Rectangle 2"/>
          <p:cNvSpPr/>
          <p:nvPr/>
        </p:nvSpPr>
        <p:spPr>
          <a:xfrm>
            <a:off x="1066680" y="609480"/>
            <a:ext cx="7315200" cy="519480"/>
          </a:xfrm>
          <a:prstGeom prst="rect">
            <a:avLst/>
          </a:prstGeom>
          <a:noFill/>
          <a:ln w="0">
            <a:noFill/>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Activité glycolytique : Enfant &lt; Adulte</a:t>
            </a:r>
            <a:endParaRPr b="0" lang="en-US" sz="2800" strike="noStrike" u="none">
              <a:solidFill>
                <a:srgbClr val="ffff00"/>
              </a:solidFill>
              <a:effectLst/>
              <a:uFillTx/>
              <a:latin typeface="Times New Roman"/>
            </a:endParaRPr>
          </a:p>
        </p:txBody>
      </p:sp>
      <p:grpSp>
        <p:nvGrpSpPr>
          <p:cNvPr id="1778" name="Group 3"/>
          <p:cNvGrpSpPr/>
          <p:nvPr/>
        </p:nvGrpSpPr>
        <p:grpSpPr>
          <a:xfrm>
            <a:off x="533520" y="1371600"/>
            <a:ext cx="6781680" cy="2472840"/>
            <a:chOff x="533520" y="1371600"/>
            <a:chExt cx="6781680" cy="2472840"/>
          </a:xfrm>
        </p:grpSpPr>
        <p:sp>
          <p:nvSpPr>
            <p:cNvPr id="1779" name="Rectangle 4"/>
            <p:cNvSpPr/>
            <p:nvPr/>
          </p:nvSpPr>
          <p:spPr>
            <a:xfrm>
              <a:off x="533520" y="1371600"/>
              <a:ext cx="3886200" cy="397440"/>
            </a:xfrm>
            <a:prstGeom prst="rect">
              <a:avLst/>
            </a:prstGeom>
            <a:noFill/>
            <a:ln w="0">
              <a:noFill/>
            </a:ln>
          </p:spPr>
          <p:style>
            <a:lnRef idx="0"/>
            <a:fillRef idx="0"/>
            <a:effectRef idx="0"/>
            <a:fontRef idx="minor"/>
          </p:style>
          <p:txBody>
            <a:bodyPr lIns="92160" rIns="92160" tIns="46080" bIns="4608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Times New Roman"/>
                </a:rPr>
                <a:t>1/ </a:t>
              </a:r>
              <a:r>
                <a:rPr b="1" lang="fr-FR" sz="2000" strike="noStrike" u="sng">
                  <a:solidFill>
                    <a:srgbClr val="ffff00"/>
                  </a:solidFill>
                  <a:effectLst/>
                  <a:uFillTx/>
                  <a:latin typeface="Times New Roman"/>
                </a:rPr>
                <a:t>AU NIVEAU MUSCULAIRE</a:t>
              </a:r>
              <a:endParaRPr b="0" lang="en-US" sz="2000" strike="noStrike" u="none">
                <a:solidFill>
                  <a:srgbClr val="ffff00"/>
                </a:solidFill>
                <a:effectLst/>
                <a:uFillTx/>
                <a:latin typeface="Times New Roman"/>
              </a:endParaRPr>
            </a:p>
          </p:txBody>
        </p:sp>
        <p:sp>
          <p:nvSpPr>
            <p:cNvPr id="1780" name="AutoShape 5"/>
            <p:cNvSpPr/>
            <p:nvPr/>
          </p:nvSpPr>
          <p:spPr>
            <a:xfrm>
              <a:off x="1219320" y="2286000"/>
              <a:ext cx="733320" cy="1371600"/>
            </a:xfrm>
            <a:custGeom>
              <a:avLst/>
              <a:gdLst>
                <a:gd name="textAreaLeft" fmla="*/ 98280 w 733320"/>
                <a:gd name="textAreaRight" fmla="*/ 635040 w 733320"/>
                <a:gd name="textAreaTop" fmla="*/ 239760 h 1371600"/>
                <a:gd name="textAreaBottom" fmla="*/ 994320 h 1371600"/>
                <a:gd name="GluePoint1X" fmla="*/ 0 w 21600"/>
                <a:gd name="GluePoint1Y" fmla="*/ 17 h 21600"/>
                <a:gd name="GluePoint2X" fmla="*/ 2 w 21600"/>
                <a:gd name="GluePoint2Y" fmla="*/ 14 h 21600"/>
                <a:gd name="GluePoint3X" fmla="*/ 22 w 21600"/>
                <a:gd name="GluePoint3Y" fmla="*/ 8 h 21600"/>
                <a:gd name="GluePoint4X" fmla="*/ 2 w 21600"/>
                <a:gd name="GluePoint4Y" fmla="*/ 12 h 21600"/>
                <a:gd name="GluePoint5X" fmla="*/ 22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21600" y="0"/>
                  </a:moveTo>
                  <a:arcTo wR="21600" hR="7560" stAng="-5400000" swAng="-5400000"/>
                  <a:lnTo>
                    <a:pt x="0" y="11880"/>
                  </a:lnTo>
                  <a:arcTo wR="21600" hR="7560" stAng="10800000" swAng="-2682637"/>
                  <a:lnTo>
                    <a:pt x="14400" y="21168"/>
                  </a:lnTo>
                  <a:lnTo>
                    <a:pt x="21600" y="17280"/>
                  </a:lnTo>
                  <a:lnTo>
                    <a:pt x="14400" y="12528"/>
                  </a:lnTo>
                  <a:lnTo>
                    <a:pt x="14400" y="14688"/>
                  </a:lnTo>
                  <a:arcTo wR="21600" hR="7560" stAng="8117363" swAng="2325203"/>
                  <a:lnTo>
                    <a:pt x="900" y="9720"/>
                  </a:lnTo>
                  <a:arcTo wR="21600" hR="7560" stAng="-10442565" swAng="5042565"/>
                  <a:close/>
                </a:path>
                <a:path fill="darkenLess" w="21600" h="21600">
                  <a:moveTo>
                    <a:pt x="21600" y="0"/>
                  </a:moveTo>
                  <a:arcTo wR="21600" hR="7560" stAng="-5400000" swAng="-5400000"/>
                  <a:lnTo>
                    <a:pt x="0" y="7560"/>
                  </a:lnTo>
                  <a:arcTo wR="21600" hR="7560" stAng="10800000" swAng="-357435"/>
                  <a:lnTo>
                    <a:pt x="900" y="9720"/>
                  </a:lnTo>
                  <a:arcTo wR="21600" hR="7560" stAng="-10442565" swAng="5042565"/>
                  <a:close/>
                </a:path>
              </a:pathLst>
            </a:cu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781" name="Rectangle 6"/>
            <p:cNvSpPr/>
            <p:nvPr/>
          </p:nvSpPr>
          <p:spPr>
            <a:xfrm>
              <a:off x="2209680" y="2133720"/>
              <a:ext cx="3124440" cy="51948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Biopsie musculaire</a:t>
              </a:r>
              <a:endParaRPr b="0" lang="en-US" sz="2800" strike="noStrike" u="none">
                <a:solidFill>
                  <a:srgbClr val="ffff00"/>
                </a:solidFill>
                <a:effectLst/>
                <a:uFillTx/>
                <a:latin typeface="Times New Roman"/>
              </a:endParaRPr>
            </a:p>
          </p:txBody>
        </p:sp>
        <p:sp>
          <p:nvSpPr>
            <p:cNvPr id="1782" name="Rectangle 7"/>
            <p:cNvSpPr/>
            <p:nvPr/>
          </p:nvSpPr>
          <p:spPr>
            <a:xfrm>
              <a:off x="2209680" y="2895480"/>
              <a:ext cx="5105520" cy="94896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[L]</a:t>
              </a:r>
              <a:r>
                <a:rPr b="1" lang="fr-FR" sz="2800" strike="noStrike" u="none" baseline="-25000">
                  <a:solidFill>
                    <a:srgbClr val="ffff00"/>
                  </a:solidFill>
                  <a:effectLst/>
                  <a:uFillTx/>
                  <a:latin typeface="Times New Roman"/>
                </a:rPr>
                <a:t>m</a:t>
              </a:r>
              <a:r>
                <a:rPr b="1" lang="fr-FR" sz="2800" strike="noStrike" u="none">
                  <a:solidFill>
                    <a:srgbClr val="ffff00"/>
                  </a:solidFill>
                  <a:effectLst/>
                  <a:uFillTx/>
                  <a:latin typeface="Times New Roman"/>
                </a:rPr>
                <a:t> : Enfant &lt; Adulte</a:t>
              </a:r>
              <a:endParaRPr b="0" lang="en-US" sz="2800" strike="noStrike" u="none">
                <a:solidFill>
                  <a:srgbClr val="ffff00"/>
                </a:solidFill>
                <a:effectLst/>
                <a:uFillTx/>
                <a:latin typeface="Times New Roman"/>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Eriksson et coll. (1971) ; Eriksson (1980)</a:t>
              </a:r>
              <a:endParaRPr b="0" lang="en-US" sz="1600" strike="noStrike" u="none">
                <a:solidFill>
                  <a:srgbClr val="ffff00"/>
                </a:solidFill>
                <a:effectLst/>
                <a:uFillTx/>
                <a:latin typeface="Times New Roman"/>
              </a:endParaRPr>
            </a:p>
          </p:txBody>
        </p:sp>
      </p:grpSp>
      <p:grpSp>
        <p:nvGrpSpPr>
          <p:cNvPr id="1783" name="Group 8"/>
          <p:cNvGrpSpPr/>
          <p:nvPr/>
        </p:nvGrpSpPr>
        <p:grpSpPr>
          <a:xfrm>
            <a:off x="1219320" y="4343400"/>
            <a:ext cx="7238880" cy="1975320"/>
            <a:chOff x="1219320" y="4343400"/>
            <a:chExt cx="7238880" cy="1975320"/>
          </a:xfrm>
        </p:grpSpPr>
        <p:sp>
          <p:nvSpPr>
            <p:cNvPr id="1784" name="Rectangle 9"/>
            <p:cNvSpPr/>
            <p:nvPr/>
          </p:nvSpPr>
          <p:spPr>
            <a:xfrm>
              <a:off x="2209680" y="4343400"/>
              <a:ext cx="1600200" cy="51948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baseline="30000">
                  <a:solidFill>
                    <a:srgbClr val="ffff00"/>
                  </a:solidFill>
                  <a:effectLst/>
                  <a:uFillTx/>
                  <a:latin typeface="Times New Roman"/>
                </a:rPr>
                <a:t>31</a:t>
              </a:r>
              <a:r>
                <a:rPr b="1" lang="fr-FR" sz="2800" strike="noStrike" u="none">
                  <a:solidFill>
                    <a:srgbClr val="ffff00"/>
                  </a:solidFill>
                  <a:effectLst/>
                  <a:uFillTx/>
                  <a:latin typeface="Times New Roman"/>
                </a:rPr>
                <a:t>PRMN</a:t>
              </a:r>
              <a:endParaRPr b="0" lang="en-US" sz="2800" strike="noStrike" u="none">
                <a:solidFill>
                  <a:srgbClr val="ffff00"/>
                </a:solidFill>
                <a:effectLst/>
                <a:uFillTx/>
                <a:latin typeface="Times New Roman"/>
              </a:endParaRPr>
            </a:p>
          </p:txBody>
        </p:sp>
        <p:sp>
          <p:nvSpPr>
            <p:cNvPr id="1785" name="Rectangle 10"/>
            <p:cNvSpPr/>
            <p:nvPr/>
          </p:nvSpPr>
          <p:spPr>
            <a:xfrm>
              <a:off x="2209680" y="5057640"/>
              <a:ext cx="6248520" cy="1261080"/>
            </a:xfrm>
            <a:prstGeom prst="rect">
              <a:avLst/>
            </a:prstGeom>
            <a:noFill/>
            <a:ln w="0">
              <a:noFill/>
            </a:ln>
          </p:spPr>
          <p:style>
            <a:lnRef idx="0"/>
            <a:fillRef idx="0"/>
            <a:effectRef idx="0"/>
            <a:fontRef idx="minor"/>
          </p:style>
          <p:txBody>
            <a:bodyPr lIns="92160" rIns="92160" tIns="46080" bIns="4608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pH intramusculaire : Enfant &gt; Adulte</a:t>
              </a:r>
              <a:endParaRPr b="0" lang="en-US" sz="2800" strike="noStrike" u="none">
                <a:solidFill>
                  <a:srgbClr val="ffff00"/>
                </a:solidFill>
                <a:effectLst/>
                <a:uFillTx/>
                <a:latin typeface="Times New Roman"/>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Kuno et coll. (1995) ; Taylor et coll. (1997) ; Zanconato et coll. (1993)</a:t>
              </a:r>
              <a:endParaRPr b="0" lang="en-US" sz="1600" strike="noStrike" u="none">
                <a:solidFill>
                  <a:srgbClr val="ffff00"/>
                </a:solidFill>
                <a:effectLst/>
                <a:uFillTx/>
                <a:latin typeface="Times New Roman"/>
              </a:endParaRPr>
            </a:p>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Petersen et al. (1999).</a:t>
              </a:r>
              <a:endParaRPr b="0" lang="en-US" sz="1600" strike="noStrike" u="none">
                <a:solidFill>
                  <a:srgbClr val="ffff00"/>
                </a:solidFill>
                <a:effectLst/>
                <a:uFillTx/>
                <a:latin typeface="Times New Roman"/>
              </a:endParaRPr>
            </a:p>
          </p:txBody>
        </p:sp>
        <p:sp>
          <p:nvSpPr>
            <p:cNvPr id="1786" name="AutoShape 11"/>
            <p:cNvSpPr/>
            <p:nvPr/>
          </p:nvSpPr>
          <p:spPr>
            <a:xfrm>
              <a:off x="1219320" y="4495680"/>
              <a:ext cx="733320" cy="1371600"/>
            </a:xfrm>
            <a:custGeom>
              <a:avLst/>
              <a:gdLst>
                <a:gd name="textAreaLeft" fmla="*/ 98280 w 733320"/>
                <a:gd name="textAreaRight" fmla="*/ 635040 w 733320"/>
                <a:gd name="textAreaTop" fmla="*/ 239760 h 1371600"/>
                <a:gd name="textAreaBottom" fmla="*/ 994320 h 1371600"/>
                <a:gd name="GluePoint1X" fmla="*/ 0 w 21600"/>
                <a:gd name="GluePoint1Y" fmla="*/ 17 h 21600"/>
                <a:gd name="GluePoint2X" fmla="*/ 2 w 21600"/>
                <a:gd name="GluePoint2Y" fmla="*/ 14 h 21600"/>
                <a:gd name="GluePoint3X" fmla="*/ 22 w 21600"/>
                <a:gd name="GluePoint3Y" fmla="*/ 8 h 21600"/>
                <a:gd name="GluePoint4X" fmla="*/ 2 w 21600"/>
                <a:gd name="GluePoint4Y" fmla="*/ 12 h 21600"/>
                <a:gd name="GluePoint5X" fmla="*/ 22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21600" y="0"/>
                  </a:moveTo>
                  <a:arcTo wR="21600" hR="7560" stAng="-5400000" swAng="-5400000"/>
                  <a:lnTo>
                    <a:pt x="0" y="11880"/>
                  </a:lnTo>
                  <a:arcTo wR="21600" hR="7560" stAng="10800000" swAng="-2682637"/>
                  <a:lnTo>
                    <a:pt x="14400" y="21168"/>
                  </a:lnTo>
                  <a:lnTo>
                    <a:pt x="21600" y="17280"/>
                  </a:lnTo>
                  <a:lnTo>
                    <a:pt x="14400" y="12528"/>
                  </a:lnTo>
                  <a:lnTo>
                    <a:pt x="14400" y="14688"/>
                  </a:lnTo>
                  <a:arcTo wR="21600" hR="7560" stAng="8117363" swAng="2325203"/>
                  <a:lnTo>
                    <a:pt x="900" y="9720"/>
                  </a:lnTo>
                  <a:arcTo wR="21600" hR="7560" stAng="-10442565" swAng="5042565"/>
                  <a:close/>
                </a:path>
                <a:path fill="darkenLess" w="21600" h="21600">
                  <a:moveTo>
                    <a:pt x="21600" y="0"/>
                  </a:moveTo>
                  <a:arcTo wR="21600" hR="7560" stAng="-5400000" swAng="-5400000"/>
                  <a:lnTo>
                    <a:pt x="0" y="7560"/>
                  </a:lnTo>
                  <a:arcTo wR="21600" hR="7560" stAng="10800000" swAng="-357435"/>
                  <a:lnTo>
                    <a:pt x="900" y="9720"/>
                  </a:lnTo>
                  <a:arcTo wR="21600" hR="7560" stAng="-10442565" swAng="5042565"/>
                  <a:close/>
                </a:path>
              </a:pathLst>
            </a:cu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spTree>
  </p:cSld>
  <p:transition spd="med">
    <p:zoom dir="out"/>
  </p:transition>
  <p:timing>
    <p:tnLst>
      <p:par>
        <p:cTn id="2099" dur="indefinite" restart="never" nodeType="tmRoot">
          <p:childTnLst>
            <p:seq>
              <p:cTn id="2100" dur="indefinite" nodeType="mainSeq">
                <p:childTnLst>
                  <p:par>
                    <p:cTn id="2101" nodeType="clickEffect" fill="hold">
                      <p:stCondLst>
                        <p:cond delay="indefinite"/>
                      </p:stCondLst>
                      <p:childTnLst>
                        <p:par>
                          <p:cTn id="2102" nodeType="withEffect" fill="hold">
                            <p:stCondLst>
                              <p:cond delay="0"/>
                            </p:stCondLst>
                            <p:childTnLst>
                              <p:par>
                                <p:cTn id="2103" nodeType="clickEffect" fill="hold" presetClass="entr" presetID="4" presetSubtype="16">
                                  <p:stCondLst>
                                    <p:cond delay="0"/>
                                  </p:stCondLst>
                                  <p:childTnLst>
                                    <p:set>
                                      <p:cBhvr>
                                        <p:cTn id="2104" dur="1" fill="hold">
                                          <p:stCondLst>
                                            <p:cond delay="0"/>
                                          </p:stCondLst>
                                        </p:cTn>
                                        <p:tgtEl>
                                          <p:spTgt spid="1778"/>
                                        </p:tgtEl>
                                        <p:attrNameLst>
                                          <p:attrName>style.visibility</p:attrName>
                                        </p:attrNameLst>
                                      </p:cBhvr>
                                      <p:to>
                                        <p:strVal val="visible"/>
                                      </p:to>
                                    </p:set>
                                    <p:animEffect filter="box(in)" transition="in">
                                      <p:cBhvr additive="repl">
                                        <p:cTn id="2105" dur="500"/>
                                        <p:tgtEl>
                                          <p:spTgt spid="1778"/>
                                        </p:tgtEl>
                                      </p:cBhvr>
                                    </p:animEffect>
                                  </p:childTnLst>
                                </p:cTn>
                              </p:par>
                            </p:childTnLst>
                          </p:cTn>
                        </p:par>
                      </p:childTnLst>
                    </p:cTn>
                  </p:par>
                  <p:par>
                    <p:cTn id="2106" nodeType="clickEffect" fill="hold">
                      <p:stCondLst>
                        <p:cond delay="indefinite"/>
                      </p:stCondLst>
                      <p:childTnLst>
                        <p:par>
                          <p:cTn id="2107" nodeType="withEffect" fill="hold">
                            <p:stCondLst>
                              <p:cond delay="0"/>
                            </p:stCondLst>
                            <p:childTnLst>
                              <p:par>
                                <p:cTn id="2108" nodeType="clickEffect" fill="hold" presetClass="entr" presetID="4" presetSubtype="16">
                                  <p:stCondLst>
                                    <p:cond delay="0"/>
                                  </p:stCondLst>
                                  <p:childTnLst>
                                    <p:set>
                                      <p:cBhvr>
                                        <p:cTn id="2109" dur="1" fill="hold">
                                          <p:stCondLst>
                                            <p:cond delay="0"/>
                                          </p:stCondLst>
                                        </p:cTn>
                                        <p:tgtEl>
                                          <p:spTgt spid="1783"/>
                                        </p:tgtEl>
                                        <p:attrNameLst>
                                          <p:attrName>style.visibility</p:attrName>
                                        </p:attrNameLst>
                                      </p:cBhvr>
                                      <p:to>
                                        <p:strVal val="visible"/>
                                      </p:to>
                                    </p:set>
                                    <p:animEffect filter="box(in)" transition="in">
                                      <p:cBhvr additive="repl">
                                        <p:cTn id="2110" dur="500"/>
                                        <p:tgtEl>
                                          <p:spTgt spid="17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787" name=""/>
          <p:cNvGraphicFramePr/>
          <p:nvPr/>
        </p:nvGraphicFramePr>
        <p:xfrm>
          <a:off x="1440" y="1523880"/>
          <a:ext cx="9142560" cy="4469040"/>
        </p:xfrm>
        <a:graphic>
          <a:graphicData uri="http://schemas.openxmlformats.org/drawingml/2006/table">
            <a:tbl>
              <a:tblPr/>
              <a:tblGrid>
                <a:gridCol w="1594080"/>
                <a:gridCol w="1795320"/>
                <a:gridCol w="2836800"/>
                <a:gridCol w="2916360"/>
              </a:tblGrid>
              <a:tr h="154800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Substrats</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Concentration</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 musculaire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 mmole/ kg)</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de muscle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Comparaison avec des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individus plus âgés</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1368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Vitesse d’utilisation</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au cours de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l’exercice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5760">
                      <a:solidFill>
                        <a:srgbClr val="ffff00"/>
                      </a:solidFill>
                      <a:prstDash val="solid"/>
                    </a:lnB>
                    <a:noFill/>
                  </a:tcPr>
                </a:tc>
              </a:tr>
              <a:tr h="1029240">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Glycogène</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45 à 75</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Plus faible chez l’enfant</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Plus basse que celle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800" strike="noStrike" u="none">
                          <a:solidFill>
                            <a:srgbClr val="ffff00"/>
                          </a:solidFill>
                          <a:effectLst/>
                          <a:uFillTx/>
                          <a:latin typeface="Arial"/>
                        </a:rPr>
                        <a:t>de l’adulte </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64044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Enzymes</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Activité enzymatique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Symbol"/>
                          <a:ea typeface="Symbol"/>
                        </a:rPr>
                        <a:t></a:t>
                      </a:r>
                      <a:r>
                        <a:rPr b="1" lang="fr-FR" sz="1800" strike="noStrike" u="none">
                          <a:solidFill>
                            <a:srgbClr val="ffff00"/>
                          </a:solidFill>
                          <a:effectLst/>
                          <a:uFillTx/>
                          <a:latin typeface="Arial"/>
                        </a:rPr>
                        <a:t>mol/(g x min)</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1251360">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G.P</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PFK</a:t>
                      </a:r>
                      <a:endParaRPr b="0" lang="en-US" sz="1800" strike="noStrike" u="none">
                        <a:solidFill>
                          <a:srgbClr val="ffff00"/>
                        </a:solidFill>
                        <a:effectLst/>
                        <a:uFillTx/>
                        <a:latin typeface="Times New Roman"/>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LDH</a:t>
                      </a:r>
                      <a:endParaRPr b="0" lang="en-US" sz="18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Plus faible chez l’enfant</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Plus faible chez l’enfant</a:t>
                      </a:r>
                      <a:endParaRPr b="0" lang="en-US" sz="1800" strike="noStrike" u="none">
                        <a:solidFill>
                          <a:srgbClr val="ffff00"/>
                        </a:solidFill>
                        <a:effectLst/>
                        <a:uFillTx/>
                        <a:latin typeface="Times New Roman"/>
                      </a:endParaRPr>
                    </a:p>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Plus faible chez l’enfant</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8.4 chez l’enfant = 50 % inférieure à celle de l’adulte</a:t>
                      </a:r>
                      <a:endParaRPr b="0" lang="en-US" sz="18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13680">
                      <a:solidFill>
                        <a:srgbClr val="ffff00"/>
                      </a:solidFill>
                      <a:prstDash val="solid"/>
                    </a:lnB>
                    <a:noFill/>
                  </a:tcPr>
                </a:tc>
              </a:tr>
            </a:tbl>
          </a:graphicData>
        </a:graphic>
      </p:graphicFrame>
      <p:sp>
        <p:nvSpPr>
          <p:cNvPr id="1788" name="Text Box 61"/>
          <p:cNvSpPr/>
          <p:nvPr/>
        </p:nvSpPr>
        <p:spPr>
          <a:xfrm>
            <a:off x="547920" y="152280"/>
            <a:ext cx="8156160" cy="7038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COMPARAISON ENFANT-ADULTE DES SUBSTRATS ET ENZYMES</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INTERVENANT DANS LES PROCESSUS ANAEROBIE LACTIQUES</a:t>
            </a:r>
            <a:endParaRPr b="0" lang="en-US" sz="2000" strike="noStrike" u="none">
              <a:solidFill>
                <a:srgbClr val="ffff00"/>
              </a:solidFill>
              <a:effectLst/>
              <a:uFillTx/>
              <a:latin typeface="Times New Roman"/>
            </a:endParaRPr>
          </a:p>
        </p:txBody>
      </p:sp>
      <p:sp>
        <p:nvSpPr>
          <p:cNvPr id="1789" name="Text Box 65"/>
          <p:cNvSpPr/>
          <p:nvPr/>
        </p:nvSpPr>
        <p:spPr>
          <a:xfrm>
            <a:off x="524520" y="6156360"/>
            <a:ext cx="783360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D’après Eriksson et Saltin (1974), Eriksson (1980), Karlsson (1971),</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Haralambie (1982), Berg et Keul (1988), </a:t>
            </a:r>
            <a:endParaRPr b="0" lang="en-US" sz="2000" strike="noStrike" u="none">
              <a:solidFill>
                <a:srgbClr val="ffff00"/>
              </a:solidFill>
              <a:effectLst/>
              <a:uFillTx/>
              <a:latin typeface="Times New Roman"/>
            </a:endParaRPr>
          </a:p>
        </p:txBody>
      </p:sp>
      <p:sp>
        <p:nvSpPr>
          <p:cNvPr id="1790" name="Text Box 88"/>
          <p:cNvSpPr/>
          <p:nvPr/>
        </p:nvSpPr>
        <p:spPr>
          <a:xfrm>
            <a:off x="1600200" y="990720"/>
            <a:ext cx="4648320" cy="459720"/>
          </a:xfrm>
          <a:prstGeom prst="rect">
            <a:avLst/>
          </a:prstGeom>
          <a:noFill/>
          <a:ln w="28440">
            <a:solidFill>
              <a:srgbClr val="ffff00"/>
            </a:solidFill>
            <a:miter/>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Valeurs de repos</a:t>
            </a:r>
            <a:endParaRPr b="0" lang="en-US" sz="2400" strike="noStrike" u="none">
              <a:solidFill>
                <a:srgbClr val="ffff00"/>
              </a:solidFill>
              <a:effectLst/>
              <a:uFillTx/>
              <a:latin typeface="Times New Roman"/>
            </a:endParaRPr>
          </a:p>
        </p:txBody>
      </p:sp>
    </p:spTree>
  </p:cSld>
  <p:transition spd="med">
    <p:zoom dir="out"/>
  </p:transition>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1" name="Line 2"/>
          <p:cNvSpPr/>
          <p:nvPr/>
        </p:nvSpPr>
        <p:spPr>
          <a:xfrm>
            <a:off x="1219320" y="304920"/>
            <a:ext cx="0" cy="54100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792" name="Line 3"/>
          <p:cNvSpPr/>
          <p:nvPr/>
        </p:nvSpPr>
        <p:spPr>
          <a:xfrm>
            <a:off x="1219320" y="5715000"/>
            <a:ext cx="670536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793" name="Text Box 4"/>
          <p:cNvSpPr/>
          <p:nvPr/>
        </p:nvSpPr>
        <p:spPr>
          <a:xfrm>
            <a:off x="1255680" y="5562720"/>
            <a:ext cx="686628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       </a:t>
            </a:r>
            <a:r>
              <a:rPr b="1" lang="fr-FR" sz="1400" strike="noStrike" u="none">
                <a:solidFill>
                  <a:srgbClr val="ffff00"/>
                </a:solidFill>
                <a:effectLst/>
                <a:uFillTx/>
                <a:latin typeface="Arial"/>
              </a:rPr>
              <a:t>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REPOS                      25                      50                      75                      100</a:t>
            </a:r>
            <a:endParaRPr b="0" lang="en-US" sz="1600" strike="noStrike" u="none">
              <a:solidFill>
                <a:srgbClr val="ffff00"/>
              </a:solidFill>
              <a:effectLst/>
              <a:uFillTx/>
              <a:latin typeface="Times New Roman"/>
            </a:endParaRPr>
          </a:p>
        </p:txBody>
      </p:sp>
      <p:sp>
        <p:nvSpPr>
          <p:cNvPr id="1794" name="AutoShape 14"/>
          <p:cNvSpPr/>
          <p:nvPr/>
        </p:nvSpPr>
        <p:spPr>
          <a:xfrm>
            <a:off x="1600200" y="502920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1795" name="Line 16"/>
          <p:cNvSpPr/>
          <p:nvPr/>
        </p:nvSpPr>
        <p:spPr>
          <a:xfrm>
            <a:off x="1676520" y="4952880"/>
            <a:ext cx="0" cy="76320"/>
          </a:xfrm>
          <a:prstGeom prst="line">
            <a:avLst/>
          </a:prstGeom>
          <a:ln w="28440">
            <a:solidFill>
              <a:srgbClr val="ffff00"/>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1796" name="Line 17"/>
          <p:cNvSpPr/>
          <p:nvPr/>
        </p:nvSpPr>
        <p:spPr>
          <a:xfrm>
            <a:off x="1600200" y="49528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797" name="AutoShape 18"/>
          <p:cNvSpPr/>
          <p:nvPr/>
        </p:nvSpPr>
        <p:spPr>
          <a:xfrm>
            <a:off x="5334120" y="4495680"/>
            <a:ext cx="152280" cy="15264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4320" bIns="4320" anchor="ctr">
            <a:noAutofit/>
          </a:bodyPr>
          <a:p>
            <a:endParaRPr b="0" lang="en-US" sz="2400" strike="noStrike" u="none">
              <a:solidFill>
                <a:srgbClr val="ffff00"/>
              </a:solidFill>
              <a:effectLst/>
              <a:uFillTx/>
              <a:latin typeface="Times New Roman"/>
            </a:endParaRPr>
          </a:p>
        </p:txBody>
      </p:sp>
      <p:sp>
        <p:nvSpPr>
          <p:cNvPr id="1798" name="Line 19"/>
          <p:cNvSpPr/>
          <p:nvPr/>
        </p:nvSpPr>
        <p:spPr>
          <a:xfrm>
            <a:off x="5410080" y="4419720"/>
            <a:ext cx="0" cy="75960"/>
          </a:xfrm>
          <a:prstGeom prst="line">
            <a:avLst/>
          </a:prstGeom>
          <a:ln w="28440">
            <a:solidFill>
              <a:srgbClr val="ffff00"/>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1799" name="Line 20"/>
          <p:cNvSpPr/>
          <p:nvPr/>
        </p:nvSpPr>
        <p:spPr>
          <a:xfrm>
            <a:off x="5334120" y="441972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0" name="AutoShape 21"/>
          <p:cNvSpPr/>
          <p:nvPr/>
        </p:nvSpPr>
        <p:spPr>
          <a:xfrm>
            <a:off x="6248520" y="320040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1801" name="Line 22"/>
          <p:cNvSpPr/>
          <p:nvPr/>
        </p:nvSpPr>
        <p:spPr>
          <a:xfrm>
            <a:off x="6324480" y="297180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2" name="Line 23"/>
          <p:cNvSpPr/>
          <p:nvPr/>
        </p:nvSpPr>
        <p:spPr>
          <a:xfrm>
            <a:off x="6248520" y="29718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3" name="AutoShape 24"/>
          <p:cNvSpPr/>
          <p:nvPr/>
        </p:nvSpPr>
        <p:spPr>
          <a:xfrm>
            <a:off x="7238880" y="1676520"/>
            <a:ext cx="15264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1804" name="Line 25"/>
          <p:cNvSpPr/>
          <p:nvPr/>
        </p:nvSpPr>
        <p:spPr>
          <a:xfrm>
            <a:off x="7315200" y="144792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5" name="Line 26"/>
          <p:cNvSpPr/>
          <p:nvPr/>
        </p:nvSpPr>
        <p:spPr>
          <a:xfrm>
            <a:off x="7238880" y="1447920"/>
            <a:ext cx="15264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6" name="Line 27"/>
          <p:cNvSpPr/>
          <p:nvPr/>
        </p:nvSpPr>
        <p:spPr>
          <a:xfrm flipV="1">
            <a:off x="1752480" y="4572000"/>
            <a:ext cx="3657600" cy="5335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7" name="Line 28"/>
          <p:cNvSpPr/>
          <p:nvPr/>
        </p:nvSpPr>
        <p:spPr>
          <a:xfrm flipV="1">
            <a:off x="5486400" y="3276720"/>
            <a:ext cx="838080" cy="1295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8" name="Line 29"/>
          <p:cNvSpPr/>
          <p:nvPr/>
        </p:nvSpPr>
        <p:spPr>
          <a:xfrm flipV="1">
            <a:off x="6324480" y="1828800"/>
            <a:ext cx="990720" cy="1447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09" name="AutoShape 30"/>
          <p:cNvSpPr/>
          <p:nvPr/>
        </p:nvSpPr>
        <p:spPr>
          <a:xfrm>
            <a:off x="7543800" y="1066680"/>
            <a:ext cx="152280" cy="15264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4320" bIns="4320" anchor="ctr">
            <a:noAutofit/>
          </a:bodyPr>
          <a:p>
            <a:endParaRPr b="0" lang="en-US" sz="2400" strike="noStrike" u="none">
              <a:solidFill>
                <a:srgbClr val="ffff00"/>
              </a:solidFill>
              <a:effectLst/>
              <a:uFillTx/>
              <a:latin typeface="Times New Roman"/>
            </a:endParaRPr>
          </a:p>
        </p:txBody>
      </p:sp>
      <p:sp>
        <p:nvSpPr>
          <p:cNvPr id="1810" name="Line 31"/>
          <p:cNvSpPr/>
          <p:nvPr/>
        </p:nvSpPr>
        <p:spPr>
          <a:xfrm>
            <a:off x="7620120" y="990720"/>
            <a:ext cx="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11" name="Line 32"/>
          <p:cNvSpPr/>
          <p:nvPr/>
        </p:nvSpPr>
        <p:spPr>
          <a:xfrm>
            <a:off x="7543800" y="99072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12" name="Line 33"/>
          <p:cNvSpPr/>
          <p:nvPr/>
        </p:nvSpPr>
        <p:spPr>
          <a:xfrm flipV="1">
            <a:off x="7620120" y="990360"/>
            <a:ext cx="0" cy="75960"/>
          </a:xfrm>
          <a:prstGeom prst="line">
            <a:avLst/>
          </a:prstGeom>
          <a:ln w="28440">
            <a:solidFill>
              <a:srgbClr val="ffff00"/>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1813" name="Line 34"/>
          <p:cNvSpPr/>
          <p:nvPr/>
        </p:nvSpPr>
        <p:spPr>
          <a:xfrm flipV="1">
            <a:off x="7391520" y="1218960"/>
            <a:ext cx="228600" cy="5331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14" name="Text Box 35"/>
          <p:cNvSpPr/>
          <p:nvPr/>
        </p:nvSpPr>
        <p:spPr>
          <a:xfrm>
            <a:off x="5579280" y="1828800"/>
            <a:ext cx="1382400" cy="398880"/>
          </a:xfrm>
          <a:prstGeom prst="rect">
            <a:avLst/>
          </a:prstGeom>
          <a:noFill/>
          <a:ln w="2844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ADULTES</a:t>
            </a:r>
            <a:endParaRPr b="0" lang="en-US" sz="2000" strike="noStrike" u="none">
              <a:solidFill>
                <a:srgbClr val="ffff00"/>
              </a:solidFill>
              <a:effectLst/>
              <a:uFillTx/>
              <a:latin typeface="Times New Roman"/>
            </a:endParaRPr>
          </a:p>
        </p:txBody>
      </p:sp>
      <p:sp>
        <p:nvSpPr>
          <p:cNvPr id="1815" name="Text Box 36"/>
          <p:cNvSpPr/>
          <p:nvPr/>
        </p:nvSpPr>
        <p:spPr>
          <a:xfrm>
            <a:off x="754200" y="216000"/>
            <a:ext cx="619200" cy="5534640"/>
          </a:xfrm>
          <a:prstGeom prst="rect">
            <a:avLst/>
          </a:prstGeom>
          <a:noFill/>
          <a:ln w="0">
            <a:noFill/>
          </a:ln>
        </p:spPr>
        <p:style>
          <a:lnRef idx="0"/>
          <a:fillRef idx="0"/>
          <a:effectRef idx="0"/>
          <a:fontRef idx="minor"/>
        </p:style>
        <p:txBody>
          <a:bodyPr wrap="none" lIns="90000" rIns="90000" tIns="46800" bIns="46800" anchor="t">
            <a:spAutoFit/>
          </a:bodyPr>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20 -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15 -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10 -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5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0  -</a:t>
            </a:r>
            <a:endParaRPr b="0" lang="en-US" sz="2000" strike="noStrike" u="none">
              <a:solidFill>
                <a:srgbClr val="ffff00"/>
              </a:solidFill>
              <a:effectLst/>
              <a:uFillTx/>
              <a:latin typeface="Times New Roman"/>
            </a:endParaRPr>
          </a:p>
        </p:txBody>
      </p:sp>
      <p:sp>
        <p:nvSpPr>
          <p:cNvPr id="1816" name="Text Box 39"/>
          <p:cNvSpPr/>
          <p:nvPr/>
        </p:nvSpPr>
        <p:spPr>
          <a:xfrm>
            <a:off x="1519920" y="518148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17" name="Line 40"/>
          <p:cNvSpPr/>
          <p:nvPr/>
        </p:nvSpPr>
        <p:spPr>
          <a:xfrm>
            <a:off x="1693800" y="5424480"/>
            <a:ext cx="0" cy="1522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18" name="Line 41"/>
          <p:cNvSpPr/>
          <p:nvPr/>
        </p:nvSpPr>
        <p:spPr>
          <a:xfrm>
            <a:off x="1600200" y="5562720"/>
            <a:ext cx="22860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19" name="Line 42"/>
          <p:cNvSpPr/>
          <p:nvPr/>
        </p:nvSpPr>
        <p:spPr>
          <a:xfrm flipV="1">
            <a:off x="1676520" y="5257800"/>
            <a:ext cx="2361960" cy="76320"/>
          </a:xfrm>
          <a:prstGeom prst="line">
            <a:avLst/>
          </a:prstGeom>
          <a:ln w="28440">
            <a:solidFill>
              <a:srgbClr val="ffffff"/>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1820" name="Text Box 43"/>
          <p:cNvSpPr/>
          <p:nvPr/>
        </p:nvSpPr>
        <p:spPr>
          <a:xfrm>
            <a:off x="3882240" y="510552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21" name="Line 44"/>
          <p:cNvSpPr/>
          <p:nvPr/>
        </p:nvSpPr>
        <p:spPr>
          <a:xfrm>
            <a:off x="4056120" y="5348160"/>
            <a:ext cx="0" cy="1526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22" name="Line 45"/>
          <p:cNvSpPr/>
          <p:nvPr/>
        </p:nvSpPr>
        <p:spPr>
          <a:xfrm>
            <a:off x="3962520" y="5486400"/>
            <a:ext cx="22860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23" name="Line 46"/>
          <p:cNvSpPr/>
          <p:nvPr/>
        </p:nvSpPr>
        <p:spPr>
          <a:xfrm flipV="1">
            <a:off x="4114800" y="5028840"/>
            <a:ext cx="1371600" cy="2286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24" name="Text Box 47"/>
          <p:cNvSpPr/>
          <p:nvPr/>
        </p:nvSpPr>
        <p:spPr>
          <a:xfrm>
            <a:off x="5330160" y="487692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25" name="Line 48"/>
          <p:cNvSpPr/>
          <p:nvPr/>
        </p:nvSpPr>
        <p:spPr>
          <a:xfrm>
            <a:off x="5504040" y="5119560"/>
            <a:ext cx="0" cy="1526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26" name="Line 49"/>
          <p:cNvSpPr/>
          <p:nvPr/>
        </p:nvSpPr>
        <p:spPr>
          <a:xfrm>
            <a:off x="5410080" y="5257800"/>
            <a:ext cx="22860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27" name="Text Box 50"/>
          <p:cNvSpPr/>
          <p:nvPr/>
        </p:nvSpPr>
        <p:spPr>
          <a:xfrm>
            <a:off x="6244560" y="426708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28" name="Line 51"/>
          <p:cNvSpPr/>
          <p:nvPr/>
        </p:nvSpPr>
        <p:spPr>
          <a:xfrm>
            <a:off x="6418440" y="4510080"/>
            <a:ext cx="0" cy="1522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29" name="Line 52"/>
          <p:cNvSpPr/>
          <p:nvPr/>
        </p:nvSpPr>
        <p:spPr>
          <a:xfrm>
            <a:off x="6324480" y="4648320"/>
            <a:ext cx="22860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0" name="Line 53"/>
          <p:cNvSpPr/>
          <p:nvPr/>
        </p:nvSpPr>
        <p:spPr>
          <a:xfrm flipV="1">
            <a:off x="5562720" y="4419360"/>
            <a:ext cx="838080" cy="609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1" name="Line 57"/>
          <p:cNvSpPr/>
          <p:nvPr/>
        </p:nvSpPr>
        <p:spPr>
          <a:xfrm flipV="1">
            <a:off x="6477120" y="3580920"/>
            <a:ext cx="761760" cy="8384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2" name="Text Box 63"/>
          <p:cNvSpPr/>
          <p:nvPr/>
        </p:nvSpPr>
        <p:spPr>
          <a:xfrm>
            <a:off x="7082640" y="342900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33" name="Line 64"/>
          <p:cNvSpPr/>
          <p:nvPr/>
        </p:nvSpPr>
        <p:spPr>
          <a:xfrm>
            <a:off x="7256520" y="3672000"/>
            <a:ext cx="0" cy="1522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4" name="Line 65"/>
          <p:cNvSpPr/>
          <p:nvPr/>
        </p:nvSpPr>
        <p:spPr>
          <a:xfrm>
            <a:off x="7162920" y="3809880"/>
            <a:ext cx="22860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5" name="Line 66"/>
          <p:cNvSpPr/>
          <p:nvPr/>
        </p:nvSpPr>
        <p:spPr>
          <a:xfrm flipV="1">
            <a:off x="7238880" y="2666880"/>
            <a:ext cx="381240" cy="9144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6" name="Text Box 67"/>
          <p:cNvSpPr/>
          <p:nvPr/>
        </p:nvSpPr>
        <p:spPr>
          <a:xfrm>
            <a:off x="7463520" y="251460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37" name="Line 68"/>
          <p:cNvSpPr/>
          <p:nvPr/>
        </p:nvSpPr>
        <p:spPr>
          <a:xfrm>
            <a:off x="7637400" y="2757600"/>
            <a:ext cx="0" cy="1522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8" name="Line 69"/>
          <p:cNvSpPr/>
          <p:nvPr/>
        </p:nvSpPr>
        <p:spPr>
          <a:xfrm>
            <a:off x="7543800" y="2895480"/>
            <a:ext cx="228600" cy="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39" name="Text Box 70"/>
          <p:cNvSpPr/>
          <p:nvPr/>
        </p:nvSpPr>
        <p:spPr>
          <a:xfrm>
            <a:off x="6855480" y="4049640"/>
            <a:ext cx="1963800" cy="703800"/>
          </a:xfrm>
          <a:prstGeom prst="rect">
            <a:avLst/>
          </a:prstGeom>
          <a:noFill/>
          <a:ln w="28440">
            <a:solidFill>
              <a:srgbClr val="ffffff"/>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ENFANTS</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13.5 à 14.8 ans</a:t>
            </a:r>
            <a:endParaRPr b="0" lang="en-US" sz="2000" strike="noStrike" u="none">
              <a:solidFill>
                <a:srgbClr val="ffff00"/>
              </a:solidFill>
              <a:effectLst/>
              <a:uFillTx/>
              <a:latin typeface="Times New Roman"/>
            </a:endParaRPr>
          </a:p>
        </p:txBody>
      </p:sp>
      <p:sp>
        <p:nvSpPr>
          <p:cNvPr id="1840" name="Text Box 71"/>
          <p:cNvSpPr/>
          <p:nvPr/>
        </p:nvSpPr>
        <p:spPr>
          <a:xfrm>
            <a:off x="2047320" y="6059520"/>
            <a:ext cx="61272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de la consommation maximale d’oxygène</a:t>
            </a:r>
            <a:endParaRPr b="0" lang="en-US" sz="2400" strike="noStrike" u="none">
              <a:solidFill>
                <a:srgbClr val="ffff00"/>
              </a:solidFill>
              <a:effectLst/>
              <a:uFillTx/>
              <a:latin typeface="Times New Roman"/>
            </a:endParaRPr>
          </a:p>
        </p:txBody>
      </p:sp>
      <p:sp>
        <p:nvSpPr>
          <p:cNvPr id="1841" name="Text Box 72"/>
          <p:cNvSpPr/>
          <p:nvPr/>
        </p:nvSpPr>
        <p:spPr>
          <a:xfrm rot="16200000">
            <a:off x="-1630440" y="2700360"/>
            <a:ext cx="41781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Lactate musculaire (mmol/kg)</a:t>
            </a:r>
            <a:endParaRPr b="0" lang="en-US" sz="2400" strike="noStrike" u="none">
              <a:solidFill>
                <a:srgbClr val="ffff00"/>
              </a:solidFill>
              <a:effectLst/>
              <a:uFillTx/>
              <a:latin typeface="Times New Roman"/>
            </a:endParaRPr>
          </a:p>
        </p:txBody>
      </p:sp>
      <p:sp>
        <p:nvSpPr>
          <p:cNvPr id="1842" name="Text Box 73"/>
          <p:cNvSpPr/>
          <p:nvPr/>
        </p:nvSpPr>
        <p:spPr>
          <a:xfrm>
            <a:off x="1531800" y="152280"/>
            <a:ext cx="6906960" cy="73404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Lactate musculaire chez les enfants et les adultes</a:t>
            </a: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1800" strike="noStrike" u="none">
                <a:solidFill>
                  <a:srgbClr val="ffff00"/>
                </a:solidFill>
                <a:effectLst/>
                <a:uFillTx/>
                <a:latin typeface="Arial"/>
              </a:rPr>
              <a:t>D’après Eriksson 1971</a:t>
            </a:r>
            <a:endParaRPr b="0" lang="en-US" sz="1800" strike="noStrike" u="none">
              <a:solidFill>
                <a:srgbClr val="ffff00"/>
              </a:solidFill>
              <a:effectLst/>
              <a:uFillTx/>
              <a:latin typeface="Times New Roman"/>
            </a:endParaRPr>
          </a:p>
        </p:txBody>
      </p:sp>
    </p:spTree>
  </p:cSld>
  <p:transition spd="med">
    <p:zoom dir="out"/>
  </p:transition>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3" name="Text Box 3"/>
          <p:cNvSpPr/>
          <p:nvPr/>
        </p:nvSpPr>
        <p:spPr>
          <a:xfrm>
            <a:off x="380880" y="1600200"/>
            <a:ext cx="8382240" cy="19227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Les concentrations et l’activité des enzymes de la glycolyse anaérobie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lactique : </a:t>
            </a:r>
            <a:r>
              <a:rPr b="0" lang="fr-FR" sz="2000" strike="noStrike" u="none">
                <a:solidFill>
                  <a:srgbClr val="ffff00"/>
                </a:solidFill>
                <a:effectLst/>
                <a:uFillTx/>
                <a:latin typeface="Arial"/>
              </a:rPr>
              <a:t>Glycogène posphorylase, </a:t>
            </a:r>
            <a:r>
              <a:rPr b="0" lang="es-CL" sz="2000" strike="noStrike" u="none">
                <a:solidFill>
                  <a:srgbClr val="ffff00"/>
                </a:solidFill>
                <a:effectLst/>
                <a:uFillTx/>
                <a:latin typeface="Arial"/>
              </a:rPr>
              <a:t>phosphofructokinase  (PFK) et Lacticodéhydrogénase (DH), sont plus faibles chez</a:t>
            </a:r>
            <a:r>
              <a:rPr b="0" lang="fr-FR" sz="2000" strike="noStrike" u="none">
                <a:solidFill>
                  <a:srgbClr val="ffff00"/>
                </a:solidFill>
                <a:effectLst/>
                <a:uFillTx/>
                <a:latin typeface="Arial"/>
              </a:rPr>
              <a:t> </a:t>
            </a:r>
            <a:r>
              <a:rPr b="0" lang="es-CL" sz="2000" strike="noStrike" u="none">
                <a:solidFill>
                  <a:srgbClr val="ffff00"/>
                </a:solidFill>
                <a:effectLst/>
                <a:uFillTx/>
                <a:latin typeface="Arial"/>
              </a:rPr>
              <a:t>l’enfant que chez l’adolescent et plus faibles chez ce dernier que chez</a:t>
            </a:r>
            <a:r>
              <a:rPr b="0" lang="fr-FR" sz="2000" strike="noStrike" u="none">
                <a:solidFill>
                  <a:srgbClr val="ffff00"/>
                </a:solidFill>
                <a:effectLst/>
                <a:uFillTx/>
                <a:latin typeface="Arial"/>
              </a:rPr>
              <a:t> </a:t>
            </a:r>
            <a:r>
              <a:rPr b="0" lang="es-CL" sz="2000" strike="noStrike" u="none">
                <a:solidFill>
                  <a:srgbClr val="ffff00"/>
                </a:solidFill>
                <a:effectLst/>
                <a:uFillTx/>
                <a:latin typeface="Arial"/>
              </a:rPr>
              <a:t>l’adulte. </a:t>
            </a:r>
            <a:endParaRPr b="0" lang="en-US" sz="2000" strike="noStrike" u="none">
              <a:solidFill>
                <a:srgbClr val="ffff00"/>
              </a:solidFill>
              <a:effectLst/>
              <a:uFillTx/>
              <a:latin typeface="Times New Roman"/>
            </a:endParaRPr>
          </a:p>
        </p:txBody>
      </p:sp>
      <p:sp>
        <p:nvSpPr>
          <p:cNvPr id="1844" name="Text Box 8"/>
          <p:cNvSpPr/>
          <p:nvPr/>
        </p:nvSpPr>
        <p:spPr>
          <a:xfrm>
            <a:off x="366480" y="4019400"/>
            <a:ext cx="8117640" cy="192276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Ce déficit constaté chez l’enfant </a:t>
            </a:r>
            <a:r>
              <a:rPr b="0" lang="es-CL" sz="2000" strike="noStrike" u="none">
                <a:solidFill>
                  <a:srgbClr val="ffff00"/>
                </a:solidFill>
                <a:effectLst/>
                <a:uFillTx/>
                <a:latin typeface="Arial"/>
                <a:ea typeface="Arial"/>
              </a:rPr>
              <a:t>limite simultanément leur production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ea typeface="Arial"/>
              </a:rPr>
              <a:t>d’acide lactique et</a:t>
            </a:r>
            <a:r>
              <a:rPr b="0" lang="fr-FR" sz="2000" strike="noStrike" u="none">
                <a:solidFill>
                  <a:srgbClr val="ffff00"/>
                </a:solidFill>
                <a:effectLst/>
                <a:uFillTx/>
                <a:latin typeface="Arial"/>
                <a:ea typeface="Arial"/>
              </a:rPr>
              <a:t> </a:t>
            </a:r>
            <a:r>
              <a:rPr b="0" lang="es-CL" sz="2000" strike="noStrike" u="none">
                <a:solidFill>
                  <a:srgbClr val="ffff00"/>
                </a:solidFill>
                <a:effectLst/>
                <a:uFillTx/>
                <a:latin typeface="Arial"/>
                <a:ea typeface="Arial"/>
              </a:rPr>
              <a:t>leur capacité anaérobie</a:t>
            </a:r>
            <a:r>
              <a:rPr b="1" lang="es-CL" sz="2000" strike="noStrike" u="none">
                <a:solidFill>
                  <a:srgbClr val="ffff00"/>
                </a:solidFill>
                <a:effectLst/>
                <a:uFillTx/>
                <a:latin typeface="Arial"/>
                <a:ea typeface="Arial"/>
              </a:rPr>
              <a:t> (</a:t>
            </a:r>
            <a:r>
              <a:rPr b="0" lang="fr-FR" sz="2000" strike="noStrike" u="none">
                <a:solidFill>
                  <a:srgbClr val="ffff00"/>
                </a:solidFill>
                <a:effectLst/>
                <a:uFillTx/>
                <a:latin typeface="Arial"/>
                <a:ea typeface="Arial"/>
              </a:rPr>
              <a:t>Eriksson et Saltin, 1974;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ea typeface="Arial"/>
              </a:rPr>
              <a:t>Eriksson, 1980; Karlsson,1971, Haralambie,1982; Berg et Keul, 1988)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timing>
    <p:tnLst>
      <p:par>
        <p:cTn id="2111" dur="indefinite" restart="never" nodeType="tmRoot">
          <p:childTnLst>
            <p:seq>
              <p:cTn id="2112" dur="indefinite" nodeType="mainSeq">
                <p:childTnLst>
                  <p:par>
                    <p:cTn id="2113" nodeType="clickEffect" fill="hold">
                      <p:stCondLst>
                        <p:cond delay="indefinite"/>
                      </p:stCondLst>
                      <p:childTnLst>
                        <p:par>
                          <p:cTn id="2114" nodeType="withEffect" fill="hold">
                            <p:stCondLst>
                              <p:cond delay="0"/>
                            </p:stCondLst>
                            <p:childTnLst>
                              <p:par>
                                <p:cTn id="2115" nodeType="clickEffect" fill="hold" presetClass="entr" presetID="1">
                                  <p:stCondLst>
                                    <p:cond delay="0"/>
                                  </p:stCondLst>
                                  <p:iterate type="wd">
                                    <p:tmAbs val="0"/>
                                  </p:iterate>
                                  <p:childTnLst>
                                    <p:set>
                                      <p:cBhvr>
                                        <p:cTn id="2116" dur="1" fill="hold">
                                          <p:stCondLst>
                                            <p:cond delay="0"/>
                                          </p:stCondLst>
                                        </p:cTn>
                                        <p:tgtEl>
                                          <p:spTgt spid="1843"/>
                                        </p:tgtEl>
                                        <p:attrNameLst>
                                          <p:attrName>style.visibility</p:attrName>
                                        </p:attrNameLst>
                                      </p:cBhvr>
                                      <p:to>
                                        <p:strVal val="visible"/>
                                      </p:to>
                                    </p:set>
                                  </p:childTnLst>
                                </p:cTn>
                              </p:par>
                            </p:childTnLst>
                          </p:cTn>
                        </p:par>
                      </p:childTnLst>
                    </p:cTn>
                  </p:par>
                  <p:par>
                    <p:cTn id="2117" nodeType="clickEffect" fill="hold">
                      <p:stCondLst>
                        <p:cond delay="indefinite"/>
                      </p:stCondLst>
                      <p:childTnLst>
                        <p:par>
                          <p:cTn id="2118" nodeType="withEffect" fill="hold">
                            <p:stCondLst>
                              <p:cond delay="0"/>
                            </p:stCondLst>
                            <p:childTnLst>
                              <p:par>
                                <p:cTn id="2119" nodeType="clickEffect" fill="hold" presetClass="entr" presetID="5" presetSubtype="10">
                                  <p:stCondLst>
                                    <p:cond delay="0"/>
                                  </p:stCondLst>
                                  <p:childTnLst>
                                    <p:set>
                                      <p:cBhvr>
                                        <p:cTn id="2120" dur="1" fill="hold">
                                          <p:stCondLst>
                                            <p:cond delay="0"/>
                                          </p:stCondLst>
                                        </p:cTn>
                                        <p:tgtEl>
                                          <p:spTgt spid="1844"/>
                                        </p:tgtEl>
                                        <p:attrNameLst>
                                          <p:attrName>style.visibility</p:attrName>
                                        </p:attrNameLst>
                                      </p:cBhvr>
                                      <p:to>
                                        <p:strVal val="visible"/>
                                      </p:to>
                                    </p:set>
                                    <p:animEffect filter="checkerboard(across)" transition="in">
                                      <p:cBhvr additive="repl">
                                        <p:cTn id="2121" dur="2000"/>
                                        <p:tgtEl>
                                          <p:spTgt spid="18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5" name="Text Box 2"/>
          <p:cNvSpPr/>
          <p:nvPr/>
        </p:nvSpPr>
        <p:spPr>
          <a:xfrm>
            <a:off x="228600" y="914400"/>
            <a:ext cx="8913960" cy="185904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Lors d’exercices maximaux, les enfants n’atteignent pas des quotients</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respiratoires ( Qr : VCO</a:t>
            </a:r>
            <a:r>
              <a:rPr b="0" lang="es-CL" sz="2000" strike="noStrike" u="none" baseline="-25000">
                <a:solidFill>
                  <a:srgbClr val="ffff00"/>
                </a:solidFill>
                <a:effectLst/>
                <a:uFillTx/>
                <a:latin typeface="Arial"/>
              </a:rPr>
              <a:t>2</a:t>
            </a:r>
            <a:r>
              <a:rPr b="0" lang="es-CL" sz="2000" strike="noStrike" u="none">
                <a:solidFill>
                  <a:srgbClr val="ffff00"/>
                </a:solidFill>
                <a:effectLst/>
                <a:uFillTx/>
                <a:latin typeface="Arial"/>
              </a:rPr>
              <a:t>/VO</a:t>
            </a:r>
            <a:r>
              <a:rPr b="0" lang="es-CL" sz="2000" strike="noStrike" u="none" baseline="-25000">
                <a:solidFill>
                  <a:srgbClr val="ffff00"/>
                </a:solidFill>
                <a:effectLst/>
                <a:uFillTx/>
                <a:latin typeface="Arial"/>
              </a:rPr>
              <a:t>2</a:t>
            </a:r>
            <a:r>
              <a:rPr b="0" lang="es-CL" sz="2000" strike="noStrike" u="none">
                <a:solidFill>
                  <a:srgbClr val="ffff00"/>
                </a:solidFill>
                <a:effectLst/>
                <a:uFillTx/>
                <a:latin typeface="Arial"/>
              </a:rPr>
              <a:t> ) aussi élevés que ceux de l’adulte, ce qui est </a:t>
            </a:r>
            <a:endParaRPr b="0" lang="en-US" sz="2000" strike="noStrike" u="none">
              <a:solidFill>
                <a:srgbClr val="ffff00"/>
              </a:solidFill>
              <a:effectLst/>
              <a:uFillTx/>
              <a:latin typeface="Times New Roman"/>
            </a:endParaRPr>
          </a:p>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à la fois la conséquence de leur plus faible concentration en lactate et de leur plus faible efficacité de leurs systèmes tampon.</a:t>
            </a:r>
            <a:endParaRPr b="0" lang="en-US" sz="2000" strike="noStrike" u="none">
              <a:solidFill>
                <a:srgbClr val="ffff00"/>
              </a:solidFill>
              <a:effectLst/>
              <a:uFillTx/>
              <a:latin typeface="Times New Roman"/>
            </a:endParaRPr>
          </a:p>
        </p:txBody>
      </p:sp>
      <p:sp>
        <p:nvSpPr>
          <p:cNvPr id="1846" name="Rectangle 3"/>
          <p:cNvSpPr/>
          <p:nvPr/>
        </p:nvSpPr>
        <p:spPr>
          <a:xfrm>
            <a:off x="0" y="4952880"/>
            <a:ext cx="9144000" cy="1143000"/>
          </a:xfrm>
          <a:prstGeom prst="rect">
            <a:avLst/>
          </a:prstGeom>
          <a:noFill/>
          <a:ln w="0">
            <a:noFill/>
          </a:ln>
        </p:spPr>
        <p:style>
          <a:lnRef idx="0"/>
          <a:fillRef idx="0"/>
          <a:effectRef idx="0"/>
          <a:fontRef idx="minor"/>
        </p:style>
        <p:txBody>
          <a:bodyPr lIns="90000" rIns="90000" tIns="46800" bIns="46800" anchor="t">
            <a:noAutofit/>
          </a:bodyPr>
          <a:p>
            <a:pPr marL="343080" indent="-343080" algn="ctr">
              <a:lnSpc>
                <a:spcPct val="12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ff"/>
                </a:solidFill>
                <a:effectLst/>
                <a:uFillTx/>
                <a:latin typeface="Arial"/>
              </a:rPr>
              <a:t>EST-CE UNE SPECIFICITE PHYSIOLOGIQUE DE L’ENFANT LIEE A SA MATURATION, OU UNE CONSEQUENCE DE SON MODE DE FONCTIONNEMENT ?</a:t>
            </a:r>
            <a:endParaRPr b="0" lang="en-US" sz="2000" strike="noStrike" u="none">
              <a:solidFill>
                <a:srgbClr val="ffff00"/>
              </a:solidFill>
              <a:effectLst/>
              <a:uFillTx/>
              <a:latin typeface="Times New Roman"/>
            </a:endParaRPr>
          </a:p>
        </p:txBody>
      </p:sp>
      <p:sp>
        <p:nvSpPr>
          <p:cNvPr id="1847" name="Text Box 4"/>
          <p:cNvSpPr/>
          <p:nvPr/>
        </p:nvSpPr>
        <p:spPr>
          <a:xfrm>
            <a:off x="0" y="3124080"/>
            <a:ext cx="8647200" cy="947160"/>
          </a:xfrm>
          <a:prstGeom prst="rect">
            <a:avLst/>
          </a:prstGeom>
          <a:noFill/>
          <a:ln w="0">
            <a:noFill/>
          </a:ln>
        </p:spPr>
        <p:style>
          <a:lnRef idx="0"/>
          <a:fillRef idx="0"/>
          <a:effectRef idx="0"/>
          <a:fontRef idx="minor"/>
        </p:style>
        <p:txBody>
          <a:bodyPr lIns="90000" rIns="90000" tIns="46800" bIns="46800" anchor="t">
            <a:spAutoFit/>
          </a:bodyPr>
          <a:p>
            <a:pPr>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Les puissances anaérobies moyenne et maximale (en pic) sont plus faibles chez l’enfant que chez l’adulte (Cf. Travaux de Van Praagh).</a:t>
            </a:r>
            <a:endParaRPr b="0" lang="en-US" sz="2000" strike="noStrike" u="none">
              <a:solidFill>
                <a:srgbClr val="ffff00"/>
              </a:solidFill>
              <a:effectLst/>
              <a:uFillTx/>
              <a:latin typeface="Times New Roman"/>
            </a:endParaRPr>
          </a:p>
        </p:txBody>
      </p:sp>
    </p:spTree>
  </p:cSld>
  <p:transition spd="med">
    <p:zoom dir="out"/>
  </p:transition>
  <p:timing>
    <p:tnLst>
      <p:par>
        <p:cTn id="2122" dur="indefinite" restart="never" nodeType="tmRoot">
          <p:childTnLst>
            <p:seq>
              <p:cTn id="2123" dur="indefinite" nodeType="mainSeq">
                <p:childTnLst>
                  <p:par>
                    <p:cTn id="2124" nodeType="clickEffect" fill="hold">
                      <p:stCondLst>
                        <p:cond delay="indefinite"/>
                      </p:stCondLst>
                      <p:childTnLst>
                        <p:par>
                          <p:cTn id="2125" nodeType="withEffect" fill="hold">
                            <p:stCondLst>
                              <p:cond delay="0"/>
                            </p:stCondLst>
                            <p:childTnLst>
                              <p:par>
                                <p:cTn id="2126" nodeType="clickEffect" fill="hold" presetClass="entr" presetID="22" presetSubtype="4">
                                  <p:stCondLst>
                                    <p:cond delay="0"/>
                                  </p:stCondLst>
                                  <p:iterate type="wd">
                                    <p:tmAbs val="0"/>
                                  </p:iterate>
                                  <p:childTnLst>
                                    <p:set>
                                      <p:cBhvr>
                                        <p:cTn id="2127" dur="1" fill="hold">
                                          <p:stCondLst>
                                            <p:cond delay="0"/>
                                          </p:stCondLst>
                                        </p:cTn>
                                        <p:tgtEl>
                                          <p:spTgt spid="1845"/>
                                        </p:tgtEl>
                                        <p:attrNameLst>
                                          <p:attrName>style.visibility</p:attrName>
                                        </p:attrNameLst>
                                      </p:cBhvr>
                                      <p:to>
                                        <p:strVal val="visible"/>
                                      </p:to>
                                    </p:set>
                                    <p:animEffect filter="wipe(down)" transition="in">
                                      <p:cBhvr additive="repl">
                                        <p:cTn id="2128" dur="500"/>
                                        <p:tgtEl>
                                          <p:spTgt spid="1845"/>
                                        </p:tgtEl>
                                      </p:cBhvr>
                                    </p:animEffect>
                                  </p:childTnLst>
                                </p:cTn>
                              </p:par>
                            </p:childTnLst>
                          </p:cTn>
                        </p:par>
                      </p:childTnLst>
                    </p:cTn>
                  </p:par>
                  <p:par>
                    <p:cTn id="2129" nodeType="clickEffect" fill="hold">
                      <p:stCondLst>
                        <p:cond delay="indefinite"/>
                      </p:stCondLst>
                      <p:childTnLst>
                        <p:par>
                          <p:cTn id="2130" nodeType="withEffect" fill="hold">
                            <p:stCondLst>
                              <p:cond delay="0"/>
                            </p:stCondLst>
                            <p:childTnLst>
                              <p:par>
                                <p:cTn id="2131" nodeType="clickEffect" fill="hold" presetClass="entr" presetID="22" presetSubtype="8">
                                  <p:stCondLst>
                                    <p:cond delay="0"/>
                                  </p:stCondLst>
                                  <p:childTnLst>
                                    <p:set>
                                      <p:cBhvr>
                                        <p:cTn id="2132" dur="1" fill="hold">
                                          <p:stCondLst>
                                            <p:cond delay="0"/>
                                          </p:stCondLst>
                                        </p:cTn>
                                        <p:tgtEl>
                                          <p:spTgt spid="1847"/>
                                        </p:tgtEl>
                                        <p:attrNameLst>
                                          <p:attrName>style.visibility</p:attrName>
                                        </p:attrNameLst>
                                      </p:cBhvr>
                                      <p:to>
                                        <p:strVal val="visible"/>
                                      </p:to>
                                    </p:set>
                                    <p:animEffect filter="wipe(left)" transition="in">
                                      <p:cBhvr additive="repl">
                                        <p:cTn id="2133" dur="2000"/>
                                        <p:tgtEl>
                                          <p:spTgt spid="1847"/>
                                        </p:tgtEl>
                                      </p:cBhvr>
                                    </p:animEffect>
                                  </p:childTnLst>
                                </p:cTn>
                              </p:par>
                            </p:childTnLst>
                          </p:cTn>
                        </p:par>
                      </p:childTnLst>
                    </p:cTn>
                  </p:par>
                  <p:par>
                    <p:cTn id="2134" nodeType="clickEffect" fill="hold">
                      <p:stCondLst>
                        <p:cond delay="indefinite"/>
                      </p:stCondLst>
                      <p:childTnLst>
                        <p:par>
                          <p:cTn id="2135" nodeType="withEffect" fill="hold">
                            <p:stCondLst>
                              <p:cond delay="0"/>
                            </p:stCondLst>
                            <p:childTnLst>
                              <p:par>
                                <p:cTn id="2136" nodeType="clickEffect" fill="hold" presetClass="entr" presetID="23" presetSubtype="288">
                                  <p:stCondLst>
                                    <p:cond delay="0"/>
                                  </p:stCondLst>
                                  <p:iterate type="lt">
                                    <p:tmAbs val="75"/>
                                  </p:iterate>
                                  <p:childTnLst>
                                    <p:set>
                                      <p:cBhvr>
                                        <p:cTn id="2137" dur="1" fill="hold">
                                          <p:stCondLst>
                                            <p:cond delay="0"/>
                                          </p:stCondLst>
                                        </p:cTn>
                                        <p:tgtEl>
                                          <p:spTgt spid="1846">
                                            <p:txEl>
                                              <p:pRg st="0" end="0"/>
                                            </p:txEl>
                                          </p:spTgt>
                                        </p:tgtEl>
                                        <p:attrNameLst>
                                          <p:attrName>style.visibility</p:attrName>
                                        </p:attrNameLst>
                                      </p:cBhvr>
                                      <p:to>
                                        <p:strVal val="visible"/>
                                      </p:to>
                                    </p:set>
                                    <p:anim calcmode="lin" valueType="num">
                                      <p:cBhvr additive="repl">
                                        <p:cTn id="2138" dur="75" fill="hold"/>
                                        <p:tgtEl>
                                          <p:spTgt spid="1846">
                                            <p:txEl>
                                              <p:pRg st="0" end="0"/>
                                            </p:txEl>
                                          </p:spTgt>
                                        </p:tgtEl>
                                        <p:attrNameLst>
                                          <p:attrName>ppt_w</p:attrName>
                                        </p:attrNameLst>
                                      </p:cBhvr>
                                      <p:tavLst>
                                        <p:tav tm="0">
                                          <p:val>
                                            <p:strVal val="4/3*#ppt_w"/>
                                          </p:val>
                                        </p:tav>
                                        <p:tav tm="100000">
                                          <p:val>
                                            <p:strVal val="#ppt_w"/>
                                          </p:val>
                                        </p:tav>
                                      </p:tavLst>
                                    </p:anim>
                                    <p:anim calcmode="lin" valueType="num">
                                      <p:cBhvr additive="repl">
                                        <p:cTn id="2139" dur="75" fill="hold"/>
                                        <p:tgtEl>
                                          <p:spTgt spid="1846">
                                            <p:txEl>
                                              <p:pRg st="0" end="0"/>
                                            </p:txEl>
                                          </p:spTgt>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8" name="Line 2"/>
          <p:cNvSpPr/>
          <p:nvPr/>
        </p:nvSpPr>
        <p:spPr>
          <a:xfrm>
            <a:off x="1154160" y="317520"/>
            <a:ext cx="0" cy="54100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49" name="Line 3"/>
          <p:cNvSpPr/>
          <p:nvPr/>
        </p:nvSpPr>
        <p:spPr>
          <a:xfrm>
            <a:off x="1154160" y="5727600"/>
            <a:ext cx="6705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50" name="Text Box 4"/>
          <p:cNvSpPr/>
          <p:nvPr/>
        </p:nvSpPr>
        <p:spPr>
          <a:xfrm>
            <a:off x="1188720" y="5575320"/>
            <a:ext cx="6866280" cy="581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       </a:t>
            </a:r>
            <a:r>
              <a:rPr b="1" lang="fr-FR" sz="1400" strike="noStrike" u="none">
                <a:solidFill>
                  <a:srgbClr val="ffff00"/>
                </a:solidFill>
                <a:effectLst/>
                <a:uFillTx/>
                <a:latin typeface="Arial"/>
              </a:rPr>
              <a:t>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REPOS                      25                      50                      75                      100</a:t>
            </a:r>
            <a:endParaRPr b="0" lang="en-US" sz="1600" strike="noStrike" u="none">
              <a:solidFill>
                <a:srgbClr val="ffff00"/>
              </a:solidFill>
              <a:effectLst/>
              <a:uFillTx/>
              <a:latin typeface="Times New Roman"/>
            </a:endParaRPr>
          </a:p>
        </p:txBody>
      </p:sp>
      <p:sp>
        <p:nvSpPr>
          <p:cNvPr id="1851" name="AutoShape 5"/>
          <p:cNvSpPr/>
          <p:nvPr/>
        </p:nvSpPr>
        <p:spPr>
          <a:xfrm>
            <a:off x="1535040" y="5041800"/>
            <a:ext cx="152640" cy="15264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4320" bIns="4320" anchor="ctr">
            <a:noAutofit/>
          </a:bodyPr>
          <a:p>
            <a:endParaRPr b="0" lang="en-US" sz="2400" strike="noStrike" u="none">
              <a:solidFill>
                <a:srgbClr val="ffff00"/>
              </a:solidFill>
              <a:effectLst/>
              <a:uFillTx/>
              <a:latin typeface="Times New Roman"/>
            </a:endParaRPr>
          </a:p>
        </p:txBody>
      </p:sp>
      <p:sp>
        <p:nvSpPr>
          <p:cNvPr id="1852" name="AutoShape 11"/>
          <p:cNvSpPr/>
          <p:nvPr/>
        </p:nvSpPr>
        <p:spPr>
          <a:xfrm>
            <a:off x="4659480" y="473724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1853" name="AutoShape 14"/>
          <p:cNvSpPr/>
          <p:nvPr/>
        </p:nvSpPr>
        <p:spPr>
          <a:xfrm>
            <a:off x="6259680" y="397512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
        <p:nvSpPr>
          <p:cNvPr id="1854" name="Line 17"/>
          <p:cNvSpPr/>
          <p:nvPr/>
        </p:nvSpPr>
        <p:spPr>
          <a:xfrm flipV="1">
            <a:off x="1687680" y="4812840"/>
            <a:ext cx="304776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55" name="Line 18"/>
          <p:cNvSpPr/>
          <p:nvPr/>
        </p:nvSpPr>
        <p:spPr>
          <a:xfrm flipV="1">
            <a:off x="4811760" y="4051440"/>
            <a:ext cx="1523880" cy="7617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56" name="Line 24"/>
          <p:cNvSpPr/>
          <p:nvPr/>
        </p:nvSpPr>
        <p:spPr>
          <a:xfrm flipV="1">
            <a:off x="6335640" y="2298240"/>
            <a:ext cx="1295640" cy="17528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57" name="Text Box 25"/>
          <p:cNvSpPr/>
          <p:nvPr/>
        </p:nvSpPr>
        <p:spPr>
          <a:xfrm>
            <a:off x="4294440" y="2527200"/>
            <a:ext cx="2457000" cy="703800"/>
          </a:xfrm>
          <a:prstGeom prst="rect">
            <a:avLst/>
          </a:prstGeom>
          <a:noFill/>
          <a:ln w="2844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APRES 4 MOIS</a:t>
            </a:r>
            <a:br>
              <a:rPr sz="2000"/>
            </a:br>
            <a:r>
              <a:rPr b="1" lang="fr-FR" sz="2000" strike="noStrike" u="none">
                <a:solidFill>
                  <a:srgbClr val="ffff00"/>
                </a:solidFill>
                <a:effectLst/>
                <a:uFillTx/>
                <a:latin typeface="Arial"/>
              </a:rPr>
              <a:t>D’ENTRAINEMENT</a:t>
            </a:r>
            <a:endParaRPr b="0" lang="en-US" sz="2000" strike="noStrike" u="none">
              <a:solidFill>
                <a:srgbClr val="ffff00"/>
              </a:solidFill>
              <a:effectLst/>
              <a:uFillTx/>
              <a:latin typeface="Times New Roman"/>
            </a:endParaRPr>
          </a:p>
        </p:txBody>
      </p:sp>
      <p:sp>
        <p:nvSpPr>
          <p:cNvPr id="1858" name="Text Box 26"/>
          <p:cNvSpPr/>
          <p:nvPr/>
        </p:nvSpPr>
        <p:spPr>
          <a:xfrm>
            <a:off x="686520" y="533520"/>
            <a:ext cx="619200" cy="5534640"/>
          </a:xfrm>
          <a:prstGeom prst="rect">
            <a:avLst/>
          </a:prstGeom>
          <a:noFill/>
          <a:ln w="0">
            <a:noFill/>
          </a:ln>
        </p:spPr>
        <p:style>
          <a:lnRef idx="0"/>
          <a:fillRef idx="0"/>
          <a:effectRef idx="0"/>
          <a:fontRef idx="minor"/>
        </p:style>
        <p:txBody>
          <a:bodyPr wrap="none" lIns="90000" rIns="90000" tIns="46800" bIns="46800" anchor="t">
            <a:spAutoFit/>
          </a:bodyPr>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20 -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15 -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10 -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5  -</a:t>
            </a: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0  -</a:t>
            </a:r>
            <a:endParaRPr b="0" lang="en-US" sz="2000" strike="noStrike" u="none">
              <a:solidFill>
                <a:srgbClr val="ffff00"/>
              </a:solidFill>
              <a:effectLst/>
              <a:uFillTx/>
              <a:latin typeface="Times New Roman"/>
            </a:endParaRPr>
          </a:p>
        </p:txBody>
      </p:sp>
      <p:sp>
        <p:nvSpPr>
          <p:cNvPr id="1859" name="Text Box 27"/>
          <p:cNvSpPr/>
          <p:nvPr/>
        </p:nvSpPr>
        <p:spPr>
          <a:xfrm>
            <a:off x="1453320" y="519444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60" name="Line 30"/>
          <p:cNvSpPr/>
          <p:nvPr/>
        </p:nvSpPr>
        <p:spPr>
          <a:xfrm flipV="1">
            <a:off x="1611360" y="4889520"/>
            <a:ext cx="388620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61" name="Text Box 35"/>
          <p:cNvSpPr/>
          <p:nvPr/>
        </p:nvSpPr>
        <p:spPr>
          <a:xfrm>
            <a:off x="5263560" y="466092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62" name="Line 41"/>
          <p:cNvSpPr/>
          <p:nvPr/>
        </p:nvSpPr>
        <p:spPr>
          <a:xfrm flipV="1">
            <a:off x="5497560" y="4127040"/>
            <a:ext cx="1676520" cy="6858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63" name="Text Box 43"/>
          <p:cNvSpPr/>
          <p:nvPr/>
        </p:nvSpPr>
        <p:spPr>
          <a:xfrm>
            <a:off x="7016040" y="397512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64" name="Line 46"/>
          <p:cNvSpPr/>
          <p:nvPr/>
        </p:nvSpPr>
        <p:spPr>
          <a:xfrm flipV="1">
            <a:off x="7174080" y="3517560"/>
            <a:ext cx="533160" cy="609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865" name="Text Box 47"/>
          <p:cNvSpPr/>
          <p:nvPr/>
        </p:nvSpPr>
        <p:spPr>
          <a:xfrm>
            <a:off x="7549560" y="3365640"/>
            <a:ext cx="374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1600" strike="noStrike" u="none">
                <a:solidFill>
                  <a:srgbClr val="ffffff"/>
                </a:solidFill>
                <a:effectLst/>
                <a:uFillTx/>
                <a:latin typeface="Wingdings 2"/>
                <a:ea typeface="Wingdings 2"/>
              </a:rPr>
              <a:t></a:t>
            </a:r>
            <a:endParaRPr b="0" lang="en-US" sz="1600" strike="noStrike" u="none">
              <a:solidFill>
                <a:srgbClr val="ffff00"/>
              </a:solidFill>
              <a:effectLst/>
              <a:uFillTx/>
              <a:latin typeface="Times New Roman"/>
            </a:endParaRPr>
          </a:p>
        </p:txBody>
      </p:sp>
      <p:sp>
        <p:nvSpPr>
          <p:cNvPr id="1866" name="Text Box 50"/>
          <p:cNvSpPr/>
          <p:nvPr/>
        </p:nvSpPr>
        <p:spPr>
          <a:xfrm>
            <a:off x="6579360" y="4889520"/>
            <a:ext cx="2287440" cy="398880"/>
          </a:xfrm>
          <a:prstGeom prst="rect">
            <a:avLst/>
          </a:prstGeom>
          <a:noFill/>
          <a:ln w="28440">
            <a:solidFill>
              <a:srgbClr val="ffffff"/>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NON ENTRAINES</a:t>
            </a:r>
            <a:endParaRPr b="0" lang="en-US" sz="2000" strike="noStrike" u="none">
              <a:solidFill>
                <a:srgbClr val="ffff00"/>
              </a:solidFill>
              <a:effectLst/>
              <a:uFillTx/>
              <a:latin typeface="Times New Roman"/>
            </a:endParaRPr>
          </a:p>
        </p:txBody>
      </p:sp>
      <p:sp>
        <p:nvSpPr>
          <p:cNvPr id="1867" name="Text Box 51"/>
          <p:cNvSpPr/>
          <p:nvPr/>
        </p:nvSpPr>
        <p:spPr>
          <a:xfrm>
            <a:off x="1980720" y="6072120"/>
            <a:ext cx="612720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 de la consommation maximale d’oxygène</a:t>
            </a:r>
            <a:endParaRPr b="0" lang="en-US" sz="2400" strike="noStrike" u="none">
              <a:solidFill>
                <a:srgbClr val="ffff00"/>
              </a:solidFill>
              <a:effectLst/>
              <a:uFillTx/>
              <a:latin typeface="Times New Roman"/>
            </a:endParaRPr>
          </a:p>
        </p:txBody>
      </p:sp>
      <p:sp>
        <p:nvSpPr>
          <p:cNvPr id="1868" name="Text Box 52"/>
          <p:cNvSpPr/>
          <p:nvPr/>
        </p:nvSpPr>
        <p:spPr>
          <a:xfrm rot="16200000">
            <a:off x="-1695600" y="2713320"/>
            <a:ext cx="41781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Lactate musculaire (mmol/kg)</a:t>
            </a:r>
            <a:endParaRPr b="0" lang="en-US" sz="2400" strike="noStrike" u="none">
              <a:solidFill>
                <a:srgbClr val="ffff00"/>
              </a:solidFill>
              <a:effectLst/>
              <a:uFillTx/>
              <a:latin typeface="Times New Roman"/>
            </a:endParaRPr>
          </a:p>
        </p:txBody>
      </p:sp>
      <p:sp>
        <p:nvSpPr>
          <p:cNvPr id="1869" name="Text Box 53"/>
          <p:cNvSpPr/>
          <p:nvPr/>
        </p:nvSpPr>
        <p:spPr>
          <a:xfrm>
            <a:off x="1600200" y="152280"/>
            <a:ext cx="7315200" cy="703800"/>
          </a:xfrm>
          <a:prstGeom prst="rect">
            <a:avLst/>
          </a:prstGeom>
          <a:noFill/>
          <a:ln w="9360">
            <a:solidFill>
              <a:srgbClr val="ffffff"/>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rPr>
              <a:t>Lactate musculaire chez les enfants non entraînés et après quatre mois d’entraînement. </a:t>
            </a:r>
            <a:r>
              <a:rPr b="0" i="1" lang="fr-FR" sz="2000" strike="noStrike" u="none">
                <a:solidFill>
                  <a:srgbClr val="ffffff"/>
                </a:solidFill>
                <a:effectLst/>
                <a:uFillTx/>
                <a:latin typeface="Arial"/>
              </a:rPr>
              <a:t>D’après Eriksson et al. (1973)</a:t>
            </a:r>
            <a:endParaRPr b="0" lang="en-US" sz="2000" strike="noStrike" u="none">
              <a:solidFill>
                <a:srgbClr val="ffff00"/>
              </a:solidFill>
              <a:effectLst/>
              <a:uFillTx/>
              <a:latin typeface="Times New Roman"/>
            </a:endParaRPr>
          </a:p>
        </p:txBody>
      </p:sp>
      <p:sp>
        <p:nvSpPr>
          <p:cNvPr id="1870" name="AutoShape 54"/>
          <p:cNvSpPr/>
          <p:nvPr/>
        </p:nvSpPr>
        <p:spPr>
          <a:xfrm>
            <a:off x="7631280" y="2146320"/>
            <a:ext cx="152280" cy="152280"/>
          </a:xfrm>
          <a:prstGeom prst="triangle">
            <a:avLst>
              <a:gd name="adj" fmla="val 50000"/>
            </a:avLst>
          </a:prstGeom>
          <a:noFill/>
          <a:ln w="28440">
            <a:solidFill>
              <a:srgbClr val="ffff00"/>
            </a:solidFill>
            <a:miter/>
          </a:ln>
        </p:spPr>
        <p:style>
          <a:lnRef idx="0"/>
          <a:fillRef idx="0"/>
          <a:effectRef idx="0"/>
          <a:fontRef idx="minor"/>
        </p:style>
        <p:txBody>
          <a:bodyPr wrap="none" lIns="90000" rIns="90000" tIns="3960" bIns="3960" anchor="ctr">
            <a:noAutofit/>
          </a:bodyPr>
          <a:p>
            <a:endParaRPr b="0" lang="en-US" sz="2400" strike="noStrike" u="none">
              <a:solidFill>
                <a:srgbClr val="ffff00"/>
              </a:solidFill>
              <a:effectLst/>
              <a:uFillTx/>
              <a:latin typeface="Times New Roman"/>
            </a:endParaRPr>
          </a:p>
        </p:txBody>
      </p:sp>
    </p:spTree>
  </p:cSld>
  <p:transition spd="med">
    <p:zoom dir="out"/>
  </p:transition>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1" name="Text Box 2"/>
          <p:cNvSpPr/>
          <p:nvPr/>
        </p:nvSpPr>
        <p:spPr>
          <a:xfrm>
            <a:off x="304920" y="685800"/>
            <a:ext cx="8704080" cy="82548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Aucune étude n’a rapporté à ce jour un quelconque danger pour les enfants pratiquant des activités anaérobies lactiques. </a:t>
            </a:r>
            <a:endParaRPr b="0" lang="en-US" sz="2000" strike="noStrike" u="none">
              <a:solidFill>
                <a:srgbClr val="ffff00"/>
              </a:solidFill>
              <a:effectLst/>
              <a:uFillTx/>
              <a:latin typeface="Times New Roman"/>
            </a:endParaRPr>
          </a:p>
        </p:txBody>
      </p:sp>
      <p:sp>
        <p:nvSpPr>
          <p:cNvPr id="1872" name="Text Box 3"/>
          <p:cNvSpPr/>
          <p:nvPr/>
        </p:nvSpPr>
        <p:spPr>
          <a:xfrm>
            <a:off x="457200" y="3429000"/>
            <a:ext cx="8685360" cy="192276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Cette hypothèse est corroborée par les résultats de l’étude récente de Petersen et al. (1999). Utilisant la technique non invasive </a:t>
            </a:r>
            <a:r>
              <a:rPr b="0" lang="fr-FR" sz="2000" strike="noStrike" u="none" baseline="30000">
                <a:solidFill>
                  <a:srgbClr val="ffff00"/>
                </a:solidFill>
                <a:effectLst/>
                <a:uFillTx/>
                <a:latin typeface="Arial"/>
              </a:rPr>
              <a:t>31</a:t>
            </a:r>
            <a:r>
              <a:rPr b="0" lang="fr-FR" sz="2000" strike="noStrike" u="none">
                <a:solidFill>
                  <a:srgbClr val="ffff00"/>
                </a:solidFill>
                <a:effectLst/>
                <a:uFillTx/>
                <a:latin typeface="Arial"/>
              </a:rPr>
              <a:t>P-MRS avant </a:t>
            </a:r>
            <a:endParaRPr b="0" lang="en-US" sz="20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et après un entraînement intensif réalisé par des nageuses pré pubères et pubères, ces auteurs obtiennent les mêmes améliorations avec les deux groupes et concluent…</a:t>
            </a:r>
            <a:endParaRPr b="0" lang="en-US" sz="2000" strike="noStrike" u="none">
              <a:solidFill>
                <a:srgbClr val="ffff00"/>
              </a:solidFill>
              <a:effectLst/>
              <a:uFillTx/>
              <a:latin typeface="Times New Roman"/>
            </a:endParaRPr>
          </a:p>
        </p:txBody>
      </p:sp>
      <p:sp>
        <p:nvSpPr>
          <p:cNvPr id="1873" name="Text Box 4"/>
          <p:cNvSpPr/>
          <p:nvPr/>
        </p:nvSpPr>
        <p:spPr>
          <a:xfrm>
            <a:off x="366840" y="2438280"/>
            <a:ext cx="8777160" cy="825480"/>
          </a:xfrm>
          <a:prstGeom prst="rect">
            <a:avLst/>
          </a:prstGeom>
          <a:noFill/>
          <a:ln w="0">
            <a:noFill/>
          </a:ln>
        </p:spPr>
        <p:style>
          <a:lnRef idx="0"/>
          <a:fillRef idx="0"/>
          <a:effectRef idx="0"/>
          <a:fontRef idx="minor"/>
        </p:style>
        <p:txBody>
          <a:bodyPr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Si l’entraînement peut induire un développement de la glycolyse lactique, il est évident que celle-ci </a:t>
            </a:r>
            <a:r>
              <a:rPr b="0" lang="fr-FR" sz="2000" strike="noStrike" u="none">
                <a:solidFill>
                  <a:srgbClr val="ffffff"/>
                </a:solidFill>
                <a:effectLst/>
                <a:uFillTx/>
                <a:latin typeface="Arial"/>
              </a:rPr>
              <a:t>ne dépend pas que du niveau de maturation</a:t>
            </a:r>
            <a:r>
              <a:rPr b="0" lang="fr-FR" sz="2000" strike="noStrike" u="none">
                <a:solidFill>
                  <a:srgbClr val="ffff00"/>
                </a:solidFill>
                <a:effectLst/>
                <a:uFillTx/>
                <a:latin typeface="Arial"/>
              </a:rPr>
              <a:t>.</a:t>
            </a:r>
            <a:endParaRPr b="0" lang="en-US" sz="2000" strike="noStrike" u="none">
              <a:solidFill>
                <a:srgbClr val="ffff00"/>
              </a:solidFill>
              <a:effectLst/>
              <a:uFillTx/>
              <a:latin typeface="Times New Roman"/>
            </a:endParaRPr>
          </a:p>
        </p:txBody>
      </p:sp>
      <p:sp>
        <p:nvSpPr>
          <p:cNvPr id="1874" name="Text Box 5"/>
          <p:cNvSpPr/>
          <p:nvPr/>
        </p:nvSpPr>
        <p:spPr>
          <a:xfrm>
            <a:off x="375840" y="1752480"/>
            <a:ext cx="6250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Le vrai danger est plus psychologique que biologique.</a:t>
            </a:r>
            <a:endParaRPr b="0" lang="en-US" sz="2000" strike="noStrike" u="none">
              <a:solidFill>
                <a:srgbClr val="ffff00"/>
              </a:solidFill>
              <a:effectLst/>
              <a:uFillTx/>
              <a:latin typeface="Times New Roman"/>
            </a:endParaRPr>
          </a:p>
        </p:txBody>
      </p:sp>
      <p:sp>
        <p:nvSpPr>
          <p:cNvPr id="1875" name="Text Box 6"/>
          <p:cNvSpPr/>
          <p:nvPr/>
        </p:nvSpPr>
        <p:spPr>
          <a:xfrm>
            <a:off x="484560" y="5972040"/>
            <a:ext cx="833004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Mais alors d’où provient le déficit de la capacité glycolytique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ff"/>
                </a:solidFill>
                <a:effectLst/>
                <a:uFillTx/>
                <a:latin typeface="Arial"/>
              </a:rPr>
              <a:t>constaté chez l’enfant ?</a:t>
            </a:r>
            <a:endParaRPr b="0" lang="en-US" sz="2400" strike="noStrike" u="none">
              <a:solidFill>
                <a:srgbClr val="ffff00"/>
              </a:solidFill>
              <a:effectLst/>
              <a:uFillTx/>
              <a:latin typeface="Times New Roman"/>
            </a:endParaRPr>
          </a:p>
        </p:txBody>
      </p:sp>
      <p:sp>
        <p:nvSpPr>
          <p:cNvPr id="1876" name="Text Box 7"/>
          <p:cNvSpPr/>
          <p:nvPr/>
        </p:nvSpPr>
        <p:spPr>
          <a:xfrm>
            <a:off x="509760" y="5259240"/>
            <a:ext cx="8429400" cy="76464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Arial"/>
                <a:ea typeface="Arial"/>
              </a:rPr>
              <a:t>à la non maturation-dépendance du métabolisme glycolytique de l’enfant.</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p:txBody>
      </p:sp>
    </p:spTree>
  </p:cSld>
  <p:transition spd="med">
    <p:zoom dir="out"/>
  </p:transition>
  <p:timing>
    <p:tnLst>
      <p:par>
        <p:cTn id="2140" dur="indefinite" restart="never" nodeType="tmRoot">
          <p:childTnLst>
            <p:seq>
              <p:cTn id="2141" dur="indefinite" nodeType="mainSeq">
                <p:childTnLst>
                  <p:par>
                    <p:cTn id="2142" nodeType="clickEffect" fill="hold">
                      <p:stCondLst>
                        <p:cond delay="0"/>
                      </p:stCondLst>
                      <p:childTnLst>
                        <p:par>
                          <p:cTn id="2143" nodeType="withEffect" fill="hold">
                            <p:stCondLst>
                              <p:cond delay="0"/>
                            </p:stCondLst>
                            <p:childTnLst>
                              <p:par>
                                <p:cTn id="2144" nodeType="afterEffect" fill="hold" presetClass="entr" presetID="9">
                                  <p:stCondLst>
                                    <p:cond delay="0"/>
                                  </p:stCondLst>
                                  <p:childTnLst>
                                    <p:set>
                                      <p:cBhvr>
                                        <p:cTn id="2145" dur="1" fill="hold">
                                          <p:stCondLst>
                                            <p:cond delay="0"/>
                                          </p:stCondLst>
                                        </p:cTn>
                                        <p:tgtEl>
                                          <p:spTgt spid="1871"/>
                                        </p:tgtEl>
                                        <p:attrNameLst>
                                          <p:attrName>style.visibility</p:attrName>
                                        </p:attrNameLst>
                                      </p:cBhvr>
                                      <p:to>
                                        <p:strVal val="visible"/>
                                      </p:to>
                                    </p:set>
                                    <p:animEffect filter="dissolve" transition="in">
                                      <p:cBhvr additive="repl">
                                        <p:cTn id="2146" dur="500"/>
                                        <p:tgtEl>
                                          <p:spTgt spid="1871"/>
                                        </p:tgtEl>
                                      </p:cBhvr>
                                    </p:animEffect>
                                  </p:childTnLst>
                                </p:cTn>
                              </p:par>
                            </p:childTnLst>
                          </p:cTn>
                        </p:par>
                      </p:childTnLst>
                    </p:cTn>
                  </p:par>
                  <p:par>
                    <p:cTn id="2147" nodeType="clickEffect" fill="hold">
                      <p:stCondLst>
                        <p:cond delay="indefinite"/>
                      </p:stCondLst>
                      <p:childTnLst>
                        <p:par>
                          <p:cTn id="2148" nodeType="withEffect" fill="hold">
                            <p:stCondLst>
                              <p:cond delay="0"/>
                            </p:stCondLst>
                            <p:childTnLst>
                              <p:par>
                                <p:cTn id="2149" nodeType="clickEffect" fill="hold" presetClass="entr" presetID="9">
                                  <p:stCondLst>
                                    <p:cond delay="0"/>
                                  </p:stCondLst>
                                  <p:childTnLst>
                                    <p:set>
                                      <p:cBhvr>
                                        <p:cTn id="2150" dur="1" fill="hold">
                                          <p:stCondLst>
                                            <p:cond delay="0"/>
                                          </p:stCondLst>
                                        </p:cTn>
                                        <p:tgtEl>
                                          <p:spTgt spid="1874"/>
                                        </p:tgtEl>
                                        <p:attrNameLst>
                                          <p:attrName>style.visibility</p:attrName>
                                        </p:attrNameLst>
                                      </p:cBhvr>
                                      <p:to>
                                        <p:strVal val="visible"/>
                                      </p:to>
                                    </p:set>
                                    <p:animEffect filter="dissolve" transition="in">
                                      <p:cBhvr additive="repl">
                                        <p:cTn id="2151" dur="500"/>
                                        <p:tgtEl>
                                          <p:spTgt spid="1874"/>
                                        </p:tgtEl>
                                      </p:cBhvr>
                                    </p:animEffect>
                                  </p:childTnLst>
                                </p:cTn>
                              </p:par>
                            </p:childTnLst>
                          </p:cTn>
                        </p:par>
                      </p:childTnLst>
                    </p:cTn>
                  </p:par>
                  <p:par>
                    <p:cTn id="2152" nodeType="clickEffect" fill="hold">
                      <p:stCondLst>
                        <p:cond delay="indefinite"/>
                      </p:stCondLst>
                      <p:childTnLst>
                        <p:par>
                          <p:cTn id="2153" nodeType="withEffect" fill="hold">
                            <p:stCondLst>
                              <p:cond delay="0"/>
                            </p:stCondLst>
                            <p:childTnLst>
                              <p:par>
                                <p:cTn id="2154" nodeType="clickEffect" fill="hold" presetClass="entr" presetID="9">
                                  <p:stCondLst>
                                    <p:cond delay="0"/>
                                  </p:stCondLst>
                                  <p:childTnLst>
                                    <p:set>
                                      <p:cBhvr>
                                        <p:cTn id="2155" dur="1" fill="hold">
                                          <p:stCondLst>
                                            <p:cond delay="0"/>
                                          </p:stCondLst>
                                        </p:cTn>
                                        <p:tgtEl>
                                          <p:spTgt spid="1873"/>
                                        </p:tgtEl>
                                        <p:attrNameLst>
                                          <p:attrName>style.visibility</p:attrName>
                                        </p:attrNameLst>
                                      </p:cBhvr>
                                      <p:to>
                                        <p:strVal val="visible"/>
                                      </p:to>
                                    </p:set>
                                    <p:animEffect filter="dissolve" transition="in">
                                      <p:cBhvr additive="repl">
                                        <p:cTn id="2156" dur="500"/>
                                        <p:tgtEl>
                                          <p:spTgt spid="1873"/>
                                        </p:tgtEl>
                                      </p:cBhvr>
                                    </p:animEffect>
                                  </p:childTnLst>
                                </p:cTn>
                              </p:par>
                            </p:childTnLst>
                          </p:cTn>
                        </p:par>
                      </p:childTnLst>
                    </p:cTn>
                  </p:par>
                  <p:par>
                    <p:cTn id="2157" nodeType="clickEffect" fill="hold">
                      <p:stCondLst>
                        <p:cond delay="indefinite"/>
                      </p:stCondLst>
                      <p:childTnLst>
                        <p:par>
                          <p:cTn id="2158" nodeType="withEffect" fill="hold">
                            <p:stCondLst>
                              <p:cond delay="0"/>
                            </p:stCondLst>
                            <p:childTnLst>
                              <p:par>
                                <p:cTn id="2159" nodeType="clickEffect" fill="hold" presetClass="entr" presetID="22" presetSubtype="8">
                                  <p:stCondLst>
                                    <p:cond delay="0"/>
                                  </p:stCondLst>
                                  <p:iterate type="wd">
                                    <p:tmAbs val="0"/>
                                  </p:iterate>
                                  <p:childTnLst>
                                    <p:set>
                                      <p:cBhvr>
                                        <p:cTn id="2160" dur="1" fill="hold">
                                          <p:stCondLst>
                                            <p:cond delay="0"/>
                                          </p:stCondLst>
                                        </p:cTn>
                                        <p:tgtEl>
                                          <p:spTgt spid="1872"/>
                                        </p:tgtEl>
                                        <p:attrNameLst>
                                          <p:attrName>style.visibility</p:attrName>
                                        </p:attrNameLst>
                                      </p:cBhvr>
                                      <p:to>
                                        <p:strVal val="visible"/>
                                      </p:to>
                                    </p:set>
                                    <p:animEffect filter="wipe(left)" transition="in">
                                      <p:cBhvr additive="repl">
                                        <p:cTn id="2161" dur="2000"/>
                                        <p:tgtEl>
                                          <p:spTgt spid="1872"/>
                                        </p:tgtEl>
                                      </p:cBhvr>
                                    </p:animEffect>
                                  </p:childTnLst>
                                </p:cTn>
                              </p:par>
                            </p:childTnLst>
                          </p:cTn>
                        </p:par>
                      </p:childTnLst>
                    </p:cTn>
                  </p:par>
                  <p:par>
                    <p:cTn id="2162" nodeType="clickEffect" fill="hold">
                      <p:stCondLst>
                        <p:cond delay="indefinite"/>
                      </p:stCondLst>
                      <p:childTnLst>
                        <p:par>
                          <p:cTn id="2163" nodeType="withEffect" fill="hold">
                            <p:stCondLst>
                              <p:cond delay="0"/>
                            </p:stCondLst>
                            <p:childTnLst>
                              <p:par>
                                <p:cTn id="2164" nodeType="clickEffect" fill="hold" presetClass="entr" presetID="22" presetSubtype="8">
                                  <p:stCondLst>
                                    <p:cond delay="0"/>
                                  </p:stCondLst>
                                  <p:childTnLst>
                                    <p:set>
                                      <p:cBhvr>
                                        <p:cTn id="2165" dur="1" fill="hold">
                                          <p:stCondLst>
                                            <p:cond delay="0"/>
                                          </p:stCondLst>
                                        </p:cTn>
                                        <p:tgtEl>
                                          <p:spTgt spid="1876"/>
                                        </p:tgtEl>
                                        <p:attrNameLst>
                                          <p:attrName>style.visibility</p:attrName>
                                        </p:attrNameLst>
                                      </p:cBhvr>
                                      <p:to>
                                        <p:strVal val="visible"/>
                                      </p:to>
                                    </p:set>
                                    <p:animEffect filter="wipe(left)" transition="in">
                                      <p:cBhvr additive="repl">
                                        <p:cTn id="2166" dur="2000"/>
                                        <p:tgtEl>
                                          <p:spTgt spid="1876"/>
                                        </p:tgtEl>
                                      </p:cBhvr>
                                    </p:animEffect>
                                  </p:childTnLst>
                                </p:cTn>
                              </p:par>
                            </p:childTnLst>
                          </p:cTn>
                        </p:par>
                      </p:childTnLst>
                    </p:cTn>
                  </p:par>
                  <p:par>
                    <p:cTn id="2167" nodeType="clickEffect" fill="hold">
                      <p:stCondLst>
                        <p:cond delay="indefinite"/>
                      </p:stCondLst>
                      <p:childTnLst>
                        <p:par>
                          <p:cTn id="2168" nodeType="withEffect" fill="hold">
                            <p:stCondLst>
                              <p:cond delay="0"/>
                            </p:stCondLst>
                            <p:childTnLst>
                              <p:par>
                                <p:cTn id="2169" nodeType="clickEffect" fill="hold" presetClass="entr" presetID="9">
                                  <p:stCondLst>
                                    <p:cond delay="0"/>
                                  </p:stCondLst>
                                  <p:childTnLst>
                                    <p:set>
                                      <p:cBhvr>
                                        <p:cTn id="2170" dur="1" fill="hold">
                                          <p:stCondLst>
                                            <p:cond delay="0"/>
                                          </p:stCondLst>
                                        </p:cTn>
                                        <p:tgtEl>
                                          <p:spTgt spid="1875"/>
                                        </p:tgtEl>
                                        <p:attrNameLst>
                                          <p:attrName>style.visibility</p:attrName>
                                        </p:attrNameLst>
                                      </p:cBhvr>
                                      <p:to>
                                        <p:strVal val="visible"/>
                                      </p:to>
                                    </p:set>
                                    <p:animEffect filter="dissolve" transition="in">
                                      <p:cBhvr additive="repl">
                                        <p:cTn id="2171" dur="500"/>
                                        <p:tgtEl>
                                          <p:spTgt spid="18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7" name="PlaceHolder 1"/>
          <p:cNvSpPr>
            <a:spLocks noGrp="1"/>
          </p:cNvSpPr>
          <p:nvPr>
            <p:ph/>
          </p:nvPr>
        </p:nvSpPr>
        <p:spPr>
          <a:xfrm>
            <a:off x="685800" y="2057400"/>
            <a:ext cx="7772400" cy="3276720"/>
          </a:xfrm>
          <a:prstGeom prst="rect">
            <a:avLst/>
          </a:prstGeom>
          <a:noFill/>
          <a:ln w="0">
            <a:noFill/>
          </a:ln>
        </p:spPr>
        <p:txBody>
          <a:bodyPr lIns="91440" rIns="91440" tIns="45720" bIns="45720" anchor="t">
            <a:normAutofit/>
          </a:bodyPr>
          <a:p>
            <a:pPr marL="343080" indent="-343080" algn="ctr">
              <a:lnSpc>
                <a:spcPct val="12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3200" strike="noStrike" u="none">
                <a:solidFill>
                  <a:srgbClr val="ffff00"/>
                </a:solidFill>
                <a:effectLst/>
                <a:uFillTx/>
                <a:latin typeface="Comic Sans MS"/>
              </a:rPr>
              <a:t>   CAPACITE AEROBIE ET APTITUDE A L’EXERCICE DE LONGUE DUREE DE L’ENFANT ET DE L’ADOLESCENT</a:t>
            </a:r>
            <a:endParaRPr b="0" lang="en-US" sz="3200" strike="noStrike" u="none">
              <a:solidFill>
                <a:srgbClr val="ffff00"/>
              </a:solidFill>
              <a:effectLst/>
              <a:uFillTx/>
              <a:latin typeface="Times New Roman"/>
            </a:endParaRPr>
          </a:p>
        </p:txBody>
      </p:sp>
    </p:spTree>
  </p:cSld>
  <p:transition spd="med">
    <p:zoom dir="out"/>
  </p:transition>
  <p:timing>
    <p:tnLst>
      <p:par>
        <p:cTn id="2172" dur="indefinite" restart="never" nodeType="tmRoot">
          <p:childTnLst>
            <p:seq>
              <p:cTn id="2173" dur="indefinite" nodeType="mainSeq">
                <p:childTnLst>
                  <p:par>
                    <p:cTn id="2174" nodeType="clickEffect" fill="hold">
                      <p:stCondLst>
                        <p:cond delay="0"/>
                      </p:stCondLst>
                      <p:childTnLst>
                        <p:par>
                          <p:cTn id="2175" nodeType="withEffect" fill="hold">
                            <p:stCondLst>
                              <p:cond delay="0"/>
                            </p:stCondLst>
                            <p:childTnLst>
                              <p:par>
                                <p:cTn id="2176" nodeType="afterEffect" fill="hold" presetClass="entr" presetID="2" presetSubtype="9">
                                  <p:stCondLst>
                                    <p:cond delay="0"/>
                                  </p:stCondLst>
                                  <p:iterate type="lt">
                                    <p:tmAbs val="75"/>
                                  </p:iterate>
                                  <p:childTnLst>
                                    <p:set>
                                      <p:cBhvr>
                                        <p:cTn id="2177" dur="1" fill="hold">
                                          <p:stCondLst>
                                            <p:cond delay="0"/>
                                          </p:stCondLst>
                                        </p:cTn>
                                        <p:tgtEl>
                                          <p:spTgt spid="1877">
                                            <p:txEl>
                                              <p:pRg st="0" end="0"/>
                                            </p:txEl>
                                          </p:spTgt>
                                        </p:tgtEl>
                                        <p:attrNameLst>
                                          <p:attrName>style.visibility</p:attrName>
                                        </p:attrNameLst>
                                      </p:cBhvr>
                                      <p:to>
                                        <p:strVal val="visible"/>
                                      </p:to>
                                    </p:set>
                                    <p:anim calcmode="lin" valueType="num">
                                      <p:cBhvr additive="base">
                                        <p:cTn id="2178" dur="75" fill="hold"/>
                                        <p:tgtEl>
                                          <p:spTgt spid="1877">
                                            <p:txEl>
                                              <p:pRg st="0" end="0"/>
                                            </p:txEl>
                                          </p:spTgt>
                                        </p:tgtEl>
                                        <p:attrNameLst>
                                          <p:attrName>ppt_x</p:attrName>
                                        </p:attrNameLst>
                                      </p:cBhvr>
                                      <p:tavLst>
                                        <p:tav tm="0">
                                          <p:val>
                                            <p:strVal val="0-#ppt_w/2"/>
                                          </p:val>
                                        </p:tav>
                                        <p:tav tm="100000">
                                          <p:val>
                                            <p:strVal val="#ppt_x"/>
                                          </p:val>
                                        </p:tav>
                                      </p:tavLst>
                                    </p:anim>
                                    <p:anim calcmode="lin" valueType="num">
                                      <p:cBhvr additive="base">
                                        <p:cTn id="2179" dur="75" fill="hold"/>
                                        <p:tgtEl>
                                          <p:spTgt spid="1877">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878" name="Object 2"/>
          <p:cNvGraphicFramePr/>
          <p:nvPr/>
        </p:nvGraphicFramePr>
        <p:xfrm>
          <a:off x="2347920" y="1219320"/>
          <a:ext cx="4738680" cy="5486400"/>
        </p:xfrm>
        <a:graphic>
          <a:graphicData uri="http://schemas.openxmlformats.org/presentationml/2006/ole">
            <p:oleObj r:id="rId1" spid="">
              <p:embed/>
              <p:pic>
                <p:nvPicPr>
                  <p:cNvPr id="1879" name="Object 2" descr=""/>
                  <p:cNvPicPr/>
                  <p:nvPr/>
                </p:nvPicPr>
                <p:blipFill>
                  <a:blip r:embed="rId2"/>
                  <a:stretch/>
                </p:blipFill>
                <p:spPr>
                  <a:xfrm>
                    <a:off x="2347920" y="1219320"/>
                    <a:ext cx="4738680" cy="5486400"/>
                  </a:xfrm>
                  <a:prstGeom prst="rect">
                    <a:avLst/>
                  </a:prstGeom>
                  <a:noFill/>
                  <a:ln w="0">
                    <a:noFill/>
                  </a:ln>
                </p:spPr>
              </p:pic>
            </p:oleObj>
          </a:graphicData>
        </a:graphic>
      </p:graphicFrame>
      <p:sp>
        <p:nvSpPr>
          <p:cNvPr id="1880" name="Rectangle 3"/>
          <p:cNvSpPr/>
          <p:nvPr/>
        </p:nvSpPr>
        <p:spPr>
          <a:xfrm>
            <a:off x="3429000" y="1447920"/>
            <a:ext cx="2514600" cy="30456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Course 1600 m</a:t>
            </a:r>
            <a:endParaRPr b="0" lang="en-US" sz="2000" strike="noStrike" u="none">
              <a:solidFill>
                <a:srgbClr val="ffff00"/>
              </a:solidFill>
              <a:effectLst/>
              <a:uFillTx/>
              <a:latin typeface="Times New Roman"/>
            </a:endParaRPr>
          </a:p>
        </p:txBody>
      </p:sp>
      <p:sp>
        <p:nvSpPr>
          <p:cNvPr id="1881" name="Rectangle 4"/>
          <p:cNvSpPr/>
          <p:nvPr/>
        </p:nvSpPr>
        <p:spPr>
          <a:xfrm>
            <a:off x="3962520" y="2057400"/>
            <a:ext cx="1143000" cy="91440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Garçons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Filles</a:t>
            </a:r>
            <a:endParaRPr b="0" lang="en-US" sz="1600" strike="noStrike" u="none">
              <a:solidFill>
                <a:srgbClr val="ffff00"/>
              </a:solidFill>
              <a:effectLst/>
              <a:uFillTx/>
              <a:latin typeface="Times New Roman"/>
            </a:endParaRPr>
          </a:p>
        </p:txBody>
      </p:sp>
      <p:sp>
        <p:nvSpPr>
          <p:cNvPr id="1882" name="Rectangle 5"/>
          <p:cNvSpPr/>
          <p:nvPr/>
        </p:nvSpPr>
        <p:spPr>
          <a:xfrm>
            <a:off x="4114800" y="6248520"/>
            <a:ext cx="2057400" cy="30456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Age (années)</a:t>
            </a:r>
            <a:endParaRPr b="0" lang="en-US" sz="2000" strike="noStrike" u="none">
              <a:solidFill>
                <a:srgbClr val="ffff00"/>
              </a:solidFill>
              <a:effectLst/>
              <a:uFillTx/>
              <a:latin typeface="Times New Roman"/>
            </a:endParaRPr>
          </a:p>
        </p:txBody>
      </p:sp>
      <p:sp>
        <p:nvSpPr>
          <p:cNvPr id="1883" name="Rectangle 6"/>
          <p:cNvSpPr/>
          <p:nvPr/>
        </p:nvSpPr>
        <p:spPr>
          <a:xfrm rot="16210200">
            <a:off x="1676160" y="3731400"/>
            <a:ext cx="1904760" cy="381240"/>
          </a:xfrm>
          <a:prstGeom prst="rect">
            <a:avLst/>
          </a:prstGeom>
          <a:solidFill>
            <a:srgbClr val="3333cc"/>
          </a:solidFill>
          <a:ln w="9360">
            <a:solidFill>
              <a:srgbClr val="80808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Temps (min)</a:t>
            </a:r>
            <a:endParaRPr b="0" lang="en-US" sz="1800" strike="noStrike" u="none">
              <a:solidFill>
                <a:srgbClr val="ffff00"/>
              </a:solidFill>
              <a:effectLst/>
              <a:uFillTx/>
              <a:latin typeface="Times New Roman"/>
            </a:endParaRPr>
          </a:p>
        </p:txBody>
      </p:sp>
      <p:sp>
        <p:nvSpPr>
          <p:cNvPr id="1884" name="Text Box 7"/>
          <p:cNvSpPr/>
          <p:nvPr/>
        </p:nvSpPr>
        <p:spPr>
          <a:xfrm>
            <a:off x="3906720" y="311040"/>
            <a:ext cx="279576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omic Sans MS"/>
              </a:rPr>
              <a:t>CAPACITE AEROBIE</a:t>
            </a:r>
            <a:endParaRPr b="0" lang="en-US" sz="2400" strike="noStrike" u="none">
              <a:solidFill>
                <a:srgbClr val="ffff00"/>
              </a:solidFill>
              <a:effectLst/>
              <a:uFillTx/>
              <a:latin typeface="Times New Roman"/>
            </a:endParaRPr>
          </a:p>
        </p:txBody>
      </p:sp>
    </p:spTree>
  </p:cSld>
  <p:transition spd="med">
    <p:zoom dir="out"/>
  </p:transition>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5" name="Rectangle 2"/>
          <p:cNvSpPr/>
          <p:nvPr/>
        </p:nvSpPr>
        <p:spPr>
          <a:xfrm>
            <a:off x="228600" y="838080"/>
            <a:ext cx="167652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FREQUENCE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CARDIAQUE MAX</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FC max</a:t>
            </a:r>
            <a:endParaRPr b="0" lang="en-US" sz="1400" strike="noStrike" u="none">
              <a:solidFill>
                <a:srgbClr val="ffff00"/>
              </a:solidFill>
              <a:effectLst/>
              <a:uFillTx/>
              <a:latin typeface="Times New Roman"/>
            </a:endParaRPr>
          </a:p>
        </p:txBody>
      </p:sp>
      <p:sp>
        <p:nvSpPr>
          <p:cNvPr id="1886" name="Rectangle 3"/>
          <p:cNvSpPr/>
          <p:nvPr/>
        </p:nvSpPr>
        <p:spPr>
          <a:xfrm>
            <a:off x="2209680" y="838080"/>
            <a:ext cx="205740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VOLUME D’EJECTION</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SYSTOLIQUE MAX</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VS max</a:t>
            </a:r>
            <a:endParaRPr b="0" lang="en-US" sz="1400" strike="noStrike" u="none">
              <a:solidFill>
                <a:srgbClr val="ffff00"/>
              </a:solidFill>
              <a:effectLst/>
              <a:uFillTx/>
              <a:latin typeface="Times New Roman"/>
            </a:endParaRPr>
          </a:p>
        </p:txBody>
      </p:sp>
      <p:sp>
        <p:nvSpPr>
          <p:cNvPr id="1887" name="Line 4"/>
          <p:cNvSpPr/>
          <p:nvPr/>
        </p:nvSpPr>
        <p:spPr>
          <a:xfrm>
            <a:off x="1219320" y="160020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88" name="Line 5"/>
          <p:cNvSpPr/>
          <p:nvPr/>
        </p:nvSpPr>
        <p:spPr>
          <a:xfrm>
            <a:off x="3352680" y="160020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89" name="Line 6"/>
          <p:cNvSpPr/>
          <p:nvPr/>
        </p:nvSpPr>
        <p:spPr>
          <a:xfrm>
            <a:off x="1219320" y="2286000"/>
            <a:ext cx="213336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90" name="Line 7"/>
          <p:cNvSpPr/>
          <p:nvPr/>
        </p:nvSpPr>
        <p:spPr>
          <a:xfrm>
            <a:off x="2209680" y="2286000"/>
            <a:ext cx="0" cy="3808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91" name="Rectangle 8"/>
          <p:cNvSpPr/>
          <p:nvPr/>
        </p:nvSpPr>
        <p:spPr>
          <a:xfrm>
            <a:off x="1143000" y="2666880"/>
            <a:ext cx="175248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DEBIT CARDIAQUE</a:t>
            </a:r>
            <a:br>
              <a:rPr sz="1400"/>
            </a:br>
            <a:r>
              <a:rPr b="1" lang="es-CL" sz="1400" strike="noStrike" u="none">
                <a:solidFill>
                  <a:srgbClr val="ffff00"/>
                </a:solidFill>
                <a:effectLst/>
                <a:uFillTx/>
                <a:latin typeface="Arial"/>
              </a:rPr>
              <a:t>MAXIMAL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1892" name="Rectangle 9"/>
          <p:cNvSpPr/>
          <p:nvPr/>
        </p:nvSpPr>
        <p:spPr>
          <a:xfrm>
            <a:off x="3276720" y="2666880"/>
            <a:ext cx="220968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DIFFERENCE ARTERIO-</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VEINEUSE EN 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 - Cv 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a:t>
            </a:r>
            <a:endParaRPr b="0" lang="en-US" sz="1400" strike="noStrike" u="none">
              <a:solidFill>
                <a:srgbClr val="ffff00"/>
              </a:solidFill>
              <a:effectLst/>
              <a:uFillTx/>
              <a:latin typeface="Times New Roman"/>
            </a:endParaRPr>
          </a:p>
        </p:txBody>
      </p:sp>
      <p:sp>
        <p:nvSpPr>
          <p:cNvPr id="1893" name="Line 10"/>
          <p:cNvSpPr/>
          <p:nvPr/>
        </p:nvSpPr>
        <p:spPr>
          <a:xfrm>
            <a:off x="22096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94" name="Line 11"/>
          <p:cNvSpPr/>
          <p:nvPr/>
        </p:nvSpPr>
        <p:spPr>
          <a:xfrm>
            <a:off x="434340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95" name="Line 12"/>
          <p:cNvSpPr/>
          <p:nvPr/>
        </p:nvSpPr>
        <p:spPr>
          <a:xfrm>
            <a:off x="2209680" y="3809880"/>
            <a:ext cx="21337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96" name="Line 13"/>
          <p:cNvSpPr/>
          <p:nvPr/>
        </p:nvSpPr>
        <p:spPr>
          <a:xfrm>
            <a:off x="3276720" y="3809880"/>
            <a:ext cx="0" cy="304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897" name="Rectangle 14"/>
          <p:cNvSpPr/>
          <p:nvPr/>
        </p:nvSpPr>
        <p:spPr>
          <a:xfrm>
            <a:off x="2209680" y="4114800"/>
            <a:ext cx="21337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CONSOMMATION MAX</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D’OXYGENE: VO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a:t>
            </a:r>
            <a:endParaRPr b="0" lang="en-US" sz="1400" strike="noStrike" u="none">
              <a:solidFill>
                <a:srgbClr val="ffff00"/>
              </a:solidFill>
              <a:effectLst/>
              <a:uFillTx/>
              <a:latin typeface="Times New Roman"/>
            </a:endParaRPr>
          </a:p>
        </p:txBody>
      </p:sp>
      <p:sp>
        <p:nvSpPr>
          <p:cNvPr id="1898" name="Rectangle 15"/>
          <p:cNvSpPr/>
          <p:nvPr/>
        </p:nvSpPr>
        <p:spPr>
          <a:xfrm>
            <a:off x="3657600" y="1905120"/>
            <a:ext cx="1371600" cy="3808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[Hb]; % Sa O</a:t>
            </a:r>
            <a:r>
              <a:rPr b="1" lang="es-CL" sz="1600" strike="noStrike" u="none" baseline="-25000">
                <a:solidFill>
                  <a:srgbClr val="ffff00"/>
                </a:solidFill>
                <a:effectLst/>
                <a:uFillTx/>
                <a:latin typeface="Arial"/>
              </a:rPr>
              <a:t>2</a:t>
            </a:r>
            <a:endParaRPr b="0" lang="en-US" sz="1600" strike="noStrike" u="none">
              <a:solidFill>
                <a:srgbClr val="ffff00"/>
              </a:solidFill>
              <a:effectLst/>
              <a:uFillTx/>
              <a:latin typeface="Times New Roman"/>
            </a:endParaRPr>
          </a:p>
        </p:txBody>
      </p:sp>
      <p:sp>
        <p:nvSpPr>
          <p:cNvPr id="1899" name="Line 16"/>
          <p:cNvSpPr/>
          <p:nvPr/>
        </p:nvSpPr>
        <p:spPr>
          <a:xfrm>
            <a:off x="4267080" y="2286000"/>
            <a:ext cx="0" cy="3808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00" name="Rectangle 17"/>
          <p:cNvSpPr/>
          <p:nvPr/>
        </p:nvSpPr>
        <p:spPr>
          <a:xfrm>
            <a:off x="4724280" y="914400"/>
            <a:ext cx="12193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DENSITE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CAPILLAIRE</a:t>
            </a:r>
            <a:endParaRPr b="0" lang="en-US" sz="1400" strike="noStrike" u="none">
              <a:solidFill>
                <a:srgbClr val="ffff00"/>
              </a:solidFill>
              <a:effectLst/>
              <a:uFillTx/>
              <a:latin typeface="Times New Roman"/>
            </a:endParaRPr>
          </a:p>
        </p:txBody>
      </p:sp>
      <p:sp>
        <p:nvSpPr>
          <p:cNvPr id="1901" name="Rectangle 18"/>
          <p:cNvSpPr/>
          <p:nvPr/>
        </p:nvSpPr>
        <p:spPr>
          <a:xfrm>
            <a:off x="6172200" y="914400"/>
            <a:ext cx="16765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MITOCHONDRIES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ENZYMES </a:t>
            </a:r>
            <a:br>
              <a:rPr sz="1400"/>
            </a:br>
            <a:r>
              <a:rPr b="1" lang="es-CL" sz="1400" strike="noStrike" u="none">
                <a:solidFill>
                  <a:srgbClr val="ffff00"/>
                </a:solidFill>
                <a:effectLst/>
                <a:uFillTx/>
                <a:latin typeface="Arial"/>
              </a:rPr>
              <a:t>OXYDATIVES</a:t>
            </a:r>
            <a:endParaRPr b="0" lang="en-US" sz="1400" strike="noStrike" u="none">
              <a:solidFill>
                <a:srgbClr val="ffff00"/>
              </a:solidFill>
              <a:effectLst/>
              <a:uFillTx/>
              <a:latin typeface="Times New Roman"/>
            </a:endParaRPr>
          </a:p>
        </p:txBody>
      </p:sp>
      <p:sp>
        <p:nvSpPr>
          <p:cNvPr id="1902" name="Line 19"/>
          <p:cNvSpPr/>
          <p:nvPr/>
        </p:nvSpPr>
        <p:spPr>
          <a:xfrm>
            <a:off x="5257800" y="152388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03" name="Line 20"/>
          <p:cNvSpPr/>
          <p:nvPr/>
        </p:nvSpPr>
        <p:spPr>
          <a:xfrm>
            <a:off x="7086600" y="152388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04" name="Line 21"/>
          <p:cNvSpPr/>
          <p:nvPr/>
        </p:nvSpPr>
        <p:spPr>
          <a:xfrm>
            <a:off x="5257800" y="2209680"/>
            <a:ext cx="18288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05" name="Line 22"/>
          <p:cNvSpPr/>
          <p:nvPr/>
        </p:nvSpPr>
        <p:spPr>
          <a:xfrm>
            <a:off x="5638680" y="2209680"/>
            <a:ext cx="0" cy="19051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06" name="Rectangle 23"/>
          <p:cNvSpPr/>
          <p:nvPr/>
        </p:nvSpPr>
        <p:spPr>
          <a:xfrm>
            <a:off x="4648320" y="4114800"/>
            <a:ext cx="220968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ENDURANCE AEROBIE: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à un % de VO2 max</a:t>
            </a:r>
            <a:endParaRPr b="0" lang="en-US" sz="1400" strike="noStrike" u="none">
              <a:solidFill>
                <a:srgbClr val="ffff00"/>
              </a:solidFill>
              <a:effectLst/>
              <a:uFillTx/>
              <a:latin typeface="Times New Roman"/>
            </a:endParaRPr>
          </a:p>
        </p:txBody>
      </p:sp>
      <p:sp>
        <p:nvSpPr>
          <p:cNvPr id="1907" name="Rectangle 24"/>
          <p:cNvSpPr/>
          <p:nvPr/>
        </p:nvSpPr>
        <p:spPr>
          <a:xfrm>
            <a:off x="6934320" y="4114800"/>
            <a:ext cx="160020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ECONOMIE DE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LOCOMOTION</a:t>
            </a:r>
            <a:endParaRPr b="0" lang="en-US" sz="1400" strike="noStrike" u="none">
              <a:solidFill>
                <a:srgbClr val="ffff00"/>
              </a:solidFill>
              <a:effectLst/>
              <a:uFillTx/>
              <a:latin typeface="Times New Roman"/>
            </a:endParaRPr>
          </a:p>
        </p:txBody>
      </p:sp>
      <p:sp>
        <p:nvSpPr>
          <p:cNvPr id="1908" name="Rectangle 25"/>
          <p:cNvSpPr/>
          <p:nvPr/>
        </p:nvSpPr>
        <p:spPr>
          <a:xfrm>
            <a:off x="6019920" y="2895480"/>
            <a:ext cx="137160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MASSE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CORPORELLE</a:t>
            </a:r>
            <a:endParaRPr b="0" lang="en-US" sz="1400" strike="noStrike" u="none">
              <a:solidFill>
                <a:srgbClr val="ffff00"/>
              </a:solidFill>
              <a:effectLst/>
              <a:uFillTx/>
              <a:latin typeface="Times New Roman"/>
            </a:endParaRPr>
          </a:p>
        </p:txBody>
      </p:sp>
      <p:sp>
        <p:nvSpPr>
          <p:cNvPr id="1909" name="Rectangle 26"/>
          <p:cNvSpPr/>
          <p:nvPr/>
        </p:nvSpPr>
        <p:spPr>
          <a:xfrm>
            <a:off x="7467480" y="2895480"/>
            <a:ext cx="152424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SPECIALISATION</a:t>
            </a:r>
            <a:endParaRPr b="0" lang="en-US" sz="1400" strike="noStrike" u="none">
              <a:solidFill>
                <a:srgbClr val="ffff00"/>
              </a:solidFill>
              <a:effectLst/>
              <a:uFillTx/>
              <a:latin typeface="Times New Roman"/>
            </a:endParaRPr>
          </a:p>
        </p:txBody>
      </p:sp>
      <p:sp>
        <p:nvSpPr>
          <p:cNvPr id="1910" name="Line 27"/>
          <p:cNvSpPr/>
          <p:nvPr/>
        </p:nvSpPr>
        <p:spPr>
          <a:xfrm>
            <a:off x="67816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1" name="Line 28"/>
          <p:cNvSpPr/>
          <p:nvPr/>
        </p:nvSpPr>
        <p:spPr>
          <a:xfrm>
            <a:off x="81532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2" name="Line 29"/>
          <p:cNvSpPr/>
          <p:nvPr/>
        </p:nvSpPr>
        <p:spPr>
          <a:xfrm>
            <a:off x="6781680" y="3809880"/>
            <a:ext cx="13716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3" name="Line 30"/>
          <p:cNvSpPr/>
          <p:nvPr/>
        </p:nvSpPr>
        <p:spPr>
          <a:xfrm>
            <a:off x="7391520" y="3809880"/>
            <a:ext cx="0" cy="304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4" name="Line 31"/>
          <p:cNvSpPr/>
          <p:nvPr/>
        </p:nvSpPr>
        <p:spPr>
          <a:xfrm>
            <a:off x="320040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5" name="Line 32"/>
          <p:cNvSpPr/>
          <p:nvPr/>
        </p:nvSpPr>
        <p:spPr>
          <a:xfrm>
            <a:off x="563868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6" name="Line 33"/>
          <p:cNvSpPr/>
          <p:nvPr/>
        </p:nvSpPr>
        <p:spPr>
          <a:xfrm>
            <a:off x="762012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7" name="Line 34"/>
          <p:cNvSpPr/>
          <p:nvPr/>
        </p:nvSpPr>
        <p:spPr>
          <a:xfrm>
            <a:off x="3200400" y="5105520"/>
            <a:ext cx="44197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8" name="Line 35"/>
          <p:cNvSpPr/>
          <p:nvPr/>
        </p:nvSpPr>
        <p:spPr>
          <a:xfrm>
            <a:off x="5257800" y="5105520"/>
            <a:ext cx="0" cy="304560"/>
          </a:xfrm>
          <a:prstGeom prst="line">
            <a:avLst/>
          </a:prstGeom>
          <a:ln w="28440">
            <a:solidFill>
              <a:srgbClr val="ffff00"/>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1919" name="Rectangle 36"/>
          <p:cNvSpPr/>
          <p:nvPr/>
        </p:nvSpPr>
        <p:spPr>
          <a:xfrm>
            <a:off x="4038480" y="5410080"/>
            <a:ext cx="2895840" cy="45720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CAPACITE AEROBIE</a:t>
            </a:r>
            <a:endParaRPr b="0" lang="en-US" sz="2000" strike="noStrike" u="none">
              <a:solidFill>
                <a:srgbClr val="ffff00"/>
              </a:solidFill>
              <a:effectLst/>
              <a:uFillTx/>
              <a:latin typeface="Times New Roman"/>
            </a:endParaRPr>
          </a:p>
        </p:txBody>
      </p:sp>
      <p:sp>
        <p:nvSpPr>
          <p:cNvPr id="1920" name="Text Box 39"/>
          <p:cNvSpPr/>
          <p:nvPr/>
        </p:nvSpPr>
        <p:spPr>
          <a:xfrm>
            <a:off x="-304920" y="228600"/>
            <a:ext cx="975384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FACTEURS PHYSIOLOGIQUES DE LA PERFORMANCE DE LONGUE DUREE</a:t>
            </a:r>
            <a:endParaRPr b="0" lang="en-US" sz="2000" strike="noStrike" u="none">
              <a:solidFill>
                <a:srgbClr val="ffff00"/>
              </a:solidFill>
              <a:effectLst/>
              <a:uFillTx/>
              <a:latin typeface="Times New Roman"/>
            </a:endParaRPr>
          </a:p>
        </p:txBody>
      </p:sp>
      <p:sp>
        <p:nvSpPr>
          <p:cNvPr id="1921" name="Oval 40"/>
          <p:cNvSpPr/>
          <p:nvPr/>
        </p:nvSpPr>
        <p:spPr>
          <a:xfrm>
            <a:off x="0" y="228600"/>
            <a:ext cx="5486400" cy="5410080"/>
          </a:xfrm>
          <a:prstGeom prst="ellipse">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22" name="Line 41"/>
          <p:cNvSpPr/>
          <p:nvPr/>
        </p:nvSpPr>
        <p:spPr>
          <a:xfrm>
            <a:off x="4343400" y="3809880"/>
            <a:ext cx="1295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2180" dur="indefinite" restart="never" nodeType="tmRoot">
          <p:childTnLst>
            <p:seq>
              <p:cTn id="2181" dur="indefinite" nodeType="mainSeq">
                <p:childTnLst>
                  <p:par>
                    <p:cTn id="2182" nodeType="clickEffect" fill="hold">
                      <p:stCondLst>
                        <p:cond delay="indefinite"/>
                      </p:stCondLst>
                      <p:childTnLst>
                        <p:par>
                          <p:cTn id="2183" nodeType="withEffect" fill="hold">
                            <p:stCondLst>
                              <p:cond delay="0"/>
                            </p:stCondLst>
                            <p:childTnLst>
                              <p:par>
                                <p:cTn id="2184" nodeType="clickEffect" fill="hold" presetClass="entr" presetID="19" presetSubtype="10">
                                  <p:stCondLst>
                                    <p:cond delay="0"/>
                                  </p:stCondLst>
                                  <p:childTnLst>
                                    <p:set>
                                      <p:cBhvr>
                                        <p:cTn id="2185" dur="1" fill="hold">
                                          <p:stCondLst>
                                            <p:cond delay="0"/>
                                          </p:stCondLst>
                                        </p:cTn>
                                        <p:tgtEl>
                                          <p:spTgt spid="1921"/>
                                        </p:tgtEl>
                                        <p:attrNameLst>
                                          <p:attrName>style.visibility</p:attrName>
                                        </p:attrNameLst>
                                      </p:cBhvr>
                                      <p:to>
                                        <p:strVal val="visible"/>
                                      </p:to>
                                    </p:set>
                                    <p:anim calcmode="lin" valueType="num">
                                      <p:cBhvr additive="repl">
                                        <p:cTn id="2186" dur="5000" fill="hold"/>
                                        <p:tgtEl>
                                          <p:spTgt spid="1921"/>
                                        </p:tgtEl>
                                        <p:attrNameLst>
                                          <p:attrName>ppt_w</p:attrName>
                                        </p:attrNameLst>
                                      </p:cBhvr>
                                      <p:tavLst>
                                        <p:tav fmla="width*sin(2.5*pi*$)" tm="0">
                                          <p:val>
                                            <p:fltVal val="0"/>
                                          </p:val>
                                        </p:tav>
                                        <p:tav fmla="width*sin(2.5*pi*$)" tm="100000">
                                          <p:val>
                                            <p:fltVal val="1"/>
                                          </p:val>
                                        </p:tav>
                                      </p:tavLst>
                                    </p:anim>
                                    <p:anim calcmode="lin" valueType="num">
                                      <p:cBhvr additive="repl">
                                        <p:cTn id="2187" dur="5000" fill="hold"/>
                                        <p:tgtEl>
                                          <p:spTgt spid="192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3" name="Text Box 2"/>
          <p:cNvSpPr/>
          <p:nvPr/>
        </p:nvSpPr>
        <p:spPr>
          <a:xfrm>
            <a:off x="228600" y="685800"/>
            <a:ext cx="8799480" cy="15570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800" strike="noStrike" u="none">
                <a:solidFill>
                  <a:srgbClr val="00cc99"/>
                </a:solidFill>
                <a:effectLst/>
                <a:uFillTx/>
                <a:latin typeface="Times New Roman"/>
              </a:rPr>
              <a:t>Evolution des différents systèmes  </a:t>
            </a:r>
            <a:endParaRPr b="0" lang="en-US" sz="4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4800" strike="noStrike" u="none">
                <a:solidFill>
                  <a:srgbClr val="00cc99"/>
                </a:solidFill>
                <a:effectLst/>
                <a:uFillTx/>
                <a:latin typeface="Times New Roman"/>
              </a:rPr>
              <a:t>au cours de la croissance</a:t>
            </a:r>
            <a:endParaRPr b="0" lang="en-US" sz="4800" strike="noStrike" u="none">
              <a:solidFill>
                <a:srgbClr val="ffff00"/>
              </a:solidFill>
              <a:effectLst/>
              <a:uFillTx/>
              <a:latin typeface="Times New Roman"/>
            </a:endParaRPr>
          </a:p>
        </p:txBody>
      </p:sp>
      <p:grpSp>
        <p:nvGrpSpPr>
          <p:cNvPr id="1924" name="Group 13"/>
          <p:cNvGrpSpPr/>
          <p:nvPr/>
        </p:nvGrpSpPr>
        <p:grpSpPr>
          <a:xfrm>
            <a:off x="1990800" y="2743200"/>
            <a:ext cx="4937040" cy="3314520"/>
            <a:chOff x="1990800" y="2743200"/>
            <a:chExt cx="4937040" cy="3314520"/>
          </a:xfrm>
        </p:grpSpPr>
        <p:sp>
          <p:nvSpPr>
            <p:cNvPr id="1925" name="Oval 3"/>
            <p:cNvSpPr/>
            <p:nvPr/>
          </p:nvSpPr>
          <p:spPr>
            <a:xfrm>
              <a:off x="2666880" y="3429000"/>
              <a:ext cx="1514520" cy="1484280"/>
            </a:xfrm>
            <a:prstGeom prst="ellipse">
              <a:avLst/>
            </a:prstGeom>
            <a:solidFill>
              <a:srgbClr val="3366ff"/>
            </a:solidFill>
            <a:ln w="50760">
              <a:solidFill>
                <a:srgbClr val="3109f7"/>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26" name="Oval 4"/>
            <p:cNvSpPr/>
            <p:nvPr/>
          </p:nvSpPr>
          <p:spPr>
            <a:xfrm>
              <a:off x="4114800" y="3809880"/>
              <a:ext cx="1515960" cy="1484280"/>
            </a:xfrm>
            <a:prstGeom prst="ellipse">
              <a:avLst/>
            </a:prstGeom>
            <a:solidFill>
              <a:srgbClr val="3366ff"/>
            </a:solidFill>
            <a:ln w="50760">
              <a:solidFill>
                <a:srgbClr val="3109f7"/>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27" name="Oval 5"/>
            <p:cNvSpPr/>
            <p:nvPr/>
          </p:nvSpPr>
          <p:spPr>
            <a:xfrm>
              <a:off x="5410080" y="4572000"/>
              <a:ext cx="1517760" cy="1485720"/>
            </a:xfrm>
            <a:prstGeom prst="ellipse">
              <a:avLst/>
            </a:prstGeom>
            <a:solidFill>
              <a:srgbClr val="3366ff"/>
            </a:solidFill>
            <a:ln w="50760">
              <a:solidFill>
                <a:srgbClr val="3109f7"/>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1928" name="Arc 6"/>
            <p:cNvSpPr/>
            <p:nvPr/>
          </p:nvSpPr>
          <p:spPr>
            <a:xfrm>
              <a:off x="2819160" y="3124080"/>
              <a:ext cx="328680" cy="293760"/>
            </a:xfrm>
            <a:custGeom>
              <a:avLst/>
              <a:gdLst>
                <a:gd name="GluePoint1X" fmla="*/ 0 w 21600"/>
                <a:gd name="GluePoint1Y" fmla="*/ 0 h 21600"/>
                <a:gd name="GluePoint2X" fmla="*/ 0 w 21600"/>
                <a:gd name="GluePoint2Y" fmla="*/ 0 h 21600"/>
                <a:gd name="GluePoint3X" fmla="*/ 0 w 21600"/>
                <a:gd name="GluePoint3Y" fmla="*/ 0 h 21600"/>
              </a:gdLst>
              <a:ahLst/>
              <a:cxnLst>
                <a:cxn ang="0">
                  <a:pos x="GluePoint1X" y="GluePoint1Y"/>
                </a:cxn>
                <a:cxn ang="0">
                  <a:pos x="GluePoint2X" y="GluePoint2Y"/>
                </a:cxn>
                <a:cxn ang="0">
                  <a:pos x="GluePoint3X" y="GluePoint3Y"/>
                </a:cxn>
              </a:cxnLst>
              <a:rect l="l" t="t" r="r" b="b"/>
              <a:pathLst>
                <a:path fill="none" w="21600" h="21600">
                  <a:moveTo>
                    <a:pt x="21538" y="21599"/>
                  </a:moveTo>
                  <a:cubicBezTo>
                    <a:pt x="9632" y="21565"/>
                    <a:pt x="0" y="11905"/>
                    <a:pt x="0" y="0"/>
                  </a:cubicBezTo>
                </a:path>
                <a:path stroke="0" w="21600" h="21600">
                  <a:moveTo>
                    <a:pt x="21538" y="21599"/>
                  </a:moveTo>
                  <a:cubicBezTo>
                    <a:pt x="9632" y="21565"/>
                    <a:pt x="0" y="11905"/>
                    <a:pt x="0" y="0"/>
                  </a:cubicBezTo>
                  <a:lnTo>
                    <a:pt x="21600" y="0"/>
                  </a:lnTo>
                  <a:lnTo>
                    <a:pt x="21538" y="21599"/>
                  </a:lnTo>
                  <a:close/>
                </a:path>
              </a:pathLst>
            </a:custGeom>
            <a:noFill/>
            <a:ln cap="rnd" w="50760">
              <a:solidFill>
                <a:srgbClr val="ff0000"/>
              </a:solidFill>
              <a:round/>
              <a:headEnd len="med" type="triangle" w="me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aphicFrame>
          <p:nvGraphicFramePr>
            <p:cNvPr id="1929" name="Object 7"/>
            <p:cNvGraphicFramePr/>
            <p:nvPr/>
          </p:nvGraphicFramePr>
          <p:xfrm>
            <a:off x="4572000" y="4114800"/>
            <a:ext cx="715680" cy="946080"/>
          </p:xfrm>
          <a:graphic>
            <a:graphicData uri="http://schemas.openxmlformats.org/presentationml/2006/ole">
              <p:oleObj r:id="rId1" spid="">
                <p:embed/>
                <p:pic>
                  <p:nvPicPr>
                    <p:cNvPr id="1930" name="Object 7" descr=""/>
                    <p:cNvPicPr/>
                    <p:nvPr/>
                  </p:nvPicPr>
                  <p:blipFill>
                    <a:blip r:embed="rId2"/>
                    <a:stretch/>
                  </p:blipFill>
                  <p:spPr>
                    <a:xfrm>
                      <a:off x="4572000" y="4114800"/>
                      <a:ext cx="715680" cy="946080"/>
                    </a:xfrm>
                    <a:prstGeom prst="rect">
                      <a:avLst/>
                    </a:prstGeom>
                    <a:noFill/>
                    <a:ln w="0">
                      <a:noFill/>
                    </a:ln>
                  </p:spPr>
                </p:pic>
              </p:oleObj>
            </a:graphicData>
          </a:graphic>
        </p:graphicFrame>
        <p:pic>
          <p:nvPicPr>
            <p:cNvPr id="1931" name="Picture 8" descr=""/>
            <p:cNvPicPr/>
            <p:nvPr/>
          </p:nvPicPr>
          <p:blipFill>
            <a:blip r:embed="rId3"/>
            <a:stretch/>
          </p:blipFill>
          <p:spPr>
            <a:xfrm>
              <a:off x="5715000" y="4952880"/>
              <a:ext cx="1011240" cy="712800"/>
            </a:xfrm>
            <a:prstGeom prst="rect">
              <a:avLst/>
            </a:prstGeom>
            <a:noFill/>
            <a:ln w="0">
              <a:noFill/>
            </a:ln>
          </p:spPr>
        </p:pic>
        <p:sp>
          <p:nvSpPr>
            <p:cNvPr id="1932" name="AutoShape 9"/>
            <p:cNvSpPr/>
            <p:nvPr/>
          </p:nvSpPr>
          <p:spPr>
            <a:xfrm>
              <a:off x="4952880" y="3581280"/>
              <a:ext cx="685800" cy="533520"/>
            </a:xfrm>
            <a:custGeom>
              <a:avLst/>
              <a:gdLst>
                <a:gd name="textAreaLeft" fmla="*/ 91800 w 685800"/>
                <a:gd name="textAreaRight" fmla="*/ 594000 w 685800"/>
                <a:gd name="textAreaTop" fmla="*/ 93240 h 533520"/>
                <a:gd name="textAreaBottom" fmla="*/ 387000 h 533520"/>
                <a:gd name="GluePoint1X" fmla="*/ 0 w 21600"/>
                <a:gd name="GluePoint1Y" fmla="*/ 15 h 21600"/>
                <a:gd name="GluePoint2X" fmla="*/ 2 w 21600"/>
                <a:gd name="GluePoint2Y" fmla="*/ 11 h 21600"/>
                <a:gd name="GluePoint3X" fmla="*/ 0 w 21600"/>
                <a:gd name="GluePoint3Y" fmla="*/ 8 h 21600"/>
                <a:gd name="GluePoint4X" fmla="*/ 2 w 21600"/>
                <a:gd name="GluePoint4Y" fmla="*/ 13 h 21600"/>
                <a:gd name="GluePoint5X" fmla="*/ 21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arcTo wR="21600" hR="7560" stAng="-5400000" swAng="5400000"/>
                  <a:lnTo>
                    <a:pt x="21600" y="11880"/>
                  </a:lnTo>
                  <a:arcTo wR="21600" hR="7560" stAng="0" swAng="2682637"/>
                  <a:lnTo>
                    <a:pt x="7200" y="21168"/>
                  </a:lnTo>
                  <a:lnTo>
                    <a:pt x="0" y="17280"/>
                  </a:lnTo>
                  <a:lnTo>
                    <a:pt x="7200" y="12528"/>
                  </a:lnTo>
                  <a:lnTo>
                    <a:pt x="7200" y="14688"/>
                  </a:lnTo>
                  <a:arcTo wR="21600" hR="7560" stAng="2682637" swAng="-2325203"/>
                  <a:lnTo>
                    <a:pt x="20700" y="9720"/>
                  </a:lnTo>
                  <a:arcTo wR="21600" hR="7560" stAng="-357435" swAng="-5042565"/>
                  <a:close/>
                </a:path>
                <a:path fill="darkenLess" w="21600" h="21600">
                  <a:moveTo>
                    <a:pt x="0" y="0"/>
                  </a:moveTo>
                  <a:arcTo wR="21600" hR="7560" stAng="-5400000" swAng="5400000"/>
                  <a:lnTo>
                    <a:pt x="21600" y="11880"/>
                  </a:lnTo>
                  <a:arcTo wR="21600" hR="7560" stAng="0" swAng="-357435"/>
                  <a:lnTo>
                    <a:pt x="20700" y="9720"/>
                  </a:lnTo>
                  <a:arcTo wR="21600" hR="7560" stAng="-357435" swAng="-5042565"/>
                  <a:close/>
                </a:path>
              </a:pathLst>
            </a:custGeom>
            <a:solidFill>
              <a:srgbClr val="ff0000"/>
            </a:solidFill>
            <a:ln w="9360">
              <a:solidFill>
                <a:srgbClr val="ff33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1933" name="AutoShape 10"/>
            <p:cNvSpPr/>
            <p:nvPr/>
          </p:nvSpPr>
          <p:spPr>
            <a:xfrm>
              <a:off x="6248160" y="4343400"/>
              <a:ext cx="457200" cy="609480"/>
            </a:xfrm>
            <a:custGeom>
              <a:avLst/>
              <a:gdLst>
                <a:gd name="textAreaLeft" fmla="*/ 61200 w 457200"/>
                <a:gd name="textAreaRight" fmla="*/ 396000 w 457200"/>
                <a:gd name="textAreaTop" fmla="*/ 106560 h 609480"/>
                <a:gd name="textAreaBottom" fmla="*/ 442080 h 609480"/>
                <a:gd name="GluePoint1X" fmla="*/ 0 w 21600"/>
                <a:gd name="GluePoint1Y" fmla="*/ 15 h 21600"/>
                <a:gd name="GluePoint2X" fmla="*/ 2 w 21600"/>
                <a:gd name="GluePoint2Y" fmla="*/ 11 h 21600"/>
                <a:gd name="GluePoint3X" fmla="*/ 0 w 21600"/>
                <a:gd name="GluePoint3Y" fmla="*/ 8 h 21600"/>
                <a:gd name="GluePoint4X" fmla="*/ 2 w 21600"/>
                <a:gd name="GluePoint4Y" fmla="*/ 13 h 21600"/>
                <a:gd name="GluePoint5X" fmla="*/ 21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arcTo wR="21600" hR="7560" stAng="-5400000" swAng="5400000"/>
                  <a:lnTo>
                    <a:pt x="21600" y="11880"/>
                  </a:lnTo>
                  <a:arcTo wR="21600" hR="7560" stAng="0" swAng="2682637"/>
                  <a:lnTo>
                    <a:pt x="7200" y="21168"/>
                  </a:lnTo>
                  <a:lnTo>
                    <a:pt x="0" y="17280"/>
                  </a:lnTo>
                  <a:lnTo>
                    <a:pt x="7200" y="12528"/>
                  </a:lnTo>
                  <a:lnTo>
                    <a:pt x="7200" y="14688"/>
                  </a:lnTo>
                  <a:arcTo wR="21600" hR="7560" stAng="2682637" swAng="-2325203"/>
                  <a:lnTo>
                    <a:pt x="20700" y="9720"/>
                  </a:lnTo>
                  <a:arcTo wR="21600" hR="7560" stAng="-357435" swAng="-5042565"/>
                  <a:close/>
                </a:path>
                <a:path fill="darkenLess" w="21600" h="21600">
                  <a:moveTo>
                    <a:pt x="0" y="0"/>
                  </a:moveTo>
                  <a:arcTo wR="21600" hR="7560" stAng="-5400000" swAng="5400000"/>
                  <a:lnTo>
                    <a:pt x="21600" y="11880"/>
                  </a:lnTo>
                  <a:arcTo wR="21600" hR="7560" stAng="0" swAng="-357435"/>
                  <a:lnTo>
                    <a:pt x="20700" y="9720"/>
                  </a:lnTo>
                  <a:arcTo wR="21600" hR="7560" stAng="-357435" swAng="-5042565"/>
                  <a:close/>
                </a:path>
              </a:pathLst>
            </a:custGeom>
            <a:solidFill>
              <a:srgbClr val="ff0000"/>
            </a:solidFill>
            <a:ln w="9360">
              <a:solidFill>
                <a:srgbClr val="ff33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aphicFrame>
          <p:nvGraphicFramePr>
            <p:cNvPr id="1934" name="Object 11"/>
            <p:cNvGraphicFramePr/>
            <p:nvPr/>
          </p:nvGraphicFramePr>
          <p:xfrm>
            <a:off x="2971800" y="3657600"/>
            <a:ext cx="928440" cy="931680"/>
          </p:xfrm>
          <a:graphic>
            <a:graphicData uri="http://schemas.openxmlformats.org/presentationml/2006/ole">
              <p:oleObj r:id="rId4" spid="">
                <p:embed/>
                <p:pic>
                  <p:nvPicPr>
                    <p:cNvPr id="1935" name="Object 11" descr=""/>
                    <p:cNvPicPr/>
                    <p:nvPr/>
                  </p:nvPicPr>
                  <p:blipFill>
                    <a:blip r:embed="rId5"/>
                    <a:stretch/>
                  </p:blipFill>
                  <p:spPr>
                    <a:xfrm>
                      <a:off x="2971800" y="3657600"/>
                      <a:ext cx="928440" cy="931680"/>
                    </a:xfrm>
                    <a:prstGeom prst="rect">
                      <a:avLst/>
                    </a:prstGeom>
                    <a:noFill/>
                    <a:ln w="0">
                      <a:noFill/>
                    </a:ln>
                  </p:spPr>
                </p:pic>
              </p:oleObj>
            </a:graphicData>
          </a:graphic>
        </p:graphicFrame>
        <p:sp>
          <p:nvSpPr>
            <p:cNvPr id="1936" name="Text Box 12"/>
            <p:cNvSpPr/>
            <p:nvPr/>
          </p:nvSpPr>
          <p:spPr>
            <a:xfrm>
              <a:off x="1990800" y="2743200"/>
              <a:ext cx="591840" cy="6490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3333cc"/>
                  </a:solidFill>
                  <a:effectLst/>
                  <a:uFillTx/>
                  <a:latin typeface="Times New Roman"/>
                </a:rPr>
                <a:t>O</a:t>
              </a:r>
              <a:r>
                <a:rPr b="0" lang="fr-FR" sz="3200" strike="noStrike" u="none" baseline="-25000">
                  <a:solidFill>
                    <a:srgbClr val="3333cc"/>
                  </a:solidFill>
                  <a:effectLst/>
                  <a:uFillTx/>
                  <a:latin typeface="Times New Roman"/>
                </a:rPr>
                <a:t>2</a:t>
              </a:r>
              <a:endParaRPr b="0" lang="en-US" sz="3200" strike="noStrike" u="none">
                <a:solidFill>
                  <a:srgbClr val="ffff00"/>
                </a:solidFill>
                <a:effectLst/>
                <a:uFillTx/>
                <a:latin typeface="Times New Roman"/>
              </a:endParaRPr>
            </a:p>
          </p:txBody>
        </p:sp>
      </p:grpSp>
    </p:spTree>
  </p:cSld>
  <p:transition spd="med">
    <p:zoom dir="out"/>
  </p:transition>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7" name="Text Box 2"/>
          <p:cNvSpPr/>
          <p:nvPr/>
        </p:nvSpPr>
        <p:spPr>
          <a:xfrm>
            <a:off x="1108080" y="2849400"/>
            <a:ext cx="66913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omic Sans MS"/>
              </a:rPr>
              <a:t>LA PUISSANCE AEROBIE MAXIMALE</a:t>
            </a:r>
            <a:endParaRPr b="0" lang="en-US" sz="3200" strike="noStrike" u="none">
              <a:solidFill>
                <a:srgbClr val="ffff00"/>
              </a:solidFill>
              <a:effectLst/>
              <a:uFillTx/>
              <a:latin typeface="Times New Roman"/>
            </a:endParaRPr>
          </a:p>
        </p:txBody>
      </p:sp>
    </p:spTree>
  </p:cSld>
  <p:transition spd="med">
    <p:zoom dir="out"/>
  </p:transition>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8" name="Line 2"/>
          <p:cNvSpPr/>
          <p:nvPr/>
        </p:nvSpPr>
        <p:spPr>
          <a:xfrm>
            <a:off x="2590920" y="1600200"/>
            <a:ext cx="0" cy="2666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39" name="Line 3"/>
          <p:cNvSpPr/>
          <p:nvPr/>
        </p:nvSpPr>
        <p:spPr>
          <a:xfrm>
            <a:off x="2590920" y="4495680"/>
            <a:ext cx="411480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40" name="Text Box 4"/>
          <p:cNvSpPr/>
          <p:nvPr/>
        </p:nvSpPr>
        <p:spPr>
          <a:xfrm>
            <a:off x="2058840" y="1428840"/>
            <a:ext cx="574560" cy="28371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60 -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1941" name="Text Box 5"/>
          <p:cNvSpPr/>
          <p:nvPr/>
        </p:nvSpPr>
        <p:spPr>
          <a:xfrm rot="16214400">
            <a:off x="-479160" y="2663640"/>
            <a:ext cx="3813480" cy="3682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Volume d’éjection systolique (ml)</a:t>
            </a:r>
            <a:endParaRPr b="0" lang="en-US" sz="1800" strike="noStrike" u="none">
              <a:solidFill>
                <a:srgbClr val="ffff00"/>
              </a:solidFill>
              <a:effectLst/>
              <a:uFillTx/>
              <a:latin typeface="Times New Roman"/>
            </a:endParaRPr>
          </a:p>
        </p:txBody>
      </p:sp>
      <p:sp>
        <p:nvSpPr>
          <p:cNvPr id="1942" name="Text Box 6"/>
          <p:cNvSpPr/>
          <p:nvPr/>
        </p:nvSpPr>
        <p:spPr>
          <a:xfrm>
            <a:off x="3732120" y="495288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1943" name="Text Box 7"/>
          <p:cNvSpPr/>
          <p:nvPr/>
        </p:nvSpPr>
        <p:spPr>
          <a:xfrm>
            <a:off x="2972520" y="4267080"/>
            <a:ext cx="37382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I                I                I                I</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0.2            0.6            1.0            1.4</a:t>
            </a:r>
            <a:endParaRPr b="0" lang="en-US" sz="1800" strike="noStrike" u="none">
              <a:solidFill>
                <a:srgbClr val="ffff00"/>
              </a:solidFill>
              <a:effectLst/>
              <a:uFillTx/>
              <a:latin typeface="Times New Roman"/>
            </a:endParaRPr>
          </a:p>
        </p:txBody>
      </p:sp>
      <p:sp>
        <p:nvSpPr>
          <p:cNvPr id="1944" name="Text Box 8"/>
          <p:cNvSpPr/>
          <p:nvPr/>
        </p:nvSpPr>
        <p:spPr>
          <a:xfrm>
            <a:off x="3048120" y="320040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1945" name="Text Box 9"/>
          <p:cNvSpPr/>
          <p:nvPr/>
        </p:nvSpPr>
        <p:spPr>
          <a:xfrm>
            <a:off x="4114800" y="289548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1946" name="Text Box 10"/>
          <p:cNvSpPr/>
          <p:nvPr/>
        </p:nvSpPr>
        <p:spPr>
          <a:xfrm>
            <a:off x="5257800" y="274320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1947" name="Line 11"/>
          <p:cNvSpPr/>
          <p:nvPr/>
        </p:nvSpPr>
        <p:spPr>
          <a:xfrm flipV="1">
            <a:off x="3276720" y="3048120"/>
            <a:ext cx="914400" cy="3045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48" name="Line 12"/>
          <p:cNvSpPr/>
          <p:nvPr/>
        </p:nvSpPr>
        <p:spPr>
          <a:xfrm flipV="1">
            <a:off x="4343400" y="2895480"/>
            <a:ext cx="99072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49" name="Text Box 13"/>
          <p:cNvSpPr/>
          <p:nvPr/>
        </p:nvSpPr>
        <p:spPr>
          <a:xfrm>
            <a:off x="6400800" y="175248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1950" name="Text Box 14"/>
          <p:cNvSpPr/>
          <p:nvPr/>
        </p:nvSpPr>
        <p:spPr>
          <a:xfrm>
            <a:off x="5029200" y="198108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1951" name="Text Box 15"/>
          <p:cNvSpPr/>
          <p:nvPr/>
        </p:nvSpPr>
        <p:spPr>
          <a:xfrm>
            <a:off x="3048120" y="251460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1952" name="Line 16"/>
          <p:cNvSpPr/>
          <p:nvPr/>
        </p:nvSpPr>
        <p:spPr>
          <a:xfrm flipV="1">
            <a:off x="3276720" y="2209680"/>
            <a:ext cx="190476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53" name="Line 17"/>
          <p:cNvSpPr/>
          <p:nvPr/>
        </p:nvSpPr>
        <p:spPr>
          <a:xfrm flipV="1">
            <a:off x="5257800" y="1980720"/>
            <a:ext cx="1295280" cy="2286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54" name="Text Box 18"/>
          <p:cNvSpPr/>
          <p:nvPr/>
        </p:nvSpPr>
        <p:spPr>
          <a:xfrm>
            <a:off x="4419720" y="76212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55" name="Text Box 19"/>
          <p:cNvSpPr/>
          <p:nvPr/>
        </p:nvSpPr>
        <p:spPr>
          <a:xfrm>
            <a:off x="4419720" y="4572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56" name="Text Box 20"/>
          <p:cNvSpPr/>
          <p:nvPr/>
        </p:nvSpPr>
        <p:spPr>
          <a:xfrm>
            <a:off x="4425120" y="452520"/>
            <a:ext cx="3757680" cy="6426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ff"/>
                </a:solidFill>
                <a:effectLst/>
                <a:uFillTx/>
                <a:latin typeface="Arial"/>
              </a:rPr>
              <a:t>12.8 ans ( 11.5-14 ans, n = 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9.4 ans ( 8-11.5 ans, n = 10 )</a:t>
            </a:r>
            <a:endParaRPr b="0" lang="en-US" sz="1800" strike="noStrike" u="none">
              <a:solidFill>
                <a:srgbClr val="ffff00"/>
              </a:solidFill>
              <a:effectLst/>
              <a:uFillTx/>
              <a:latin typeface="Times New Roman"/>
            </a:endParaRPr>
          </a:p>
        </p:txBody>
      </p:sp>
      <p:sp>
        <p:nvSpPr>
          <p:cNvPr id="1957" name="Text Box 21"/>
          <p:cNvSpPr/>
          <p:nvPr/>
        </p:nvSpPr>
        <p:spPr>
          <a:xfrm>
            <a:off x="312840" y="5761080"/>
            <a:ext cx="8637840" cy="7038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Modifications hémodynamiques survenant au cours d’une épreuve de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pédalage en position verticale. (D’après Mocellin et al., 1973)</a:t>
            </a:r>
            <a:endParaRPr b="0" lang="en-US" sz="2000" strike="noStrike" u="none">
              <a:solidFill>
                <a:srgbClr val="ffff00"/>
              </a:solidFill>
              <a:effectLst/>
              <a:uFillTx/>
              <a:latin typeface="Times New Roman"/>
            </a:endParaRPr>
          </a:p>
        </p:txBody>
      </p:sp>
      <p:sp>
        <p:nvSpPr>
          <p:cNvPr id="1958" name="Text Box 22"/>
          <p:cNvSpPr/>
          <p:nvPr/>
        </p:nvSpPr>
        <p:spPr>
          <a:xfrm>
            <a:off x="6005520" y="2819520"/>
            <a:ext cx="313848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 ’enfant et présente un volume d ’éjection systolique plus faible que celui de l ’adolescent.</a:t>
            </a:r>
            <a:endParaRPr b="0" lang="en-US" sz="1800" strike="noStrike" u="none">
              <a:solidFill>
                <a:srgbClr val="ffff00"/>
              </a:solidFill>
              <a:effectLst/>
              <a:uFillTx/>
              <a:latin typeface="Times New Roman"/>
            </a:endParaRPr>
          </a:p>
        </p:txBody>
      </p:sp>
    </p:spTree>
  </p:cSld>
  <p:transition spd="med">
    <p:zoom dir="out"/>
  </p:transition>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9" name="Line 3"/>
          <p:cNvSpPr/>
          <p:nvPr/>
        </p:nvSpPr>
        <p:spPr>
          <a:xfrm>
            <a:off x="1523880" y="630360"/>
            <a:ext cx="0" cy="42163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60" name="Line 4"/>
          <p:cNvSpPr/>
          <p:nvPr/>
        </p:nvSpPr>
        <p:spPr>
          <a:xfrm>
            <a:off x="1523880" y="5075280"/>
            <a:ext cx="5562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61" name="Text Box 5"/>
          <p:cNvSpPr/>
          <p:nvPr/>
        </p:nvSpPr>
        <p:spPr>
          <a:xfrm>
            <a:off x="459000" y="685800"/>
            <a:ext cx="1616040" cy="4208760"/>
          </a:xfrm>
          <a:prstGeom prst="rect">
            <a:avLst/>
          </a:prstGeom>
          <a:noFill/>
          <a:ln w="0">
            <a:noFill/>
          </a:ln>
        </p:spPr>
        <p:style>
          <a:lnRef idx="0"/>
          <a:fillRef idx="0"/>
          <a:effectRef idx="0"/>
          <a:fontRef idx="minor"/>
        </p:style>
        <p:txBody>
          <a:bodyPr wrap="none" lIns="90000" rIns="90000" tIns="46800" bIns="46800" anchor="t">
            <a:spAutoFit/>
          </a:bodyPr>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110 -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90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70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60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marL="457200" indent="-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50   -</a:t>
            </a:r>
            <a:endParaRPr b="0" lang="en-US" sz="1800" strike="noStrike" u="none">
              <a:solidFill>
                <a:srgbClr val="ffff00"/>
              </a:solidFill>
              <a:effectLst/>
              <a:uFillTx/>
              <a:latin typeface="Times New Roman"/>
            </a:endParaRPr>
          </a:p>
        </p:txBody>
      </p:sp>
      <p:sp>
        <p:nvSpPr>
          <p:cNvPr id="1962" name="Text Box 6"/>
          <p:cNvSpPr/>
          <p:nvPr/>
        </p:nvSpPr>
        <p:spPr>
          <a:xfrm rot="16214400">
            <a:off x="-1115280" y="2723400"/>
            <a:ext cx="333108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Volume d’éjection systolique</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ml ) </a:t>
            </a:r>
            <a:endParaRPr b="0" lang="en-US" sz="1800" strike="noStrike" u="none">
              <a:solidFill>
                <a:srgbClr val="ffff00"/>
              </a:solidFill>
              <a:effectLst/>
              <a:uFillTx/>
              <a:latin typeface="Times New Roman"/>
            </a:endParaRPr>
          </a:p>
        </p:txBody>
      </p:sp>
      <p:sp>
        <p:nvSpPr>
          <p:cNvPr id="1963" name="Text Box 7"/>
          <p:cNvSpPr/>
          <p:nvPr/>
        </p:nvSpPr>
        <p:spPr>
          <a:xfrm>
            <a:off x="3503520" y="548640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1964" name="Text Box 8"/>
          <p:cNvSpPr/>
          <p:nvPr/>
        </p:nvSpPr>
        <p:spPr>
          <a:xfrm>
            <a:off x="1891080" y="4897440"/>
            <a:ext cx="49366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  I         I            I          I           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0.5            1.0            1.5            2.0             2.5</a:t>
            </a:r>
            <a:endParaRPr b="0" lang="en-US" sz="1800" strike="noStrike" u="none">
              <a:solidFill>
                <a:srgbClr val="ffff00"/>
              </a:solidFill>
              <a:effectLst/>
              <a:uFillTx/>
              <a:latin typeface="Times New Roman"/>
            </a:endParaRPr>
          </a:p>
        </p:txBody>
      </p:sp>
      <p:sp>
        <p:nvSpPr>
          <p:cNvPr id="1965" name="Text Box 9"/>
          <p:cNvSpPr/>
          <p:nvPr/>
        </p:nvSpPr>
        <p:spPr>
          <a:xfrm>
            <a:off x="2362320" y="39924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66" name="Text Box 10"/>
          <p:cNvSpPr/>
          <p:nvPr/>
        </p:nvSpPr>
        <p:spPr>
          <a:xfrm>
            <a:off x="3124080" y="365760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67" name="Text Box 11"/>
          <p:cNvSpPr/>
          <p:nvPr/>
        </p:nvSpPr>
        <p:spPr>
          <a:xfrm>
            <a:off x="4343400" y="320040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68" name="Line 12"/>
          <p:cNvSpPr/>
          <p:nvPr/>
        </p:nvSpPr>
        <p:spPr>
          <a:xfrm flipV="1">
            <a:off x="2590920" y="3885840"/>
            <a:ext cx="60948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69" name="Line 13"/>
          <p:cNvSpPr/>
          <p:nvPr/>
        </p:nvSpPr>
        <p:spPr>
          <a:xfrm flipV="1">
            <a:off x="3352680" y="3580920"/>
            <a:ext cx="457200" cy="2034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70" name="Text Box 14"/>
          <p:cNvSpPr/>
          <p:nvPr/>
        </p:nvSpPr>
        <p:spPr>
          <a:xfrm>
            <a:off x="4114800" y="160020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1" name="Text Box 15"/>
          <p:cNvSpPr/>
          <p:nvPr/>
        </p:nvSpPr>
        <p:spPr>
          <a:xfrm>
            <a:off x="2971800" y="24382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2" name="Text Box 16"/>
          <p:cNvSpPr/>
          <p:nvPr/>
        </p:nvSpPr>
        <p:spPr>
          <a:xfrm>
            <a:off x="2286000" y="28954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3" name="Line 17"/>
          <p:cNvSpPr/>
          <p:nvPr/>
        </p:nvSpPr>
        <p:spPr>
          <a:xfrm flipV="1">
            <a:off x="5715000" y="1066680"/>
            <a:ext cx="685800" cy="76320"/>
          </a:xfrm>
          <a:prstGeom prst="line">
            <a:avLst/>
          </a:prstGeom>
          <a:ln w="28440">
            <a:solidFill>
              <a:srgbClr val="ffffff"/>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1974" name="Text Box 18"/>
          <p:cNvSpPr/>
          <p:nvPr/>
        </p:nvSpPr>
        <p:spPr>
          <a:xfrm>
            <a:off x="5562720" y="27432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5" name="Text Box 19"/>
          <p:cNvSpPr/>
          <p:nvPr/>
        </p:nvSpPr>
        <p:spPr>
          <a:xfrm>
            <a:off x="4952880" y="289548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6" name="Text Box 20"/>
          <p:cNvSpPr/>
          <p:nvPr/>
        </p:nvSpPr>
        <p:spPr>
          <a:xfrm>
            <a:off x="6248520" y="266688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7" name="Text Box 21"/>
          <p:cNvSpPr/>
          <p:nvPr/>
        </p:nvSpPr>
        <p:spPr>
          <a:xfrm>
            <a:off x="3733920" y="34290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78" name="Line 22"/>
          <p:cNvSpPr/>
          <p:nvPr/>
        </p:nvSpPr>
        <p:spPr>
          <a:xfrm flipV="1">
            <a:off x="3886200" y="3352680"/>
            <a:ext cx="533520" cy="2080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79" name="Line 23"/>
          <p:cNvSpPr/>
          <p:nvPr/>
        </p:nvSpPr>
        <p:spPr>
          <a:xfrm flipV="1">
            <a:off x="4572000" y="3047760"/>
            <a:ext cx="53352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80" name="Line 24"/>
          <p:cNvSpPr/>
          <p:nvPr/>
        </p:nvSpPr>
        <p:spPr>
          <a:xfrm flipV="1">
            <a:off x="5181480" y="2895480"/>
            <a:ext cx="45720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81" name="Line 25"/>
          <p:cNvSpPr/>
          <p:nvPr/>
        </p:nvSpPr>
        <p:spPr>
          <a:xfrm flipV="1">
            <a:off x="5791320" y="2819160"/>
            <a:ext cx="533160" cy="75960"/>
          </a:xfrm>
          <a:prstGeom prst="line">
            <a:avLst/>
          </a:prstGeom>
          <a:ln w="28440">
            <a:solidFill>
              <a:srgbClr val="ffff00"/>
            </a:solidFill>
            <a:miter/>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1982" name="Text Box 26"/>
          <p:cNvSpPr/>
          <p:nvPr/>
        </p:nvSpPr>
        <p:spPr>
          <a:xfrm>
            <a:off x="3581280" y="198108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83" name="Text Box 27"/>
          <p:cNvSpPr/>
          <p:nvPr/>
        </p:nvSpPr>
        <p:spPr>
          <a:xfrm>
            <a:off x="4724280" y="114300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84" name="Text Box 28"/>
          <p:cNvSpPr/>
          <p:nvPr/>
        </p:nvSpPr>
        <p:spPr>
          <a:xfrm>
            <a:off x="5486400" y="99072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85" name="Text Box 29"/>
          <p:cNvSpPr/>
          <p:nvPr/>
        </p:nvSpPr>
        <p:spPr>
          <a:xfrm>
            <a:off x="6324480" y="91440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86" name="Line 30"/>
          <p:cNvSpPr/>
          <p:nvPr/>
        </p:nvSpPr>
        <p:spPr>
          <a:xfrm flipV="1">
            <a:off x="4952880" y="1143000"/>
            <a:ext cx="685800" cy="2080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87" name="Line 31"/>
          <p:cNvSpPr/>
          <p:nvPr/>
        </p:nvSpPr>
        <p:spPr>
          <a:xfrm flipV="1">
            <a:off x="3809880" y="1828440"/>
            <a:ext cx="457200" cy="30492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88" name="Line 32"/>
          <p:cNvSpPr/>
          <p:nvPr/>
        </p:nvSpPr>
        <p:spPr>
          <a:xfrm flipV="1">
            <a:off x="4343400" y="1371600"/>
            <a:ext cx="533520" cy="3808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89" name="Line 33"/>
          <p:cNvSpPr/>
          <p:nvPr/>
        </p:nvSpPr>
        <p:spPr>
          <a:xfrm flipV="1">
            <a:off x="2514600" y="2666520"/>
            <a:ext cx="609480" cy="3812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90" name="Line 34"/>
          <p:cNvSpPr/>
          <p:nvPr/>
        </p:nvSpPr>
        <p:spPr>
          <a:xfrm flipV="1">
            <a:off x="3200400" y="2209320"/>
            <a:ext cx="533520" cy="3812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91" name="Text Box 35"/>
          <p:cNvSpPr/>
          <p:nvPr/>
        </p:nvSpPr>
        <p:spPr>
          <a:xfrm>
            <a:off x="2668320" y="380880"/>
            <a:ext cx="19972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Adultes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Enfants de 8 ans</a:t>
            </a:r>
            <a:endParaRPr b="0" lang="en-US" sz="1800" strike="noStrike" u="none">
              <a:solidFill>
                <a:srgbClr val="ffff00"/>
              </a:solidFill>
              <a:effectLst/>
              <a:uFillTx/>
              <a:latin typeface="Times New Roman"/>
            </a:endParaRPr>
          </a:p>
        </p:txBody>
      </p:sp>
      <p:sp>
        <p:nvSpPr>
          <p:cNvPr id="1992" name="Text Box 36"/>
          <p:cNvSpPr/>
          <p:nvPr/>
        </p:nvSpPr>
        <p:spPr>
          <a:xfrm>
            <a:off x="2362320" y="3808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93" name="Text Box 37"/>
          <p:cNvSpPr/>
          <p:nvPr/>
        </p:nvSpPr>
        <p:spPr>
          <a:xfrm>
            <a:off x="2362320" y="6858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1994" name="Text Box 38"/>
          <p:cNvSpPr/>
          <p:nvPr/>
        </p:nvSpPr>
        <p:spPr>
          <a:xfrm>
            <a:off x="280080" y="5851440"/>
            <a:ext cx="7974720" cy="1008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Valeurs sous-maximales du volume d’éjection systolique chez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des enfants comparées à celles d’adultes, à un même niveau de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consommation d’oxygène. (d’après Wilmore et Costill, 1994) </a:t>
            </a:r>
            <a:endParaRPr b="0" lang="en-US" sz="2000" strike="noStrike" u="none">
              <a:solidFill>
                <a:srgbClr val="ffff00"/>
              </a:solidFill>
              <a:effectLst/>
              <a:uFillTx/>
              <a:latin typeface="Times New Roman"/>
            </a:endParaRPr>
          </a:p>
        </p:txBody>
      </p:sp>
      <p:sp>
        <p:nvSpPr>
          <p:cNvPr id="1995" name="Text Box 39"/>
          <p:cNvSpPr/>
          <p:nvPr/>
        </p:nvSpPr>
        <p:spPr>
          <a:xfrm>
            <a:off x="6310440" y="1371600"/>
            <a:ext cx="283356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 ’enfant et l ’adolescent</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ont un volume d ’éjection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systolique plus faible que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celui de l ’adulte.</a:t>
            </a:r>
            <a:endParaRPr b="0" lang="en-US" sz="1800" strike="noStrike" u="none">
              <a:solidFill>
                <a:srgbClr val="ffff00"/>
              </a:solidFill>
              <a:effectLst/>
              <a:uFillTx/>
              <a:latin typeface="Times New Roman"/>
            </a:endParaRPr>
          </a:p>
        </p:txBody>
      </p:sp>
    </p:spTree>
  </p:cSld>
  <p:transition spd="med">
    <p:zoom dir="out"/>
  </p:transition>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6" name="Line 2"/>
          <p:cNvSpPr/>
          <p:nvPr/>
        </p:nvSpPr>
        <p:spPr>
          <a:xfrm>
            <a:off x="2590920" y="1600200"/>
            <a:ext cx="0" cy="2666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97" name="Line 3"/>
          <p:cNvSpPr/>
          <p:nvPr/>
        </p:nvSpPr>
        <p:spPr>
          <a:xfrm>
            <a:off x="2590920" y="4495680"/>
            <a:ext cx="411480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1998" name="Text Box 4"/>
          <p:cNvSpPr/>
          <p:nvPr/>
        </p:nvSpPr>
        <p:spPr>
          <a:xfrm>
            <a:off x="1982880" y="1447920"/>
            <a:ext cx="657000" cy="28371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Times New Roman"/>
              </a:rPr>
              <a:t>200 -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Times New Roman"/>
              </a:rPr>
              <a:t>160 -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Times New Roman"/>
              </a:rPr>
              <a:t>120 -</a:t>
            </a: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Times New Roman"/>
              </a:rPr>
              <a:t>80   -</a:t>
            </a:r>
            <a:endParaRPr b="0" lang="en-US" sz="1800" strike="noStrike" u="none">
              <a:solidFill>
                <a:srgbClr val="ffff00"/>
              </a:solidFill>
              <a:effectLst/>
              <a:uFillTx/>
              <a:latin typeface="Times New Roman"/>
            </a:endParaRPr>
          </a:p>
        </p:txBody>
      </p:sp>
      <p:sp>
        <p:nvSpPr>
          <p:cNvPr id="1999" name="Text Box 7"/>
          <p:cNvSpPr/>
          <p:nvPr/>
        </p:nvSpPr>
        <p:spPr>
          <a:xfrm rot="16214400">
            <a:off x="293760" y="2527920"/>
            <a:ext cx="254376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Fréquence cardiaque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(bat/min)</a:t>
            </a:r>
            <a:endParaRPr b="0" lang="en-US" sz="1800" strike="noStrike" u="none">
              <a:solidFill>
                <a:srgbClr val="ffff00"/>
              </a:solidFill>
              <a:effectLst/>
              <a:uFillTx/>
              <a:latin typeface="Times New Roman"/>
            </a:endParaRPr>
          </a:p>
        </p:txBody>
      </p:sp>
      <p:sp>
        <p:nvSpPr>
          <p:cNvPr id="2000" name="Text Box 8"/>
          <p:cNvSpPr/>
          <p:nvPr/>
        </p:nvSpPr>
        <p:spPr>
          <a:xfrm>
            <a:off x="3732120" y="495288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2001" name="Text Box 9"/>
          <p:cNvSpPr/>
          <p:nvPr/>
        </p:nvSpPr>
        <p:spPr>
          <a:xfrm>
            <a:off x="2972520" y="4267080"/>
            <a:ext cx="373824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I                I                I                I</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0.2            0.6            1.0            1.4</a:t>
            </a:r>
            <a:endParaRPr b="0" lang="en-US" sz="1800" strike="noStrike" u="none">
              <a:solidFill>
                <a:srgbClr val="ffff00"/>
              </a:solidFill>
              <a:effectLst/>
              <a:uFillTx/>
              <a:latin typeface="Times New Roman"/>
            </a:endParaRPr>
          </a:p>
        </p:txBody>
      </p:sp>
      <p:sp>
        <p:nvSpPr>
          <p:cNvPr id="2002" name="Text Box 10"/>
          <p:cNvSpPr/>
          <p:nvPr/>
        </p:nvSpPr>
        <p:spPr>
          <a:xfrm>
            <a:off x="3048120" y="380988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03" name="Text Box 11"/>
          <p:cNvSpPr/>
          <p:nvPr/>
        </p:nvSpPr>
        <p:spPr>
          <a:xfrm>
            <a:off x="4114800" y="304812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04" name="Text Box 12"/>
          <p:cNvSpPr/>
          <p:nvPr/>
        </p:nvSpPr>
        <p:spPr>
          <a:xfrm>
            <a:off x="5257800" y="220968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05" name="Line 13"/>
          <p:cNvSpPr/>
          <p:nvPr/>
        </p:nvSpPr>
        <p:spPr>
          <a:xfrm flipV="1">
            <a:off x="3276720" y="3276360"/>
            <a:ext cx="914400" cy="685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06" name="Line 14"/>
          <p:cNvSpPr/>
          <p:nvPr/>
        </p:nvSpPr>
        <p:spPr>
          <a:xfrm flipV="1">
            <a:off x="4343400" y="2362320"/>
            <a:ext cx="1066680" cy="7617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07" name="Text Box 15"/>
          <p:cNvSpPr/>
          <p:nvPr/>
        </p:nvSpPr>
        <p:spPr>
          <a:xfrm>
            <a:off x="6324480" y="220968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08" name="Text Box 16"/>
          <p:cNvSpPr/>
          <p:nvPr/>
        </p:nvSpPr>
        <p:spPr>
          <a:xfrm>
            <a:off x="4876920" y="297180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09" name="Text Box 17"/>
          <p:cNvSpPr/>
          <p:nvPr/>
        </p:nvSpPr>
        <p:spPr>
          <a:xfrm>
            <a:off x="3048120" y="388620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10" name="Line 18"/>
          <p:cNvSpPr/>
          <p:nvPr/>
        </p:nvSpPr>
        <p:spPr>
          <a:xfrm flipV="1">
            <a:off x="3276720" y="3200400"/>
            <a:ext cx="1676160" cy="9144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11" name="Line 19"/>
          <p:cNvSpPr/>
          <p:nvPr/>
        </p:nvSpPr>
        <p:spPr>
          <a:xfrm flipV="1">
            <a:off x="5105520" y="2437920"/>
            <a:ext cx="1295280" cy="6858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12" name="Text Box 20"/>
          <p:cNvSpPr/>
          <p:nvPr/>
        </p:nvSpPr>
        <p:spPr>
          <a:xfrm>
            <a:off x="4419720" y="76212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13" name="Text Box 21"/>
          <p:cNvSpPr/>
          <p:nvPr/>
        </p:nvSpPr>
        <p:spPr>
          <a:xfrm>
            <a:off x="4419720" y="4572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14" name="Text Box 22"/>
          <p:cNvSpPr/>
          <p:nvPr/>
        </p:nvSpPr>
        <p:spPr>
          <a:xfrm>
            <a:off x="4425120" y="452520"/>
            <a:ext cx="3630600" cy="6426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9.4 ans (8-11.5 ans, n = 10)</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ff"/>
                </a:solidFill>
                <a:effectLst/>
                <a:uFillTx/>
                <a:latin typeface="Arial"/>
              </a:rPr>
              <a:t>12.8 ans (11.5-14 ans, n = 12)</a:t>
            </a:r>
            <a:endParaRPr b="0" lang="en-US" sz="1800" strike="noStrike" u="none">
              <a:solidFill>
                <a:srgbClr val="ffff00"/>
              </a:solidFill>
              <a:effectLst/>
              <a:uFillTx/>
              <a:latin typeface="Times New Roman"/>
            </a:endParaRPr>
          </a:p>
        </p:txBody>
      </p:sp>
      <p:sp>
        <p:nvSpPr>
          <p:cNvPr id="2015" name="Text Box 23"/>
          <p:cNvSpPr/>
          <p:nvPr/>
        </p:nvSpPr>
        <p:spPr>
          <a:xfrm>
            <a:off x="312840" y="5761080"/>
            <a:ext cx="8637840" cy="7038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Modifications hémodynamiques survenant au cours d’une épreuve de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Pédalage en position verticale. (D’après Mocellin et al., 1973)</a:t>
            </a:r>
            <a:endParaRPr b="0" lang="en-US" sz="2000" strike="noStrike" u="none">
              <a:solidFill>
                <a:srgbClr val="ffff00"/>
              </a:solidFill>
              <a:effectLst/>
              <a:uFillTx/>
              <a:latin typeface="Times New Roman"/>
            </a:endParaRPr>
          </a:p>
        </p:txBody>
      </p:sp>
      <p:sp>
        <p:nvSpPr>
          <p:cNvPr id="2016" name="Text Box 24"/>
          <p:cNvSpPr/>
          <p:nvPr/>
        </p:nvSpPr>
        <p:spPr>
          <a:xfrm>
            <a:off x="6005520" y="2819520"/>
            <a:ext cx="283356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 ’enfant et présente une fréquence cardiaque plus élevée que celle de l ’adolescent.</a:t>
            </a:r>
            <a:endParaRPr b="0" lang="en-US" sz="1800" strike="noStrike" u="none">
              <a:solidFill>
                <a:srgbClr val="ffff00"/>
              </a:solidFill>
              <a:effectLst/>
              <a:uFillTx/>
              <a:latin typeface="Times New Roman"/>
            </a:endParaRPr>
          </a:p>
        </p:txBody>
      </p:sp>
    </p:spTree>
  </p:cSld>
  <p:transition spd="med">
    <p:zoom dir="out"/>
  </p:transition>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7" name="Line 3"/>
          <p:cNvSpPr/>
          <p:nvPr/>
        </p:nvSpPr>
        <p:spPr>
          <a:xfrm>
            <a:off x="1523880" y="762120"/>
            <a:ext cx="0" cy="3454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18" name="Line 4"/>
          <p:cNvSpPr/>
          <p:nvPr/>
        </p:nvSpPr>
        <p:spPr>
          <a:xfrm>
            <a:off x="1523880" y="4444920"/>
            <a:ext cx="5562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19" name="Text Box 5"/>
          <p:cNvSpPr/>
          <p:nvPr/>
        </p:nvSpPr>
        <p:spPr>
          <a:xfrm>
            <a:off x="915840" y="533520"/>
            <a:ext cx="752760" cy="3660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200 -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180 -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160 -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140 -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80   -</a:t>
            </a:r>
            <a:endParaRPr b="0" lang="en-US" sz="1800" strike="noStrike" u="none">
              <a:solidFill>
                <a:srgbClr val="ffff00"/>
              </a:solidFill>
              <a:effectLst/>
              <a:uFillTx/>
              <a:latin typeface="Times New Roman"/>
            </a:endParaRPr>
          </a:p>
        </p:txBody>
      </p:sp>
      <p:sp>
        <p:nvSpPr>
          <p:cNvPr id="2020" name="Text Box 6"/>
          <p:cNvSpPr/>
          <p:nvPr/>
        </p:nvSpPr>
        <p:spPr>
          <a:xfrm rot="16214400">
            <a:off x="-721800" y="2094480"/>
            <a:ext cx="2543760" cy="642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Fréquence cardiaque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(bat/min)</a:t>
            </a:r>
            <a:endParaRPr b="0" lang="en-US" sz="1800" strike="noStrike" u="none">
              <a:solidFill>
                <a:srgbClr val="ffff00"/>
              </a:solidFill>
              <a:effectLst/>
              <a:uFillTx/>
              <a:latin typeface="Times New Roman"/>
            </a:endParaRPr>
          </a:p>
        </p:txBody>
      </p:sp>
      <p:sp>
        <p:nvSpPr>
          <p:cNvPr id="2021" name="Text Box 7"/>
          <p:cNvSpPr/>
          <p:nvPr/>
        </p:nvSpPr>
        <p:spPr>
          <a:xfrm>
            <a:off x="3503520" y="497844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2022" name="Text Box 8"/>
          <p:cNvSpPr/>
          <p:nvPr/>
        </p:nvSpPr>
        <p:spPr>
          <a:xfrm>
            <a:off x="1891080" y="4267080"/>
            <a:ext cx="49366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  I         I            I          I           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0.5            1.0            1.5            2.0             2.5</a:t>
            </a:r>
            <a:endParaRPr b="0" lang="en-US" sz="1800" strike="noStrike" u="none">
              <a:solidFill>
                <a:srgbClr val="ffff00"/>
              </a:solidFill>
              <a:effectLst/>
              <a:uFillTx/>
              <a:latin typeface="Times New Roman"/>
            </a:endParaRPr>
          </a:p>
        </p:txBody>
      </p:sp>
      <p:sp>
        <p:nvSpPr>
          <p:cNvPr id="2023" name="Text Box 9"/>
          <p:cNvSpPr/>
          <p:nvPr/>
        </p:nvSpPr>
        <p:spPr>
          <a:xfrm>
            <a:off x="2362320" y="320040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24" name="Text Box 10"/>
          <p:cNvSpPr/>
          <p:nvPr/>
        </p:nvSpPr>
        <p:spPr>
          <a:xfrm>
            <a:off x="3124080" y="274320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25" name="Text Box 11"/>
          <p:cNvSpPr/>
          <p:nvPr/>
        </p:nvSpPr>
        <p:spPr>
          <a:xfrm>
            <a:off x="4343400" y="198108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26" name="Line 12"/>
          <p:cNvSpPr/>
          <p:nvPr/>
        </p:nvSpPr>
        <p:spPr>
          <a:xfrm flipV="1">
            <a:off x="2590920" y="2895480"/>
            <a:ext cx="68580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27" name="Line 13"/>
          <p:cNvSpPr/>
          <p:nvPr/>
        </p:nvSpPr>
        <p:spPr>
          <a:xfrm flipV="1">
            <a:off x="3352680" y="2514600"/>
            <a:ext cx="533520" cy="3556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28" name="Text Box 14"/>
          <p:cNvSpPr/>
          <p:nvPr/>
        </p:nvSpPr>
        <p:spPr>
          <a:xfrm>
            <a:off x="4267080" y="289548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29" name="Text Box 15"/>
          <p:cNvSpPr/>
          <p:nvPr/>
        </p:nvSpPr>
        <p:spPr>
          <a:xfrm>
            <a:off x="3048120" y="342900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30" name="Text Box 16"/>
          <p:cNvSpPr/>
          <p:nvPr/>
        </p:nvSpPr>
        <p:spPr>
          <a:xfrm>
            <a:off x="2362320" y="35812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31" name="Line 18"/>
          <p:cNvSpPr/>
          <p:nvPr/>
        </p:nvSpPr>
        <p:spPr>
          <a:xfrm flipV="1">
            <a:off x="5791320" y="2057040"/>
            <a:ext cx="533160" cy="30492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32" name="Text Box 19"/>
          <p:cNvSpPr/>
          <p:nvPr/>
        </p:nvSpPr>
        <p:spPr>
          <a:xfrm>
            <a:off x="5562720" y="99072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33" name="Text Box 20"/>
          <p:cNvSpPr/>
          <p:nvPr/>
        </p:nvSpPr>
        <p:spPr>
          <a:xfrm>
            <a:off x="4952880" y="152388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34" name="Text Box 21"/>
          <p:cNvSpPr/>
          <p:nvPr/>
        </p:nvSpPr>
        <p:spPr>
          <a:xfrm>
            <a:off x="6324480" y="45720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35" name="Text Box 23"/>
          <p:cNvSpPr/>
          <p:nvPr/>
        </p:nvSpPr>
        <p:spPr>
          <a:xfrm>
            <a:off x="3733920" y="236232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36" name="Line 25"/>
          <p:cNvSpPr/>
          <p:nvPr/>
        </p:nvSpPr>
        <p:spPr>
          <a:xfrm flipV="1">
            <a:off x="3886200" y="2133720"/>
            <a:ext cx="60948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37" name="Line 28"/>
          <p:cNvSpPr/>
          <p:nvPr/>
        </p:nvSpPr>
        <p:spPr>
          <a:xfrm flipV="1">
            <a:off x="4572000" y="1676520"/>
            <a:ext cx="53352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38" name="Line 29"/>
          <p:cNvSpPr/>
          <p:nvPr/>
        </p:nvSpPr>
        <p:spPr>
          <a:xfrm flipV="1">
            <a:off x="5181480" y="1219320"/>
            <a:ext cx="45720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39" name="Line 30"/>
          <p:cNvSpPr/>
          <p:nvPr/>
        </p:nvSpPr>
        <p:spPr>
          <a:xfrm flipV="1">
            <a:off x="5791320" y="609480"/>
            <a:ext cx="685800" cy="5335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40" name="Text Box 31"/>
          <p:cNvSpPr/>
          <p:nvPr/>
        </p:nvSpPr>
        <p:spPr>
          <a:xfrm>
            <a:off x="3657600" y="31240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41" name="Text Box 32"/>
          <p:cNvSpPr/>
          <p:nvPr/>
        </p:nvSpPr>
        <p:spPr>
          <a:xfrm>
            <a:off x="4952880" y="251460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42" name="Text Box 33"/>
          <p:cNvSpPr/>
          <p:nvPr/>
        </p:nvSpPr>
        <p:spPr>
          <a:xfrm>
            <a:off x="5562720" y="22096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43" name="Text Box 34"/>
          <p:cNvSpPr/>
          <p:nvPr/>
        </p:nvSpPr>
        <p:spPr>
          <a:xfrm>
            <a:off x="6172200" y="182880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44" name="Line 35"/>
          <p:cNvSpPr/>
          <p:nvPr/>
        </p:nvSpPr>
        <p:spPr>
          <a:xfrm flipV="1">
            <a:off x="5181480" y="2437920"/>
            <a:ext cx="457200" cy="2286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45" name="Line 38"/>
          <p:cNvSpPr/>
          <p:nvPr/>
        </p:nvSpPr>
        <p:spPr>
          <a:xfrm flipV="1">
            <a:off x="3886200" y="3124080"/>
            <a:ext cx="457200" cy="1526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46" name="Line 39"/>
          <p:cNvSpPr/>
          <p:nvPr/>
        </p:nvSpPr>
        <p:spPr>
          <a:xfrm flipV="1">
            <a:off x="4495680" y="2742840"/>
            <a:ext cx="609840" cy="30492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47" name="Line 40"/>
          <p:cNvSpPr/>
          <p:nvPr/>
        </p:nvSpPr>
        <p:spPr>
          <a:xfrm flipV="1">
            <a:off x="2590920" y="3657600"/>
            <a:ext cx="533160" cy="76320"/>
          </a:xfrm>
          <a:prstGeom prst="line">
            <a:avLst/>
          </a:prstGeom>
          <a:ln w="28440">
            <a:solidFill>
              <a:srgbClr val="ffffff"/>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2048" name="Line 41"/>
          <p:cNvSpPr/>
          <p:nvPr/>
        </p:nvSpPr>
        <p:spPr>
          <a:xfrm flipV="1">
            <a:off x="3276720" y="3352320"/>
            <a:ext cx="533160" cy="2286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49" name="Text Box 42"/>
          <p:cNvSpPr/>
          <p:nvPr/>
        </p:nvSpPr>
        <p:spPr>
          <a:xfrm>
            <a:off x="2805120" y="493560"/>
            <a:ext cx="19972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Enfants de 8 ans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Adultes</a:t>
            </a:r>
            <a:endParaRPr b="0" lang="en-US" sz="1800" strike="noStrike" u="none">
              <a:solidFill>
                <a:srgbClr val="ffff00"/>
              </a:solidFill>
              <a:effectLst/>
              <a:uFillTx/>
              <a:latin typeface="Times New Roman"/>
            </a:endParaRPr>
          </a:p>
        </p:txBody>
      </p:sp>
      <p:sp>
        <p:nvSpPr>
          <p:cNvPr id="2050" name="Text Box 43"/>
          <p:cNvSpPr/>
          <p:nvPr/>
        </p:nvSpPr>
        <p:spPr>
          <a:xfrm>
            <a:off x="2438280" y="76212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51" name="Text Box 44"/>
          <p:cNvSpPr/>
          <p:nvPr/>
        </p:nvSpPr>
        <p:spPr>
          <a:xfrm>
            <a:off x="2438280" y="53352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052" name="Text Box 45"/>
          <p:cNvSpPr/>
          <p:nvPr/>
        </p:nvSpPr>
        <p:spPr>
          <a:xfrm>
            <a:off x="104400" y="5635800"/>
            <a:ext cx="8554680" cy="1008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Valeurs sous-maximales de la fréquence cardiaque chez des enfants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comparées à celles d’adultes, à un même niveau de consommation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d’oxygène. (d’après Wilmore et Costill, 1994) </a:t>
            </a:r>
            <a:endParaRPr b="0" lang="en-US" sz="2000" strike="noStrike" u="none">
              <a:solidFill>
                <a:srgbClr val="ffff00"/>
              </a:solidFill>
              <a:effectLst/>
              <a:uFillTx/>
              <a:latin typeface="Times New Roman"/>
            </a:endParaRPr>
          </a:p>
        </p:txBody>
      </p:sp>
      <p:sp>
        <p:nvSpPr>
          <p:cNvPr id="2053" name="Text Box 46"/>
          <p:cNvSpPr/>
          <p:nvPr/>
        </p:nvSpPr>
        <p:spPr>
          <a:xfrm>
            <a:off x="6462720" y="2514600"/>
            <a:ext cx="2681280" cy="1465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 une  intensité donnée la fréquence cardiaque de l’enfant est beaucoup plus élevée que celle de l’adulte</a:t>
            </a:r>
            <a:endParaRPr b="0" lang="en-US" sz="1800" strike="noStrike" u="none">
              <a:solidFill>
                <a:srgbClr val="ffff00"/>
              </a:solidFill>
              <a:effectLst/>
              <a:uFillTx/>
              <a:latin typeface="Times New Roman"/>
            </a:endParaRPr>
          </a:p>
        </p:txBody>
      </p:sp>
    </p:spTree>
  </p:cSld>
  <p:transition spd="med">
    <p:zoom dir="out"/>
  </p:transition>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4" name="Text Box 2"/>
          <p:cNvSpPr/>
          <p:nvPr/>
        </p:nvSpPr>
        <p:spPr>
          <a:xfrm>
            <a:off x="2119320" y="2403360"/>
            <a:ext cx="2570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 </a:t>
            </a:r>
            <a:endParaRPr b="0" lang="en-US" sz="2400" strike="noStrike" u="none">
              <a:solidFill>
                <a:srgbClr val="ffff00"/>
              </a:solidFill>
              <a:effectLst/>
              <a:uFillTx/>
              <a:latin typeface="Times New Roman"/>
            </a:endParaRPr>
          </a:p>
        </p:txBody>
      </p:sp>
      <p:grpSp>
        <p:nvGrpSpPr>
          <p:cNvPr id="2055" name="Group 3"/>
          <p:cNvGrpSpPr/>
          <p:nvPr/>
        </p:nvGrpSpPr>
        <p:grpSpPr>
          <a:xfrm>
            <a:off x="990720" y="0"/>
            <a:ext cx="6781680" cy="6208560"/>
            <a:chOff x="990720" y="0"/>
            <a:chExt cx="6781680" cy="6208560"/>
          </a:xfrm>
        </p:grpSpPr>
        <p:pic>
          <p:nvPicPr>
            <p:cNvPr id="2056" name="Picture 4" descr=""/>
            <p:cNvPicPr/>
            <p:nvPr/>
          </p:nvPicPr>
          <p:blipFill>
            <a:blip r:embed="rId1"/>
            <a:stretch/>
          </p:blipFill>
          <p:spPr>
            <a:xfrm>
              <a:off x="990720" y="0"/>
              <a:ext cx="6781680" cy="777960"/>
            </a:xfrm>
            <a:prstGeom prst="rect">
              <a:avLst/>
            </a:prstGeom>
            <a:noFill/>
            <a:ln w="0">
              <a:noFill/>
            </a:ln>
          </p:spPr>
        </p:pic>
        <p:pic>
          <p:nvPicPr>
            <p:cNvPr id="2057" name="Picture 5" descr=""/>
            <p:cNvPicPr/>
            <p:nvPr/>
          </p:nvPicPr>
          <p:blipFill>
            <a:blip r:embed="rId2"/>
            <a:stretch/>
          </p:blipFill>
          <p:spPr>
            <a:xfrm>
              <a:off x="990720" y="777960"/>
              <a:ext cx="6781680" cy="777960"/>
            </a:xfrm>
            <a:prstGeom prst="rect">
              <a:avLst/>
            </a:prstGeom>
            <a:noFill/>
            <a:ln w="0">
              <a:noFill/>
            </a:ln>
          </p:spPr>
        </p:pic>
        <p:pic>
          <p:nvPicPr>
            <p:cNvPr id="2058" name="Picture 6" descr=""/>
            <p:cNvPicPr/>
            <p:nvPr/>
          </p:nvPicPr>
          <p:blipFill>
            <a:blip r:embed="rId3"/>
            <a:stretch/>
          </p:blipFill>
          <p:spPr>
            <a:xfrm>
              <a:off x="990720" y="1555920"/>
              <a:ext cx="6781680" cy="777600"/>
            </a:xfrm>
            <a:prstGeom prst="rect">
              <a:avLst/>
            </a:prstGeom>
            <a:noFill/>
            <a:ln w="0">
              <a:noFill/>
            </a:ln>
          </p:spPr>
        </p:pic>
        <p:pic>
          <p:nvPicPr>
            <p:cNvPr id="2059" name="Picture 7" descr=""/>
            <p:cNvPicPr/>
            <p:nvPr/>
          </p:nvPicPr>
          <p:blipFill>
            <a:blip r:embed="rId4"/>
            <a:stretch/>
          </p:blipFill>
          <p:spPr>
            <a:xfrm>
              <a:off x="990720" y="2333520"/>
              <a:ext cx="6781680" cy="779400"/>
            </a:xfrm>
            <a:prstGeom prst="rect">
              <a:avLst/>
            </a:prstGeom>
            <a:noFill/>
            <a:ln w="0">
              <a:noFill/>
            </a:ln>
          </p:spPr>
        </p:pic>
        <p:pic>
          <p:nvPicPr>
            <p:cNvPr id="2060" name="Picture 8" descr=""/>
            <p:cNvPicPr/>
            <p:nvPr/>
          </p:nvPicPr>
          <p:blipFill>
            <a:blip r:embed="rId5"/>
            <a:stretch/>
          </p:blipFill>
          <p:spPr>
            <a:xfrm>
              <a:off x="990720" y="3112920"/>
              <a:ext cx="6781680" cy="777960"/>
            </a:xfrm>
            <a:prstGeom prst="rect">
              <a:avLst/>
            </a:prstGeom>
            <a:noFill/>
            <a:ln w="0">
              <a:noFill/>
            </a:ln>
          </p:spPr>
        </p:pic>
        <p:pic>
          <p:nvPicPr>
            <p:cNvPr id="2061" name="Picture 9" descr=""/>
            <p:cNvPicPr/>
            <p:nvPr/>
          </p:nvPicPr>
          <p:blipFill>
            <a:blip r:embed="rId6"/>
            <a:stretch/>
          </p:blipFill>
          <p:spPr>
            <a:xfrm>
              <a:off x="990720" y="3890880"/>
              <a:ext cx="6781680" cy="777960"/>
            </a:xfrm>
            <a:prstGeom prst="rect">
              <a:avLst/>
            </a:prstGeom>
            <a:noFill/>
            <a:ln w="0">
              <a:noFill/>
            </a:ln>
          </p:spPr>
        </p:pic>
        <p:pic>
          <p:nvPicPr>
            <p:cNvPr id="2062" name="Picture 10" descr=""/>
            <p:cNvPicPr/>
            <p:nvPr/>
          </p:nvPicPr>
          <p:blipFill>
            <a:blip r:embed="rId7"/>
            <a:stretch/>
          </p:blipFill>
          <p:spPr>
            <a:xfrm>
              <a:off x="990720" y="4668840"/>
              <a:ext cx="6781680" cy="777960"/>
            </a:xfrm>
            <a:prstGeom prst="rect">
              <a:avLst/>
            </a:prstGeom>
            <a:noFill/>
            <a:ln w="0">
              <a:noFill/>
            </a:ln>
          </p:spPr>
        </p:pic>
        <p:pic>
          <p:nvPicPr>
            <p:cNvPr id="2063" name="Picture 11" descr=""/>
            <p:cNvPicPr/>
            <p:nvPr/>
          </p:nvPicPr>
          <p:blipFill>
            <a:blip r:embed="rId8"/>
            <a:stretch/>
          </p:blipFill>
          <p:spPr>
            <a:xfrm>
              <a:off x="990720" y="5446800"/>
              <a:ext cx="6781680" cy="761760"/>
            </a:xfrm>
            <a:prstGeom prst="rect">
              <a:avLst/>
            </a:prstGeom>
            <a:noFill/>
            <a:ln w="0">
              <a:noFill/>
            </a:ln>
          </p:spPr>
        </p:pic>
      </p:grpSp>
      <p:sp>
        <p:nvSpPr>
          <p:cNvPr id="2064" name="Rectangle 12"/>
          <p:cNvSpPr/>
          <p:nvPr/>
        </p:nvSpPr>
        <p:spPr>
          <a:xfrm>
            <a:off x="4114800" y="533520"/>
            <a:ext cx="2760840" cy="76680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65" name="Rectangle 13"/>
          <p:cNvSpPr/>
          <p:nvPr/>
        </p:nvSpPr>
        <p:spPr>
          <a:xfrm>
            <a:off x="4356360" y="668160"/>
            <a:ext cx="233316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Y = 205 - 0.67X,   n = 184</a:t>
            </a:r>
            <a:endParaRPr b="0" lang="en-US" sz="1600" strike="noStrike" u="none">
              <a:solidFill>
                <a:srgbClr val="ffff00"/>
              </a:solidFill>
              <a:effectLst/>
              <a:uFillTx/>
              <a:latin typeface="Times New Roman"/>
            </a:endParaRPr>
          </a:p>
        </p:txBody>
      </p:sp>
      <p:sp>
        <p:nvSpPr>
          <p:cNvPr id="2066" name="Rectangle 14"/>
          <p:cNvSpPr/>
          <p:nvPr/>
        </p:nvSpPr>
        <p:spPr>
          <a:xfrm>
            <a:off x="4552200" y="906480"/>
            <a:ext cx="87408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r = 0.66,  </a:t>
            </a:r>
            <a:endParaRPr b="0" lang="en-US" sz="1600" strike="noStrike" u="none">
              <a:solidFill>
                <a:srgbClr val="ffff00"/>
              </a:solidFill>
              <a:effectLst/>
              <a:uFillTx/>
              <a:latin typeface="Times New Roman"/>
            </a:endParaRPr>
          </a:p>
        </p:txBody>
      </p:sp>
      <p:sp>
        <p:nvSpPr>
          <p:cNvPr id="2067" name="Rectangle 15"/>
          <p:cNvSpPr/>
          <p:nvPr/>
        </p:nvSpPr>
        <p:spPr>
          <a:xfrm>
            <a:off x="5388120" y="906480"/>
            <a:ext cx="41760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 Syx</a:t>
            </a:r>
            <a:endParaRPr b="0" lang="en-US" sz="1600" strike="noStrike" u="none">
              <a:solidFill>
                <a:srgbClr val="ffff00"/>
              </a:solidFill>
              <a:effectLst/>
              <a:uFillTx/>
              <a:latin typeface="Times New Roman"/>
            </a:endParaRPr>
          </a:p>
        </p:txBody>
      </p:sp>
      <p:sp>
        <p:nvSpPr>
          <p:cNvPr id="2068" name="Rectangle 16"/>
          <p:cNvSpPr/>
          <p:nvPr/>
        </p:nvSpPr>
        <p:spPr>
          <a:xfrm>
            <a:off x="5789160" y="906480"/>
            <a:ext cx="62604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 = 9.52</a:t>
            </a:r>
            <a:endParaRPr b="0" lang="en-US" sz="1600" strike="noStrike" u="none">
              <a:solidFill>
                <a:srgbClr val="ffff00"/>
              </a:solidFill>
              <a:effectLst/>
              <a:uFillTx/>
              <a:latin typeface="Times New Roman"/>
            </a:endParaRPr>
          </a:p>
        </p:txBody>
      </p:sp>
      <p:sp>
        <p:nvSpPr>
          <p:cNvPr id="2069" name="Rectangle 17"/>
          <p:cNvSpPr/>
          <p:nvPr/>
        </p:nvSpPr>
        <p:spPr>
          <a:xfrm rot="16080000">
            <a:off x="543960" y="3102480"/>
            <a:ext cx="273708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FREQUENCE CARDIAQUE  (</a:t>
            </a:r>
            <a:endParaRPr b="0" lang="en-US" sz="1600" strike="noStrike" u="none">
              <a:solidFill>
                <a:srgbClr val="ffff00"/>
              </a:solidFill>
              <a:effectLst/>
              <a:uFillTx/>
              <a:latin typeface="Times New Roman"/>
            </a:endParaRPr>
          </a:p>
        </p:txBody>
      </p:sp>
      <p:sp>
        <p:nvSpPr>
          <p:cNvPr id="2070" name="Rectangle 18"/>
          <p:cNvSpPr/>
          <p:nvPr/>
        </p:nvSpPr>
        <p:spPr>
          <a:xfrm rot="16080000">
            <a:off x="1687320" y="1565640"/>
            <a:ext cx="42840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batt </a:t>
            </a:r>
            <a:endParaRPr b="0" lang="en-US" sz="1600" strike="noStrike" u="none">
              <a:solidFill>
                <a:srgbClr val="ffff00"/>
              </a:solidFill>
              <a:effectLst/>
              <a:uFillTx/>
              <a:latin typeface="Times New Roman"/>
            </a:endParaRPr>
          </a:p>
        </p:txBody>
      </p:sp>
      <p:sp>
        <p:nvSpPr>
          <p:cNvPr id="2071" name="Rectangle 19"/>
          <p:cNvSpPr/>
          <p:nvPr/>
        </p:nvSpPr>
        <p:spPr>
          <a:xfrm rot="16080000">
            <a:off x="1714680" y="1182960"/>
            <a:ext cx="36108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min</a:t>
            </a:r>
            <a:endParaRPr b="0" lang="en-US" sz="1600" strike="noStrike" u="none">
              <a:solidFill>
                <a:srgbClr val="ffff00"/>
              </a:solidFill>
              <a:effectLst/>
              <a:uFillTx/>
              <a:latin typeface="Times New Roman"/>
            </a:endParaRPr>
          </a:p>
        </p:txBody>
      </p:sp>
      <p:sp>
        <p:nvSpPr>
          <p:cNvPr id="2072" name="Rectangle 20"/>
          <p:cNvSpPr/>
          <p:nvPr/>
        </p:nvSpPr>
        <p:spPr>
          <a:xfrm rot="16080000">
            <a:off x="1797840" y="1000440"/>
            <a:ext cx="11304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000000"/>
                </a:solidFill>
                <a:effectLst/>
                <a:uFillTx/>
                <a:latin typeface="Arial"/>
              </a:rPr>
              <a:t>-1</a:t>
            </a:r>
            <a:endParaRPr b="0" lang="en-US" sz="1000" strike="noStrike" u="none">
              <a:solidFill>
                <a:srgbClr val="ffff00"/>
              </a:solidFill>
              <a:effectLst/>
              <a:uFillTx/>
              <a:latin typeface="Times New Roman"/>
            </a:endParaRPr>
          </a:p>
        </p:txBody>
      </p:sp>
      <p:sp>
        <p:nvSpPr>
          <p:cNvPr id="2073" name="Rectangle 21"/>
          <p:cNvSpPr/>
          <p:nvPr/>
        </p:nvSpPr>
        <p:spPr>
          <a:xfrm rot="16080000">
            <a:off x="1857600" y="864000"/>
            <a:ext cx="6804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a:t>
            </a:r>
            <a:endParaRPr b="0" lang="en-US" sz="1600" strike="noStrike" u="none">
              <a:solidFill>
                <a:srgbClr val="ffff00"/>
              </a:solidFill>
              <a:effectLst/>
              <a:uFillTx/>
              <a:latin typeface="Times New Roman"/>
            </a:endParaRPr>
          </a:p>
        </p:txBody>
      </p:sp>
      <p:sp>
        <p:nvSpPr>
          <p:cNvPr id="2074" name="Rectangle 22"/>
          <p:cNvSpPr/>
          <p:nvPr/>
        </p:nvSpPr>
        <p:spPr>
          <a:xfrm>
            <a:off x="2719440" y="430200"/>
            <a:ext cx="63360" cy="4861080"/>
          </a:xfrm>
          <a:prstGeom prst="rect">
            <a:avLst/>
          </a:prstGeom>
          <a:solidFill>
            <a:srgbClr val="00000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75" name="Rectangle 23"/>
          <p:cNvSpPr/>
          <p:nvPr/>
        </p:nvSpPr>
        <p:spPr>
          <a:xfrm>
            <a:off x="2751120" y="398520"/>
            <a:ext cx="4433760" cy="63360"/>
          </a:xfrm>
          <a:prstGeom prst="rect">
            <a:avLst/>
          </a:prstGeom>
          <a:solidFill>
            <a:srgbClr val="000000"/>
          </a:solidFill>
          <a:ln w="0">
            <a:noFill/>
          </a:ln>
        </p:spPr>
        <p:style>
          <a:lnRef idx="0"/>
          <a:fillRef idx="0"/>
          <a:effectRef idx="0"/>
          <a:fontRef idx="minor"/>
        </p:style>
        <p:txBody>
          <a:bodyPr lIns="90000" rIns="90000" tIns="16560" bIns="16560" anchor="t">
            <a:noAutofit/>
          </a:bodyPr>
          <a:p>
            <a:endParaRPr b="0" lang="en-US" sz="2400" strike="noStrike" u="none">
              <a:solidFill>
                <a:srgbClr val="ffff00"/>
              </a:solidFill>
              <a:effectLst/>
              <a:uFillTx/>
              <a:latin typeface="Times New Roman"/>
            </a:endParaRPr>
          </a:p>
        </p:txBody>
      </p:sp>
      <p:sp>
        <p:nvSpPr>
          <p:cNvPr id="2076" name="Freeform 24"/>
          <p:cNvSpPr/>
          <p:nvPr/>
        </p:nvSpPr>
        <p:spPr>
          <a:xfrm>
            <a:off x="7162920" y="380880"/>
            <a:ext cx="75960" cy="4876920"/>
          </a:xfrm>
          <a:custGeom>
            <a:avLst/>
            <a:gdLst>
              <a:gd name="GluePoint1X" fmla="*/ 2147483647 w 92"/>
              <a:gd name="GluePoint1Y" fmla="*/ 0 h 3063"/>
              <a:gd name="GluePoint2X" fmla="*/ 0 w 92"/>
              <a:gd name="GluePoint2Y" fmla="*/ 2147483647 h 3063"/>
              <a:gd name="GluePoint3X" fmla="*/ 2147483647 w 92"/>
              <a:gd name="GluePoint3Y" fmla="*/ 2147483647 h 3063"/>
              <a:gd name="GluePoint4X" fmla="*/ 2147483647 w 92"/>
              <a:gd name="GluePoint4Y" fmla="*/ 2147483647 h 3063"/>
              <a:gd name="GluePoint5X" fmla="*/ 2147483647 w 92"/>
              <a:gd name="GluePoint5Y" fmla="*/ 0 h 3063"/>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92" h="3063">
                <a:moveTo>
                  <a:pt x="40" y="0"/>
                </a:moveTo>
                <a:lnTo>
                  <a:pt x="0" y="1"/>
                </a:lnTo>
                <a:lnTo>
                  <a:pt x="53" y="3063"/>
                </a:lnTo>
                <a:lnTo>
                  <a:pt x="92" y="3062"/>
                </a:lnTo>
                <a:lnTo>
                  <a:pt x="40"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77" name="Rectangle 25"/>
          <p:cNvSpPr/>
          <p:nvPr/>
        </p:nvSpPr>
        <p:spPr>
          <a:xfrm>
            <a:off x="2751120" y="5259240"/>
            <a:ext cx="4518000" cy="63720"/>
          </a:xfrm>
          <a:prstGeom prst="rect">
            <a:avLst/>
          </a:prstGeom>
          <a:solidFill>
            <a:srgbClr val="000000"/>
          </a:solidFill>
          <a:ln w="0">
            <a:noFill/>
          </a:ln>
        </p:spPr>
        <p:style>
          <a:lnRef idx="0"/>
          <a:fillRef idx="0"/>
          <a:effectRef idx="0"/>
          <a:fontRef idx="minor"/>
        </p:style>
        <p:txBody>
          <a:bodyPr lIns="90000" rIns="90000" tIns="16920" bIns="16920" anchor="t">
            <a:noAutofit/>
          </a:bodyPr>
          <a:p>
            <a:endParaRPr b="0" lang="en-US" sz="2400" strike="noStrike" u="none">
              <a:solidFill>
                <a:srgbClr val="ffff00"/>
              </a:solidFill>
              <a:effectLst/>
              <a:uFillTx/>
              <a:latin typeface="Times New Roman"/>
            </a:endParaRPr>
          </a:p>
        </p:txBody>
      </p:sp>
      <p:sp>
        <p:nvSpPr>
          <p:cNvPr id="2078" name="Rectangle 26"/>
          <p:cNvSpPr/>
          <p:nvPr/>
        </p:nvSpPr>
        <p:spPr>
          <a:xfrm>
            <a:off x="4424400" y="5802480"/>
            <a:ext cx="1220760" cy="37908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79" name="Rectangle 27"/>
          <p:cNvSpPr/>
          <p:nvPr/>
        </p:nvSpPr>
        <p:spPr>
          <a:xfrm>
            <a:off x="4571640" y="4952880"/>
            <a:ext cx="1042200" cy="2746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AGE  (an)</a:t>
            </a:r>
            <a:endParaRPr b="0" lang="en-US" sz="1800" strike="noStrike" u="none">
              <a:solidFill>
                <a:srgbClr val="ffff00"/>
              </a:solidFill>
              <a:effectLst/>
              <a:uFillTx/>
              <a:latin typeface="Times New Roman"/>
            </a:endParaRPr>
          </a:p>
        </p:txBody>
      </p:sp>
      <p:sp>
        <p:nvSpPr>
          <p:cNvPr id="2080" name="Rectangle 28"/>
          <p:cNvSpPr/>
          <p:nvPr/>
        </p:nvSpPr>
        <p:spPr>
          <a:xfrm>
            <a:off x="2900520" y="4676760"/>
            <a:ext cx="1614240" cy="37800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81" name="Rectangle 29"/>
          <p:cNvSpPr/>
          <p:nvPr/>
        </p:nvSpPr>
        <p:spPr>
          <a:xfrm>
            <a:off x="3001680" y="4738680"/>
            <a:ext cx="1448640" cy="2746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ERGOCYCLE</a:t>
            </a:r>
            <a:endParaRPr b="0" lang="en-US" sz="1800" strike="noStrike" u="none">
              <a:solidFill>
                <a:srgbClr val="ffff00"/>
              </a:solidFill>
              <a:effectLst/>
              <a:uFillTx/>
              <a:latin typeface="Times New Roman"/>
            </a:endParaRPr>
          </a:p>
        </p:txBody>
      </p:sp>
      <p:sp>
        <p:nvSpPr>
          <p:cNvPr id="2082" name="Freeform 30"/>
          <p:cNvSpPr/>
          <p:nvPr/>
        </p:nvSpPr>
        <p:spPr>
          <a:xfrm>
            <a:off x="2736720" y="1768320"/>
            <a:ext cx="4546800" cy="2443320"/>
          </a:xfrm>
          <a:custGeom>
            <a:avLst/>
            <a:gdLst>
              <a:gd name="GluePoint1X" fmla="*/ 2147483647 w 2864"/>
              <a:gd name="GluePoint1Y" fmla="*/ 0 h 1539"/>
              <a:gd name="GluePoint2X" fmla="*/ 0 w 2864"/>
              <a:gd name="GluePoint2Y" fmla="*/ 2147483647 h 1539"/>
              <a:gd name="GluePoint3X" fmla="*/ 2147483647 w 2864"/>
              <a:gd name="GluePoint3Y" fmla="*/ 2147483647 h 1539"/>
              <a:gd name="GluePoint4X" fmla="*/ 2147483647 w 2864"/>
              <a:gd name="GluePoint4Y" fmla="*/ 2147483647 h 1539"/>
              <a:gd name="GluePoint5X" fmla="*/ 2147483647 w 2864"/>
              <a:gd name="GluePoint5Y" fmla="*/ 0 h 1539"/>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864" h="1539">
                <a:moveTo>
                  <a:pt x="19" y="0"/>
                </a:moveTo>
                <a:lnTo>
                  <a:pt x="0" y="34"/>
                </a:lnTo>
                <a:lnTo>
                  <a:pt x="2846" y="1539"/>
                </a:lnTo>
                <a:lnTo>
                  <a:pt x="2864" y="1504"/>
                </a:lnTo>
                <a:lnTo>
                  <a:pt x="19" y="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83" name="Line 31"/>
          <p:cNvSpPr/>
          <p:nvPr/>
        </p:nvSpPr>
        <p:spPr>
          <a:xfrm>
            <a:off x="2743200" y="762120"/>
            <a:ext cx="4419720" cy="2209680"/>
          </a:xfrm>
          <a:prstGeom prst="line">
            <a:avLst/>
          </a:prstGeom>
          <a:ln w="9360">
            <a:solidFill>
              <a:srgbClr val="3333cc"/>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084" name="Line 32"/>
          <p:cNvSpPr/>
          <p:nvPr/>
        </p:nvSpPr>
        <p:spPr>
          <a:xfrm>
            <a:off x="2743200" y="2971800"/>
            <a:ext cx="4495680" cy="2286000"/>
          </a:xfrm>
          <a:prstGeom prst="line">
            <a:avLst/>
          </a:prstGeom>
          <a:ln w="9360">
            <a:solidFill>
              <a:srgbClr val="3333cc"/>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085" name="Line 33"/>
          <p:cNvSpPr/>
          <p:nvPr/>
        </p:nvSpPr>
        <p:spPr>
          <a:xfrm flipH="1">
            <a:off x="2743200" y="2133720"/>
            <a:ext cx="3733920" cy="0"/>
          </a:xfrm>
          <a:prstGeom prst="line">
            <a:avLst/>
          </a:prstGeom>
          <a:ln w="38160">
            <a:solidFill>
              <a:srgbClr val="3333cc"/>
            </a:solidFill>
            <a:prstDash val="sysDot"/>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086" name="Line 34"/>
          <p:cNvSpPr/>
          <p:nvPr/>
        </p:nvSpPr>
        <p:spPr>
          <a:xfrm>
            <a:off x="6477120" y="2133720"/>
            <a:ext cx="0" cy="3124080"/>
          </a:xfrm>
          <a:prstGeom prst="line">
            <a:avLst/>
          </a:prstGeom>
          <a:ln w="38160">
            <a:solidFill>
              <a:srgbClr val="ff0000"/>
            </a:solidFill>
            <a:prstDash val="sysDot"/>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087" name="Line 35"/>
          <p:cNvSpPr/>
          <p:nvPr/>
        </p:nvSpPr>
        <p:spPr>
          <a:xfrm flipH="1">
            <a:off x="2743200" y="685800"/>
            <a:ext cx="838080" cy="0"/>
          </a:xfrm>
          <a:prstGeom prst="line">
            <a:avLst/>
          </a:prstGeom>
          <a:ln w="38160">
            <a:solidFill>
              <a:srgbClr val="ff0000"/>
            </a:solidFill>
            <a:prstDash val="sysDot"/>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088" name="Line 36"/>
          <p:cNvSpPr/>
          <p:nvPr/>
        </p:nvSpPr>
        <p:spPr>
          <a:xfrm>
            <a:off x="3581280" y="685800"/>
            <a:ext cx="0" cy="4572000"/>
          </a:xfrm>
          <a:prstGeom prst="line">
            <a:avLst/>
          </a:prstGeom>
          <a:ln w="38160">
            <a:solidFill>
              <a:srgbClr val="ff0000"/>
            </a:solidFill>
            <a:prstDash val="sysDot"/>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089" name="Text Box 37"/>
          <p:cNvSpPr/>
          <p:nvPr/>
        </p:nvSpPr>
        <p:spPr>
          <a:xfrm>
            <a:off x="256320" y="5942160"/>
            <a:ext cx="8631360" cy="916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Fréqu</a:t>
            </a:r>
            <a:r>
              <a:rPr b="0" lang="fr-FR" sz="1800" strike="noStrike" u="none">
                <a:solidFill>
                  <a:srgbClr val="000000"/>
                </a:solidFill>
                <a:effectLst/>
                <a:uFillTx/>
                <a:latin typeface="Arial"/>
              </a:rPr>
              <a:t>ence cardiaque maximale en fonction de l’âge chez l’enfant,  l’adole</a:t>
            </a:r>
            <a:r>
              <a:rPr b="0" lang="fr-FR" sz="1800" strike="noStrike" u="none">
                <a:solidFill>
                  <a:srgbClr val="ffff00"/>
                </a:solidFill>
                <a:effectLst/>
                <a:uFillTx/>
                <a:latin typeface="Arial"/>
              </a:rPr>
              <a:t>scent et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l’adulte:  la dispersion des points rend inutilisable l’utilisation d’une valeur moyenne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de FCmax pour un âge donné. Adapté de Léger et al.,  1990 et 1995</a:t>
            </a:r>
            <a:r>
              <a:rPr b="1" lang="fr-FR" sz="1800" strike="noStrike" u="none">
                <a:solidFill>
                  <a:srgbClr val="ffff00"/>
                </a:solidFill>
                <a:effectLst/>
                <a:uFillTx/>
                <a:latin typeface="Arial"/>
              </a:rPr>
              <a:t>.</a:t>
            </a:r>
            <a:endParaRPr b="0" lang="en-US" sz="1800" strike="noStrike" u="none">
              <a:solidFill>
                <a:srgbClr val="ffff00"/>
              </a:solidFill>
              <a:effectLst/>
              <a:uFillTx/>
              <a:latin typeface="Times New Roman"/>
            </a:endParaRPr>
          </a:p>
        </p:txBody>
      </p:sp>
    </p:spTree>
  </p:cSld>
  <p:transition spd="med">
    <p:zoom dir="out"/>
  </p:transition>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0" name="Line 2"/>
          <p:cNvSpPr/>
          <p:nvPr/>
        </p:nvSpPr>
        <p:spPr>
          <a:xfrm>
            <a:off x="2590920" y="1219320"/>
            <a:ext cx="0" cy="30477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91" name="Line 3"/>
          <p:cNvSpPr/>
          <p:nvPr/>
        </p:nvSpPr>
        <p:spPr>
          <a:xfrm>
            <a:off x="2590920" y="4495680"/>
            <a:ext cx="464796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092" name="Text Box 4"/>
          <p:cNvSpPr/>
          <p:nvPr/>
        </p:nvSpPr>
        <p:spPr>
          <a:xfrm>
            <a:off x="2058840" y="1219320"/>
            <a:ext cx="574560" cy="28371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16 -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   -</a:t>
            </a:r>
            <a:endParaRPr b="0" lang="en-US" sz="1800" strike="noStrike" u="none">
              <a:solidFill>
                <a:srgbClr val="ffff00"/>
              </a:solidFill>
              <a:effectLst/>
              <a:uFillTx/>
              <a:latin typeface="Times New Roman"/>
            </a:endParaRPr>
          </a:p>
        </p:txBody>
      </p:sp>
      <p:sp>
        <p:nvSpPr>
          <p:cNvPr id="2093" name="Text Box 5"/>
          <p:cNvSpPr/>
          <p:nvPr/>
        </p:nvSpPr>
        <p:spPr>
          <a:xfrm rot="16214400">
            <a:off x="42480" y="2662200"/>
            <a:ext cx="2772000" cy="3682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Débit cardiaque ( l/min )</a:t>
            </a:r>
            <a:endParaRPr b="0" lang="en-US" sz="1800" strike="noStrike" u="none">
              <a:solidFill>
                <a:srgbClr val="ffff00"/>
              </a:solidFill>
              <a:effectLst/>
              <a:uFillTx/>
              <a:latin typeface="Times New Roman"/>
            </a:endParaRPr>
          </a:p>
        </p:txBody>
      </p:sp>
      <p:sp>
        <p:nvSpPr>
          <p:cNvPr id="2094" name="Text Box 6"/>
          <p:cNvSpPr/>
          <p:nvPr/>
        </p:nvSpPr>
        <p:spPr>
          <a:xfrm>
            <a:off x="3732120" y="495288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2095" name="Text Box 7"/>
          <p:cNvSpPr/>
          <p:nvPr/>
        </p:nvSpPr>
        <p:spPr>
          <a:xfrm>
            <a:off x="2972520" y="4267080"/>
            <a:ext cx="43099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I                   I                   I                   I</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0.2               0.6               1.0               1.4</a:t>
            </a:r>
            <a:endParaRPr b="0" lang="en-US" sz="1800" strike="noStrike" u="none">
              <a:solidFill>
                <a:srgbClr val="ffff00"/>
              </a:solidFill>
              <a:effectLst/>
              <a:uFillTx/>
              <a:latin typeface="Times New Roman"/>
            </a:endParaRPr>
          </a:p>
        </p:txBody>
      </p:sp>
      <p:sp>
        <p:nvSpPr>
          <p:cNvPr id="2096" name="Text Box 8"/>
          <p:cNvSpPr/>
          <p:nvPr/>
        </p:nvSpPr>
        <p:spPr>
          <a:xfrm>
            <a:off x="3048120" y="358128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097" name="Text Box 9"/>
          <p:cNvSpPr/>
          <p:nvPr/>
        </p:nvSpPr>
        <p:spPr>
          <a:xfrm>
            <a:off x="4343400" y="304812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098" name="Text Box 10"/>
          <p:cNvSpPr/>
          <p:nvPr/>
        </p:nvSpPr>
        <p:spPr>
          <a:xfrm>
            <a:off x="5562720" y="259092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099" name="Line 11"/>
          <p:cNvSpPr/>
          <p:nvPr/>
        </p:nvSpPr>
        <p:spPr>
          <a:xfrm flipV="1">
            <a:off x="3352680" y="3276720"/>
            <a:ext cx="106704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00" name="Line 12"/>
          <p:cNvSpPr/>
          <p:nvPr/>
        </p:nvSpPr>
        <p:spPr>
          <a:xfrm flipV="1">
            <a:off x="4572000" y="2819520"/>
            <a:ext cx="106668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01" name="Text Box 13"/>
          <p:cNvSpPr/>
          <p:nvPr/>
        </p:nvSpPr>
        <p:spPr>
          <a:xfrm>
            <a:off x="6477120" y="182880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02" name="Text Box 14"/>
          <p:cNvSpPr/>
          <p:nvPr/>
        </p:nvSpPr>
        <p:spPr>
          <a:xfrm>
            <a:off x="5029200" y="243828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03" name="Text Box 15"/>
          <p:cNvSpPr/>
          <p:nvPr/>
        </p:nvSpPr>
        <p:spPr>
          <a:xfrm>
            <a:off x="3048120" y="342900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04" name="Line 16"/>
          <p:cNvSpPr/>
          <p:nvPr/>
        </p:nvSpPr>
        <p:spPr>
          <a:xfrm flipV="1">
            <a:off x="3276720" y="2666880"/>
            <a:ext cx="1904760" cy="9144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05" name="Line 17"/>
          <p:cNvSpPr/>
          <p:nvPr/>
        </p:nvSpPr>
        <p:spPr>
          <a:xfrm flipV="1">
            <a:off x="5257800" y="2057040"/>
            <a:ext cx="1371600" cy="609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06" name="Text Box 18"/>
          <p:cNvSpPr/>
          <p:nvPr/>
        </p:nvSpPr>
        <p:spPr>
          <a:xfrm>
            <a:off x="4952880" y="60948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07" name="Text Box 19"/>
          <p:cNvSpPr/>
          <p:nvPr/>
        </p:nvSpPr>
        <p:spPr>
          <a:xfrm>
            <a:off x="4952880" y="91440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08" name="Text Box 20"/>
          <p:cNvSpPr/>
          <p:nvPr/>
        </p:nvSpPr>
        <p:spPr>
          <a:xfrm>
            <a:off x="4923360" y="609480"/>
            <a:ext cx="3757680" cy="6426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ff"/>
                </a:solidFill>
                <a:effectLst/>
                <a:uFillTx/>
                <a:latin typeface="Arial"/>
              </a:rPr>
              <a:t>12.8 ans ( 11.5-14 ans, n = 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9.4 ans ( 8-11.5 ans, n = 10 )</a:t>
            </a:r>
            <a:endParaRPr b="0" lang="en-US" sz="1800" strike="noStrike" u="none">
              <a:solidFill>
                <a:srgbClr val="ffff00"/>
              </a:solidFill>
              <a:effectLst/>
              <a:uFillTx/>
              <a:latin typeface="Times New Roman"/>
            </a:endParaRPr>
          </a:p>
        </p:txBody>
      </p:sp>
      <p:sp>
        <p:nvSpPr>
          <p:cNvPr id="2109" name="Text Box 21"/>
          <p:cNvSpPr/>
          <p:nvPr/>
        </p:nvSpPr>
        <p:spPr>
          <a:xfrm>
            <a:off x="312840" y="5761080"/>
            <a:ext cx="8637840" cy="7038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Modifications hémodynamiques survenant au cours d’une épreuve de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pédalage en position verticale. (D’après Mocellin et al., 1973)</a:t>
            </a:r>
            <a:endParaRPr b="0" lang="en-US" sz="2000" strike="noStrike" u="none">
              <a:solidFill>
                <a:srgbClr val="ffff00"/>
              </a:solidFill>
              <a:effectLst/>
              <a:uFillTx/>
              <a:latin typeface="Times New Roman"/>
            </a:endParaRPr>
          </a:p>
        </p:txBody>
      </p:sp>
      <p:sp>
        <p:nvSpPr>
          <p:cNvPr id="2110" name="Text Box 22"/>
          <p:cNvSpPr/>
          <p:nvPr/>
        </p:nvSpPr>
        <p:spPr>
          <a:xfrm>
            <a:off x="5105520" y="3124080"/>
            <a:ext cx="403848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 ’enfant et présente un débit cardiaque sensiblement plus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faible que celui de l ’adolescent.</a:t>
            </a:r>
            <a:endParaRPr b="0" lang="en-US" sz="1800" strike="noStrike" u="none">
              <a:solidFill>
                <a:srgbClr val="ffff00"/>
              </a:solidFill>
              <a:effectLst/>
              <a:uFillTx/>
              <a:latin typeface="Times New Roman"/>
            </a:endParaRPr>
          </a:p>
        </p:txBody>
      </p:sp>
    </p:spTree>
  </p:cSld>
  <p:transition spd="med">
    <p:zoom dir="out"/>
  </p:transition>
  <p:timing>
    <p:tnLst>
      <p:par>
        <p:cTn id="2188" dur="indefinite" restart="never" nodeType="tmRoot">
          <p:childTnLst>
            <p:seq>
              <p:cTn id="2189" dur="indefinite" nodeType="mainSeq">
                <p:childTnLst>
                  <p:par>
                    <p:cTn id="2190" nodeType="clickEffect" fill="hold">
                      <p:stCondLst>
                        <p:cond delay="indefinite"/>
                      </p:stCondLst>
                      <p:childTnLst>
                        <p:par>
                          <p:cTn id="2191" nodeType="withEffect" fill="hold">
                            <p:stCondLst>
                              <p:cond delay="0"/>
                            </p:stCondLst>
                            <p:childTnLst>
                              <p:par>
                                <p:cTn id="2192" nodeType="clickEffect" fill="hold" presetClass="entr" presetID="9">
                                  <p:stCondLst>
                                    <p:cond delay="0"/>
                                  </p:stCondLst>
                                  <p:iterate type="wd">
                                    <p:tmAbs val="300"/>
                                  </p:iterate>
                                  <p:childTnLst>
                                    <p:set>
                                      <p:cBhvr>
                                        <p:cTn id="2193" dur="1" fill="hold">
                                          <p:stCondLst>
                                            <p:cond delay="0"/>
                                          </p:stCondLst>
                                        </p:cTn>
                                        <p:tgtEl>
                                          <p:spTgt spid="2110"/>
                                        </p:tgtEl>
                                        <p:attrNameLst>
                                          <p:attrName>style.visibility</p:attrName>
                                        </p:attrNameLst>
                                      </p:cBhvr>
                                      <p:to>
                                        <p:strVal val="visible"/>
                                      </p:to>
                                    </p:set>
                                    <p:animEffect filter="dissolve" transition="in">
                                      <p:cBhvr additive="repl">
                                        <p:cTn id="2194" dur="300"/>
                                        <p:tgtEl>
                                          <p:spTgt spid="2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1" name="Line 3"/>
          <p:cNvSpPr/>
          <p:nvPr/>
        </p:nvSpPr>
        <p:spPr>
          <a:xfrm>
            <a:off x="1523880" y="762120"/>
            <a:ext cx="0" cy="3454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12" name="Line 4"/>
          <p:cNvSpPr/>
          <p:nvPr/>
        </p:nvSpPr>
        <p:spPr>
          <a:xfrm>
            <a:off x="1523880" y="4444920"/>
            <a:ext cx="5562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13" name="Text Box 5"/>
          <p:cNvSpPr/>
          <p:nvPr/>
        </p:nvSpPr>
        <p:spPr>
          <a:xfrm>
            <a:off x="915840" y="533520"/>
            <a:ext cx="701640" cy="3660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18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16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14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6     -</a:t>
            </a:r>
            <a:endParaRPr b="0" lang="en-US" sz="1800" strike="noStrike" u="none">
              <a:solidFill>
                <a:srgbClr val="ffff00"/>
              </a:solidFill>
              <a:effectLst/>
              <a:uFillTx/>
              <a:latin typeface="Times New Roman"/>
            </a:endParaRPr>
          </a:p>
        </p:txBody>
      </p:sp>
      <p:sp>
        <p:nvSpPr>
          <p:cNvPr id="2114" name="Text Box 6"/>
          <p:cNvSpPr/>
          <p:nvPr/>
        </p:nvSpPr>
        <p:spPr>
          <a:xfrm rot="16214400">
            <a:off x="-973080" y="2230200"/>
            <a:ext cx="2772000" cy="3682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Débit cardiaque ( l/min )</a:t>
            </a:r>
            <a:endParaRPr b="0" lang="en-US" sz="1800" strike="noStrike" u="none">
              <a:solidFill>
                <a:srgbClr val="ffff00"/>
              </a:solidFill>
              <a:effectLst/>
              <a:uFillTx/>
              <a:latin typeface="Times New Roman"/>
            </a:endParaRPr>
          </a:p>
        </p:txBody>
      </p:sp>
      <p:sp>
        <p:nvSpPr>
          <p:cNvPr id="2115" name="Text Box 7"/>
          <p:cNvSpPr/>
          <p:nvPr/>
        </p:nvSpPr>
        <p:spPr>
          <a:xfrm>
            <a:off x="3503520" y="497844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2116" name="Text Box 8"/>
          <p:cNvSpPr/>
          <p:nvPr/>
        </p:nvSpPr>
        <p:spPr>
          <a:xfrm>
            <a:off x="1891080" y="4267080"/>
            <a:ext cx="49366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  I         I            I          I           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0.5            1.0            1.5            2.0             2.5</a:t>
            </a:r>
            <a:endParaRPr b="0" lang="en-US" sz="1800" strike="noStrike" u="none">
              <a:solidFill>
                <a:srgbClr val="ffff00"/>
              </a:solidFill>
              <a:effectLst/>
              <a:uFillTx/>
              <a:latin typeface="Times New Roman"/>
            </a:endParaRPr>
          </a:p>
        </p:txBody>
      </p:sp>
      <p:sp>
        <p:nvSpPr>
          <p:cNvPr id="2117" name="Text Box 9"/>
          <p:cNvSpPr/>
          <p:nvPr/>
        </p:nvSpPr>
        <p:spPr>
          <a:xfrm>
            <a:off x="2362320" y="380988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18" name="Text Box 10"/>
          <p:cNvSpPr/>
          <p:nvPr/>
        </p:nvSpPr>
        <p:spPr>
          <a:xfrm>
            <a:off x="3048120" y="335268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19" name="Text Box 11"/>
          <p:cNvSpPr/>
          <p:nvPr/>
        </p:nvSpPr>
        <p:spPr>
          <a:xfrm>
            <a:off x="4343400" y="228600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0" name="Line 12"/>
          <p:cNvSpPr/>
          <p:nvPr/>
        </p:nvSpPr>
        <p:spPr>
          <a:xfrm flipV="1">
            <a:off x="2514600" y="3505320"/>
            <a:ext cx="68580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21" name="Line 13"/>
          <p:cNvSpPr/>
          <p:nvPr/>
        </p:nvSpPr>
        <p:spPr>
          <a:xfrm flipV="1">
            <a:off x="3276720" y="3048120"/>
            <a:ext cx="457200" cy="3808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22" name="Text Box 14"/>
          <p:cNvSpPr/>
          <p:nvPr/>
        </p:nvSpPr>
        <p:spPr>
          <a:xfrm>
            <a:off x="4267080" y="198108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3" name="Text Box 15"/>
          <p:cNvSpPr/>
          <p:nvPr/>
        </p:nvSpPr>
        <p:spPr>
          <a:xfrm>
            <a:off x="2971800" y="304812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4" name="Text Box 16"/>
          <p:cNvSpPr/>
          <p:nvPr/>
        </p:nvSpPr>
        <p:spPr>
          <a:xfrm>
            <a:off x="2362320" y="350532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5" name="Line 17"/>
          <p:cNvSpPr/>
          <p:nvPr/>
        </p:nvSpPr>
        <p:spPr>
          <a:xfrm flipV="1">
            <a:off x="5715000" y="914040"/>
            <a:ext cx="533520" cy="30492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26" name="Text Box 18"/>
          <p:cNvSpPr/>
          <p:nvPr/>
        </p:nvSpPr>
        <p:spPr>
          <a:xfrm>
            <a:off x="5562720" y="144792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7" name="Text Box 19"/>
          <p:cNvSpPr/>
          <p:nvPr/>
        </p:nvSpPr>
        <p:spPr>
          <a:xfrm>
            <a:off x="4952880" y="182880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8" name="Text Box 20"/>
          <p:cNvSpPr/>
          <p:nvPr/>
        </p:nvSpPr>
        <p:spPr>
          <a:xfrm>
            <a:off x="6248520" y="1066680"/>
            <a:ext cx="32040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29" name="Text Box 21"/>
          <p:cNvSpPr/>
          <p:nvPr/>
        </p:nvSpPr>
        <p:spPr>
          <a:xfrm>
            <a:off x="3657600" y="281952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30" name="Line 22"/>
          <p:cNvSpPr/>
          <p:nvPr/>
        </p:nvSpPr>
        <p:spPr>
          <a:xfrm flipV="1">
            <a:off x="3809880" y="2514600"/>
            <a:ext cx="60984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1" name="Line 23"/>
          <p:cNvSpPr/>
          <p:nvPr/>
        </p:nvSpPr>
        <p:spPr>
          <a:xfrm flipV="1">
            <a:off x="4572000" y="2057040"/>
            <a:ext cx="45720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2" name="Line 24"/>
          <p:cNvSpPr/>
          <p:nvPr/>
        </p:nvSpPr>
        <p:spPr>
          <a:xfrm flipV="1">
            <a:off x="5181480" y="1676520"/>
            <a:ext cx="457200" cy="3045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3" name="Line 25"/>
          <p:cNvSpPr/>
          <p:nvPr/>
        </p:nvSpPr>
        <p:spPr>
          <a:xfrm flipV="1">
            <a:off x="5791320" y="1294920"/>
            <a:ext cx="53316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4" name="Text Box 27"/>
          <p:cNvSpPr/>
          <p:nvPr/>
        </p:nvSpPr>
        <p:spPr>
          <a:xfrm>
            <a:off x="4876920" y="15238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35" name="Text Box 28"/>
          <p:cNvSpPr/>
          <p:nvPr/>
        </p:nvSpPr>
        <p:spPr>
          <a:xfrm>
            <a:off x="5486400" y="106668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36" name="Text Box 29"/>
          <p:cNvSpPr/>
          <p:nvPr/>
        </p:nvSpPr>
        <p:spPr>
          <a:xfrm>
            <a:off x="6172200" y="685800"/>
            <a:ext cx="38088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37" name="Line 30"/>
          <p:cNvSpPr/>
          <p:nvPr/>
        </p:nvSpPr>
        <p:spPr>
          <a:xfrm flipV="1">
            <a:off x="5105520" y="1294920"/>
            <a:ext cx="533160" cy="3812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8" name="Line 31"/>
          <p:cNvSpPr/>
          <p:nvPr/>
        </p:nvSpPr>
        <p:spPr>
          <a:xfrm flipV="1">
            <a:off x="3809880" y="2209680"/>
            <a:ext cx="53352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39" name="Line 32"/>
          <p:cNvSpPr/>
          <p:nvPr/>
        </p:nvSpPr>
        <p:spPr>
          <a:xfrm flipV="1">
            <a:off x="4495680" y="1752120"/>
            <a:ext cx="533520" cy="38124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40" name="Line 33"/>
          <p:cNvSpPr/>
          <p:nvPr/>
        </p:nvSpPr>
        <p:spPr>
          <a:xfrm flipV="1">
            <a:off x="2590920" y="3276720"/>
            <a:ext cx="533160" cy="3808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41" name="Line 34"/>
          <p:cNvSpPr/>
          <p:nvPr/>
        </p:nvSpPr>
        <p:spPr>
          <a:xfrm flipV="1">
            <a:off x="3200400" y="2743200"/>
            <a:ext cx="53352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42" name="Text Box 35"/>
          <p:cNvSpPr/>
          <p:nvPr/>
        </p:nvSpPr>
        <p:spPr>
          <a:xfrm>
            <a:off x="2805480" y="493560"/>
            <a:ext cx="8917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Adulte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Enfant</a:t>
            </a:r>
            <a:endParaRPr b="0" lang="en-US" sz="1800" strike="noStrike" u="none">
              <a:solidFill>
                <a:srgbClr val="ffff00"/>
              </a:solidFill>
              <a:effectLst/>
              <a:uFillTx/>
              <a:latin typeface="Times New Roman"/>
            </a:endParaRPr>
          </a:p>
        </p:txBody>
      </p:sp>
      <p:sp>
        <p:nvSpPr>
          <p:cNvPr id="2143" name="Text Box 36"/>
          <p:cNvSpPr/>
          <p:nvPr/>
        </p:nvSpPr>
        <p:spPr>
          <a:xfrm>
            <a:off x="2438280" y="53352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44" name="Text Box 37"/>
          <p:cNvSpPr/>
          <p:nvPr/>
        </p:nvSpPr>
        <p:spPr>
          <a:xfrm>
            <a:off x="2438280" y="838080"/>
            <a:ext cx="32076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45" name="Text Box 38"/>
          <p:cNvSpPr/>
          <p:nvPr/>
        </p:nvSpPr>
        <p:spPr>
          <a:xfrm>
            <a:off x="195480" y="5635800"/>
            <a:ext cx="8370360" cy="1008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Valeurs sous-maximales du débit cardiaque chez des enfants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comparées à celles d’adultes, à un même niveau de consommation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d’oxygène. (d’après Wilmore et Costill, 1994) </a:t>
            </a:r>
            <a:endParaRPr b="0" lang="en-US" sz="2000" strike="noStrike" u="none">
              <a:solidFill>
                <a:srgbClr val="ffff00"/>
              </a:solidFill>
              <a:effectLst/>
              <a:uFillTx/>
              <a:latin typeface="Times New Roman"/>
            </a:endParaRPr>
          </a:p>
        </p:txBody>
      </p:sp>
      <p:sp>
        <p:nvSpPr>
          <p:cNvPr id="2146" name="Text Box 40"/>
          <p:cNvSpPr/>
          <p:nvPr/>
        </p:nvSpPr>
        <p:spPr>
          <a:xfrm>
            <a:off x="3581280" y="2514600"/>
            <a:ext cx="381240" cy="27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ff"/>
                </a:solidFill>
                <a:effectLst/>
                <a:uFillTx/>
                <a:latin typeface="SPSS Marker Set"/>
                <a:ea typeface="SPSS Marker Set"/>
              </a:rPr>
              <a:t></a:t>
            </a:r>
            <a:endParaRPr b="0" lang="en-US" sz="1200" strike="noStrike" u="none">
              <a:solidFill>
                <a:srgbClr val="ffff00"/>
              </a:solidFill>
              <a:effectLst/>
              <a:uFillTx/>
              <a:latin typeface="Times New Roman"/>
            </a:endParaRPr>
          </a:p>
        </p:txBody>
      </p:sp>
      <p:sp>
        <p:nvSpPr>
          <p:cNvPr id="2147" name="Text Box 41"/>
          <p:cNvSpPr/>
          <p:nvPr/>
        </p:nvSpPr>
        <p:spPr>
          <a:xfrm>
            <a:off x="5105520" y="2286000"/>
            <a:ext cx="3367080" cy="1465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Malgré la compensation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 ’une fréquence cardiaque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plus élevée le débit cardiaque</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du jeune demeure inférieur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à celui de l ’adulte.  </a:t>
            </a:r>
            <a:endParaRPr b="0" lang="en-US" sz="1800" strike="noStrike" u="none">
              <a:solidFill>
                <a:srgbClr val="ffff00"/>
              </a:solidFill>
              <a:effectLst/>
              <a:uFillTx/>
              <a:latin typeface="Times New Roman"/>
            </a:endParaRPr>
          </a:p>
        </p:txBody>
      </p:sp>
    </p:spTree>
  </p:cSld>
  <p:transition spd="med">
    <p:zoom dir="out"/>
  </p:transition>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8" name="Line 2"/>
          <p:cNvSpPr/>
          <p:nvPr/>
        </p:nvSpPr>
        <p:spPr>
          <a:xfrm>
            <a:off x="2590920" y="1219320"/>
            <a:ext cx="0" cy="30477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49" name="Line 3"/>
          <p:cNvSpPr/>
          <p:nvPr/>
        </p:nvSpPr>
        <p:spPr>
          <a:xfrm>
            <a:off x="2590920" y="4495680"/>
            <a:ext cx="464796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50" name="Text Box 4"/>
          <p:cNvSpPr/>
          <p:nvPr/>
        </p:nvSpPr>
        <p:spPr>
          <a:xfrm>
            <a:off x="2058840" y="1219320"/>
            <a:ext cx="574560" cy="3385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2151" name="Text Box 5"/>
          <p:cNvSpPr/>
          <p:nvPr/>
        </p:nvSpPr>
        <p:spPr>
          <a:xfrm rot="16214400">
            <a:off x="-79920" y="2507760"/>
            <a:ext cx="3328920" cy="6800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Différence artério-veineuse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Ca</a:t>
            </a:r>
            <a:r>
              <a:rPr b="1" lang="fr-FR" sz="1800" strike="noStrike" u="none" baseline="-25000">
                <a:solidFill>
                  <a:srgbClr val="ffff00"/>
                </a:solidFill>
                <a:effectLst/>
                <a:uFillTx/>
                <a:latin typeface="Arial"/>
              </a:rPr>
              <a:t>O2</a:t>
            </a:r>
            <a:r>
              <a:rPr b="1" lang="fr-FR" sz="1800" strike="noStrike" u="none">
                <a:solidFill>
                  <a:srgbClr val="ffff00"/>
                </a:solidFill>
                <a:effectLst/>
                <a:uFillTx/>
                <a:latin typeface="Arial"/>
              </a:rPr>
              <a:t>-Cv</a:t>
            </a:r>
            <a:r>
              <a:rPr b="1" lang="fr-FR" sz="1800" strike="noStrike" u="none" baseline="-25000">
                <a:solidFill>
                  <a:srgbClr val="ffff00"/>
                </a:solidFill>
                <a:effectLst/>
                <a:uFillTx/>
                <a:latin typeface="Arial"/>
              </a:rPr>
              <a:t>O2</a:t>
            </a:r>
            <a:r>
              <a:rPr b="1" lang="fr-FR" sz="1800" strike="noStrike" u="none">
                <a:solidFill>
                  <a:srgbClr val="ffff00"/>
                </a:solidFill>
                <a:effectLst/>
                <a:uFillTx/>
                <a:latin typeface="Arial"/>
              </a:rPr>
              <a:t> (ml/100ml ) ( l/min )</a:t>
            </a:r>
            <a:endParaRPr b="0" lang="en-US" sz="1800" strike="noStrike" u="none">
              <a:solidFill>
                <a:srgbClr val="ffff00"/>
              </a:solidFill>
              <a:effectLst/>
              <a:uFillTx/>
              <a:latin typeface="Times New Roman"/>
            </a:endParaRPr>
          </a:p>
        </p:txBody>
      </p:sp>
      <p:sp>
        <p:nvSpPr>
          <p:cNvPr id="2152" name="Text Box 6"/>
          <p:cNvSpPr/>
          <p:nvPr/>
        </p:nvSpPr>
        <p:spPr>
          <a:xfrm>
            <a:off x="3732120" y="495288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2153" name="Text Box 7"/>
          <p:cNvSpPr/>
          <p:nvPr/>
        </p:nvSpPr>
        <p:spPr>
          <a:xfrm>
            <a:off x="2972520" y="4267080"/>
            <a:ext cx="43099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I                   I                   I                   I</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0.2               0.6               1.0               1.4</a:t>
            </a:r>
            <a:endParaRPr b="0" lang="en-US" sz="1800" strike="noStrike" u="none">
              <a:solidFill>
                <a:srgbClr val="ffff00"/>
              </a:solidFill>
              <a:effectLst/>
              <a:uFillTx/>
              <a:latin typeface="Times New Roman"/>
            </a:endParaRPr>
          </a:p>
        </p:txBody>
      </p:sp>
      <p:sp>
        <p:nvSpPr>
          <p:cNvPr id="2154" name="Text Box 8"/>
          <p:cNvSpPr/>
          <p:nvPr/>
        </p:nvSpPr>
        <p:spPr>
          <a:xfrm>
            <a:off x="3048120" y="358128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55" name="Text Box 9"/>
          <p:cNvSpPr/>
          <p:nvPr/>
        </p:nvSpPr>
        <p:spPr>
          <a:xfrm>
            <a:off x="4343400" y="251460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56" name="Text Box 10"/>
          <p:cNvSpPr/>
          <p:nvPr/>
        </p:nvSpPr>
        <p:spPr>
          <a:xfrm>
            <a:off x="5562720" y="190512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57" name="Line 11"/>
          <p:cNvSpPr/>
          <p:nvPr/>
        </p:nvSpPr>
        <p:spPr>
          <a:xfrm flipV="1">
            <a:off x="3352680" y="2743200"/>
            <a:ext cx="1067040" cy="9907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58" name="Line 12"/>
          <p:cNvSpPr/>
          <p:nvPr/>
        </p:nvSpPr>
        <p:spPr>
          <a:xfrm flipV="1">
            <a:off x="4572000" y="2133360"/>
            <a:ext cx="1066680" cy="5331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59" name="Text Box 13"/>
          <p:cNvSpPr/>
          <p:nvPr/>
        </p:nvSpPr>
        <p:spPr>
          <a:xfrm>
            <a:off x="6781680" y="190512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60" name="Text Box 14"/>
          <p:cNvSpPr/>
          <p:nvPr/>
        </p:nvSpPr>
        <p:spPr>
          <a:xfrm>
            <a:off x="5181480" y="259092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61" name="Text Box 15"/>
          <p:cNvSpPr/>
          <p:nvPr/>
        </p:nvSpPr>
        <p:spPr>
          <a:xfrm>
            <a:off x="3048120" y="380988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62" name="Line 16"/>
          <p:cNvSpPr/>
          <p:nvPr/>
        </p:nvSpPr>
        <p:spPr>
          <a:xfrm flipV="1">
            <a:off x="3352680" y="2819160"/>
            <a:ext cx="1905120" cy="11430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63" name="Line 17"/>
          <p:cNvSpPr/>
          <p:nvPr/>
        </p:nvSpPr>
        <p:spPr>
          <a:xfrm flipV="1">
            <a:off x="5410080" y="2133360"/>
            <a:ext cx="1447920" cy="6094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64" name="Text Box 18"/>
          <p:cNvSpPr/>
          <p:nvPr/>
        </p:nvSpPr>
        <p:spPr>
          <a:xfrm>
            <a:off x="4952880" y="60948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65" name="Text Box 19"/>
          <p:cNvSpPr/>
          <p:nvPr/>
        </p:nvSpPr>
        <p:spPr>
          <a:xfrm>
            <a:off x="4952880" y="91440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66" name="Text Box 20"/>
          <p:cNvSpPr/>
          <p:nvPr/>
        </p:nvSpPr>
        <p:spPr>
          <a:xfrm>
            <a:off x="4923360" y="609480"/>
            <a:ext cx="3757680" cy="642600"/>
          </a:xfrm>
          <a:prstGeom prst="rect">
            <a:avLst/>
          </a:prstGeom>
          <a:noFill/>
          <a:ln w="9360">
            <a:solidFill>
              <a:srgbClr val="ffff00"/>
            </a:solidFill>
            <a:miter/>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r>
              <a:rPr b="1" lang="fr-FR" sz="1800" strike="noStrike" u="none">
                <a:solidFill>
                  <a:srgbClr val="ffffff"/>
                </a:solidFill>
                <a:effectLst/>
                <a:uFillTx/>
                <a:latin typeface="Arial"/>
              </a:rPr>
              <a:t>12.8 ans ( 11.5-14 ans, n = 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9.4 ans ( 8-11.5 ans, n = 10 )</a:t>
            </a:r>
            <a:endParaRPr b="0" lang="en-US" sz="1800" strike="noStrike" u="none">
              <a:solidFill>
                <a:srgbClr val="ffff00"/>
              </a:solidFill>
              <a:effectLst/>
              <a:uFillTx/>
              <a:latin typeface="Times New Roman"/>
            </a:endParaRPr>
          </a:p>
        </p:txBody>
      </p:sp>
      <p:sp>
        <p:nvSpPr>
          <p:cNvPr id="2167" name="Text Box 21"/>
          <p:cNvSpPr/>
          <p:nvPr/>
        </p:nvSpPr>
        <p:spPr>
          <a:xfrm>
            <a:off x="312840" y="5761080"/>
            <a:ext cx="8637840" cy="7038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Modifications hémodynamiques survenant au cours d’une épreuve de</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pédalage en position verticale. (D’après Mocellin et al., 1973)</a:t>
            </a:r>
            <a:endParaRPr b="0" lang="en-US" sz="2000" strike="noStrike" u="none">
              <a:solidFill>
                <a:srgbClr val="ffff00"/>
              </a:solidFill>
              <a:effectLst/>
              <a:uFillTx/>
              <a:latin typeface="Times New Roman"/>
            </a:endParaRPr>
          </a:p>
        </p:txBody>
      </p:sp>
      <p:sp>
        <p:nvSpPr>
          <p:cNvPr id="2168" name="Text Box 22"/>
          <p:cNvSpPr/>
          <p:nvPr/>
        </p:nvSpPr>
        <p:spPr>
          <a:xfrm>
            <a:off x="5410080" y="3351240"/>
            <a:ext cx="373392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 ’enfant et présente une capacité d’extraction de l’oxygène  plus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élevée que celle de l ’adolescent.</a:t>
            </a:r>
            <a:endParaRPr b="0" lang="en-US" sz="1800" strike="noStrike" u="none">
              <a:solidFill>
                <a:srgbClr val="ffff00"/>
              </a:solidFill>
              <a:effectLst/>
              <a:uFillTx/>
              <a:latin typeface="Times New Roman"/>
            </a:endParaRPr>
          </a:p>
        </p:txBody>
      </p:sp>
    </p:spTree>
  </p:cSld>
  <p:transition spd="med">
    <p:zoom dir="out"/>
  </p:transition>
  <p:timing>
    <p:tnLst>
      <p:par>
        <p:cTn id="2195" dur="indefinite" restart="never" nodeType="tmRoot">
          <p:childTnLst>
            <p:seq>
              <p:cTn id="2196" dur="indefinite" nodeType="mainSeq">
                <p:childTnLst>
                  <p:par>
                    <p:cTn id="2197" nodeType="clickEffect" fill="hold">
                      <p:stCondLst>
                        <p:cond delay="indefinite"/>
                      </p:stCondLst>
                      <p:childTnLst>
                        <p:par>
                          <p:cTn id="2198" nodeType="withEffect" fill="hold">
                            <p:stCondLst>
                              <p:cond delay="0"/>
                            </p:stCondLst>
                            <p:childTnLst>
                              <p:par>
                                <p:cTn id="2199" nodeType="clickEffect" fill="hold" presetClass="entr" presetID="9">
                                  <p:stCondLst>
                                    <p:cond delay="0"/>
                                  </p:stCondLst>
                                  <p:iterate type="wd">
                                    <p:tmAbs val="300"/>
                                  </p:iterate>
                                  <p:childTnLst>
                                    <p:set>
                                      <p:cBhvr>
                                        <p:cTn id="2200" dur="1" fill="hold">
                                          <p:stCondLst>
                                            <p:cond delay="0"/>
                                          </p:stCondLst>
                                        </p:cTn>
                                        <p:tgtEl>
                                          <p:spTgt spid="2168"/>
                                        </p:tgtEl>
                                        <p:attrNameLst>
                                          <p:attrName>style.visibility</p:attrName>
                                        </p:attrNameLst>
                                      </p:cBhvr>
                                      <p:to>
                                        <p:strVal val="visible"/>
                                      </p:to>
                                    </p:set>
                                    <p:animEffect filter="dissolve" transition="in">
                                      <p:cBhvr additive="repl">
                                        <p:cTn id="2201" dur="300"/>
                                        <p:tgtEl>
                                          <p:spTgt spid="2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9" name="Line 2"/>
          <p:cNvSpPr/>
          <p:nvPr/>
        </p:nvSpPr>
        <p:spPr>
          <a:xfrm>
            <a:off x="1523880" y="762120"/>
            <a:ext cx="0" cy="3454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70" name="Line 3"/>
          <p:cNvSpPr/>
          <p:nvPr/>
        </p:nvSpPr>
        <p:spPr>
          <a:xfrm>
            <a:off x="1523880" y="4444920"/>
            <a:ext cx="556272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71" name="Text Box 4"/>
          <p:cNvSpPr/>
          <p:nvPr/>
        </p:nvSpPr>
        <p:spPr>
          <a:xfrm>
            <a:off x="915840" y="533520"/>
            <a:ext cx="701640" cy="3660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15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14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13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12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11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9     -</a:t>
            </a:r>
            <a:endParaRPr b="0" lang="en-US" sz="1800" strike="noStrike" u="none">
              <a:solidFill>
                <a:srgbClr val="ffff00"/>
              </a:solidFill>
              <a:effectLst/>
              <a:uFillTx/>
              <a:latin typeface="Times New Roman"/>
            </a:endParaRPr>
          </a:p>
        </p:txBody>
      </p:sp>
      <p:sp>
        <p:nvSpPr>
          <p:cNvPr id="2172" name="Text Box 5"/>
          <p:cNvSpPr/>
          <p:nvPr/>
        </p:nvSpPr>
        <p:spPr>
          <a:xfrm rot="16214400">
            <a:off x="-1035000" y="2097360"/>
            <a:ext cx="3328920" cy="9543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Différence artério-veineuse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Ca</a:t>
            </a:r>
            <a:r>
              <a:rPr b="1" lang="fr-FR" sz="1800" strike="noStrike" u="none" baseline="-25000">
                <a:solidFill>
                  <a:srgbClr val="ffff00"/>
                </a:solidFill>
                <a:effectLst/>
                <a:uFillTx/>
                <a:latin typeface="Arial"/>
              </a:rPr>
              <a:t>O2</a:t>
            </a:r>
            <a:r>
              <a:rPr b="1" lang="fr-FR" sz="1800" strike="noStrike" u="none">
                <a:solidFill>
                  <a:srgbClr val="ffff00"/>
                </a:solidFill>
                <a:effectLst/>
                <a:uFillTx/>
                <a:latin typeface="Arial"/>
              </a:rPr>
              <a:t>-Cv</a:t>
            </a:r>
            <a:r>
              <a:rPr b="1" lang="fr-FR" sz="1800" strike="noStrike" u="none" baseline="-25000">
                <a:solidFill>
                  <a:srgbClr val="ffff00"/>
                </a:solidFill>
                <a:effectLst/>
                <a:uFillTx/>
                <a:latin typeface="Arial"/>
              </a:rPr>
              <a:t>O2</a:t>
            </a:r>
            <a:r>
              <a:rPr b="1" lang="fr-FR" sz="1800" strike="noStrike" u="none">
                <a:solidFill>
                  <a:srgbClr val="ffff00"/>
                </a:solidFill>
                <a:effectLst/>
                <a:uFillTx/>
                <a:latin typeface="Arial"/>
              </a:rPr>
              <a:t> (ml/100ml ) ( l/min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p:txBody>
      </p:sp>
      <p:sp>
        <p:nvSpPr>
          <p:cNvPr id="2173" name="Text Box 6"/>
          <p:cNvSpPr/>
          <p:nvPr/>
        </p:nvSpPr>
        <p:spPr>
          <a:xfrm>
            <a:off x="3503520" y="4978440"/>
            <a:ext cx="15242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VO2 (l/min)</a:t>
            </a:r>
            <a:endParaRPr b="0" lang="en-US" sz="2000" strike="noStrike" u="none">
              <a:solidFill>
                <a:srgbClr val="ffff00"/>
              </a:solidFill>
              <a:effectLst/>
              <a:uFillTx/>
              <a:latin typeface="Times New Roman"/>
            </a:endParaRPr>
          </a:p>
        </p:txBody>
      </p:sp>
      <p:sp>
        <p:nvSpPr>
          <p:cNvPr id="2174" name="Text Box 7"/>
          <p:cNvSpPr/>
          <p:nvPr/>
        </p:nvSpPr>
        <p:spPr>
          <a:xfrm>
            <a:off x="1891080" y="4267080"/>
            <a:ext cx="49366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  I         I            I          I           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0.5            1.0            1.5            2.0             2.5</a:t>
            </a:r>
            <a:endParaRPr b="0" lang="en-US" sz="1800" strike="noStrike" u="none">
              <a:solidFill>
                <a:srgbClr val="ffff00"/>
              </a:solidFill>
              <a:effectLst/>
              <a:uFillTx/>
              <a:latin typeface="Times New Roman"/>
            </a:endParaRPr>
          </a:p>
        </p:txBody>
      </p:sp>
      <p:sp>
        <p:nvSpPr>
          <p:cNvPr id="2175" name="Text Box 8"/>
          <p:cNvSpPr/>
          <p:nvPr/>
        </p:nvSpPr>
        <p:spPr>
          <a:xfrm>
            <a:off x="2209680" y="251460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76" name="Text Box 9"/>
          <p:cNvSpPr/>
          <p:nvPr/>
        </p:nvSpPr>
        <p:spPr>
          <a:xfrm>
            <a:off x="3048120" y="198108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77" name="Text Box 10"/>
          <p:cNvSpPr/>
          <p:nvPr/>
        </p:nvSpPr>
        <p:spPr>
          <a:xfrm>
            <a:off x="4267080" y="114300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78" name="Line 11"/>
          <p:cNvSpPr/>
          <p:nvPr/>
        </p:nvSpPr>
        <p:spPr>
          <a:xfrm flipV="1">
            <a:off x="2438280" y="2209680"/>
            <a:ext cx="68580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79" name="Line 12"/>
          <p:cNvSpPr/>
          <p:nvPr/>
        </p:nvSpPr>
        <p:spPr>
          <a:xfrm flipV="1">
            <a:off x="3276720" y="1752480"/>
            <a:ext cx="457200" cy="3556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80" name="Text Box 13"/>
          <p:cNvSpPr/>
          <p:nvPr/>
        </p:nvSpPr>
        <p:spPr>
          <a:xfrm>
            <a:off x="4267080" y="205740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1" name="Text Box 14"/>
          <p:cNvSpPr/>
          <p:nvPr/>
        </p:nvSpPr>
        <p:spPr>
          <a:xfrm>
            <a:off x="3048120" y="274320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2" name="Text Box 15"/>
          <p:cNvSpPr/>
          <p:nvPr/>
        </p:nvSpPr>
        <p:spPr>
          <a:xfrm>
            <a:off x="2209680" y="335268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3" name="Line 16"/>
          <p:cNvSpPr/>
          <p:nvPr/>
        </p:nvSpPr>
        <p:spPr>
          <a:xfrm flipV="1">
            <a:off x="5715000" y="1676160"/>
            <a:ext cx="533520" cy="1522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84" name="Text Box 17"/>
          <p:cNvSpPr/>
          <p:nvPr/>
        </p:nvSpPr>
        <p:spPr>
          <a:xfrm>
            <a:off x="5562720" y="76212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5" name="Text Box 18"/>
          <p:cNvSpPr/>
          <p:nvPr/>
        </p:nvSpPr>
        <p:spPr>
          <a:xfrm>
            <a:off x="4876920" y="91440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6" name="Text Box 19"/>
          <p:cNvSpPr/>
          <p:nvPr/>
        </p:nvSpPr>
        <p:spPr>
          <a:xfrm>
            <a:off x="6248520" y="685800"/>
            <a:ext cx="32040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7" name="Text Box 20"/>
          <p:cNvSpPr/>
          <p:nvPr/>
        </p:nvSpPr>
        <p:spPr>
          <a:xfrm>
            <a:off x="3657600" y="152388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88" name="Line 21"/>
          <p:cNvSpPr/>
          <p:nvPr/>
        </p:nvSpPr>
        <p:spPr>
          <a:xfrm flipV="1">
            <a:off x="3886200" y="1294920"/>
            <a:ext cx="533520" cy="3812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89" name="Line 22"/>
          <p:cNvSpPr/>
          <p:nvPr/>
        </p:nvSpPr>
        <p:spPr>
          <a:xfrm flipV="1">
            <a:off x="4495680" y="1066320"/>
            <a:ext cx="53352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90" name="Line 23"/>
          <p:cNvSpPr/>
          <p:nvPr/>
        </p:nvSpPr>
        <p:spPr>
          <a:xfrm flipV="1">
            <a:off x="5105520" y="914040"/>
            <a:ext cx="533160" cy="152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91" name="Line 24"/>
          <p:cNvSpPr/>
          <p:nvPr/>
        </p:nvSpPr>
        <p:spPr>
          <a:xfrm flipV="1">
            <a:off x="5791320" y="838080"/>
            <a:ext cx="533160" cy="76320"/>
          </a:xfrm>
          <a:prstGeom prst="line">
            <a:avLst/>
          </a:prstGeom>
          <a:ln w="28440">
            <a:solidFill>
              <a:srgbClr val="ffff00"/>
            </a:solidFill>
            <a:miter/>
          </a:ln>
        </p:spPr>
        <p:style>
          <a:lnRef idx="0"/>
          <a:fillRef idx="0"/>
          <a:effectRef idx="0"/>
          <a:fontRef idx="minor"/>
        </p:style>
        <p:txBody>
          <a:bodyPr lIns="90000" rIns="90000" tIns="29520" bIns="29520" anchor="t">
            <a:noAutofit/>
          </a:bodyPr>
          <a:p>
            <a:endParaRPr b="0" lang="en-US" sz="2400" strike="noStrike" u="none">
              <a:solidFill>
                <a:srgbClr val="ffff00"/>
              </a:solidFill>
              <a:effectLst/>
              <a:uFillTx/>
              <a:latin typeface="Times New Roman"/>
            </a:endParaRPr>
          </a:p>
        </p:txBody>
      </p:sp>
      <p:sp>
        <p:nvSpPr>
          <p:cNvPr id="2192" name="Text Box 25"/>
          <p:cNvSpPr/>
          <p:nvPr/>
        </p:nvSpPr>
        <p:spPr>
          <a:xfrm>
            <a:off x="3657600" y="236232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93" name="Text Box 26"/>
          <p:cNvSpPr/>
          <p:nvPr/>
        </p:nvSpPr>
        <p:spPr>
          <a:xfrm>
            <a:off x="4952880" y="175248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94" name="Text Box 27"/>
          <p:cNvSpPr/>
          <p:nvPr/>
        </p:nvSpPr>
        <p:spPr>
          <a:xfrm>
            <a:off x="5562720" y="160020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95" name="Text Box 28"/>
          <p:cNvSpPr/>
          <p:nvPr/>
        </p:nvSpPr>
        <p:spPr>
          <a:xfrm>
            <a:off x="6172200" y="1447920"/>
            <a:ext cx="38088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196" name="Line 29"/>
          <p:cNvSpPr/>
          <p:nvPr/>
        </p:nvSpPr>
        <p:spPr>
          <a:xfrm flipV="1">
            <a:off x="5181480" y="1828440"/>
            <a:ext cx="457200" cy="15228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97" name="Line 30"/>
          <p:cNvSpPr/>
          <p:nvPr/>
        </p:nvSpPr>
        <p:spPr>
          <a:xfrm flipV="1">
            <a:off x="3886200" y="2285640"/>
            <a:ext cx="457200" cy="2286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98" name="Line 31"/>
          <p:cNvSpPr/>
          <p:nvPr/>
        </p:nvSpPr>
        <p:spPr>
          <a:xfrm flipV="1">
            <a:off x="4495680" y="1980720"/>
            <a:ext cx="533520" cy="2286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199" name="Line 32"/>
          <p:cNvSpPr/>
          <p:nvPr/>
        </p:nvSpPr>
        <p:spPr>
          <a:xfrm flipV="1">
            <a:off x="2438280" y="2971800"/>
            <a:ext cx="762120" cy="53352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00" name="Line 33"/>
          <p:cNvSpPr/>
          <p:nvPr/>
        </p:nvSpPr>
        <p:spPr>
          <a:xfrm flipV="1">
            <a:off x="3276720" y="2590920"/>
            <a:ext cx="533160" cy="30456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01" name="Text Box 34"/>
          <p:cNvSpPr/>
          <p:nvPr/>
        </p:nvSpPr>
        <p:spPr>
          <a:xfrm>
            <a:off x="2805120" y="493560"/>
            <a:ext cx="199728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Enfants de 8 ans</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Arial"/>
              </a:rPr>
              <a:t>Adultes</a:t>
            </a:r>
            <a:endParaRPr b="0" lang="en-US" sz="1800" strike="noStrike" u="none">
              <a:solidFill>
                <a:srgbClr val="ffff00"/>
              </a:solidFill>
              <a:effectLst/>
              <a:uFillTx/>
              <a:latin typeface="Times New Roman"/>
            </a:endParaRPr>
          </a:p>
        </p:txBody>
      </p:sp>
      <p:sp>
        <p:nvSpPr>
          <p:cNvPr id="2202" name="Text Box 35"/>
          <p:cNvSpPr/>
          <p:nvPr/>
        </p:nvSpPr>
        <p:spPr>
          <a:xfrm>
            <a:off x="2438280" y="762120"/>
            <a:ext cx="38124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203" name="Text Box 36"/>
          <p:cNvSpPr/>
          <p:nvPr/>
        </p:nvSpPr>
        <p:spPr>
          <a:xfrm>
            <a:off x="2438280" y="533520"/>
            <a:ext cx="320760" cy="3074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SPSS Marker Set"/>
                <a:ea typeface="SPSS Marker Set"/>
              </a:rPr>
              <a:t></a:t>
            </a:r>
            <a:endParaRPr b="0" lang="en-US" sz="1400" strike="noStrike" u="none">
              <a:solidFill>
                <a:srgbClr val="ffff00"/>
              </a:solidFill>
              <a:effectLst/>
              <a:uFillTx/>
              <a:latin typeface="Times New Roman"/>
            </a:endParaRPr>
          </a:p>
        </p:txBody>
      </p:sp>
      <p:sp>
        <p:nvSpPr>
          <p:cNvPr id="2204" name="Text Box 37"/>
          <p:cNvSpPr/>
          <p:nvPr/>
        </p:nvSpPr>
        <p:spPr>
          <a:xfrm>
            <a:off x="104400" y="5635800"/>
            <a:ext cx="8554680" cy="1008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Valeurs sous-maximales de la fréquence cardiaque chez des enfants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comparées à celles d’adultes, à un même niveau de consommation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d’oxygène. (d’après Wilmore et Costill, 1994) </a:t>
            </a:r>
            <a:endParaRPr b="0" lang="en-US" sz="2000" strike="noStrike" u="none">
              <a:solidFill>
                <a:srgbClr val="ffff00"/>
              </a:solidFill>
              <a:effectLst/>
              <a:uFillTx/>
              <a:latin typeface="Times New Roman"/>
            </a:endParaRPr>
          </a:p>
        </p:txBody>
      </p:sp>
      <p:sp>
        <p:nvSpPr>
          <p:cNvPr id="2205" name="Text Box 40"/>
          <p:cNvSpPr/>
          <p:nvPr/>
        </p:nvSpPr>
        <p:spPr>
          <a:xfrm>
            <a:off x="4724280" y="2895480"/>
            <a:ext cx="396252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L ’enfant et présente une capacité d’extraction de l’oxygène  beaucoup plus efficace que celle de l ’adulte.</a:t>
            </a:r>
            <a:endParaRPr b="0" lang="en-US" sz="1800" strike="noStrike" u="none">
              <a:solidFill>
                <a:srgbClr val="ffff00"/>
              </a:solidFill>
              <a:effectLst/>
              <a:uFillTx/>
              <a:latin typeface="Times New Roman"/>
            </a:endParaRPr>
          </a:p>
        </p:txBody>
      </p:sp>
    </p:spTree>
  </p:cSld>
  <p:transition spd="med">
    <p:zoom dir="out"/>
  </p:transition>
  <p:timing>
    <p:tnLst>
      <p:par>
        <p:cTn id="2202" dur="indefinite" restart="never" nodeType="tmRoot">
          <p:childTnLst>
            <p:seq>
              <p:cTn id="2203" dur="indefinite" nodeType="mainSeq">
                <p:childTnLst>
                  <p:par>
                    <p:cTn id="2204" nodeType="clickEffect" fill="hold">
                      <p:stCondLst>
                        <p:cond delay="indefinite"/>
                      </p:stCondLst>
                      <p:childTnLst>
                        <p:par>
                          <p:cTn id="2205" nodeType="withEffect" fill="hold">
                            <p:stCondLst>
                              <p:cond delay="0"/>
                            </p:stCondLst>
                            <p:childTnLst>
                              <p:par>
                                <p:cTn id="2206" nodeType="clickEffect" fill="hold" presetClass="entr" presetID="9">
                                  <p:stCondLst>
                                    <p:cond delay="0"/>
                                  </p:stCondLst>
                                  <p:iterate type="wd">
                                    <p:tmAbs val="300"/>
                                  </p:iterate>
                                  <p:childTnLst>
                                    <p:set>
                                      <p:cBhvr>
                                        <p:cTn id="2207" dur="1" fill="hold">
                                          <p:stCondLst>
                                            <p:cond delay="0"/>
                                          </p:stCondLst>
                                        </p:cTn>
                                        <p:tgtEl>
                                          <p:spTgt spid="2205"/>
                                        </p:tgtEl>
                                        <p:attrNameLst>
                                          <p:attrName>style.visibility</p:attrName>
                                        </p:attrNameLst>
                                      </p:cBhvr>
                                      <p:to>
                                        <p:strVal val="visible"/>
                                      </p:to>
                                    </p:set>
                                    <p:animEffect filter="dissolve" transition="in">
                                      <p:cBhvr additive="repl">
                                        <p:cTn id="2208" dur="300"/>
                                        <p:tgtEl>
                                          <p:spTgt spid="2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206" name=""/>
          <p:cNvGraphicFramePr/>
          <p:nvPr/>
        </p:nvGraphicFramePr>
        <p:xfrm>
          <a:off x="304920" y="1397160"/>
          <a:ext cx="8610480" cy="5029200"/>
        </p:xfrm>
        <a:graphic>
          <a:graphicData uri="http://schemas.openxmlformats.org/drawingml/2006/table">
            <a:tbl>
              <a:tblPr/>
              <a:tblGrid>
                <a:gridCol w="4800600"/>
                <a:gridCol w="3809880"/>
              </a:tblGrid>
              <a:tr h="703800">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Fonctions</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Réponse de l’enfant comparée à celle de l’adulte</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13680">
                      <a:solidFill>
                        <a:srgbClr val="ffff00"/>
                      </a:solidFill>
                      <a:prstDash val="solid"/>
                    </a:lnT>
                    <a:lnB w="5760">
                      <a:solidFill>
                        <a:srgbClr val="ffff00"/>
                      </a:solidFill>
                      <a:prstDash val="solid"/>
                    </a:lnB>
                    <a:noFill/>
                  </a:tcPr>
                </a:tc>
              </a:tr>
              <a:tr h="70380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Fréquence cardiaque sous-maximale</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Plus élevée pendant les 10 premières années</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5036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Fréquence cardiaque maximale</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Plus élevée</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70380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Volume d’éjection systolique sous maximal et maximal</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Plus faible</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5036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Débit cardiaque sous maximal</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Un peu plus faible</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70380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Pressions systolique et diastolique sous maximales et maximales</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Plus faible</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50364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Débit sanguin des muscles en activité</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576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Plus élevé</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5760">
                      <a:solidFill>
                        <a:srgbClr val="ffff00"/>
                      </a:solidFill>
                      <a:prstDash val="solid"/>
                    </a:lnB>
                    <a:noFill/>
                  </a:tcPr>
                </a:tc>
              </a:tr>
              <a:tr h="703800">
                <a:tc>
                  <a:txBody>
                    <a:bodyPr lIns="90000" rIns="90000" tIns="46800" bIns="46800" anchor="t">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Différence artério-veineuse (sang veineux mêlé) sous maximale </a:t>
                      </a:r>
                      <a:endParaRPr b="0" lang="en-US" sz="2000" strike="noStrike" u="none">
                        <a:solidFill>
                          <a:srgbClr val="ffff00"/>
                        </a:solidFill>
                        <a:effectLst/>
                        <a:uFillTx/>
                        <a:latin typeface="Times New Roman"/>
                      </a:endParaRPr>
                    </a:p>
                  </a:txBody>
                  <a:tcPr anchor="t" marL="90000" marR="90000">
                    <a:lnL w="13680">
                      <a:solidFill>
                        <a:srgbClr val="ffff00"/>
                      </a:solidFill>
                      <a:prstDash val="solid"/>
                    </a:lnL>
                    <a:lnR w="5760">
                      <a:solidFill>
                        <a:srgbClr val="ffff00"/>
                      </a:solidFill>
                      <a:prstDash val="solid"/>
                    </a:lnR>
                    <a:lnT w="5760">
                      <a:solidFill>
                        <a:srgbClr val="ffff00"/>
                      </a:solidFill>
                      <a:prstDash val="solid"/>
                    </a:lnT>
                    <a:lnB w="13680">
                      <a:solidFill>
                        <a:srgbClr val="ffff00"/>
                      </a:solidFill>
                      <a:prstDash val="solid"/>
                    </a:lnB>
                    <a:noFill/>
                  </a:tcPr>
                </a:tc>
                <a:tc>
                  <a:txBody>
                    <a:bodyPr lIns="90000" rIns="90000" tIns="46800" bIns="46800" anchor="t">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Plus élevée</a:t>
                      </a:r>
                      <a:endParaRPr b="0" lang="en-US" sz="2000" strike="noStrike" u="none">
                        <a:solidFill>
                          <a:srgbClr val="ffff00"/>
                        </a:solidFill>
                        <a:effectLst/>
                        <a:uFillTx/>
                        <a:latin typeface="Times New Roman"/>
                      </a:endParaRPr>
                    </a:p>
                  </a:txBody>
                  <a:tcPr anchor="t" marL="90000" marR="90000">
                    <a:lnL w="5760">
                      <a:solidFill>
                        <a:srgbClr val="ffff00"/>
                      </a:solidFill>
                      <a:prstDash val="solid"/>
                    </a:lnL>
                    <a:lnR w="13680">
                      <a:solidFill>
                        <a:srgbClr val="ffff00"/>
                      </a:solidFill>
                      <a:prstDash val="solid"/>
                    </a:lnR>
                    <a:lnT w="5760">
                      <a:solidFill>
                        <a:srgbClr val="ffff00"/>
                      </a:solidFill>
                      <a:prstDash val="solid"/>
                    </a:lnT>
                    <a:lnB w="13680">
                      <a:solidFill>
                        <a:srgbClr val="ffff00"/>
                      </a:solidFill>
                      <a:prstDash val="solid"/>
                    </a:lnB>
                    <a:noFill/>
                  </a:tcPr>
                </a:tc>
              </a:tr>
            </a:tbl>
          </a:graphicData>
        </a:graphic>
      </p:graphicFrame>
      <p:sp>
        <p:nvSpPr>
          <p:cNvPr id="2207" name="Text Box 47"/>
          <p:cNvSpPr/>
          <p:nvPr/>
        </p:nvSpPr>
        <p:spPr>
          <a:xfrm>
            <a:off x="920880" y="228600"/>
            <a:ext cx="733068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Comparaison entre l’enfant et l’adulte de la réponse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hémodynamique centrale et périphérique à l’exercice</a:t>
            </a:r>
            <a:endParaRPr b="0" lang="en-US" sz="2400" strike="noStrike" u="none">
              <a:solidFill>
                <a:srgbClr val="ffff00"/>
              </a:solidFill>
              <a:effectLst/>
              <a:uFillTx/>
              <a:latin typeface="Times New Roman"/>
            </a:endParaRPr>
          </a:p>
        </p:txBody>
      </p:sp>
    </p:spTree>
  </p:cSld>
  <p:transition spd="med">
    <p:zoom dir="out"/>
  </p:transition>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208" name="Group 251"/>
          <p:cNvGrpSpPr/>
          <p:nvPr/>
        </p:nvGrpSpPr>
        <p:grpSpPr>
          <a:xfrm>
            <a:off x="762120" y="838080"/>
            <a:ext cx="5212440" cy="3284640"/>
            <a:chOff x="762120" y="838080"/>
            <a:chExt cx="5212440" cy="3284640"/>
          </a:xfrm>
        </p:grpSpPr>
        <p:grpSp>
          <p:nvGrpSpPr>
            <p:cNvPr id="2209" name="Group 191"/>
            <p:cNvGrpSpPr/>
            <p:nvPr/>
          </p:nvGrpSpPr>
          <p:grpSpPr>
            <a:xfrm>
              <a:off x="762120" y="838080"/>
              <a:ext cx="5212440" cy="3284640"/>
              <a:chOff x="762120" y="838080"/>
              <a:chExt cx="5212440" cy="3284640"/>
            </a:xfrm>
          </p:grpSpPr>
          <p:grpSp>
            <p:nvGrpSpPr>
              <p:cNvPr id="2210" name="Group 190"/>
              <p:cNvGrpSpPr/>
              <p:nvPr/>
            </p:nvGrpSpPr>
            <p:grpSpPr>
              <a:xfrm>
                <a:off x="762120" y="838080"/>
                <a:ext cx="5212440" cy="3284640"/>
                <a:chOff x="762120" y="838080"/>
                <a:chExt cx="5212440" cy="3284640"/>
              </a:xfrm>
            </p:grpSpPr>
            <p:grpSp>
              <p:nvGrpSpPr>
                <p:cNvPr id="2211" name="Group 82"/>
                <p:cNvGrpSpPr/>
                <p:nvPr/>
              </p:nvGrpSpPr>
              <p:grpSpPr>
                <a:xfrm>
                  <a:off x="762120" y="838080"/>
                  <a:ext cx="5212440" cy="3284640"/>
                  <a:chOff x="762120" y="838080"/>
                  <a:chExt cx="5212440" cy="3284640"/>
                </a:xfrm>
              </p:grpSpPr>
              <p:sp>
                <p:nvSpPr>
                  <p:cNvPr id="2212" name="Line 83"/>
                  <p:cNvSpPr/>
                  <p:nvPr/>
                </p:nvSpPr>
                <p:spPr>
                  <a:xfrm>
                    <a:off x="1672920" y="1001520"/>
                    <a:ext cx="0" cy="253872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13" name="Line 84"/>
                  <p:cNvSpPr/>
                  <p:nvPr/>
                </p:nvSpPr>
                <p:spPr>
                  <a:xfrm>
                    <a:off x="1572120" y="3458520"/>
                    <a:ext cx="433224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14" name="Line 85"/>
                  <p:cNvSpPr/>
                  <p:nvPr/>
                </p:nvSpPr>
                <p:spPr>
                  <a:xfrm>
                    <a:off x="2680560" y="345852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215" name="Line 86"/>
                  <p:cNvSpPr/>
                  <p:nvPr/>
                </p:nvSpPr>
                <p:spPr>
                  <a:xfrm>
                    <a:off x="3789000" y="345852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216" name="Line 87"/>
                  <p:cNvSpPr/>
                  <p:nvPr/>
                </p:nvSpPr>
                <p:spPr>
                  <a:xfrm>
                    <a:off x="5904720" y="345852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217" name="Line 88"/>
                  <p:cNvSpPr/>
                  <p:nvPr/>
                </p:nvSpPr>
                <p:spPr>
                  <a:xfrm>
                    <a:off x="4796640" y="3458520"/>
                    <a:ext cx="0" cy="81720"/>
                  </a:xfrm>
                  <a:prstGeom prst="line">
                    <a:avLst/>
                  </a:prstGeom>
                  <a:ln w="9360">
                    <a:solidFill>
                      <a:srgbClr val="ffff00"/>
                    </a:solidFill>
                    <a:miter/>
                  </a:ln>
                </p:spPr>
                <p:style>
                  <a:lnRef idx="0"/>
                  <a:fillRef idx="0"/>
                  <a:effectRef idx="0"/>
                  <a:fontRef idx="minor"/>
                </p:style>
                <p:txBody>
                  <a:bodyPr lIns="90000" rIns="90000" tIns="34920" bIns="34920" anchor="ctr">
                    <a:noAutofit/>
                  </a:bodyPr>
                  <a:p>
                    <a:endParaRPr b="0" lang="en-US" sz="2400" strike="noStrike" u="none">
                      <a:solidFill>
                        <a:srgbClr val="ffff00"/>
                      </a:solidFill>
                      <a:effectLst/>
                      <a:uFillTx/>
                      <a:latin typeface="Times New Roman"/>
                    </a:endParaRPr>
                  </a:p>
                </p:txBody>
              </p:sp>
              <p:sp>
                <p:nvSpPr>
                  <p:cNvPr id="2218" name="Line 89"/>
                  <p:cNvSpPr/>
                  <p:nvPr/>
                </p:nvSpPr>
                <p:spPr>
                  <a:xfrm flipH="1">
                    <a:off x="1572120" y="100152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19" name="Line 90"/>
                  <p:cNvSpPr/>
                  <p:nvPr/>
                </p:nvSpPr>
                <p:spPr>
                  <a:xfrm flipH="1">
                    <a:off x="1572120" y="141084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20" name="Line 91"/>
                  <p:cNvSpPr/>
                  <p:nvPr/>
                </p:nvSpPr>
                <p:spPr>
                  <a:xfrm flipH="1">
                    <a:off x="1572120" y="182052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21" name="Line 92"/>
                  <p:cNvSpPr/>
                  <p:nvPr/>
                </p:nvSpPr>
                <p:spPr>
                  <a:xfrm flipH="1">
                    <a:off x="1572120" y="223020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22" name="Line 93"/>
                  <p:cNvSpPr/>
                  <p:nvPr/>
                </p:nvSpPr>
                <p:spPr>
                  <a:xfrm flipH="1">
                    <a:off x="1572120" y="304920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23" name="Line 94"/>
                  <p:cNvSpPr/>
                  <p:nvPr/>
                </p:nvSpPr>
                <p:spPr>
                  <a:xfrm flipH="1">
                    <a:off x="1572120" y="2639520"/>
                    <a:ext cx="10080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24" name="Text Box 95"/>
                  <p:cNvSpPr/>
                  <p:nvPr/>
                </p:nvSpPr>
                <p:spPr>
                  <a:xfrm>
                    <a:off x="1470240" y="354060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0.5</a:t>
                    </a:r>
                    <a:endParaRPr b="0" lang="en-US" sz="1200" strike="noStrike" u="none">
                      <a:solidFill>
                        <a:srgbClr val="ffff00"/>
                      </a:solidFill>
                      <a:effectLst/>
                      <a:uFillTx/>
                      <a:latin typeface="Times New Roman"/>
                    </a:endParaRPr>
                  </a:p>
                </p:txBody>
              </p:sp>
              <p:sp>
                <p:nvSpPr>
                  <p:cNvPr id="2225" name="Text Box 96"/>
                  <p:cNvSpPr/>
                  <p:nvPr/>
                </p:nvSpPr>
                <p:spPr>
                  <a:xfrm>
                    <a:off x="2477880" y="354060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1.0</a:t>
                    </a:r>
                    <a:endParaRPr b="0" lang="en-US" sz="1200" strike="noStrike" u="none">
                      <a:solidFill>
                        <a:srgbClr val="ffff00"/>
                      </a:solidFill>
                      <a:effectLst/>
                      <a:uFillTx/>
                      <a:latin typeface="Times New Roman"/>
                    </a:endParaRPr>
                  </a:p>
                </p:txBody>
              </p:sp>
              <p:sp>
                <p:nvSpPr>
                  <p:cNvPr id="2226" name="Text Box 97"/>
                  <p:cNvSpPr/>
                  <p:nvPr/>
                </p:nvSpPr>
                <p:spPr>
                  <a:xfrm>
                    <a:off x="3588480" y="354060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1.5</a:t>
                    </a:r>
                    <a:endParaRPr b="0" lang="en-US" sz="1200" strike="noStrike" u="none">
                      <a:solidFill>
                        <a:srgbClr val="ffff00"/>
                      </a:solidFill>
                      <a:effectLst/>
                      <a:uFillTx/>
                      <a:latin typeface="Times New Roman"/>
                    </a:endParaRPr>
                  </a:p>
                </p:txBody>
              </p:sp>
              <p:sp>
                <p:nvSpPr>
                  <p:cNvPr id="2227" name="Text Box 98"/>
                  <p:cNvSpPr/>
                  <p:nvPr/>
                </p:nvSpPr>
                <p:spPr>
                  <a:xfrm>
                    <a:off x="4595760" y="354060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2.0</a:t>
                    </a:r>
                    <a:endParaRPr b="0" lang="en-US" sz="1200" strike="noStrike" u="none">
                      <a:solidFill>
                        <a:srgbClr val="ffff00"/>
                      </a:solidFill>
                      <a:effectLst/>
                      <a:uFillTx/>
                      <a:latin typeface="Times New Roman"/>
                    </a:endParaRPr>
                  </a:p>
                </p:txBody>
              </p:sp>
              <p:sp>
                <p:nvSpPr>
                  <p:cNvPr id="2228" name="Text Box 99"/>
                  <p:cNvSpPr/>
                  <p:nvPr/>
                </p:nvSpPr>
                <p:spPr>
                  <a:xfrm>
                    <a:off x="5603400" y="3540600"/>
                    <a:ext cx="37116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2.5</a:t>
                    </a:r>
                    <a:endParaRPr b="0" lang="en-US" sz="1200" strike="noStrike" u="none">
                      <a:solidFill>
                        <a:srgbClr val="ffff00"/>
                      </a:solidFill>
                      <a:effectLst/>
                      <a:uFillTx/>
                      <a:latin typeface="Times New Roman"/>
                    </a:endParaRPr>
                  </a:p>
                </p:txBody>
              </p:sp>
              <p:sp>
                <p:nvSpPr>
                  <p:cNvPr id="2229" name="Text Box 100"/>
                  <p:cNvSpPr/>
                  <p:nvPr/>
                </p:nvSpPr>
                <p:spPr>
                  <a:xfrm>
                    <a:off x="1269360" y="3294720"/>
                    <a:ext cx="25704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9</a:t>
                    </a:r>
                    <a:endParaRPr b="0" lang="en-US" sz="1200" strike="noStrike" u="none">
                      <a:solidFill>
                        <a:srgbClr val="ffff00"/>
                      </a:solidFill>
                      <a:effectLst/>
                      <a:uFillTx/>
                      <a:latin typeface="Times New Roman"/>
                    </a:endParaRPr>
                  </a:p>
                </p:txBody>
              </p:sp>
              <p:sp>
                <p:nvSpPr>
                  <p:cNvPr id="2230" name="Text Box 101"/>
                  <p:cNvSpPr/>
                  <p:nvPr/>
                </p:nvSpPr>
                <p:spPr>
                  <a:xfrm>
                    <a:off x="1170360" y="288504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10</a:t>
                    </a:r>
                    <a:endParaRPr b="0" lang="en-US" sz="1200" strike="noStrike" u="none">
                      <a:solidFill>
                        <a:srgbClr val="ffff00"/>
                      </a:solidFill>
                      <a:effectLst/>
                      <a:uFillTx/>
                      <a:latin typeface="Times New Roman"/>
                    </a:endParaRPr>
                  </a:p>
                </p:txBody>
              </p:sp>
              <p:sp>
                <p:nvSpPr>
                  <p:cNvPr id="2231" name="Text Box 102"/>
                  <p:cNvSpPr/>
                  <p:nvPr/>
                </p:nvSpPr>
                <p:spPr>
                  <a:xfrm>
                    <a:off x="1170360" y="247572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11</a:t>
                    </a:r>
                    <a:endParaRPr b="0" lang="en-US" sz="1200" strike="noStrike" u="none">
                      <a:solidFill>
                        <a:srgbClr val="ffff00"/>
                      </a:solidFill>
                      <a:effectLst/>
                      <a:uFillTx/>
                      <a:latin typeface="Times New Roman"/>
                    </a:endParaRPr>
                  </a:p>
                </p:txBody>
              </p:sp>
              <p:sp>
                <p:nvSpPr>
                  <p:cNvPr id="2232" name="Text Box 103"/>
                  <p:cNvSpPr/>
                  <p:nvPr/>
                </p:nvSpPr>
                <p:spPr>
                  <a:xfrm>
                    <a:off x="1170360" y="206640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12</a:t>
                    </a:r>
                    <a:endParaRPr b="0" lang="en-US" sz="1200" strike="noStrike" u="none">
                      <a:solidFill>
                        <a:srgbClr val="ffff00"/>
                      </a:solidFill>
                      <a:effectLst/>
                      <a:uFillTx/>
                      <a:latin typeface="Times New Roman"/>
                    </a:endParaRPr>
                  </a:p>
                </p:txBody>
              </p:sp>
              <p:sp>
                <p:nvSpPr>
                  <p:cNvPr id="2233" name="Text Box 104"/>
                  <p:cNvSpPr/>
                  <p:nvPr/>
                </p:nvSpPr>
                <p:spPr>
                  <a:xfrm>
                    <a:off x="1170360" y="165672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13</a:t>
                    </a:r>
                    <a:endParaRPr b="0" lang="en-US" sz="1200" strike="noStrike" u="none">
                      <a:solidFill>
                        <a:srgbClr val="ffff00"/>
                      </a:solidFill>
                      <a:effectLst/>
                      <a:uFillTx/>
                      <a:latin typeface="Times New Roman"/>
                    </a:endParaRPr>
                  </a:p>
                </p:txBody>
              </p:sp>
              <p:sp>
                <p:nvSpPr>
                  <p:cNvPr id="2234" name="Text Box 105"/>
                  <p:cNvSpPr/>
                  <p:nvPr/>
                </p:nvSpPr>
                <p:spPr>
                  <a:xfrm>
                    <a:off x="1170360" y="124740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14</a:t>
                    </a:r>
                    <a:endParaRPr b="0" lang="en-US" sz="1200" strike="noStrike" u="none">
                      <a:solidFill>
                        <a:srgbClr val="ffff00"/>
                      </a:solidFill>
                      <a:effectLst/>
                      <a:uFillTx/>
                      <a:latin typeface="Times New Roman"/>
                    </a:endParaRPr>
                  </a:p>
                </p:txBody>
              </p:sp>
              <p:sp>
                <p:nvSpPr>
                  <p:cNvPr id="2235" name="Text Box 106"/>
                  <p:cNvSpPr/>
                  <p:nvPr/>
                </p:nvSpPr>
                <p:spPr>
                  <a:xfrm>
                    <a:off x="1170360" y="838080"/>
                    <a:ext cx="333000" cy="276840"/>
                  </a:xfrm>
                  <a:prstGeom prst="rect">
                    <a:avLst/>
                  </a:prstGeom>
                  <a:noFill/>
                  <a:ln w="0">
                    <a:noFill/>
                  </a:ln>
                  <a:effectLst>
                    <a:outerShdw dist="17819" dir="2700000" blurRad="0" rotWithShape="0">
                      <a:srgbClr val="808080"/>
                    </a:outerShdw>
                  </a:effectLst>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Times New Roman"/>
                      </a:rPr>
                      <a:t>15</a:t>
                    </a:r>
                    <a:endParaRPr b="0" lang="en-US" sz="1200" strike="noStrike" u="none">
                      <a:solidFill>
                        <a:srgbClr val="ffff00"/>
                      </a:solidFill>
                      <a:effectLst/>
                      <a:uFillTx/>
                      <a:latin typeface="Times New Roman"/>
                    </a:endParaRPr>
                  </a:p>
                </p:txBody>
              </p:sp>
              <p:sp>
                <p:nvSpPr>
                  <p:cNvPr id="2236" name="Text Box 107"/>
                  <p:cNvSpPr/>
                  <p:nvPr/>
                </p:nvSpPr>
                <p:spPr>
                  <a:xfrm rot="16200000">
                    <a:off x="-125280" y="2057040"/>
                    <a:ext cx="2112120" cy="33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CaO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 - CvO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 </a:t>
                    </a:r>
                    <a:r>
                      <a:rPr b="1" lang="fr-FR" sz="1200" strike="noStrike" u="none">
                        <a:solidFill>
                          <a:srgbClr val="ffff00"/>
                        </a:solidFill>
                        <a:effectLst/>
                        <a:uFillTx/>
                        <a:latin typeface="Arial"/>
                      </a:rPr>
                      <a:t>(ml.100 ml</a:t>
                    </a:r>
                    <a:r>
                      <a:rPr b="1" lang="fr-FR" sz="1200" strike="noStrike" u="none" baseline="30000">
                        <a:solidFill>
                          <a:srgbClr val="ffff00"/>
                        </a:solidFill>
                        <a:effectLst/>
                        <a:uFillTx/>
                        <a:latin typeface="Arial"/>
                      </a:rPr>
                      <a:t>-1</a:t>
                    </a:r>
                    <a:r>
                      <a:rPr b="1" lang="fr-FR" sz="1200" strike="noStrike" u="none">
                        <a:solidFill>
                          <a:srgbClr val="ffff00"/>
                        </a:solidFill>
                        <a:effectLst/>
                        <a:uFillTx/>
                        <a:latin typeface="Arial"/>
                      </a:rPr>
                      <a:t>)</a:t>
                    </a:r>
                    <a:endParaRPr b="0" lang="en-US" sz="1200" strike="noStrike" u="none">
                      <a:solidFill>
                        <a:srgbClr val="ffff00"/>
                      </a:solidFill>
                      <a:effectLst/>
                      <a:uFillTx/>
                      <a:latin typeface="Times New Roman"/>
                    </a:endParaRPr>
                  </a:p>
                </p:txBody>
              </p:sp>
              <p:sp>
                <p:nvSpPr>
                  <p:cNvPr id="2237" name="Text Box 108"/>
                  <p:cNvSpPr/>
                  <p:nvPr/>
                </p:nvSpPr>
                <p:spPr>
                  <a:xfrm>
                    <a:off x="2082240" y="3786120"/>
                    <a:ext cx="2617560" cy="33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Consommation d ’O</a:t>
                    </a:r>
                    <a:r>
                      <a:rPr b="1" lang="fr-FR" sz="1400" strike="noStrike" u="none" baseline="-25000">
                        <a:solidFill>
                          <a:srgbClr val="ffff00"/>
                        </a:solidFill>
                        <a:effectLst/>
                        <a:uFillTx/>
                        <a:latin typeface="Arial"/>
                      </a:rPr>
                      <a:t>2</a:t>
                    </a:r>
                    <a:r>
                      <a:rPr b="1" lang="fr-FR" sz="1400" strike="noStrike" u="none">
                        <a:solidFill>
                          <a:srgbClr val="ffff00"/>
                        </a:solidFill>
                        <a:effectLst/>
                        <a:uFillTx/>
                        <a:latin typeface="Arial"/>
                      </a:rPr>
                      <a:t>  </a:t>
                    </a:r>
                    <a:r>
                      <a:rPr b="1" lang="fr-FR" sz="1200" strike="noStrike" u="none">
                        <a:solidFill>
                          <a:srgbClr val="ffff00"/>
                        </a:solidFill>
                        <a:effectLst/>
                        <a:uFillTx/>
                        <a:latin typeface="Arial"/>
                      </a:rPr>
                      <a:t>(L.min</a:t>
                    </a:r>
                    <a:r>
                      <a:rPr b="1" lang="fr-FR" sz="1200" strike="noStrike" u="none" baseline="30000">
                        <a:solidFill>
                          <a:srgbClr val="ffff00"/>
                        </a:solidFill>
                        <a:effectLst/>
                        <a:uFillTx/>
                        <a:latin typeface="Arial"/>
                      </a:rPr>
                      <a:t>-1</a:t>
                    </a:r>
                    <a:r>
                      <a:rPr b="1" lang="fr-FR" sz="1200" strike="noStrike" u="none">
                        <a:solidFill>
                          <a:srgbClr val="ffff00"/>
                        </a:solidFill>
                        <a:effectLst/>
                        <a:uFillTx/>
                        <a:latin typeface="Arial"/>
                      </a:rPr>
                      <a:t>)</a:t>
                    </a:r>
                    <a:endParaRPr b="0" lang="en-US" sz="1200" strike="noStrike" u="none">
                      <a:solidFill>
                        <a:srgbClr val="ffff00"/>
                      </a:solidFill>
                      <a:effectLst/>
                      <a:uFillTx/>
                      <a:latin typeface="Times New Roman"/>
                    </a:endParaRPr>
                  </a:p>
                </p:txBody>
              </p:sp>
            </p:grpSp>
            <p:grpSp>
              <p:nvGrpSpPr>
                <p:cNvPr id="2238" name="Group 168"/>
                <p:cNvGrpSpPr/>
                <p:nvPr/>
              </p:nvGrpSpPr>
              <p:grpSpPr>
                <a:xfrm>
                  <a:off x="1851840" y="1492920"/>
                  <a:ext cx="3628440" cy="1699200"/>
                  <a:chOff x="1851840" y="1492920"/>
                  <a:chExt cx="3628440" cy="1699200"/>
                </a:xfrm>
              </p:grpSpPr>
              <p:sp>
                <p:nvSpPr>
                  <p:cNvPr id="2239" name="Text Box 169"/>
                  <p:cNvSpPr/>
                  <p:nvPr/>
                </p:nvSpPr>
                <p:spPr>
                  <a:xfrm>
                    <a:off x="1851840" y="288468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0" name="Text Box 170"/>
                  <p:cNvSpPr/>
                  <p:nvPr/>
                </p:nvSpPr>
                <p:spPr>
                  <a:xfrm>
                    <a:off x="2355480" y="25556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1" name="Text Box 171"/>
                  <p:cNvSpPr/>
                  <p:nvPr/>
                </p:nvSpPr>
                <p:spPr>
                  <a:xfrm>
                    <a:off x="2960280" y="22298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2" name="Text Box 172"/>
                  <p:cNvSpPr/>
                  <p:nvPr/>
                </p:nvSpPr>
                <p:spPr>
                  <a:xfrm>
                    <a:off x="3565080" y="198396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3" name="Text Box 173"/>
                  <p:cNvSpPr/>
                  <p:nvPr/>
                </p:nvSpPr>
                <p:spPr>
                  <a:xfrm>
                    <a:off x="4070520" y="17384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4" name="Text Box 174"/>
                  <p:cNvSpPr/>
                  <p:nvPr/>
                </p:nvSpPr>
                <p:spPr>
                  <a:xfrm>
                    <a:off x="5077080" y="14929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5" name="Text Box 175"/>
                  <p:cNvSpPr/>
                  <p:nvPr/>
                </p:nvSpPr>
                <p:spPr>
                  <a:xfrm>
                    <a:off x="4574520" y="15764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46" name="Freeform 176"/>
                  <p:cNvSpPr/>
                  <p:nvPr/>
                </p:nvSpPr>
                <p:spPr>
                  <a:xfrm>
                    <a:off x="4291920" y="1615680"/>
                    <a:ext cx="1033200" cy="286200"/>
                  </a:xfrm>
                  <a:custGeom>
                    <a:avLst/>
                    <a:gdLst>
                      <a:gd name="GluePoint1X" fmla="*/ 492 w 492"/>
                      <a:gd name="GluePoint1Y" fmla="*/ 0 h 168"/>
                      <a:gd name="GluePoint2X" fmla="*/ 264 w 492"/>
                      <a:gd name="GluePoint2Y" fmla="*/ 48 h 168"/>
                      <a:gd name="GluePoint3X" fmla="*/ 0 w 492"/>
                      <a:gd name="GluePoint3Y" fmla="*/ 168 h 168"/>
                    </a:gdLst>
                    <a:ahLst/>
                    <a:cxnLst>
                      <a:cxn ang="0">
                        <a:pos x="GluePoint1X" y="GluePoint1Y"/>
                      </a:cxn>
                      <a:cxn ang="0">
                        <a:pos x="GluePoint2X" y="GluePoint2Y"/>
                      </a:cxn>
                      <a:cxn ang="0">
                        <a:pos x="GluePoint3X" y="GluePoint3Y"/>
                      </a:cxn>
                    </a:cxnLst>
                    <a:rect l="l" t="t" r="r" b="b"/>
                    <a:pathLst>
                      <a:path w="492" h="168">
                        <a:moveTo>
                          <a:pt x="492" y="0"/>
                        </a:moveTo>
                        <a:lnTo>
                          <a:pt x="264" y="48"/>
                        </a:lnTo>
                        <a:lnTo>
                          <a:pt x="0" y="168"/>
                        </a:lnTo>
                      </a:path>
                    </a:pathLst>
                  </a:custGeom>
                  <a:noFill/>
                  <a:ln w="9360">
                    <a:solidFill>
                      <a:srgbClr val="ffffff"/>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247" name="Freeform 177"/>
                  <p:cNvSpPr/>
                  <p:nvPr/>
                </p:nvSpPr>
                <p:spPr>
                  <a:xfrm>
                    <a:off x="2074320" y="1902240"/>
                    <a:ext cx="2217240" cy="1146600"/>
                  </a:xfrm>
                  <a:custGeom>
                    <a:avLst/>
                    <a:gdLst>
                      <a:gd name="GluePoint1X" fmla="*/ 1056 w 1056"/>
                      <a:gd name="GluePoint1Y" fmla="*/ 0 h 672"/>
                      <a:gd name="GluePoint2X" fmla="*/ 540 w 1056"/>
                      <a:gd name="GluePoint2Y" fmla="*/ 276 h 672"/>
                      <a:gd name="GluePoint3X" fmla="*/ 276 w 1056"/>
                      <a:gd name="GluePoint3Y" fmla="*/ 468 h 672"/>
                      <a:gd name="GluePoint4X" fmla="*/ 0 w 1056"/>
                      <a:gd name="GluePoint4Y" fmla="*/ 672 h 672"/>
                    </a:gdLst>
                    <a:ahLst/>
                    <a:cxnLst>
                      <a:cxn ang="0">
                        <a:pos x="GluePoint1X" y="GluePoint1Y"/>
                      </a:cxn>
                      <a:cxn ang="0">
                        <a:pos x="GluePoint2X" y="GluePoint2Y"/>
                      </a:cxn>
                      <a:cxn ang="0">
                        <a:pos x="GluePoint3X" y="GluePoint3Y"/>
                      </a:cxn>
                      <a:cxn ang="0">
                        <a:pos x="GluePoint4X" y="GluePoint4Y"/>
                      </a:cxn>
                    </a:cxnLst>
                    <a:rect l="l" t="t" r="r" b="b"/>
                    <a:pathLst>
                      <a:path w="1056" h="672">
                        <a:moveTo>
                          <a:pt x="1056" y="0"/>
                        </a:moveTo>
                        <a:lnTo>
                          <a:pt x="540" y="276"/>
                        </a:lnTo>
                        <a:lnTo>
                          <a:pt x="276" y="468"/>
                        </a:lnTo>
                        <a:lnTo>
                          <a:pt x="0" y="672"/>
                        </a:lnTo>
                      </a:path>
                    </a:pathLst>
                  </a:custGeom>
                  <a:noFill/>
                  <a:ln w="9360">
                    <a:solidFill>
                      <a:srgbClr val="ffffff"/>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grpSp>
            <p:nvGrpSpPr>
              <p:cNvPr id="2248" name="Group 178"/>
              <p:cNvGrpSpPr/>
              <p:nvPr/>
            </p:nvGrpSpPr>
            <p:grpSpPr>
              <a:xfrm>
                <a:off x="1851840" y="1001520"/>
                <a:ext cx="3628080" cy="1617840"/>
                <a:chOff x="1851840" y="1001520"/>
                <a:chExt cx="3628080" cy="1617840"/>
              </a:xfrm>
            </p:grpSpPr>
            <p:sp>
              <p:nvSpPr>
                <p:cNvPr id="2249" name="Text Box 179"/>
                <p:cNvSpPr/>
                <p:nvPr/>
              </p:nvSpPr>
              <p:spPr>
                <a:xfrm>
                  <a:off x="1851840" y="23119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grpSp>
              <p:nvGrpSpPr>
                <p:cNvPr id="2250" name="Group 180"/>
                <p:cNvGrpSpPr/>
                <p:nvPr/>
              </p:nvGrpSpPr>
              <p:grpSpPr>
                <a:xfrm>
                  <a:off x="2074320" y="1001520"/>
                  <a:ext cx="3405600" cy="1473840"/>
                  <a:chOff x="2074320" y="1001520"/>
                  <a:chExt cx="3405600" cy="1473840"/>
                </a:xfrm>
              </p:grpSpPr>
              <p:sp>
                <p:nvSpPr>
                  <p:cNvPr id="2251" name="Text Box 181"/>
                  <p:cNvSpPr/>
                  <p:nvPr/>
                </p:nvSpPr>
                <p:spPr>
                  <a:xfrm>
                    <a:off x="3465360" y="14108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52" name="Text Box 182"/>
                  <p:cNvSpPr/>
                  <p:nvPr/>
                </p:nvSpPr>
                <p:spPr>
                  <a:xfrm>
                    <a:off x="4069800" y="12470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53" name="Text Box 183"/>
                  <p:cNvSpPr/>
                  <p:nvPr/>
                </p:nvSpPr>
                <p:spPr>
                  <a:xfrm>
                    <a:off x="4572720" y="10832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54" name="Text Box 184"/>
                  <p:cNvSpPr/>
                  <p:nvPr/>
                </p:nvSpPr>
                <p:spPr>
                  <a:xfrm>
                    <a:off x="5076720" y="100152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55" name="Text Box 185"/>
                  <p:cNvSpPr/>
                  <p:nvPr/>
                </p:nvSpPr>
                <p:spPr>
                  <a:xfrm>
                    <a:off x="2859120" y="15746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56" name="Text Box 186"/>
                  <p:cNvSpPr/>
                  <p:nvPr/>
                </p:nvSpPr>
                <p:spPr>
                  <a:xfrm>
                    <a:off x="2254320" y="1902240"/>
                    <a:ext cx="403200" cy="307440"/>
                  </a:xfrm>
                  <a:prstGeom prst="rect">
                    <a:avLst/>
                  </a:prstGeom>
                  <a:noFill/>
                  <a:ln w="0">
                    <a:noFill/>
                  </a:ln>
                </p:spPr>
                <p:style>
                  <a:lnRef idx="0"/>
                  <a:fillRef idx="0"/>
                  <a:effectRef idx="0"/>
                  <a:fontRef idx="minor"/>
                </p:style>
                <p:txBody>
                  <a:bodyPr wrap="none" lIns="90000" rIns="90000" tIns="46800" bIns="46800" anchor="t">
                    <a:spAutoFit/>
                  </a:bodyPr>
                  <a:p>
                    <a:pPr>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400" strike="noStrike" u="none">
                        <a:solidFill>
                          <a:srgbClr val="ffff00"/>
                        </a:solidFill>
                        <a:effectLst/>
                        <a:uFillTx/>
                        <a:latin typeface="Times New Roman"/>
                      </a:rPr>
                      <a:t> </a:t>
                    </a:r>
                    <a:endParaRPr b="0" lang="en-US" sz="1400" strike="noStrike" u="none">
                      <a:solidFill>
                        <a:srgbClr val="ffff00"/>
                      </a:solidFill>
                      <a:effectLst/>
                      <a:uFillTx/>
                      <a:latin typeface="Times New Roman"/>
                    </a:endParaRPr>
                  </a:p>
                </p:txBody>
              </p:sp>
              <p:sp>
                <p:nvSpPr>
                  <p:cNvPr id="2257" name="Freeform 187"/>
                  <p:cNvSpPr/>
                  <p:nvPr/>
                </p:nvSpPr>
                <p:spPr>
                  <a:xfrm>
                    <a:off x="2074320" y="1164960"/>
                    <a:ext cx="3224880" cy="1310400"/>
                  </a:xfrm>
                  <a:custGeom>
                    <a:avLst/>
                    <a:gdLst>
                      <a:gd name="GluePoint1X" fmla="*/ 1536 w 1536"/>
                      <a:gd name="GluePoint1Y" fmla="*/ 0 h 768"/>
                      <a:gd name="GluePoint2X" fmla="*/ 1284 w 1536"/>
                      <a:gd name="GluePoint2Y" fmla="*/ 36 h 768"/>
                      <a:gd name="GluePoint3X" fmla="*/ 468 w 1536"/>
                      <a:gd name="GluePoint3Y" fmla="*/ 312 h 768"/>
                      <a:gd name="GluePoint4X" fmla="*/ 180 w 1536"/>
                      <a:gd name="GluePoint4Y" fmla="*/ 516 h 768"/>
                      <a:gd name="GluePoint5X" fmla="*/ 0 w 1536"/>
                      <a:gd name="GluePoint5Y" fmla="*/ 768 h 768"/>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536" h="768">
                        <a:moveTo>
                          <a:pt x="1536" y="0"/>
                        </a:moveTo>
                        <a:lnTo>
                          <a:pt x="1284" y="36"/>
                        </a:lnTo>
                        <a:lnTo>
                          <a:pt x="468" y="312"/>
                        </a:lnTo>
                        <a:lnTo>
                          <a:pt x="180" y="516"/>
                        </a:lnTo>
                        <a:lnTo>
                          <a:pt x="0" y="768"/>
                        </a:lnTo>
                      </a:path>
                    </a:pathLst>
                  </a:custGeom>
                  <a:noFill/>
                  <a:ln w="9360">
                    <a:solidFill>
                      <a:srgbClr val="3333cc"/>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grpSp>
        <p:sp>
          <p:nvSpPr>
            <p:cNvPr id="2258" name="Text Box 188"/>
            <p:cNvSpPr/>
            <p:nvPr/>
          </p:nvSpPr>
          <p:spPr>
            <a:xfrm>
              <a:off x="4777200" y="2286000"/>
              <a:ext cx="104220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3333cc"/>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3333cc"/>
                  </a:solidFill>
                  <a:effectLst/>
                  <a:uFillTx/>
                  <a:latin typeface="Arial"/>
                </a:rPr>
                <a:t> enfants</a:t>
              </a:r>
              <a:endParaRPr b="0" lang="en-US" sz="1400" strike="noStrike" u="none">
                <a:solidFill>
                  <a:srgbClr val="ffff00"/>
                </a:solidFill>
                <a:effectLst/>
                <a:uFillTx/>
                <a:latin typeface="Times New Roman"/>
              </a:endParaRPr>
            </a:p>
            <a:p>
              <a:pPr>
                <a:lnSpc>
                  <a:spcPct val="100000"/>
                </a:lnSpc>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Arial"/>
                </a:rPr>
                <a:t> adultes</a:t>
              </a:r>
              <a:endParaRPr b="0" lang="en-US" sz="1400" strike="noStrike" u="none">
                <a:solidFill>
                  <a:srgbClr val="ffff00"/>
                </a:solidFill>
                <a:effectLst/>
                <a:uFillTx/>
                <a:latin typeface="Times New Roman"/>
              </a:endParaRPr>
            </a:p>
          </p:txBody>
        </p:sp>
      </p:grpSp>
      <p:sp>
        <p:nvSpPr>
          <p:cNvPr id="2259" name="Text Box 241"/>
          <p:cNvSpPr/>
          <p:nvPr/>
        </p:nvSpPr>
        <p:spPr>
          <a:xfrm>
            <a:off x="495000" y="228600"/>
            <a:ext cx="6885720" cy="5101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9933"/>
                </a:solidFill>
                <a:effectLst/>
                <a:uFillTx/>
                <a:latin typeface="Times New Roman"/>
              </a:rPr>
              <a:t>Différence artério-veineuse en O</a:t>
            </a:r>
            <a:r>
              <a:rPr b="1" lang="fr-FR" sz="2400" strike="noStrike" u="none" baseline="-25000">
                <a:solidFill>
                  <a:srgbClr val="ff9933"/>
                </a:solidFill>
                <a:effectLst/>
                <a:uFillTx/>
                <a:latin typeface="Times New Roman"/>
              </a:rPr>
              <a:t>2 </a:t>
            </a:r>
            <a:r>
              <a:rPr b="1" lang="fr-FR" sz="2400" strike="noStrike" u="none">
                <a:solidFill>
                  <a:srgbClr val="ff9933"/>
                </a:solidFill>
                <a:effectLst/>
                <a:uFillTx/>
                <a:latin typeface="Times New Roman"/>
              </a:rPr>
              <a:t>(DO</a:t>
            </a:r>
            <a:r>
              <a:rPr b="1" lang="fr-FR" sz="2400" strike="noStrike" u="none" baseline="-25000">
                <a:solidFill>
                  <a:srgbClr val="ff9933"/>
                </a:solidFill>
                <a:effectLst/>
                <a:uFillTx/>
                <a:latin typeface="Times New Roman"/>
              </a:rPr>
              <a:t>2: </a:t>
            </a:r>
            <a:r>
              <a:rPr b="1" lang="fr-FR" sz="2400" strike="noStrike" u="none">
                <a:solidFill>
                  <a:srgbClr val="ff9933"/>
                </a:solidFill>
                <a:effectLst/>
                <a:uFillTx/>
                <a:latin typeface="Times New Roman"/>
              </a:rPr>
              <a:t>CaO</a:t>
            </a:r>
            <a:r>
              <a:rPr b="1" lang="fr-FR" sz="2400" strike="noStrike" u="none" baseline="-25000">
                <a:solidFill>
                  <a:srgbClr val="ff9933"/>
                </a:solidFill>
                <a:effectLst/>
                <a:uFillTx/>
                <a:latin typeface="Times New Roman"/>
              </a:rPr>
              <a:t>2</a:t>
            </a:r>
            <a:r>
              <a:rPr b="1" lang="fr-FR" sz="2400" strike="noStrike" u="none">
                <a:solidFill>
                  <a:srgbClr val="ff9933"/>
                </a:solidFill>
                <a:effectLst/>
                <a:uFillTx/>
                <a:latin typeface="Times New Roman"/>
              </a:rPr>
              <a:t>-CvO</a:t>
            </a:r>
            <a:r>
              <a:rPr b="1" lang="fr-FR" sz="2400" strike="noStrike" u="none" baseline="-25000">
                <a:solidFill>
                  <a:srgbClr val="ff9933"/>
                </a:solidFill>
                <a:effectLst/>
                <a:uFillTx/>
                <a:latin typeface="Times New Roman"/>
              </a:rPr>
              <a:t>2</a:t>
            </a:r>
            <a:r>
              <a:rPr b="1" lang="fr-FR" sz="2400" strike="noStrike" u="none">
                <a:solidFill>
                  <a:srgbClr val="ff9933"/>
                </a:solidFill>
                <a:effectLst/>
                <a:uFillTx/>
                <a:latin typeface="Times New Roman"/>
              </a:rPr>
              <a:t>)</a:t>
            </a:r>
            <a:endParaRPr b="0" lang="en-US" sz="2400" strike="noStrike" u="none">
              <a:solidFill>
                <a:srgbClr val="ffff00"/>
              </a:solidFill>
              <a:effectLst/>
              <a:uFillTx/>
              <a:latin typeface="Times New Roman"/>
            </a:endParaRPr>
          </a:p>
        </p:txBody>
      </p:sp>
      <p:grpSp>
        <p:nvGrpSpPr>
          <p:cNvPr id="2260" name="Group 249"/>
          <p:cNvGrpSpPr/>
          <p:nvPr/>
        </p:nvGrpSpPr>
        <p:grpSpPr>
          <a:xfrm>
            <a:off x="6934320" y="914400"/>
            <a:ext cx="1517400" cy="2611440"/>
            <a:chOff x="6934320" y="914400"/>
            <a:chExt cx="1517400" cy="2611440"/>
          </a:xfrm>
        </p:grpSpPr>
        <p:sp>
          <p:nvSpPr>
            <p:cNvPr id="2261" name="Oval 243"/>
            <p:cNvSpPr/>
            <p:nvPr/>
          </p:nvSpPr>
          <p:spPr>
            <a:xfrm>
              <a:off x="6934320" y="1360440"/>
              <a:ext cx="1517400" cy="1486080"/>
            </a:xfrm>
            <a:prstGeom prst="ellipse">
              <a:avLst/>
            </a:prstGeom>
            <a:solidFill>
              <a:srgbClr val="3366ff"/>
            </a:solidFill>
            <a:ln w="50760">
              <a:solidFill>
                <a:srgbClr val="3109f7"/>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pic>
          <p:nvPicPr>
            <p:cNvPr id="2262" name="Picture 244" descr=""/>
            <p:cNvPicPr/>
            <p:nvPr/>
          </p:nvPicPr>
          <p:blipFill>
            <a:blip r:embed="rId1"/>
            <a:stretch/>
          </p:blipFill>
          <p:spPr>
            <a:xfrm>
              <a:off x="7238880" y="1741680"/>
              <a:ext cx="1010880" cy="712800"/>
            </a:xfrm>
            <a:prstGeom prst="rect">
              <a:avLst/>
            </a:prstGeom>
            <a:noFill/>
            <a:ln w="0">
              <a:noFill/>
            </a:ln>
          </p:spPr>
        </p:pic>
        <p:sp>
          <p:nvSpPr>
            <p:cNvPr id="2263" name="Text Box 245"/>
            <p:cNvSpPr/>
            <p:nvPr/>
          </p:nvSpPr>
          <p:spPr>
            <a:xfrm>
              <a:off x="7402680" y="914400"/>
              <a:ext cx="589320" cy="336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CaO</a:t>
              </a:r>
              <a:r>
                <a:rPr b="1" lang="fr-FR" sz="1400" strike="noStrike" u="none" baseline="-25000">
                  <a:solidFill>
                    <a:srgbClr val="ffff00"/>
                  </a:solidFill>
                  <a:effectLst/>
                  <a:uFillTx/>
                  <a:latin typeface="Times New Roman"/>
                </a:rPr>
                <a:t>2</a:t>
              </a:r>
              <a:endParaRPr b="0" lang="en-US" sz="1400" strike="noStrike" u="none">
                <a:solidFill>
                  <a:srgbClr val="ffff00"/>
                </a:solidFill>
                <a:effectLst/>
                <a:uFillTx/>
                <a:latin typeface="Times New Roman"/>
              </a:endParaRPr>
            </a:p>
          </p:txBody>
        </p:sp>
        <p:sp>
          <p:nvSpPr>
            <p:cNvPr id="2264" name="Text Box 246"/>
            <p:cNvSpPr/>
            <p:nvPr/>
          </p:nvSpPr>
          <p:spPr>
            <a:xfrm>
              <a:off x="7394760" y="3189240"/>
              <a:ext cx="628920" cy="336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CVO</a:t>
              </a:r>
              <a:r>
                <a:rPr b="1" lang="fr-FR" sz="1400" strike="noStrike" u="none" baseline="-25000">
                  <a:solidFill>
                    <a:srgbClr val="ffff00"/>
                  </a:solidFill>
                  <a:effectLst/>
                  <a:uFillTx/>
                  <a:latin typeface="Times New Roman"/>
                </a:rPr>
                <a:t>2</a:t>
              </a:r>
              <a:endParaRPr b="0" lang="en-US" sz="1400" strike="noStrike" u="none">
                <a:solidFill>
                  <a:srgbClr val="ffff00"/>
                </a:solidFill>
                <a:effectLst/>
                <a:uFillTx/>
                <a:latin typeface="Times New Roman"/>
              </a:endParaRPr>
            </a:p>
          </p:txBody>
        </p:sp>
        <p:sp>
          <p:nvSpPr>
            <p:cNvPr id="2265" name="Line 247"/>
            <p:cNvSpPr/>
            <p:nvPr/>
          </p:nvSpPr>
          <p:spPr>
            <a:xfrm>
              <a:off x="7696080" y="1208160"/>
              <a:ext cx="0" cy="7621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266" name="Line 248"/>
            <p:cNvSpPr/>
            <p:nvPr/>
          </p:nvSpPr>
          <p:spPr>
            <a:xfrm>
              <a:off x="7696080" y="2198880"/>
              <a:ext cx="0" cy="83808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grpSp>
      <p:grpSp>
        <p:nvGrpSpPr>
          <p:cNvPr id="2267" name="Group 252"/>
          <p:cNvGrpSpPr/>
          <p:nvPr/>
        </p:nvGrpSpPr>
        <p:grpSpPr>
          <a:xfrm>
            <a:off x="88920" y="4727520"/>
            <a:ext cx="8947440" cy="1386360"/>
            <a:chOff x="88920" y="4727520"/>
            <a:chExt cx="8947440" cy="1386360"/>
          </a:xfrm>
        </p:grpSpPr>
        <p:sp>
          <p:nvSpPr>
            <p:cNvPr id="2268" name="Text Box 242"/>
            <p:cNvSpPr/>
            <p:nvPr/>
          </p:nvSpPr>
          <p:spPr>
            <a:xfrm>
              <a:off x="88920" y="4727520"/>
              <a:ext cx="254196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9933"/>
                  </a:solidFill>
                  <a:effectLst/>
                  <a:uFillTx/>
                  <a:latin typeface="Times New Roman"/>
                </a:rPr>
                <a:t>Pression artérielle</a:t>
              </a:r>
              <a:endParaRPr b="0" lang="en-US" sz="2400" strike="noStrike" u="none">
                <a:solidFill>
                  <a:srgbClr val="ffff00"/>
                </a:solidFill>
                <a:effectLst/>
                <a:uFillTx/>
                <a:latin typeface="Times New Roman"/>
              </a:endParaRPr>
            </a:p>
          </p:txBody>
        </p:sp>
        <p:sp>
          <p:nvSpPr>
            <p:cNvPr id="2269" name="Text Box 250"/>
            <p:cNvSpPr/>
            <p:nvPr/>
          </p:nvSpPr>
          <p:spPr>
            <a:xfrm>
              <a:off x="141120" y="5410080"/>
              <a:ext cx="889524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Wingdings"/>
                  <a:ea typeface="Wingdings"/>
                </a:rPr>
                <a:t></a:t>
              </a:r>
              <a:r>
                <a:rPr b="0" lang="fr-FR" sz="2000" strike="noStrike" u="none">
                  <a:solidFill>
                    <a:srgbClr val="ffff00"/>
                  </a:solidFill>
                  <a:effectLst/>
                  <a:uFillTx/>
                  <a:latin typeface="Times New Roman"/>
                </a:rPr>
                <a:t> PA avec l’augmentation des dimensions corporelles. </a:t>
              </a:r>
              <a:r>
                <a:rPr b="0" lang="fr-FR" sz="2000" strike="noStrike" u="none">
                  <a:solidFill>
                    <a:srgbClr val="3333cc"/>
                  </a:solidFill>
                  <a:effectLst/>
                  <a:uFillTx/>
                  <a:latin typeface="Times New Roman"/>
                </a:rPr>
                <a:t>Compensation chez l’enfant :</a:t>
              </a:r>
              <a:endParaRPr b="0" lang="en-US" sz="2000" strike="noStrike" u="none">
                <a:solidFill>
                  <a:srgbClr val="ffff00"/>
                </a:solidFill>
                <a:effectLst/>
                <a:uFillTx/>
                <a:latin typeface="Times New Roman"/>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Times New Roman"/>
                </a:rPr>
                <a:t> - meilleure vascularisation (résistances périphériques plus faibles)</a:t>
              </a:r>
              <a:endParaRPr b="0" lang="en-US" sz="2000" strike="noStrike" u="none">
                <a:solidFill>
                  <a:srgbClr val="ffff00"/>
                </a:solidFill>
                <a:effectLst/>
                <a:uFillTx/>
                <a:latin typeface="Times New Roman"/>
              </a:endParaRPr>
            </a:p>
          </p:txBody>
        </p:sp>
      </p:grpSp>
    </p:spTree>
  </p:cSld>
  <p:transition spd="med">
    <p:zoom dir="out"/>
  </p:transition>
  <p:timing>
    <p:tnLst>
      <p:par>
        <p:cTn id="2209" dur="indefinite" restart="never" nodeType="tmRoot">
          <p:childTnLst>
            <p:seq>
              <p:cTn id="2210" dur="indefinite" nodeType="mainSeq">
                <p:childTnLst>
                  <p:par>
                    <p:cTn id="2211" nodeType="clickEffect" fill="hold">
                      <p:stCondLst>
                        <p:cond delay="indefinite"/>
                      </p:stCondLst>
                      <p:childTnLst>
                        <p:par>
                          <p:cTn id="2212" nodeType="withEffect" fill="hold">
                            <p:stCondLst>
                              <p:cond delay="0"/>
                            </p:stCondLst>
                            <p:childTnLst>
                              <p:par>
                                <p:cTn id="2213" nodeType="clickEffect" fill="hold" presetClass="entr" presetID="23" presetSubtype="16">
                                  <p:stCondLst>
                                    <p:cond delay="0"/>
                                  </p:stCondLst>
                                  <p:childTnLst>
                                    <p:set>
                                      <p:cBhvr>
                                        <p:cTn id="2214" dur="1" fill="hold">
                                          <p:stCondLst>
                                            <p:cond delay="0"/>
                                          </p:stCondLst>
                                        </p:cTn>
                                        <p:tgtEl>
                                          <p:spTgt spid="2260"/>
                                        </p:tgtEl>
                                        <p:attrNameLst>
                                          <p:attrName>style.visibility</p:attrName>
                                        </p:attrNameLst>
                                      </p:cBhvr>
                                      <p:to>
                                        <p:strVal val="visible"/>
                                      </p:to>
                                    </p:set>
                                    <p:anim calcmode="lin" valueType="num">
                                      <p:cBhvr additive="repl">
                                        <p:cTn id="2215" dur="500" fill="hold"/>
                                        <p:tgtEl>
                                          <p:spTgt spid="2260"/>
                                        </p:tgtEl>
                                        <p:attrNameLst>
                                          <p:attrName>ppt_w</p:attrName>
                                        </p:attrNameLst>
                                      </p:cBhvr>
                                      <p:tavLst>
                                        <p:tav tm="0">
                                          <p:val>
                                            <p:fltVal val="0"/>
                                          </p:val>
                                        </p:tav>
                                        <p:tav tm="100000">
                                          <p:val>
                                            <p:strVal val="#ppt_w"/>
                                          </p:val>
                                        </p:tav>
                                      </p:tavLst>
                                    </p:anim>
                                    <p:anim calcmode="lin" valueType="num">
                                      <p:cBhvr additive="repl">
                                        <p:cTn id="2216" dur="500" fill="hold"/>
                                        <p:tgtEl>
                                          <p:spTgt spid="2260"/>
                                        </p:tgtEl>
                                        <p:attrNameLst>
                                          <p:attrName>ppt_h</p:attrName>
                                        </p:attrNameLst>
                                      </p:cBhvr>
                                      <p:tavLst>
                                        <p:tav tm="0">
                                          <p:val>
                                            <p:fltVal val="0"/>
                                          </p:val>
                                        </p:tav>
                                        <p:tav tm="100000">
                                          <p:val>
                                            <p:strVal val="#ppt_h"/>
                                          </p:val>
                                        </p:tav>
                                      </p:tavLst>
                                    </p:anim>
                                  </p:childTnLst>
                                </p:cTn>
                              </p:par>
                            </p:childTnLst>
                          </p:cTn>
                        </p:par>
                      </p:childTnLst>
                    </p:cTn>
                  </p:par>
                  <p:par>
                    <p:cTn id="2217" nodeType="clickEffect" fill="hold">
                      <p:stCondLst>
                        <p:cond delay="indefinite"/>
                      </p:stCondLst>
                      <p:childTnLst>
                        <p:par>
                          <p:cTn id="2218" nodeType="withEffect" fill="hold">
                            <p:stCondLst>
                              <p:cond delay="0"/>
                            </p:stCondLst>
                            <p:childTnLst>
                              <p:par>
                                <p:cTn id="2219" nodeType="clickEffect" fill="hold" presetClass="entr" presetID="16" presetSubtype="42">
                                  <p:stCondLst>
                                    <p:cond delay="0"/>
                                  </p:stCondLst>
                                  <p:childTnLst>
                                    <p:set>
                                      <p:cBhvr>
                                        <p:cTn id="2220" dur="1" fill="hold">
                                          <p:stCondLst>
                                            <p:cond delay="0"/>
                                          </p:stCondLst>
                                        </p:cTn>
                                        <p:tgtEl>
                                          <p:spTgt spid="2267"/>
                                        </p:tgtEl>
                                        <p:attrNameLst>
                                          <p:attrName>style.visibility</p:attrName>
                                        </p:attrNameLst>
                                      </p:cBhvr>
                                      <p:to>
                                        <p:strVal val="visible"/>
                                      </p:to>
                                    </p:set>
                                    <p:animEffect filter="barn(outHorizontal)" transition="in">
                                      <p:cBhvr additive="repl">
                                        <p:cTn id="2221" dur="500"/>
                                        <p:tgtEl>
                                          <p:spTgt spid="2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0" name="Text Box 2"/>
          <p:cNvSpPr/>
          <p:nvPr/>
        </p:nvSpPr>
        <p:spPr>
          <a:xfrm>
            <a:off x="533520" y="990720"/>
            <a:ext cx="845820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 ’enfant présente un volume d ’éjection systolique plus faible que celui de l ’adulte.</a:t>
            </a:r>
            <a:endParaRPr b="0" lang="en-US" sz="2400" strike="noStrike" u="none">
              <a:solidFill>
                <a:srgbClr val="ffff00"/>
              </a:solidFill>
              <a:effectLst/>
              <a:uFillTx/>
              <a:latin typeface="Times New Roman"/>
            </a:endParaRPr>
          </a:p>
        </p:txBody>
      </p:sp>
      <p:sp>
        <p:nvSpPr>
          <p:cNvPr id="2271" name="Text Box 3"/>
          <p:cNvSpPr/>
          <p:nvPr/>
        </p:nvSpPr>
        <p:spPr>
          <a:xfrm>
            <a:off x="533520" y="2133720"/>
            <a:ext cx="876276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Mais une fréquence cardiaque plus élevée</a:t>
            </a:r>
            <a:endParaRPr b="0" lang="en-US" sz="2400" strike="noStrike" u="none">
              <a:solidFill>
                <a:srgbClr val="ffff00"/>
              </a:solidFill>
              <a:effectLst/>
              <a:uFillTx/>
              <a:latin typeface="Times New Roman"/>
            </a:endParaRPr>
          </a:p>
        </p:txBody>
      </p:sp>
      <p:sp>
        <p:nvSpPr>
          <p:cNvPr id="2272" name="Text Box 4"/>
          <p:cNvSpPr/>
          <p:nvPr/>
        </p:nvSpPr>
        <p:spPr>
          <a:xfrm>
            <a:off x="533520" y="2895480"/>
            <a:ext cx="8686800" cy="11912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Malgré la compensation d ’une fréquence cardiaque plus élevée son débit cardiaque demeure inférieur à celui de l ’adulte.  </a:t>
            </a:r>
            <a:endParaRPr b="0" lang="en-US" sz="2400" strike="noStrike" u="none">
              <a:solidFill>
                <a:srgbClr val="ffff00"/>
              </a:solidFill>
              <a:effectLst/>
              <a:uFillTx/>
              <a:latin typeface="Times New Roman"/>
            </a:endParaRPr>
          </a:p>
        </p:txBody>
      </p:sp>
      <p:sp>
        <p:nvSpPr>
          <p:cNvPr id="2273" name="Text Box 5"/>
          <p:cNvSpPr/>
          <p:nvPr/>
        </p:nvSpPr>
        <p:spPr>
          <a:xfrm>
            <a:off x="533520" y="4267080"/>
            <a:ext cx="8686800" cy="19227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Par contre son système d ’extraction de l ’oxygène est nettement plus performant,</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Et ce n’est pas le seul avantage que l’enfant présente au niveau de la capacité aérobie….</a:t>
            </a:r>
            <a:endParaRPr b="0" lang="en-US" sz="2400" strike="noStrike" u="none">
              <a:solidFill>
                <a:srgbClr val="ffff00"/>
              </a:solidFill>
              <a:effectLst/>
              <a:uFillTx/>
              <a:latin typeface="Times New Roman"/>
            </a:endParaRPr>
          </a:p>
        </p:txBody>
      </p:sp>
    </p:spTree>
  </p:cSld>
  <p:transition spd="med">
    <p:zoom dir="out"/>
  </p:transition>
  <p:timing>
    <p:tnLst>
      <p:par>
        <p:cTn id="2222" dur="indefinite" restart="never" nodeType="tmRoot">
          <p:childTnLst>
            <p:seq>
              <p:cTn id="2223" dur="indefinite" nodeType="mainSeq">
                <p:childTnLst>
                  <p:par>
                    <p:cTn id="2224" nodeType="clickEffect" fill="hold">
                      <p:stCondLst>
                        <p:cond delay="indefinite"/>
                      </p:stCondLst>
                      <p:childTnLst>
                        <p:par>
                          <p:cTn id="2225" nodeType="withEffect" fill="hold">
                            <p:stCondLst>
                              <p:cond delay="0"/>
                            </p:stCondLst>
                            <p:childTnLst>
                              <p:par>
                                <p:cTn id="2226" nodeType="clickEffect" fill="hold" presetClass="entr" presetID="9">
                                  <p:stCondLst>
                                    <p:cond delay="0"/>
                                  </p:stCondLst>
                                  <p:childTnLst>
                                    <p:set>
                                      <p:cBhvr>
                                        <p:cTn id="2227" dur="1" fill="hold">
                                          <p:stCondLst>
                                            <p:cond delay="0"/>
                                          </p:stCondLst>
                                        </p:cTn>
                                        <p:tgtEl>
                                          <p:spTgt spid="2270">
                                            <p:txEl>
                                              <p:pRg st="0" end="0"/>
                                            </p:txEl>
                                          </p:spTgt>
                                        </p:tgtEl>
                                        <p:attrNameLst>
                                          <p:attrName>style.visibility</p:attrName>
                                        </p:attrNameLst>
                                      </p:cBhvr>
                                      <p:to>
                                        <p:strVal val="visible"/>
                                      </p:to>
                                    </p:set>
                                    <p:animEffect filter="dissolve" transition="in">
                                      <p:cBhvr additive="repl">
                                        <p:cTn id="2228" dur="500"/>
                                        <p:tgtEl>
                                          <p:spTgt spid="2270">
                                            <p:txEl>
                                              <p:pRg st="0" end="0"/>
                                            </p:txEl>
                                          </p:spTgt>
                                        </p:tgtEl>
                                      </p:cBhvr>
                                    </p:animEffect>
                                  </p:childTnLst>
                                </p:cTn>
                              </p:par>
                            </p:childTnLst>
                          </p:cTn>
                        </p:par>
                      </p:childTnLst>
                    </p:cTn>
                  </p:par>
                  <p:par>
                    <p:cTn id="2229" nodeType="clickEffect" fill="hold">
                      <p:stCondLst>
                        <p:cond delay="indefinite"/>
                      </p:stCondLst>
                      <p:childTnLst>
                        <p:par>
                          <p:cTn id="2230" nodeType="withEffect" fill="hold">
                            <p:stCondLst>
                              <p:cond delay="0"/>
                            </p:stCondLst>
                            <p:childTnLst>
                              <p:par>
                                <p:cTn id="2231" nodeType="clickEffect" fill="hold" presetClass="entr" presetID="9">
                                  <p:stCondLst>
                                    <p:cond delay="0"/>
                                  </p:stCondLst>
                                  <p:childTnLst>
                                    <p:set>
                                      <p:cBhvr>
                                        <p:cTn id="2232" dur="1" fill="hold">
                                          <p:stCondLst>
                                            <p:cond delay="0"/>
                                          </p:stCondLst>
                                        </p:cTn>
                                        <p:tgtEl>
                                          <p:spTgt spid="2271">
                                            <p:txEl>
                                              <p:pRg st="0" end="0"/>
                                            </p:txEl>
                                          </p:spTgt>
                                        </p:tgtEl>
                                        <p:attrNameLst>
                                          <p:attrName>style.visibility</p:attrName>
                                        </p:attrNameLst>
                                      </p:cBhvr>
                                      <p:to>
                                        <p:strVal val="visible"/>
                                      </p:to>
                                    </p:set>
                                    <p:animEffect filter="dissolve" transition="in">
                                      <p:cBhvr additive="repl">
                                        <p:cTn id="2233" dur="500"/>
                                        <p:tgtEl>
                                          <p:spTgt spid="2271">
                                            <p:txEl>
                                              <p:pRg st="0" end="0"/>
                                            </p:txEl>
                                          </p:spTgt>
                                        </p:tgtEl>
                                      </p:cBhvr>
                                    </p:animEffect>
                                  </p:childTnLst>
                                </p:cTn>
                              </p:par>
                              <p:animClr clrSpc="rgb">
                                <p:cBhvr>
                                  <p:cTn id="2234" dur="1" fill="hold">
                                    <p:stCondLst>
                                      <p:cond delay="0"/>
                                    </p:stCondLst>
                                  </p:cTn>
                                  <p:tgtEl>
                                    <p:spTgt spid="2270">
                                      <p:txEl>
                                        <p:pRg st="0" end="0"/>
                                      </p:txEl>
                                    </p:spTgt>
                                  </p:tgtEl>
                                  <p:attrNameLst>
                                    <p:attrName>ppt_c</p:attrName>
                                  </p:attrNameLst>
                                </p:cBhvr>
                                <p:to>
                                  <a:srgbClr val="ccccff"/>
                                </p:to>
                              </p:animClr>
                            </p:childTnLst>
                          </p:cTn>
                        </p:par>
                      </p:childTnLst>
                    </p:cTn>
                  </p:par>
                  <p:par>
                    <p:cTn id="2235" nodeType="clickEffect" fill="hold">
                      <p:stCondLst>
                        <p:cond delay="indefinite"/>
                      </p:stCondLst>
                      <p:childTnLst>
                        <p:par>
                          <p:cTn id="2236" nodeType="withEffect" fill="hold">
                            <p:stCondLst>
                              <p:cond delay="0"/>
                            </p:stCondLst>
                            <p:childTnLst>
                              <p:par>
                                <p:cTn id="2237" nodeType="clickEffect" fill="hold" presetClass="entr" presetID="9">
                                  <p:stCondLst>
                                    <p:cond delay="0"/>
                                  </p:stCondLst>
                                  <p:childTnLst>
                                    <p:set>
                                      <p:cBhvr>
                                        <p:cTn id="2238" dur="1" fill="hold">
                                          <p:stCondLst>
                                            <p:cond delay="0"/>
                                          </p:stCondLst>
                                        </p:cTn>
                                        <p:tgtEl>
                                          <p:spTgt spid="2272">
                                            <p:txEl>
                                              <p:pRg st="0" end="0"/>
                                            </p:txEl>
                                          </p:spTgt>
                                        </p:tgtEl>
                                        <p:attrNameLst>
                                          <p:attrName>style.visibility</p:attrName>
                                        </p:attrNameLst>
                                      </p:cBhvr>
                                      <p:to>
                                        <p:strVal val="visible"/>
                                      </p:to>
                                    </p:set>
                                    <p:animEffect filter="dissolve" transition="in">
                                      <p:cBhvr additive="repl">
                                        <p:cTn id="2239" dur="500"/>
                                        <p:tgtEl>
                                          <p:spTgt spid="2272">
                                            <p:txEl>
                                              <p:pRg st="0" end="0"/>
                                            </p:txEl>
                                          </p:spTgt>
                                        </p:tgtEl>
                                      </p:cBhvr>
                                    </p:animEffect>
                                  </p:childTnLst>
                                </p:cTn>
                              </p:par>
                              <p:animClr clrSpc="rgb">
                                <p:cBhvr>
                                  <p:cTn id="2240" dur="1" fill="hold">
                                    <p:stCondLst>
                                      <p:cond delay="0"/>
                                    </p:stCondLst>
                                  </p:cTn>
                                  <p:tgtEl>
                                    <p:spTgt spid="2271">
                                      <p:txEl>
                                        <p:pRg st="0" end="0"/>
                                      </p:txEl>
                                    </p:spTgt>
                                  </p:tgtEl>
                                  <p:attrNameLst>
                                    <p:attrName>ppt_c</p:attrName>
                                  </p:attrNameLst>
                                </p:cBhvr>
                                <p:to>
                                  <a:srgbClr val="ccccff"/>
                                </p:to>
                              </p:animClr>
                            </p:childTnLst>
                          </p:cTn>
                        </p:par>
                      </p:childTnLst>
                    </p:cTn>
                  </p:par>
                  <p:par>
                    <p:cTn id="2241" nodeType="clickEffect" fill="hold">
                      <p:stCondLst>
                        <p:cond delay="indefinite"/>
                      </p:stCondLst>
                      <p:childTnLst>
                        <p:par>
                          <p:cTn id="2242" nodeType="withEffect" fill="hold">
                            <p:stCondLst>
                              <p:cond delay="0"/>
                            </p:stCondLst>
                            <p:childTnLst>
                              <p:par>
                                <p:cTn id="2243" nodeType="clickEffect" fill="hold" presetClass="entr" presetID="9">
                                  <p:stCondLst>
                                    <p:cond delay="0"/>
                                  </p:stCondLst>
                                  <p:childTnLst>
                                    <p:set>
                                      <p:cBhvr>
                                        <p:cTn id="2244" dur="1" fill="hold">
                                          <p:stCondLst>
                                            <p:cond delay="0"/>
                                          </p:stCondLst>
                                        </p:cTn>
                                        <p:tgtEl>
                                          <p:spTgt spid="2273">
                                            <p:txEl>
                                              <p:pRg st="0" end="0"/>
                                            </p:txEl>
                                          </p:spTgt>
                                        </p:tgtEl>
                                        <p:attrNameLst>
                                          <p:attrName>style.visibility</p:attrName>
                                        </p:attrNameLst>
                                      </p:cBhvr>
                                      <p:to>
                                        <p:strVal val="visible"/>
                                      </p:to>
                                    </p:set>
                                    <p:animEffect filter="dissolve" transition="in">
                                      <p:cBhvr additive="repl">
                                        <p:cTn id="2245" dur="500"/>
                                        <p:tgtEl>
                                          <p:spTgt spid="2273">
                                            <p:txEl>
                                              <p:pRg st="0" end="0"/>
                                            </p:txEl>
                                          </p:spTgt>
                                        </p:tgtEl>
                                      </p:cBhvr>
                                    </p:animEffect>
                                  </p:childTnLst>
                                </p:cTn>
                              </p:par>
                              <p:animClr clrSpc="rgb">
                                <p:cBhvr>
                                  <p:cTn id="2246" dur="1" fill="hold">
                                    <p:stCondLst>
                                      <p:cond delay="0"/>
                                    </p:stCondLst>
                                  </p:cTn>
                                  <p:tgtEl>
                                    <p:spTgt spid="2272">
                                      <p:txEl>
                                        <p:pRg st="0" end="0"/>
                                      </p:txEl>
                                    </p:spTgt>
                                  </p:tgtEl>
                                  <p:attrNameLst>
                                    <p:attrName>ppt_c</p:attrName>
                                  </p:attrNameLst>
                                </p:cBhvr>
                                <p:to>
                                  <a:srgbClr val="ccccff"/>
                                </p:to>
                              </p:animClr>
                            </p:childTnLst>
                          </p:cTn>
                        </p:par>
                      </p:childTnLst>
                    </p:cTn>
                  </p:par>
                  <p:par>
                    <p:cTn id="2247" nodeType="clickEffect" fill="hold">
                      <p:stCondLst>
                        <p:cond delay="indefinite"/>
                      </p:stCondLst>
                      <p:childTnLst>
                        <p:par>
                          <p:cTn id="2248" nodeType="withEffect" fill="hold">
                            <p:stCondLst>
                              <p:cond delay="0"/>
                            </p:stCondLst>
                            <p:childTnLst>
                              <p:par>
                                <p:cTn id="2249" nodeType="clickEffect" fill="hold" presetClass="entr" presetID="9">
                                  <p:stCondLst>
                                    <p:cond delay="0"/>
                                  </p:stCondLst>
                                  <p:childTnLst>
                                    <p:set>
                                      <p:cBhvr>
                                        <p:cTn id="2250" dur="1" fill="hold">
                                          <p:stCondLst>
                                            <p:cond delay="0"/>
                                          </p:stCondLst>
                                        </p:cTn>
                                        <p:tgtEl>
                                          <p:spTgt spid="2273">
                                            <p:txEl>
                                              <p:pRg st="2" end="2"/>
                                            </p:txEl>
                                          </p:spTgt>
                                        </p:tgtEl>
                                        <p:attrNameLst>
                                          <p:attrName>style.visibility</p:attrName>
                                        </p:attrNameLst>
                                      </p:cBhvr>
                                      <p:to>
                                        <p:strVal val="visible"/>
                                      </p:to>
                                    </p:set>
                                    <p:animEffect filter="dissolve" transition="in">
                                      <p:cBhvr additive="repl">
                                        <p:cTn id="2251" dur="500"/>
                                        <p:tgtEl>
                                          <p:spTgt spid="2273">
                                            <p:txEl>
                                              <p:pRg st="2" end="2"/>
                                            </p:txEl>
                                          </p:spTgt>
                                        </p:tgtEl>
                                      </p:cBhvr>
                                    </p:animEffect>
                                  </p:childTnLst>
                                </p:cTn>
                              </p:par>
                              <p:animClr clrSpc="rgb">
                                <p:cBhvr>
                                  <p:cTn id="2252" dur="1" fill="hold">
                                    <p:stCondLst>
                                      <p:cond delay="0"/>
                                    </p:stCondLst>
                                  </p:cTn>
                                  <p:tgtEl>
                                    <p:spTgt spid="2273">
                                      <p:txEl>
                                        <p:pRg st="0" end="0"/>
                                      </p:txEl>
                                    </p:spTgt>
                                  </p:tgtEl>
                                  <p:attrNameLst>
                                    <p:attrName>ppt_c</p:attrName>
                                  </p:attrNameLst>
                                </p:cBhvr>
                                <p:to>
                                  <a:srgbClr val="ccccff"/>
                                </p:to>
                              </p:animClr>
                            </p:childTnLst>
                          </p:cTn>
                        </p:par>
                      </p:childTnLst>
                    </p:cTn>
                  </p:par>
                  <p:par>
                    <p:cTn id="2253" fill="hold">
                      <p:stCondLst>
                        <p:cond delay="indefinite"/>
                      </p:stCondLst>
                      <p:childTnLst>
                        <p:par>
                          <p:cTn id="2254" fill="hold">
                            <p:stCondLst>
                              <p:cond delay="0"/>
                            </p:stCondLst>
                            <p:childTnLst>
                              <p:animClr clrSpc="rgb">
                                <p:cBhvr>
                                  <p:cTn id="2255" dur="1" fill="hold"/>
                                  <p:tgtEl>
                                    <p:spTgt spid="2273">
                                      <p:txEl>
                                        <p:pRg st="2" end="2"/>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4" name="Line 2"/>
          <p:cNvSpPr/>
          <p:nvPr/>
        </p:nvSpPr>
        <p:spPr>
          <a:xfrm>
            <a:off x="1577880" y="380880"/>
            <a:ext cx="0" cy="5257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75" name="Line 3"/>
          <p:cNvSpPr/>
          <p:nvPr/>
        </p:nvSpPr>
        <p:spPr>
          <a:xfrm>
            <a:off x="1577880" y="5638680"/>
            <a:ext cx="22860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76" name="Line 4"/>
          <p:cNvSpPr/>
          <p:nvPr/>
        </p:nvSpPr>
        <p:spPr>
          <a:xfrm>
            <a:off x="1959120" y="5638680"/>
            <a:ext cx="731520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77" name="Text Box 5"/>
          <p:cNvSpPr/>
          <p:nvPr/>
        </p:nvSpPr>
        <p:spPr>
          <a:xfrm>
            <a:off x="1991880" y="5546880"/>
            <a:ext cx="718272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I           I           I           I           I           I           I           I           I</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6          7          8          9         10        11        12        13        14</a:t>
            </a:r>
            <a:endParaRPr b="0" lang="en-US" sz="2000" strike="noStrike" u="none">
              <a:solidFill>
                <a:srgbClr val="ffff00"/>
              </a:solidFill>
              <a:effectLst/>
              <a:uFillTx/>
              <a:latin typeface="Times New Roman"/>
            </a:endParaRPr>
          </a:p>
        </p:txBody>
      </p:sp>
      <p:sp>
        <p:nvSpPr>
          <p:cNvPr id="2278" name="Text Box 6"/>
          <p:cNvSpPr/>
          <p:nvPr/>
        </p:nvSpPr>
        <p:spPr>
          <a:xfrm rot="16177200">
            <a:off x="-2013120" y="2750040"/>
            <a:ext cx="5032440" cy="7455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Durée (s) nécessaire pour atteindre 50%</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de la consommation d’O</a:t>
            </a:r>
            <a:r>
              <a:rPr b="1" lang="fr-FR" sz="2000" strike="noStrike" u="none" baseline="-25000">
                <a:solidFill>
                  <a:srgbClr val="ffff00"/>
                </a:solidFill>
                <a:effectLst/>
                <a:uFillTx/>
                <a:latin typeface="Arial"/>
              </a:rPr>
              <a:t>2</a:t>
            </a:r>
            <a:r>
              <a:rPr b="1" lang="fr-FR" sz="2000" strike="noStrike" u="none">
                <a:solidFill>
                  <a:srgbClr val="ffff00"/>
                </a:solidFill>
                <a:effectLst/>
                <a:uFillTx/>
                <a:latin typeface="Arial"/>
              </a:rPr>
              <a:t> stationnaire </a:t>
            </a:r>
            <a:endParaRPr b="0" lang="en-US" sz="2000" strike="noStrike" u="none">
              <a:solidFill>
                <a:srgbClr val="ffff00"/>
              </a:solidFill>
              <a:effectLst/>
              <a:uFillTx/>
              <a:latin typeface="Times New Roman"/>
            </a:endParaRPr>
          </a:p>
        </p:txBody>
      </p:sp>
      <p:sp>
        <p:nvSpPr>
          <p:cNvPr id="2279" name="Text Box 7"/>
          <p:cNvSpPr/>
          <p:nvPr/>
        </p:nvSpPr>
        <p:spPr>
          <a:xfrm>
            <a:off x="1046160" y="468360"/>
            <a:ext cx="574560" cy="53060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60 -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50 -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30 -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a:t>
            </a:r>
            <a:endParaRPr b="0" lang="en-US" sz="1800" strike="noStrike" u="none">
              <a:solidFill>
                <a:srgbClr val="ffff00"/>
              </a:solidFill>
              <a:effectLst/>
              <a:uFillTx/>
              <a:latin typeface="Times New Roman"/>
            </a:endParaRPr>
          </a:p>
        </p:txBody>
      </p:sp>
      <p:sp>
        <p:nvSpPr>
          <p:cNvPr id="2280" name="Line 9"/>
          <p:cNvSpPr/>
          <p:nvPr/>
        </p:nvSpPr>
        <p:spPr>
          <a:xfrm flipV="1">
            <a:off x="3025800" y="3505320"/>
            <a:ext cx="0" cy="213336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1" name="Line 10"/>
          <p:cNvSpPr/>
          <p:nvPr/>
        </p:nvSpPr>
        <p:spPr>
          <a:xfrm flipV="1">
            <a:off x="3025800" y="1371600"/>
            <a:ext cx="5715000" cy="2819520"/>
          </a:xfrm>
          <a:prstGeom prst="line">
            <a:avLst/>
          </a:prstGeom>
          <a:ln w="381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2" name="Line 11"/>
          <p:cNvSpPr/>
          <p:nvPr/>
        </p:nvSpPr>
        <p:spPr>
          <a:xfrm flipV="1">
            <a:off x="3025800" y="838080"/>
            <a:ext cx="5715000" cy="2895840"/>
          </a:xfrm>
          <a:prstGeom prst="line">
            <a:avLst/>
          </a:prstGeom>
          <a:ln w="38160">
            <a:solidFill>
              <a:srgbClr val="cccc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3" name="Line 12"/>
          <p:cNvSpPr/>
          <p:nvPr/>
        </p:nvSpPr>
        <p:spPr>
          <a:xfrm flipV="1">
            <a:off x="3025800" y="1828800"/>
            <a:ext cx="5791320" cy="2819520"/>
          </a:xfrm>
          <a:prstGeom prst="line">
            <a:avLst/>
          </a:prstGeom>
          <a:ln w="38160">
            <a:solidFill>
              <a:srgbClr val="ccccff"/>
            </a:solidFill>
            <a:prstDash val="sysDot"/>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4" name="Line 13"/>
          <p:cNvSpPr/>
          <p:nvPr/>
        </p:nvSpPr>
        <p:spPr>
          <a:xfrm flipV="1">
            <a:off x="8001000" y="837720"/>
            <a:ext cx="0" cy="480060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5" name="Line 14"/>
          <p:cNvSpPr/>
          <p:nvPr/>
        </p:nvSpPr>
        <p:spPr>
          <a:xfrm flipH="1">
            <a:off x="1577880" y="1676520"/>
            <a:ext cx="6477120" cy="0"/>
          </a:xfrm>
          <a:prstGeom prst="line">
            <a:avLst/>
          </a:prstGeom>
          <a:ln w="28440">
            <a:solidFill>
              <a:srgbClr val="ffff00"/>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6" name="Text Box 15"/>
          <p:cNvSpPr/>
          <p:nvPr/>
        </p:nvSpPr>
        <p:spPr>
          <a:xfrm>
            <a:off x="1655640" y="1676520"/>
            <a:ext cx="625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49 s</a:t>
            </a:r>
            <a:endParaRPr b="0" lang="en-US" sz="1800" strike="noStrike" u="none">
              <a:solidFill>
                <a:srgbClr val="ffff00"/>
              </a:solidFill>
              <a:effectLst/>
              <a:uFillTx/>
              <a:latin typeface="Times New Roman"/>
            </a:endParaRPr>
          </a:p>
        </p:txBody>
      </p:sp>
      <p:sp>
        <p:nvSpPr>
          <p:cNvPr id="2287" name="Line 16"/>
          <p:cNvSpPr/>
          <p:nvPr/>
        </p:nvSpPr>
        <p:spPr>
          <a:xfrm flipH="1">
            <a:off x="1654200" y="1143000"/>
            <a:ext cx="6400800" cy="0"/>
          </a:xfrm>
          <a:prstGeom prst="line">
            <a:avLst/>
          </a:prstGeom>
          <a:ln w="28440">
            <a:solidFill>
              <a:srgbClr val="ccccff"/>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8" name="Line 17"/>
          <p:cNvSpPr/>
          <p:nvPr/>
        </p:nvSpPr>
        <p:spPr>
          <a:xfrm flipH="1">
            <a:off x="1654200" y="2209680"/>
            <a:ext cx="6400800" cy="0"/>
          </a:xfrm>
          <a:prstGeom prst="line">
            <a:avLst/>
          </a:prstGeom>
          <a:ln w="28440">
            <a:solidFill>
              <a:srgbClr val="ccccff"/>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89" name="Line 18"/>
          <p:cNvSpPr/>
          <p:nvPr/>
        </p:nvSpPr>
        <p:spPr>
          <a:xfrm flipH="1">
            <a:off x="1577880" y="4191120"/>
            <a:ext cx="1447920" cy="0"/>
          </a:xfrm>
          <a:prstGeom prst="line">
            <a:avLst/>
          </a:prstGeom>
          <a:ln w="38160">
            <a:solidFill>
              <a:srgbClr val="ffff00"/>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90" name="Line 19"/>
          <p:cNvSpPr/>
          <p:nvPr/>
        </p:nvSpPr>
        <p:spPr>
          <a:xfrm flipH="1">
            <a:off x="1654200" y="3733920"/>
            <a:ext cx="1371600" cy="0"/>
          </a:xfrm>
          <a:prstGeom prst="line">
            <a:avLst/>
          </a:prstGeom>
          <a:ln w="28440">
            <a:solidFill>
              <a:srgbClr val="ccccff"/>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91" name="Line 20"/>
          <p:cNvSpPr/>
          <p:nvPr/>
        </p:nvSpPr>
        <p:spPr>
          <a:xfrm flipH="1">
            <a:off x="1577880" y="4648320"/>
            <a:ext cx="1447920" cy="0"/>
          </a:xfrm>
          <a:prstGeom prst="line">
            <a:avLst/>
          </a:prstGeom>
          <a:ln w="28440">
            <a:solidFill>
              <a:srgbClr val="ccccff"/>
            </a:solidFill>
            <a:prstDash val="sysDot"/>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92" name="Text Box 21"/>
          <p:cNvSpPr/>
          <p:nvPr/>
        </p:nvSpPr>
        <p:spPr>
          <a:xfrm>
            <a:off x="1655640" y="4191120"/>
            <a:ext cx="6256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17 s</a:t>
            </a:r>
            <a:endParaRPr b="0" lang="en-US" sz="1800" strike="noStrike" u="none">
              <a:solidFill>
                <a:srgbClr val="ffff00"/>
              </a:solidFill>
              <a:effectLst/>
              <a:uFillTx/>
              <a:latin typeface="Times New Roman"/>
            </a:endParaRPr>
          </a:p>
        </p:txBody>
      </p:sp>
      <p:sp>
        <p:nvSpPr>
          <p:cNvPr id="2293" name="Text Box 22"/>
          <p:cNvSpPr/>
          <p:nvPr/>
        </p:nvSpPr>
        <p:spPr>
          <a:xfrm>
            <a:off x="2062440" y="152280"/>
            <a:ext cx="66700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Passage à un métabolisme aérobie selon l’âge. </a:t>
            </a:r>
            <a:endParaRPr b="0" lang="en-US" sz="2400" strike="noStrike" u="none">
              <a:solidFill>
                <a:srgbClr val="ffff00"/>
              </a:solidFill>
              <a:effectLst/>
              <a:uFillTx/>
              <a:latin typeface="Times New Roman"/>
            </a:endParaRPr>
          </a:p>
        </p:txBody>
      </p:sp>
      <p:sp>
        <p:nvSpPr>
          <p:cNvPr id="2294" name="Text Box 23"/>
          <p:cNvSpPr/>
          <p:nvPr/>
        </p:nvSpPr>
        <p:spPr>
          <a:xfrm>
            <a:off x="4191120" y="5181480"/>
            <a:ext cx="1849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AGE (années)</a:t>
            </a:r>
            <a:endParaRPr b="0" lang="en-US" sz="2000" strike="noStrike" u="none">
              <a:solidFill>
                <a:srgbClr val="ffff00"/>
              </a:solidFill>
              <a:effectLst/>
              <a:uFillTx/>
              <a:latin typeface="Times New Roman"/>
            </a:endParaRPr>
          </a:p>
        </p:txBody>
      </p:sp>
      <p:sp>
        <p:nvSpPr>
          <p:cNvPr id="2295" name="Text Box 24"/>
          <p:cNvSpPr/>
          <p:nvPr/>
        </p:nvSpPr>
        <p:spPr>
          <a:xfrm>
            <a:off x="14040" y="6195960"/>
            <a:ext cx="8563320" cy="614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Demi-temps de la consommation d’O</a:t>
            </a:r>
            <a:r>
              <a:rPr b="0" lang="fr-FR" sz="1600" strike="noStrike" u="none" baseline="-25000">
                <a:solidFill>
                  <a:srgbClr val="ffff00"/>
                </a:solidFill>
                <a:effectLst/>
                <a:uFillTx/>
                <a:latin typeface="Arial"/>
              </a:rPr>
              <a:t>2</a:t>
            </a:r>
            <a:r>
              <a:rPr b="0" lang="fr-FR" sz="1600" strike="noStrike" u="none">
                <a:solidFill>
                  <a:srgbClr val="ffff00"/>
                </a:solidFill>
                <a:effectLst/>
                <a:uFillTx/>
                <a:latin typeface="Arial"/>
              </a:rPr>
              <a:t> au cours d’un exercice sous-maximal sur bicyclette</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ergométrique (59 watts) chez 28 garçons et filles de 7 à 14 ans. D’après Freedson et al. 1983</a:t>
            </a:r>
            <a:endParaRPr b="0" lang="en-US" sz="1600" strike="noStrike" u="none">
              <a:solidFill>
                <a:srgbClr val="ffff00"/>
              </a:solidFill>
              <a:effectLst/>
              <a:uFillTx/>
              <a:latin typeface="Times New Roman"/>
            </a:endParaRPr>
          </a:p>
        </p:txBody>
      </p:sp>
    </p:spTree>
  </p:cSld>
  <p:transition spd="med">
    <p:zoom dir="out"/>
  </p:transition>
  <p:timing>
    <p:tnLst>
      <p:par>
        <p:cTn id="2256" dur="indefinite" restart="never" nodeType="tmRoot">
          <p:childTnLst>
            <p:seq>
              <p:cTn id="2257" dur="indefinite" nodeType="mainSeq">
                <p:childTnLst>
                  <p:par>
                    <p:cTn id="2258" nodeType="clickEffect" fill="hold">
                      <p:stCondLst>
                        <p:cond delay="0"/>
                      </p:stCondLst>
                      <p:childTnLst>
                        <p:par>
                          <p:cTn id="2259" nodeType="withEffect" fill="hold">
                            <p:stCondLst>
                              <p:cond delay="0"/>
                            </p:stCondLst>
                            <p:childTnLst>
                              <p:par>
                                <p:cTn id="2260" nodeType="afterEffect" fill="hold" presetClass="entr" presetID="4" presetSubtype="16">
                                  <p:stCondLst>
                                    <p:cond delay="0"/>
                                  </p:stCondLst>
                                  <p:childTnLst>
                                    <p:set>
                                      <p:cBhvr>
                                        <p:cTn id="2261" dur="1" fill="hold">
                                          <p:stCondLst>
                                            <p:cond delay="0"/>
                                          </p:stCondLst>
                                        </p:cTn>
                                        <p:tgtEl>
                                          <p:spTgt spid="2275"/>
                                        </p:tgtEl>
                                        <p:attrNameLst>
                                          <p:attrName>style.visibility</p:attrName>
                                        </p:attrNameLst>
                                      </p:cBhvr>
                                      <p:to>
                                        <p:strVal val="visible"/>
                                      </p:to>
                                    </p:set>
                                    <p:animEffect filter="box(in)" transition="in">
                                      <p:cBhvr additive="repl">
                                        <p:cTn id="2262" dur="500"/>
                                        <p:tgtEl>
                                          <p:spTgt spid="2275"/>
                                        </p:tgtEl>
                                      </p:cBhvr>
                                    </p:animEffect>
                                  </p:childTnLst>
                                </p:cTn>
                              </p:par>
                            </p:childTnLst>
                          </p:cTn>
                        </p:par>
                        <p:par>
                          <p:cTn id="2263" nodeType="afterEffect" fill="hold">
                            <p:stCondLst>
                              <p:cond delay="500"/>
                            </p:stCondLst>
                            <p:childTnLst>
                              <p:par>
                                <p:cTn id="2264" nodeType="afterEffect" fill="hold" presetClass="entr" presetID="4" presetSubtype="16">
                                  <p:stCondLst>
                                    <p:cond delay="1000"/>
                                  </p:stCondLst>
                                  <p:childTnLst>
                                    <p:set>
                                      <p:cBhvr>
                                        <p:cTn id="2265" dur="1" fill="hold">
                                          <p:stCondLst>
                                            <p:cond delay="0"/>
                                          </p:stCondLst>
                                        </p:cTn>
                                        <p:tgtEl>
                                          <p:spTgt spid="2276"/>
                                        </p:tgtEl>
                                        <p:attrNameLst>
                                          <p:attrName>style.visibility</p:attrName>
                                        </p:attrNameLst>
                                      </p:cBhvr>
                                      <p:to>
                                        <p:strVal val="visible"/>
                                      </p:to>
                                    </p:set>
                                    <p:animEffect filter="box(in)" transition="in">
                                      <p:cBhvr additive="repl">
                                        <p:cTn id="2266" dur="500"/>
                                        <p:tgtEl>
                                          <p:spTgt spid="2276"/>
                                        </p:tgtEl>
                                      </p:cBhvr>
                                    </p:animEffect>
                                  </p:childTnLst>
                                </p:cTn>
                              </p:par>
                            </p:childTnLst>
                          </p:cTn>
                        </p:par>
                        <p:par>
                          <p:cTn id="2267" nodeType="afterEffect" fill="hold">
                            <p:stCondLst>
                              <p:cond delay="2000"/>
                            </p:stCondLst>
                            <p:childTnLst>
                              <p:par>
                                <p:cTn id="2268" nodeType="afterEffect" fill="hold" presetClass="entr" presetID="4" presetSubtype="16">
                                  <p:stCondLst>
                                    <p:cond delay="1000"/>
                                  </p:stCondLst>
                                  <p:childTnLst>
                                    <p:set>
                                      <p:cBhvr>
                                        <p:cTn id="2269" dur="1" fill="hold">
                                          <p:stCondLst>
                                            <p:cond delay="0"/>
                                          </p:stCondLst>
                                        </p:cTn>
                                        <p:tgtEl>
                                          <p:spTgt spid="2277"/>
                                        </p:tgtEl>
                                        <p:attrNameLst>
                                          <p:attrName>style.visibility</p:attrName>
                                        </p:attrNameLst>
                                      </p:cBhvr>
                                      <p:to>
                                        <p:strVal val="visible"/>
                                      </p:to>
                                    </p:set>
                                    <p:animEffect filter="box(in)" transition="in">
                                      <p:cBhvr additive="repl">
                                        <p:cTn id="2270" dur="500"/>
                                        <p:tgtEl>
                                          <p:spTgt spid="2277"/>
                                        </p:tgtEl>
                                      </p:cBhvr>
                                    </p:animEffect>
                                  </p:childTnLst>
                                </p:cTn>
                              </p:par>
                            </p:childTnLst>
                          </p:cTn>
                        </p:par>
                        <p:par>
                          <p:cTn id="2271" nodeType="afterEffect" fill="hold">
                            <p:stCondLst>
                              <p:cond delay="3500"/>
                            </p:stCondLst>
                            <p:childTnLst>
                              <p:par>
                                <p:cTn id="2272" nodeType="afterEffect" fill="hold" presetClass="entr" presetID="4" presetSubtype="16">
                                  <p:stCondLst>
                                    <p:cond delay="1000"/>
                                  </p:stCondLst>
                                  <p:childTnLst>
                                    <p:set>
                                      <p:cBhvr>
                                        <p:cTn id="2273" dur="1" fill="hold">
                                          <p:stCondLst>
                                            <p:cond delay="0"/>
                                          </p:stCondLst>
                                        </p:cTn>
                                        <p:tgtEl>
                                          <p:spTgt spid="2294"/>
                                        </p:tgtEl>
                                        <p:attrNameLst>
                                          <p:attrName>style.visibility</p:attrName>
                                        </p:attrNameLst>
                                      </p:cBhvr>
                                      <p:to>
                                        <p:strVal val="visible"/>
                                      </p:to>
                                    </p:set>
                                    <p:animEffect filter="box(in)" transition="in">
                                      <p:cBhvr additive="repl">
                                        <p:cTn id="2274" dur="500"/>
                                        <p:tgtEl>
                                          <p:spTgt spid="2294"/>
                                        </p:tgtEl>
                                      </p:cBhvr>
                                    </p:animEffect>
                                  </p:childTnLst>
                                </p:cTn>
                              </p:par>
                            </p:childTnLst>
                          </p:cTn>
                        </p:par>
                        <p:par>
                          <p:cTn id="2275" nodeType="afterEffect" fill="hold">
                            <p:stCondLst>
                              <p:cond delay="5000"/>
                            </p:stCondLst>
                            <p:childTnLst>
                              <p:par>
                                <p:cTn id="2276" nodeType="afterEffect" fill="hold" presetClass="entr" presetID="4" presetSubtype="16">
                                  <p:stCondLst>
                                    <p:cond delay="0"/>
                                  </p:stCondLst>
                                  <p:childTnLst>
                                    <p:set>
                                      <p:cBhvr>
                                        <p:cTn id="2277" dur="1" fill="hold">
                                          <p:stCondLst>
                                            <p:cond delay="0"/>
                                          </p:stCondLst>
                                        </p:cTn>
                                        <p:tgtEl>
                                          <p:spTgt spid="2274"/>
                                        </p:tgtEl>
                                        <p:attrNameLst>
                                          <p:attrName>style.visibility</p:attrName>
                                        </p:attrNameLst>
                                      </p:cBhvr>
                                      <p:to>
                                        <p:strVal val="visible"/>
                                      </p:to>
                                    </p:set>
                                    <p:animEffect filter="box(in)" transition="in">
                                      <p:cBhvr additive="repl">
                                        <p:cTn id="2278" dur="500"/>
                                        <p:tgtEl>
                                          <p:spTgt spid="2274"/>
                                        </p:tgtEl>
                                      </p:cBhvr>
                                    </p:animEffect>
                                  </p:childTnLst>
                                </p:cTn>
                              </p:par>
                            </p:childTnLst>
                          </p:cTn>
                        </p:par>
                        <p:par>
                          <p:cTn id="2279" nodeType="afterEffect" fill="hold">
                            <p:stCondLst>
                              <p:cond delay="5500"/>
                            </p:stCondLst>
                            <p:childTnLst>
                              <p:par>
                                <p:cTn id="2280" nodeType="afterEffect" fill="hold" presetClass="entr" presetID="4" presetSubtype="16">
                                  <p:stCondLst>
                                    <p:cond delay="0"/>
                                  </p:stCondLst>
                                  <p:childTnLst>
                                    <p:set>
                                      <p:cBhvr>
                                        <p:cTn id="2281" dur="1" fill="hold">
                                          <p:stCondLst>
                                            <p:cond delay="0"/>
                                          </p:stCondLst>
                                        </p:cTn>
                                        <p:tgtEl>
                                          <p:spTgt spid="2278"/>
                                        </p:tgtEl>
                                        <p:attrNameLst>
                                          <p:attrName>style.visibility</p:attrName>
                                        </p:attrNameLst>
                                      </p:cBhvr>
                                      <p:to>
                                        <p:strVal val="visible"/>
                                      </p:to>
                                    </p:set>
                                    <p:animEffect filter="box(in)" transition="in">
                                      <p:cBhvr additive="repl">
                                        <p:cTn id="2282" dur="500"/>
                                        <p:tgtEl>
                                          <p:spTgt spid="2278"/>
                                        </p:tgtEl>
                                      </p:cBhvr>
                                    </p:animEffect>
                                  </p:childTnLst>
                                </p:cTn>
                              </p:par>
                            </p:childTnLst>
                          </p:cTn>
                        </p:par>
                        <p:par>
                          <p:cTn id="2283" nodeType="afterEffect" fill="hold">
                            <p:stCondLst>
                              <p:cond delay="6000"/>
                            </p:stCondLst>
                            <p:childTnLst>
                              <p:par>
                                <p:cTn id="2284" nodeType="afterEffect" fill="hold" presetClass="entr" presetID="4" presetSubtype="16">
                                  <p:stCondLst>
                                    <p:cond delay="0"/>
                                  </p:stCondLst>
                                  <p:childTnLst>
                                    <p:set>
                                      <p:cBhvr>
                                        <p:cTn id="2285" dur="1" fill="hold">
                                          <p:stCondLst>
                                            <p:cond delay="0"/>
                                          </p:stCondLst>
                                        </p:cTn>
                                        <p:tgtEl>
                                          <p:spTgt spid="2279"/>
                                        </p:tgtEl>
                                        <p:attrNameLst>
                                          <p:attrName>style.visibility</p:attrName>
                                        </p:attrNameLst>
                                      </p:cBhvr>
                                      <p:to>
                                        <p:strVal val="visible"/>
                                      </p:to>
                                    </p:set>
                                    <p:animEffect filter="box(in)" transition="in">
                                      <p:cBhvr additive="repl">
                                        <p:cTn id="2286" dur="500"/>
                                        <p:tgtEl>
                                          <p:spTgt spid="2279"/>
                                        </p:tgtEl>
                                      </p:cBhvr>
                                    </p:animEffect>
                                  </p:childTnLst>
                                </p:cTn>
                              </p:par>
                            </p:childTnLst>
                          </p:cTn>
                        </p:par>
                      </p:childTnLst>
                    </p:cTn>
                  </p:par>
                  <p:par>
                    <p:cTn id="2287" nodeType="clickEffect" fill="hold">
                      <p:stCondLst>
                        <p:cond delay="indefinite"/>
                      </p:stCondLst>
                      <p:childTnLst>
                        <p:par>
                          <p:cTn id="2288" nodeType="withEffect" fill="hold">
                            <p:stCondLst>
                              <p:cond delay="0"/>
                            </p:stCondLst>
                            <p:childTnLst>
                              <p:par>
                                <p:cTn id="2289" nodeType="clickEffect" fill="hold" presetClass="entr" presetID="22" presetSubtype="8">
                                  <p:stCondLst>
                                    <p:cond delay="0"/>
                                  </p:stCondLst>
                                  <p:childTnLst>
                                    <p:set>
                                      <p:cBhvr>
                                        <p:cTn id="2290" dur="1" fill="hold">
                                          <p:stCondLst>
                                            <p:cond delay="0"/>
                                          </p:stCondLst>
                                        </p:cTn>
                                        <p:tgtEl>
                                          <p:spTgt spid="2281"/>
                                        </p:tgtEl>
                                        <p:attrNameLst>
                                          <p:attrName>style.visibility</p:attrName>
                                        </p:attrNameLst>
                                      </p:cBhvr>
                                      <p:to>
                                        <p:strVal val="visible"/>
                                      </p:to>
                                    </p:set>
                                    <p:animEffect filter="wipe(left)" transition="in">
                                      <p:cBhvr additive="repl">
                                        <p:cTn id="2291" dur="500"/>
                                        <p:tgtEl>
                                          <p:spTgt spid="2281"/>
                                        </p:tgtEl>
                                      </p:cBhvr>
                                    </p:animEffect>
                                  </p:childTnLst>
                                </p:cTn>
                              </p:par>
                            </p:childTnLst>
                          </p:cTn>
                        </p:par>
                        <p:par>
                          <p:cTn id="2292" nodeType="afterEffect" fill="hold">
                            <p:stCondLst>
                              <p:cond delay="500"/>
                            </p:stCondLst>
                            <p:childTnLst>
                              <p:par>
                                <p:cTn id="2293" nodeType="afterEffect" fill="hold" presetClass="entr" presetID="22" presetSubtype="8">
                                  <p:stCondLst>
                                    <p:cond delay="0"/>
                                  </p:stCondLst>
                                  <p:childTnLst>
                                    <p:set>
                                      <p:cBhvr>
                                        <p:cTn id="2294" dur="1" fill="hold">
                                          <p:stCondLst>
                                            <p:cond delay="0"/>
                                          </p:stCondLst>
                                        </p:cTn>
                                        <p:tgtEl>
                                          <p:spTgt spid="2282"/>
                                        </p:tgtEl>
                                        <p:attrNameLst>
                                          <p:attrName>style.visibility</p:attrName>
                                        </p:attrNameLst>
                                      </p:cBhvr>
                                      <p:to>
                                        <p:strVal val="visible"/>
                                      </p:to>
                                    </p:set>
                                    <p:animEffect filter="wipe(left)" transition="in">
                                      <p:cBhvr additive="repl">
                                        <p:cTn id="2295" dur="500"/>
                                        <p:tgtEl>
                                          <p:spTgt spid="2282"/>
                                        </p:tgtEl>
                                      </p:cBhvr>
                                    </p:animEffect>
                                  </p:childTnLst>
                                </p:cTn>
                              </p:par>
                            </p:childTnLst>
                          </p:cTn>
                        </p:par>
                        <p:par>
                          <p:cTn id="2296" nodeType="afterEffect" fill="hold">
                            <p:stCondLst>
                              <p:cond delay="1000"/>
                            </p:stCondLst>
                            <p:childTnLst>
                              <p:par>
                                <p:cTn id="2297" nodeType="afterEffect" fill="hold" presetClass="entr" presetID="22" presetSubtype="8">
                                  <p:stCondLst>
                                    <p:cond delay="0"/>
                                  </p:stCondLst>
                                  <p:childTnLst>
                                    <p:set>
                                      <p:cBhvr>
                                        <p:cTn id="2298" dur="1" fill="hold">
                                          <p:stCondLst>
                                            <p:cond delay="0"/>
                                          </p:stCondLst>
                                        </p:cTn>
                                        <p:tgtEl>
                                          <p:spTgt spid="2283"/>
                                        </p:tgtEl>
                                        <p:attrNameLst>
                                          <p:attrName>style.visibility</p:attrName>
                                        </p:attrNameLst>
                                      </p:cBhvr>
                                      <p:to>
                                        <p:strVal val="visible"/>
                                      </p:to>
                                    </p:set>
                                    <p:animEffect filter="wipe(left)" transition="in">
                                      <p:cBhvr additive="repl">
                                        <p:cTn id="2299" dur="500"/>
                                        <p:tgtEl>
                                          <p:spTgt spid="2283"/>
                                        </p:tgtEl>
                                      </p:cBhvr>
                                    </p:animEffect>
                                  </p:childTnLst>
                                </p:cTn>
                              </p:par>
                            </p:childTnLst>
                          </p:cTn>
                        </p:par>
                        <p:par>
                          <p:cTn id="2300" nodeType="afterEffect" fill="hold">
                            <p:stCondLst>
                              <p:cond delay="1500"/>
                            </p:stCondLst>
                            <p:childTnLst>
                              <p:par>
                                <p:cTn id="2301" nodeType="afterEffect" fill="hold" presetClass="entr" presetID="9">
                                  <p:stCondLst>
                                    <p:cond delay="2000"/>
                                  </p:stCondLst>
                                  <p:iterate type="wd">
                                    <p:tmAbs val="300"/>
                                  </p:iterate>
                                  <p:childTnLst>
                                    <p:set>
                                      <p:cBhvr>
                                        <p:cTn id="2302" dur="1" fill="hold">
                                          <p:stCondLst>
                                            <p:cond delay="0"/>
                                          </p:stCondLst>
                                        </p:cTn>
                                        <p:tgtEl>
                                          <p:spTgt spid="2295"/>
                                        </p:tgtEl>
                                        <p:attrNameLst>
                                          <p:attrName>style.visibility</p:attrName>
                                        </p:attrNameLst>
                                      </p:cBhvr>
                                      <p:to>
                                        <p:strVal val="visible"/>
                                      </p:to>
                                    </p:set>
                                    <p:animEffect filter="dissolve" transition="in">
                                      <p:cBhvr additive="repl">
                                        <p:cTn id="2303" dur="300"/>
                                        <p:tgtEl>
                                          <p:spTgt spid="2295"/>
                                        </p:tgtEl>
                                      </p:cBhvr>
                                    </p:animEffect>
                                  </p:childTnLst>
                                </p:cTn>
                              </p:par>
                            </p:childTnLst>
                          </p:cTn>
                        </p:par>
                      </p:childTnLst>
                    </p:cTn>
                  </p:par>
                  <p:par>
                    <p:cTn id="2304" nodeType="clickEffect" fill="hold">
                      <p:stCondLst>
                        <p:cond delay="indefinite"/>
                      </p:stCondLst>
                      <p:childTnLst>
                        <p:par>
                          <p:cTn id="2305" nodeType="withEffect" fill="hold">
                            <p:stCondLst>
                              <p:cond delay="0"/>
                            </p:stCondLst>
                            <p:childTnLst>
                              <p:par>
                                <p:cTn id="2306" nodeType="clickEffect" fill="hold" presetClass="entr" presetID="22" presetSubtype="4">
                                  <p:stCondLst>
                                    <p:cond delay="0"/>
                                  </p:stCondLst>
                                  <p:childTnLst>
                                    <p:set>
                                      <p:cBhvr>
                                        <p:cTn id="2307" dur="1" fill="hold">
                                          <p:stCondLst>
                                            <p:cond delay="0"/>
                                          </p:stCondLst>
                                        </p:cTn>
                                        <p:tgtEl>
                                          <p:spTgt spid="2280"/>
                                        </p:tgtEl>
                                        <p:attrNameLst>
                                          <p:attrName>style.visibility</p:attrName>
                                        </p:attrNameLst>
                                      </p:cBhvr>
                                      <p:to>
                                        <p:strVal val="visible"/>
                                      </p:to>
                                    </p:set>
                                    <p:animEffect filter="wipe(down)" transition="in">
                                      <p:cBhvr additive="repl">
                                        <p:cTn id="2308" dur="500"/>
                                        <p:tgtEl>
                                          <p:spTgt spid="2280"/>
                                        </p:tgtEl>
                                      </p:cBhvr>
                                    </p:animEffect>
                                  </p:childTnLst>
                                </p:cTn>
                              </p:par>
                            </p:childTnLst>
                          </p:cTn>
                        </p:par>
                        <p:par>
                          <p:cTn id="2309" nodeType="afterEffect" fill="hold">
                            <p:stCondLst>
                              <p:cond delay="500"/>
                            </p:stCondLst>
                            <p:childTnLst>
                              <p:par>
                                <p:cTn id="2310" nodeType="afterEffect" fill="hold" presetClass="entr" presetID="22" presetSubtype="2">
                                  <p:stCondLst>
                                    <p:cond delay="2000"/>
                                  </p:stCondLst>
                                  <p:childTnLst>
                                    <p:set>
                                      <p:cBhvr>
                                        <p:cTn id="2311" dur="1" fill="hold">
                                          <p:stCondLst>
                                            <p:cond delay="0"/>
                                          </p:stCondLst>
                                        </p:cTn>
                                        <p:tgtEl>
                                          <p:spTgt spid="2289"/>
                                        </p:tgtEl>
                                        <p:attrNameLst>
                                          <p:attrName>style.visibility</p:attrName>
                                        </p:attrNameLst>
                                      </p:cBhvr>
                                      <p:to>
                                        <p:strVal val="visible"/>
                                      </p:to>
                                    </p:set>
                                    <p:animEffect filter="wipe(right)" transition="in">
                                      <p:cBhvr additive="repl">
                                        <p:cTn id="2312" dur="500"/>
                                        <p:tgtEl>
                                          <p:spTgt spid="2289"/>
                                        </p:tgtEl>
                                      </p:cBhvr>
                                    </p:animEffect>
                                  </p:childTnLst>
                                </p:cTn>
                              </p:par>
                            </p:childTnLst>
                          </p:cTn>
                        </p:par>
                        <p:par>
                          <p:cTn id="2313" nodeType="afterEffect" fill="hold">
                            <p:stCondLst>
                              <p:cond delay="3000"/>
                            </p:stCondLst>
                            <p:childTnLst>
                              <p:par>
                                <p:cTn id="2314" nodeType="afterEffect" fill="hold" presetClass="entr" presetID="23" presetSubtype="288">
                                  <p:stCondLst>
                                    <p:cond delay="1000"/>
                                  </p:stCondLst>
                                  <p:childTnLst>
                                    <p:set>
                                      <p:cBhvr>
                                        <p:cTn id="2315" dur="1" fill="hold">
                                          <p:stCondLst>
                                            <p:cond delay="0"/>
                                          </p:stCondLst>
                                        </p:cTn>
                                        <p:tgtEl>
                                          <p:spTgt spid="2292"/>
                                        </p:tgtEl>
                                        <p:attrNameLst>
                                          <p:attrName>style.visibility</p:attrName>
                                        </p:attrNameLst>
                                      </p:cBhvr>
                                      <p:to>
                                        <p:strVal val="visible"/>
                                      </p:to>
                                    </p:set>
                                    <p:anim calcmode="lin" valueType="num">
                                      <p:cBhvr additive="repl">
                                        <p:cTn id="2316" dur="500" fill="hold"/>
                                        <p:tgtEl>
                                          <p:spTgt spid="2292"/>
                                        </p:tgtEl>
                                        <p:attrNameLst>
                                          <p:attrName>ppt_w</p:attrName>
                                        </p:attrNameLst>
                                      </p:cBhvr>
                                      <p:tavLst>
                                        <p:tav tm="0">
                                          <p:val>
                                            <p:strVal val="4/3*#ppt_w"/>
                                          </p:val>
                                        </p:tav>
                                        <p:tav tm="100000">
                                          <p:val>
                                            <p:strVal val="#ppt_w"/>
                                          </p:val>
                                        </p:tav>
                                      </p:tavLst>
                                    </p:anim>
                                    <p:anim calcmode="lin" valueType="num">
                                      <p:cBhvr additive="repl">
                                        <p:cTn id="2317" dur="500" fill="hold"/>
                                        <p:tgtEl>
                                          <p:spTgt spid="2292"/>
                                        </p:tgtEl>
                                        <p:attrNameLst>
                                          <p:attrName>ppt_h</p:attrName>
                                        </p:attrNameLst>
                                      </p:cBhvr>
                                      <p:tavLst>
                                        <p:tav tm="0">
                                          <p:val>
                                            <p:strVal val="4/3*#ppt_h"/>
                                          </p:val>
                                        </p:tav>
                                        <p:tav tm="100000">
                                          <p:val>
                                            <p:strVal val="#ppt_h"/>
                                          </p:val>
                                        </p:tav>
                                      </p:tavLst>
                                    </p:anim>
                                  </p:childTnLst>
                                </p:cTn>
                              </p:par>
                            </p:childTnLst>
                          </p:cTn>
                        </p:par>
                        <p:par>
                          <p:cTn id="2318" nodeType="afterEffect" fill="hold">
                            <p:stCondLst>
                              <p:cond delay="4500"/>
                            </p:stCondLst>
                            <p:childTnLst>
                              <p:par>
                                <p:cTn id="2319" nodeType="afterEffect" fill="hold" presetClass="entr" presetID="22" presetSubtype="2">
                                  <p:stCondLst>
                                    <p:cond delay="0"/>
                                  </p:stCondLst>
                                  <p:childTnLst>
                                    <p:set>
                                      <p:cBhvr>
                                        <p:cTn id="2320" dur="1" fill="hold">
                                          <p:stCondLst>
                                            <p:cond delay="0"/>
                                          </p:stCondLst>
                                        </p:cTn>
                                        <p:tgtEl>
                                          <p:spTgt spid="2290"/>
                                        </p:tgtEl>
                                        <p:attrNameLst>
                                          <p:attrName>style.visibility</p:attrName>
                                        </p:attrNameLst>
                                      </p:cBhvr>
                                      <p:to>
                                        <p:strVal val="visible"/>
                                      </p:to>
                                    </p:set>
                                    <p:animEffect filter="wipe(right)" transition="in">
                                      <p:cBhvr additive="repl">
                                        <p:cTn id="2321" dur="500"/>
                                        <p:tgtEl>
                                          <p:spTgt spid="2290"/>
                                        </p:tgtEl>
                                      </p:cBhvr>
                                    </p:animEffect>
                                  </p:childTnLst>
                                </p:cTn>
                              </p:par>
                            </p:childTnLst>
                          </p:cTn>
                        </p:par>
                        <p:par>
                          <p:cTn id="2322" nodeType="afterEffect" fill="hold">
                            <p:stCondLst>
                              <p:cond delay="5000"/>
                            </p:stCondLst>
                            <p:childTnLst>
                              <p:par>
                                <p:cTn id="2323" nodeType="afterEffect" fill="hold" presetClass="entr" presetID="22" presetSubtype="2">
                                  <p:stCondLst>
                                    <p:cond delay="0"/>
                                  </p:stCondLst>
                                  <p:childTnLst>
                                    <p:set>
                                      <p:cBhvr>
                                        <p:cTn id="2324" dur="1" fill="hold">
                                          <p:stCondLst>
                                            <p:cond delay="0"/>
                                          </p:stCondLst>
                                        </p:cTn>
                                        <p:tgtEl>
                                          <p:spTgt spid="2291"/>
                                        </p:tgtEl>
                                        <p:attrNameLst>
                                          <p:attrName>style.visibility</p:attrName>
                                        </p:attrNameLst>
                                      </p:cBhvr>
                                      <p:to>
                                        <p:strVal val="visible"/>
                                      </p:to>
                                    </p:set>
                                    <p:animEffect filter="wipe(right)" transition="in">
                                      <p:cBhvr additive="repl">
                                        <p:cTn id="2325" dur="500"/>
                                        <p:tgtEl>
                                          <p:spTgt spid="2291"/>
                                        </p:tgtEl>
                                      </p:cBhvr>
                                    </p:animEffect>
                                  </p:childTnLst>
                                </p:cTn>
                              </p:par>
                            </p:childTnLst>
                          </p:cTn>
                        </p:par>
                      </p:childTnLst>
                    </p:cTn>
                  </p:par>
                  <p:par>
                    <p:cTn id="2326" nodeType="clickEffect" fill="hold">
                      <p:stCondLst>
                        <p:cond delay="indefinite"/>
                      </p:stCondLst>
                      <p:childTnLst>
                        <p:par>
                          <p:cTn id="2327" nodeType="withEffect" fill="hold">
                            <p:stCondLst>
                              <p:cond delay="0"/>
                            </p:stCondLst>
                            <p:childTnLst>
                              <p:par>
                                <p:cTn id="2328" nodeType="clickEffect" fill="hold" presetClass="entr" presetID="22" presetSubtype="4">
                                  <p:stCondLst>
                                    <p:cond delay="0"/>
                                  </p:stCondLst>
                                  <p:childTnLst>
                                    <p:set>
                                      <p:cBhvr>
                                        <p:cTn id="2329" dur="1" fill="hold">
                                          <p:stCondLst>
                                            <p:cond delay="0"/>
                                          </p:stCondLst>
                                        </p:cTn>
                                        <p:tgtEl>
                                          <p:spTgt spid="2284"/>
                                        </p:tgtEl>
                                        <p:attrNameLst>
                                          <p:attrName>style.visibility</p:attrName>
                                        </p:attrNameLst>
                                      </p:cBhvr>
                                      <p:to>
                                        <p:strVal val="visible"/>
                                      </p:to>
                                    </p:set>
                                    <p:animEffect filter="wipe(down)" transition="in">
                                      <p:cBhvr additive="repl">
                                        <p:cTn id="2330" dur="500"/>
                                        <p:tgtEl>
                                          <p:spTgt spid="2284"/>
                                        </p:tgtEl>
                                      </p:cBhvr>
                                    </p:animEffect>
                                  </p:childTnLst>
                                </p:cTn>
                              </p:par>
                            </p:childTnLst>
                          </p:cTn>
                        </p:par>
                        <p:par>
                          <p:cTn id="2331" nodeType="afterEffect" fill="hold">
                            <p:stCondLst>
                              <p:cond delay="500"/>
                            </p:stCondLst>
                            <p:childTnLst>
                              <p:par>
                                <p:cTn id="2332" nodeType="afterEffect" fill="hold" presetClass="entr" presetID="22" presetSubtype="2">
                                  <p:stCondLst>
                                    <p:cond delay="0"/>
                                  </p:stCondLst>
                                  <p:childTnLst>
                                    <p:set>
                                      <p:cBhvr>
                                        <p:cTn id="2333" dur="1" fill="hold">
                                          <p:stCondLst>
                                            <p:cond delay="0"/>
                                          </p:stCondLst>
                                        </p:cTn>
                                        <p:tgtEl>
                                          <p:spTgt spid="2285"/>
                                        </p:tgtEl>
                                        <p:attrNameLst>
                                          <p:attrName>style.visibility</p:attrName>
                                        </p:attrNameLst>
                                      </p:cBhvr>
                                      <p:to>
                                        <p:strVal val="visible"/>
                                      </p:to>
                                    </p:set>
                                    <p:animEffect filter="wipe(right)" transition="in">
                                      <p:cBhvr additive="repl">
                                        <p:cTn id="2334" dur="500"/>
                                        <p:tgtEl>
                                          <p:spTgt spid="2285"/>
                                        </p:tgtEl>
                                      </p:cBhvr>
                                    </p:animEffect>
                                  </p:childTnLst>
                                </p:cTn>
                              </p:par>
                            </p:childTnLst>
                          </p:cTn>
                        </p:par>
                        <p:par>
                          <p:cTn id="2335" nodeType="afterEffect" fill="hold">
                            <p:stCondLst>
                              <p:cond delay="1000"/>
                            </p:stCondLst>
                            <p:childTnLst>
                              <p:par>
                                <p:cTn id="2336" nodeType="afterEffect" fill="hold" presetClass="entr" presetID="23" presetSubtype="288">
                                  <p:stCondLst>
                                    <p:cond delay="1000"/>
                                  </p:stCondLst>
                                  <p:childTnLst>
                                    <p:set>
                                      <p:cBhvr>
                                        <p:cTn id="2337" dur="1" fill="hold">
                                          <p:stCondLst>
                                            <p:cond delay="0"/>
                                          </p:stCondLst>
                                        </p:cTn>
                                        <p:tgtEl>
                                          <p:spTgt spid="2286"/>
                                        </p:tgtEl>
                                        <p:attrNameLst>
                                          <p:attrName>style.visibility</p:attrName>
                                        </p:attrNameLst>
                                      </p:cBhvr>
                                      <p:to>
                                        <p:strVal val="visible"/>
                                      </p:to>
                                    </p:set>
                                    <p:anim calcmode="lin" valueType="num">
                                      <p:cBhvr additive="repl">
                                        <p:cTn id="2338" dur="500" fill="hold"/>
                                        <p:tgtEl>
                                          <p:spTgt spid="2286"/>
                                        </p:tgtEl>
                                        <p:attrNameLst>
                                          <p:attrName>ppt_w</p:attrName>
                                        </p:attrNameLst>
                                      </p:cBhvr>
                                      <p:tavLst>
                                        <p:tav tm="0">
                                          <p:val>
                                            <p:strVal val="4/3*#ppt_w"/>
                                          </p:val>
                                        </p:tav>
                                        <p:tav tm="100000">
                                          <p:val>
                                            <p:strVal val="#ppt_w"/>
                                          </p:val>
                                        </p:tav>
                                      </p:tavLst>
                                    </p:anim>
                                    <p:anim calcmode="lin" valueType="num">
                                      <p:cBhvr additive="repl">
                                        <p:cTn id="2339" dur="500" fill="hold"/>
                                        <p:tgtEl>
                                          <p:spTgt spid="2286"/>
                                        </p:tgtEl>
                                        <p:attrNameLst>
                                          <p:attrName>ppt_h</p:attrName>
                                        </p:attrNameLst>
                                      </p:cBhvr>
                                      <p:tavLst>
                                        <p:tav tm="0">
                                          <p:val>
                                            <p:strVal val="4/3*#ppt_h"/>
                                          </p:val>
                                        </p:tav>
                                        <p:tav tm="100000">
                                          <p:val>
                                            <p:strVal val="#ppt_h"/>
                                          </p:val>
                                        </p:tav>
                                      </p:tavLst>
                                    </p:anim>
                                  </p:childTnLst>
                                </p:cTn>
                              </p:par>
                            </p:childTnLst>
                          </p:cTn>
                        </p:par>
                        <p:par>
                          <p:cTn id="2340" nodeType="afterEffect" fill="hold">
                            <p:stCondLst>
                              <p:cond delay="2500"/>
                            </p:stCondLst>
                            <p:childTnLst>
                              <p:par>
                                <p:cTn id="2341" nodeType="afterEffect" fill="hold" presetClass="entr" presetID="22" presetSubtype="2">
                                  <p:stCondLst>
                                    <p:cond delay="0"/>
                                  </p:stCondLst>
                                  <p:childTnLst>
                                    <p:set>
                                      <p:cBhvr>
                                        <p:cTn id="2342" dur="1" fill="hold">
                                          <p:stCondLst>
                                            <p:cond delay="0"/>
                                          </p:stCondLst>
                                        </p:cTn>
                                        <p:tgtEl>
                                          <p:spTgt spid="2287"/>
                                        </p:tgtEl>
                                        <p:attrNameLst>
                                          <p:attrName>style.visibility</p:attrName>
                                        </p:attrNameLst>
                                      </p:cBhvr>
                                      <p:to>
                                        <p:strVal val="visible"/>
                                      </p:to>
                                    </p:set>
                                    <p:animEffect filter="wipe(right)" transition="in">
                                      <p:cBhvr additive="repl">
                                        <p:cTn id="2343" dur="500"/>
                                        <p:tgtEl>
                                          <p:spTgt spid="2287"/>
                                        </p:tgtEl>
                                      </p:cBhvr>
                                    </p:animEffect>
                                  </p:childTnLst>
                                </p:cTn>
                              </p:par>
                            </p:childTnLst>
                          </p:cTn>
                        </p:par>
                        <p:par>
                          <p:cTn id="2344" nodeType="afterEffect" fill="hold">
                            <p:stCondLst>
                              <p:cond delay="3000"/>
                            </p:stCondLst>
                            <p:childTnLst>
                              <p:par>
                                <p:cTn id="2345" nodeType="afterEffect" fill="hold" presetClass="entr" presetID="22" presetSubtype="2">
                                  <p:stCondLst>
                                    <p:cond delay="0"/>
                                  </p:stCondLst>
                                  <p:childTnLst>
                                    <p:set>
                                      <p:cBhvr>
                                        <p:cTn id="2346" dur="1" fill="hold">
                                          <p:stCondLst>
                                            <p:cond delay="0"/>
                                          </p:stCondLst>
                                        </p:cTn>
                                        <p:tgtEl>
                                          <p:spTgt spid="2288"/>
                                        </p:tgtEl>
                                        <p:attrNameLst>
                                          <p:attrName>style.visibility</p:attrName>
                                        </p:attrNameLst>
                                      </p:cBhvr>
                                      <p:to>
                                        <p:strVal val="visible"/>
                                      </p:to>
                                    </p:set>
                                    <p:animEffect filter="wipe(right)" transition="in">
                                      <p:cBhvr additive="repl">
                                        <p:cTn id="2347" dur="500"/>
                                        <p:tgtEl>
                                          <p:spTgt spid="2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6" name="Line 2"/>
          <p:cNvSpPr/>
          <p:nvPr/>
        </p:nvSpPr>
        <p:spPr>
          <a:xfrm>
            <a:off x="1828800" y="1447920"/>
            <a:ext cx="0" cy="44193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97" name="Line 3"/>
          <p:cNvSpPr/>
          <p:nvPr/>
        </p:nvSpPr>
        <p:spPr>
          <a:xfrm>
            <a:off x="1828800" y="5867280"/>
            <a:ext cx="72388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298" name="Rectangle 4" descr="Diagonales larges vers le haut"/>
          <p:cNvSpPr/>
          <p:nvPr/>
        </p:nvSpPr>
        <p:spPr>
          <a:xfrm>
            <a:off x="2057400" y="3505320"/>
            <a:ext cx="380880" cy="2361960"/>
          </a:xfrm>
          <a:prstGeom prst="rect">
            <a:avLst/>
          </a:prstGeom>
          <a:blipFill rotWithShape="0">
            <a:blip r:embed="rId1"/>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299" name="Text Box 5"/>
          <p:cNvSpPr/>
          <p:nvPr/>
        </p:nvSpPr>
        <p:spPr>
          <a:xfrm>
            <a:off x="691200" y="1523880"/>
            <a:ext cx="1613160" cy="4440960"/>
          </a:xfrm>
          <a:prstGeom prst="rect">
            <a:avLst/>
          </a:prstGeom>
          <a:noFill/>
          <a:ln w="0">
            <a:noFill/>
          </a:ln>
        </p:spPr>
        <p:style>
          <a:lnRef idx="0"/>
          <a:fillRef idx="0"/>
          <a:effectRef idx="0"/>
          <a:fontRef idx="minor"/>
        </p:style>
        <p:txBody>
          <a:bodyPr wrap="none" lIns="90000" rIns="90000" tIns="46800" bIns="46800" anchor="t">
            <a:spAutoFit/>
          </a:bodyPr>
          <a:p>
            <a:pPr marL="457200" indent="-457200">
              <a:lnSpc>
                <a:spcPct val="85000"/>
              </a:lnSpc>
              <a:buClr>
                <a:srgbClr val="ffff00"/>
              </a:buClr>
              <a:buFont typeface="Arial"/>
              <a:buAutoNum type="arabicPlain" startAt="10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9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8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7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6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5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4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3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10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buClr>
                <a:srgbClr val="ffff00"/>
              </a:buClr>
              <a:buFont typeface="Arial"/>
              <a:buAutoNum type="arabicPlain" startAt="90"/>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t>
            </a: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trike="noStrike" u="none">
              <a:solidFill>
                <a:srgbClr val="ffff00"/>
              </a:solidFill>
              <a:effectLst/>
              <a:uFillTx/>
              <a:latin typeface="Times New Roman"/>
            </a:endParaRPr>
          </a:p>
          <a:p>
            <a:pPr marL="457200" indent="-45720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0      -</a:t>
            </a:r>
            <a:endParaRPr b="0" lang="en-US" sz="1600" strike="noStrike" u="none">
              <a:solidFill>
                <a:srgbClr val="ffff00"/>
              </a:solidFill>
              <a:effectLst/>
              <a:uFillTx/>
              <a:latin typeface="Times New Roman"/>
            </a:endParaRPr>
          </a:p>
        </p:txBody>
      </p:sp>
      <p:sp>
        <p:nvSpPr>
          <p:cNvPr id="2300" name="Rectangle 6" descr="10 %"/>
          <p:cNvSpPr/>
          <p:nvPr/>
        </p:nvSpPr>
        <p:spPr>
          <a:xfrm>
            <a:off x="2438280" y="4419720"/>
            <a:ext cx="381240" cy="1447560"/>
          </a:xfrm>
          <a:prstGeom prst="rect">
            <a:avLst/>
          </a:prstGeom>
          <a:blipFill rotWithShape="0">
            <a:blip r:embed="rId2"/>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1" name="Rectangle 7" descr="Diagonales larges vers le haut"/>
          <p:cNvSpPr/>
          <p:nvPr/>
        </p:nvSpPr>
        <p:spPr>
          <a:xfrm>
            <a:off x="3124080" y="2286000"/>
            <a:ext cx="381240" cy="3581280"/>
          </a:xfrm>
          <a:prstGeom prst="rect">
            <a:avLst/>
          </a:prstGeom>
          <a:blipFill rotWithShape="0">
            <a:blip r:embed="rId3"/>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2" name="Rectangle 8" descr="10 %"/>
          <p:cNvSpPr/>
          <p:nvPr/>
        </p:nvSpPr>
        <p:spPr>
          <a:xfrm>
            <a:off x="4648320" y="2286000"/>
            <a:ext cx="380880" cy="3581280"/>
          </a:xfrm>
          <a:prstGeom prst="rect">
            <a:avLst/>
          </a:prstGeom>
          <a:blipFill rotWithShape="0">
            <a:blip r:embed="rId4"/>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3" name="Rectangle 9" descr="Diagonales larges vers le haut"/>
          <p:cNvSpPr/>
          <p:nvPr/>
        </p:nvSpPr>
        <p:spPr>
          <a:xfrm>
            <a:off x="4267080" y="1828800"/>
            <a:ext cx="381240" cy="4038480"/>
          </a:xfrm>
          <a:prstGeom prst="rect">
            <a:avLst/>
          </a:prstGeom>
          <a:blipFill rotWithShape="0">
            <a:blip r:embed="rId5"/>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4" name="Rectangle 10" descr="10 %"/>
          <p:cNvSpPr/>
          <p:nvPr/>
        </p:nvSpPr>
        <p:spPr>
          <a:xfrm>
            <a:off x="3505320" y="2971800"/>
            <a:ext cx="380880" cy="2895480"/>
          </a:xfrm>
          <a:prstGeom prst="rect">
            <a:avLst/>
          </a:prstGeom>
          <a:blipFill rotWithShape="0">
            <a:blip r:embed="rId6"/>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5" name="Rectangle 11" descr="10 %"/>
          <p:cNvSpPr/>
          <p:nvPr/>
        </p:nvSpPr>
        <p:spPr>
          <a:xfrm>
            <a:off x="5791320" y="2133720"/>
            <a:ext cx="380880" cy="3733560"/>
          </a:xfrm>
          <a:prstGeom prst="rect">
            <a:avLst/>
          </a:prstGeom>
          <a:blipFill rotWithShape="0">
            <a:blip r:embed="rId7"/>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6" name="Rectangle 12" descr="Diagonales larges vers le haut"/>
          <p:cNvSpPr/>
          <p:nvPr/>
        </p:nvSpPr>
        <p:spPr>
          <a:xfrm>
            <a:off x="5410080" y="1828800"/>
            <a:ext cx="381240" cy="4038480"/>
          </a:xfrm>
          <a:prstGeom prst="rect">
            <a:avLst/>
          </a:prstGeom>
          <a:blipFill rotWithShape="0">
            <a:blip r:embed="rId8"/>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7" name="Rectangle 13" descr="10 %"/>
          <p:cNvSpPr/>
          <p:nvPr/>
        </p:nvSpPr>
        <p:spPr>
          <a:xfrm>
            <a:off x="6934320" y="2057400"/>
            <a:ext cx="380880" cy="3809880"/>
          </a:xfrm>
          <a:prstGeom prst="rect">
            <a:avLst/>
          </a:prstGeom>
          <a:blipFill rotWithShape="0">
            <a:blip r:embed="rId9"/>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8" name="Rectangle 14" descr="Diagonales larges vers le haut"/>
          <p:cNvSpPr/>
          <p:nvPr/>
        </p:nvSpPr>
        <p:spPr>
          <a:xfrm>
            <a:off x="6553080" y="1905120"/>
            <a:ext cx="381240" cy="3962160"/>
          </a:xfrm>
          <a:prstGeom prst="rect">
            <a:avLst/>
          </a:prstGeom>
          <a:blipFill rotWithShape="0">
            <a:blip r:embed="rId10"/>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09" name="Rectangle 15" descr="10 %"/>
          <p:cNvSpPr/>
          <p:nvPr/>
        </p:nvSpPr>
        <p:spPr>
          <a:xfrm>
            <a:off x="8077320" y="1981080"/>
            <a:ext cx="380880" cy="3886200"/>
          </a:xfrm>
          <a:prstGeom prst="rect">
            <a:avLst/>
          </a:prstGeom>
          <a:blipFill rotWithShape="0">
            <a:blip r:embed="rId11"/>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10" name="Rectangle 16" descr="Diagonales larges vers le haut"/>
          <p:cNvSpPr/>
          <p:nvPr/>
        </p:nvSpPr>
        <p:spPr>
          <a:xfrm>
            <a:off x="7696080" y="1905120"/>
            <a:ext cx="381240" cy="3962160"/>
          </a:xfrm>
          <a:prstGeom prst="rect">
            <a:avLst/>
          </a:prstGeom>
          <a:blipFill rotWithShape="0">
            <a:blip r:embed="rId12"/>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11" name="Line 21"/>
          <p:cNvSpPr/>
          <p:nvPr/>
        </p:nvSpPr>
        <p:spPr>
          <a:xfrm flipV="1">
            <a:off x="2209680" y="327636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2" name="Line 22"/>
          <p:cNvSpPr/>
          <p:nvPr/>
        </p:nvSpPr>
        <p:spPr>
          <a:xfrm flipV="1">
            <a:off x="2590920" y="4114440"/>
            <a:ext cx="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3" name="Line 24"/>
          <p:cNvSpPr/>
          <p:nvPr/>
        </p:nvSpPr>
        <p:spPr>
          <a:xfrm flipV="1">
            <a:off x="3276720" y="1828800"/>
            <a:ext cx="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4" name="Line 25"/>
          <p:cNvSpPr/>
          <p:nvPr/>
        </p:nvSpPr>
        <p:spPr>
          <a:xfrm>
            <a:off x="3200400" y="18288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5" name="Line 26"/>
          <p:cNvSpPr/>
          <p:nvPr/>
        </p:nvSpPr>
        <p:spPr>
          <a:xfrm flipV="1">
            <a:off x="3733920" y="2514600"/>
            <a:ext cx="0" cy="4572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6" name="Line 27"/>
          <p:cNvSpPr/>
          <p:nvPr/>
        </p:nvSpPr>
        <p:spPr>
          <a:xfrm>
            <a:off x="3657600" y="25146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7" name="Line 28"/>
          <p:cNvSpPr/>
          <p:nvPr/>
        </p:nvSpPr>
        <p:spPr>
          <a:xfrm flipV="1">
            <a:off x="4419720" y="159984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8" name="Line 29"/>
          <p:cNvSpPr/>
          <p:nvPr/>
        </p:nvSpPr>
        <p:spPr>
          <a:xfrm>
            <a:off x="4343400" y="16002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19" name="Line 30"/>
          <p:cNvSpPr/>
          <p:nvPr/>
        </p:nvSpPr>
        <p:spPr>
          <a:xfrm flipV="1">
            <a:off x="4876920" y="2057040"/>
            <a:ext cx="0" cy="2286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0" name="Line 31"/>
          <p:cNvSpPr/>
          <p:nvPr/>
        </p:nvSpPr>
        <p:spPr>
          <a:xfrm>
            <a:off x="4800600" y="20574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1" name="Line 32"/>
          <p:cNvSpPr/>
          <p:nvPr/>
        </p:nvSpPr>
        <p:spPr>
          <a:xfrm flipV="1">
            <a:off x="5638680" y="1676160"/>
            <a:ext cx="0" cy="152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2" name="Line 33"/>
          <p:cNvSpPr/>
          <p:nvPr/>
        </p:nvSpPr>
        <p:spPr>
          <a:xfrm>
            <a:off x="5562720" y="167652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3" name="Line 34"/>
          <p:cNvSpPr/>
          <p:nvPr/>
        </p:nvSpPr>
        <p:spPr>
          <a:xfrm flipV="1">
            <a:off x="6019920" y="1752120"/>
            <a:ext cx="0" cy="3812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4" name="Line 35"/>
          <p:cNvSpPr/>
          <p:nvPr/>
        </p:nvSpPr>
        <p:spPr>
          <a:xfrm>
            <a:off x="594360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5" name="Line 38"/>
          <p:cNvSpPr/>
          <p:nvPr/>
        </p:nvSpPr>
        <p:spPr>
          <a:xfrm flipV="1">
            <a:off x="6781680" y="1752480"/>
            <a:ext cx="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6" name="Line 39"/>
          <p:cNvSpPr/>
          <p:nvPr/>
        </p:nvSpPr>
        <p:spPr>
          <a:xfrm>
            <a:off x="670572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7" name="Line 40"/>
          <p:cNvSpPr/>
          <p:nvPr/>
        </p:nvSpPr>
        <p:spPr>
          <a:xfrm flipV="1">
            <a:off x="7162920" y="1752120"/>
            <a:ext cx="0" cy="3049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8" name="Line 41"/>
          <p:cNvSpPr/>
          <p:nvPr/>
        </p:nvSpPr>
        <p:spPr>
          <a:xfrm>
            <a:off x="708660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29" name="Line 42"/>
          <p:cNvSpPr/>
          <p:nvPr/>
        </p:nvSpPr>
        <p:spPr>
          <a:xfrm flipV="1">
            <a:off x="7848720" y="1752480"/>
            <a:ext cx="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0" name="Line 43"/>
          <p:cNvSpPr/>
          <p:nvPr/>
        </p:nvSpPr>
        <p:spPr>
          <a:xfrm>
            <a:off x="7772400" y="175248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1" name="Line 44"/>
          <p:cNvSpPr/>
          <p:nvPr/>
        </p:nvSpPr>
        <p:spPr>
          <a:xfrm flipV="1">
            <a:off x="8229600" y="1828440"/>
            <a:ext cx="0" cy="152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2" name="Line 45"/>
          <p:cNvSpPr/>
          <p:nvPr/>
        </p:nvSpPr>
        <p:spPr>
          <a:xfrm>
            <a:off x="8153280" y="1828800"/>
            <a:ext cx="15264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3" name="Line 46"/>
          <p:cNvSpPr/>
          <p:nvPr/>
        </p:nvSpPr>
        <p:spPr>
          <a:xfrm>
            <a:off x="2514600" y="411480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4" name="Line 47"/>
          <p:cNvSpPr/>
          <p:nvPr/>
        </p:nvSpPr>
        <p:spPr>
          <a:xfrm>
            <a:off x="2133720" y="3276720"/>
            <a:ext cx="152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5" name="Text Box 48"/>
          <p:cNvSpPr/>
          <p:nvPr/>
        </p:nvSpPr>
        <p:spPr>
          <a:xfrm>
            <a:off x="1911960" y="5927760"/>
            <a:ext cx="6479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0 – 30 s       31 – 60 s     61 – 90 s      91 – 120 s     3 min          4 min</a:t>
            </a:r>
            <a:endParaRPr b="0" lang="en-US" sz="1600" strike="noStrike" u="none">
              <a:solidFill>
                <a:srgbClr val="ffff00"/>
              </a:solidFill>
              <a:effectLst/>
              <a:uFillTx/>
              <a:latin typeface="Times New Roman"/>
            </a:endParaRPr>
          </a:p>
        </p:txBody>
      </p:sp>
      <p:sp>
        <p:nvSpPr>
          <p:cNvPr id="2336" name="Freeform 51"/>
          <p:cNvSpPr/>
          <p:nvPr/>
        </p:nvSpPr>
        <p:spPr>
          <a:xfrm>
            <a:off x="2209680" y="1752480"/>
            <a:ext cx="5842080" cy="1752840"/>
          </a:xfrm>
          <a:custGeom>
            <a:avLst/>
            <a:gdLst>
              <a:gd name="GluePoint1X" fmla="*/ 0 w 3680"/>
              <a:gd name="GluePoint1Y" fmla="*/ 2147483647 h 1104"/>
              <a:gd name="GluePoint2X" fmla="*/ 2147483647 w 3680"/>
              <a:gd name="GluePoint2Y" fmla="*/ 2147483647 h 1104"/>
              <a:gd name="GluePoint3X" fmla="*/ 2147483647 w 3680"/>
              <a:gd name="GluePoint3Y" fmla="*/ 2147483647 h 1104"/>
              <a:gd name="GluePoint4X" fmla="*/ 2147483647 w 3680"/>
              <a:gd name="GluePoint4Y" fmla="*/ 2147483647 h 1104"/>
              <a:gd name="GluePoint5X" fmla="*/ 2147483647 w 3680"/>
              <a:gd name="GluePoint5Y" fmla="*/ 2147483647 h 1104"/>
              <a:gd name="GluePoint6X" fmla="*/ 2147483647 w 3680"/>
              <a:gd name="GluePoint6Y" fmla="*/ 2147483647 h 1104"/>
              <a:gd name="GluePoint7X" fmla="*/ 2147483647 w 3680"/>
              <a:gd name="GluePoint7Y" fmla="*/ 2147483647 h 110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80" h="1104">
                <a:moveTo>
                  <a:pt x="0" y="1104"/>
                </a:moveTo>
                <a:cubicBezTo>
                  <a:pt x="240" y="808"/>
                  <a:pt x="480" y="512"/>
                  <a:pt x="720" y="336"/>
                </a:cubicBezTo>
                <a:cubicBezTo>
                  <a:pt x="960" y="160"/>
                  <a:pt x="1200" y="96"/>
                  <a:pt x="1440" y="48"/>
                </a:cubicBezTo>
                <a:cubicBezTo>
                  <a:pt x="1680" y="0"/>
                  <a:pt x="1920" y="40"/>
                  <a:pt x="2160" y="48"/>
                </a:cubicBezTo>
                <a:cubicBezTo>
                  <a:pt x="2400" y="56"/>
                  <a:pt x="2648" y="88"/>
                  <a:pt x="2880" y="96"/>
                </a:cubicBezTo>
                <a:cubicBezTo>
                  <a:pt x="3112" y="104"/>
                  <a:pt x="3424" y="96"/>
                  <a:pt x="3552" y="96"/>
                </a:cubicBezTo>
                <a:cubicBezTo>
                  <a:pt x="3680" y="96"/>
                  <a:pt x="3632" y="96"/>
                  <a:pt x="3648" y="96"/>
                </a:cubicBezTo>
              </a:path>
            </a:pathLst>
          </a:custGeom>
          <a:noFill/>
          <a:ln w="2844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7" name="Freeform 52"/>
          <p:cNvSpPr/>
          <p:nvPr/>
        </p:nvSpPr>
        <p:spPr>
          <a:xfrm>
            <a:off x="2666880" y="1981080"/>
            <a:ext cx="5562720" cy="2438640"/>
          </a:xfrm>
          <a:custGeom>
            <a:avLst/>
            <a:gdLst>
              <a:gd name="GluePoint1X" fmla="*/ 0 w 3504"/>
              <a:gd name="GluePoint1Y" fmla="*/ 2147483647 h 1536"/>
              <a:gd name="GluePoint2X" fmla="*/ 2147483647 w 3504"/>
              <a:gd name="GluePoint2Y" fmla="*/ 2147483647 h 1536"/>
              <a:gd name="GluePoint3X" fmla="*/ 2147483647 w 3504"/>
              <a:gd name="GluePoint3Y" fmla="*/ 2147483647 h 1536"/>
              <a:gd name="GluePoint4X" fmla="*/ 2147483647 w 3504"/>
              <a:gd name="GluePoint4Y" fmla="*/ 2147483647 h 1536"/>
              <a:gd name="GluePoint5X" fmla="*/ 2147483647 w 3504"/>
              <a:gd name="GluePoint5Y" fmla="*/ 2147483647 h 1536"/>
              <a:gd name="GluePoint6X" fmla="*/ 2147483647 w 3504"/>
              <a:gd name="GluePoint6Y" fmla="*/ 0 h 153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504" h="1536">
                <a:moveTo>
                  <a:pt x="0" y="1536"/>
                </a:moveTo>
                <a:cubicBezTo>
                  <a:pt x="220" y="1192"/>
                  <a:pt x="440" y="848"/>
                  <a:pt x="672" y="624"/>
                </a:cubicBezTo>
                <a:cubicBezTo>
                  <a:pt x="904" y="400"/>
                  <a:pt x="1152" y="280"/>
                  <a:pt x="1392" y="192"/>
                </a:cubicBezTo>
                <a:cubicBezTo>
                  <a:pt x="1632" y="104"/>
                  <a:pt x="1872" y="120"/>
                  <a:pt x="2112" y="96"/>
                </a:cubicBezTo>
                <a:cubicBezTo>
                  <a:pt x="2352" y="72"/>
                  <a:pt x="2600" y="64"/>
                  <a:pt x="2832" y="48"/>
                </a:cubicBezTo>
                <a:cubicBezTo>
                  <a:pt x="3064" y="32"/>
                  <a:pt x="3392" y="8"/>
                  <a:pt x="3504" y="0"/>
                </a:cubicBezTo>
              </a:path>
            </a:pathLst>
          </a:custGeom>
          <a:noFill/>
          <a:ln w="38160">
            <a:solidFill>
              <a:srgbClr val="ffff0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38" name="Text Box 53"/>
          <p:cNvSpPr/>
          <p:nvPr/>
        </p:nvSpPr>
        <p:spPr>
          <a:xfrm rot="16200000">
            <a:off x="-641520" y="3202560"/>
            <a:ext cx="25430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Symbol"/>
                <a:ea typeface="Symbol"/>
              </a:rPr>
              <a:t></a:t>
            </a:r>
            <a:r>
              <a:rPr b="1" lang="fr-FR" sz="2000" strike="noStrike" u="none">
                <a:solidFill>
                  <a:srgbClr val="ffff00"/>
                </a:solidFill>
                <a:effectLst/>
                <a:uFillTx/>
                <a:latin typeface="Arial"/>
              </a:rPr>
              <a:t> VO2 (% VO2 max)</a:t>
            </a:r>
            <a:endParaRPr b="0" lang="en-US" sz="2000" strike="noStrike" u="none">
              <a:solidFill>
                <a:srgbClr val="ffff00"/>
              </a:solidFill>
              <a:effectLst/>
              <a:uFillTx/>
              <a:latin typeface="Times New Roman"/>
            </a:endParaRPr>
          </a:p>
        </p:txBody>
      </p:sp>
      <p:sp>
        <p:nvSpPr>
          <p:cNvPr id="2339" name="Rectangle 55" descr="Diagonales larges vers le haut"/>
          <p:cNvSpPr/>
          <p:nvPr/>
        </p:nvSpPr>
        <p:spPr>
          <a:xfrm>
            <a:off x="5334120" y="838080"/>
            <a:ext cx="380880" cy="228600"/>
          </a:xfrm>
          <a:prstGeom prst="rect">
            <a:avLst/>
          </a:prstGeom>
          <a:blipFill rotWithShape="0">
            <a:blip r:embed="rId13"/>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40" name="Rectangle 56" descr="10 %"/>
          <p:cNvSpPr/>
          <p:nvPr/>
        </p:nvSpPr>
        <p:spPr>
          <a:xfrm>
            <a:off x="7391520" y="838080"/>
            <a:ext cx="380880" cy="228600"/>
          </a:xfrm>
          <a:prstGeom prst="rect">
            <a:avLst/>
          </a:prstGeom>
          <a:blipFill rotWithShape="0">
            <a:blip r:embed="rId14"/>
            <a:srcRect/>
            <a:tile tx="0" ty="0" sx="100000" sy="100000" algn="ctr"/>
          </a:blip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41" name="Text Box 57"/>
          <p:cNvSpPr/>
          <p:nvPr/>
        </p:nvSpPr>
        <p:spPr>
          <a:xfrm>
            <a:off x="533520" y="380880"/>
            <a:ext cx="8153280" cy="945360"/>
          </a:xfrm>
          <a:prstGeom prst="rect">
            <a:avLst/>
          </a:prstGeom>
          <a:noFill/>
          <a:ln w="9360">
            <a:solidFill>
              <a:srgbClr val="ffff00"/>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Etude comparée de l’évolution des délais pour atteindre le  plateau de VO</a:t>
            </a:r>
            <a:r>
              <a:rPr b="1" lang="fr-FR" sz="2800" strike="noStrike" u="none" baseline="-25000">
                <a:solidFill>
                  <a:srgbClr val="ffff00"/>
                </a:solidFill>
                <a:effectLst/>
                <a:uFillTx/>
                <a:latin typeface="Arial"/>
              </a:rPr>
              <a:t>2</a:t>
            </a:r>
            <a:r>
              <a:rPr b="0" lang="fr-FR" sz="2400" strike="noStrike" u="none">
                <a:solidFill>
                  <a:srgbClr val="ffff00"/>
                </a:solidFill>
                <a:effectLst/>
                <a:uFillTx/>
                <a:latin typeface="Arial"/>
              </a:rPr>
              <a:t>max entre l’enfant         et l’adulte </a:t>
            </a:r>
            <a:endParaRPr b="0" lang="en-US" sz="2400" strike="noStrike" u="none">
              <a:solidFill>
                <a:srgbClr val="ffff00"/>
              </a:solidFill>
              <a:effectLst/>
              <a:uFillTx/>
              <a:latin typeface="Times New Roman"/>
            </a:endParaRPr>
          </a:p>
        </p:txBody>
      </p:sp>
      <p:sp>
        <p:nvSpPr>
          <p:cNvPr id="2342" name="Text Box 58"/>
          <p:cNvSpPr/>
          <p:nvPr/>
        </p:nvSpPr>
        <p:spPr>
          <a:xfrm>
            <a:off x="2353320" y="6458040"/>
            <a:ext cx="53438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D’après Macek et al. </a:t>
            </a:r>
            <a:r>
              <a:rPr b="0" i="1" lang="fr-FR" sz="2000" strike="noStrike" u="none">
                <a:solidFill>
                  <a:srgbClr val="ffff00"/>
                </a:solidFill>
                <a:effectLst/>
                <a:uFillTx/>
                <a:latin typeface="Arial"/>
              </a:rPr>
              <a:t>Int. J. Sports Med.;</a:t>
            </a:r>
            <a:r>
              <a:rPr b="0" lang="fr-FR" sz="2000" strike="noStrike" u="none">
                <a:solidFill>
                  <a:srgbClr val="ffff00"/>
                </a:solidFill>
                <a:effectLst/>
                <a:uFillTx/>
                <a:latin typeface="Arial"/>
              </a:rPr>
              <a:t> 1980</a:t>
            </a:r>
            <a:endParaRPr b="0" lang="en-US" sz="2000" strike="noStrike" u="none">
              <a:solidFill>
                <a:srgbClr val="ffff00"/>
              </a:solidFill>
              <a:effectLst/>
              <a:uFillTx/>
              <a:latin typeface="Times New Roman"/>
            </a:endParaRPr>
          </a:p>
        </p:txBody>
      </p:sp>
    </p:spTree>
  </p:cSld>
  <p:transition spd="med">
    <p:zoom dir="out"/>
  </p:transition>
  <p:timing>
    <p:tnLst>
      <p:par>
        <p:cTn id="2348" dur="indefinite" restart="never" nodeType="tmRoot">
          <p:childTnLst>
            <p:seq>
              <p:cTn id="2349" dur="indefinite" nodeType="mainSeq">
                <p:childTnLst>
                  <p:par>
                    <p:cTn id="2350" nodeType="clickEffect" fill="hold">
                      <p:stCondLst>
                        <p:cond delay="0"/>
                      </p:stCondLst>
                      <p:childTnLst>
                        <p:par>
                          <p:cTn id="2351" nodeType="withEffect" fill="hold">
                            <p:stCondLst>
                              <p:cond delay="0"/>
                            </p:stCondLst>
                            <p:childTnLst>
                              <p:par>
                                <p:cTn id="2352" nodeType="afterEffect" fill="hold" presetClass="entr" presetID="9">
                                  <p:stCondLst>
                                    <p:cond delay="2000"/>
                                  </p:stCondLst>
                                  <p:iterate type="wd">
                                    <p:tmAbs val="300"/>
                                  </p:iterate>
                                  <p:childTnLst>
                                    <p:set>
                                      <p:cBhvr>
                                        <p:cTn id="2353" dur="1" fill="hold">
                                          <p:stCondLst>
                                            <p:cond delay="0"/>
                                          </p:stCondLst>
                                        </p:cTn>
                                        <p:tgtEl>
                                          <p:spTgt spid="2341"/>
                                        </p:tgtEl>
                                        <p:attrNameLst>
                                          <p:attrName>style.visibility</p:attrName>
                                        </p:attrNameLst>
                                      </p:cBhvr>
                                      <p:to>
                                        <p:strVal val="visible"/>
                                      </p:to>
                                    </p:set>
                                    <p:animEffect filter="dissolve" transition="in">
                                      <p:cBhvr additive="repl">
                                        <p:cTn id="2354" dur="300"/>
                                        <p:tgtEl>
                                          <p:spTgt spid="2341"/>
                                        </p:tgtEl>
                                      </p:cBhvr>
                                    </p:animEffect>
                                  </p:childTnLst>
                                </p:cTn>
                              </p:par>
                            </p:childTnLst>
                          </p:cTn>
                        </p:par>
                        <p:par>
                          <p:cTn id="2355" nodeType="afterEffect" fill="hold">
                            <p:stCondLst>
                              <p:cond delay="6800"/>
                            </p:stCondLst>
                            <p:childTnLst>
                              <p:par>
                                <p:cTn id="2356" nodeType="afterEffect" fill="hold" presetClass="entr" presetID="16" presetSubtype="37">
                                  <p:stCondLst>
                                    <p:cond delay="0"/>
                                  </p:stCondLst>
                                  <p:childTnLst>
                                    <p:set>
                                      <p:cBhvr>
                                        <p:cTn id="2357" dur="1" fill="hold">
                                          <p:stCondLst>
                                            <p:cond delay="0"/>
                                          </p:stCondLst>
                                        </p:cTn>
                                        <p:tgtEl>
                                          <p:spTgt spid="2339"/>
                                        </p:tgtEl>
                                        <p:attrNameLst>
                                          <p:attrName>style.visibility</p:attrName>
                                        </p:attrNameLst>
                                      </p:cBhvr>
                                      <p:to>
                                        <p:strVal val="visible"/>
                                      </p:to>
                                    </p:set>
                                    <p:animEffect filter="barn(outVertical)" transition="in">
                                      <p:cBhvr additive="repl">
                                        <p:cTn id="2358" dur="500"/>
                                        <p:tgtEl>
                                          <p:spTgt spid="2339"/>
                                        </p:tgtEl>
                                      </p:cBhvr>
                                    </p:animEffect>
                                  </p:childTnLst>
                                </p:cTn>
                              </p:par>
                            </p:childTnLst>
                          </p:cTn>
                        </p:par>
                        <p:par>
                          <p:cTn id="2359" nodeType="afterEffect" fill="hold">
                            <p:stCondLst>
                              <p:cond delay="7300"/>
                            </p:stCondLst>
                            <p:childTnLst>
                              <p:par>
                                <p:cTn id="2360" nodeType="afterEffect" fill="hold" presetClass="entr" presetID="16" presetSubtype="37">
                                  <p:stCondLst>
                                    <p:cond delay="0"/>
                                  </p:stCondLst>
                                  <p:childTnLst>
                                    <p:set>
                                      <p:cBhvr>
                                        <p:cTn id="2361" dur="1" fill="hold">
                                          <p:stCondLst>
                                            <p:cond delay="0"/>
                                          </p:stCondLst>
                                        </p:cTn>
                                        <p:tgtEl>
                                          <p:spTgt spid="2340"/>
                                        </p:tgtEl>
                                        <p:attrNameLst>
                                          <p:attrName>style.visibility</p:attrName>
                                        </p:attrNameLst>
                                      </p:cBhvr>
                                      <p:to>
                                        <p:strVal val="visible"/>
                                      </p:to>
                                    </p:set>
                                    <p:animEffect filter="barn(outVertical)" transition="in">
                                      <p:cBhvr additive="repl">
                                        <p:cTn id="2362" dur="500"/>
                                        <p:tgtEl>
                                          <p:spTgt spid="2340"/>
                                        </p:tgtEl>
                                      </p:cBhvr>
                                    </p:animEffect>
                                  </p:childTnLst>
                                </p:cTn>
                              </p:par>
                            </p:childTnLst>
                          </p:cTn>
                        </p:par>
                      </p:childTnLst>
                    </p:cTn>
                  </p:par>
                  <p:par>
                    <p:cTn id="2363" nodeType="clickEffect" fill="hold">
                      <p:stCondLst>
                        <p:cond delay="indefinite"/>
                      </p:stCondLst>
                      <p:childTnLst>
                        <p:par>
                          <p:cTn id="2364" nodeType="withEffect" fill="hold">
                            <p:stCondLst>
                              <p:cond delay="0"/>
                            </p:stCondLst>
                            <p:childTnLst>
                              <p:par>
                                <p:cTn id="2365" nodeType="clickEffect" fill="hold" presetClass="entr" presetID="22" presetSubtype="8">
                                  <p:stCondLst>
                                    <p:cond delay="0"/>
                                  </p:stCondLst>
                                  <p:childTnLst>
                                    <p:set>
                                      <p:cBhvr>
                                        <p:cTn id="2366" dur="1" fill="hold">
                                          <p:stCondLst>
                                            <p:cond delay="0"/>
                                          </p:stCondLst>
                                        </p:cTn>
                                        <p:tgtEl>
                                          <p:spTgt spid="2336"/>
                                        </p:tgtEl>
                                        <p:attrNameLst>
                                          <p:attrName>style.visibility</p:attrName>
                                        </p:attrNameLst>
                                      </p:cBhvr>
                                      <p:to>
                                        <p:strVal val="visible"/>
                                      </p:to>
                                    </p:set>
                                    <p:animEffect filter="wipe(left)" transition="in">
                                      <p:cBhvr additive="repl">
                                        <p:cTn id="2367" dur="500"/>
                                        <p:tgtEl>
                                          <p:spTgt spid="2336"/>
                                        </p:tgtEl>
                                      </p:cBhvr>
                                    </p:animEffect>
                                  </p:childTnLst>
                                </p:cTn>
                              </p:par>
                            </p:childTnLst>
                          </p:cTn>
                        </p:par>
                        <p:par>
                          <p:cTn id="2368" nodeType="afterEffect" fill="hold">
                            <p:stCondLst>
                              <p:cond delay="500"/>
                            </p:stCondLst>
                            <p:childTnLst>
                              <p:par>
                                <p:cTn id="2369" nodeType="afterEffect" fill="hold" presetClass="entr" presetID="22" presetSubtype="8">
                                  <p:stCondLst>
                                    <p:cond delay="0"/>
                                  </p:stCondLst>
                                  <p:childTnLst>
                                    <p:set>
                                      <p:cBhvr>
                                        <p:cTn id="2370" dur="1" fill="hold">
                                          <p:stCondLst>
                                            <p:cond delay="0"/>
                                          </p:stCondLst>
                                        </p:cTn>
                                        <p:tgtEl>
                                          <p:spTgt spid="2337"/>
                                        </p:tgtEl>
                                        <p:attrNameLst>
                                          <p:attrName>style.visibility</p:attrName>
                                        </p:attrNameLst>
                                      </p:cBhvr>
                                      <p:to>
                                        <p:strVal val="visible"/>
                                      </p:to>
                                    </p:set>
                                    <p:animEffect filter="wipe(left)" transition="in">
                                      <p:cBhvr additive="repl">
                                        <p:cTn id="2371" dur="500"/>
                                        <p:tgtEl>
                                          <p:spTgt spid="2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3" name="Line 2"/>
          <p:cNvSpPr/>
          <p:nvPr/>
        </p:nvSpPr>
        <p:spPr>
          <a:xfrm>
            <a:off x="2610000" y="3200400"/>
            <a:ext cx="0" cy="213372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44" name="Line 3"/>
          <p:cNvSpPr/>
          <p:nvPr/>
        </p:nvSpPr>
        <p:spPr>
          <a:xfrm>
            <a:off x="2610000" y="5562720"/>
            <a:ext cx="56386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45" name="Line 4"/>
          <p:cNvSpPr/>
          <p:nvPr/>
        </p:nvSpPr>
        <p:spPr>
          <a:xfrm>
            <a:off x="2610000" y="5410080"/>
            <a:ext cx="0" cy="15264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46" name="Text Box 5"/>
          <p:cNvSpPr/>
          <p:nvPr/>
        </p:nvSpPr>
        <p:spPr>
          <a:xfrm>
            <a:off x="1925640" y="3054240"/>
            <a:ext cx="701640" cy="239724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100 -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80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60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40   -</a:t>
            </a:r>
            <a:endParaRPr b="0" lang="en-US" sz="1800" strike="noStrike" u="none">
              <a:solidFill>
                <a:srgbClr val="ffff00"/>
              </a:solidFill>
              <a:effectLst/>
              <a:uFillTx/>
              <a:latin typeface="Times New Roman"/>
            </a:endParaRPr>
          </a:p>
        </p:txBody>
      </p:sp>
      <p:sp>
        <p:nvSpPr>
          <p:cNvPr id="2347" name="Text Box 6"/>
          <p:cNvSpPr/>
          <p:nvPr/>
        </p:nvSpPr>
        <p:spPr>
          <a:xfrm>
            <a:off x="2533320" y="5486400"/>
            <a:ext cx="616680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I               I               I               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0          1                       2                      3                       4</a:t>
            </a:r>
            <a:r>
              <a:rPr b="1" lang="fr-FR" sz="1400" strike="noStrike" u="none">
                <a:solidFill>
                  <a:srgbClr val="ffff00"/>
                </a:solidFill>
                <a:effectLst/>
                <a:uFillTx/>
                <a:latin typeface="Arial"/>
              </a:rPr>
              <a:t>        </a:t>
            </a:r>
            <a:endParaRPr b="0" lang="en-US" sz="1400" strike="noStrike" u="none">
              <a:solidFill>
                <a:srgbClr val="ffff00"/>
              </a:solidFill>
              <a:effectLst/>
              <a:uFillTx/>
              <a:latin typeface="Times New Roman"/>
            </a:endParaRPr>
          </a:p>
        </p:txBody>
      </p:sp>
      <p:sp>
        <p:nvSpPr>
          <p:cNvPr id="2348" name="Line 7"/>
          <p:cNvSpPr/>
          <p:nvPr/>
        </p:nvSpPr>
        <p:spPr>
          <a:xfrm>
            <a:off x="2590920" y="146160"/>
            <a:ext cx="0" cy="213336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49" name="Line 8"/>
          <p:cNvSpPr/>
          <p:nvPr/>
        </p:nvSpPr>
        <p:spPr>
          <a:xfrm>
            <a:off x="2590920" y="2508120"/>
            <a:ext cx="56386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50" name="Line 9"/>
          <p:cNvSpPr/>
          <p:nvPr/>
        </p:nvSpPr>
        <p:spPr>
          <a:xfrm>
            <a:off x="2590920" y="2355840"/>
            <a:ext cx="0" cy="15228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51" name="Text Box 10"/>
          <p:cNvSpPr/>
          <p:nvPr/>
        </p:nvSpPr>
        <p:spPr>
          <a:xfrm>
            <a:off x="1906560" y="0"/>
            <a:ext cx="701640" cy="2397240"/>
          </a:xfrm>
          <a:prstGeom prst="rect">
            <a:avLst/>
          </a:prstGeom>
          <a:noFill/>
          <a:ln w="0">
            <a:noFill/>
          </a:ln>
        </p:spPr>
        <p:style>
          <a:lnRef idx="0"/>
          <a:fillRef idx="0"/>
          <a:effectRef idx="0"/>
          <a:fontRef idx="minor"/>
        </p:style>
        <p:txBody>
          <a:bodyPr wrap="none" lIns="90000" rIns="90000" tIns="46800" bIns="46800" anchor="t">
            <a:spAutoFit/>
          </a:bodyPr>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100 -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80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60   -</a:t>
            </a: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40   -</a:t>
            </a:r>
            <a:endParaRPr b="0" lang="en-US" sz="1800" strike="noStrike" u="none">
              <a:solidFill>
                <a:srgbClr val="ffff00"/>
              </a:solidFill>
              <a:effectLst/>
              <a:uFillTx/>
              <a:latin typeface="Times New Roman"/>
            </a:endParaRPr>
          </a:p>
        </p:txBody>
      </p:sp>
      <p:sp>
        <p:nvSpPr>
          <p:cNvPr id="2352" name="Text Box 11"/>
          <p:cNvSpPr/>
          <p:nvPr/>
        </p:nvSpPr>
        <p:spPr>
          <a:xfrm>
            <a:off x="2514240" y="2432160"/>
            <a:ext cx="616680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Arial"/>
              </a:rPr>
              <a:t>I               I               I               I               I               I               I               I</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0          1                       2                      3                       4</a:t>
            </a:r>
            <a:r>
              <a:rPr b="1" lang="fr-FR" sz="1400" strike="noStrike" u="none">
                <a:solidFill>
                  <a:srgbClr val="ffff00"/>
                </a:solidFill>
                <a:effectLst/>
                <a:uFillTx/>
                <a:latin typeface="Arial"/>
              </a:rPr>
              <a:t>        </a:t>
            </a:r>
            <a:endParaRPr b="0" lang="en-US" sz="1400" strike="noStrike" u="none">
              <a:solidFill>
                <a:srgbClr val="ffff00"/>
              </a:solidFill>
              <a:effectLst/>
              <a:uFillTx/>
              <a:latin typeface="Times New Roman"/>
            </a:endParaRPr>
          </a:p>
        </p:txBody>
      </p:sp>
      <p:sp>
        <p:nvSpPr>
          <p:cNvPr id="2353" name="Line 14"/>
          <p:cNvSpPr/>
          <p:nvPr/>
        </p:nvSpPr>
        <p:spPr>
          <a:xfrm flipV="1">
            <a:off x="2990880" y="228600"/>
            <a:ext cx="0" cy="1828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54" name="Line 15"/>
          <p:cNvSpPr/>
          <p:nvPr/>
        </p:nvSpPr>
        <p:spPr>
          <a:xfrm>
            <a:off x="2990880" y="228600"/>
            <a:ext cx="51814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55" name="Arc 17"/>
          <p:cNvSpPr/>
          <p:nvPr/>
        </p:nvSpPr>
        <p:spPr>
          <a:xfrm flipH="1" flipV="1" rot="7509600">
            <a:off x="3170880" y="520200"/>
            <a:ext cx="2379600" cy="1960560"/>
          </a:xfrm>
          <a:custGeom>
            <a:avLst/>
            <a:gdLst>
              <a:gd name="GluePoint1X" fmla="*/ 0 w 23784"/>
              <a:gd name="GluePoint1Y" fmla="*/ 2147483647 h 21600"/>
              <a:gd name="GluePoint2X" fmla="*/ 2147483647 w 23784"/>
              <a:gd name="GluePoint2Y" fmla="*/ 2147483647 h 21600"/>
              <a:gd name="GluePoint3X" fmla="*/ 2147483647 w 23784"/>
              <a:gd name="GluePoint3Y" fmla="*/ 2147483647 h 21600"/>
            </a:gdLst>
            <a:ahLst/>
            <a:cxnLst>
              <a:cxn ang="0">
                <a:pos x="GluePoint1X" y="GluePoint1Y"/>
              </a:cxn>
              <a:cxn ang="0">
                <a:pos x="GluePoint2X" y="GluePoint2Y"/>
              </a:cxn>
              <a:cxn ang="0">
                <a:pos x="GluePoint3X" y="GluePoint3Y"/>
              </a:cxn>
            </a:cxnLst>
            <a:rect l="l" t="t" r="r" b="b"/>
            <a:pathLst>
              <a:path fill="none" w="23784" h="21600">
                <a:moveTo>
                  <a:pt x="0" y="2027"/>
                </a:moveTo>
                <a:cubicBezTo>
                  <a:pt x="2860" y="691"/>
                  <a:pt x="5979" y="-1"/>
                  <a:pt x="9136" y="0"/>
                </a:cubicBezTo>
                <a:cubicBezTo>
                  <a:pt x="14564" y="0"/>
                  <a:pt x="19794" y="2044"/>
                  <a:pt x="23784" y="5725"/>
                </a:cubicBezTo>
              </a:path>
              <a:path stroke="0" w="23784" h="21600">
                <a:moveTo>
                  <a:pt x="0" y="2027"/>
                </a:moveTo>
                <a:cubicBezTo>
                  <a:pt x="2860" y="691"/>
                  <a:pt x="5979" y="-1"/>
                  <a:pt x="9136" y="0"/>
                </a:cubicBezTo>
                <a:cubicBezTo>
                  <a:pt x="14564" y="0"/>
                  <a:pt x="19794" y="2044"/>
                  <a:pt x="23784" y="5725"/>
                </a:cubicBezTo>
                <a:lnTo>
                  <a:pt x="9136" y="21600"/>
                </a:lnTo>
                <a:lnTo>
                  <a:pt x="0" y="2027"/>
                </a:lnTo>
                <a:close/>
              </a:path>
            </a:pathLst>
          </a:custGeom>
          <a:noFill/>
          <a:ln w="28440">
            <a:solidFill>
              <a:srgbClr val="ffff00"/>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56" name="Text Box 19"/>
          <p:cNvSpPr/>
          <p:nvPr/>
        </p:nvSpPr>
        <p:spPr>
          <a:xfrm>
            <a:off x="2976480" y="264960"/>
            <a:ext cx="917280" cy="6800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déficit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 O</a:t>
            </a:r>
            <a:r>
              <a:rPr b="1" lang="fr-FR" sz="1800" strike="noStrike" u="none" baseline="-25000">
                <a:solidFill>
                  <a:srgbClr val="ffff00"/>
                </a:solidFill>
                <a:effectLst/>
                <a:uFillTx/>
                <a:latin typeface="Arial"/>
              </a:rPr>
              <a:t>2</a:t>
            </a:r>
            <a:endParaRPr b="0" lang="en-US" sz="1800" strike="noStrike" u="none">
              <a:solidFill>
                <a:srgbClr val="ffff00"/>
              </a:solidFill>
              <a:effectLst/>
              <a:uFillTx/>
              <a:latin typeface="Times New Roman"/>
            </a:endParaRPr>
          </a:p>
        </p:txBody>
      </p:sp>
      <p:sp>
        <p:nvSpPr>
          <p:cNvPr id="2357" name="Line 20"/>
          <p:cNvSpPr/>
          <p:nvPr/>
        </p:nvSpPr>
        <p:spPr>
          <a:xfrm flipV="1">
            <a:off x="2990880" y="3429000"/>
            <a:ext cx="0" cy="1828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58" name="Line 21"/>
          <p:cNvSpPr/>
          <p:nvPr/>
        </p:nvSpPr>
        <p:spPr>
          <a:xfrm>
            <a:off x="2990880" y="3429000"/>
            <a:ext cx="51814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59" name="Text Box 22"/>
          <p:cNvSpPr/>
          <p:nvPr/>
        </p:nvSpPr>
        <p:spPr>
          <a:xfrm>
            <a:off x="2976480" y="3465360"/>
            <a:ext cx="917280" cy="6800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déficit </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 O</a:t>
            </a:r>
            <a:r>
              <a:rPr b="1" lang="fr-FR" sz="1800" strike="noStrike" u="none" baseline="-25000">
                <a:solidFill>
                  <a:srgbClr val="ffff00"/>
                </a:solidFill>
                <a:effectLst/>
                <a:uFillTx/>
                <a:latin typeface="Arial"/>
              </a:rPr>
              <a:t>2</a:t>
            </a:r>
            <a:endParaRPr b="0" lang="en-US" sz="1800" strike="noStrike" u="none">
              <a:solidFill>
                <a:srgbClr val="ffff00"/>
              </a:solidFill>
              <a:effectLst/>
              <a:uFillTx/>
              <a:latin typeface="Times New Roman"/>
            </a:endParaRPr>
          </a:p>
        </p:txBody>
      </p:sp>
      <p:sp>
        <p:nvSpPr>
          <p:cNvPr id="2360" name="Arc 23"/>
          <p:cNvSpPr/>
          <p:nvPr/>
        </p:nvSpPr>
        <p:spPr>
          <a:xfrm rot="16878000">
            <a:off x="4364640" y="1978200"/>
            <a:ext cx="3119400" cy="5410080"/>
          </a:xfrm>
          <a:custGeom>
            <a:avLst/>
            <a:gdLst>
              <a:gd name="GluePoint1X" fmla="*/ 2147483647 w 21226"/>
              <a:gd name="GluePoint1Y" fmla="*/ 0 h 21362"/>
              <a:gd name="GluePoint2X" fmla="*/ 2147483647 w 21226"/>
              <a:gd name="GluePoint2Y" fmla="*/ 2147483647 h 21362"/>
              <a:gd name="GluePoint3X" fmla="*/ 0 w 21226"/>
              <a:gd name="GluePoint3Y" fmla="*/ 2147483647 h 21362"/>
            </a:gdLst>
            <a:ahLst/>
            <a:cxnLst>
              <a:cxn ang="0">
                <a:pos x="GluePoint1X" y="GluePoint1Y"/>
              </a:cxn>
              <a:cxn ang="0">
                <a:pos x="GluePoint2X" y="GluePoint2Y"/>
              </a:cxn>
              <a:cxn ang="0">
                <a:pos x="GluePoint3X" y="GluePoint3Y"/>
              </a:cxn>
            </a:cxnLst>
            <a:rect l="l" t="t" r="r" b="b"/>
            <a:pathLst>
              <a:path fill="none" w="21226" h="21362">
                <a:moveTo>
                  <a:pt x="3197" y="0"/>
                </a:moveTo>
                <a:cubicBezTo>
                  <a:pt x="12288" y="1360"/>
                  <a:pt x="19521" y="8325"/>
                  <a:pt x="21225" y="17357"/>
                </a:cubicBezTo>
              </a:path>
              <a:path stroke="0" w="21226" h="21362">
                <a:moveTo>
                  <a:pt x="3197" y="0"/>
                </a:moveTo>
                <a:cubicBezTo>
                  <a:pt x="12288" y="1360"/>
                  <a:pt x="19521" y="8325"/>
                  <a:pt x="21225" y="17357"/>
                </a:cubicBezTo>
                <a:lnTo>
                  <a:pt x="0" y="21362"/>
                </a:lnTo>
                <a:lnTo>
                  <a:pt x="3197" y="0"/>
                </a:lnTo>
                <a:close/>
              </a:path>
            </a:pathLst>
          </a:custGeom>
          <a:noFill/>
          <a:ln w="28440">
            <a:solidFill>
              <a:srgbClr val="ffff00"/>
            </a:solidFill>
            <a:round/>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361" name="Line 25"/>
          <p:cNvSpPr/>
          <p:nvPr/>
        </p:nvSpPr>
        <p:spPr>
          <a:xfrm>
            <a:off x="4648320" y="228600"/>
            <a:ext cx="0" cy="53341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62" name="Line 26"/>
          <p:cNvSpPr/>
          <p:nvPr/>
        </p:nvSpPr>
        <p:spPr>
          <a:xfrm>
            <a:off x="6781680" y="228600"/>
            <a:ext cx="0" cy="5334120"/>
          </a:xfrm>
          <a:prstGeom prst="line">
            <a:avLst/>
          </a:prstGeom>
          <a:ln w="9360">
            <a:solidFill>
              <a:srgbClr val="ffff00"/>
            </a:solidFill>
            <a:miter/>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63" name="Text Box 27"/>
          <p:cNvSpPr/>
          <p:nvPr/>
        </p:nvSpPr>
        <p:spPr>
          <a:xfrm>
            <a:off x="4957560" y="1027080"/>
            <a:ext cx="1222920" cy="9169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Garçons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10-11 ans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n = 10 </a:t>
            </a:r>
            <a:endParaRPr b="0" lang="en-US" sz="1800" strike="noStrike" u="none">
              <a:solidFill>
                <a:srgbClr val="ffff00"/>
              </a:solidFill>
              <a:effectLst/>
              <a:uFillTx/>
              <a:latin typeface="Times New Roman"/>
            </a:endParaRPr>
          </a:p>
        </p:txBody>
      </p:sp>
      <p:sp>
        <p:nvSpPr>
          <p:cNvPr id="2364" name="Text Box 28"/>
          <p:cNvSpPr/>
          <p:nvPr/>
        </p:nvSpPr>
        <p:spPr>
          <a:xfrm>
            <a:off x="4957560" y="3846600"/>
            <a:ext cx="1222920" cy="916920"/>
          </a:xfrm>
          <a:prstGeom prst="rect">
            <a:avLst/>
          </a:prstGeom>
          <a:noFill/>
          <a:ln w="9360">
            <a:solidFill>
              <a:srgbClr val="ffffff"/>
            </a:solidFill>
            <a:miter/>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Hommes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20-22 ans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n  = 11</a:t>
            </a:r>
            <a:endParaRPr b="0" lang="en-US" sz="1800" strike="noStrike" u="none">
              <a:solidFill>
                <a:srgbClr val="ffff00"/>
              </a:solidFill>
              <a:effectLst/>
              <a:uFillTx/>
              <a:latin typeface="Times New Roman"/>
            </a:endParaRPr>
          </a:p>
        </p:txBody>
      </p:sp>
      <p:sp>
        <p:nvSpPr>
          <p:cNvPr id="2365" name="Text Box 29"/>
          <p:cNvSpPr/>
          <p:nvPr/>
        </p:nvSpPr>
        <p:spPr>
          <a:xfrm>
            <a:off x="32040" y="6156360"/>
            <a:ext cx="8832600" cy="74556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Déficit en O</a:t>
            </a:r>
            <a:r>
              <a:rPr b="1" lang="fr-FR" sz="2000" strike="noStrike" u="none" baseline="-25000">
                <a:solidFill>
                  <a:srgbClr val="ffff00"/>
                </a:solidFill>
                <a:effectLst/>
                <a:uFillTx/>
                <a:latin typeface="Arial"/>
              </a:rPr>
              <a:t>2 </a:t>
            </a:r>
            <a:r>
              <a:rPr b="1" lang="fr-FR" sz="2000" strike="noStrike" u="none">
                <a:solidFill>
                  <a:srgbClr val="ffff00"/>
                </a:solidFill>
                <a:effectLst/>
                <a:uFillTx/>
                <a:latin typeface="Arial"/>
              </a:rPr>
              <a:t>chez des enfants et des adultes effectuant un exercice sur </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bicyclette ergométrique à 90-100 % de leur PMA (d’après Bar-Or)</a:t>
            </a:r>
            <a:endParaRPr b="0" lang="en-US" sz="2000" strike="noStrike" u="none">
              <a:solidFill>
                <a:srgbClr val="ffff00"/>
              </a:solidFill>
              <a:effectLst/>
              <a:uFillTx/>
              <a:latin typeface="Times New Roman"/>
            </a:endParaRPr>
          </a:p>
        </p:txBody>
      </p:sp>
      <p:sp>
        <p:nvSpPr>
          <p:cNvPr id="2366" name="Text Box 30"/>
          <p:cNvSpPr/>
          <p:nvPr/>
        </p:nvSpPr>
        <p:spPr>
          <a:xfrm rot="16163400">
            <a:off x="-914040" y="3179160"/>
            <a:ext cx="387144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Consommation d’O2 finale (%)</a:t>
            </a:r>
            <a:endParaRPr b="0" lang="en-US" sz="2000" strike="noStrike" u="none">
              <a:solidFill>
                <a:srgbClr val="ffff00"/>
              </a:solidFill>
              <a:effectLst/>
              <a:uFillTx/>
              <a:latin typeface="Times New Roman"/>
            </a:endParaRPr>
          </a:p>
        </p:txBody>
      </p:sp>
    </p:spTree>
  </p:cSld>
  <p:transition spd="med">
    <p:zoom dir="out"/>
  </p:transition>
  <p:timing>
    <p:tnLst>
      <p:par>
        <p:cTn id="2372" dur="indefinite" restart="never" nodeType="tmRoot">
          <p:childTnLst>
            <p:seq>
              <p:cTn id="2373" dur="indefinite" nodeType="mainSeq">
                <p:childTnLst>
                  <p:par>
                    <p:cTn id="2374" nodeType="clickEffect" fill="hold">
                      <p:stCondLst>
                        <p:cond delay="0"/>
                      </p:stCondLst>
                      <p:childTnLst>
                        <p:par>
                          <p:cTn id="2375" nodeType="withEffect" fill="hold">
                            <p:stCondLst>
                              <p:cond delay="0"/>
                            </p:stCondLst>
                            <p:childTnLst>
                              <p:par>
                                <p:cTn id="2376" nodeType="afterEffect" fill="hold" presetClass="entr" presetID="9">
                                  <p:stCondLst>
                                    <p:cond delay="1000"/>
                                  </p:stCondLst>
                                  <p:iterate type="wd">
                                    <p:tmAbs val="300"/>
                                  </p:iterate>
                                  <p:childTnLst>
                                    <p:set>
                                      <p:cBhvr>
                                        <p:cTn id="2377" dur="1" fill="hold">
                                          <p:stCondLst>
                                            <p:cond delay="0"/>
                                          </p:stCondLst>
                                        </p:cTn>
                                        <p:tgtEl>
                                          <p:spTgt spid="2365"/>
                                        </p:tgtEl>
                                        <p:attrNameLst>
                                          <p:attrName>style.visibility</p:attrName>
                                        </p:attrNameLst>
                                      </p:cBhvr>
                                      <p:to>
                                        <p:strVal val="visible"/>
                                      </p:to>
                                    </p:set>
                                    <p:animEffect filter="dissolve" transition="in">
                                      <p:cBhvr additive="repl">
                                        <p:cTn id="2378" dur="300"/>
                                        <p:tgtEl>
                                          <p:spTgt spid="2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367" name="Object 2"/>
          <p:cNvGraphicFramePr/>
          <p:nvPr/>
        </p:nvGraphicFramePr>
        <p:xfrm>
          <a:off x="0" y="0"/>
          <a:ext cx="4648320" cy="4159080"/>
        </p:xfrm>
        <a:graphic>
          <a:graphicData uri="http://schemas.openxmlformats.org/presentationml/2006/ole">
            <p:oleObj r:id="rId1" spid="">
              <p:embed/>
              <p:pic>
                <p:nvPicPr>
                  <p:cNvPr id="2368" name="Object 2" descr=""/>
                  <p:cNvPicPr/>
                  <p:nvPr/>
                </p:nvPicPr>
                <p:blipFill>
                  <a:blip r:embed="rId2"/>
                  <a:stretch/>
                </p:blipFill>
                <p:spPr>
                  <a:xfrm>
                    <a:off x="0" y="0"/>
                    <a:ext cx="4648320" cy="4159080"/>
                  </a:xfrm>
                  <a:prstGeom prst="rect">
                    <a:avLst/>
                  </a:prstGeom>
                  <a:solidFill>
                    <a:srgbClr val="ffff00"/>
                  </a:solidFill>
                  <a:ln w="19080">
                    <a:solidFill>
                      <a:srgbClr val="ffff00"/>
                    </a:solidFill>
                    <a:miter/>
                  </a:ln>
                </p:spPr>
              </p:pic>
            </p:oleObj>
          </a:graphicData>
        </a:graphic>
      </p:graphicFrame>
      <p:graphicFrame>
        <p:nvGraphicFramePr>
          <p:cNvPr id="2369" name="Object 3"/>
          <p:cNvGraphicFramePr/>
          <p:nvPr/>
        </p:nvGraphicFramePr>
        <p:xfrm>
          <a:off x="4648320" y="2852640"/>
          <a:ext cx="4495680" cy="4005360"/>
        </p:xfrm>
        <a:graphic>
          <a:graphicData uri="http://schemas.openxmlformats.org/presentationml/2006/ole">
            <p:oleObj r:id="rId3" spid="">
              <p:embed/>
              <p:pic>
                <p:nvPicPr>
                  <p:cNvPr id="2370" name="Object 3" descr=""/>
                  <p:cNvPicPr/>
                  <p:nvPr/>
                </p:nvPicPr>
                <p:blipFill>
                  <a:blip r:embed="rId4"/>
                  <a:stretch/>
                </p:blipFill>
                <p:spPr>
                  <a:xfrm>
                    <a:off x="4648320" y="2852640"/>
                    <a:ext cx="4495680" cy="4005360"/>
                  </a:xfrm>
                  <a:prstGeom prst="rect">
                    <a:avLst/>
                  </a:prstGeom>
                  <a:noFill/>
                  <a:ln w="19080">
                    <a:solidFill>
                      <a:srgbClr val="ffff00"/>
                    </a:solidFill>
                    <a:miter/>
                  </a:ln>
                </p:spPr>
              </p:pic>
            </p:oleObj>
          </a:graphicData>
        </a:graphic>
      </p:graphicFrame>
      <p:sp>
        <p:nvSpPr>
          <p:cNvPr id="2371" name="Text Box 4"/>
          <p:cNvSpPr/>
          <p:nvPr/>
        </p:nvSpPr>
        <p:spPr>
          <a:xfrm>
            <a:off x="5544360" y="344520"/>
            <a:ext cx="4060800" cy="19731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Exprimé en litre par minute</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l.min</a:t>
            </a:r>
            <a:r>
              <a:rPr b="1" lang="fr-FR" sz="2400" strike="noStrike" u="none" baseline="30000">
                <a:solidFill>
                  <a:srgbClr val="ffff00"/>
                </a:solidFill>
                <a:effectLst/>
                <a:uFillTx/>
                <a:latin typeface="Arial"/>
              </a:rPr>
              <a:t>-1</a:t>
            </a:r>
            <a:r>
              <a:rPr b="0" lang="fr-FR" sz="2400" strike="noStrike" u="none">
                <a:solidFill>
                  <a:srgbClr val="ffff00"/>
                </a:solidFill>
                <a:effectLst/>
                <a:uFillTx/>
                <a:latin typeface="Arial"/>
              </a:rPr>
              <a:t> le Vo</a:t>
            </a:r>
            <a:r>
              <a:rPr b="1" lang="fr-FR" sz="2400" strike="noStrike" u="none" baseline="-25000">
                <a:solidFill>
                  <a:srgbClr val="ffff00"/>
                </a:solidFill>
                <a:effectLst/>
                <a:uFillTx/>
                <a:latin typeface="Arial"/>
              </a:rPr>
              <a:t>2</a:t>
            </a:r>
            <a:r>
              <a:rPr b="0" lang="fr-FR" sz="2400" strike="noStrike" u="none">
                <a:solidFill>
                  <a:srgbClr val="ffff00"/>
                </a:solidFill>
                <a:effectLst/>
                <a:uFillTx/>
                <a:latin typeface="Arial"/>
              </a:rPr>
              <a:t>max augmente</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linéairement jusqu ’à 18 ans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chez les garçons et jusqu ’à</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14 -15 ans chez les filles... </a:t>
            </a:r>
            <a:endParaRPr b="0" lang="en-US" sz="2400" strike="noStrike" u="none">
              <a:solidFill>
                <a:srgbClr val="ffff00"/>
              </a:solidFill>
              <a:effectLst/>
              <a:uFillTx/>
              <a:latin typeface="Times New Roman"/>
            </a:endParaRPr>
          </a:p>
        </p:txBody>
      </p:sp>
      <p:sp>
        <p:nvSpPr>
          <p:cNvPr id="2372" name="Line 5"/>
          <p:cNvSpPr/>
          <p:nvPr/>
        </p:nvSpPr>
        <p:spPr>
          <a:xfrm>
            <a:off x="2590920" y="1905120"/>
            <a:ext cx="0" cy="1371600"/>
          </a:xfrm>
          <a:prstGeom prst="line">
            <a:avLst/>
          </a:prstGeom>
          <a:ln w="19080">
            <a:solidFill>
              <a:srgbClr val="80808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3" name="Line 6"/>
          <p:cNvSpPr/>
          <p:nvPr/>
        </p:nvSpPr>
        <p:spPr>
          <a:xfrm>
            <a:off x="3809880" y="533520"/>
            <a:ext cx="0" cy="2743200"/>
          </a:xfrm>
          <a:prstGeom prst="line">
            <a:avLst/>
          </a:prstGeom>
          <a:ln w="19080">
            <a:solidFill>
              <a:srgbClr val="80808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4" name="Line 7"/>
          <p:cNvSpPr/>
          <p:nvPr/>
        </p:nvSpPr>
        <p:spPr>
          <a:xfrm flipV="1">
            <a:off x="3048120" y="1066320"/>
            <a:ext cx="609480" cy="76212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5" name="Line 8"/>
          <p:cNvSpPr/>
          <p:nvPr/>
        </p:nvSpPr>
        <p:spPr>
          <a:xfrm>
            <a:off x="3200400" y="1905120"/>
            <a:ext cx="0" cy="1371600"/>
          </a:xfrm>
          <a:prstGeom prst="line">
            <a:avLst/>
          </a:prstGeom>
          <a:ln w="19080">
            <a:solidFill>
              <a:srgbClr val="b2b2b2"/>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6" name="Line 9"/>
          <p:cNvSpPr/>
          <p:nvPr/>
        </p:nvSpPr>
        <p:spPr>
          <a:xfrm>
            <a:off x="3886200" y="1905120"/>
            <a:ext cx="0" cy="1447560"/>
          </a:xfrm>
          <a:prstGeom prst="line">
            <a:avLst/>
          </a:prstGeom>
          <a:ln w="19080">
            <a:solidFill>
              <a:srgbClr val="b2b2b2"/>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7" name="Line 10"/>
          <p:cNvSpPr/>
          <p:nvPr/>
        </p:nvSpPr>
        <p:spPr>
          <a:xfrm>
            <a:off x="3276720" y="2133720"/>
            <a:ext cx="533160" cy="0"/>
          </a:xfrm>
          <a:prstGeom prst="line">
            <a:avLst/>
          </a:prstGeom>
          <a:ln w="28440">
            <a:solidFill>
              <a:srgbClr val="b2b2b2"/>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8" name="Line 11"/>
          <p:cNvSpPr/>
          <p:nvPr/>
        </p:nvSpPr>
        <p:spPr>
          <a:xfrm flipV="1">
            <a:off x="2057400" y="2286000"/>
            <a:ext cx="838080" cy="3808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79" name="Line 12"/>
          <p:cNvSpPr/>
          <p:nvPr/>
        </p:nvSpPr>
        <p:spPr>
          <a:xfrm flipV="1">
            <a:off x="1447920" y="1904760"/>
            <a:ext cx="761760" cy="6094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80" name="Rectangle 13"/>
          <p:cNvSpPr/>
          <p:nvPr/>
        </p:nvSpPr>
        <p:spPr>
          <a:xfrm>
            <a:off x="1676520" y="685800"/>
            <a:ext cx="914400" cy="68580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Garçons</a:t>
            </a:r>
            <a:endParaRPr b="0" lang="en-US" sz="1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Filles</a:t>
            </a:r>
            <a:endParaRPr b="0" lang="en-US" sz="1600" strike="noStrike" u="none">
              <a:solidFill>
                <a:srgbClr val="ffff00"/>
              </a:solidFill>
              <a:effectLst/>
              <a:uFillTx/>
              <a:latin typeface="Times New Roman"/>
            </a:endParaRPr>
          </a:p>
        </p:txBody>
      </p:sp>
      <p:sp>
        <p:nvSpPr>
          <p:cNvPr id="2381" name="Rectangle 14"/>
          <p:cNvSpPr/>
          <p:nvPr/>
        </p:nvSpPr>
        <p:spPr>
          <a:xfrm>
            <a:off x="1905120" y="3809880"/>
            <a:ext cx="1600200" cy="30492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Ages (années)</a:t>
            </a:r>
            <a:endParaRPr b="0" lang="en-US" sz="1800" strike="noStrike" u="none">
              <a:solidFill>
                <a:srgbClr val="ffff00"/>
              </a:solidFill>
              <a:effectLst/>
              <a:uFillTx/>
              <a:latin typeface="Times New Roman"/>
            </a:endParaRPr>
          </a:p>
        </p:txBody>
      </p:sp>
      <p:sp>
        <p:nvSpPr>
          <p:cNvPr id="2382" name="Line 15"/>
          <p:cNvSpPr/>
          <p:nvPr/>
        </p:nvSpPr>
        <p:spPr>
          <a:xfrm>
            <a:off x="5791320" y="4495680"/>
            <a:ext cx="3352680" cy="0"/>
          </a:xfrm>
          <a:prstGeom prst="line">
            <a:avLst/>
          </a:prstGeom>
          <a:ln w="19080">
            <a:solidFill>
              <a:srgbClr val="b2b2b2"/>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83" name="Line 16"/>
          <p:cNvSpPr/>
          <p:nvPr/>
        </p:nvSpPr>
        <p:spPr>
          <a:xfrm>
            <a:off x="5867280" y="4343400"/>
            <a:ext cx="3276720" cy="0"/>
          </a:xfrm>
          <a:prstGeom prst="line">
            <a:avLst/>
          </a:prstGeom>
          <a:ln w="19080">
            <a:solidFill>
              <a:srgbClr val="80808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84" name="Line 17"/>
          <p:cNvSpPr/>
          <p:nvPr/>
        </p:nvSpPr>
        <p:spPr>
          <a:xfrm>
            <a:off x="7010280" y="3809880"/>
            <a:ext cx="1447920" cy="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85" name="Line 18"/>
          <p:cNvSpPr/>
          <p:nvPr/>
        </p:nvSpPr>
        <p:spPr>
          <a:xfrm>
            <a:off x="7010280" y="4876920"/>
            <a:ext cx="1067040" cy="38088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386" name="Rectangle 19"/>
          <p:cNvSpPr/>
          <p:nvPr/>
        </p:nvSpPr>
        <p:spPr>
          <a:xfrm>
            <a:off x="6553080" y="6553080"/>
            <a:ext cx="1600200" cy="30492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Ages (années)</a:t>
            </a:r>
            <a:endParaRPr b="0" lang="en-US" sz="1800" strike="noStrike" u="none">
              <a:solidFill>
                <a:srgbClr val="ffff00"/>
              </a:solidFill>
              <a:effectLst/>
              <a:uFillTx/>
              <a:latin typeface="Times New Roman"/>
            </a:endParaRPr>
          </a:p>
        </p:txBody>
      </p:sp>
      <p:sp>
        <p:nvSpPr>
          <p:cNvPr id="2387" name="Rectangle 20"/>
          <p:cNvSpPr/>
          <p:nvPr/>
        </p:nvSpPr>
        <p:spPr>
          <a:xfrm rot="16200600">
            <a:off x="-1067400" y="1829160"/>
            <a:ext cx="2896920" cy="30492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VO2max (l.min</a:t>
            </a:r>
            <a:r>
              <a:rPr b="1" lang="fr-FR" sz="1800" strike="noStrike" u="none" baseline="30000">
                <a:solidFill>
                  <a:srgbClr val="ffff00"/>
                </a:solidFill>
                <a:effectLst/>
                <a:uFillTx/>
                <a:latin typeface="Arial"/>
              </a:rPr>
              <a:t>-1</a:t>
            </a:r>
            <a:r>
              <a:rPr b="0" lang="fr-FR" sz="1800" strike="noStrike" u="none">
                <a:solidFill>
                  <a:srgbClr val="ffff00"/>
                </a:solidFill>
                <a:effectLst/>
                <a:uFillTx/>
                <a:latin typeface="Arial"/>
              </a:rPr>
              <a:t>)</a:t>
            </a:r>
            <a:endParaRPr b="0" lang="en-US" sz="1800" strike="noStrike" u="none">
              <a:solidFill>
                <a:srgbClr val="ffff00"/>
              </a:solidFill>
              <a:effectLst/>
              <a:uFillTx/>
              <a:latin typeface="Times New Roman"/>
            </a:endParaRPr>
          </a:p>
        </p:txBody>
      </p:sp>
      <p:sp>
        <p:nvSpPr>
          <p:cNvPr id="2388" name="Rectangle 21"/>
          <p:cNvSpPr/>
          <p:nvPr/>
        </p:nvSpPr>
        <p:spPr>
          <a:xfrm rot="16200600">
            <a:off x="3580200" y="4496760"/>
            <a:ext cx="2897280" cy="30456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ffff00"/>
                </a:solidFill>
                <a:effectLst/>
                <a:uFillTx/>
                <a:latin typeface="Arial"/>
              </a:rPr>
              <a:t>VO2max (ml.min</a:t>
            </a:r>
            <a:r>
              <a:rPr b="1" lang="fr-FR" sz="1800" strike="noStrike" u="none" baseline="30000">
                <a:solidFill>
                  <a:srgbClr val="ffff00"/>
                </a:solidFill>
                <a:effectLst/>
                <a:uFillTx/>
                <a:latin typeface="Arial"/>
              </a:rPr>
              <a:t>-1</a:t>
            </a:r>
            <a:r>
              <a:rPr b="0" lang="fr-FR" sz="1800" strike="noStrike" u="none">
                <a:solidFill>
                  <a:srgbClr val="ffff00"/>
                </a:solidFill>
                <a:effectLst/>
                <a:uFillTx/>
                <a:latin typeface="Arial"/>
              </a:rPr>
              <a:t>.kg</a:t>
            </a:r>
            <a:r>
              <a:rPr b="1" lang="fr-FR" sz="1800" strike="noStrike" u="none" baseline="30000">
                <a:solidFill>
                  <a:srgbClr val="ffff00"/>
                </a:solidFill>
                <a:effectLst/>
                <a:uFillTx/>
                <a:latin typeface="Arial"/>
              </a:rPr>
              <a:t>-1</a:t>
            </a:r>
            <a:r>
              <a:rPr b="0" lang="fr-FR" sz="1800" strike="noStrike" u="none">
                <a:solidFill>
                  <a:srgbClr val="ffff00"/>
                </a:solidFill>
                <a:effectLst/>
                <a:uFillTx/>
                <a:latin typeface="Arial"/>
              </a:rPr>
              <a:t>)</a:t>
            </a:r>
            <a:endParaRPr b="0" lang="en-US" sz="1800" strike="noStrike" u="none">
              <a:solidFill>
                <a:srgbClr val="ffff00"/>
              </a:solidFill>
              <a:effectLst/>
              <a:uFillTx/>
              <a:latin typeface="Times New Roman"/>
            </a:endParaRPr>
          </a:p>
        </p:txBody>
      </p:sp>
      <p:sp>
        <p:nvSpPr>
          <p:cNvPr id="2389" name="Rectangle 22"/>
          <p:cNvSpPr/>
          <p:nvPr/>
        </p:nvSpPr>
        <p:spPr>
          <a:xfrm>
            <a:off x="6400800" y="5105520"/>
            <a:ext cx="914400" cy="761760"/>
          </a:xfrm>
          <a:prstGeom prst="rect">
            <a:avLst/>
          </a:prstGeom>
          <a:solidFill>
            <a:srgbClr val="3333cc"/>
          </a:solidFill>
          <a:ln w="9360">
            <a:solidFill>
              <a:srgbClr val="ffff00"/>
            </a:solidFill>
            <a:miter/>
          </a:ln>
        </p:spPr>
        <p:style>
          <a:lnRef idx="0"/>
          <a:fillRef idx="0"/>
          <a:effectRef idx="0"/>
          <a:fontRef idx="minor"/>
        </p:style>
        <p:txBody>
          <a:bodyPr wrap="none" lIns="90000" rIns="90000" tIns="46800" bIns="46800" anchor="ctr">
            <a:no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Garçons</a:t>
            </a:r>
            <a:endParaRPr b="0" lang="en-US" sz="1600" strike="noStrike" u="none">
              <a:solidFill>
                <a:srgbClr val="ffff00"/>
              </a:solidFill>
              <a:effectLst/>
              <a:uFillTx/>
              <a:latin typeface="Times New Roman"/>
            </a:endParaRPr>
          </a:p>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600" strike="noStrike" u="none">
                <a:solidFill>
                  <a:srgbClr val="ffff00"/>
                </a:solidFill>
                <a:effectLst/>
                <a:uFillTx/>
                <a:latin typeface="Arial"/>
              </a:rPr>
              <a:t>Filles</a:t>
            </a:r>
            <a:endParaRPr b="0" lang="en-US" sz="1600" strike="noStrike" u="none">
              <a:solidFill>
                <a:srgbClr val="ffff00"/>
              </a:solidFill>
              <a:effectLst/>
              <a:uFillTx/>
              <a:latin typeface="Times New Roman"/>
            </a:endParaRPr>
          </a:p>
        </p:txBody>
      </p:sp>
      <p:sp>
        <p:nvSpPr>
          <p:cNvPr id="2390" name="Text Box 23"/>
          <p:cNvSpPr/>
          <p:nvPr/>
        </p:nvSpPr>
        <p:spPr>
          <a:xfrm>
            <a:off x="957240" y="4307040"/>
            <a:ext cx="4433400" cy="2338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alors que, exprimé en millilitre</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par minute et par kg de poids</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(ml.min</a:t>
            </a:r>
            <a:r>
              <a:rPr b="1" lang="fr-FR" sz="2400" strike="noStrike" u="none" baseline="30000">
                <a:solidFill>
                  <a:srgbClr val="ffff00"/>
                </a:solidFill>
                <a:effectLst/>
                <a:uFillTx/>
                <a:latin typeface="Arial"/>
              </a:rPr>
              <a:t>-1</a:t>
            </a:r>
            <a:r>
              <a:rPr b="0" lang="fr-FR" sz="2400" strike="noStrike" u="none">
                <a:solidFill>
                  <a:srgbClr val="ffff00"/>
                </a:solidFill>
                <a:effectLst/>
                <a:uFillTx/>
                <a:latin typeface="Arial"/>
              </a:rPr>
              <a:t>.kg</a:t>
            </a:r>
            <a:r>
              <a:rPr b="1" lang="fr-FR" sz="2400" strike="noStrike" u="none" baseline="30000">
                <a:solidFill>
                  <a:srgbClr val="ffff00"/>
                </a:solidFill>
                <a:effectLst/>
                <a:uFillTx/>
                <a:latin typeface="Arial"/>
              </a:rPr>
              <a:t>-1</a:t>
            </a:r>
            <a:r>
              <a:rPr b="0" lang="fr-FR" sz="2400" strike="noStrike" u="none">
                <a:solidFill>
                  <a:srgbClr val="ffff00"/>
                </a:solidFill>
                <a:effectLst/>
                <a:uFillTx/>
                <a:latin typeface="Arial"/>
              </a:rPr>
              <a:t>) le VO</a:t>
            </a:r>
            <a:r>
              <a:rPr b="1" lang="fr-FR" sz="2400" strike="noStrike" u="none" baseline="-25000">
                <a:solidFill>
                  <a:srgbClr val="ffff00"/>
                </a:solidFill>
                <a:effectLst/>
                <a:uFillTx/>
                <a:latin typeface="Arial"/>
              </a:rPr>
              <a:t>2</a:t>
            </a:r>
            <a:r>
              <a:rPr b="0" lang="fr-FR" sz="2400" strike="noStrike" u="none">
                <a:solidFill>
                  <a:srgbClr val="ffff00"/>
                </a:solidFill>
                <a:effectLst/>
                <a:uFillTx/>
                <a:latin typeface="Arial"/>
              </a:rPr>
              <a:t>max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semble ne pas augmenter chez</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le garçon, voire diminuer chez</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Arial"/>
              </a:rPr>
              <a:t>la fille. </a:t>
            </a:r>
            <a:endParaRPr b="0" lang="en-US" sz="2400" strike="noStrike" u="none">
              <a:solidFill>
                <a:srgbClr val="ffff00"/>
              </a:solidFill>
              <a:effectLst/>
              <a:uFillTx/>
              <a:latin typeface="Times New Roman"/>
            </a:endParaRPr>
          </a:p>
        </p:txBody>
      </p:sp>
      <p:sp>
        <p:nvSpPr>
          <p:cNvPr id="2391" name="Text Box 24"/>
          <p:cNvSpPr/>
          <p:nvPr/>
        </p:nvSpPr>
        <p:spPr>
          <a:xfrm>
            <a:off x="2514600" y="4800600"/>
            <a:ext cx="3808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p:txBody>
      </p:sp>
    </p:spTree>
  </p:cSld>
  <p:transition spd="med">
    <p:zoom dir="out"/>
  </p:transition>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2" name="Rectangle 2"/>
          <p:cNvSpPr/>
          <p:nvPr/>
        </p:nvSpPr>
        <p:spPr>
          <a:xfrm>
            <a:off x="1143000" y="762120"/>
            <a:ext cx="6800760" cy="535932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3" name="Rectangle 3"/>
          <p:cNvSpPr/>
          <p:nvPr/>
        </p:nvSpPr>
        <p:spPr>
          <a:xfrm>
            <a:off x="4146120" y="5433840"/>
            <a:ext cx="1231560" cy="2898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900" strike="noStrike" u="none">
                <a:solidFill>
                  <a:srgbClr val="000000"/>
                </a:solidFill>
                <a:effectLst/>
                <a:uFillTx/>
                <a:latin typeface="Arial"/>
              </a:rPr>
              <a:t>AGE  ( an )</a:t>
            </a:r>
            <a:endParaRPr b="0" lang="en-US" sz="1900" strike="noStrike" u="none">
              <a:solidFill>
                <a:srgbClr val="ffff00"/>
              </a:solidFill>
              <a:effectLst/>
              <a:uFillTx/>
              <a:latin typeface="Times New Roman"/>
            </a:endParaRPr>
          </a:p>
        </p:txBody>
      </p:sp>
      <p:sp>
        <p:nvSpPr>
          <p:cNvPr id="2394" name="Rectangle 4"/>
          <p:cNvSpPr/>
          <p:nvPr/>
        </p:nvSpPr>
        <p:spPr>
          <a:xfrm>
            <a:off x="1828800" y="1066680"/>
            <a:ext cx="5846760" cy="4357800"/>
          </a:xfrm>
          <a:prstGeom prst="rect">
            <a:avLst/>
          </a:prstGeom>
          <a:solidFill>
            <a:srgbClr val="ffffff"/>
          </a:solidFill>
          <a:ln w="936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5" name="Line 5"/>
          <p:cNvSpPr/>
          <p:nvPr/>
        </p:nvSpPr>
        <p:spPr>
          <a:xfrm flipV="1">
            <a:off x="4049640" y="1750680"/>
            <a:ext cx="2924280" cy="1306440"/>
          </a:xfrm>
          <a:prstGeom prst="line">
            <a:avLst/>
          </a:prstGeom>
          <a:ln w="4284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6" name="Rectangle 6"/>
          <p:cNvSpPr/>
          <p:nvPr/>
        </p:nvSpPr>
        <p:spPr>
          <a:xfrm>
            <a:off x="4049640" y="3030480"/>
            <a:ext cx="2198880" cy="65160"/>
          </a:xfrm>
          <a:prstGeom prst="rect">
            <a:avLst/>
          </a:prstGeom>
          <a:blipFill rotWithShape="0">
            <a:blip r:embed="rId1"/>
            <a:srcRect/>
            <a:tile tx="0" ty="0" sx="100000" sy="100000" algn="ctr"/>
          </a:blipFill>
          <a:ln w="0">
            <a:noFill/>
          </a:ln>
        </p:spPr>
        <p:style>
          <a:lnRef idx="0"/>
          <a:fillRef idx="0"/>
          <a:effectRef idx="0"/>
          <a:fontRef idx="minor"/>
        </p:style>
        <p:txBody>
          <a:bodyPr lIns="90000" rIns="90000" tIns="18360" bIns="18360" anchor="t">
            <a:noAutofit/>
          </a:bodyPr>
          <a:p>
            <a:endParaRPr b="0" lang="en-US" sz="2400" strike="noStrike" u="none">
              <a:solidFill>
                <a:srgbClr val="ffff00"/>
              </a:solidFill>
              <a:effectLst/>
              <a:uFillTx/>
              <a:latin typeface="Times New Roman"/>
            </a:endParaRPr>
          </a:p>
        </p:txBody>
      </p:sp>
      <p:sp>
        <p:nvSpPr>
          <p:cNvPr id="2397" name="Line 7"/>
          <p:cNvSpPr/>
          <p:nvPr/>
        </p:nvSpPr>
        <p:spPr>
          <a:xfrm flipV="1">
            <a:off x="2222640" y="3166560"/>
            <a:ext cx="4751280" cy="327240"/>
          </a:xfrm>
          <a:prstGeom prst="line">
            <a:avLst/>
          </a:prstGeom>
          <a:ln w="4284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8" name="Freeform 8"/>
          <p:cNvSpPr/>
          <p:nvPr/>
        </p:nvSpPr>
        <p:spPr>
          <a:xfrm>
            <a:off x="2220840" y="3244680"/>
            <a:ext cx="4756320" cy="1810080"/>
          </a:xfrm>
          <a:custGeom>
            <a:avLst/>
            <a:gdLst>
              <a:gd name="GluePoint1X" fmla="*/ 2147483647 w 11984"/>
              <a:gd name="GluePoint1Y" fmla="*/ 2147483647 h 3420"/>
              <a:gd name="GluePoint2X" fmla="*/ 2147483647 w 11984"/>
              <a:gd name="GluePoint2Y" fmla="*/ 2147483647 h 3420"/>
              <a:gd name="GluePoint3X" fmla="*/ 0 w 11984"/>
              <a:gd name="GluePoint3Y" fmla="*/ 2147483647 h 3420"/>
              <a:gd name="GluePoint4X" fmla="*/ 0 w 11984"/>
              <a:gd name="GluePoint4Y" fmla="*/ 0 h 3420"/>
              <a:gd name="GluePoint5X" fmla="*/ 2147483647 w 11984"/>
              <a:gd name="GluePoint5Y" fmla="*/ 2147483647 h 342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1984" h="3420">
                <a:moveTo>
                  <a:pt x="11984" y="3297"/>
                </a:moveTo>
                <a:lnTo>
                  <a:pt x="11984" y="3420"/>
                </a:lnTo>
                <a:lnTo>
                  <a:pt x="0" y="124"/>
                </a:lnTo>
                <a:lnTo>
                  <a:pt x="0" y="0"/>
                </a:lnTo>
                <a:lnTo>
                  <a:pt x="11984" y="3297"/>
                </a:lnTo>
                <a:close/>
              </a:path>
            </a:pathLst>
          </a:custGeom>
          <a:blipFill rotWithShape="0">
            <a:blip r:embed="rId2"/>
            <a:srcRect/>
            <a:tile tx="0" ty="0" sx="100000" sy="100000" algn="ctr"/>
          </a:blip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399" name="Line 9"/>
          <p:cNvSpPr/>
          <p:nvPr/>
        </p:nvSpPr>
        <p:spPr>
          <a:xfrm>
            <a:off x="1862280" y="988920"/>
            <a:ext cx="583704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00" name="Line 10"/>
          <p:cNvSpPr/>
          <p:nvPr/>
        </p:nvSpPr>
        <p:spPr>
          <a:xfrm>
            <a:off x="1857240" y="988920"/>
            <a:ext cx="180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1" name="Line 11"/>
          <p:cNvSpPr/>
          <p:nvPr/>
        </p:nvSpPr>
        <p:spPr>
          <a:xfrm>
            <a:off x="2587680" y="988920"/>
            <a:ext cx="144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2" name="Line 12"/>
          <p:cNvSpPr/>
          <p:nvPr/>
        </p:nvSpPr>
        <p:spPr>
          <a:xfrm>
            <a:off x="3317760" y="988920"/>
            <a:ext cx="180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3" name="Line 13"/>
          <p:cNvSpPr/>
          <p:nvPr/>
        </p:nvSpPr>
        <p:spPr>
          <a:xfrm>
            <a:off x="4049640" y="988920"/>
            <a:ext cx="180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4" name="Line 14"/>
          <p:cNvSpPr/>
          <p:nvPr/>
        </p:nvSpPr>
        <p:spPr>
          <a:xfrm>
            <a:off x="4780080" y="988920"/>
            <a:ext cx="144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5" name="Line 15"/>
          <p:cNvSpPr/>
          <p:nvPr/>
        </p:nvSpPr>
        <p:spPr>
          <a:xfrm>
            <a:off x="5511960" y="988920"/>
            <a:ext cx="144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6" name="Line 16"/>
          <p:cNvSpPr/>
          <p:nvPr/>
        </p:nvSpPr>
        <p:spPr>
          <a:xfrm>
            <a:off x="6242040" y="988920"/>
            <a:ext cx="144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7" name="Line 17"/>
          <p:cNvSpPr/>
          <p:nvPr/>
        </p:nvSpPr>
        <p:spPr>
          <a:xfrm>
            <a:off x="6973920" y="988920"/>
            <a:ext cx="144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8" name="Line 18"/>
          <p:cNvSpPr/>
          <p:nvPr/>
        </p:nvSpPr>
        <p:spPr>
          <a:xfrm>
            <a:off x="7704000" y="988920"/>
            <a:ext cx="1800" cy="25560"/>
          </a:xfrm>
          <a:prstGeom prst="line">
            <a:avLst/>
          </a:prstGeom>
          <a:ln w="9360">
            <a:solidFill>
              <a:srgbClr val="000000"/>
            </a:solidFill>
            <a:miter/>
          </a:ln>
        </p:spPr>
        <p:style>
          <a:lnRef idx="0"/>
          <a:fillRef idx="0"/>
          <a:effectRef idx="0"/>
          <a:fontRef idx="minor"/>
        </p:style>
        <p:txBody>
          <a:bodyPr lIns="90000" rIns="90000" tIns="-21240" bIns="-21240" anchor="t">
            <a:noAutofit/>
          </a:bodyPr>
          <a:p>
            <a:endParaRPr b="0" lang="en-US" sz="2400" strike="noStrike" u="none">
              <a:solidFill>
                <a:srgbClr val="ffff00"/>
              </a:solidFill>
              <a:effectLst/>
              <a:uFillTx/>
              <a:latin typeface="Times New Roman"/>
            </a:endParaRPr>
          </a:p>
        </p:txBody>
      </p:sp>
      <p:sp>
        <p:nvSpPr>
          <p:cNvPr id="2409" name="Line 19"/>
          <p:cNvSpPr/>
          <p:nvPr/>
        </p:nvSpPr>
        <p:spPr>
          <a:xfrm>
            <a:off x="222264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0" name="Line 20"/>
          <p:cNvSpPr/>
          <p:nvPr/>
        </p:nvSpPr>
        <p:spPr>
          <a:xfrm>
            <a:off x="258768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1" name="Line 21"/>
          <p:cNvSpPr/>
          <p:nvPr/>
        </p:nvSpPr>
        <p:spPr>
          <a:xfrm>
            <a:off x="295272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2" name="Line 22"/>
          <p:cNvSpPr/>
          <p:nvPr/>
        </p:nvSpPr>
        <p:spPr>
          <a:xfrm>
            <a:off x="3317760" y="988920"/>
            <a:ext cx="180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3" name="Line 23"/>
          <p:cNvSpPr/>
          <p:nvPr/>
        </p:nvSpPr>
        <p:spPr>
          <a:xfrm>
            <a:off x="368460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4" name="Line 24"/>
          <p:cNvSpPr/>
          <p:nvPr/>
        </p:nvSpPr>
        <p:spPr>
          <a:xfrm>
            <a:off x="4049640" y="988920"/>
            <a:ext cx="180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5" name="Line 25"/>
          <p:cNvSpPr/>
          <p:nvPr/>
        </p:nvSpPr>
        <p:spPr>
          <a:xfrm>
            <a:off x="4414680" y="988920"/>
            <a:ext cx="180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6" name="Line 26"/>
          <p:cNvSpPr/>
          <p:nvPr/>
        </p:nvSpPr>
        <p:spPr>
          <a:xfrm>
            <a:off x="478008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7" name="Line 27"/>
          <p:cNvSpPr/>
          <p:nvPr/>
        </p:nvSpPr>
        <p:spPr>
          <a:xfrm>
            <a:off x="514512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8" name="Line 28"/>
          <p:cNvSpPr/>
          <p:nvPr/>
        </p:nvSpPr>
        <p:spPr>
          <a:xfrm>
            <a:off x="551196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19" name="Line 29"/>
          <p:cNvSpPr/>
          <p:nvPr/>
        </p:nvSpPr>
        <p:spPr>
          <a:xfrm>
            <a:off x="587700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20" name="Line 30"/>
          <p:cNvSpPr/>
          <p:nvPr/>
        </p:nvSpPr>
        <p:spPr>
          <a:xfrm>
            <a:off x="624204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21" name="Line 31"/>
          <p:cNvSpPr/>
          <p:nvPr/>
        </p:nvSpPr>
        <p:spPr>
          <a:xfrm>
            <a:off x="6607080" y="988920"/>
            <a:ext cx="180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22" name="Line 32"/>
          <p:cNvSpPr/>
          <p:nvPr/>
        </p:nvSpPr>
        <p:spPr>
          <a:xfrm>
            <a:off x="6973920" y="988920"/>
            <a:ext cx="144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23" name="Line 33"/>
          <p:cNvSpPr/>
          <p:nvPr/>
        </p:nvSpPr>
        <p:spPr>
          <a:xfrm>
            <a:off x="7338960" y="988920"/>
            <a:ext cx="1800" cy="14400"/>
          </a:xfrm>
          <a:prstGeom prst="line">
            <a:avLst/>
          </a:prstGeom>
          <a:ln w="9360">
            <a:solidFill>
              <a:srgbClr val="000000"/>
            </a:solidFill>
            <a:miter/>
          </a:ln>
        </p:spPr>
        <p:style>
          <a:lnRef idx="0"/>
          <a:fillRef idx="0"/>
          <a:effectRef idx="0"/>
          <a:fontRef idx="minor"/>
        </p:style>
        <p:txBody>
          <a:bodyPr lIns="90000" rIns="90000" tIns="-32400" bIns="-32400" anchor="t">
            <a:noAutofit/>
          </a:bodyPr>
          <a:p>
            <a:endParaRPr b="0" lang="en-US" sz="2400" strike="noStrike" u="none">
              <a:solidFill>
                <a:srgbClr val="ffff00"/>
              </a:solidFill>
              <a:effectLst/>
              <a:uFillTx/>
              <a:latin typeface="Times New Roman"/>
            </a:endParaRPr>
          </a:p>
        </p:txBody>
      </p:sp>
      <p:sp>
        <p:nvSpPr>
          <p:cNvPr id="2424" name="Line 34"/>
          <p:cNvSpPr/>
          <p:nvPr/>
        </p:nvSpPr>
        <p:spPr>
          <a:xfrm flipV="1">
            <a:off x="7704000" y="993600"/>
            <a:ext cx="1800" cy="43466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25" name="Line 35"/>
          <p:cNvSpPr/>
          <p:nvPr/>
        </p:nvSpPr>
        <p:spPr>
          <a:xfrm flipH="1">
            <a:off x="7683120" y="5346720"/>
            <a:ext cx="2052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26" name="Line 36"/>
          <p:cNvSpPr/>
          <p:nvPr/>
        </p:nvSpPr>
        <p:spPr>
          <a:xfrm flipH="1">
            <a:off x="7683120" y="4802040"/>
            <a:ext cx="2052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27" name="Line 37"/>
          <p:cNvSpPr/>
          <p:nvPr/>
        </p:nvSpPr>
        <p:spPr>
          <a:xfrm flipH="1">
            <a:off x="7683120" y="4255920"/>
            <a:ext cx="2052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28" name="Line 38"/>
          <p:cNvSpPr/>
          <p:nvPr/>
        </p:nvSpPr>
        <p:spPr>
          <a:xfrm flipH="1">
            <a:off x="7683120" y="3711600"/>
            <a:ext cx="2052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29" name="Line 39"/>
          <p:cNvSpPr/>
          <p:nvPr/>
        </p:nvSpPr>
        <p:spPr>
          <a:xfrm flipH="1">
            <a:off x="7683120" y="3166920"/>
            <a:ext cx="2052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30" name="Line 40"/>
          <p:cNvSpPr/>
          <p:nvPr/>
        </p:nvSpPr>
        <p:spPr>
          <a:xfrm flipH="1">
            <a:off x="7683120" y="2622600"/>
            <a:ext cx="2052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31" name="Line 41"/>
          <p:cNvSpPr/>
          <p:nvPr/>
        </p:nvSpPr>
        <p:spPr>
          <a:xfrm flipH="1">
            <a:off x="7683120" y="2077920"/>
            <a:ext cx="2052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32" name="Line 42"/>
          <p:cNvSpPr/>
          <p:nvPr/>
        </p:nvSpPr>
        <p:spPr>
          <a:xfrm flipH="1">
            <a:off x="7683120" y="1533600"/>
            <a:ext cx="2052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33" name="Line 43"/>
          <p:cNvSpPr/>
          <p:nvPr/>
        </p:nvSpPr>
        <p:spPr>
          <a:xfrm flipH="1">
            <a:off x="7683120" y="988920"/>
            <a:ext cx="2052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34" name="Line 44"/>
          <p:cNvSpPr/>
          <p:nvPr/>
        </p:nvSpPr>
        <p:spPr>
          <a:xfrm flipH="1">
            <a:off x="7691040" y="523728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35" name="Line 45"/>
          <p:cNvSpPr/>
          <p:nvPr/>
        </p:nvSpPr>
        <p:spPr>
          <a:xfrm flipH="1">
            <a:off x="7691040" y="512748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36" name="Line 46"/>
          <p:cNvSpPr/>
          <p:nvPr/>
        </p:nvSpPr>
        <p:spPr>
          <a:xfrm flipH="1">
            <a:off x="7691040" y="501984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37" name="Line 47"/>
          <p:cNvSpPr/>
          <p:nvPr/>
        </p:nvSpPr>
        <p:spPr>
          <a:xfrm flipH="1">
            <a:off x="7691040" y="491004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38" name="Line 48"/>
          <p:cNvSpPr/>
          <p:nvPr/>
        </p:nvSpPr>
        <p:spPr>
          <a:xfrm flipH="1">
            <a:off x="7691040" y="480204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39" name="Line 49"/>
          <p:cNvSpPr/>
          <p:nvPr/>
        </p:nvSpPr>
        <p:spPr>
          <a:xfrm flipH="1">
            <a:off x="7691040" y="469260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40" name="Line 50"/>
          <p:cNvSpPr/>
          <p:nvPr/>
        </p:nvSpPr>
        <p:spPr>
          <a:xfrm flipH="1">
            <a:off x="7691040" y="458316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41" name="Line 51"/>
          <p:cNvSpPr/>
          <p:nvPr/>
        </p:nvSpPr>
        <p:spPr>
          <a:xfrm flipH="1">
            <a:off x="7691040" y="447516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42" name="Line 52"/>
          <p:cNvSpPr/>
          <p:nvPr/>
        </p:nvSpPr>
        <p:spPr>
          <a:xfrm flipH="1">
            <a:off x="7691040" y="436572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43" name="Line 53"/>
          <p:cNvSpPr/>
          <p:nvPr/>
        </p:nvSpPr>
        <p:spPr>
          <a:xfrm flipH="1">
            <a:off x="7691040" y="425592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44" name="Line 54"/>
          <p:cNvSpPr/>
          <p:nvPr/>
        </p:nvSpPr>
        <p:spPr>
          <a:xfrm flipH="1">
            <a:off x="7691040" y="414828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45" name="Line 55"/>
          <p:cNvSpPr/>
          <p:nvPr/>
        </p:nvSpPr>
        <p:spPr>
          <a:xfrm flipH="1">
            <a:off x="7691040" y="403848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46" name="Line 56"/>
          <p:cNvSpPr/>
          <p:nvPr/>
        </p:nvSpPr>
        <p:spPr>
          <a:xfrm flipH="1">
            <a:off x="7691040" y="393048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47" name="Line 57"/>
          <p:cNvSpPr/>
          <p:nvPr/>
        </p:nvSpPr>
        <p:spPr>
          <a:xfrm flipH="1">
            <a:off x="7691040" y="382104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48" name="Line 58"/>
          <p:cNvSpPr/>
          <p:nvPr/>
        </p:nvSpPr>
        <p:spPr>
          <a:xfrm flipH="1">
            <a:off x="7691040" y="371160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49" name="Line 59"/>
          <p:cNvSpPr/>
          <p:nvPr/>
        </p:nvSpPr>
        <p:spPr>
          <a:xfrm flipH="1">
            <a:off x="7691040" y="360360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50" name="Line 60"/>
          <p:cNvSpPr/>
          <p:nvPr/>
        </p:nvSpPr>
        <p:spPr>
          <a:xfrm flipH="1">
            <a:off x="7691040" y="349416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51" name="Line 61"/>
          <p:cNvSpPr/>
          <p:nvPr/>
        </p:nvSpPr>
        <p:spPr>
          <a:xfrm flipH="1">
            <a:off x="7691040" y="338472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52" name="Line 62"/>
          <p:cNvSpPr/>
          <p:nvPr/>
        </p:nvSpPr>
        <p:spPr>
          <a:xfrm flipH="1">
            <a:off x="7691040" y="327672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53" name="Line 63"/>
          <p:cNvSpPr/>
          <p:nvPr/>
        </p:nvSpPr>
        <p:spPr>
          <a:xfrm flipH="1">
            <a:off x="7691040" y="316692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54" name="Line 64"/>
          <p:cNvSpPr/>
          <p:nvPr/>
        </p:nvSpPr>
        <p:spPr>
          <a:xfrm flipH="1">
            <a:off x="7691040" y="305748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55" name="Line 65"/>
          <p:cNvSpPr/>
          <p:nvPr/>
        </p:nvSpPr>
        <p:spPr>
          <a:xfrm flipH="1">
            <a:off x="7691040" y="294948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56" name="Line 66"/>
          <p:cNvSpPr/>
          <p:nvPr/>
        </p:nvSpPr>
        <p:spPr>
          <a:xfrm flipH="1">
            <a:off x="7691040" y="284004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57" name="Line 67"/>
          <p:cNvSpPr/>
          <p:nvPr/>
        </p:nvSpPr>
        <p:spPr>
          <a:xfrm flipH="1">
            <a:off x="7691040" y="273204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58" name="Line 68"/>
          <p:cNvSpPr/>
          <p:nvPr/>
        </p:nvSpPr>
        <p:spPr>
          <a:xfrm flipH="1">
            <a:off x="7691040" y="262260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59" name="Line 69"/>
          <p:cNvSpPr/>
          <p:nvPr/>
        </p:nvSpPr>
        <p:spPr>
          <a:xfrm flipH="1">
            <a:off x="7691040" y="251460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0" name="Line 70"/>
          <p:cNvSpPr/>
          <p:nvPr/>
        </p:nvSpPr>
        <p:spPr>
          <a:xfrm flipH="1">
            <a:off x="7691040" y="240516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1" name="Line 71"/>
          <p:cNvSpPr/>
          <p:nvPr/>
        </p:nvSpPr>
        <p:spPr>
          <a:xfrm flipH="1">
            <a:off x="7691040" y="229536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62" name="Line 72"/>
          <p:cNvSpPr/>
          <p:nvPr/>
        </p:nvSpPr>
        <p:spPr>
          <a:xfrm flipH="1">
            <a:off x="7691040" y="218772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3" name="Line 73"/>
          <p:cNvSpPr/>
          <p:nvPr/>
        </p:nvSpPr>
        <p:spPr>
          <a:xfrm flipH="1">
            <a:off x="7691040" y="207792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64" name="Line 74"/>
          <p:cNvSpPr/>
          <p:nvPr/>
        </p:nvSpPr>
        <p:spPr>
          <a:xfrm flipH="1">
            <a:off x="7691040" y="196848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5" name="Line 75"/>
          <p:cNvSpPr/>
          <p:nvPr/>
        </p:nvSpPr>
        <p:spPr>
          <a:xfrm flipH="1">
            <a:off x="7691040" y="186048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66" name="Line 76"/>
          <p:cNvSpPr/>
          <p:nvPr/>
        </p:nvSpPr>
        <p:spPr>
          <a:xfrm flipH="1">
            <a:off x="7691040" y="175104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7" name="Line 77"/>
          <p:cNvSpPr/>
          <p:nvPr/>
        </p:nvSpPr>
        <p:spPr>
          <a:xfrm flipH="1">
            <a:off x="7691040" y="164160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8" name="Line 78"/>
          <p:cNvSpPr/>
          <p:nvPr/>
        </p:nvSpPr>
        <p:spPr>
          <a:xfrm flipH="1">
            <a:off x="7691040" y="153360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69" name="Line 79"/>
          <p:cNvSpPr/>
          <p:nvPr/>
        </p:nvSpPr>
        <p:spPr>
          <a:xfrm flipH="1">
            <a:off x="7691040" y="1424160"/>
            <a:ext cx="1260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70" name="Line 80"/>
          <p:cNvSpPr/>
          <p:nvPr/>
        </p:nvSpPr>
        <p:spPr>
          <a:xfrm flipH="1">
            <a:off x="7691040" y="131436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71" name="Line 81"/>
          <p:cNvSpPr/>
          <p:nvPr/>
        </p:nvSpPr>
        <p:spPr>
          <a:xfrm flipH="1">
            <a:off x="7691040" y="120636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72" name="Line 82"/>
          <p:cNvSpPr/>
          <p:nvPr/>
        </p:nvSpPr>
        <p:spPr>
          <a:xfrm flipH="1">
            <a:off x="7691040" y="1096920"/>
            <a:ext cx="1260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73" name="Line 83"/>
          <p:cNvSpPr/>
          <p:nvPr/>
        </p:nvSpPr>
        <p:spPr>
          <a:xfrm flipV="1">
            <a:off x="1857240" y="993600"/>
            <a:ext cx="1800" cy="434664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474" name="Line 84"/>
          <p:cNvSpPr/>
          <p:nvPr/>
        </p:nvSpPr>
        <p:spPr>
          <a:xfrm>
            <a:off x="1857240" y="5346720"/>
            <a:ext cx="1908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75" name="Line 85"/>
          <p:cNvSpPr/>
          <p:nvPr/>
        </p:nvSpPr>
        <p:spPr>
          <a:xfrm>
            <a:off x="1857240" y="4802040"/>
            <a:ext cx="1908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76" name="Line 86"/>
          <p:cNvSpPr/>
          <p:nvPr/>
        </p:nvSpPr>
        <p:spPr>
          <a:xfrm>
            <a:off x="1857240" y="4255920"/>
            <a:ext cx="1908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77" name="Line 87"/>
          <p:cNvSpPr/>
          <p:nvPr/>
        </p:nvSpPr>
        <p:spPr>
          <a:xfrm>
            <a:off x="1857240" y="3711600"/>
            <a:ext cx="1908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78" name="Line 88"/>
          <p:cNvSpPr/>
          <p:nvPr/>
        </p:nvSpPr>
        <p:spPr>
          <a:xfrm>
            <a:off x="1857240" y="3166920"/>
            <a:ext cx="1908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79" name="Line 89"/>
          <p:cNvSpPr/>
          <p:nvPr/>
        </p:nvSpPr>
        <p:spPr>
          <a:xfrm>
            <a:off x="1857240" y="2622600"/>
            <a:ext cx="1908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80" name="Line 90"/>
          <p:cNvSpPr/>
          <p:nvPr/>
        </p:nvSpPr>
        <p:spPr>
          <a:xfrm>
            <a:off x="1857240" y="2077920"/>
            <a:ext cx="1908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81" name="Line 91"/>
          <p:cNvSpPr/>
          <p:nvPr/>
        </p:nvSpPr>
        <p:spPr>
          <a:xfrm>
            <a:off x="1857240" y="1533600"/>
            <a:ext cx="1908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82" name="Line 92"/>
          <p:cNvSpPr/>
          <p:nvPr/>
        </p:nvSpPr>
        <p:spPr>
          <a:xfrm>
            <a:off x="1857240" y="988920"/>
            <a:ext cx="1908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83" name="Line 93"/>
          <p:cNvSpPr/>
          <p:nvPr/>
        </p:nvSpPr>
        <p:spPr>
          <a:xfrm>
            <a:off x="1857240" y="523728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84" name="Line 94"/>
          <p:cNvSpPr/>
          <p:nvPr/>
        </p:nvSpPr>
        <p:spPr>
          <a:xfrm>
            <a:off x="1857240" y="512748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85" name="Line 95"/>
          <p:cNvSpPr/>
          <p:nvPr/>
        </p:nvSpPr>
        <p:spPr>
          <a:xfrm>
            <a:off x="1857240" y="501984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86" name="Line 96"/>
          <p:cNvSpPr/>
          <p:nvPr/>
        </p:nvSpPr>
        <p:spPr>
          <a:xfrm>
            <a:off x="1857240" y="491004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87" name="Line 97"/>
          <p:cNvSpPr/>
          <p:nvPr/>
        </p:nvSpPr>
        <p:spPr>
          <a:xfrm>
            <a:off x="1857240" y="480204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88" name="Line 98"/>
          <p:cNvSpPr/>
          <p:nvPr/>
        </p:nvSpPr>
        <p:spPr>
          <a:xfrm>
            <a:off x="1857240" y="469260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89" name="Line 99"/>
          <p:cNvSpPr/>
          <p:nvPr/>
        </p:nvSpPr>
        <p:spPr>
          <a:xfrm>
            <a:off x="1857240" y="458316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90" name="Line 100"/>
          <p:cNvSpPr/>
          <p:nvPr/>
        </p:nvSpPr>
        <p:spPr>
          <a:xfrm>
            <a:off x="1857240" y="447516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91" name="Line 101"/>
          <p:cNvSpPr/>
          <p:nvPr/>
        </p:nvSpPr>
        <p:spPr>
          <a:xfrm>
            <a:off x="1857240" y="436572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92" name="Line 102"/>
          <p:cNvSpPr/>
          <p:nvPr/>
        </p:nvSpPr>
        <p:spPr>
          <a:xfrm>
            <a:off x="1857240" y="425592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93" name="Line 103"/>
          <p:cNvSpPr/>
          <p:nvPr/>
        </p:nvSpPr>
        <p:spPr>
          <a:xfrm>
            <a:off x="1857240" y="414828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94" name="Line 104"/>
          <p:cNvSpPr/>
          <p:nvPr/>
        </p:nvSpPr>
        <p:spPr>
          <a:xfrm>
            <a:off x="1857240" y="403848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95" name="Line 105"/>
          <p:cNvSpPr/>
          <p:nvPr/>
        </p:nvSpPr>
        <p:spPr>
          <a:xfrm>
            <a:off x="1857240" y="393048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96" name="Line 106"/>
          <p:cNvSpPr/>
          <p:nvPr/>
        </p:nvSpPr>
        <p:spPr>
          <a:xfrm>
            <a:off x="1857240" y="382104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497" name="Line 107"/>
          <p:cNvSpPr/>
          <p:nvPr/>
        </p:nvSpPr>
        <p:spPr>
          <a:xfrm>
            <a:off x="1857240" y="371160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98" name="Line 108"/>
          <p:cNvSpPr/>
          <p:nvPr/>
        </p:nvSpPr>
        <p:spPr>
          <a:xfrm>
            <a:off x="1857240" y="360360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499" name="Line 109"/>
          <p:cNvSpPr/>
          <p:nvPr/>
        </p:nvSpPr>
        <p:spPr>
          <a:xfrm>
            <a:off x="1857240" y="349416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00" name="Line 110"/>
          <p:cNvSpPr/>
          <p:nvPr/>
        </p:nvSpPr>
        <p:spPr>
          <a:xfrm>
            <a:off x="1857240" y="338472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01" name="Line 111"/>
          <p:cNvSpPr/>
          <p:nvPr/>
        </p:nvSpPr>
        <p:spPr>
          <a:xfrm>
            <a:off x="1857240" y="327672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02" name="Line 112"/>
          <p:cNvSpPr/>
          <p:nvPr/>
        </p:nvSpPr>
        <p:spPr>
          <a:xfrm>
            <a:off x="1857240" y="316692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03" name="Line 113"/>
          <p:cNvSpPr/>
          <p:nvPr/>
        </p:nvSpPr>
        <p:spPr>
          <a:xfrm>
            <a:off x="1857240" y="305748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04" name="Line 114"/>
          <p:cNvSpPr/>
          <p:nvPr/>
        </p:nvSpPr>
        <p:spPr>
          <a:xfrm>
            <a:off x="1857240" y="294948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05" name="Line 115"/>
          <p:cNvSpPr/>
          <p:nvPr/>
        </p:nvSpPr>
        <p:spPr>
          <a:xfrm>
            <a:off x="1857240" y="284004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06" name="Line 116"/>
          <p:cNvSpPr/>
          <p:nvPr/>
        </p:nvSpPr>
        <p:spPr>
          <a:xfrm>
            <a:off x="1857240" y="273204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07" name="Line 117"/>
          <p:cNvSpPr/>
          <p:nvPr/>
        </p:nvSpPr>
        <p:spPr>
          <a:xfrm>
            <a:off x="1857240" y="262260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08" name="Line 118"/>
          <p:cNvSpPr/>
          <p:nvPr/>
        </p:nvSpPr>
        <p:spPr>
          <a:xfrm>
            <a:off x="1857240" y="251460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09" name="Line 119"/>
          <p:cNvSpPr/>
          <p:nvPr/>
        </p:nvSpPr>
        <p:spPr>
          <a:xfrm>
            <a:off x="1857240" y="240516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0" name="Line 120"/>
          <p:cNvSpPr/>
          <p:nvPr/>
        </p:nvSpPr>
        <p:spPr>
          <a:xfrm>
            <a:off x="1857240" y="229536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11" name="Line 121"/>
          <p:cNvSpPr/>
          <p:nvPr/>
        </p:nvSpPr>
        <p:spPr>
          <a:xfrm>
            <a:off x="1857240" y="218772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2" name="Line 122"/>
          <p:cNvSpPr/>
          <p:nvPr/>
        </p:nvSpPr>
        <p:spPr>
          <a:xfrm>
            <a:off x="1857240" y="207792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13" name="Line 123"/>
          <p:cNvSpPr/>
          <p:nvPr/>
        </p:nvSpPr>
        <p:spPr>
          <a:xfrm>
            <a:off x="1857240" y="196848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4" name="Line 124"/>
          <p:cNvSpPr/>
          <p:nvPr/>
        </p:nvSpPr>
        <p:spPr>
          <a:xfrm>
            <a:off x="1857240" y="186048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15" name="Line 125"/>
          <p:cNvSpPr/>
          <p:nvPr/>
        </p:nvSpPr>
        <p:spPr>
          <a:xfrm>
            <a:off x="1857240" y="175104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6" name="Line 126"/>
          <p:cNvSpPr/>
          <p:nvPr/>
        </p:nvSpPr>
        <p:spPr>
          <a:xfrm>
            <a:off x="1857240" y="164160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7" name="Line 127"/>
          <p:cNvSpPr/>
          <p:nvPr/>
        </p:nvSpPr>
        <p:spPr>
          <a:xfrm>
            <a:off x="1857240" y="153360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8" name="Line 128"/>
          <p:cNvSpPr/>
          <p:nvPr/>
        </p:nvSpPr>
        <p:spPr>
          <a:xfrm>
            <a:off x="1857240" y="1424160"/>
            <a:ext cx="1116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19" name="Line 129"/>
          <p:cNvSpPr/>
          <p:nvPr/>
        </p:nvSpPr>
        <p:spPr>
          <a:xfrm>
            <a:off x="1857240" y="131436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20" name="Line 130"/>
          <p:cNvSpPr/>
          <p:nvPr/>
        </p:nvSpPr>
        <p:spPr>
          <a:xfrm>
            <a:off x="1857240" y="120636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21" name="Line 131"/>
          <p:cNvSpPr/>
          <p:nvPr/>
        </p:nvSpPr>
        <p:spPr>
          <a:xfrm>
            <a:off x="1857240" y="1096920"/>
            <a:ext cx="11160" cy="1800"/>
          </a:xfrm>
          <a:prstGeom prst="line">
            <a:avLst/>
          </a:prstGeom>
          <a:ln w="9360">
            <a:solidFill>
              <a:srgbClr val="000000"/>
            </a:solidFill>
            <a:miter/>
          </a:ln>
        </p:spPr>
        <p:style>
          <a:lnRef idx="0"/>
          <a:fillRef idx="0"/>
          <a:effectRef idx="0"/>
          <a:fontRef idx="minor"/>
        </p:style>
        <p:txBody>
          <a:bodyPr lIns="90000" rIns="90000" tIns="-45000" bIns="-45000" anchor="t">
            <a:noAutofit/>
          </a:bodyPr>
          <a:p>
            <a:endParaRPr b="0" lang="en-US" sz="2400" strike="noStrike" u="none">
              <a:solidFill>
                <a:srgbClr val="ffff00"/>
              </a:solidFill>
              <a:effectLst/>
              <a:uFillTx/>
              <a:latin typeface="Times New Roman"/>
            </a:endParaRPr>
          </a:p>
        </p:txBody>
      </p:sp>
      <p:sp>
        <p:nvSpPr>
          <p:cNvPr id="2522" name="Rectangle 132"/>
          <p:cNvSpPr/>
          <p:nvPr/>
        </p:nvSpPr>
        <p:spPr>
          <a:xfrm>
            <a:off x="1650960" y="503712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30</a:t>
            </a:r>
            <a:endParaRPr b="0" lang="en-US" sz="1300" strike="noStrike" u="none">
              <a:solidFill>
                <a:srgbClr val="ffff00"/>
              </a:solidFill>
              <a:effectLst/>
              <a:uFillTx/>
              <a:latin typeface="Times New Roman"/>
            </a:endParaRPr>
          </a:p>
        </p:txBody>
      </p:sp>
      <p:sp>
        <p:nvSpPr>
          <p:cNvPr id="2523" name="Rectangle 133"/>
          <p:cNvSpPr/>
          <p:nvPr/>
        </p:nvSpPr>
        <p:spPr>
          <a:xfrm>
            <a:off x="1650960" y="449280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35</a:t>
            </a:r>
            <a:endParaRPr b="0" lang="en-US" sz="1300" strike="noStrike" u="none">
              <a:solidFill>
                <a:srgbClr val="ffff00"/>
              </a:solidFill>
              <a:effectLst/>
              <a:uFillTx/>
              <a:latin typeface="Times New Roman"/>
            </a:endParaRPr>
          </a:p>
        </p:txBody>
      </p:sp>
      <p:sp>
        <p:nvSpPr>
          <p:cNvPr id="2524" name="Rectangle 134"/>
          <p:cNvSpPr/>
          <p:nvPr/>
        </p:nvSpPr>
        <p:spPr>
          <a:xfrm>
            <a:off x="1650960" y="394812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40</a:t>
            </a:r>
            <a:endParaRPr b="0" lang="en-US" sz="1300" strike="noStrike" u="none">
              <a:solidFill>
                <a:srgbClr val="ffff00"/>
              </a:solidFill>
              <a:effectLst/>
              <a:uFillTx/>
              <a:latin typeface="Times New Roman"/>
            </a:endParaRPr>
          </a:p>
        </p:txBody>
      </p:sp>
      <p:sp>
        <p:nvSpPr>
          <p:cNvPr id="2525" name="Rectangle 135"/>
          <p:cNvSpPr/>
          <p:nvPr/>
        </p:nvSpPr>
        <p:spPr>
          <a:xfrm>
            <a:off x="1650960" y="340344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45</a:t>
            </a:r>
            <a:endParaRPr b="0" lang="en-US" sz="1300" strike="noStrike" u="none">
              <a:solidFill>
                <a:srgbClr val="ffff00"/>
              </a:solidFill>
              <a:effectLst/>
              <a:uFillTx/>
              <a:latin typeface="Times New Roman"/>
            </a:endParaRPr>
          </a:p>
        </p:txBody>
      </p:sp>
      <p:sp>
        <p:nvSpPr>
          <p:cNvPr id="2526" name="Rectangle 136"/>
          <p:cNvSpPr/>
          <p:nvPr/>
        </p:nvSpPr>
        <p:spPr>
          <a:xfrm>
            <a:off x="1650960" y="28576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50</a:t>
            </a:r>
            <a:endParaRPr b="0" lang="en-US" sz="1300" strike="noStrike" u="none">
              <a:solidFill>
                <a:srgbClr val="ffff00"/>
              </a:solidFill>
              <a:effectLst/>
              <a:uFillTx/>
              <a:latin typeface="Times New Roman"/>
            </a:endParaRPr>
          </a:p>
        </p:txBody>
      </p:sp>
      <p:sp>
        <p:nvSpPr>
          <p:cNvPr id="2527" name="Rectangle 137"/>
          <p:cNvSpPr/>
          <p:nvPr/>
        </p:nvSpPr>
        <p:spPr>
          <a:xfrm>
            <a:off x="1650960" y="231300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55</a:t>
            </a:r>
            <a:endParaRPr b="0" lang="en-US" sz="1300" strike="noStrike" u="none">
              <a:solidFill>
                <a:srgbClr val="ffff00"/>
              </a:solidFill>
              <a:effectLst/>
              <a:uFillTx/>
              <a:latin typeface="Times New Roman"/>
            </a:endParaRPr>
          </a:p>
        </p:txBody>
      </p:sp>
      <p:sp>
        <p:nvSpPr>
          <p:cNvPr id="2528" name="Rectangle 138"/>
          <p:cNvSpPr/>
          <p:nvPr/>
        </p:nvSpPr>
        <p:spPr>
          <a:xfrm>
            <a:off x="1650960" y="176832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60</a:t>
            </a:r>
            <a:endParaRPr b="0" lang="en-US" sz="1300" strike="noStrike" u="none">
              <a:solidFill>
                <a:srgbClr val="ffff00"/>
              </a:solidFill>
              <a:effectLst/>
              <a:uFillTx/>
              <a:latin typeface="Times New Roman"/>
            </a:endParaRPr>
          </a:p>
        </p:txBody>
      </p:sp>
      <p:sp>
        <p:nvSpPr>
          <p:cNvPr id="2529" name="Rectangle 139"/>
          <p:cNvSpPr/>
          <p:nvPr/>
        </p:nvSpPr>
        <p:spPr>
          <a:xfrm>
            <a:off x="1650960" y="122400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65</a:t>
            </a:r>
            <a:endParaRPr b="0" lang="en-US" sz="1300" strike="noStrike" u="none">
              <a:solidFill>
                <a:srgbClr val="ffff00"/>
              </a:solidFill>
              <a:effectLst/>
              <a:uFillTx/>
              <a:latin typeface="Times New Roman"/>
            </a:endParaRPr>
          </a:p>
        </p:txBody>
      </p:sp>
      <p:sp>
        <p:nvSpPr>
          <p:cNvPr id="2530" name="Rectangle 140"/>
          <p:cNvSpPr/>
          <p:nvPr/>
        </p:nvSpPr>
        <p:spPr>
          <a:xfrm>
            <a:off x="1650960" y="67932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70</a:t>
            </a:r>
            <a:endParaRPr b="0" lang="en-US" sz="1300" strike="noStrike" u="none">
              <a:solidFill>
                <a:srgbClr val="ffff00"/>
              </a:solidFill>
              <a:effectLst/>
              <a:uFillTx/>
              <a:latin typeface="Times New Roman"/>
            </a:endParaRPr>
          </a:p>
        </p:txBody>
      </p:sp>
      <p:sp>
        <p:nvSpPr>
          <p:cNvPr id="2531" name="Line 141"/>
          <p:cNvSpPr/>
          <p:nvPr/>
        </p:nvSpPr>
        <p:spPr>
          <a:xfrm>
            <a:off x="1862280" y="5346720"/>
            <a:ext cx="5837040" cy="1440"/>
          </a:xfrm>
          <a:prstGeom prst="line">
            <a:avLst/>
          </a:prstGeom>
          <a:ln w="9360">
            <a:solidFill>
              <a:srgbClr val="000000"/>
            </a:solidFill>
            <a:miter/>
          </a:ln>
        </p:spPr>
        <p:style>
          <a:lnRef idx="0"/>
          <a:fillRef idx="0"/>
          <a:effectRef idx="0"/>
          <a:fontRef idx="minor"/>
        </p:style>
        <p:txBody>
          <a:bodyPr lIns="90000" rIns="90000" tIns="-45360" bIns="-45360" anchor="t">
            <a:noAutofit/>
          </a:bodyPr>
          <a:p>
            <a:endParaRPr b="0" lang="en-US" sz="2400" strike="noStrike" u="none">
              <a:solidFill>
                <a:srgbClr val="ffff00"/>
              </a:solidFill>
              <a:effectLst/>
              <a:uFillTx/>
              <a:latin typeface="Times New Roman"/>
            </a:endParaRPr>
          </a:p>
        </p:txBody>
      </p:sp>
      <p:sp>
        <p:nvSpPr>
          <p:cNvPr id="2532" name="Line 142"/>
          <p:cNvSpPr/>
          <p:nvPr/>
        </p:nvSpPr>
        <p:spPr>
          <a:xfrm flipV="1">
            <a:off x="1857240" y="5319360"/>
            <a:ext cx="180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3" name="Line 143"/>
          <p:cNvSpPr/>
          <p:nvPr/>
        </p:nvSpPr>
        <p:spPr>
          <a:xfrm flipV="1">
            <a:off x="2587680" y="5319360"/>
            <a:ext cx="144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4" name="Line 144"/>
          <p:cNvSpPr/>
          <p:nvPr/>
        </p:nvSpPr>
        <p:spPr>
          <a:xfrm flipV="1">
            <a:off x="3317760" y="5319360"/>
            <a:ext cx="180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5" name="Line 145"/>
          <p:cNvSpPr/>
          <p:nvPr/>
        </p:nvSpPr>
        <p:spPr>
          <a:xfrm flipV="1">
            <a:off x="4049640" y="5319360"/>
            <a:ext cx="180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6" name="Line 146"/>
          <p:cNvSpPr/>
          <p:nvPr/>
        </p:nvSpPr>
        <p:spPr>
          <a:xfrm flipV="1">
            <a:off x="4780080" y="5319360"/>
            <a:ext cx="144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7" name="Line 147"/>
          <p:cNvSpPr/>
          <p:nvPr/>
        </p:nvSpPr>
        <p:spPr>
          <a:xfrm flipV="1">
            <a:off x="5511960" y="5319360"/>
            <a:ext cx="144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8" name="Line 148"/>
          <p:cNvSpPr/>
          <p:nvPr/>
        </p:nvSpPr>
        <p:spPr>
          <a:xfrm flipV="1">
            <a:off x="6242040" y="5319360"/>
            <a:ext cx="144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39" name="Line 149"/>
          <p:cNvSpPr/>
          <p:nvPr/>
        </p:nvSpPr>
        <p:spPr>
          <a:xfrm flipV="1">
            <a:off x="6973920" y="5319360"/>
            <a:ext cx="144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40" name="Line 150"/>
          <p:cNvSpPr/>
          <p:nvPr/>
        </p:nvSpPr>
        <p:spPr>
          <a:xfrm flipV="1">
            <a:off x="7704000" y="5319360"/>
            <a:ext cx="1800" cy="27000"/>
          </a:xfrm>
          <a:prstGeom prst="line">
            <a:avLst/>
          </a:prstGeom>
          <a:ln w="9360">
            <a:solidFill>
              <a:srgbClr val="000000"/>
            </a:solidFill>
            <a:miter/>
          </a:ln>
        </p:spPr>
        <p:style>
          <a:lnRef idx="0"/>
          <a:fillRef idx="0"/>
          <a:effectRef idx="0"/>
          <a:fontRef idx="minor"/>
        </p:style>
        <p:txBody>
          <a:bodyPr lIns="90000" rIns="90000" tIns="-19800" bIns="-19800" anchor="t">
            <a:noAutofit/>
          </a:bodyPr>
          <a:p>
            <a:endParaRPr b="0" lang="en-US" sz="2400" strike="noStrike" u="none">
              <a:solidFill>
                <a:srgbClr val="ffff00"/>
              </a:solidFill>
              <a:effectLst/>
              <a:uFillTx/>
              <a:latin typeface="Times New Roman"/>
            </a:endParaRPr>
          </a:p>
        </p:txBody>
      </p:sp>
      <p:sp>
        <p:nvSpPr>
          <p:cNvPr id="2541" name="Line 151"/>
          <p:cNvSpPr/>
          <p:nvPr/>
        </p:nvSpPr>
        <p:spPr>
          <a:xfrm flipV="1">
            <a:off x="222264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2" name="Line 152"/>
          <p:cNvSpPr/>
          <p:nvPr/>
        </p:nvSpPr>
        <p:spPr>
          <a:xfrm flipV="1">
            <a:off x="258768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3" name="Line 153"/>
          <p:cNvSpPr/>
          <p:nvPr/>
        </p:nvSpPr>
        <p:spPr>
          <a:xfrm flipV="1">
            <a:off x="295272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4" name="Line 154"/>
          <p:cNvSpPr/>
          <p:nvPr/>
        </p:nvSpPr>
        <p:spPr>
          <a:xfrm flipV="1">
            <a:off x="3317760" y="5330880"/>
            <a:ext cx="180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5" name="Line 155"/>
          <p:cNvSpPr/>
          <p:nvPr/>
        </p:nvSpPr>
        <p:spPr>
          <a:xfrm flipV="1">
            <a:off x="368460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6" name="Line 156"/>
          <p:cNvSpPr/>
          <p:nvPr/>
        </p:nvSpPr>
        <p:spPr>
          <a:xfrm flipV="1">
            <a:off x="4049640" y="5330880"/>
            <a:ext cx="180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7" name="Line 157"/>
          <p:cNvSpPr/>
          <p:nvPr/>
        </p:nvSpPr>
        <p:spPr>
          <a:xfrm flipV="1">
            <a:off x="4414680" y="5330880"/>
            <a:ext cx="180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8" name="Line 158"/>
          <p:cNvSpPr/>
          <p:nvPr/>
        </p:nvSpPr>
        <p:spPr>
          <a:xfrm flipV="1">
            <a:off x="478008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49" name="Line 159"/>
          <p:cNvSpPr/>
          <p:nvPr/>
        </p:nvSpPr>
        <p:spPr>
          <a:xfrm flipV="1">
            <a:off x="514512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0" name="Line 160"/>
          <p:cNvSpPr/>
          <p:nvPr/>
        </p:nvSpPr>
        <p:spPr>
          <a:xfrm flipV="1">
            <a:off x="551196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1" name="Line 161"/>
          <p:cNvSpPr/>
          <p:nvPr/>
        </p:nvSpPr>
        <p:spPr>
          <a:xfrm flipV="1">
            <a:off x="587700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2" name="Line 162"/>
          <p:cNvSpPr/>
          <p:nvPr/>
        </p:nvSpPr>
        <p:spPr>
          <a:xfrm flipV="1">
            <a:off x="624204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3" name="Line 163"/>
          <p:cNvSpPr/>
          <p:nvPr/>
        </p:nvSpPr>
        <p:spPr>
          <a:xfrm flipV="1">
            <a:off x="6607080" y="5330880"/>
            <a:ext cx="180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4" name="Line 164"/>
          <p:cNvSpPr/>
          <p:nvPr/>
        </p:nvSpPr>
        <p:spPr>
          <a:xfrm flipV="1">
            <a:off x="6973920" y="5330880"/>
            <a:ext cx="144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5" name="Line 165"/>
          <p:cNvSpPr/>
          <p:nvPr/>
        </p:nvSpPr>
        <p:spPr>
          <a:xfrm flipV="1">
            <a:off x="7338960" y="5330880"/>
            <a:ext cx="1800" cy="15840"/>
          </a:xfrm>
          <a:prstGeom prst="line">
            <a:avLst/>
          </a:prstGeom>
          <a:ln w="9360">
            <a:solidFill>
              <a:srgbClr val="000000"/>
            </a:solidFill>
            <a:miter/>
          </a:ln>
        </p:spPr>
        <p:style>
          <a:lnRef idx="0"/>
          <a:fillRef idx="0"/>
          <a:effectRef idx="0"/>
          <a:fontRef idx="minor"/>
        </p:style>
        <p:txBody>
          <a:bodyPr lIns="90000" rIns="90000" tIns="-30960" bIns="-30960" anchor="t">
            <a:noAutofit/>
          </a:bodyPr>
          <a:p>
            <a:endParaRPr b="0" lang="en-US" sz="2400" strike="noStrike" u="none">
              <a:solidFill>
                <a:srgbClr val="ffff00"/>
              </a:solidFill>
              <a:effectLst/>
              <a:uFillTx/>
              <a:latin typeface="Times New Roman"/>
            </a:endParaRPr>
          </a:p>
        </p:txBody>
      </p:sp>
      <p:sp>
        <p:nvSpPr>
          <p:cNvPr id="2556" name="Rectangle 166"/>
          <p:cNvSpPr/>
          <p:nvPr/>
        </p:nvSpPr>
        <p:spPr>
          <a:xfrm>
            <a:off x="1842120" y="5208480"/>
            <a:ext cx="921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4</a:t>
            </a:r>
            <a:endParaRPr b="0" lang="en-US" sz="1300" strike="noStrike" u="none">
              <a:solidFill>
                <a:srgbClr val="ffff00"/>
              </a:solidFill>
              <a:effectLst/>
              <a:uFillTx/>
              <a:latin typeface="Times New Roman"/>
            </a:endParaRPr>
          </a:p>
        </p:txBody>
      </p:sp>
      <p:sp>
        <p:nvSpPr>
          <p:cNvPr id="2557" name="Rectangle 167"/>
          <p:cNvSpPr/>
          <p:nvPr/>
        </p:nvSpPr>
        <p:spPr>
          <a:xfrm>
            <a:off x="2574000" y="5208480"/>
            <a:ext cx="921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6</a:t>
            </a:r>
            <a:endParaRPr b="0" lang="en-US" sz="1300" strike="noStrike" u="none">
              <a:solidFill>
                <a:srgbClr val="ffff00"/>
              </a:solidFill>
              <a:effectLst/>
              <a:uFillTx/>
              <a:latin typeface="Times New Roman"/>
            </a:endParaRPr>
          </a:p>
        </p:txBody>
      </p:sp>
      <p:sp>
        <p:nvSpPr>
          <p:cNvPr id="2558" name="Rectangle 168"/>
          <p:cNvSpPr/>
          <p:nvPr/>
        </p:nvSpPr>
        <p:spPr>
          <a:xfrm>
            <a:off x="3304080" y="5208480"/>
            <a:ext cx="921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8</a:t>
            </a:r>
            <a:endParaRPr b="0" lang="en-US" sz="1300" strike="noStrike" u="none">
              <a:solidFill>
                <a:srgbClr val="ffff00"/>
              </a:solidFill>
              <a:effectLst/>
              <a:uFillTx/>
              <a:latin typeface="Times New Roman"/>
            </a:endParaRPr>
          </a:p>
        </p:txBody>
      </p:sp>
      <p:sp>
        <p:nvSpPr>
          <p:cNvPr id="2559" name="Rectangle 169"/>
          <p:cNvSpPr/>
          <p:nvPr/>
        </p:nvSpPr>
        <p:spPr>
          <a:xfrm>
            <a:off x="3989520" y="52084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10</a:t>
            </a:r>
            <a:endParaRPr b="0" lang="en-US" sz="1300" strike="noStrike" u="none">
              <a:solidFill>
                <a:srgbClr val="ffff00"/>
              </a:solidFill>
              <a:effectLst/>
              <a:uFillTx/>
              <a:latin typeface="Times New Roman"/>
            </a:endParaRPr>
          </a:p>
        </p:txBody>
      </p:sp>
      <p:sp>
        <p:nvSpPr>
          <p:cNvPr id="2560" name="Rectangle 170"/>
          <p:cNvSpPr/>
          <p:nvPr/>
        </p:nvSpPr>
        <p:spPr>
          <a:xfrm>
            <a:off x="4721400" y="52084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12</a:t>
            </a:r>
            <a:endParaRPr b="0" lang="en-US" sz="1300" strike="noStrike" u="none">
              <a:solidFill>
                <a:srgbClr val="ffff00"/>
              </a:solidFill>
              <a:effectLst/>
              <a:uFillTx/>
              <a:latin typeface="Times New Roman"/>
            </a:endParaRPr>
          </a:p>
        </p:txBody>
      </p:sp>
      <p:sp>
        <p:nvSpPr>
          <p:cNvPr id="2561" name="Rectangle 171"/>
          <p:cNvSpPr/>
          <p:nvPr/>
        </p:nvSpPr>
        <p:spPr>
          <a:xfrm>
            <a:off x="5451480" y="52084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14</a:t>
            </a:r>
            <a:endParaRPr b="0" lang="en-US" sz="1300" strike="noStrike" u="none">
              <a:solidFill>
                <a:srgbClr val="ffff00"/>
              </a:solidFill>
              <a:effectLst/>
              <a:uFillTx/>
              <a:latin typeface="Times New Roman"/>
            </a:endParaRPr>
          </a:p>
        </p:txBody>
      </p:sp>
      <p:sp>
        <p:nvSpPr>
          <p:cNvPr id="2562" name="Rectangle 172"/>
          <p:cNvSpPr/>
          <p:nvPr/>
        </p:nvSpPr>
        <p:spPr>
          <a:xfrm>
            <a:off x="6183360" y="52084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16</a:t>
            </a:r>
            <a:endParaRPr b="0" lang="en-US" sz="1300" strike="noStrike" u="none">
              <a:solidFill>
                <a:srgbClr val="ffff00"/>
              </a:solidFill>
              <a:effectLst/>
              <a:uFillTx/>
              <a:latin typeface="Times New Roman"/>
            </a:endParaRPr>
          </a:p>
        </p:txBody>
      </p:sp>
      <p:sp>
        <p:nvSpPr>
          <p:cNvPr id="2563" name="Rectangle 173"/>
          <p:cNvSpPr/>
          <p:nvPr/>
        </p:nvSpPr>
        <p:spPr>
          <a:xfrm>
            <a:off x="6913440" y="52084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18</a:t>
            </a:r>
            <a:endParaRPr b="0" lang="en-US" sz="1300" strike="noStrike" u="none">
              <a:solidFill>
                <a:srgbClr val="ffff00"/>
              </a:solidFill>
              <a:effectLst/>
              <a:uFillTx/>
              <a:latin typeface="Times New Roman"/>
            </a:endParaRPr>
          </a:p>
        </p:txBody>
      </p:sp>
      <p:sp>
        <p:nvSpPr>
          <p:cNvPr id="2564" name="Rectangle 174"/>
          <p:cNvSpPr/>
          <p:nvPr/>
        </p:nvSpPr>
        <p:spPr>
          <a:xfrm>
            <a:off x="7645320" y="5208480"/>
            <a:ext cx="18396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20</a:t>
            </a:r>
            <a:endParaRPr b="0" lang="en-US" sz="1300" strike="noStrike" u="none">
              <a:solidFill>
                <a:srgbClr val="ffff00"/>
              </a:solidFill>
              <a:effectLst/>
              <a:uFillTx/>
              <a:latin typeface="Times New Roman"/>
            </a:endParaRPr>
          </a:p>
        </p:txBody>
      </p:sp>
      <p:sp>
        <p:nvSpPr>
          <p:cNvPr id="2565" name="Rectangle 175"/>
          <p:cNvSpPr/>
          <p:nvPr/>
        </p:nvSpPr>
        <p:spPr>
          <a:xfrm>
            <a:off x="1996920" y="4913280"/>
            <a:ext cx="2624400" cy="26352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66" name="Rectangle 176"/>
          <p:cNvSpPr/>
          <p:nvPr/>
        </p:nvSpPr>
        <p:spPr>
          <a:xfrm>
            <a:off x="2059920" y="4737240"/>
            <a:ext cx="2992320" cy="1987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300" strike="noStrike" u="none">
                <a:solidFill>
                  <a:srgbClr val="000000"/>
                </a:solidFill>
                <a:effectLst/>
                <a:uFillTx/>
                <a:latin typeface="Arial"/>
              </a:rPr>
              <a:t>Falgairette, Rev. STAPS 10: 43-58, 1989</a:t>
            </a:r>
            <a:endParaRPr b="0" lang="en-US" sz="1300" strike="noStrike" u="none">
              <a:solidFill>
                <a:srgbClr val="ffff00"/>
              </a:solidFill>
              <a:effectLst/>
              <a:uFillTx/>
              <a:latin typeface="Times New Roman"/>
            </a:endParaRPr>
          </a:p>
        </p:txBody>
      </p:sp>
      <p:sp>
        <p:nvSpPr>
          <p:cNvPr id="2567" name="Rectangle 177"/>
          <p:cNvSpPr/>
          <p:nvPr/>
        </p:nvSpPr>
        <p:spPr>
          <a:xfrm>
            <a:off x="5769000" y="2359080"/>
            <a:ext cx="1206360" cy="34128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68" name="Rectangle 178"/>
          <p:cNvSpPr/>
          <p:nvPr/>
        </p:nvSpPr>
        <p:spPr>
          <a:xfrm>
            <a:off x="6172920" y="2133720"/>
            <a:ext cx="1392120" cy="2898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900" strike="noStrike" u="none">
                <a:solidFill>
                  <a:srgbClr val="000000"/>
                </a:solidFill>
                <a:effectLst/>
                <a:uFillTx/>
                <a:latin typeface="Arial"/>
              </a:rPr>
              <a:t>ENTRAINES</a:t>
            </a:r>
            <a:endParaRPr b="0" lang="en-US" sz="1900" strike="noStrike" u="none">
              <a:solidFill>
                <a:srgbClr val="ffff00"/>
              </a:solidFill>
              <a:effectLst/>
              <a:uFillTx/>
              <a:latin typeface="Times New Roman"/>
            </a:endParaRPr>
          </a:p>
        </p:txBody>
      </p:sp>
      <p:sp>
        <p:nvSpPr>
          <p:cNvPr id="2569" name="Rectangle 179"/>
          <p:cNvSpPr/>
          <p:nvPr/>
        </p:nvSpPr>
        <p:spPr>
          <a:xfrm>
            <a:off x="5472000" y="3525840"/>
            <a:ext cx="1463760" cy="34128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70" name="Rectangle 180"/>
          <p:cNvSpPr/>
          <p:nvPr/>
        </p:nvSpPr>
        <p:spPr>
          <a:xfrm>
            <a:off x="5639400" y="3733920"/>
            <a:ext cx="1713240" cy="2898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900" strike="noStrike" u="none">
                <a:solidFill>
                  <a:srgbClr val="000000"/>
                </a:solidFill>
                <a:effectLst/>
                <a:uFillTx/>
                <a:latin typeface="Arial"/>
              </a:rPr>
              <a:t>SEDENTAIRES</a:t>
            </a:r>
            <a:endParaRPr b="0" lang="en-US" sz="1900" strike="noStrike" u="none">
              <a:solidFill>
                <a:srgbClr val="ffff00"/>
              </a:solidFill>
              <a:effectLst/>
              <a:uFillTx/>
              <a:latin typeface="Times New Roman"/>
            </a:endParaRPr>
          </a:p>
        </p:txBody>
      </p:sp>
      <p:sp>
        <p:nvSpPr>
          <p:cNvPr id="2571" name="Rectangle 181"/>
          <p:cNvSpPr/>
          <p:nvPr/>
        </p:nvSpPr>
        <p:spPr>
          <a:xfrm>
            <a:off x="7035840" y="1579680"/>
            <a:ext cx="573120" cy="30636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72" name="Rectangle 182"/>
          <p:cNvSpPr/>
          <p:nvPr/>
        </p:nvSpPr>
        <p:spPr>
          <a:xfrm>
            <a:off x="6477120" y="1371600"/>
            <a:ext cx="103680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GARÇONS</a:t>
            </a:r>
            <a:endParaRPr b="0" lang="en-US" sz="1600" strike="noStrike" u="none">
              <a:solidFill>
                <a:srgbClr val="ffff00"/>
              </a:solidFill>
              <a:effectLst/>
              <a:uFillTx/>
              <a:latin typeface="Times New Roman"/>
            </a:endParaRPr>
          </a:p>
        </p:txBody>
      </p:sp>
      <p:sp>
        <p:nvSpPr>
          <p:cNvPr id="2573" name="Rectangle 183"/>
          <p:cNvSpPr/>
          <p:nvPr/>
        </p:nvSpPr>
        <p:spPr>
          <a:xfrm>
            <a:off x="7066080" y="2987640"/>
            <a:ext cx="573120" cy="30492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74" name="Rectangle 184"/>
          <p:cNvSpPr/>
          <p:nvPr/>
        </p:nvSpPr>
        <p:spPr>
          <a:xfrm>
            <a:off x="6248520" y="3124080"/>
            <a:ext cx="1295280" cy="304920"/>
          </a:xfrm>
          <a:prstGeom prst="rect">
            <a:avLst/>
          </a:prstGeom>
          <a:solidFill>
            <a:srgbClr val="ffffff"/>
          </a:solid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GARÇONS</a:t>
            </a:r>
            <a:endParaRPr b="0" lang="en-US" sz="1600" strike="noStrike" u="none">
              <a:solidFill>
                <a:srgbClr val="ffff00"/>
              </a:solidFill>
              <a:effectLst/>
              <a:uFillTx/>
              <a:latin typeface="Times New Roman"/>
            </a:endParaRPr>
          </a:p>
        </p:txBody>
      </p:sp>
      <p:sp>
        <p:nvSpPr>
          <p:cNvPr id="2575" name="Rectangle 185"/>
          <p:cNvSpPr/>
          <p:nvPr/>
        </p:nvSpPr>
        <p:spPr>
          <a:xfrm>
            <a:off x="6400800" y="2819520"/>
            <a:ext cx="69876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FILLES</a:t>
            </a:r>
            <a:endParaRPr b="0" lang="en-US" sz="1600" strike="noStrike" u="none">
              <a:solidFill>
                <a:srgbClr val="ffff00"/>
              </a:solidFill>
              <a:effectLst/>
              <a:uFillTx/>
              <a:latin typeface="Times New Roman"/>
            </a:endParaRPr>
          </a:p>
        </p:txBody>
      </p:sp>
      <p:sp>
        <p:nvSpPr>
          <p:cNvPr id="2576" name="Rectangle 186"/>
          <p:cNvSpPr/>
          <p:nvPr/>
        </p:nvSpPr>
        <p:spPr>
          <a:xfrm>
            <a:off x="7021440" y="4803840"/>
            <a:ext cx="673200" cy="30456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77" name="Rectangle 187"/>
          <p:cNvSpPr/>
          <p:nvPr/>
        </p:nvSpPr>
        <p:spPr>
          <a:xfrm>
            <a:off x="6400800" y="4495680"/>
            <a:ext cx="698760" cy="244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Arial"/>
              </a:rPr>
              <a:t>FILLES</a:t>
            </a:r>
            <a:endParaRPr b="0" lang="en-US" sz="1600" strike="noStrike" u="none">
              <a:solidFill>
                <a:srgbClr val="ffff00"/>
              </a:solidFill>
              <a:effectLst/>
              <a:uFillTx/>
              <a:latin typeface="Times New Roman"/>
            </a:endParaRPr>
          </a:p>
        </p:txBody>
      </p:sp>
      <p:sp>
        <p:nvSpPr>
          <p:cNvPr id="2578" name="Rectangle 188"/>
          <p:cNvSpPr/>
          <p:nvPr/>
        </p:nvSpPr>
        <p:spPr>
          <a:xfrm>
            <a:off x="2325600" y="1284120"/>
            <a:ext cx="1501920" cy="38916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579" name="Rectangle 189"/>
          <p:cNvSpPr/>
          <p:nvPr/>
        </p:nvSpPr>
        <p:spPr>
          <a:xfrm>
            <a:off x="2246040" y="985680"/>
            <a:ext cx="1767240" cy="3355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200" strike="noStrike" u="none">
                <a:solidFill>
                  <a:srgbClr val="000000"/>
                </a:solidFill>
                <a:effectLst/>
                <a:uFillTx/>
                <a:latin typeface="Arial"/>
              </a:rPr>
              <a:t>ERGOCYCLE</a:t>
            </a:r>
            <a:endParaRPr b="0" lang="en-US" sz="2200" strike="noStrike" u="none">
              <a:solidFill>
                <a:srgbClr val="ffff00"/>
              </a:solidFill>
              <a:effectLst/>
              <a:uFillTx/>
              <a:latin typeface="Times New Roman"/>
            </a:endParaRPr>
          </a:p>
        </p:txBody>
      </p:sp>
      <p:sp>
        <p:nvSpPr>
          <p:cNvPr id="2580" name="Text Box 190"/>
          <p:cNvSpPr/>
          <p:nvPr/>
        </p:nvSpPr>
        <p:spPr>
          <a:xfrm rot="16164600">
            <a:off x="-333720" y="2728800"/>
            <a:ext cx="3311280" cy="510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Arial"/>
              </a:rPr>
              <a:t>VO</a:t>
            </a:r>
            <a:r>
              <a:rPr b="1" lang="fr-FR" sz="2400" strike="noStrike" u="none" baseline="-25000">
                <a:solidFill>
                  <a:srgbClr val="000000"/>
                </a:solidFill>
                <a:effectLst/>
                <a:uFillTx/>
                <a:latin typeface="Arial"/>
              </a:rPr>
              <a:t>2</a:t>
            </a:r>
            <a:r>
              <a:rPr b="1" lang="fr-FR" sz="2400" strike="noStrike" u="none">
                <a:solidFill>
                  <a:srgbClr val="000000"/>
                </a:solidFill>
                <a:effectLst/>
                <a:uFillTx/>
                <a:latin typeface="Arial"/>
              </a:rPr>
              <a:t>max (ml.min</a:t>
            </a:r>
            <a:r>
              <a:rPr b="1" lang="fr-FR" sz="2400" strike="noStrike" u="none" baseline="30000">
                <a:solidFill>
                  <a:srgbClr val="000000"/>
                </a:solidFill>
                <a:effectLst/>
                <a:uFillTx/>
                <a:latin typeface="Arial"/>
              </a:rPr>
              <a:t>-1</a:t>
            </a:r>
            <a:r>
              <a:rPr b="1" lang="fr-FR" sz="2400" strike="noStrike" u="none">
                <a:solidFill>
                  <a:srgbClr val="000000"/>
                </a:solidFill>
                <a:effectLst/>
                <a:uFillTx/>
                <a:latin typeface="Arial"/>
              </a:rPr>
              <a:t>.kg</a:t>
            </a:r>
            <a:r>
              <a:rPr b="1" lang="fr-FR" sz="2400" strike="noStrike" u="none" baseline="30000">
                <a:solidFill>
                  <a:srgbClr val="000000"/>
                </a:solidFill>
                <a:effectLst/>
                <a:uFillTx/>
                <a:latin typeface="Arial"/>
              </a:rPr>
              <a:t>-1)</a:t>
            </a:r>
            <a:endParaRPr b="0" lang="en-US" sz="2400" strike="noStrike" u="none">
              <a:solidFill>
                <a:srgbClr val="ffff00"/>
              </a:solidFill>
              <a:effectLst/>
              <a:uFillTx/>
              <a:latin typeface="Times New Roman"/>
            </a:endParaRPr>
          </a:p>
        </p:txBody>
      </p:sp>
    </p:spTree>
  </p:cSld>
  <p:transition spd="med">
    <p:zoom dir="out"/>
  </p:transition>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1" name="PlaceHolder 1"/>
          <p:cNvSpPr>
            <a:spLocks noGrp="1"/>
          </p:cNvSpPr>
          <p:nvPr>
            <p:ph/>
          </p:nvPr>
        </p:nvSpPr>
        <p:spPr>
          <a:xfrm>
            <a:off x="-360" y="1066320"/>
            <a:ext cx="8915400" cy="4876920"/>
          </a:xfrm>
          <a:prstGeom prst="rect">
            <a:avLst/>
          </a:prstGeom>
          <a:noFill/>
          <a:ln w="0">
            <a:noFill/>
          </a:ln>
        </p:spPr>
        <p:txBody>
          <a:bodyPr lIns="91440" rIns="91440" tIns="45720" bIns="45720" anchor="t">
            <a:normAutofit/>
          </a:bodyPr>
          <a:p>
            <a:pPr marL="343080" indent="-343080">
              <a:lnSpc>
                <a:spcPct val="13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a:t>
            </a:r>
            <a:r>
              <a:rPr b="1" lang="fr-FR" sz="2400" strike="noStrike" u="none">
                <a:solidFill>
                  <a:srgbClr val="ffff00"/>
                </a:solidFill>
                <a:effectLst/>
                <a:uFillTx/>
                <a:latin typeface="Arial"/>
              </a:rPr>
              <a:t>Valeurs types de VO</a:t>
            </a:r>
            <a:r>
              <a:rPr b="1" lang="fr-FR" sz="2400" strike="noStrike" u="none" baseline="-25000">
                <a:solidFill>
                  <a:srgbClr val="ffff00"/>
                </a:solidFill>
                <a:effectLst/>
                <a:uFillTx/>
                <a:latin typeface="Arial"/>
              </a:rPr>
              <a:t>2</a:t>
            </a:r>
            <a:r>
              <a:rPr b="1" lang="fr-FR" sz="2400" strike="noStrike" u="none">
                <a:solidFill>
                  <a:srgbClr val="ffff00"/>
                </a:solidFill>
                <a:effectLst/>
                <a:uFillTx/>
                <a:latin typeface="Arial"/>
              </a:rPr>
              <a:t>max au cours de la croissance pour enfants “ sédentaires ” et entraînés en endurance.  Les valeurs supérieures des enfants entraînés supportent l’idée que l’enfant est sensible à l’entraînement bien qu’un processus de sélection naturelle ne soit pas exclu, les enfants génétiquement avantagés étant ceux qui auraient spontanément choisi de s’adonner à des activités d’endurance.  Adapté de Falgairette (1989).</a:t>
            </a:r>
            <a:endParaRPr b="0" lang="en-US" sz="2400" strike="noStrike" u="none">
              <a:solidFill>
                <a:srgbClr val="ffff00"/>
              </a:solidFill>
              <a:effectLst/>
              <a:uFillTx/>
              <a:latin typeface="Times New Roman"/>
            </a:endParaRPr>
          </a:p>
        </p:txBody>
      </p:sp>
    </p:spTree>
  </p:cSld>
  <p:transition spd="med">
    <p:zoom dir="out"/>
  </p:transition>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2" name="Text Box 2"/>
          <p:cNvSpPr/>
          <p:nvPr/>
        </p:nvSpPr>
        <p:spPr>
          <a:xfrm>
            <a:off x="0" y="2362320"/>
            <a:ext cx="9144000" cy="2379960"/>
          </a:xfrm>
          <a:prstGeom prst="rect">
            <a:avLst/>
          </a:prstGeom>
          <a:noFill/>
          <a:ln w="0">
            <a:noFill/>
          </a:ln>
        </p:spPr>
        <p:style>
          <a:lnRef idx="0"/>
          <a:fillRef idx="0"/>
          <a:effectRef idx="0"/>
          <a:fontRef idx="minor"/>
        </p:style>
        <p:txBody>
          <a:bodyPr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Exemple d’exercices intermittents courts:</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10 à 15 s de course à 110 -120 %  de la vitesse aérobie maximale, 30, 20, 15 s de récupération passive x 30 à 40 fois).Ce type d ’exercice est excellent pour développer la puissance aérobie maximale à des intensités élevées sans produire beaucoup de lactate.</a:t>
            </a:r>
            <a:endParaRPr b="0" lang="en-US" sz="2000" strike="noStrike" u="none">
              <a:solidFill>
                <a:srgbClr val="ffff00"/>
              </a:solidFill>
              <a:effectLst/>
              <a:uFillTx/>
              <a:latin typeface="Times New Roman"/>
            </a:endParaRPr>
          </a:p>
        </p:txBody>
      </p:sp>
      <p:sp>
        <p:nvSpPr>
          <p:cNvPr id="2583" name="Text Box 3"/>
          <p:cNvSpPr/>
          <p:nvPr/>
        </p:nvSpPr>
        <p:spPr>
          <a:xfrm>
            <a:off x="-4680" y="380880"/>
            <a:ext cx="9018360" cy="7038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COMMENT DEVELOPPER LA PUISSANCE AEROBIE MAXIMALE ( P.A.M.)</a:t>
            </a:r>
            <a:endParaRPr b="0" lang="en-US" sz="20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CHEZ L’ENFANT ?</a:t>
            </a:r>
            <a:endParaRPr b="0" lang="en-US" sz="2000" strike="noStrike" u="none">
              <a:solidFill>
                <a:srgbClr val="ffff00"/>
              </a:solidFill>
              <a:effectLst/>
              <a:uFillTx/>
              <a:latin typeface="Times New Roman"/>
            </a:endParaRPr>
          </a:p>
        </p:txBody>
      </p:sp>
      <p:sp>
        <p:nvSpPr>
          <p:cNvPr id="2584" name="Text Box 4"/>
          <p:cNvSpPr/>
          <p:nvPr/>
        </p:nvSpPr>
        <p:spPr>
          <a:xfrm>
            <a:off x="-12600" y="1219320"/>
            <a:ext cx="8356680" cy="1008360"/>
          </a:xfrm>
          <a:prstGeom prst="rect">
            <a:avLst/>
          </a:prstGeom>
          <a:noFill/>
          <a:ln w="0">
            <a:noFill/>
          </a:ln>
        </p:spPr>
        <p:style>
          <a:lnRef idx="0"/>
          <a:fillRef idx="0"/>
          <a:effectRef idx="0"/>
          <a:fontRef idx="minor"/>
        </p:style>
        <p:txBody>
          <a:bodyPr wrap="none" lIns="90000" rIns="90000" tIns="46800" bIns="46800" anchor="t">
            <a:sp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Il a été prouvé expérimentalement que les meilleurs exercices pour </a:t>
            </a:r>
            <a:endParaRPr b="0" lang="en-US" sz="2000" strike="noStrike" u="none">
              <a:solidFill>
                <a:srgbClr val="ffff00"/>
              </a:solidFill>
              <a:effectLst/>
              <a:uFillTx/>
              <a:latin typeface="Times New Roman"/>
            </a:endParaRPr>
          </a:p>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développer la P.A.M. étaient les exercices intermittents courts</a:t>
            </a:r>
            <a:endParaRPr b="0" lang="en-US" sz="2000" strike="noStrike" u="none">
              <a:solidFill>
                <a:srgbClr val="ffff00"/>
              </a:solidFill>
              <a:effectLst/>
              <a:uFillTx/>
              <a:latin typeface="Times New Roman"/>
            </a:endParaRPr>
          </a:p>
        </p:txBody>
      </p:sp>
      <p:sp>
        <p:nvSpPr>
          <p:cNvPr id="2585" name="Text Box 5"/>
          <p:cNvSpPr/>
          <p:nvPr/>
        </p:nvSpPr>
        <p:spPr>
          <a:xfrm>
            <a:off x="-14040" y="4952880"/>
            <a:ext cx="904968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Tous les jeux présentant des caractéristiques similaires sont à privilégier</a:t>
            </a:r>
            <a:endParaRPr b="0" lang="en-US" sz="2000" strike="noStrike" u="none">
              <a:solidFill>
                <a:srgbClr val="ffff00"/>
              </a:solidFill>
              <a:effectLst/>
              <a:uFillTx/>
              <a:latin typeface="Times New Roman"/>
            </a:endParaRPr>
          </a:p>
        </p:txBody>
      </p:sp>
      <p:sp>
        <p:nvSpPr>
          <p:cNvPr id="2586" name="Text Box 6"/>
          <p:cNvSpPr/>
          <p:nvPr/>
        </p:nvSpPr>
        <p:spPr>
          <a:xfrm>
            <a:off x="354600" y="5616720"/>
            <a:ext cx="9050760" cy="1008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Exercice type : 1) exercice intégrés présentant les même caractéristiques</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que ci-dessus </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2) Contextualisés : 4 c 4, 5 c 5, sur tiers et demi terrain de foot</a:t>
            </a:r>
            <a:endParaRPr b="0" lang="en-US" sz="2000" strike="noStrike" u="none">
              <a:solidFill>
                <a:srgbClr val="ffff00"/>
              </a:solidFill>
              <a:effectLst/>
              <a:uFillTx/>
              <a:latin typeface="Times New Roman"/>
            </a:endParaRPr>
          </a:p>
        </p:txBody>
      </p:sp>
    </p:spTree>
  </p:cSld>
  <p:transition spd="med">
    <p:zoom dir="out"/>
  </p:transition>
  <p:timing>
    <p:tnLst>
      <p:par>
        <p:cTn id="2379" dur="indefinite" restart="never" nodeType="tmRoot">
          <p:childTnLst>
            <p:seq>
              <p:cTn id="2380" dur="indefinite" nodeType="mainSeq">
                <p:childTnLst>
                  <p:par>
                    <p:cTn id="2381" nodeType="clickEffect" fill="hold">
                      <p:stCondLst>
                        <p:cond delay="0"/>
                      </p:stCondLst>
                      <p:childTnLst>
                        <p:par>
                          <p:cTn id="2382" nodeType="withEffect" fill="hold">
                            <p:stCondLst>
                              <p:cond delay="0"/>
                            </p:stCondLst>
                            <p:childTnLst>
                              <p:par>
                                <p:cTn id="2383" nodeType="afterEffect" fill="hold" presetClass="entr" presetID="9">
                                  <p:stCondLst>
                                    <p:cond delay="0"/>
                                  </p:stCondLst>
                                  <p:childTnLst>
                                    <p:set>
                                      <p:cBhvr>
                                        <p:cTn id="2384" dur="1" fill="hold">
                                          <p:stCondLst>
                                            <p:cond delay="0"/>
                                          </p:stCondLst>
                                        </p:cTn>
                                        <p:tgtEl>
                                          <p:spTgt spid="2583">
                                            <p:txEl>
                                              <p:pRg st="0" end="0"/>
                                            </p:txEl>
                                          </p:spTgt>
                                        </p:tgtEl>
                                        <p:attrNameLst>
                                          <p:attrName>style.visibility</p:attrName>
                                        </p:attrNameLst>
                                      </p:cBhvr>
                                      <p:to>
                                        <p:strVal val="visible"/>
                                      </p:to>
                                    </p:set>
                                    <p:animEffect filter="dissolve" transition="in">
                                      <p:cBhvr additive="repl">
                                        <p:cTn id="2385" dur="500"/>
                                        <p:tgtEl>
                                          <p:spTgt spid="2583">
                                            <p:txEl>
                                              <p:pRg st="0" end="0"/>
                                            </p:txEl>
                                          </p:spTgt>
                                        </p:tgtEl>
                                      </p:cBhvr>
                                    </p:animEffect>
                                  </p:childTnLst>
                                </p:cTn>
                              </p:par>
                            </p:childTnLst>
                          </p:cTn>
                        </p:par>
                        <p:par>
                          <p:cTn id="2386" nodeType="afterEffect" fill="hold">
                            <p:stCondLst>
                              <p:cond delay="500"/>
                            </p:stCondLst>
                            <p:childTnLst>
                              <p:par>
                                <p:cTn id="2387" nodeType="afterEffect" fill="hold" presetClass="entr" presetID="9">
                                  <p:stCondLst>
                                    <p:cond delay="0"/>
                                  </p:stCondLst>
                                  <p:childTnLst>
                                    <p:set>
                                      <p:cBhvr>
                                        <p:cTn id="2388" dur="1" fill="hold">
                                          <p:stCondLst>
                                            <p:cond delay="0"/>
                                          </p:stCondLst>
                                        </p:cTn>
                                        <p:tgtEl>
                                          <p:spTgt spid="2583">
                                            <p:txEl>
                                              <p:pRg st="1" end="1"/>
                                            </p:txEl>
                                          </p:spTgt>
                                        </p:tgtEl>
                                        <p:attrNameLst>
                                          <p:attrName>style.visibility</p:attrName>
                                        </p:attrNameLst>
                                      </p:cBhvr>
                                      <p:to>
                                        <p:strVal val="visible"/>
                                      </p:to>
                                    </p:set>
                                    <p:animEffect filter="dissolve" transition="in">
                                      <p:cBhvr additive="repl">
                                        <p:cTn id="2389" dur="500"/>
                                        <p:tgtEl>
                                          <p:spTgt spid="2583">
                                            <p:txEl>
                                              <p:pRg st="1" end="1"/>
                                            </p:txEl>
                                          </p:spTgt>
                                        </p:tgtEl>
                                      </p:cBhvr>
                                    </p:animEffect>
                                  </p:childTnLst>
                                </p:cTn>
                              </p:par>
                              <p:animClr clrSpc="rgb">
                                <p:cBhvr>
                                  <p:cTn id="2390" dur="1" fill="hold">
                                    <p:stCondLst>
                                      <p:cond delay="0"/>
                                    </p:stCondLst>
                                  </p:cTn>
                                  <p:tgtEl>
                                    <p:spTgt spid="2583">
                                      <p:txEl>
                                        <p:pRg st="0" end="0"/>
                                      </p:txEl>
                                    </p:spTgt>
                                  </p:tgtEl>
                                  <p:attrNameLst>
                                    <p:attrName>ppt_c</p:attrName>
                                  </p:attrNameLst>
                                </p:cBhvr>
                                <p:to>
                                  <a:srgbClr val="ccccff"/>
                                </p:to>
                              </p:animClr>
                            </p:childTnLst>
                          </p:cTn>
                        </p:par>
                        <p:par>
                          <p:cTn id="2391" nodeType="afterEffect" fill="hold">
                            <p:stCondLst>
                              <p:cond delay="1000"/>
                            </p:stCondLst>
                            <p:childTnLst>
                              <p:par>
                                <p:cTn id="2392" nodeType="afterEffect" fill="hold" presetClass="entr" presetID="9">
                                  <p:stCondLst>
                                    <p:cond delay="1000"/>
                                  </p:stCondLst>
                                  <p:childTnLst>
                                    <p:set>
                                      <p:cBhvr>
                                        <p:cTn id="2393" dur="1" fill="hold">
                                          <p:stCondLst>
                                            <p:cond delay="0"/>
                                          </p:stCondLst>
                                        </p:cTn>
                                        <p:tgtEl>
                                          <p:spTgt spid="2584">
                                            <p:txEl>
                                              <p:pRg st="0" end="0"/>
                                            </p:txEl>
                                          </p:spTgt>
                                        </p:tgtEl>
                                        <p:attrNameLst>
                                          <p:attrName>style.visibility</p:attrName>
                                        </p:attrNameLst>
                                      </p:cBhvr>
                                      <p:to>
                                        <p:strVal val="visible"/>
                                      </p:to>
                                    </p:set>
                                    <p:animEffect filter="dissolve" transition="in">
                                      <p:cBhvr additive="repl">
                                        <p:cTn id="2394" dur="500"/>
                                        <p:tgtEl>
                                          <p:spTgt spid="2584">
                                            <p:txEl>
                                              <p:pRg st="0" end="0"/>
                                            </p:txEl>
                                          </p:spTgt>
                                        </p:tgtEl>
                                      </p:cBhvr>
                                    </p:animEffect>
                                  </p:childTnLst>
                                </p:cTn>
                              </p:par>
                              <p:animClr clrSpc="rgb">
                                <p:cBhvr>
                                  <p:cTn id="2395" dur="1" fill="hold">
                                    <p:stCondLst>
                                      <p:cond delay="1000"/>
                                    </p:stCondLst>
                                  </p:cTn>
                                  <p:tgtEl>
                                    <p:spTgt spid="2583">
                                      <p:txEl>
                                        <p:pRg st="1" end="1"/>
                                      </p:txEl>
                                    </p:spTgt>
                                  </p:tgtEl>
                                  <p:attrNameLst>
                                    <p:attrName>ppt_c</p:attrName>
                                  </p:attrNameLst>
                                </p:cBhvr>
                                <p:to>
                                  <a:srgbClr val="ccccff"/>
                                </p:to>
                              </p:animClr>
                            </p:childTnLst>
                          </p:cTn>
                        </p:par>
                        <p:par>
                          <p:cTn id="2396" nodeType="afterEffect" fill="hold">
                            <p:stCondLst>
                              <p:cond delay="2500"/>
                            </p:stCondLst>
                            <p:childTnLst>
                              <p:par>
                                <p:cTn id="2397" nodeType="afterEffect" fill="hold" presetClass="entr" presetID="9">
                                  <p:stCondLst>
                                    <p:cond delay="1000"/>
                                  </p:stCondLst>
                                  <p:childTnLst>
                                    <p:set>
                                      <p:cBhvr>
                                        <p:cTn id="2398" dur="1" fill="hold">
                                          <p:stCondLst>
                                            <p:cond delay="0"/>
                                          </p:stCondLst>
                                        </p:cTn>
                                        <p:tgtEl>
                                          <p:spTgt spid="2584">
                                            <p:txEl>
                                              <p:pRg st="1" end="1"/>
                                            </p:txEl>
                                          </p:spTgt>
                                        </p:tgtEl>
                                        <p:attrNameLst>
                                          <p:attrName>style.visibility</p:attrName>
                                        </p:attrNameLst>
                                      </p:cBhvr>
                                      <p:to>
                                        <p:strVal val="visible"/>
                                      </p:to>
                                    </p:set>
                                    <p:animEffect filter="dissolve" transition="in">
                                      <p:cBhvr additive="repl">
                                        <p:cTn id="2399" dur="500"/>
                                        <p:tgtEl>
                                          <p:spTgt spid="2584">
                                            <p:txEl>
                                              <p:pRg st="1" end="1"/>
                                            </p:txEl>
                                          </p:spTgt>
                                        </p:tgtEl>
                                      </p:cBhvr>
                                    </p:animEffect>
                                  </p:childTnLst>
                                </p:cTn>
                              </p:par>
                              <p:animClr clrSpc="rgb">
                                <p:cBhvr>
                                  <p:cTn id="2400" dur="1" fill="hold">
                                    <p:stCondLst>
                                      <p:cond delay="1000"/>
                                    </p:stCondLst>
                                  </p:cTn>
                                  <p:tgtEl>
                                    <p:spTgt spid="2584">
                                      <p:txEl>
                                        <p:pRg st="0" end="0"/>
                                      </p:txEl>
                                    </p:spTgt>
                                  </p:tgtEl>
                                  <p:attrNameLst>
                                    <p:attrName>ppt_c</p:attrName>
                                  </p:attrNameLst>
                                </p:cBhvr>
                                <p:to>
                                  <a:srgbClr val="ccccff"/>
                                </p:to>
                              </p:animClr>
                            </p:childTnLst>
                          </p:cTn>
                        </p:par>
                        <p:par>
                          <p:cTn id="2401" nodeType="afterEffect" fill="hold">
                            <p:stCondLst>
                              <p:cond delay="4000"/>
                            </p:stCondLst>
                            <p:childTnLst>
                              <p:par>
                                <p:cTn id="2402" nodeType="afterEffect" fill="hold" presetClass="entr" presetID="9">
                                  <p:stCondLst>
                                    <p:cond delay="2000"/>
                                  </p:stCondLst>
                                  <p:childTnLst>
                                    <p:set>
                                      <p:cBhvr>
                                        <p:cTn id="2403" dur="1" fill="hold">
                                          <p:stCondLst>
                                            <p:cond delay="0"/>
                                          </p:stCondLst>
                                        </p:cTn>
                                        <p:tgtEl>
                                          <p:spTgt spid="2582">
                                            <p:txEl>
                                              <p:pRg st="0" end="0"/>
                                            </p:txEl>
                                          </p:spTgt>
                                        </p:tgtEl>
                                        <p:attrNameLst>
                                          <p:attrName>style.visibility</p:attrName>
                                        </p:attrNameLst>
                                      </p:cBhvr>
                                      <p:to>
                                        <p:strVal val="visible"/>
                                      </p:to>
                                    </p:set>
                                    <p:animEffect filter="dissolve" transition="in">
                                      <p:cBhvr additive="repl">
                                        <p:cTn id="2404" dur="500"/>
                                        <p:tgtEl>
                                          <p:spTgt spid="2582">
                                            <p:txEl>
                                              <p:pRg st="0" end="0"/>
                                            </p:txEl>
                                          </p:spTgt>
                                        </p:tgtEl>
                                      </p:cBhvr>
                                    </p:animEffect>
                                  </p:childTnLst>
                                </p:cTn>
                              </p:par>
                              <p:animClr clrSpc="rgb">
                                <p:cBhvr>
                                  <p:cTn id="2405" dur="1" fill="hold">
                                    <p:stCondLst>
                                      <p:cond delay="2000"/>
                                    </p:stCondLst>
                                  </p:cTn>
                                  <p:tgtEl>
                                    <p:spTgt spid="2584">
                                      <p:txEl>
                                        <p:pRg st="1" end="1"/>
                                      </p:txEl>
                                    </p:spTgt>
                                  </p:tgtEl>
                                  <p:attrNameLst>
                                    <p:attrName>ppt_c</p:attrName>
                                  </p:attrNameLst>
                                </p:cBhvr>
                                <p:to>
                                  <a:srgbClr val="ccccff"/>
                                </p:to>
                              </p:animClr>
                            </p:childTnLst>
                          </p:cTn>
                        </p:par>
                        <p:par>
                          <p:cTn id="2406" nodeType="afterEffect" fill="hold">
                            <p:stCondLst>
                              <p:cond delay="6500"/>
                            </p:stCondLst>
                            <p:childTnLst>
                              <p:par>
                                <p:cTn id="2407" nodeType="afterEffect" fill="hold" presetClass="entr" presetID="9">
                                  <p:stCondLst>
                                    <p:cond delay="2000"/>
                                  </p:stCondLst>
                                  <p:childTnLst>
                                    <p:set>
                                      <p:cBhvr>
                                        <p:cTn id="2408" dur="1" fill="hold">
                                          <p:stCondLst>
                                            <p:cond delay="0"/>
                                          </p:stCondLst>
                                        </p:cTn>
                                        <p:tgtEl>
                                          <p:spTgt spid="2582">
                                            <p:txEl>
                                              <p:pRg st="1" end="1"/>
                                            </p:txEl>
                                          </p:spTgt>
                                        </p:tgtEl>
                                        <p:attrNameLst>
                                          <p:attrName>style.visibility</p:attrName>
                                        </p:attrNameLst>
                                      </p:cBhvr>
                                      <p:to>
                                        <p:strVal val="visible"/>
                                      </p:to>
                                    </p:set>
                                    <p:animEffect filter="dissolve" transition="in">
                                      <p:cBhvr additive="repl">
                                        <p:cTn id="2409" dur="500"/>
                                        <p:tgtEl>
                                          <p:spTgt spid="2582">
                                            <p:txEl>
                                              <p:pRg st="1" end="1"/>
                                            </p:txEl>
                                          </p:spTgt>
                                        </p:tgtEl>
                                      </p:cBhvr>
                                    </p:animEffect>
                                  </p:childTnLst>
                                </p:cTn>
                              </p:par>
                              <p:animClr clrSpc="rgb">
                                <p:cBhvr>
                                  <p:cTn id="2410" dur="1" fill="hold">
                                    <p:stCondLst>
                                      <p:cond delay="2000"/>
                                    </p:stCondLst>
                                  </p:cTn>
                                  <p:tgtEl>
                                    <p:spTgt spid="2582">
                                      <p:txEl>
                                        <p:pRg st="0" end="0"/>
                                      </p:txEl>
                                    </p:spTgt>
                                  </p:tgtEl>
                                  <p:attrNameLst>
                                    <p:attrName>ppt_c</p:attrName>
                                  </p:attrNameLst>
                                </p:cBhvr>
                                <p:to>
                                  <a:srgbClr val="ccccff"/>
                                </p:to>
                              </p:animClr>
                            </p:childTnLst>
                          </p:cTn>
                        </p:par>
                        <p:par>
                          <p:cTn id="2411" nodeType="afterEffect" fill="hold">
                            <p:stCondLst>
                              <p:cond delay="9000"/>
                            </p:stCondLst>
                            <p:childTnLst>
                              <p:par>
                                <p:cTn id="2412" nodeType="afterEffect" fill="hold" presetClass="entr" presetID="9">
                                  <p:stCondLst>
                                    <p:cond delay="15000"/>
                                  </p:stCondLst>
                                  <p:childTnLst>
                                    <p:set>
                                      <p:cBhvr>
                                        <p:cTn id="2413" dur="1" fill="hold">
                                          <p:stCondLst>
                                            <p:cond delay="0"/>
                                          </p:stCondLst>
                                        </p:cTn>
                                        <p:tgtEl>
                                          <p:spTgt spid="2585">
                                            <p:txEl>
                                              <p:pRg st="0" end="0"/>
                                            </p:txEl>
                                          </p:spTgt>
                                        </p:tgtEl>
                                        <p:attrNameLst>
                                          <p:attrName>style.visibility</p:attrName>
                                        </p:attrNameLst>
                                      </p:cBhvr>
                                      <p:to>
                                        <p:strVal val="visible"/>
                                      </p:to>
                                    </p:set>
                                    <p:animEffect filter="dissolve" transition="in">
                                      <p:cBhvr additive="repl">
                                        <p:cTn id="2414" dur="500"/>
                                        <p:tgtEl>
                                          <p:spTgt spid="2585">
                                            <p:txEl>
                                              <p:pRg st="0" end="0"/>
                                            </p:txEl>
                                          </p:spTgt>
                                        </p:tgtEl>
                                      </p:cBhvr>
                                    </p:animEffect>
                                  </p:childTnLst>
                                </p:cTn>
                              </p:par>
                              <p:animClr clrSpc="rgb">
                                <p:cBhvr>
                                  <p:cTn id="2415" dur="1" fill="hold">
                                    <p:stCondLst>
                                      <p:cond delay="15000"/>
                                    </p:stCondLst>
                                  </p:cTn>
                                  <p:tgtEl>
                                    <p:spTgt spid="2582">
                                      <p:txEl>
                                        <p:pRg st="1" end="1"/>
                                      </p:txEl>
                                    </p:spTgt>
                                  </p:tgtEl>
                                  <p:attrNameLst>
                                    <p:attrName>ppt_c</p:attrName>
                                  </p:attrNameLst>
                                </p:cBhvr>
                                <p:to>
                                  <a:srgbClr val="ccccff"/>
                                </p:to>
                              </p:animClr>
                            </p:childTnLst>
                          </p:cTn>
                        </p:par>
                        <p:par>
                          <p:cTn id="2416" nodeType="afterEffect" fill="hold">
                            <p:stCondLst>
                              <p:cond delay="24500"/>
                            </p:stCondLst>
                            <p:childTnLst>
                              <p:par>
                                <p:cTn id="2417" nodeType="afterEffect" fill="hold" presetClass="entr" presetID="9">
                                  <p:stCondLst>
                                    <p:cond delay="1000"/>
                                  </p:stCondLst>
                                  <p:childTnLst>
                                    <p:set>
                                      <p:cBhvr>
                                        <p:cTn id="2418" dur="1" fill="hold">
                                          <p:stCondLst>
                                            <p:cond delay="0"/>
                                          </p:stCondLst>
                                        </p:cTn>
                                        <p:tgtEl>
                                          <p:spTgt spid="2586">
                                            <p:txEl>
                                              <p:pRg st="0" end="0"/>
                                            </p:txEl>
                                          </p:spTgt>
                                        </p:tgtEl>
                                        <p:attrNameLst>
                                          <p:attrName>style.visibility</p:attrName>
                                        </p:attrNameLst>
                                      </p:cBhvr>
                                      <p:to>
                                        <p:strVal val="visible"/>
                                      </p:to>
                                    </p:set>
                                    <p:animEffect filter="dissolve" transition="in">
                                      <p:cBhvr additive="repl">
                                        <p:cTn id="2419" dur="500"/>
                                        <p:tgtEl>
                                          <p:spTgt spid="2586">
                                            <p:txEl>
                                              <p:pRg st="0" end="0"/>
                                            </p:txEl>
                                          </p:spTgt>
                                        </p:tgtEl>
                                      </p:cBhvr>
                                    </p:animEffect>
                                  </p:childTnLst>
                                </p:cTn>
                              </p:par>
                              <p:animClr clrSpc="rgb">
                                <p:cBhvr>
                                  <p:cTn id="2420" dur="1" fill="hold">
                                    <p:stCondLst>
                                      <p:cond delay="1000"/>
                                    </p:stCondLst>
                                  </p:cTn>
                                  <p:tgtEl>
                                    <p:spTgt spid="2585">
                                      <p:txEl>
                                        <p:pRg st="0" end="0"/>
                                      </p:txEl>
                                    </p:spTgt>
                                  </p:tgtEl>
                                  <p:attrNameLst>
                                    <p:attrName>ppt_c</p:attrName>
                                  </p:attrNameLst>
                                </p:cBhvr>
                                <p:to>
                                  <a:srgbClr val="ccccff"/>
                                </p:to>
                              </p:animClr>
                            </p:childTnLst>
                          </p:cTn>
                        </p:par>
                        <p:par>
                          <p:cTn id="2421" nodeType="afterEffect" fill="hold">
                            <p:stCondLst>
                              <p:cond delay="26000"/>
                            </p:stCondLst>
                            <p:childTnLst>
                              <p:par>
                                <p:cTn id="2422" nodeType="afterEffect" fill="hold" presetClass="entr" presetID="9">
                                  <p:stCondLst>
                                    <p:cond delay="1000"/>
                                  </p:stCondLst>
                                  <p:childTnLst>
                                    <p:set>
                                      <p:cBhvr>
                                        <p:cTn id="2423" dur="1" fill="hold">
                                          <p:stCondLst>
                                            <p:cond delay="0"/>
                                          </p:stCondLst>
                                        </p:cTn>
                                        <p:tgtEl>
                                          <p:spTgt spid="2586">
                                            <p:txEl>
                                              <p:pRg st="1" end="1"/>
                                            </p:txEl>
                                          </p:spTgt>
                                        </p:tgtEl>
                                        <p:attrNameLst>
                                          <p:attrName>style.visibility</p:attrName>
                                        </p:attrNameLst>
                                      </p:cBhvr>
                                      <p:to>
                                        <p:strVal val="visible"/>
                                      </p:to>
                                    </p:set>
                                    <p:animEffect filter="dissolve" transition="in">
                                      <p:cBhvr additive="repl">
                                        <p:cTn id="2424" dur="500"/>
                                        <p:tgtEl>
                                          <p:spTgt spid="2586">
                                            <p:txEl>
                                              <p:pRg st="1" end="1"/>
                                            </p:txEl>
                                          </p:spTgt>
                                        </p:tgtEl>
                                      </p:cBhvr>
                                    </p:animEffect>
                                  </p:childTnLst>
                                </p:cTn>
                              </p:par>
                              <p:animClr clrSpc="rgb">
                                <p:cBhvr>
                                  <p:cTn id="2425" dur="1" fill="hold">
                                    <p:stCondLst>
                                      <p:cond delay="1000"/>
                                    </p:stCondLst>
                                  </p:cTn>
                                  <p:tgtEl>
                                    <p:spTgt spid="2586">
                                      <p:txEl>
                                        <p:pRg st="0" end="0"/>
                                      </p:txEl>
                                    </p:spTgt>
                                  </p:tgtEl>
                                  <p:attrNameLst>
                                    <p:attrName>ppt_c</p:attrName>
                                  </p:attrNameLst>
                                </p:cBhvr>
                                <p:to>
                                  <a:srgbClr val="ccccff"/>
                                </p:to>
                              </p:animClr>
                            </p:childTnLst>
                          </p:cTn>
                        </p:par>
                        <p:par>
                          <p:cTn id="2426" nodeType="afterEffect" fill="hold">
                            <p:stCondLst>
                              <p:cond delay="27500"/>
                            </p:stCondLst>
                            <p:childTnLst>
                              <p:par>
                                <p:cTn id="2427" nodeType="afterEffect" fill="hold" presetClass="entr" presetID="9">
                                  <p:stCondLst>
                                    <p:cond delay="1000"/>
                                  </p:stCondLst>
                                  <p:childTnLst>
                                    <p:set>
                                      <p:cBhvr>
                                        <p:cTn id="2428" dur="1" fill="hold">
                                          <p:stCondLst>
                                            <p:cond delay="0"/>
                                          </p:stCondLst>
                                        </p:cTn>
                                        <p:tgtEl>
                                          <p:spTgt spid="2586">
                                            <p:txEl>
                                              <p:pRg st="2" end="2"/>
                                            </p:txEl>
                                          </p:spTgt>
                                        </p:tgtEl>
                                        <p:attrNameLst>
                                          <p:attrName>style.visibility</p:attrName>
                                        </p:attrNameLst>
                                      </p:cBhvr>
                                      <p:to>
                                        <p:strVal val="visible"/>
                                      </p:to>
                                    </p:set>
                                    <p:animEffect filter="dissolve" transition="in">
                                      <p:cBhvr additive="repl">
                                        <p:cTn id="2429" dur="500"/>
                                        <p:tgtEl>
                                          <p:spTgt spid="2586">
                                            <p:txEl>
                                              <p:pRg st="2" end="2"/>
                                            </p:txEl>
                                          </p:spTgt>
                                        </p:tgtEl>
                                      </p:cBhvr>
                                    </p:animEffect>
                                  </p:childTnLst>
                                </p:cTn>
                              </p:par>
                              <p:animClr clrSpc="rgb">
                                <p:cBhvr>
                                  <p:cTn id="2430" dur="1" fill="hold">
                                    <p:stCondLst>
                                      <p:cond delay="1000"/>
                                    </p:stCondLst>
                                  </p:cTn>
                                  <p:tgtEl>
                                    <p:spTgt spid="2586">
                                      <p:txEl>
                                        <p:pRg st="1" end="1"/>
                                      </p:txEl>
                                    </p:spTgt>
                                  </p:tgtEl>
                                  <p:attrNameLst>
                                    <p:attrName>ppt_c</p:attrName>
                                  </p:attrNameLst>
                                </p:cBhvr>
                                <p:to>
                                  <a:srgbClr val="ccccff"/>
                                </p:to>
                              </p:animClr>
                            </p:childTnLst>
                          </p:cTn>
                        </p:par>
                      </p:childTnLst>
                    </p:cTn>
                  </p:par>
                  <p:par>
                    <p:cTn id="2431" fill="hold">
                      <p:stCondLst>
                        <p:cond delay="indefinite"/>
                      </p:stCondLst>
                      <p:childTnLst>
                        <p:par>
                          <p:cTn id="2432" fill="hold">
                            <p:stCondLst>
                              <p:cond delay="0"/>
                            </p:stCondLst>
                            <p:childTnLst>
                              <p:animClr clrSpc="rgb">
                                <p:cBhvr>
                                  <p:cTn id="2433" dur="1" fill="hold"/>
                                  <p:tgtEl>
                                    <p:spTgt spid="2586">
                                      <p:txEl>
                                        <p:pRg st="2" end="2"/>
                                      </p:txEl>
                                    </p:spTgt>
                                  </p:tgtEl>
                                  <p:attrNameLst>
                                    <p:attrName>ppt_c</p:attrName>
                                  </p:attrNameLst>
                                </p:cBhvr>
                                <p:to>
                                  <a:srgbClr val="ccccff"/>
                                </p:to>
                              </p:animCl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7" name="Rectangle 2"/>
          <p:cNvSpPr/>
          <p:nvPr/>
        </p:nvSpPr>
        <p:spPr>
          <a:xfrm>
            <a:off x="235080" y="768240"/>
            <a:ext cx="8750160" cy="5778720"/>
          </a:xfrm>
          <a:prstGeom prst="rect">
            <a:avLst/>
          </a:prstGeom>
          <a:no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588" name="Line 3"/>
          <p:cNvSpPr/>
          <p:nvPr/>
        </p:nvSpPr>
        <p:spPr>
          <a:xfrm>
            <a:off x="1600200" y="1143000"/>
            <a:ext cx="2438280" cy="0"/>
          </a:xfrm>
          <a:prstGeom prst="line">
            <a:avLst/>
          </a:prstGeom>
          <a:ln w="12600">
            <a:solidFill>
              <a:srgbClr val="ffff00"/>
            </a:solidFill>
            <a:miter/>
            <a:headEnd len="lg" type="stealth" w="med"/>
            <a:tailEnd len="lg"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589" name="Line 4"/>
          <p:cNvSpPr/>
          <p:nvPr/>
        </p:nvSpPr>
        <p:spPr>
          <a:xfrm>
            <a:off x="1600200" y="1752480"/>
            <a:ext cx="2971800" cy="0"/>
          </a:xfrm>
          <a:prstGeom prst="line">
            <a:avLst/>
          </a:prstGeom>
          <a:ln w="12600">
            <a:solidFill>
              <a:srgbClr val="ffff00"/>
            </a:solidFill>
            <a:miter/>
            <a:headEnd len="lg" type="stealth" w="med"/>
            <a:tailEnd len="lg"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590" name="Line 5"/>
          <p:cNvSpPr/>
          <p:nvPr/>
        </p:nvSpPr>
        <p:spPr>
          <a:xfrm>
            <a:off x="1600200" y="2362320"/>
            <a:ext cx="3429000" cy="0"/>
          </a:xfrm>
          <a:prstGeom prst="line">
            <a:avLst/>
          </a:prstGeom>
          <a:ln w="12600">
            <a:solidFill>
              <a:srgbClr val="ffff00"/>
            </a:solidFill>
            <a:miter/>
            <a:headEnd len="lg" type="stealth" w="med"/>
            <a:tailEnd len="lg"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591" name="Line 6"/>
          <p:cNvSpPr/>
          <p:nvPr/>
        </p:nvSpPr>
        <p:spPr>
          <a:xfrm>
            <a:off x="1523880" y="3048120"/>
            <a:ext cx="4267440" cy="0"/>
          </a:xfrm>
          <a:prstGeom prst="line">
            <a:avLst/>
          </a:prstGeom>
          <a:ln w="12600">
            <a:solidFill>
              <a:srgbClr val="ffff00"/>
            </a:solidFill>
            <a:miter/>
            <a:headEnd len="lg" type="stealth" w="med"/>
            <a:tailEnd len="lg"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592" name="Line 7"/>
          <p:cNvSpPr/>
          <p:nvPr/>
        </p:nvSpPr>
        <p:spPr>
          <a:xfrm>
            <a:off x="1523880" y="3733920"/>
            <a:ext cx="5334120" cy="0"/>
          </a:xfrm>
          <a:prstGeom prst="line">
            <a:avLst/>
          </a:prstGeom>
          <a:ln w="12600">
            <a:solidFill>
              <a:srgbClr val="ffff00"/>
            </a:solidFill>
            <a:miter/>
            <a:headEnd len="lg" type="stealth" w="med"/>
            <a:tailEnd len="lg" type="stealth"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593" name="Rectangle 8"/>
          <p:cNvSpPr/>
          <p:nvPr/>
        </p:nvSpPr>
        <p:spPr>
          <a:xfrm>
            <a:off x="304920" y="304920"/>
            <a:ext cx="1143000" cy="30600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400" strike="noStrike" u="none">
                <a:solidFill>
                  <a:srgbClr val="ffff00"/>
                </a:solidFill>
                <a:effectLst/>
                <a:uFillTx/>
                <a:latin typeface="Arial"/>
              </a:rPr>
              <a:t>GROUPES</a:t>
            </a:r>
            <a:endParaRPr b="0" lang="en-US" sz="1400" strike="noStrike" u="none">
              <a:solidFill>
                <a:srgbClr val="ffff00"/>
              </a:solidFill>
              <a:effectLst/>
              <a:uFillTx/>
              <a:latin typeface="Times New Roman"/>
            </a:endParaRPr>
          </a:p>
        </p:txBody>
      </p:sp>
      <p:sp>
        <p:nvSpPr>
          <p:cNvPr id="2594" name="Rectangle 9"/>
          <p:cNvSpPr/>
          <p:nvPr/>
        </p:nvSpPr>
        <p:spPr>
          <a:xfrm>
            <a:off x="228600" y="914400"/>
            <a:ext cx="1219320" cy="3337200"/>
          </a:xfrm>
          <a:prstGeom prst="rect">
            <a:avLst/>
          </a:prstGeom>
          <a:noFill/>
          <a:ln w="0">
            <a:noFill/>
          </a:ln>
        </p:spPr>
        <p:style>
          <a:lnRef idx="0"/>
          <a:fillRef idx="0"/>
          <a:effectRef idx="0"/>
          <a:fontRef idx="minor"/>
        </p:style>
        <p:txBody>
          <a:bodyPr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400" strike="noStrike" u="none">
                <a:solidFill>
                  <a:srgbClr val="ffff00"/>
                </a:solidFill>
                <a:effectLst/>
                <a:uFillTx/>
                <a:latin typeface="Times New Roman"/>
              </a:rPr>
              <a:t>1 : 14 km/h</a:t>
            </a: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400" strike="noStrike" u="none">
                <a:solidFill>
                  <a:srgbClr val="ffff00"/>
                </a:solidFill>
                <a:effectLst/>
                <a:uFillTx/>
                <a:latin typeface="Times New Roman"/>
              </a:rPr>
              <a:t>2 : 14. 5 km/h</a:t>
            </a: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400" strike="noStrike" u="none">
                <a:solidFill>
                  <a:srgbClr val="ffff00"/>
                </a:solidFill>
                <a:effectLst/>
                <a:uFillTx/>
                <a:latin typeface="Times New Roman"/>
              </a:rPr>
              <a:t>3 : 15 km/h</a:t>
            </a: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lnSpc>
                <a:spcPct val="2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400" strike="noStrike" u="none">
                <a:solidFill>
                  <a:srgbClr val="ffff00"/>
                </a:solidFill>
                <a:effectLst/>
                <a:uFillTx/>
                <a:latin typeface="Times New Roman"/>
              </a:rPr>
              <a:t>4 : 16 km/h</a:t>
            </a: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1400" strike="noStrike" u="none">
              <a:solidFill>
                <a:srgbClr val="ffff00"/>
              </a:solidFill>
              <a:effectLst/>
              <a:uFillTx/>
              <a:latin typeface="Times New Roman"/>
            </a:endParaRPr>
          </a:p>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400" strike="noStrike" u="none">
                <a:solidFill>
                  <a:srgbClr val="ffff00"/>
                </a:solidFill>
                <a:effectLst/>
                <a:uFillTx/>
                <a:latin typeface="Times New Roman"/>
              </a:rPr>
              <a:t>5 : 16. 5 km/h</a:t>
            </a:r>
            <a:endParaRPr b="0" lang="en-US" sz="1400" strike="noStrike" u="none">
              <a:solidFill>
                <a:srgbClr val="ffff00"/>
              </a:solidFill>
              <a:effectLst/>
              <a:uFillTx/>
              <a:latin typeface="Times New Roman"/>
            </a:endParaRPr>
          </a:p>
        </p:txBody>
      </p:sp>
      <p:sp>
        <p:nvSpPr>
          <p:cNvPr id="2595" name="Rectangle 10"/>
          <p:cNvSpPr/>
          <p:nvPr/>
        </p:nvSpPr>
        <p:spPr>
          <a:xfrm>
            <a:off x="1523880" y="152280"/>
            <a:ext cx="7391520" cy="64116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fr-FR" sz="1600" strike="noStrike" u="none">
                <a:solidFill>
                  <a:srgbClr val="ffff00"/>
                </a:solidFill>
                <a:effectLst/>
                <a:uFillTx/>
                <a:latin typeface="Arial"/>
              </a:rPr>
              <a:t> </a:t>
            </a:r>
            <a:r>
              <a:rPr b="1" lang="fr-FR" sz="1800" strike="noStrike" u="none">
                <a:solidFill>
                  <a:srgbClr val="ffff00"/>
                </a:solidFill>
                <a:effectLst/>
                <a:uFillTx/>
                <a:latin typeface="Arial"/>
              </a:rPr>
              <a:t>Distances par groupe pour une intensité = 120% de V.A.M. </a:t>
            </a:r>
            <a:endParaRPr b="0" lang="en-US" sz="1800" strike="noStrike" u="none">
              <a:solidFill>
                <a:srgbClr val="ffff00"/>
              </a:solidFill>
              <a:effectLst/>
              <a:uFillTx/>
              <a:latin typeface="Times New Roman"/>
            </a:endParaRPr>
          </a:p>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800" strike="noStrike" u="none">
                <a:solidFill>
                  <a:srgbClr val="ffff00"/>
                </a:solidFill>
                <a:effectLst/>
                <a:uFillTx/>
                <a:latin typeface="Arial"/>
              </a:rPr>
              <a:t>(15 s-15 s x 30 fois)</a:t>
            </a:r>
            <a:endParaRPr b="0" lang="en-US" sz="1800" strike="noStrike" u="none">
              <a:solidFill>
                <a:srgbClr val="ffff00"/>
              </a:solidFill>
              <a:effectLst/>
              <a:uFillTx/>
              <a:latin typeface="Times New Roman"/>
            </a:endParaRPr>
          </a:p>
        </p:txBody>
      </p:sp>
      <p:sp>
        <p:nvSpPr>
          <p:cNvPr id="2596" name="AutoShape 11"/>
          <p:cNvSpPr/>
          <p:nvPr/>
        </p:nvSpPr>
        <p:spPr>
          <a:xfrm>
            <a:off x="3968640" y="13017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597" name="Rectangle 12"/>
          <p:cNvSpPr/>
          <p:nvPr/>
        </p:nvSpPr>
        <p:spPr>
          <a:xfrm>
            <a:off x="3916440" y="3094200"/>
            <a:ext cx="244440" cy="34272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598" name="AutoShape 13"/>
          <p:cNvSpPr/>
          <p:nvPr/>
        </p:nvSpPr>
        <p:spPr>
          <a:xfrm>
            <a:off x="3968640" y="8445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599" name="AutoShape 14"/>
          <p:cNvSpPr/>
          <p:nvPr/>
        </p:nvSpPr>
        <p:spPr>
          <a:xfrm>
            <a:off x="4578480" y="145404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00" name="Rectangle 15"/>
          <p:cNvSpPr/>
          <p:nvPr/>
        </p:nvSpPr>
        <p:spPr>
          <a:xfrm>
            <a:off x="3421080" y="3276720"/>
            <a:ext cx="244440" cy="342720"/>
          </a:xfrm>
          <a:prstGeom prst="rect">
            <a:avLst/>
          </a:prstGeom>
          <a:noFill/>
          <a:ln w="0">
            <a:noFill/>
          </a:ln>
        </p:spPr>
        <p:style>
          <a:lnRef idx="0"/>
          <a:fillRef idx="0"/>
          <a:effectRef idx="0"/>
          <a:fontRef idx="minor"/>
        </p:style>
        <p:txBody>
          <a:bodyPr lIns="92160" rIns="92160" tIns="46080" bIns="46080" anchor="t">
            <a:spAutoFit/>
          </a:bodyPr>
          <a:p>
            <a:pPr>
              <a:spcBef>
                <a:spcPts val="1500"/>
              </a:spcBef>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0" lang="en-US" sz="2400" strike="noStrike" u="none">
              <a:solidFill>
                <a:srgbClr val="ffff00"/>
              </a:solidFill>
              <a:effectLst/>
              <a:uFillTx/>
              <a:latin typeface="Times New Roman"/>
            </a:endParaRPr>
          </a:p>
        </p:txBody>
      </p:sp>
      <p:sp>
        <p:nvSpPr>
          <p:cNvPr id="2601" name="Rectangle 16"/>
          <p:cNvSpPr/>
          <p:nvPr/>
        </p:nvSpPr>
        <p:spPr>
          <a:xfrm>
            <a:off x="4373640" y="3627360"/>
            <a:ext cx="244440" cy="34308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02" name="AutoShape 17"/>
          <p:cNvSpPr/>
          <p:nvPr/>
        </p:nvSpPr>
        <p:spPr>
          <a:xfrm>
            <a:off x="4578480" y="19875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03" name="AutoShape 18"/>
          <p:cNvSpPr/>
          <p:nvPr/>
        </p:nvSpPr>
        <p:spPr>
          <a:xfrm>
            <a:off x="5035680" y="259704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04" name="Rectangle 19"/>
          <p:cNvSpPr/>
          <p:nvPr/>
        </p:nvSpPr>
        <p:spPr>
          <a:xfrm>
            <a:off x="4830840" y="4084560"/>
            <a:ext cx="244440" cy="34308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05" name="AutoShape 20"/>
          <p:cNvSpPr/>
          <p:nvPr/>
        </p:nvSpPr>
        <p:spPr>
          <a:xfrm>
            <a:off x="5035680" y="206388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06" name="Line 21"/>
          <p:cNvSpPr/>
          <p:nvPr/>
        </p:nvSpPr>
        <p:spPr>
          <a:xfrm>
            <a:off x="4038480" y="914400"/>
            <a:ext cx="0" cy="380880"/>
          </a:xfrm>
          <a:prstGeom prst="line">
            <a:avLst/>
          </a:prstGeom>
          <a:ln w="12600">
            <a:solidFill>
              <a:srgbClr val="ffff00"/>
            </a:solidFill>
            <a:prstDash val="dash"/>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07" name="Line 22"/>
          <p:cNvSpPr/>
          <p:nvPr/>
        </p:nvSpPr>
        <p:spPr>
          <a:xfrm>
            <a:off x="4648320" y="1600200"/>
            <a:ext cx="0" cy="380880"/>
          </a:xfrm>
          <a:prstGeom prst="line">
            <a:avLst/>
          </a:prstGeom>
          <a:ln w="12600">
            <a:solidFill>
              <a:srgbClr val="ffff00"/>
            </a:solidFill>
            <a:prstDash val="dash"/>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08" name="Line 23"/>
          <p:cNvSpPr/>
          <p:nvPr/>
        </p:nvSpPr>
        <p:spPr>
          <a:xfrm flipV="1">
            <a:off x="5105520" y="2133720"/>
            <a:ext cx="0" cy="380880"/>
          </a:xfrm>
          <a:prstGeom prst="line">
            <a:avLst/>
          </a:prstGeom>
          <a:ln w="12600">
            <a:solidFill>
              <a:srgbClr val="ffff00"/>
            </a:solidFill>
            <a:prstDash val="dash"/>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09" name="Rectangle 24"/>
          <p:cNvSpPr/>
          <p:nvPr/>
        </p:nvSpPr>
        <p:spPr>
          <a:xfrm>
            <a:off x="5897520" y="4084560"/>
            <a:ext cx="244440" cy="34308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10" name="AutoShape 25"/>
          <p:cNvSpPr/>
          <p:nvPr/>
        </p:nvSpPr>
        <p:spPr>
          <a:xfrm>
            <a:off x="5721480" y="274968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11" name="Rectangle 26"/>
          <p:cNvSpPr/>
          <p:nvPr/>
        </p:nvSpPr>
        <p:spPr>
          <a:xfrm>
            <a:off x="5745240" y="4313160"/>
            <a:ext cx="244440" cy="34308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12" name="AutoShape 27"/>
          <p:cNvSpPr/>
          <p:nvPr/>
        </p:nvSpPr>
        <p:spPr>
          <a:xfrm>
            <a:off x="5721480" y="328284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13" name="Rectangle 28"/>
          <p:cNvSpPr/>
          <p:nvPr/>
        </p:nvSpPr>
        <p:spPr>
          <a:xfrm>
            <a:off x="6888240" y="4465800"/>
            <a:ext cx="244440" cy="34272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14" name="AutoShape 29"/>
          <p:cNvSpPr/>
          <p:nvPr/>
        </p:nvSpPr>
        <p:spPr>
          <a:xfrm>
            <a:off x="6864480" y="396864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15" name="AutoShape 30"/>
          <p:cNvSpPr/>
          <p:nvPr/>
        </p:nvSpPr>
        <p:spPr>
          <a:xfrm>
            <a:off x="6864480" y="33591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16" name="Rectangle 31"/>
          <p:cNvSpPr/>
          <p:nvPr/>
        </p:nvSpPr>
        <p:spPr>
          <a:xfrm>
            <a:off x="1477800" y="2941560"/>
            <a:ext cx="244800" cy="34308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17" name="AutoShape 32"/>
          <p:cNvSpPr/>
          <p:nvPr/>
        </p:nvSpPr>
        <p:spPr>
          <a:xfrm>
            <a:off x="1454040" y="33591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18" name="Rectangle 33"/>
          <p:cNvSpPr/>
          <p:nvPr/>
        </p:nvSpPr>
        <p:spPr>
          <a:xfrm>
            <a:off x="1935000" y="2712960"/>
            <a:ext cx="244800" cy="34308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19" name="AutoShape 34"/>
          <p:cNvSpPr/>
          <p:nvPr/>
        </p:nvSpPr>
        <p:spPr>
          <a:xfrm>
            <a:off x="1454040" y="26733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20" name="Rectangle 35"/>
          <p:cNvSpPr/>
          <p:nvPr/>
        </p:nvSpPr>
        <p:spPr>
          <a:xfrm>
            <a:off x="5668920" y="3094200"/>
            <a:ext cx="244440" cy="34272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21" name="Rectangle 36"/>
          <p:cNvSpPr/>
          <p:nvPr/>
        </p:nvSpPr>
        <p:spPr>
          <a:xfrm>
            <a:off x="5821200" y="3246480"/>
            <a:ext cx="244800" cy="342720"/>
          </a:xfrm>
          <a:prstGeom prst="rect">
            <a:avLst/>
          </a:prstGeom>
          <a:noFill/>
          <a:ln w="0">
            <a:noFill/>
          </a:ln>
        </p:spPr>
        <p:style>
          <a:lnRef idx="0"/>
          <a:fillRef idx="0"/>
          <a:effectRef idx="0"/>
          <a:fontRef idx="minor"/>
        </p:style>
        <p:txBody>
          <a:bodyPr wrap="none" lIns="91800" rIns="91800" anchor="t">
            <a:spAutoFit/>
          </a:bodyPr>
          <a:p>
            <a:endParaRPr b="0" lang="en-US" sz="2400" strike="noStrike" u="none">
              <a:solidFill>
                <a:srgbClr val="ffff00"/>
              </a:solidFill>
              <a:effectLst/>
              <a:uFillTx/>
              <a:latin typeface="Times New Roman"/>
            </a:endParaRPr>
          </a:p>
        </p:txBody>
      </p:sp>
      <p:sp>
        <p:nvSpPr>
          <p:cNvPr id="2622" name="AutoShape 37"/>
          <p:cNvSpPr/>
          <p:nvPr/>
        </p:nvSpPr>
        <p:spPr>
          <a:xfrm>
            <a:off x="1454040" y="191124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23" name="AutoShape 38"/>
          <p:cNvSpPr/>
          <p:nvPr/>
        </p:nvSpPr>
        <p:spPr>
          <a:xfrm>
            <a:off x="1454040" y="130176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24" name="AutoShape 39"/>
          <p:cNvSpPr/>
          <p:nvPr/>
        </p:nvSpPr>
        <p:spPr>
          <a:xfrm>
            <a:off x="1454040" y="76824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25" name="AutoShape 40"/>
          <p:cNvSpPr/>
          <p:nvPr/>
        </p:nvSpPr>
        <p:spPr>
          <a:xfrm>
            <a:off x="1454040" y="3892680"/>
            <a:ext cx="139680" cy="88920"/>
          </a:xfrm>
          <a:prstGeom prst="triangle">
            <a:avLst>
              <a:gd name="adj" fmla="val 49995"/>
            </a:avLst>
          </a:prstGeom>
          <a:solidFill>
            <a:srgbClr val="00cc99"/>
          </a:solidFill>
          <a:ln w="12600">
            <a:solidFill>
              <a:srgbClr val="ffff00"/>
            </a:solidFill>
            <a:miter/>
          </a:ln>
        </p:spPr>
        <p:style>
          <a:lnRef idx="0"/>
          <a:fillRef idx="0"/>
          <a:effectRef idx="0"/>
          <a:fontRef idx="minor"/>
        </p:style>
        <p:txBody>
          <a:bodyPr wrap="none" lIns="90000" rIns="90000" tIns="-17280" bIns="-17280" anchor="ctr">
            <a:noAutofit/>
          </a:bodyPr>
          <a:p>
            <a:endParaRPr b="0" lang="en-US" sz="2400" strike="noStrike" u="none">
              <a:solidFill>
                <a:srgbClr val="ffff00"/>
              </a:solidFill>
              <a:effectLst/>
              <a:uFillTx/>
              <a:latin typeface="Times New Roman"/>
            </a:endParaRPr>
          </a:p>
        </p:txBody>
      </p:sp>
      <p:sp>
        <p:nvSpPr>
          <p:cNvPr id="2626" name="Line 41"/>
          <p:cNvSpPr/>
          <p:nvPr/>
        </p:nvSpPr>
        <p:spPr>
          <a:xfrm>
            <a:off x="1523880" y="838080"/>
            <a:ext cx="0" cy="3048120"/>
          </a:xfrm>
          <a:prstGeom prst="line">
            <a:avLst/>
          </a:prstGeom>
          <a:ln w="12600">
            <a:solidFill>
              <a:srgbClr val="ffff00"/>
            </a:solidFill>
            <a:prstDash val="dash"/>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27" name="Rectangle 42"/>
          <p:cNvSpPr/>
          <p:nvPr/>
        </p:nvSpPr>
        <p:spPr>
          <a:xfrm>
            <a:off x="2601360" y="836640"/>
            <a:ext cx="607320" cy="3362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600" strike="noStrike" u="none">
                <a:solidFill>
                  <a:srgbClr val="ffff00"/>
                </a:solidFill>
                <a:effectLst/>
                <a:uFillTx/>
                <a:latin typeface="Times New Roman"/>
              </a:rPr>
              <a:t>70 m</a:t>
            </a:r>
            <a:endParaRPr b="0" lang="en-US" sz="1600" strike="noStrike" u="none">
              <a:solidFill>
                <a:srgbClr val="ffff00"/>
              </a:solidFill>
              <a:effectLst/>
              <a:uFillTx/>
              <a:latin typeface="Times New Roman"/>
            </a:endParaRPr>
          </a:p>
        </p:txBody>
      </p:sp>
      <p:sp>
        <p:nvSpPr>
          <p:cNvPr id="2628" name="Rectangle 43"/>
          <p:cNvSpPr/>
          <p:nvPr/>
        </p:nvSpPr>
        <p:spPr>
          <a:xfrm>
            <a:off x="2362320" y="1447920"/>
            <a:ext cx="914400" cy="336240"/>
          </a:xfrm>
          <a:prstGeom prst="rect">
            <a:avLst/>
          </a:prstGeom>
          <a:noFill/>
          <a:ln w="0">
            <a:noFill/>
          </a:ln>
        </p:spPr>
        <p:style>
          <a:lnRef idx="0"/>
          <a:fillRef idx="0"/>
          <a:effectRef idx="0"/>
          <a:fontRef idx="minor"/>
        </p:style>
        <p:txBody>
          <a:bodyPr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200" strike="noStrike" u="none">
                <a:solidFill>
                  <a:srgbClr val="ffff00"/>
                </a:solidFill>
                <a:effectLst/>
                <a:uFillTx/>
                <a:latin typeface="Times New Roman"/>
              </a:rPr>
              <a:t>   </a:t>
            </a:r>
            <a:r>
              <a:rPr b="1" lang="fr-FR" sz="1600" strike="noStrike" u="none">
                <a:solidFill>
                  <a:srgbClr val="ffff00"/>
                </a:solidFill>
                <a:effectLst/>
                <a:uFillTx/>
                <a:latin typeface="Times New Roman"/>
              </a:rPr>
              <a:t>72.5 m</a:t>
            </a:r>
            <a:r>
              <a:rPr b="0" lang="fr-FR" sz="1200" strike="noStrike" u="none">
                <a:solidFill>
                  <a:srgbClr val="ffff00"/>
                </a:solidFill>
                <a:effectLst/>
                <a:uFillTx/>
                <a:latin typeface="Times New Roman"/>
              </a:rPr>
              <a:t> </a:t>
            </a:r>
            <a:endParaRPr b="0" lang="en-US" sz="1200" strike="noStrike" u="none">
              <a:solidFill>
                <a:srgbClr val="ffff00"/>
              </a:solidFill>
              <a:effectLst/>
              <a:uFillTx/>
              <a:latin typeface="Times New Roman"/>
            </a:endParaRPr>
          </a:p>
        </p:txBody>
      </p:sp>
      <p:sp>
        <p:nvSpPr>
          <p:cNvPr id="2629" name="Rectangle 44"/>
          <p:cNvSpPr/>
          <p:nvPr/>
        </p:nvSpPr>
        <p:spPr>
          <a:xfrm>
            <a:off x="2438280" y="2057400"/>
            <a:ext cx="838440" cy="336240"/>
          </a:xfrm>
          <a:prstGeom prst="rect">
            <a:avLst/>
          </a:prstGeom>
          <a:noFill/>
          <a:ln w="0">
            <a:noFill/>
          </a:ln>
        </p:spPr>
        <p:style>
          <a:lnRef idx="0"/>
          <a:fillRef idx="0"/>
          <a:effectRef idx="0"/>
          <a:fontRef idx="minor"/>
        </p:style>
        <p:txBody>
          <a:bodyPr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200" strike="noStrike" u="none">
                <a:solidFill>
                  <a:srgbClr val="ffff00"/>
                </a:solidFill>
                <a:effectLst/>
                <a:uFillTx/>
                <a:latin typeface="Times New Roman"/>
              </a:rPr>
              <a:t> </a:t>
            </a:r>
            <a:r>
              <a:rPr b="1" lang="fr-FR" sz="1600" strike="noStrike" u="none">
                <a:solidFill>
                  <a:srgbClr val="ffff00"/>
                </a:solidFill>
                <a:effectLst/>
                <a:uFillTx/>
                <a:latin typeface="Times New Roman"/>
              </a:rPr>
              <a:t>75 m</a:t>
            </a:r>
            <a:endParaRPr b="0" lang="en-US" sz="1600" strike="noStrike" u="none">
              <a:solidFill>
                <a:srgbClr val="ffff00"/>
              </a:solidFill>
              <a:effectLst/>
              <a:uFillTx/>
              <a:latin typeface="Times New Roman"/>
            </a:endParaRPr>
          </a:p>
        </p:txBody>
      </p:sp>
      <p:sp>
        <p:nvSpPr>
          <p:cNvPr id="2630" name="Rectangle 45"/>
          <p:cNvSpPr/>
          <p:nvPr/>
        </p:nvSpPr>
        <p:spPr>
          <a:xfrm>
            <a:off x="2500200" y="2666880"/>
            <a:ext cx="776520" cy="336240"/>
          </a:xfrm>
          <a:prstGeom prst="rect">
            <a:avLst/>
          </a:prstGeom>
          <a:noFill/>
          <a:ln w="0">
            <a:noFill/>
          </a:ln>
        </p:spPr>
        <p:style>
          <a:lnRef idx="0"/>
          <a:fillRef idx="0"/>
          <a:effectRef idx="0"/>
          <a:fontRef idx="minor"/>
        </p:style>
        <p:txBody>
          <a:bodyPr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600" strike="noStrike" u="none">
                <a:solidFill>
                  <a:srgbClr val="ffff00"/>
                </a:solidFill>
                <a:effectLst/>
                <a:uFillTx/>
                <a:latin typeface="Times New Roman"/>
              </a:rPr>
              <a:t>80 m</a:t>
            </a:r>
            <a:endParaRPr b="0" lang="en-US" sz="1600" strike="noStrike" u="none">
              <a:solidFill>
                <a:srgbClr val="ffff00"/>
              </a:solidFill>
              <a:effectLst/>
              <a:uFillTx/>
              <a:latin typeface="Times New Roman"/>
            </a:endParaRPr>
          </a:p>
        </p:txBody>
      </p:sp>
      <p:sp>
        <p:nvSpPr>
          <p:cNvPr id="2631" name="Rectangle 46"/>
          <p:cNvSpPr/>
          <p:nvPr/>
        </p:nvSpPr>
        <p:spPr>
          <a:xfrm>
            <a:off x="2514600" y="3429000"/>
            <a:ext cx="838080" cy="336240"/>
          </a:xfrm>
          <a:prstGeom prst="rect">
            <a:avLst/>
          </a:prstGeom>
          <a:noFill/>
          <a:ln w="0">
            <a:noFill/>
          </a:ln>
        </p:spPr>
        <p:style>
          <a:lnRef idx="0"/>
          <a:fillRef idx="0"/>
          <a:effectRef idx="0"/>
          <a:fontRef idx="minor"/>
        </p:style>
        <p:txBody>
          <a:bodyPr lIns="92160" rIns="92160" tIns="46080" bIns="4608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600" strike="noStrike" u="none">
                <a:solidFill>
                  <a:srgbClr val="ffff00"/>
                </a:solidFill>
                <a:effectLst/>
                <a:uFillTx/>
                <a:latin typeface="Times New Roman"/>
              </a:rPr>
              <a:t>82.5 m</a:t>
            </a:r>
            <a:endParaRPr b="0" lang="en-US" sz="1600" strike="noStrike" u="none">
              <a:solidFill>
                <a:srgbClr val="ffff00"/>
              </a:solidFill>
              <a:effectLst/>
              <a:uFillTx/>
              <a:latin typeface="Times New Roman"/>
            </a:endParaRPr>
          </a:p>
        </p:txBody>
      </p:sp>
      <p:sp>
        <p:nvSpPr>
          <p:cNvPr id="2632" name="Line 47"/>
          <p:cNvSpPr/>
          <p:nvPr/>
        </p:nvSpPr>
        <p:spPr>
          <a:xfrm>
            <a:off x="5791320" y="2819520"/>
            <a:ext cx="0" cy="457200"/>
          </a:xfrm>
          <a:prstGeom prst="line">
            <a:avLst/>
          </a:prstGeom>
          <a:ln w="12600">
            <a:solidFill>
              <a:srgbClr val="ffff00"/>
            </a:solidFill>
            <a:prstDash val="dash"/>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33" name="Line 48"/>
          <p:cNvSpPr/>
          <p:nvPr/>
        </p:nvSpPr>
        <p:spPr>
          <a:xfrm>
            <a:off x="6934320" y="3429000"/>
            <a:ext cx="0" cy="609480"/>
          </a:xfrm>
          <a:prstGeom prst="line">
            <a:avLst/>
          </a:prstGeom>
          <a:ln w="12600">
            <a:solidFill>
              <a:srgbClr val="ffff00"/>
            </a:solidFill>
            <a:prstDash val="dash"/>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34" name="Rectangle 49"/>
          <p:cNvSpPr/>
          <p:nvPr/>
        </p:nvSpPr>
        <p:spPr>
          <a:xfrm>
            <a:off x="228600" y="5105520"/>
            <a:ext cx="8640720" cy="91548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800" strike="noStrike" u="none">
                <a:solidFill>
                  <a:srgbClr val="ffff00"/>
                </a:solidFill>
                <a:effectLst/>
                <a:uFillTx/>
                <a:latin typeface="Arial"/>
              </a:rPr>
              <a:t>Entraînement intermittent court : 15 s de course et 15 s d’arrêt à une intensité correspondant à 120 % de la V.A.M. à x par 20,30ou 40 fois selon le niveau d’entraînement . Les sportifs sont placés par groupes homogènes de V.A.M.</a:t>
            </a:r>
            <a:endParaRPr b="0" lang="en-US" sz="1800" strike="noStrike" u="none">
              <a:solidFill>
                <a:srgbClr val="ffff00"/>
              </a:solidFill>
              <a:effectLst/>
              <a:uFillTx/>
              <a:latin typeface="Times New Roman"/>
            </a:endParaRPr>
          </a:p>
        </p:txBody>
      </p:sp>
      <p:sp>
        <p:nvSpPr>
          <p:cNvPr id="2635" name="Rectangle 50"/>
          <p:cNvSpPr/>
          <p:nvPr/>
        </p:nvSpPr>
        <p:spPr>
          <a:xfrm>
            <a:off x="2805120" y="4213080"/>
            <a:ext cx="3672000" cy="3668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fr-FR" sz="1800" strike="noStrike" u="none">
                <a:solidFill>
                  <a:srgbClr val="ffff00"/>
                </a:solidFill>
                <a:effectLst/>
                <a:uFillTx/>
                <a:latin typeface="Arial"/>
              </a:rPr>
              <a:t>Terrain de football ou de rugby </a:t>
            </a:r>
            <a:endParaRPr b="0" lang="en-US" sz="1800" strike="noStrike" u="none">
              <a:solidFill>
                <a:srgbClr val="ffff00"/>
              </a:solidFill>
              <a:effectLst/>
              <a:uFillTx/>
              <a:latin typeface="Times New Roman"/>
            </a:endParaRPr>
          </a:p>
        </p:txBody>
      </p:sp>
      <p:sp>
        <p:nvSpPr>
          <p:cNvPr id="2636" name="Line 51"/>
          <p:cNvSpPr/>
          <p:nvPr/>
        </p:nvSpPr>
        <p:spPr>
          <a:xfrm flipV="1">
            <a:off x="228600" y="152280"/>
            <a:ext cx="0" cy="60984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37" name="Line 52"/>
          <p:cNvSpPr/>
          <p:nvPr/>
        </p:nvSpPr>
        <p:spPr>
          <a:xfrm>
            <a:off x="228600" y="152280"/>
            <a:ext cx="87631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38" name="Line 53"/>
          <p:cNvSpPr/>
          <p:nvPr/>
        </p:nvSpPr>
        <p:spPr>
          <a:xfrm>
            <a:off x="8991720" y="152280"/>
            <a:ext cx="0" cy="53352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39" name="Line 54"/>
          <p:cNvSpPr/>
          <p:nvPr/>
        </p:nvSpPr>
        <p:spPr>
          <a:xfrm>
            <a:off x="228600" y="4572000"/>
            <a:ext cx="8763120" cy="0"/>
          </a:xfrm>
          <a:prstGeom prst="line">
            <a:avLst/>
          </a:prstGeom>
          <a:ln w="1260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0" name="Text Box 2"/>
          <p:cNvSpPr/>
          <p:nvPr/>
        </p:nvSpPr>
        <p:spPr>
          <a:xfrm>
            <a:off x="1832400" y="2819520"/>
            <a:ext cx="529164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omic Sans MS"/>
              </a:rPr>
              <a:t>ECONOMIE DE LOCOMOTION</a:t>
            </a:r>
            <a:endParaRPr b="0" lang="en-US" sz="3200" strike="noStrike" u="none">
              <a:solidFill>
                <a:srgbClr val="ffff00"/>
              </a:solidFill>
              <a:effectLst/>
              <a:uFillTx/>
              <a:latin typeface="Times New Roman"/>
            </a:endParaRPr>
          </a:p>
        </p:txBody>
      </p:sp>
    </p:spTree>
  </p:cSld>
  <p:transition spd="med">
    <p:zoom dir="out"/>
  </p:transition>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1" name="Rectangle 2"/>
          <p:cNvSpPr/>
          <p:nvPr/>
        </p:nvSpPr>
        <p:spPr>
          <a:xfrm>
            <a:off x="228600" y="838080"/>
            <a:ext cx="167652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FREQUENCE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CARDIAQUE MAX</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FC max</a:t>
            </a:r>
            <a:endParaRPr b="0" lang="en-US" sz="1400" strike="noStrike" u="none">
              <a:solidFill>
                <a:srgbClr val="ffff00"/>
              </a:solidFill>
              <a:effectLst/>
              <a:uFillTx/>
              <a:latin typeface="Times New Roman"/>
            </a:endParaRPr>
          </a:p>
        </p:txBody>
      </p:sp>
      <p:sp>
        <p:nvSpPr>
          <p:cNvPr id="2642" name="Rectangle 3"/>
          <p:cNvSpPr/>
          <p:nvPr/>
        </p:nvSpPr>
        <p:spPr>
          <a:xfrm>
            <a:off x="2209680" y="838080"/>
            <a:ext cx="205740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VOLUME D’EJECTION</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SYSTOLIQUE MAX</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VS max</a:t>
            </a:r>
            <a:endParaRPr b="0" lang="en-US" sz="1400" strike="noStrike" u="none">
              <a:solidFill>
                <a:srgbClr val="ffff00"/>
              </a:solidFill>
              <a:effectLst/>
              <a:uFillTx/>
              <a:latin typeface="Times New Roman"/>
            </a:endParaRPr>
          </a:p>
        </p:txBody>
      </p:sp>
      <p:sp>
        <p:nvSpPr>
          <p:cNvPr id="2643" name="Line 4"/>
          <p:cNvSpPr/>
          <p:nvPr/>
        </p:nvSpPr>
        <p:spPr>
          <a:xfrm>
            <a:off x="1219320" y="160020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44" name="Line 5"/>
          <p:cNvSpPr/>
          <p:nvPr/>
        </p:nvSpPr>
        <p:spPr>
          <a:xfrm>
            <a:off x="3352680" y="160020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45" name="Line 6"/>
          <p:cNvSpPr/>
          <p:nvPr/>
        </p:nvSpPr>
        <p:spPr>
          <a:xfrm>
            <a:off x="1219320" y="2286000"/>
            <a:ext cx="213336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46" name="Line 7"/>
          <p:cNvSpPr/>
          <p:nvPr/>
        </p:nvSpPr>
        <p:spPr>
          <a:xfrm>
            <a:off x="2209680" y="2286000"/>
            <a:ext cx="0" cy="3808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47" name="Rectangle 8"/>
          <p:cNvSpPr/>
          <p:nvPr/>
        </p:nvSpPr>
        <p:spPr>
          <a:xfrm>
            <a:off x="1143000" y="2666880"/>
            <a:ext cx="175248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DEBIT CARDIAQUE</a:t>
            </a:r>
            <a:br>
              <a:rPr sz="1400"/>
            </a:br>
            <a:r>
              <a:rPr b="1" lang="es-CL" sz="1400" strike="noStrike" u="none">
                <a:solidFill>
                  <a:srgbClr val="ffff00"/>
                </a:solidFill>
                <a:effectLst/>
                <a:uFillTx/>
                <a:latin typeface="Arial"/>
              </a:rPr>
              <a:t>MAXIMAL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2648" name="Rectangle 9"/>
          <p:cNvSpPr/>
          <p:nvPr/>
        </p:nvSpPr>
        <p:spPr>
          <a:xfrm>
            <a:off x="3276720" y="2666880"/>
            <a:ext cx="220968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DIFFERENCE ARTERIO-</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VEINEUSE EN 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 - Cv 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a:t>
            </a:r>
            <a:endParaRPr b="0" lang="en-US" sz="1400" strike="noStrike" u="none">
              <a:solidFill>
                <a:srgbClr val="ffff00"/>
              </a:solidFill>
              <a:effectLst/>
              <a:uFillTx/>
              <a:latin typeface="Times New Roman"/>
            </a:endParaRPr>
          </a:p>
        </p:txBody>
      </p:sp>
      <p:sp>
        <p:nvSpPr>
          <p:cNvPr id="2649" name="Line 10"/>
          <p:cNvSpPr/>
          <p:nvPr/>
        </p:nvSpPr>
        <p:spPr>
          <a:xfrm>
            <a:off x="22096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50" name="Line 11"/>
          <p:cNvSpPr/>
          <p:nvPr/>
        </p:nvSpPr>
        <p:spPr>
          <a:xfrm>
            <a:off x="434340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51" name="Line 12"/>
          <p:cNvSpPr/>
          <p:nvPr/>
        </p:nvSpPr>
        <p:spPr>
          <a:xfrm>
            <a:off x="2209680" y="3809880"/>
            <a:ext cx="21337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52" name="Line 13"/>
          <p:cNvSpPr/>
          <p:nvPr/>
        </p:nvSpPr>
        <p:spPr>
          <a:xfrm>
            <a:off x="3276720" y="3809880"/>
            <a:ext cx="0" cy="304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53" name="Rectangle 14"/>
          <p:cNvSpPr/>
          <p:nvPr/>
        </p:nvSpPr>
        <p:spPr>
          <a:xfrm>
            <a:off x="2209680" y="4114800"/>
            <a:ext cx="21337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CONSOMMATION MAX</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D’OXYGENE: VO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a:t>
            </a:r>
            <a:endParaRPr b="0" lang="en-US" sz="1400" strike="noStrike" u="none">
              <a:solidFill>
                <a:srgbClr val="ffff00"/>
              </a:solidFill>
              <a:effectLst/>
              <a:uFillTx/>
              <a:latin typeface="Times New Roman"/>
            </a:endParaRPr>
          </a:p>
        </p:txBody>
      </p:sp>
      <p:sp>
        <p:nvSpPr>
          <p:cNvPr id="2654" name="Rectangle 15"/>
          <p:cNvSpPr/>
          <p:nvPr/>
        </p:nvSpPr>
        <p:spPr>
          <a:xfrm>
            <a:off x="3657600" y="1905120"/>
            <a:ext cx="1371600" cy="3808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[Hb]; % Sa O</a:t>
            </a:r>
            <a:r>
              <a:rPr b="1" lang="es-CL" sz="1600" strike="noStrike" u="none" baseline="-25000">
                <a:solidFill>
                  <a:srgbClr val="ffff00"/>
                </a:solidFill>
                <a:effectLst/>
                <a:uFillTx/>
                <a:latin typeface="Arial"/>
              </a:rPr>
              <a:t>2</a:t>
            </a:r>
            <a:endParaRPr b="0" lang="en-US" sz="1600" strike="noStrike" u="none">
              <a:solidFill>
                <a:srgbClr val="ffff00"/>
              </a:solidFill>
              <a:effectLst/>
              <a:uFillTx/>
              <a:latin typeface="Times New Roman"/>
            </a:endParaRPr>
          </a:p>
        </p:txBody>
      </p:sp>
      <p:sp>
        <p:nvSpPr>
          <p:cNvPr id="2655" name="Line 16"/>
          <p:cNvSpPr/>
          <p:nvPr/>
        </p:nvSpPr>
        <p:spPr>
          <a:xfrm>
            <a:off x="4267080" y="2286000"/>
            <a:ext cx="0" cy="3808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56" name="Rectangle 17"/>
          <p:cNvSpPr/>
          <p:nvPr/>
        </p:nvSpPr>
        <p:spPr>
          <a:xfrm>
            <a:off x="4724280" y="914400"/>
            <a:ext cx="12193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DENSITE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CAPILLAIRE</a:t>
            </a:r>
            <a:endParaRPr b="0" lang="en-US" sz="1400" strike="noStrike" u="none">
              <a:solidFill>
                <a:srgbClr val="ffff00"/>
              </a:solidFill>
              <a:effectLst/>
              <a:uFillTx/>
              <a:latin typeface="Times New Roman"/>
            </a:endParaRPr>
          </a:p>
        </p:txBody>
      </p:sp>
      <p:sp>
        <p:nvSpPr>
          <p:cNvPr id="2657" name="Rectangle 18"/>
          <p:cNvSpPr/>
          <p:nvPr/>
        </p:nvSpPr>
        <p:spPr>
          <a:xfrm>
            <a:off x="6172200" y="914400"/>
            <a:ext cx="16765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MITOCHONDRIES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ENZYMES </a:t>
            </a:r>
            <a:br>
              <a:rPr sz="1400"/>
            </a:br>
            <a:r>
              <a:rPr b="1" lang="es-CL" sz="1400" strike="noStrike" u="none">
                <a:solidFill>
                  <a:srgbClr val="ffff00"/>
                </a:solidFill>
                <a:effectLst/>
                <a:uFillTx/>
                <a:latin typeface="Arial"/>
              </a:rPr>
              <a:t>OXYDATIVES</a:t>
            </a:r>
            <a:endParaRPr b="0" lang="en-US" sz="1400" strike="noStrike" u="none">
              <a:solidFill>
                <a:srgbClr val="ffff00"/>
              </a:solidFill>
              <a:effectLst/>
              <a:uFillTx/>
              <a:latin typeface="Times New Roman"/>
            </a:endParaRPr>
          </a:p>
        </p:txBody>
      </p:sp>
      <p:sp>
        <p:nvSpPr>
          <p:cNvPr id="2658" name="Line 19"/>
          <p:cNvSpPr/>
          <p:nvPr/>
        </p:nvSpPr>
        <p:spPr>
          <a:xfrm>
            <a:off x="5257800" y="152388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59" name="Line 20"/>
          <p:cNvSpPr/>
          <p:nvPr/>
        </p:nvSpPr>
        <p:spPr>
          <a:xfrm>
            <a:off x="7086600" y="152388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60" name="Line 21"/>
          <p:cNvSpPr/>
          <p:nvPr/>
        </p:nvSpPr>
        <p:spPr>
          <a:xfrm>
            <a:off x="5257800" y="2209680"/>
            <a:ext cx="18288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61" name="Line 22"/>
          <p:cNvSpPr/>
          <p:nvPr/>
        </p:nvSpPr>
        <p:spPr>
          <a:xfrm>
            <a:off x="5638680" y="2209680"/>
            <a:ext cx="0" cy="19051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62" name="Rectangle 23"/>
          <p:cNvSpPr/>
          <p:nvPr/>
        </p:nvSpPr>
        <p:spPr>
          <a:xfrm>
            <a:off x="4648320" y="4114800"/>
            <a:ext cx="220968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ENDURANCE AEROBIE: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à un % de VO2 max</a:t>
            </a:r>
            <a:endParaRPr b="0" lang="en-US" sz="1400" strike="noStrike" u="none">
              <a:solidFill>
                <a:srgbClr val="ffff00"/>
              </a:solidFill>
              <a:effectLst/>
              <a:uFillTx/>
              <a:latin typeface="Times New Roman"/>
            </a:endParaRPr>
          </a:p>
        </p:txBody>
      </p:sp>
      <p:sp>
        <p:nvSpPr>
          <p:cNvPr id="2663" name="Rectangle 24"/>
          <p:cNvSpPr/>
          <p:nvPr/>
        </p:nvSpPr>
        <p:spPr>
          <a:xfrm>
            <a:off x="6934320" y="4114800"/>
            <a:ext cx="160020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ECONOMIE DE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LOCOMOTION</a:t>
            </a:r>
            <a:endParaRPr b="0" lang="en-US" sz="1400" strike="noStrike" u="none">
              <a:solidFill>
                <a:srgbClr val="ffff00"/>
              </a:solidFill>
              <a:effectLst/>
              <a:uFillTx/>
              <a:latin typeface="Times New Roman"/>
            </a:endParaRPr>
          </a:p>
        </p:txBody>
      </p:sp>
      <p:sp>
        <p:nvSpPr>
          <p:cNvPr id="2664" name="Rectangle 25"/>
          <p:cNvSpPr/>
          <p:nvPr/>
        </p:nvSpPr>
        <p:spPr>
          <a:xfrm>
            <a:off x="6019920" y="2895480"/>
            <a:ext cx="137160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MASSE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CORPORELLE</a:t>
            </a:r>
            <a:endParaRPr b="0" lang="en-US" sz="1400" strike="noStrike" u="none">
              <a:solidFill>
                <a:srgbClr val="ffff00"/>
              </a:solidFill>
              <a:effectLst/>
              <a:uFillTx/>
              <a:latin typeface="Times New Roman"/>
            </a:endParaRPr>
          </a:p>
        </p:txBody>
      </p:sp>
      <p:sp>
        <p:nvSpPr>
          <p:cNvPr id="2665" name="Rectangle 26"/>
          <p:cNvSpPr/>
          <p:nvPr/>
        </p:nvSpPr>
        <p:spPr>
          <a:xfrm>
            <a:off x="7467480" y="2895480"/>
            <a:ext cx="152424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SPECIALISATION</a:t>
            </a:r>
            <a:endParaRPr b="0" lang="en-US" sz="1400" strike="noStrike" u="none">
              <a:solidFill>
                <a:srgbClr val="ffff00"/>
              </a:solidFill>
              <a:effectLst/>
              <a:uFillTx/>
              <a:latin typeface="Times New Roman"/>
            </a:endParaRPr>
          </a:p>
        </p:txBody>
      </p:sp>
      <p:sp>
        <p:nvSpPr>
          <p:cNvPr id="2666" name="Line 27"/>
          <p:cNvSpPr/>
          <p:nvPr/>
        </p:nvSpPr>
        <p:spPr>
          <a:xfrm>
            <a:off x="67816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67" name="Line 28"/>
          <p:cNvSpPr/>
          <p:nvPr/>
        </p:nvSpPr>
        <p:spPr>
          <a:xfrm>
            <a:off x="81532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68" name="Line 29"/>
          <p:cNvSpPr/>
          <p:nvPr/>
        </p:nvSpPr>
        <p:spPr>
          <a:xfrm>
            <a:off x="6781680" y="3809880"/>
            <a:ext cx="13716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69" name="Line 30"/>
          <p:cNvSpPr/>
          <p:nvPr/>
        </p:nvSpPr>
        <p:spPr>
          <a:xfrm>
            <a:off x="7391520" y="3809880"/>
            <a:ext cx="0" cy="304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70" name="Line 31"/>
          <p:cNvSpPr/>
          <p:nvPr/>
        </p:nvSpPr>
        <p:spPr>
          <a:xfrm>
            <a:off x="320040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71" name="Line 32"/>
          <p:cNvSpPr/>
          <p:nvPr/>
        </p:nvSpPr>
        <p:spPr>
          <a:xfrm>
            <a:off x="563868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72" name="Line 33"/>
          <p:cNvSpPr/>
          <p:nvPr/>
        </p:nvSpPr>
        <p:spPr>
          <a:xfrm>
            <a:off x="762012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73" name="Line 34"/>
          <p:cNvSpPr/>
          <p:nvPr/>
        </p:nvSpPr>
        <p:spPr>
          <a:xfrm>
            <a:off x="3200400" y="5105520"/>
            <a:ext cx="44197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74" name="Line 35"/>
          <p:cNvSpPr/>
          <p:nvPr/>
        </p:nvSpPr>
        <p:spPr>
          <a:xfrm>
            <a:off x="5257800" y="5105520"/>
            <a:ext cx="0" cy="304560"/>
          </a:xfrm>
          <a:prstGeom prst="line">
            <a:avLst/>
          </a:prstGeom>
          <a:ln w="28440">
            <a:solidFill>
              <a:srgbClr val="ffff00"/>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75" name="Rectangle 36"/>
          <p:cNvSpPr/>
          <p:nvPr/>
        </p:nvSpPr>
        <p:spPr>
          <a:xfrm>
            <a:off x="4038480" y="5410080"/>
            <a:ext cx="2895840" cy="45720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CAPACITE AEROBIE</a:t>
            </a:r>
            <a:endParaRPr b="0" lang="en-US" sz="2000" strike="noStrike" u="none">
              <a:solidFill>
                <a:srgbClr val="ffff00"/>
              </a:solidFill>
              <a:effectLst/>
              <a:uFillTx/>
              <a:latin typeface="Times New Roman"/>
            </a:endParaRPr>
          </a:p>
        </p:txBody>
      </p:sp>
      <p:sp>
        <p:nvSpPr>
          <p:cNvPr id="2676" name="Text Box 39"/>
          <p:cNvSpPr/>
          <p:nvPr/>
        </p:nvSpPr>
        <p:spPr>
          <a:xfrm>
            <a:off x="-304920" y="228600"/>
            <a:ext cx="975384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FACTEURS PHYSIOLOGIQUES DE LA PERFORMANCE DE LONGUE DUREE</a:t>
            </a:r>
            <a:endParaRPr b="0" lang="en-US" sz="2000" strike="noStrike" u="none">
              <a:solidFill>
                <a:srgbClr val="ffff00"/>
              </a:solidFill>
              <a:effectLst/>
              <a:uFillTx/>
              <a:latin typeface="Times New Roman"/>
            </a:endParaRPr>
          </a:p>
        </p:txBody>
      </p:sp>
      <p:sp>
        <p:nvSpPr>
          <p:cNvPr id="2677" name="Oval 40"/>
          <p:cNvSpPr/>
          <p:nvPr/>
        </p:nvSpPr>
        <p:spPr>
          <a:xfrm>
            <a:off x="6172200" y="2095560"/>
            <a:ext cx="2971800" cy="3162240"/>
          </a:xfrm>
          <a:prstGeom prst="ellipse">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678" name="Line 41"/>
          <p:cNvSpPr/>
          <p:nvPr/>
        </p:nvSpPr>
        <p:spPr>
          <a:xfrm>
            <a:off x="4343400" y="3809880"/>
            <a:ext cx="1295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2434" dur="indefinite" restart="never" nodeType="tmRoot">
          <p:childTnLst>
            <p:seq>
              <p:cTn id="2435" dur="indefinite" nodeType="mainSeq">
                <p:childTnLst>
                  <p:par>
                    <p:cTn id="2436" nodeType="clickEffect" fill="hold">
                      <p:stCondLst>
                        <p:cond delay="indefinite"/>
                      </p:stCondLst>
                      <p:childTnLst>
                        <p:par>
                          <p:cTn id="2437" nodeType="withEffect" fill="hold">
                            <p:stCondLst>
                              <p:cond delay="0"/>
                            </p:stCondLst>
                            <p:childTnLst>
                              <p:par>
                                <p:cTn id="2438" nodeType="clickEffect" fill="hold" presetClass="entr" presetID="19" presetSubtype="10">
                                  <p:stCondLst>
                                    <p:cond delay="0"/>
                                  </p:stCondLst>
                                  <p:childTnLst>
                                    <p:set>
                                      <p:cBhvr>
                                        <p:cTn id="2439" dur="1" fill="hold">
                                          <p:stCondLst>
                                            <p:cond delay="0"/>
                                          </p:stCondLst>
                                        </p:cTn>
                                        <p:tgtEl>
                                          <p:spTgt spid="2677"/>
                                        </p:tgtEl>
                                        <p:attrNameLst>
                                          <p:attrName>style.visibility</p:attrName>
                                        </p:attrNameLst>
                                      </p:cBhvr>
                                      <p:to>
                                        <p:strVal val="visible"/>
                                      </p:to>
                                    </p:set>
                                    <p:anim calcmode="lin" valueType="num">
                                      <p:cBhvr additive="repl">
                                        <p:cTn id="2440" dur="5000" fill="hold"/>
                                        <p:tgtEl>
                                          <p:spTgt spid="2677"/>
                                        </p:tgtEl>
                                        <p:attrNameLst>
                                          <p:attrName>ppt_w</p:attrName>
                                        </p:attrNameLst>
                                      </p:cBhvr>
                                      <p:tavLst>
                                        <p:tav fmla="width*sin(2.5*pi*$)" tm="0">
                                          <p:val>
                                            <p:fltVal val="0"/>
                                          </p:val>
                                        </p:tav>
                                        <p:tav fmla="width*sin(2.5*pi*$)" tm="100000">
                                          <p:val>
                                            <p:fltVal val="1"/>
                                          </p:val>
                                        </p:tav>
                                      </p:tavLst>
                                    </p:anim>
                                    <p:anim calcmode="lin" valueType="num">
                                      <p:cBhvr additive="repl">
                                        <p:cTn id="2441" dur="5000" fill="hold"/>
                                        <p:tgtEl>
                                          <p:spTgt spid="267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679" name="Group 2"/>
          <p:cNvGrpSpPr/>
          <p:nvPr/>
        </p:nvGrpSpPr>
        <p:grpSpPr>
          <a:xfrm>
            <a:off x="0" y="762120"/>
            <a:ext cx="9144000" cy="5714640"/>
            <a:chOff x="0" y="762120"/>
            <a:chExt cx="9144000" cy="5714640"/>
          </a:xfrm>
        </p:grpSpPr>
        <p:pic>
          <p:nvPicPr>
            <p:cNvPr id="2680" name="Picture 3" descr=""/>
            <p:cNvPicPr/>
            <p:nvPr/>
          </p:nvPicPr>
          <p:blipFill>
            <a:blip r:embed="rId1"/>
            <a:stretch/>
          </p:blipFill>
          <p:spPr>
            <a:xfrm>
              <a:off x="0" y="1485720"/>
              <a:ext cx="9144000" cy="4991040"/>
            </a:xfrm>
            <a:prstGeom prst="rect">
              <a:avLst/>
            </a:prstGeom>
            <a:noFill/>
            <a:ln w="0">
              <a:noFill/>
            </a:ln>
          </p:spPr>
        </p:pic>
        <p:sp>
          <p:nvSpPr>
            <p:cNvPr id="2681" name="Text Box 4"/>
            <p:cNvSpPr/>
            <p:nvPr/>
          </p:nvSpPr>
          <p:spPr>
            <a:xfrm>
              <a:off x="4576680" y="762120"/>
              <a:ext cx="184320" cy="366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sp>
        <p:nvSpPr>
          <p:cNvPr id="2682" name="Text Box 5"/>
          <p:cNvSpPr/>
          <p:nvPr/>
        </p:nvSpPr>
        <p:spPr>
          <a:xfrm>
            <a:off x="259200" y="304920"/>
            <a:ext cx="8430840" cy="1038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600" strike="noStrike" u="none">
                <a:solidFill>
                  <a:srgbClr val="ffff00"/>
                </a:solidFill>
                <a:effectLst/>
                <a:uFillTx/>
                <a:latin typeface="Arial"/>
              </a:rPr>
              <a:t>ECONOMIE DE COURSE LORS DE LA CROISSANCE</a:t>
            </a:r>
            <a:endParaRPr b="0" lang="en-US" sz="26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En période de croissance,  les plus âgés sont plus économiques. </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Adapté de Léger et al.,  1986.</a:t>
            </a:r>
            <a:endParaRPr b="0" lang="en-US" sz="1800" strike="noStrike" u="none">
              <a:solidFill>
                <a:srgbClr val="ffff00"/>
              </a:solidFill>
              <a:effectLst/>
              <a:uFillTx/>
              <a:latin typeface="Times New Roman"/>
            </a:endParaRPr>
          </a:p>
        </p:txBody>
      </p:sp>
    </p:spTree>
  </p:cSld>
  <p:transition spd="med">
    <p:zoom dir="out"/>
  </p:transition>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3" name="Rectangle 2"/>
          <p:cNvSpPr/>
          <p:nvPr/>
        </p:nvSpPr>
        <p:spPr>
          <a:xfrm>
            <a:off x="1371600" y="0"/>
            <a:ext cx="7772400" cy="876240"/>
          </a:xfrm>
          <a:prstGeom prst="rect">
            <a:avLst/>
          </a:prstGeom>
          <a:noFill/>
          <a:ln w="0">
            <a:noFill/>
          </a:ln>
        </p:spPr>
        <p:style>
          <a:lnRef idx="0"/>
          <a:fillRef idx="0"/>
          <a:effectRef idx="0"/>
          <a:fontRef idx="minor"/>
        </p:style>
        <p:txBody>
          <a:bodyPr lIns="92160" rIns="92160" tIns="46080" bIns="4608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ff9933"/>
                </a:solidFill>
                <a:effectLst/>
                <a:uFillTx/>
                <a:latin typeface="Arial"/>
              </a:rPr>
              <a:t>	</a:t>
            </a:r>
            <a:r>
              <a:rPr b="1" i="1" lang="fr-FR" sz="3600" strike="noStrike" u="none">
                <a:solidFill>
                  <a:srgbClr val="ff9933"/>
                </a:solidFill>
                <a:effectLst/>
                <a:uFillTx/>
                <a:latin typeface="Arial"/>
              </a:rPr>
              <a:t>	</a:t>
            </a:r>
            <a:r>
              <a:rPr b="1" i="1" lang="fr-FR" sz="3600" strike="noStrike" u="none">
                <a:solidFill>
                  <a:srgbClr val="ff9933"/>
                </a:solidFill>
                <a:effectLst/>
                <a:uFillTx/>
                <a:latin typeface="Arial"/>
              </a:rPr>
              <a:t>	</a:t>
            </a:r>
            <a:r>
              <a:rPr b="1" i="1" lang="fr-FR" sz="2800" strike="noStrike" u="none">
                <a:solidFill>
                  <a:srgbClr val="ff9933"/>
                </a:solidFill>
                <a:effectLst/>
                <a:uFillTx/>
                <a:latin typeface="Arial"/>
              </a:rPr>
              <a:t>Économie de course</a:t>
            </a:r>
            <a:endParaRPr b="0" lang="en-US" sz="2800" strike="noStrike" u="none">
              <a:solidFill>
                <a:srgbClr val="ffff00"/>
              </a:solidFill>
              <a:effectLst/>
              <a:uFillTx/>
              <a:latin typeface="Times New Roman"/>
            </a:endParaRPr>
          </a:p>
        </p:txBody>
      </p:sp>
      <p:pic>
        <p:nvPicPr>
          <p:cNvPr id="2684" name="Picture 3" descr="~AUT0018"/>
          <p:cNvPicPr/>
          <p:nvPr/>
        </p:nvPicPr>
        <p:blipFill>
          <a:blip r:embed="rId1"/>
          <a:stretch/>
        </p:blipFill>
        <p:spPr>
          <a:xfrm>
            <a:off x="1371600" y="1447920"/>
            <a:ext cx="6348240" cy="4633920"/>
          </a:xfrm>
          <a:prstGeom prst="rect">
            <a:avLst/>
          </a:prstGeom>
          <a:noFill/>
          <a:ln w="0">
            <a:noFill/>
          </a:ln>
        </p:spPr>
      </p:pic>
      <p:sp>
        <p:nvSpPr>
          <p:cNvPr id="2685" name="Line 4"/>
          <p:cNvSpPr/>
          <p:nvPr/>
        </p:nvSpPr>
        <p:spPr>
          <a:xfrm>
            <a:off x="762120" y="914400"/>
            <a:ext cx="79246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Tree>
  </p:cSld>
  <p:transition spd="med">
    <p:zoom dir="out"/>
  </p:transition>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6" name="Text Box 2"/>
          <p:cNvSpPr/>
          <p:nvPr/>
        </p:nvSpPr>
        <p:spPr>
          <a:xfrm>
            <a:off x="0" y="304920"/>
            <a:ext cx="9144000" cy="6434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Comic Sans MS"/>
              </a:rPr>
              <a:t>  L ’ECONOMIE DE LOCOMOTION DE L ’ENFANT</a:t>
            </a: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En moyenne l ’enfant présente un moins bon rendement (ou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économie de course E.C.) que l ’adulte ce qui se traduit par une plus grande dépense énergétique pour se déplacer à la même vitesse:</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Par exemple pour courir à une vitesse de 10 km/h</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Age (ans)          E.C.(ml.kg</a:t>
            </a:r>
            <a:r>
              <a:rPr b="1" lang="fr-FR" sz="2400" strike="noStrike" u="none" baseline="30000">
                <a:solidFill>
                  <a:srgbClr val="ffff00"/>
                </a:solidFill>
                <a:effectLst/>
                <a:uFillTx/>
                <a:latin typeface="Arial"/>
              </a:rPr>
              <a:t>-1</a:t>
            </a:r>
            <a:r>
              <a:rPr b="1" lang="fr-FR" sz="2400" strike="noStrike" u="none">
                <a:solidFill>
                  <a:srgbClr val="ffff00"/>
                </a:solidFill>
                <a:effectLst/>
                <a:uFillTx/>
                <a:latin typeface="Arial"/>
              </a:rPr>
              <a:t>.m</a:t>
            </a:r>
            <a:r>
              <a:rPr b="1" lang="fr-FR" sz="2400" strike="noStrike" u="none" baseline="30000">
                <a:solidFill>
                  <a:srgbClr val="ffff00"/>
                </a:solidFill>
                <a:effectLst/>
                <a:uFillTx/>
                <a:latin typeface="Arial"/>
              </a:rPr>
              <a:t>-1</a:t>
            </a:r>
            <a:r>
              <a:rPr b="1" lang="fr-FR" sz="2400" strike="noStrike" u="none">
                <a:solidFill>
                  <a:srgbClr val="ffff00"/>
                </a:solidFill>
                <a:effectLst/>
                <a:uFillTx/>
                <a:latin typeface="Arial"/>
              </a:rPr>
              <a:t>)</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7-9                       0.26 </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10 -11                   0.25</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14 -15                   0.24</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16 -18                   0.23</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                        18 et +                  0.21</a:t>
            </a:r>
            <a:endParaRPr b="0" lang="en-US" sz="2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Astrand 1952, Krahenbuhi et al. 1989, Mac Dougal et al. 1983</a:t>
            </a:r>
            <a:r>
              <a:rPr b="0" lang="fr-FR" sz="2400" strike="noStrike" u="none">
                <a:solidFill>
                  <a:srgbClr val="ffff00"/>
                </a:solidFill>
                <a:effectLst/>
                <a:uFillTx/>
                <a:latin typeface="Arial"/>
              </a:rPr>
              <a:t>                </a:t>
            </a:r>
            <a:endParaRPr b="0" lang="en-US" sz="2400" strike="noStrike" u="none">
              <a:solidFill>
                <a:srgbClr val="ffff00"/>
              </a:solidFill>
              <a:effectLst/>
              <a:uFillTx/>
              <a:latin typeface="Times New Roman"/>
            </a:endParaRPr>
          </a:p>
        </p:txBody>
      </p:sp>
    </p:spTree>
  </p:cSld>
  <p:transition spd="med">
    <p:zoom dir="out"/>
  </p:transition>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7" name="Text Box 2"/>
          <p:cNvSpPr/>
          <p:nvPr/>
        </p:nvSpPr>
        <p:spPr>
          <a:xfrm>
            <a:off x="1523880" y="2544840"/>
            <a:ext cx="6210360" cy="106956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00"/>
                </a:solidFill>
                <a:effectLst/>
                <a:uFillTx/>
                <a:latin typeface="Comic Sans MS"/>
              </a:rPr>
              <a:t>ENDURANCE AEROBIE</a:t>
            </a:r>
            <a:endParaRPr b="0" lang="en-US" sz="3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200" strike="noStrike" u="none">
              <a:solidFill>
                <a:srgbClr val="ffff00"/>
              </a:solidFill>
              <a:effectLst/>
              <a:uFillTx/>
              <a:latin typeface="Times New Roman"/>
            </a:endParaRPr>
          </a:p>
        </p:txBody>
      </p:sp>
    </p:spTree>
  </p:cSld>
  <p:transition spd="med">
    <p:zoom dir="out"/>
  </p:transition>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8" name="Rectangle 2"/>
          <p:cNvSpPr/>
          <p:nvPr/>
        </p:nvSpPr>
        <p:spPr>
          <a:xfrm>
            <a:off x="228600" y="838080"/>
            <a:ext cx="167652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FREQUENCE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CARDIAQUE MAX</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FC max</a:t>
            </a:r>
            <a:endParaRPr b="0" lang="en-US" sz="1400" strike="noStrike" u="none">
              <a:solidFill>
                <a:srgbClr val="ffff00"/>
              </a:solidFill>
              <a:effectLst/>
              <a:uFillTx/>
              <a:latin typeface="Times New Roman"/>
            </a:endParaRPr>
          </a:p>
        </p:txBody>
      </p:sp>
      <p:sp>
        <p:nvSpPr>
          <p:cNvPr id="2689" name="Rectangle 3"/>
          <p:cNvSpPr/>
          <p:nvPr/>
        </p:nvSpPr>
        <p:spPr>
          <a:xfrm>
            <a:off x="2209680" y="838080"/>
            <a:ext cx="205740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VOLUME D’EJECTION</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SYSTOLIQUE MAX</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VS max</a:t>
            </a:r>
            <a:endParaRPr b="0" lang="en-US" sz="1400" strike="noStrike" u="none">
              <a:solidFill>
                <a:srgbClr val="ffff00"/>
              </a:solidFill>
              <a:effectLst/>
              <a:uFillTx/>
              <a:latin typeface="Times New Roman"/>
            </a:endParaRPr>
          </a:p>
        </p:txBody>
      </p:sp>
      <p:sp>
        <p:nvSpPr>
          <p:cNvPr id="2690" name="Line 4"/>
          <p:cNvSpPr/>
          <p:nvPr/>
        </p:nvSpPr>
        <p:spPr>
          <a:xfrm>
            <a:off x="1219320" y="160020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1" name="Line 5"/>
          <p:cNvSpPr/>
          <p:nvPr/>
        </p:nvSpPr>
        <p:spPr>
          <a:xfrm>
            <a:off x="3352680" y="160020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2" name="Line 6"/>
          <p:cNvSpPr/>
          <p:nvPr/>
        </p:nvSpPr>
        <p:spPr>
          <a:xfrm>
            <a:off x="1219320" y="2286000"/>
            <a:ext cx="213336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3" name="Line 7"/>
          <p:cNvSpPr/>
          <p:nvPr/>
        </p:nvSpPr>
        <p:spPr>
          <a:xfrm>
            <a:off x="2209680" y="2286000"/>
            <a:ext cx="0" cy="3808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4" name="Rectangle 8"/>
          <p:cNvSpPr/>
          <p:nvPr/>
        </p:nvSpPr>
        <p:spPr>
          <a:xfrm>
            <a:off x="1143000" y="2666880"/>
            <a:ext cx="175248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DEBIT CARDIAQUE</a:t>
            </a:r>
            <a:br>
              <a:rPr sz="1400"/>
            </a:br>
            <a:r>
              <a:rPr b="1" lang="es-CL" sz="1400" strike="noStrike" u="none">
                <a:solidFill>
                  <a:srgbClr val="ffff00"/>
                </a:solidFill>
                <a:effectLst/>
                <a:uFillTx/>
                <a:latin typeface="Arial"/>
              </a:rPr>
              <a:t>MAXIMAL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trike="noStrike" u="none">
              <a:solidFill>
                <a:srgbClr val="ffff00"/>
              </a:solidFill>
              <a:effectLst/>
              <a:uFillTx/>
              <a:latin typeface="Times New Roman"/>
            </a:endParaRPr>
          </a:p>
        </p:txBody>
      </p:sp>
      <p:sp>
        <p:nvSpPr>
          <p:cNvPr id="2695" name="Rectangle 9"/>
          <p:cNvSpPr/>
          <p:nvPr/>
        </p:nvSpPr>
        <p:spPr>
          <a:xfrm>
            <a:off x="3276720" y="2666880"/>
            <a:ext cx="2209680" cy="7621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DIFFERENCE ARTERIO-</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VEINEUSE EN 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 :</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 - Cv 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a:t>
            </a:r>
            <a:endParaRPr b="0" lang="en-US" sz="1400" strike="noStrike" u="none">
              <a:solidFill>
                <a:srgbClr val="ffff00"/>
              </a:solidFill>
              <a:effectLst/>
              <a:uFillTx/>
              <a:latin typeface="Times New Roman"/>
            </a:endParaRPr>
          </a:p>
        </p:txBody>
      </p:sp>
      <p:sp>
        <p:nvSpPr>
          <p:cNvPr id="2696" name="Line 10"/>
          <p:cNvSpPr/>
          <p:nvPr/>
        </p:nvSpPr>
        <p:spPr>
          <a:xfrm>
            <a:off x="22096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7" name="Line 11"/>
          <p:cNvSpPr/>
          <p:nvPr/>
        </p:nvSpPr>
        <p:spPr>
          <a:xfrm>
            <a:off x="434340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8" name="Line 12"/>
          <p:cNvSpPr/>
          <p:nvPr/>
        </p:nvSpPr>
        <p:spPr>
          <a:xfrm>
            <a:off x="2209680" y="3809880"/>
            <a:ext cx="21337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699" name="Line 13"/>
          <p:cNvSpPr/>
          <p:nvPr/>
        </p:nvSpPr>
        <p:spPr>
          <a:xfrm>
            <a:off x="3276720" y="3809880"/>
            <a:ext cx="0" cy="304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00" name="Rectangle 14"/>
          <p:cNvSpPr/>
          <p:nvPr/>
        </p:nvSpPr>
        <p:spPr>
          <a:xfrm>
            <a:off x="2209680" y="4114800"/>
            <a:ext cx="21337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CONSOMMATION MAX</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D’OXYGENE: VO</a:t>
            </a:r>
            <a:r>
              <a:rPr b="1" lang="es-CL" sz="1600" strike="noStrike" u="none" baseline="-25000">
                <a:solidFill>
                  <a:srgbClr val="ffff00"/>
                </a:solidFill>
                <a:effectLst/>
                <a:uFillTx/>
                <a:latin typeface="Arial"/>
              </a:rPr>
              <a:t>2</a:t>
            </a:r>
            <a:r>
              <a:rPr b="1" lang="es-CL" sz="1400" strike="noStrike" u="none">
                <a:solidFill>
                  <a:srgbClr val="ffff00"/>
                </a:solidFill>
                <a:effectLst/>
                <a:uFillTx/>
                <a:latin typeface="Arial"/>
              </a:rPr>
              <a:t> max</a:t>
            </a:r>
            <a:endParaRPr b="0" lang="en-US" sz="1400" strike="noStrike" u="none">
              <a:solidFill>
                <a:srgbClr val="ffff00"/>
              </a:solidFill>
              <a:effectLst/>
              <a:uFillTx/>
              <a:latin typeface="Times New Roman"/>
            </a:endParaRPr>
          </a:p>
        </p:txBody>
      </p:sp>
      <p:sp>
        <p:nvSpPr>
          <p:cNvPr id="2701" name="Rectangle 15"/>
          <p:cNvSpPr/>
          <p:nvPr/>
        </p:nvSpPr>
        <p:spPr>
          <a:xfrm>
            <a:off x="3657600" y="1905120"/>
            <a:ext cx="1371600" cy="3808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[Hb]; % Sa O</a:t>
            </a:r>
            <a:r>
              <a:rPr b="1" lang="es-CL" sz="1600" strike="noStrike" u="none" baseline="-25000">
                <a:solidFill>
                  <a:srgbClr val="ffff00"/>
                </a:solidFill>
                <a:effectLst/>
                <a:uFillTx/>
                <a:latin typeface="Arial"/>
              </a:rPr>
              <a:t>2</a:t>
            </a:r>
            <a:endParaRPr b="0" lang="en-US" sz="1600" strike="noStrike" u="none">
              <a:solidFill>
                <a:srgbClr val="ffff00"/>
              </a:solidFill>
              <a:effectLst/>
              <a:uFillTx/>
              <a:latin typeface="Times New Roman"/>
            </a:endParaRPr>
          </a:p>
        </p:txBody>
      </p:sp>
      <p:sp>
        <p:nvSpPr>
          <p:cNvPr id="2702" name="Line 16"/>
          <p:cNvSpPr/>
          <p:nvPr/>
        </p:nvSpPr>
        <p:spPr>
          <a:xfrm>
            <a:off x="4267080" y="2286000"/>
            <a:ext cx="0" cy="38088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03" name="Rectangle 17"/>
          <p:cNvSpPr/>
          <p:nvPr/>
        </p:nvSpPr>
        <p:spPr>
          <a:xfrm>
            <a:off x="4724280" y="914400"/>
            <a:ext cx="12193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DENSITE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CAPILLAIRE</a:t>
            </a:r>
            <a:endParaRPr b="0" lang="en-US" sz="1400" strike="noStrike" u="none">
              <a:solidFill>
                <a:srgbClr val="ffff00"/>
              </a:solidFill>
              <a:effectLst/>
              <a:uFillTx/>
              <a:latin typeface="Times New Roman"/>
            </a:endParaRPr>
          </a:p>
        </p:txBody>
      </p:sp>
      <p:sp>
        <p:nvSpPr>
          <p:cNvPr id="2704" name="Rectangle 18"/>
          <p:cNvSpPr/>
          <p:nvPr/>
        </p:nvSpPr>
        <p:spPr>
          <a:xfrm>
            <a:off x="6172200" y="914400"/>
            <a:ext cx="167652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MITOCHONDRIES</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ENZYMES </a:t>
            </a:r>
            <a:br>
              <a:rPr sz="1400"/>
            </a:br>
            <a:r>
              <a:rPr b="1" lang="es-CL" sz="1400" strike="noStrike" u="none">
                <a:solidFill>
                  <a:srgbClr val="ffff00"/>
                </a:solidFill>
                <a:effectLst/>
                <a:uFillTx/>
                <a:latin typeface="Arial"/>
              </a:rPr>
              <a:t>OXYDATIVES</a:t>
            </a:r>
            <a:endParaRPr b="0" lang="en-US" sz="1400" strike="noStrike" u="none">
              <a:solidFill>
                <a:srgbClr val="ffff00"/>
              </a:solidFill>
              <a:effectLst/>
              <a:uFillTx/>
              <a:latin typeface="Times New Roman"/>
            </a:endParaRPr>
          </a:p>
        </p:txBody>
      </p:sp>
      <p:sp>
        <p:nvSpPr>
          <p:cNvPr id="2705" name="Line 19"/>
          <p:cNvSpPr/>
          <p:nvPr/>
        </p:nvSpPr>
        <p:spPr>
          <a:xfrm>
            <a:off x="5257800" y="152388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06" name="Line 20"/>
          <p:cNvSpPr/>
          <p:nvPr/>
        </p:nvSpPr>
        <p:spPr>
          <a:xfrm>
            <a:off x="7086600" y="1523880"/>
            <a:ext cx="0" cy="68580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07" name="Line 21"/>
          <p:cNvSpPr/>
          <p:nvPr/>
        </p:nvSpPr>
        <p:spPr>
          <a:xfrm>
            <a:off x="5257800" y="2209680"/>
            <a:ext cx="18288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08" name="Line 22"/>
          <p:cNvSpPr/>
          <p:nvPr/>
        </p:nvSpPr>
        <p:spPr>
          <a:xfrm>
            <a:off x="5638680" y="2209680"/>
            <a:ext cx="0" cy="19051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09" name="Rectangle 23"/>
          <p:cNvSpPr/>
          <p:nvPr/>
        </p:nvSpPr>
        <p:spPr>
          <a:xfrm>
            <a:off x="4648320" y="4114800"/>
            <a:ext cx="220968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ENDURANCE AEROBIE: </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à un % de VO2 max</a:t>
            </a:r>
            <a:endParaRPr b="0" lang="en-US" sz="1400" strike="noStrike" u="none">
              <a:solidFill>
                <a:srgbClr val="ffff00"/>
              </a:solidFill>
              <a:effectLst/>
              <a:uFillTx/>
              <a:latin typeface="Times New Roman"/>
            </a:endParaRPr>
          </a:p>
        </p:txBody>
      </p:sp>
      <p:sp>
        <p:nvSpPr>
          <p:cNvPr id="2710" name="Rectangle 24"/>
          <p:cNvSpPr/>
          <p:nvPr/>
        </p:nvSpPr>
        <p:spPr>
          <a:xfrm>
            <a:off x="6934320" y="4114800"/>
            <a:ext cx="1600200" cy="60948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ECONOMIE DE</a:t>
            </a:r>
            <a:endParaRPr b="0" lang="en-US" sz="14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LOCOMOTION</a:t>
            </a:r>
            <a:endParaRPr b="0" lang="en-US" sz="1400" strike="noStrike" u="none">
              <a:solidFill>
                <a:srgbClr val="ffff00"/>
              </a:solidFill>
              <a:effectLst/>
              <a:uFillTx/>
              <a:latin typeface="Times New Roman"/>
            </a:endParaRPr>
          </a:p>
        </p:txBody>
      </p:sp>
      <p:sp>
        <p:nvSpPr>
          <p:cNvPr id="2711" name="Rectangle 25"/>
          <p:cNvSpPr/>
          <p:nvPr/>
        </p:nvSpPr>
        <p:spPr>
          <a:xfrm>
            <a:off x="6019920" y="2895480"/>
            <a:ext cx="137160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MASSE</a:t>
            </a:r>
            <a:endParaRPr b="0" lang="en-US" sz="14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CORPORELLE</a:t>
            </a:r>
            <a:endParaRPr b="0" lang="en-US" sz="1400" strike="noStrike" u="none">
              <a:solidFill>
                <a:srgbClr val="ffff00"/>
              </a:solidFill>
              <a:effectLst/>
              <a:uFillTx/>
              <a:latin typeface="Times New Roman"/>
            </a:endParaRPr>
          </a:p>
        </p:txBody>
      </p:sp>
      <p:sp>
        <p:nvSpPr>
          <p:cNvPr id="2712" name="Rectangle 26"/>
          <p:cNvSpPr/>
          <p:nvPr/>
        </p:nvSpPr>
        <p:spPr>
          <a:xfrm>
            <a:off x="7467480" y="2895480"/>
            <a:ext cx="1524240" cy="53352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1400" strike="noStrike" u="none">
                <a:solidFill>
                  <a:srgbClr val="ffff00"/>
                </a:solidFill>
                <a:effectLst/>
                <a:uFillTx/>
                <a:latin typeface="Arial"/>
              </a:rPr>
              <a:t>SPECIALISATION</a:t>
            </a:r>
            <a:endParaRPr b="0" lang="en-US" sz="1400" strike="noStrike" u="none">
              <a:solidFill>
                <a:srgbClr val="ffff00"/>
              </a:solidFill>
              <a:effectLst/>
              <a:uFillTx/>
              <a:latin typeface="Times New Roman"/>
            </a:endParaRPr>
          </a:p>
        </p:txBody>
      </p:sp>
      <p:sp>
        <p:nvSpPr>
          <p:cNvPr id="2713" name="Line 27"/>
          <p:cNvSpPr/>
          <p:nvPr/>
        </p:nvSpPr>
        <p:spPr>
          <a:xfrm>
            <a:off x="67816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14" name="Line 28"/>
          <p:cNvSpPr/>
          <p:nvPr/>
        </p:nvSpPr>
        <p:spPr>
          <a:xfrm>
            <a:off x="8153280" y="3429000"/>
            <a:ext cx="0" cy="38088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15" name="Line 29"/>
          <p:cNvSpPr/>
          <p:nvPr/>
        </p:nvSpPr>
        <p:spPr>
          <a:xfrm>
            <a:off x="6781680" y="3809880"/>
            <a:ext cx="13716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16" name="Line 30"/>
          <p:cNvSpPr/>
          <p:nvPr/>
        </p:nvSpPr>
        <p:spPr>
          <a:xfrm>
            <a:off x="7391520" y="3809880"/>
            <a:ext cx="0" cy="304920"/>
          </a:xfrm>
          <a:prstGeom prst="line">
            <a:avLst/>
          </a:prstGeom>
          <a:ln w="2844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17" name="Line 31"/>
          <p:cNvSpPr/>
          <p:nvPr/>
        </p:nvSpPr>
        <p:spPr>
          <a:xfrm>
            <a:off x="320040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18" name="Line 32"/>
          <p:cNvSpPr/>
          <p:nvPr/>
        </p:nvSpPr>
        <p:spPr>
          <a:xfrm>
            <a:off x="563868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19" name="Line 33"/>
          <p:cNvSpPr/>
          <p:nvPr/>
        </p:nvSpPr>
        <p:spPr>
          <a:xfrm>
            <a:off x="7620120" y="4724280"/>
            <a:ext cx="0" cy="38124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20" name="Line 34"/>
          <p:cNvSpPr/>
          <p:nvPr/>
        </p:nvSpPr>
        <p:spPr>
          <a:xfrm>
            <a:off x="3200400" y="5105520"/>
            <a:ext cx="441972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21" name="Line 35"/>
          <p:cNvSpPr/>
          <p:nvPr/>
        </p:nvSpPr>
        <p:spPr>
          <a:xfrm>
            <a:off x="5257800" y="5105520"/>
            <a:ext cx="0" cy="304560"/>
          </a:xfrm>
          <a:prstGeom prst="line">
            <a:avLst/>
          </a:prstGeom>
          <a:ln w="28440">
            <a:solidFill>
              <a:srgbClr val="ffff00"/>
            </a:solidFill>
            <a:miter/>
            <a:head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722" name="Rectangle 36"/>
          <p:cNvSpPr/>
          <p:nvPr/>
        </p:nvSpPr>
        <p:spPr>
          <a:xfrm>
            <a:off x="4038480" y="5410080"/>
            <a:ext cx="2895840" cy="457200"/>
          </a:xfrm>
          <a:prstGeom prst="rect">
            <a:avLst/>
          </a:prstGeom>
          <a:no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s-CL" sz="2000" strike="noStrike" u="none">
                <a:solidFill>
                  <a:srgbClr val="ffff00"/>
                </a:solidFill>
                <a:effectLst/>
                <a:uFillTx/>
                <a:latin typeface="Arial"/>
              </a:rPr>
              <a:t>CAPACITE AEROBIE</a:t>
            </a:r>
            <a:endParaRPr b="0" lang="en-US" sz="2000" strike="noStrike" u="none">
              <a:solidFill>
                <a:srgbClr val="ffff00"/>
              </a:solidFill>
              <a:effectLst/>
              <a:uFillTx/>
              <a:latin typeface="Times New Roman"/>
            </a:endParaRPr>
          </a:p>
        </p:txBody>
      </p:sp>
      <p:sp>
        <p:nvSpPr>
          <p:cNvPr id="2723" name="Text Box 39"/>
          <p:cNvSpPr/>
          <p:nvPr/>
        </p:nvSpPr>
        <p:spPr>
          <a:xfrm>
            <a:off x="-304920" y="228600"/>
            <a:ext cx="975384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2000" strike="noStrike" u="none">
                <a:solidFill>
                  <a:srgbClr val="ffff00"/>
                </a:solidFill>
                <a:effectLst/>
                <a:uFillTx/>
                <a:latin typeface="Arial"/>
              </a:rPr>
              <a:t>FACTEURS PHYSIOLOGIQUES DE LA PERFORMANCE DE LONGUE DUREE</a:t>
            </a:r>
            <a:endParaRPr b="0" lang="en-US" sz="2000" strike="noStrike" u="none">
              <a:solidFill>
                <a:srgbClr val="ffff00"/>
              </a:solidFill>
              <a:effectLst/>
              <a:uFillTx/>
              <a:latin typeface="Times New Roman"/>
            </a:endParaRPr>
          </a:p>
        </p:txBody>
      </p:sp>
      <p:sp>
        <p:nvSpPr>
          <p:cNvPr id="2724" name="Oval 40"/>
          <p:cNvSpPr/>
          <p:nvPr/>
        </p:nvSpPr>
        <p:spPr>
          <a:xfrm>
            <a:off x="4140360" y="492120"/>
            <a:ext cx="3816360" cy="4880160"/>
          </a:xfrm>
          <a:prstGeom prst="ellipse">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725" name="Line 41"/>
          <p:cNvSpPr/>
          <p:nvPr/>
        </p:nvSpPr>
        <p:spPr>
          <a:xfrm>
            <a:off x="4343400" y="3809880"/>
            <a:ext cx="12952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timing>
    <p:tnLst>
      <p:par>
        <p:cTn id="2442" dur="indefinite" restart="never" nodeType="tmRoot">
          <p:childTnLst>
            <p:seq>
              <p:cTn id="2443" dur="indefinite" nodeType="mainSeq">
                <p:childTnLst>
                  <p:par>
                    <p:cTn id="2444" nodeType="clickEffect" fill="hold">
                      <p:stCondLst>
                        <p:cond delay="indefinite"/>
                      </p:stCondLst>
                      <p:childTnLst>
                        <p:par>
                          <p:cTn id="2445" nodeType="withEffect" fill="hold">
                            <p:stCondLst>
                              <p:cond delay="0"/>
                            </p:stCondLst>
                            <p:childTnLst>
                              <p:par>
                                <p:cTn id="2446" nodeType="clickEffect" fill="hold" presetClass="entr" presetID="19" presetSubtype="10">
                                  <p:stCondLst>
                                    <p:cond delay="0"/>
                                  </p:stCondLst>
                                  <p:childTnLst>
                                    <p:set>
                                      <p:cBhvr>
                                        <p:cTn id="2447" dur="1" fill="hold">
                                          <p:stCondLst>
                                            <p:cond delay="0"/>
                                          </p:stCondLst>
                                        </p:cTn>
                                        <p:tgtEl>
                                          <p:spTgt spid="2724"/>
                                        </p:tgtEl>
                                        <p:attrNameLst>
                                          <p:attrName>style.visibility</p:attrName>
                                        </p:attrNameLst>
                                      </p:cBhvr>
                                      <p:to>
                                        <p:strVal val="visible"/>
                                      </p:to>
                                    </p:set>
                                    <p:anim calcmode="lin" valueType="num">
                                      <p:cBhvr additive="repl">
                                        <p:cTn id="2448" dur="5000" fill="hold"/>
                                        <p:tgtEl>
                                          <p:spTgt spid="2724"/>
                                        </p:tgtEl>
                                        <p:attrNameLst>
                                          <p:attrName>ppt_w</p:attrName>
                                        </p:attrNameLst>
                                      </p:cBhvr>
                                      <p:tavLst>
                                        <p:tav fmla="width*sin(2.5*pi*$)" tm="0">
                                          <p:val>
                                            <p:fltVal val="0"/>
                                          </p:val>
                                        </p:tav>
                                        <p:tav fmla="width*sin(2.5*pi*$)" tm="100000">
                                          <p:val>
                                            <p:fltVal val="1"/>
                                          </p:val>
                                        </p:tav>
                                      </p:tavLst>
                                    </p:anim>
                                    <p:anim calcmode="lin" valueType="num">
                                      <p:cBhvr additive="repl">
                                        <p:cTn id="2449" dur="5000" fill="hold"/>
                                        <p:tgtEl>
                                          <p:spTgt spid="27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6" name="Rectangle 2"/>
          <p:cNvSpPr/>
          <p:nvPr/>
        </p:nvSpPr>
        <p:spPr>
          <a:xfrm>
            <a:off x="0" y="-169920"/>
            <a:ext cx="9391680" cy="7043760"/>
          </a:xfrm>
          <a:prstGeom prst="rect">
            <a:avLst/>
          </a:prstGeom>
          <a:solidFill>
            <a:srgbClr val="ffffff"/>
          </a:solid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grpSp>
        <p:nvGrpSpPr>
          <p:cNvPr id="2727" name="Group 3"/>
          <p:cNvGrpSpPr/>
          <p:nvPr/>
        </p:nvGrpSpPr>
        <p:grpSpPr>
          <a:xfrm>
            <a:off x="0" y="-3240"/>
            <a:ext cx="9379080" cy="6913800"/>
            <a:chOff x="0" y="-3240"/>
            <a:chExt cx="9379080" cy="6913800"/>
          </a:xfrm>
        </p:grpSpPr>
        <p:grpSp>
          <p:nvGrpSpPr>
            <p:cNvPr id="2728" name="Group 4"/>
            <p:cNvGrpSpPr/>
            <p:nvPr/>
          </p:nvGrpSpPr>
          <p:grpSpPr>
            <a:xfrm>
              <a:off x="0" y="1297080"/>
              <a:ext cx="9379080" cy="156960"/>
              <a:chOff x="0" y="1297080"/>
              <a:chExt cx="9379080" cy="156960"/>
            </a:xfrm>
          </p:grpSpPr>
          <p:grpSp>
            <p:nvGrpSpPr>
              <p:cNvPr id="2729" name="Group 5"/>
              <p:cNvGrpSpPr/>
              <p:nvPr/>
            </p:nvGrpSpPr>
            <p:grpSpPr>
              <a:xfrm>
                <a:off x="0" y="1297080"/>
                <a:ext cx="9379080" cy="75960"/>
                <a:chOff x="0" y="1297080"/>
                <a:chExt cx="9379080" cy="75960"/>
              </a:xfrm>
            </p:grpSpPr>
            <p:sp>
              <p:nvSpPr>
                <p:cNvPr id="2730" name="Rectangle 6"/>
                <p:cNvSpPr/>
                <p:nvPr/>
              </p:nvSpPr>
              <p:spPr>
                <a:xfrm>
                  <a:off x="0" y="1297080"/>
                  <a:ext cx="146160" cy="75960"/>
                </a:xfrm>
                <a:prstGeom prst="rect">
                  <a:avLst/>
                </a:prstGeom>
                <a:solidFill>
                  <a:srgbClr val="bcbcbc"/>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1" name="Rectangle 7"/>
                <p:cNvSpPr/>
                <p:nvPr/>
              </p:nvSpPr>
              <p:spPr>
                <a:xfrm>
                  <a:off x="146160" y="1297080"/>
                  <a:ext cx="147600" cy="75960"/>
                </a:xfrm>
                <a:prstGeom prst="rect">
                  <a:avLst/>
                </a:prstGeom>
                <a:solidFill>
                  <a:srgbClr val="bcbcbc"/>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2" name="Rectangle 8"/>
                <p:cNvSpPr/>
                <p:nvPr/>
              </p:nvSpPr>
              <p:spPr>
                <a:xfrm>
                  <a:off x="293760" y="1297080"/>
                  <a:ext cx="145800" cy="75960"/>
                </a:xfrm>
                <a:prstGeom prst="rect">
                  <a:avLst/>
                </a:prstGeom>
                <a:solidFill>
                  <a:srgbClr val="bdbdbd"/>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3" name="Rectangle 9"/>
                <p:cNvSpPr/>
                <p:nvPr/>
              </p:nvSpPr>
              <p:spPr>
                <a:xfrm>
                  <a:off x="439560" y="1297080"/>
                  <a:ext cx="147960" cy="75960"/>
                </a:xfrm>
                <a:prstGeom prst="rect">
                  <a:avLst/>
                </a:prstGeom>
                <a:solidFill>
                  <a:srgbClr val="bebebe"/>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4" name="Rectangle 10"/>
                <p:cNvSpPr/>
                <p:nvPr/>
              </p:nvSpPr>
              <p:spPr>
                <a:xfrm>
                  <a:off x="587520" y="1297080"/>
                  <a:ext cx="145800" cy="75960"/>
                </a:xfrm>
                <a:prstGeom prst="rect">
                  <a:avLst/>
                </a:prstGeom>
                <a:solidFill>
                  <a:srgbClr val="bebebe"/>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5" name="Rectangle 11"/>
                <p:cNvSpPr/>
                <p:nvPr/>
              </p:nvSpPr>
              <p:spPr>
                <a:xfrm>
                  <a:off x="733320" y="1297080"/>
                  <a:ext cx="147600" cy="75960"/>
                </a:xfrm>
                <a:prstGeom prst="rect">
                  <a:avLst/>
                </a:prstGeom>
                <a:solidFill>
                  <a:srgbClr val="bfbfbf"/>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6" name="Rectangle 12"/>
                <p:cNvSpPr/>
                <p:nvPr/>
              </p:nvSpPr>
              <p:spPr>
                <a:xfrm>
                  <a:off x="880920" y="1297080"/>
                  <a:ext cx="146160" cy="75960"/>
                </a:xfrm>
                <a:prstGeom prst="rect">
                  <a:avLst/>
                </a:prstGeom>
                <a:solidFill>
                  <a:srgbClr val="c1c1c1"/>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7" name="Rectangle 13"/>
                <p:cNvSpPr/>
                <p:nvPr/>
              </p:nvSpPr>
              <p:spPr>
                <a:xfrm>
                  <a:off x="1027080" y="1297080"/>
                  <a:ext cx="142920" cy="75960"/>
                </a:xfrm>
                <a:prstGeom prst="rect">
                  <a:avLst/>
                </a:prstGeom>
                <a:solidFill>
                  <a:srgbClr val="c2c2c2"/>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8" name="Rectangle 14"/>
                <p:cNvSpPr/>
                <p:nvPr/>
              </p:nvSpPr>
              <p:spPr>
                <a:xfrm>
                  <a:off x="1170000" y="1297080"/>
                  <a:ext cx="147600" cy="75960"/>
                </a:xfrm>
                <a:prstGeom prst="rect">
                  <a:avLst/>
                </a:prstGeom>
                <a:solidFill>
                  <a:srgbClr val="c4c4c4"/>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39" name="Rectangle 15"/>
                <p:cNvSpPr/>
                <p:nvPr/>
              </p:nvSpPr>
              <p:spPr>
                <a:xfrm>
                  <a:off x="1317600" y="1297080"/>
                  <a:ext cx="146160" cy="75960"/>
                </a:xfrm>
                <a:prstGeom prst="rect">
                  <a:avLst/>
                </a:prstGeom>
                <a:solidFill>
                  <a:srgbClr val="c5c5c5"/>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0" name="Rectangle 16"/>
                <p:cNvSpPr/>
                <p:nvPr/>
              </p:nvSpPr>
              <p:spPr>
                <a:xfrm>
                  <a:off x="1463760" y="1297080"/>
                  <a:ext cx="147600" cy="75960"/>
                </a:xfrm>
                <a:prstGeom prst="rect">
                  <a:avLst/>
                </a:prstGeom>
                <a:solidFill>
                  <a:srgbClr val="c7c7c7"/>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1" name="Rectangle 17"/>
                <p:cNvSpPr/>
                <p:nvPr/>
              </p:nvSpPr>
              <p:spPr>
                <a:xfrm>
                  <a:off x="1611360" y="1297080"/>
                  <a:ext cx="146160" cy="75960"/>
                </a:xfrm>
                <a:prstGeom prst="rect">
                  <a:avLst/>
                </a:prstGeom>
                <a:solidFill>
                  <a:srgbClr val="c9c9c9"/>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2" name="Rectangle 18"/>
                <p:cNvSpPr/>
                <p:nvPr/>
              </p:nvSpPr>
              <p:spPr>
                <a:xfrm>
                  <a:off x="1757520" y="1297080"/>
                  <a:ext cx="147600" cy="75960"/>
                </a:xfrm>
                <a:prstGeom prst="rect">
                  <a:avLst/>
                </a:prstGeom>
                <a:solidFill>
                  <a:srgbClr val="cccccc"/>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3" name="Rectangle 19"/>
                <p:cNvSpPr/>
                <p:nvPr/>
              </p:nvSpPr>
              <p:spPr>
                <a:xfrm>
                  <a:off x="1905120" y="1297080"/>
                  <a:ext cx="145800" cy="75960"/>
                </a:xfrm>
                <a:prstGeom prst="rect">
                  <a:avLst/>
                </a:prstGeom>
                <a:solidFill>
                  <a:srgbClr val="cecece"/>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4" name="Rectangle 20"/>
                <p:cNvSpPr/>
                <p:nvPr/>
              </p:nvSpPr>
              <p:spPr>
                <a:xfrm>
                  <a:off x="2050920" y="1297080"/>
                  <a:ext cx="147600" cy="75960"/>
                </a:xfrm>
                <a:prstGeom prst="rect">
                  <a:avLst/>
                </a:prstGeom>
                <a:solidFill>
                  <a:srgbClr val="d0d0d0"/>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5" name="Rectangle 21"/>
                <p:cNvSpPr/>
                <p:nvPr/>
              </p:nvSpPr>
              <p:spPr>
                <a:xfrm>
                  <a:off x="2198520" y="1297080"/>
                  <a:ext cx="146160" cy="75960"/>
                </a:xfrm>
                <a:prstGeom prst="rect">
                  <a:avLst/>
                </a:prstGeom>
                <a:solidFill>
                  <a:srgbClr val="d3d3d3"/>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6" name="Rectangle 22"/>
                <p:cNvSpPr/>
                <p:nvPr/>
              </p:nvSpPr>
              <p:spPr>
                <a:xfrm>
                  <a:off x="2344680" y="1297080"/>
                  <a:ext cx="146160" cy="75960"/>
                </a:xfrm>
                <a:prstGeom prst="rect">
                  <a:avLst/>
                </a:prstGeom>
                <a:solidFill>
                  <a:srgbClr val="d6d6d6"/>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7" name="Rectangle 23"/>
                <p:cNvSpPr/>
                <p:nvPr/>
              </p:nvSpPr>
              <p:spPr>
                <a:xfrm>
                  <a:off x="2490840" y="1297080"/>
                  <a:ext cx="147600" cy="75960"/>
                </a:xfrm>
                <a:prstGeom prst="rect">
                  <a:avLst/>
                </a:prstGeom>
                <a:solidFill>
                  <a:srgbClr val="d8d8d8"/>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8" name="Rectangle 24"/>
                <p:cNvSpPr/>
                <p:nvPr/>
              </p:nvSpPr>
              <p:spPr>
                <a:xfrm>
                  <a:off x="2638440" y="1297080"/>
                  <a:ext cx="146160" cy="75960"/>
                </a:xfrm>
                <a:prstGeom prst="rect">
                  <a:avLst/>
                </a:prstGeom>
                <a:solidFill>
                  <a:srgbClr val="dadada"/>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49" name="Rectangle 25"/>
                <p:cNvSpPr/>
                <p:nvPr/>
              </p:nvSpPr>
              <p:spPr>
                <a:xfrm>
                  <a:off x="2784600" y="1297080"/>
                  <a:ext cx="147600" cy="75960"/>
                </a:xfrm>
                <a:prstGeom prst="rect">
                  <a:avLst/>
                </a:prstGeom>
                <a:solidFill>
                  <a:srgbClr val="dddddd"/>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0" name="Rectangle 26"/>
                <p:cNvSpPr/>
                <p:nvPr/>
              </p:nvSpPr>
              <p:spPr>
                <a:xfrm>
                  <a:off x="2932200" y="1297080"/>
                  <a:ext cx="145800" cy="75960"/>
                </a:xfrm>
                <a:prstGeom prst="rect">
                  <a:avLst/>
                </a:prstGeom>
                <a:solidFill>
                  <a:srgbClr val="dfdfdf"/>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1" name="Rectangle 27"/>
                <p:cNvSpPr/>
                <p:nvPr/>
              </p:nvSpPr>
              <p:spPr>
                <a:xfrm>
                  <a:off x="3078000" y="1297080"/>
                  <a:ext cx="147960" cy="75960"/>
                </a:xfrm>
                <a:prstGeom prst="rect">
                  <a:avLst/>
                </a:prstGeom>
                <a:solidFill>
                  <a:srgbClr val="e1e1e1"/>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2" name="Rectangle 28"/>
                <p:cNvSpPr/>
                <p:nvPr/>
              </p:nvSpPr>
              <p:spPr>
                <a:xfrm>
                  <a:off x="3225960" y="1297080"/>
                  <a:ext cx="145800" cy="75960"/>
                </a:xfrm>
                <a:prstGeom prst="rect">
                  <a:avLst/>
                </a:prstGeom>
                <a:solidFill>
                  <a:srgbClr val="e2e2e2"/>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3" name="Rectangle 29"/>
                <p:cNvSpPr/>
                <p:nvPr/>
              </p:nvSpPr>
              <p:spPr>
                <a:xfrm>
                  <a:off x="3371760" y="1297080"/>
                  <a:ext cx="144720" cy="75960"/>
                </a:xfrm>
                <a:prstGeom prst="rect">
                  <a:avLst/>
                </a:prstGeom>
                <a:solidFill>
                  <a:srgbClr val="e4e4e4"/>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4" name="Rectangle 30"/>
                <p:cNvSpPr/>
                <p:nvPr/>
              </p:nvSpPr>
              <p:spPr>
                <a:xfrm>
                  <a:off x="3516480" y="1297080"/>
                  <a:ext cx="145800" cy="75960"/>
                </a:xfrm>
                <a:prstGeom prst="rect">
                  <a:avLst/>
                </a:prstGeom>
                <a:solidFill>
                  <a:srgbClr val="e5e5e5"/>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5" name="Rectangle 31"/>
                <p:cNvSpPr/>
                <p:nvPr/>
              </p:nvSpPr>
              <p:spPr>
                <a:xfrm>
                  <a:off x="3662280" y="1297080"/>
                  <a:ext cx="146160" cy="75960"/>
                </a:xfrm>
                <a:prstGeom prst="rect">
                  <a:avLst/>
                </a:prstGeom>
                <a:solidFill>
                  <a:srgbClr val="e6e6e6"/>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6" name="Rectangle 32"/>
                <p:cNvSpPr/>
                <p:nvPr/>
              </p:nvSpPr>
              <p:spPr>
                <a:xfrm>
                  <a:off x="3808440" y="1297080"/>
                  <a:ext cx="147600" cy="75960"/>
                </a:xfrm>
                <a:prstGeom prst="rect">
                  <a:avLst/>
                </a:prstGeom>
                <a:solidFill>
                  <a:srgbClr val="e7e7e7"/>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7" name="Rectangle 33"/>
                <p:cNvSpPr/>
                <p:nvPr/>
              </p:nvSpPr>
              <p:spPr>
                <a:xfrm>
                  <a:off x="3956040" y="1297080"/>
                  <a:ext cx="146160" cy="75960"/>
                </a:xfrm>
                <a:prstGeom prst="rect">
                  <a:avLst/>
                </a:prstGeom>
                <a:solidFill>
                  <a:srgbClr val="e8e8e8"/>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8" name="Rectangle 34"/>
                <p:cNvSpPr/>
                <p:nvPr/>
              </p:nvSpPr>
              <p:spPr>
                <a:xfrm>
                  <a:off x="4102200" y="1297080"/>
                  <a:ext cx="147600" cy="75960"/>
                </a:xfrm>
                <a:prstGeom prst="rect">
                  <a:avLst/>
                </a:prstGeom>
                <a:solidFill>
                  <a:srgbClr val="e9e9e9"/>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59" name="Rectangle 35"/>
                <p:cNvSpPr/>
                <p:nvPr/>
              </p:nvSpPr>
              <p:spPr>
                <a:xfrm>
                  <a:off x="4249800" y="1297080"/>
                  <a:ext cx="146160" cy="75960"/>
                </a:xfrm>
                <a:prstGeom prst="rect">
                  <a:avLst/>
                </a:prstGeom>
                <a:solidFill>
                  <a:srgbClr val="e9e9e9"/>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0" name="Rectangle 36"/>
                <p:cNvSpPr/>
                <p:nvPr/>
              </p:nvSpPr>
              <p:spPr>
                <a:xfrm>
                  <a:off x="4395960" y="1297080"/>
                  <a:ext cx="147600" cy="75960"/>
                </a:xfrm>
                <a:prstGeom prst="rect">
                  <a:avLst/>
                </a:prstGeom>
                <a:solidFill>
                  <a:srgbClr val="eaeaea"/>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1" name="Rectangle 37"/>
                <p:cNvSpPr/>
                <p:nvPr/>
              </p:nvSpPr>
              <p:spPr>
                <a:xfrm>
                  <a:off x="4543560" y="1297080"/>
                  <a:ext cx="145800" cy="75960"/>
                </a:xfrm>
                <a:prstGeom prst="rect">
                  <a:avLst/>
                </a:prstGeom>
                <a:solidFill>
                  <a:srgbClr val="eaeaea"/>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2" name="Rectangle 38"/>
                <p:cNvSpPr/>
                <p:nvPr/>
              </p:nvSpPr>
              <p:spPr>
                <a:xfrm>
                  <a:off x="4689360" y="1297080"/>
                  <a:ext cx="146160" cy="75960"/>
                </a:xfrm>
                <a:prstGeom prst="rect">
                  <a:avLst/>
                </a:prstGeom>
                <a:solidFill>
                  <a:srgbClr val="eaeaea"/>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3" name="Rectangle 39"/>
                <p:cNvSpPr/>
                <p:nvPr/>
              </p:nvSpPr>
              <p:spPr>
                <a:xfrm>
                  <a:off x="4835520" y="1297080"/>
                  <a:ext cx="147600" cy="75960"/>
                </a:xfrm>
                <a:prstGeom prst="rect">
                  <a:avLst/>
                </a:prstGeom>
                <a:solidFill>
                  <a:srgbClr val="eaeaea"/>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4" name="Rectangle 40"/>
                <p:cNvSpPr/>
                <p:nvPr/>
              </p:nvSpPr>
              <p:spPr>
                <a:xfrm>
                  <a:off x="4983120" y="1297080"/>
                  <a:ext cx="146160" cy="75960"/>
                </a:xfrm>
                <a:prstGeom prst="rect">
                  <a:avLst/>
                </a:prstGeom>
                <a:solidFill>
                  <a:srgbClr val="e9e9e9"/>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5" name="Rectangle 41"/>
                <p:cNvSpPr/>
                <p:nvPr/>
              </p:nvSpPr>
              <p:spPr>
                <a:xfrm>
                  <a:off x="5129280" y="1297080"/>
                  <a:ext cx="147600" cy="75960"/>
                </a:xfrm>
                <a:prstGeom prst="rect">
                  <a:avLst/>
                </a:prstGeom>
                <a:solidFill>
                  <a:srgbClr val="e9e9e9"/>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6" name="Rectangle 42"/>
                <p:cNvSpPr/>
                <p:nvPr/>
              </p:nvSpPr>
              <p:spPr>
                <a:xfrm>
                  <a:off x="5276880" y="1297080"/>
                  <a:ext cx="146160" cy="75960"/>
                </a:xfrm>
                <a:prstGeom prst="rect">
                  <a:avLst/>
                </a:prstGeom>
                <a:solidFill>
                  <a:srgbClr val="e8e8e8"/>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7" name="Rectangle 43"/>
                <p:cNvSpPr/>
                <p:nvPr/>
              </p:nvSpPr>
              <p:spPr>
                <a:xfrm>
                  <a:off x="5423040" y="1297080"/>
                  <a:ext cx="147600" cy="75960"/>
                </a:xfrm>
                <a:prstGeom prst="rect">
                  <a:avLst/>
                </a:prstGeom>
                <a:solidFill>
                  <a:srgbClr val="e7e7e7"/>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8" name="Rectangle 44"/>
                <p:cNvSpPr/>
                <p:nvPr/>
              </p:nvSpPr>
              <p:spPr>
                <a:xfrm>
                  <a:off x="5570640" y="1297080"/>
                  <a:ext cx="145800" cy="75960"/>
                </a:xfrm>
                <a:prstGeom prst="rect">
                  <a:avLst/>
                </a:prstGeom>
                <a:solidFill>
                  <a:srgbClr val="e6e6e6"/>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69" name="Rectangle 45"/>
                <p:cNvSpPr/>
                <p:nvPr/>
              </p:nvSpPr>
              <p:spPr>
                <a:xfrm>
                  <a:off x="5716440" y="1297080"/>
                  <a:ext cx="144720" cy="75960"/>
                </a:xfrm>
                <a:prstGeom prst="rect">
                  <a:avLst/>
                </a:prstGeom>
                <a:solidFill>
                  <a:srgbClr val="e5e5e5"/>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0" name="Rectangle 46"/>
                <p:cNvSpPr/>
                <p:nvPr/>
              </p:nvSpPr>
              <p:spPr>
                <a:xfrm>
                  <a:off x="5861160" y="1297080"/>
                  <a:ext cx="145800" cy="75960"/>
                </a:xfrm>
                <a:prstGeom prst="rect">
                  <a:avLst/>
                </a:prstGeom>
                <a:solidFill>
                  <a:srgbClr val="e4e4e4"/>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1" name="Rectangle 47"/>
                <p:cNvSpPr/>
                <p:nvPr/>
              </p:nvSpPr>
              <p:spPr>
                <a:xfrm>
                  <a:off x="6006960" y="1297080"/>
                  <a:ext cx="146160" cy="75960"/>
                </a:xfrm>
                <a:prstGeom prst="rect">
                  <a:avLst/>
                </a:prstGeom>
                <a:solidFill>
                  <a:srgbClr val="e2e2e2"/>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2" name="Rectangle 48"/>
                <p:cNvSpPr/>
                <p:nvPr/>
              </p:nvSpPr>
              <p:spPr>
                <a:xfrm>
                  <a:off x="6153120" y="1297080"/>
                  <a:ext cx="147600" cy="75960"/>
                </a:xfrm>
                <a:prstGeom prst="rect">
                  <a:avLst/>
                </a:prstGeom>
                <a:solidFill>
                  <a:srgbClr val="e1e1e1"/>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3" name="Rectangle 49"/>
                <p:cNvSpPr/>
                <p:nvPr/>
              </p:nvSpPr>
              <p:spPr>
                <a:xfrm>
                  <a:off x="6300720" y="1297080"/>
                  <a:ext cx="146160" cy="75960"/>
                </a:xfrm>
                <a:prstGeom prst="rect">
                  <a:avLst/>
                </a:prstGeom>
                <a:solidFill>
                  <a:srgbClr val="dfdfdf"/>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4" name="Rectangle 50"/>
                <p:cNvSpPr/>
                <p:nvPr/>
              </p:nvSpPr>
              <p:spPr>
                <a:xfrm>
                  <a:off x="6446880" y="1297080"/>
                  <a:ext cx="147600" cy="75960"/>
                </a:xfrm>
                <a:prstGeom prst="rect">
                  <a:avLst/>
                </a:prstGeom>
                <a:solidFill>
                  <a:srgbClr val="dddddd"/>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5" name="Rectangle 51"/>
                <p:cNvSpPr/>
                <p:nvPr/>
              </p:nvSpPr>
              <p:spPr>
                <a:xfrm>
                  <a:off x="6594480" y="1297080"/>
                  <a:ext cx="146160" cy="75960"/>
                </a:xfrm>
                <a:prstGeom prst="rect">
                  <a:avLst/>
                </a:prstGeom>
                <a:solidFill>
                  <a:srgbClr val="dadada"/>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6" name="Rectangle 52"/>
                <p:cNvSpPr/>
                <p:nvPr/>
              </p:nvSpPr>
              <p:spPr>
                <a:xfrm>
                  <a:off x="6740640" y="1297080"/>
                  <a:ext cx="147600" cy="75960"/>
                </a:xfrm>
                <a:prstGeom prst="rect">
                  <a:avLst/>
                </a:prstGeom>
                <a:solidFill>
                  <a:srgbClr val="d8d8d8"/>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7" name="Rectangle 53"/>
                <p:cNvSpPr/>
                <p:nvPr/>
              </p:nvSpPr>
              <p:spPr>
                <a:xfrm>
                  <a:off x="6888240" y="1297080"/>
                  <a:ext cx="145800" cy="75960"/>
                </a:xfrm>
                <a:prstGeom prst="rect">
                  <a:avLst/>
                </a:prstGeom>
                <a:solidFill>
                  <a:srgbClr val="d6d6d6"/>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8" name="Rectangle 54"/>
                <p:cNvSpPr/>
                <p:nvPr/>
              </p:nvSpPr>
              <p:spPr>
                <a:xfrm>
                  <a:off x="7034040" y="1297080"/>
                  <a:ext cx="147960" cy="75960"/>
                </a:xfrm>
                <a:prstGeom prst="rect">
                  <a:avLst/>
                </a:prstGeom>
                <a:solidFill>
                  <a:srgbClr val="d3d3d3"/>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79" name="Rectangle 55"/>
                <p:cNvSpPr/>
                <p:nvPr/>
              </p:nvSpPr>
              <p:spPr>
                <a:xfrm>
                  <a:off x="7182000" y="1297080"/>
                  <a:ext cx="145800" cy="75960"/>
                </a:xfrm>
                <a:prstGeom prst="rect">
                  <a:avLst/>
                </a:prstGeom>
                <a:solidFill>
                  <a:srgbClr val="d0d0d0"/>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0" name="Rectangle 56"/>
                <p:cNvSpPr/>
                <p:nvPr/>
              </p:nvSpPr>
              <p:spPr>
                <a:xfrm>
                  <a:off x="7327800" y="1297080"/>
                  <a:ext cx="146160" cy="75960"/>
                </a:xfrm>
                <a:prstGeom prst="rect">
                  <a:avLst/>
                </a:prstGeom>
                <a:solidFill>
                  <a:srgbClr val="cecece"/>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1" name="Rectangle 57"/>
                <p:cNvSpPr/>
                <p:nvPr/>
              </p:nvSpPr>
              <p:spPr>
                <a:xfrm>
                  <a:off x="7473960" y="1297080"/>
                  <a:ext cx="147600" cy="75960"/>
                </a:xfrm>
                <a:prstGeom prst="rect">
                  <a:avLst/>
                </a:prstGeom>
                <a:solidFill>
                  <a:srgbClr val="cccccc"/>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2" name="Rectangle 58"/>
                <p:cNvSpPr/>
                <p:nvPr/>
              </p:nvSpPr>
              <p:spPr>
                <a:xfrm>
                  <a:off x="7621560" y="1297080"/>
                  <a:ext cx="146160" cy="75960"/>
                </a:xfrm>
                <a:prstGeom prst="rect">
                  <a:avLst/>
                </a:prstGeom>
                <a:solidFill>
                  <a:srgbClr val="c9c9c9"/>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3" name="Rectangle 59"/>
                <p:cNvSpPr/>
                <p:nvPr/>
              </p:nvSpPr>
              <p:spPr>
                <a:xfrm>
                  <a:off x="7767720" y="1297080"/>
                  <a:ext cx="147600" cy="75960"/>
                </a:xfrm>
                <a:prstGeom prst="rect">
                  <a:avLst/>
                </a:prstGeom>
                <a:solidFill>
                  <a:srgbClr val="c7c7c7"/>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4" name="Rectangle 60"/>
                <p:cNvSpPr/>
                <p:nvPr/>
              </p:nvSpPr>
              <p:spPr>
                <a:xfrm>
                  <a:off x="7915320" y="1297080"/>
                  <a:ext cx="146160" cy="75960"/>
                </a:xfrm>
                <a:prstGeom prst="rect">
                  <a:avLst/>
                </a:prstGeom>
                <a:solidFill>
                  <a:srgbClr val="c5c5c5"/>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5" name="Rectangle 61"/>
                <p:cNvSpPr/>
                <p:nvPr/>
              </p:nvSpPr>
              <p:spPr>
                <a:xfrm>
                  <a:off x="8061480" y="1297080"/>
                  <a:ext cx="144360" cy="75960"/>
                </a:xfrm>
                <a:prstGeom prst="rect">
                  <a:avLst/>
                </a:prstGeom>
                <a:solidFill>
                  <a:srgbClr val="c4c4c4"/>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6" name="Rectangle 62"/>
                <p:cNvSpPr/>
                <p:nvPr/>
              </p:nvSpPr>
              <p:spPr>
                <a:xfrm>
                  <a:off x="8205840" y="1297080"/>
                  <a:ext cx="146160" cy="75960"/>
                </a:xfrm>
                <a:prstGeom prst="rect">
                  <a:avLst/>
                </a:prstGeom>
                <a:solidFill>
                  <a:srgbClr val="c2c2c2"/>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7" name="Rectangle 63"/>
                <p:cNvSpPr/>
                <p:nvPr/>
              </p:nvSpPr>
              <p:spPr>
                <a:xfrm>
                  <a:off x="8352000" y="1297080"/>
                  <a:ext cx="145800" cy="75960"/>
                </a:xfrm>
                <a:prstGeom prst="rect">
                  <a:avLst/>
                </a:prstGeom>
                <a:solidFill>
                  <a:srgbClr val="c1c1c1"/>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8" name="Rectangle 64"/>
                <p:cNvSpPr/>
                <p:nvPr/>
              </p:nvSpPr>
              <p:spPr>
                <a:xfrm>
                  <a:off x="8497800" y="1297080"/>
                  <a:ext cx="147600" cy="75960"/>
                </a:xfrm>
                <a:prstGeom prst="rect">
                  <a:avLst/>
                </a:prstGeom>
                <a:solidFill>
                  <a:srgbClr val="bfbfbf"/>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89" name="Rectangle 65"/>
                <p:cNvSpPr/>
                <p:nvPr/>
              </p:nvSpPr>
              <p:spPr>
                <a:xfrm>
                  <a:off x="8645400" y="1297080"/>
                  <a:ext cx="146160" cy="75960"/>
                </a:xfrm>
                <a:prstGeom prst="rect">
                  <a:avLst/>
                </a:prstGeom>
                <a:solidFill>
                  <a:srgbClr val="bebebe"/>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90" name="Rectangle 66"/>
                <p:cNvSpPr/>
                <p:nvPr/>
              </p:nvSpPr>
              <p:spPr>
                <a:xfrm>
                  <a:off x="8791560" y="1297080"/>
                  <a:ext cx="147600" cy="75960"/>
                </a:xfrm>
                <a:prstGeom prst="rect">
                  <a:avLst/>
                </a:prstGeom>
                <a:solidFill>
                  <a:srgbClr val="bebebe"/>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91" name="Rectangle 67"/>
                <p:cNvSpPr/>
                <p:nvPr/>
              </p:nvSpPr>
              <p:spPr>
                <a:xfrm>
                  <a:off x="8939160" y="1297080"/>
                  <a:ext cx="146160" cy="75960"/>
                </a:xfrm>
                <a:prstGeom prst="rect">
                  <a:avLst/>
                </a:prstGeom>
                <a:solidFill>
                  <a:srgbClr val="bdbdbd"/>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92" name="Rectangle 68"/>
                <p:cNvSpPr/>
                <p:nvPr/>
              </p:nvSpPr>
              <p:spPr>
                <a:xfrm>
                  <a:off x="9085320" y="1297080"/>
                  <a:ext cx="147600" cy="75960"/>
                </a:xfrm>
                <a:prstGeom prst="rect">
                  <a:avLst/>
                </a:prstGeom>
                <a:solidFill>
                  <a:srgbClr val="bcbcbc"/>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sp>
              <p:nvSpPr>
                <p:cNvPr id="2793" name="Rectangle 69"/>
                <p:cNvSpPr/>
                <p:nvPr/>
              </p:nvSpPr>
              <p:spPr>
                <a:xfrm>
                  <a:off x="9232920" y="1297080"/>
                  <a:ext cx="146160" cy="75960"/>
                </a:xfrm>
                <a:prstGeom prst="rect">
                  <a:avLst/>
                </a:prstGeom>
                <a:solidFill>
                  <a:srgbClr val="bcbcbc"/>
                </a:solidFill>
                <a:ln w="0">
                  <a:noFill/>
                </a:ln>
              </p:spPr>
              <p:style>
                <a:lnRef idx="0"/>
                <a:fillRef idx="0"/>
                <a:effectRef idx="0"/>
                <a:fontRef idx="minor"/>
              </p:style>
              <p:txBody>
                <a:bodyPr lIns="90000" rIns="90000" tIns="29160" bIns="29160" anchor="t">
                  <a:noAutofit/>
                </a:bodyPr>
                <a:p>
                  <a:endParaRPr b="0" lang="en-US" sz="2400" strike="noStrike" u="none">
                    <a:solidFill>
                      <a:srgbClr val="ffff00"/>
                    </a:solidFill>
                    <a:effectLst/>
                    <a:uFillTx/>
                    <a:latin typeface="Times New Roman"/>
                  </a:endParaRPr>
                </a:p>
              </p:txBody>
            </p:sp>
          </p:grpSp>
          <p:grpSp>
            <p:nvGrpSpPr>
              <p:cNvPr id="2794" name="Group 70"/>
              <p:cNvGrpSpPr/>
              <p:nvPr/>
            </p:nvGrpSpPr>
            <p:grpSpPr>
              <a:xfrm>
                <a:off x="0" y="1414440"/>
                <a:ext cx="9379080" cy="39600"/>
                <a:chOff x="0" y="1414440"/>
                <a:chExt cx="9379080" cy="39600"/>
              </a:xfrm>
            </p:grpSpPr>
            <p:sp>
              <p:nvSpPr>
                <p:cNvPr id="2795" name="Rectangle 71"/>
                <p:cNvSpPr/>
                <p:nvPr/>
              </p:nvSpPr>
              <p:spPr>
                <a:xfrm>
                  <a:off x="0" y="1414440"/>
                  <a:ext cx="98280" cy="39600"/>
                </a:xfrm>
                <a:prstGeom prst="rect">
                  <a:avLst/>
                </a:prstGeom>
                <a:solidFill>
                  <a:srgbClr val="7c7c7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796" name="Rectangle 72"/>
                <p:cNvSpPr/>
                <p:nvPr/>
              </p:nvSpPr>
              <p:spPr>
                <a:xfrm>
                  <a:off x="98280" y="1414440"/>
                  <a:ext cx="96840" cy="39600"/>
                </a:xfrm>
                <a:prstGeom prst="rect">
                  <a:avLst/>
                </a:prstGeom>
                <a:solidFill>
                  <a:srgbClr val="7c7c7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797" name="Rectangle 73"/>
                <p:cNvSpPr/>
                <p:nvPr/>
              </p:nvSpPr>
              <p:spPr>
                <a:xfrm>
                  <a:off x="195120" y="1414440"/>
                  <a:ext cx="98640" cy="39600"/>
                </a:xfrm>
                <a:prstGeom prst="rect">
                  <a:avLst/>
                </a:prstGeom>
                <a:solidFill>
                  <a:srgbClr val="7d7d7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798" name="Rectangle 74"/>
                <p:cNvSpPr/>
                <p:nvPr/>
              </p:nvSpPr>
              <p:spPr>
                <a:xfrm>
                  <a:off x="293760" y="1414440"/>
                  <a:ext cx="98280" cy="39600"/>
                </a:xfrm>
                <a:prstGeom prst="rect">
                  <a:avLst/>
                </a:prstGeom>
                <a:solidFill>
                  <a:srgbClr val="7e7e7e"/>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799" name="Rectangle 75"/>
                <p:cNvSpPr/>
                <p:nvPr/>
              </p:nvSpPr>
              <p:spPr>
                <a:xfrm>
                  <a:off x="392040" y="1414440"/>
                  <a:ext cx="96840" cy="39600"/>
                </a:xfrm>
                <a:prstGeom prst="rect">
                  <a:avLst/>
                </a:prstGeom>
                <a:solidFill>
                  <a:srgbClr val="7f7f7f"/>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0" name="Rectangle 76"/>
                <p:cNvSpPr/>
                <p:nvPr/>
              </p:nvSpPr>
              <p:spPr>
                <a:xfrm>
                  <a:off x="488880" y="1414440"/>
                  <a:ext cx="98640" cy="39600"/>
                </a:xfrm>
                <a:prstGeom prst="rect">
                  <a:avLst/>
                </a:prstGeom>
                <a:solidFill>
                  <a:srgbClr val="80808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1" name="Rectangle 77"/>
                <p:cNvSpPr/>
                <p:nvPr/>
              </p:nvSpPr>
              <p:spPr>
                <a:xfrm>
                  <a:off x="587520" y="1414440"/>
                  <a:ext cx="96840" cy="39600"/>
                </a:xfrm>
                <a:prstGeom prst="rect">
                  <a:avLst/>
                </a:prstGeom>
                <a:solidFill>
                  <a:srgbClr val="818181"/>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2" name="Rectangle 78"/>
                <p:cNvSpPr/>
                <p:nvPr/>
              </p:nvSpPr>
              <p:spPr>
                <a:xfrm>
                  <a:off x="684360" y="1414440"/>
                  <a:ext cx="98280" cy="39600"/>
                </a:xfrm>
                <a:prstGeom prst="rect">
                  <a:avLst/>
                </a:prstGeom>
                <a:solidFill>
                  <a:srgbClr val="82828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3" name="Rectangle 79"/>
                <p:cNvSpPr/>
                <p:nvPr/>
              </p:nvSpPr>
              <p:spPr>
                <a:xfrm>
                  <a:off x="782640" y="1414440"/>
                  <a:ext cx="98280" cy="39600"/>
                </a:xfrm>
                <a:prstGeom prst="rect">
                  <a:avLst/>
                </a:prstGeom>
                <a:solidFill>
                  <a:srgbClr val="848484"/>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4" name="Rectangle 80"/>
                <p:cNvSpPr/>
                <p:nvPr/>
              </p:nvSpPr>
              <p:spPr>
                <a:xfrm>
                  <a:off x="880920" y="1414440"/>
                  <a:ext cx="96840" cy="39600"/>
                </a:xfrm>
                <a:prstGeom prst="rect">
                  <a:avLst/>
                </a:prstGeom>
                <a:solidFill>
                  <a:srgbClr val="858585"/>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5" name="Rectangle 81"/>
                <p:cNvSpPr/>
                <p:nvPr/>
              </p:nvSpPr>
              <p:spPr>
                <a:xfrm>
                  <a:off x="977760" y="1414440"/>
                  <a:ext cx="98640" cy="39600"/>
                </a:xfrm>
                <a:prstGeom prst="rect">
                  <a:avLst/>
                </a:prstGeom>
                <a:solidFill>
                  <a:srgbClr val="878787"/>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6" name="Rectangle 82"/>
                <p:cNvSpPr/>
                <p:nvPr/>
              </p:nvSpPr>
              <p:spPr>
                <a:xfrm>
                  <a:off x="1076400" y="1414440"/>
                  <a:ext cx="93600" cy="39600"/>
                </a:xfrm>
                <a:prstGeom prst="rect">
                  <a:avLst/>
                </a:prstGeom>
                <a:solidFill>
                  <a:srgbClr val="898989"/>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7" name="Rectangle 83"/>
                <p:cNvSpPr/>
                <p:nvPr/>
              </p:nvSpPr>
              <p:spPr>
                <a:xfrm>
                  <a:off x="1170000" y="1414440"/>
                  <a:ext cx="98280" cy="39600"/>
                </a:xfrm>
                <a:prstGeom prst="rect">
                  <a:avLst/>
                </a:prstGeom>
                <a:solidFill>
                  <a:srgbClr val="8b8b8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8" name="Rectangle 84"/>
                <p:cNvSpPr/>
                <p:nvPr/>
              </p:nvSpPr>
              <p:spPr>
                <a:xfrm>
                  <a:off x="1268280" y="1414440"/>
                  <a:ext cx="98640" cy="39600"/>
                </a:xfrm>
                <a:prstGeom prst="rect">
                  <a:avLst/>
                </a:prstGeom>
                <a:solidFill>
                  <a:srgbClr val="8d8d8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09" name="Rectangle 85"/>
                <p:cNvSpPr/>
                <p:nvPr/>
              </p:nvSpPr>
              <p:spPr>
                <a:xfrm>
                  <a:off x="1366920" y="1414440"/>
                  <a:ext cx="96840" cy="39600"/>
                </a:xfrm>
                <a:prstGeom prst="rect">
                  <a:avLst/>
                </a:prstGeom>
                <a:solidFill>
                  <a:srgbClr val="90909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0" name="Rectangle 86"/>
                <p:cNvSpPr/>
                <p:nvPr/>
              </p:nvSpPr>
              <p:spPr>
                <a:xfrm>
                  <a:off x="1463760" y="1414440"/>
                  <a:ext cx="98280" cy="39600"/>
                </a:xfrm>
                <a:prstGeom prst="rect">
                  <a:avLst/>
                </a:prstGeom>
                <a:solidFill>
                  <a:srgbClr val="92929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1" name="Rectangle 87"/>
                <p:cNvSpPr/>
                <p:nvPr/>
              </p:nvSpPr>
              <p:spPr>
                <a:xfrm>
                  <a:off x="1562040" y="1414440"/>
                  <a:ext cx="98640" cy="39600"/>
                </a:xfrm>
                <a:prstGeom prst="rect">
                  <a:avLst/>
                </a:prstGeom>
                <a:solidFill>
                  <a:srgbClr val="949494"/>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2" name="Rectangle 88"/>
                <p:cNvSpPr/>
                <p:nvPr/>
              </p:nvSpPr>
              <p:spPr>
                <a:xfrm>
                  <a:off x="1660680" y="1414440"/>
                  <a:ext cx="96840" cy="39600"/>
                </a:xfrm>
                <a:prstGeom prst="rect">
                  <a:avLst/>
                </a:prstGeom>
                <a:solidFill>
                  <a:srgbClr val="979797"/>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3" name="Rectangle 89"/>
                <p:cNvSpPr/>
                <p:nvPr/>
              </p:nvSpPr>
              <p:spPr>
                <a:xfrm>
                  <a:off x="1757520" y="1414440"/>
                  <a:ext cx="98280" cy="39600"/>
                </a:xfrm>
                <a:prstGeom prst="rect">
                  <a:avLst/>
                </a:prstGeom>
                <a:solidFill>
                  <a:srgbClr val="9a9a9a"/>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4" name="Rectangle 90"/>
                <p:cNvSpPr/>
                <p:nvPr/>
              </p:nvSpPr>
              <p:spPr>
                <a:xfrm>
                  <a:off x="1855800" y="1414440"/>
                  <a:ext cx="98280" cy="39600"/>
                </a:xfrm>
                <a:prstGeom prst="rect">
                  <a:avLst/>
                </a:prstGeom>
                <a:solidFill>
                  <a:srgbClr val="9d9d9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5" name="Rectangle 91"/>
                <p:cNvSpPr/>
                <p:nvPr/>
              </p:nvSpPr>
              <p:spPr>
                <a:xfrm>
                  <a:off x="1954080" y="1414440"/>
                  <a:ext cx="96840" cy="39600"/>
                </a:xfrm>
                <a:prstGeom prst="rect">
                  <a:avLst/>
                </a:prstGeom>
                <a:solidFill>
                  <a:srgbClr val="a0a0a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6" name="Rectangle 92"/>
                <p:cNvSpPr/>
                <p:nvPr/>
              </p:nvSpPr>
              <p:spPr>
                <a:xfrm>
                  <a:off x="2050920" y="1414440"/>
                  <a:ext cx="98640" cy="39600"/>
                </a:xfrm>
                <a:prstGeom prst="rect">
                  <a:avLst/>
                </a:prstGeom>
                <a:solidFill>
                  <a:srgbClr val="a2a2a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7" name="Rectangle 93"/>
                <p:cNvSpPr/>
                <p:nvPr/>
              </p:nvSpPr>
              <p:spPr>
                <a:xfrm>
                  <a:off x="2149560" y="1414440"/>
                  <a:ext cx="96840" cy="39600"/>
                </a:xfrm>
                <a:prstGeom prst="rect">
                  <a:avLst/>
                </a:prstGeom>
                <a:solidFill>
                  <a:srgbClr val="a5a5a5"/>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8" name="Rectangle 94"/>
                <p:cNvSpPr/>
                <p:nvPr/>
              </p:nvSpPr>
              <p:spPr>
                <a:xfrm>
                  <a:off x="2246400" y="1414440"/>
                  <a:ext cx="98280" cy="39600"/>
                </a:xfrm>
                <a:prstGeom prst="rect">
                  <a:avLst/>
                </a:prstGeom>
                <a:solidFill>
                  <a:srgbClr val="a8a8a8"/>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19" name="Rectangle 95"/>
                <p:cNvSpPr/>
                <p:nvPr/>
              </p:nvSpPr>
              <p:spPr>
                <a:xfrm>
                  <a:off x="2344680" y="1414440"/>
                  <a:ext cx="98640" cy="39600"/>
                </a:xfrm>
                <a:prstGeom prst="rect">
                  <a:avLst/>
                </a:prstGeom>
                <a:solidFill>
                  <a:srgbClr val="ababa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0" name="Rectangle 96"/>
                <p:cNvSpPr/>
                <p:nvPr/>
              </p:nvSpPr>
              <p:spPr>
                <a:xfrm>
                  <a:off x="2443320" y="1414440"/>
                  <a:ext cx="96840" cy="39600"/>
                </a:xfrm>
                <a:prstGeom prst="rect">
                  <a:avLst/>
                </a:prstGeom>
                <a:solidFill>
                  <a:srgbClr val="aeaeae"/>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1" name="Rectangle 97"/>
                <p:cNvSpPr/>
                <p:nvPr/>
              </p:nvSpPr>
              <p:spPr>
                <a:xfrm>
                  <a:off x="2540160" y="1414440"/>
                  <a:ext cx="98280" cy="39600"/>
                </a:xfrm>
                <a:prstGeom prst="rect">
                  <a:avLst/>
                </a:prstGeom>
                <a:solidFill>
                  <a:srgbClr val="b0b0b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2" name="Rectangle 98"/>
                <p:cNvSpPr/>
                <p:nvPr/>
              </p:nvSpPr>
              <p:spPr>
                <a:xfrm>
                  <a:off x="2638440" y="1414440"/>
                  <a:ext cx="98280" cy="39600"/>
                </a:xfrm>
                <a:prstGeom prst="rect">
                  <a:avLst/>
                </a:prstGeom>
                <a:solidFill>
                  <a:srgbClr val="b3b3b3"/>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3" name="Rectangle 99"/>
                <p:cNvSpPr/>
                <p:nvPr/>
              </p:nvSpPr>
              <p:spPr>
                <a:xfrm>
                  <a:off x="2736720" y="1414440"/>
                  <a:ext cx="96840" cy="39600"/>
                </a:xfrm>
                <a:prstGeom prst="rect">
                  <a:avLst/>
                </a:prstGeom>
                <a:solidFill>
                  <a:srgbClr val="b6b6b6"/>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4" name="Rectangle 100"/>
                <p:cNvSpPr/>
                <p:nvPr/>
              </p:nvSpPr>
              <p:spPr>
                <a:xfrm>
                  <a:off x="2833560" y="1414440"/>
                  <a:ext cx="98640" cy="39600"/>
                </a:xfrm>
                <a:prstGeom prst="rect">
                  <a:avLst/>
                </a:prstGeom>
                <a:solidFill>
                  <a:srgbClr val="b8b8b8"/>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5" name="Rectangle 101"/>
                <p:cNvSpPr/>
                <p:nvPr/>
              </p:nvSpPr>
              <p:spPr>
                <a:xfrm>
                  <a:off x="2932200" y="1414440"/>
                  <a:ext cx="96840" cy="39600"/>
                </a:xfrm>
                <a:prstGeom prst="rect">
                  <a:avLst/>
                </a:prstGeom>
                <a:solidFill>
                  <a:srgbClr val="bababa"/>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6" name="Rectangle 102"/>
                <p:cNvSpPr/>
                <p:nvPr/>
              </p:nvSpPr>
              <p:spPr>
                <a:xfrm>
                  <a:off x="3029040" y="1414440"/>
                  <a:ext cx="98280" cy="39600"/>
                </a:xfrm>
                <a:prstGeom prst="rect">
                  <a:avLst/>
                </a:prstGeom>
                <a:solidFill>
                  <a:srgbClr val="bcbcb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7" name="Rectangle 103"/>
                <p:cNvSpPr/>
                <p:nvPr/>
              </p:nvSpPr>
              <p:spPr>
                <a:xfrm>
                  <a:off x="3127320" y="1414440"/>
                  <a:ext cx="98640" cy="39600"/>
                </a:xfrm>
                <a:prstGeom prst="rect">
                  <a:avLst/>
                </a:prstGeom>
                <a:solidFill>
                  <a:srgbClr val="bebebe"/>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8" name="Rectangle 104"/>
                <p:cNvSpPr/>
                <p:nvPr/>
              </p:nvSpPr>
              <p:spPr>
                <a:xfrm>
                  <a:off x="3225960" y="1414440"/>
                  <a:ext cx="96840" cy="39600"/>
                </a:xfrm>
                <a:prstGeom prst="rect">
                  <a:avLst/>
                </a:prstGeom>
                <a:solidFill>
                  <a:srgbClr val="c0c0c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29" name="Rectangle 105"/>
                <p:cNvSpPr/>
                <p:nvPr/>
              </p:nvSpPr>
              <p:spPr>
                <a:xfrm>
                  <a:off x="3322800" y="1414440"/>
                  <a:ext cx="98280" cy="39600"/>
                </a:xfrm>
                <a:prstGeom prst="rect">
                  <a:avLst/>
                </a:prstGeom>
                <a:solidFill>
                  <a:srgbClr val="c2c2c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0" name="Rectangle 106"/>
                <p:cNvSpPr/>
                <p:nvPr/>
              </p:nvSpPr>
              <p:spPr>
                <a:xfrm>
                  <a:off x="3421080" y="1414440"/>
                  <a:ext cx="95400" cy="39600"/>
                </a:xfrm>
                <a:prstGeom prst="rect">
                  <a:avLst/>
                </a:prstGeom>
                <a:solidFill>
                  <a:srgbClr val="c3c3c3"/>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1" name="Rectangle 107"/>
                <p:cNvSpPr/>
                <p:nvPr/>
              </p:nvSpPr>
              <p:spPr>
                <a:xfrm>
                  <a:off x="3516480" y="1414440"/>
                  <a:ext cx="96840" cy="39600"/>
                </a:xfrm>
                <a:prstGeom prst="rect">
                  <a:avLst/>
                </a:prstGeom>
                <a:solidFill>
                  <a:srgbClr val="c5c5c5"/>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2" name="Rectangle 108"/>
                <p:cNvSpPr/>
                <p:nvPr/>
              </p:nvSpPr>
              <p:spPr>
                <a:xfrm>
                  <a:off x="3613320" y="1414440"/>
                  <a:ext cx="98280" cy="39600"/>
                </a:xfrm>
                <a:prstGeom prst="rect">
                  <a:avLst/>
                </a:prstGeom>
                <a:solidFill>
                  <a:srgbClr val="c6c6c6"/>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3" name="Rectangle 109"/>
                <p:cNvSpPr/>
                <p:nvPr/>
              </p:nvSpPr>
              <p:spPr>
                <a:xfrm>
                  <a:off x="3711600" y="1414440"/>
                  <a:ext cx="96840" cy="39600"/>
                </a:xfrm>
                <a:prstGeom prst="rect">
                  <a:avLst/>
                </a:prstGeom>
                <a:solidFill>
                  <a:srgbClr val="c7c7c7"/>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4" name="Rectangle 110"/>
                <p:cNvSpPr/>
                <p:nvPr/>
              </p:nvSpPr>
              <p:spPr>
                <a:xfrm>
                  <a:off x="3808440" y="1414440"/>
                  <a:ext cx="98280" cy="39600"/>
                </a:xfrm>
                <a:prstGeom prst="rect">
                  <a:avLst/>
                </a:prstGeom>
                <a:solidFill>
                  <a:srgbClr val="c8c8c8"/>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5" name="Rectangle 111"/>
                <p:cNvSpPr/>
                <p:nvPr/>
              </p:nvSpPr>
              <p:spPr>
                <a:xfrm>
                  <a:off x="3906720" y="1414440"/>
                  <a:ext cx="98640" cy="39600"/>
                </a:xfrm>
                <a:prstGeom prst="rect">
                  <a:avLst/>
                </a:prstGeom>
                <a:solidFill>
                  <a:srgbClr val="c9c9c9"/>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6" name="Rectangle 112"/>
                <p:cNvSpPr/>
                <p:nvPr/>
              </p:nvSpPr>
              <p:spPr>
                <a:xfrm>
                  <a:off x="4005360" y="1414440"/>
                  <a:ext cx="96840" cy="39600"/>
                </a:xfrm>
                <a:prstGeom prst="rect">
                  <a:avLst/>
                </a:prstGeom>
                <a:solidFill>
                  <a:srgbClr val="cacaca"/>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7" name="Rectangle 113"/>
                <p:cNvSpPr/>
                <p:nvPr/>
              </p:nvSpPr>
              <p:spPr>
                <a:xfrm>
                  <a:off x="4102200" y="1414440"/>
                  <a:ext cx="98280" cy="39600"/>
                </a:xfrm>
                <a:prstGeom prst="rect">
                  <a:avLst/>
                </a:prstGeom>
                <a:solidFill>
                  <a:srgbClr val="cbcbc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8" name="Rectangle 114"/>
                <p:cNvSpPr/>
                <p:nvPr/>
              </p:nvSpPr>
              <p:spPr>
                <a:xfrm>
                  <a:off x="4200480" y="1414440"/>
                  <a:ext cx="98640" cy="39600"/>
                </a:xfrm>
                <a:prstGeom prst="rect">
                  <a:avLst/>
                </a:prstGeom>
                <a:solidFill>
                  <a:srgbClr val="cbcbc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39" name="Rectangle 115"/>
                <p:cNvSpPr/>
                <p:nvPr/>
              </p:nvSpPr>
              <p:spPr>
                <a:xfrm>
                  <a:off x="4299120" y="1414440"/>
                  <a:ext cx="96840" cy="39600"/>
                </a:xfrm>
                <a:prstGeom prst="rect">
                  <a:avLst/>
                </a:prstGeom>
                <a:solidFill>
                  <a:srgbClr val="ccccc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0" name="Rectangle 116"/>
                <p:cNvSpPr/>
                <p:nvPr/>
              </p:nvSpPr>
              <p:spPr>
                <a:xfrm>
                  <a:off x="4395960" y="1414440"/>
                  <a:ext cx="98280" cy="39600"/>
                </a:xfrm>
                <a:prstGeom prst="rect">
                  <a:avLst/>
                </a:prstGeom>
                <a:solidFill>
                  <a:srgbClr val="cdcdc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1" name="Rectangle 117"/>
                <p:cNvSpPr/>
                <p:nvPr/>
              </p:nvSpPr>
              <p:spPr>
                <a:xfrm>
                  <a:off x="4494240" y="1414440"/>
                  <a:ext cx="96840" cy="39600"/>
                </a:xfrm>
                <a:prstGeom prst="rect">
                  <a:avLst/>
                </a:prstGeom>
                <a:solidFill>
                  <a:srgbClr val="cdcdc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2" name="Rectangle 118"/>
                <p:cNvSpPr/>
                <p:nvPr/>
              </p:nvSpPr>
              <p:spPr>
                <a:xfrm>
                  <a:off x="4591080" y="1414440"/>
                  <a:ext cx="98280" cy="39600"/>
                </a:xfrm>
                <a:prstGeom prst="rect">
                  <a:avLst/>
                </a:prstGeom>
                <a:solidFill>
                  <a:srgbClr val="cdcdc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3" name="Rectangle 119"/>
                <p:cNvSpPr/>
                <p:nvPr/>
              </p:nvSpPr>
              <p:spPr>
                <a:xfrm>
                  <a:off x="4689360" y="1414440"/>
                  <a:ext cx="98640" cy="39600"/>
                </a:xfrm>
                <a:prstGeom prst="rect">
                  <a:avLst/>
                </a:prstGeom>
                <a:solidFill>
                  <a:srgbClr val="cdcdc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4" name="Rectangle 120"/>
                <p:cNvSpPr/>
                <p:nvPr/>
              </p:nvSpPr>
              <p:spPr>
                <a:xfrm>
                  <a:off x="4788000" y="1414440"/>
                  <a:ext cx="96840" cy="39600"/>
                </a:xfrm>
                <a:prstGeom prst="rect">
                  <a:avLst/>
                </a:prstGeom>
                <a:solidFill>
                  <a:srgbClr val="cdcdc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5" name="Rectangle 121"/>
                <p:cNvSpPr/>
                <p:nvPr/>
              </p:nvSpPr>
              <p:spPr>
                <a:xfrm>
                  <a:off x="4884840" y="1414440"/>
                  <a:ext cx="98280" cy="39600"/>
                </a:xfrm>
                <a:prstGeom prst="rect">
                  <a:avLst/>
                </a:prstGeom>
                <a:solidFill>
                  <a:srgbClr val="cdcdc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6" name="Rectangle 122"/>
                <p:cNvSpPr/>
                <p:nvPr/>
              </p:nvSpPr>
              <p:spPr>
                <a:xfrm>
                  <a:off x="4983120" y="1414440"/>
                  <a:ext cx="98640" cy="39600"/>
                </a:xfrm>
                <a:prstGeom prst="rect">
                  <a:avLst/>
                </a:prstGeom>
                <a:solidFill>
                  <a:srgbClr val="ccccc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7" name="Rectangle 123"/>
                <p:cNvSpPr/>
                <p:nvPr/>
              </p:nvSpPr>
              <p:spPr>
                <a:xfrm>
                  <a:off x="5081760" y="1414440"/>
                  <a:ext cx="96840" cy="39600"/>
                </a:xfrm>
                <a:prstGeom prst="rect">
                  <a:avLst/>
                </a:prstGeom>
                <a:solidFill>
                  <a:srgbClr val="cbcbc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8" name="Rectangle 124"/>
                <p:cNvSpPr/>
                <p:nvPr/>
              </p:nvSpPr>
              <p:spPr>
                <a:xfrm>
                  <a:off x="5178600" y="1414440"/>
                  <a:ext cx="98280" cy="39600"/>
                </a:xfrm>
                <a:prstGeom prst="rect">
                  <a:avLst/>
                </a:prstGeom>
                <a:solidFill>
                  <a:srgbClr val="cbcbc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49" name="Rectangle 125"/>
                <p:cNvSpPr/>
                <p:nvPr/>
              </p:nvSpPr>
              <p:spPr>
                <a:xfrm>
                  <a:off x="5276880" y="1414440"/>
                  <a:ext cx="96840" cy="39600"/>
                </a:xfrm>
                <a:prstGeom prst="rect">
                  <a:avLst/>
                </a:prstGeom>
                <a:solidFill>
                  <a:srgbClr val="cacaca"/>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0" name="Rectangle 126"/>
                <p:cNvSpPr/>
                <p:nvPr/>
              </p:nvSpPr>
              <p:spPr>
                <a:xfrm>
                  <a:off x="5373720" y="1414440"/>
                  <a:ext cx="98280" cy="39600"/>
                </a:xfrm>
                <a:prstGeom prst="rect">
                  <a:avLst/>
                </a:prstGeom>
                <a:solidFill>
                  <a:srgbClr val="c9c9c9"/>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1" name="Rectangle 127"/>
                <p:cNvSpPr/>
                <p:nvPr/>
              </p:nvSpPr>
              <p:spPr>
                <a:xfrm>
                  <a:off x="5472000" y="1414440"/>
                  <a:ext cx="98640" cy="39600"/>
                </a:xfrm>
                <a:prstGeom prst="rect">
                  <a:avLst/>
                </a:prstGeom>
                <a:solidFill>
                  <a:srgbClr val="c8c8c8"/>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2" name="Rectangle 128"/>
                <p:cNvSpPr/>
                <p:nvPr/>
              </p:nvSpPr>
              <p:spPr>
                <a:xfrm>
                  <a:off x="5570640" y="1414440"/>
                  <a:ext cx="96840" cy="39600"/>
                </a:xfrm>
                <a:prstGeom prst="rect">
                  <a:avLst/>
                </a:prstGeom>
                <a:solidFill>
                  <a:srgbClr val="c7c7c7"/>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3" name="Rectangle 129"/>
                <p:cNvSpPr/>
                <p:nvPr/>
              </p:nvSpPr>
              <p:spPr>
                <a:xfrm>
                  <a:off x="5667480" y="1414440"/>
                  <a:ext cx="98280" cy="39600"/>
                </a:xfrm>
                <a:prstGeom prst="rect">
                  <a:avLst/>
                </a:prstGeom>
                <a:solidFill>
                  <a:srgbClr val="c6c6c6"/>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4" name="Rectangle 130"/>
                <p:cNvSpPr/>
                <p:nvPr/>
              </p:nvSpPr>
              <p:spPr>
                <a:xfrm>
                  <a:off x="5765760" y="1414440"/>
                  <a:ext cx="95400" cy="39600"/>
                </a:xfrm>
                <a:prstGeom prst="rect">
                  <a:avLst/>
                </a:prstGeom>
                <a:solidFill>
                  <a:srgbClr val="c5c5c5"/>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5" name="Rectangle 131"/>
                <p:cNvSpPr/>
                <p:nvPr/>
              </p:nvSpPr>
              <p:spPr>
                <a:xfrm>
                  <a:off x="5861160" y="1414440"/>
                  <a:ext cx="96840" cy="39600"/>
                </a:xfrm>
                <a:prstGeom prst="rect">
                  <a:avLst/>
                </a:prstGeom>
                <a:solidFill>
                  <a:srgbClr val="c3c3c3"/>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6" name="Rectangle 132"/>
                <p:cNvSpPr/>
                <p:nvPr/>
              </p:nvSpPr>
              <p:spPr>
                <a:xfrm>
                  <a:off x="5958000" y="1414440"/>
                  <a:ext cx="98280" cy="39600"/>
                </a:xfrm>
                <a:prstGeom prst="rect">
                  <a:avLst/>
                </a:prstGeom>
                <a:solidFill>
                  <a:srgbClr val="c2c2c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7" name="Rectangle 133"/>
                <p:cNvSpPr/>
                <p:nvPr/>
              </p:nvSpPr>
              <p:spPr>
                <a:xfrm>
                  <a:off x="6056280" y="1414440"/>
                  <a:ext cx="96840" cy="39600"/>
                </a:xfrm>
                <a:prstGeom prst="rect">
                  <a:avLst/>
                </a:prstGeom>
                <a:solidFill>
                  <a:srgbClr val="c0c0c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8" name="Rectangle 134"/>
                <p:cNvSpPr/>
                <p:nvPr/>
              </p:nvSpPr>
              <p:spPr>
                <a:xfrm>
                  <a:off x="6153120" y="1414440"/>
                  <a:ext cx="98280" cy="39600"/>
                </a:xfrm>
                <a:prstGeom prst="rect">
                  <a:avLst/>
                </a:prstGeom>
                <a:solidFill>
                  <a:srgbClr val="bebebe"/>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59" name="Rectangle 135"/>
                <p:cNvSpPr/>
                <p:nvPr/>
              </p:nvSpPr>
              <p:spPr>
                <a:xfrm>
                  <a:off x="6251400" y="1414440"/>
                  <a:ext cx="98640" cy="39600"/>
                </a:xfrm>
                <a:prstGeom prst="rect">
                  <a:avLst/>
                </a:prstGeom>
                <a:solidFill>
                  <a:srgbClr val="bcbcb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0" name="Rectangle 136"/>
                <p:cNvSpPr/>
                <p:nvPr/>
              </p:nvSpPr>
              <p:spPr>
                <a:xfrm>
                  <a:off x="6350040" y="1414440"/>
                  <a:ext cx="96840" cy="39600"/>
                </a:xfrm>
                <a:prstGeom prst="rect">
                  <a:avLst/>
                </a:prstGeom>
                <a:solidFill>
                  <a:srgbClr val="bababa"/>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1" name="Rectangle 137"/>
                <p:cNvSpPr/>
                <p:nvPr/>
              </p:nvSpPr>
              <p:spPr>
                <a:xfrm>
                  <a:off x="6446880" y="1414440"/>
                  <a:ext cx="98280" cy="39600"/>
                </a:xfrm>
                <a:prstGeom prst="rect">
                  <a:avLst/>
                </a:prstGeom>
                <a:solidFill>
                  <a:srgbClr val="b8b8b8"/>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2" name="Rectangle 138"/>
                <p:cNvSpPr/>
                <p:nvPr/>
              </p:nvSpPr>
              <p:spPr>
                <a:xfrm>
                  <a:off x="6545160" y="1414440"/>
                  <a:ext cx="98640" cy="39600"/>
                </a:xfrm>
                <a:prstGeom prst="rect">
                  <a:avLst/>
                </a:prstGeom>
                <a:solidFill>
                  <a:srgbClr val="b6b6b6"/>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3" name="Rectangle 139"/>
                <p:cNvSpPr/>
                <p:nvPr/>
              </p:nvSpPr>
              <p:spPr>
                <a:xfrm>
                  <a:off x="6643800" y="1414440"/>
                  <a:ext cx="96840" cy="39600"/>
                </a:xfrm>
                <a:prstGeom prst="rect">
                  <a:avLst/>
                </a:prstGeom>
                <a:solidFill>
                  <a:srgbClr val="b3b3b3"/>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4" name="Rectangle 140"/>
                <p:cNvSpPr/>
                <p:nvPr/>
              </p:nvSpPr>
              <p:spPr>
                <a:xfrm>
                  <a:off x="6740640" y="1414440"/>
                  <a:ext cx="98280" cy="39600"/>
                </a:xfrm>
                <a:prstGeom prst="rect">
                  <a:avLst/>
                </a:prstGeom>
                <a:solidFill>
                  <a:srgbClr val="b0b0b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5" name="Rectangle 141"/>
                <p:cNvSpPr/>
                <p:nvPr/>
              </p:nvSpPr>
              <p:spPr>
                <a:xfrm>
                  <a:off x="6838920" y="1414440"/>
                  <a:ext cx="96840" cy="39600"/>
                </a:xfrm>
                <a:prstGeom prst="rect">
                  <a:avLst/>
                </a:prstGeom>
                <a:solidFill>
                  <a:srgbClr val="aeaeae"/>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6" name="Rectangle 142"/>
                <p:cNvSpPr/>
                <p:nvPr/>
              </p:nvSpPr>
              <p:spPr>
                <a:xfrm>
                  <a:off x="6935760" y="1414440"/>
                  <a:ext cx="98280" cy="39600"/>
                </a:xfrm>
                <a:prstGeom prst="rect">
                  <a:avLst/>
                </a:prstGeom>
                <a:solidFill>
                  <a:srgbClr val="ababa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7" name="Rectangle 143"/>
                <p:cNvSpPr/>
                <p:nvPr/>
              </p:nvSpPr>
              <p:spPr>
                <a:xfrm>
                  <a:off x="7034040" y="1414440"/>
                  <a:ext cx="98640" cy="39600"/>
                </a:xfrm>
                <a:prstGeom prst="rect">
                  <a:avLst/>
                </a:prstGeom>
                <a:solidFill>
                  <a:srgbClr val="a8a8a8"/>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8" name="Rectangle 144"/>
                <p:cNvSpPr/>
                <p:nvPr/>
              </p:nvSpPr>
              <p:spPr>
                <a:xfrm>
                  <a:off x="7132680" y="1414440"/>
                  <a:ext cx="96840" cy="39600"/>
                </a:xfrm>
                <a:prstGeom prst="rect">
                  <a:avLst/>
                </a:prstGeom>
                <a:solidFill>
                  <a:srgbClr val="a5a5a5"/>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69" name="Rectangle 145"/>
                <p:cNvSpPr/>
                <p:nvPr/>
              </p:nvSpPr>
              <p:spPr>
                <a:xfrm>
                  <a:off x="7229520" y="1414440"/>
                  <a:ext cx="98280" cy="39600"/>
                </a:xfrm>
                <a:prstGeom prst="rect">
                  <a:avLst/>
                </a:prstGeom>
                <a:solidFill>
                  <a:srgbClr val="a2a2a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0" name="Rectangle 146"/>
                <p:cNvSpPr/>
                <p:nvPr/>
              </p:nvSpPr>
              <p:spPr>
                <a:xfrm>
                  <a:off x="7327800" y="1414440"/>
                  <a:ext cx="98640" cy="39600"/>
                </a:xfrm>
                <a:prstGeom prst="rect">
                  <a:avLst/>
                </a:prstGeom>
                <a:solidFill>
                  <a:srgbClr val="a0a0a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1" name="Rectangle 147"/>
                <p:cNvSpPr/>
                <p:nvPr/>
              </p:nvSpPr>
              <p:spPr>
                <a:xfrm>
                  <a:off x="7426440" y="1414440"/>
                  <a:ext cx="96840" cy="39600"/>
                </a:xfrm>
                <a:prstGeom prst="rect">
                  <a:avLst/>
                </a:prstGeom>
                <a:solidFill>
                  <a:srgbClr val="9d9d9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2" name="Rectangle 148"/>
                <p:cNvSpPr/>
                <p:nvPr/>
              </p:nvSpPr>
              <p:spPr>
                <a:xfrm>
                  <a:off x="7523280" y="1414440"/>
                  <a:ext cx="98280" cy="39600"/>
                </a:xfrm>
                <a:prstGeom prst="rect">
                  <a:avLst/>
                </a:prstGeom>
                <a:solidFill>
                  <a:srgbClr val="9a9a9a"/>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3" name="Rectangle 149"/>
                <p:cNvSpPr/>
                <p:nvPr/>
              </p:nvSpPr>
              <p:spPr>
                <a:xfrm>
                  <a:off x="7621560" y="1414440"/>
                  <a:ext cx="96840" cy="39600"/>
                </a:xfrm>
                <a:prstGeom prst="rect">
                  <a:avLst/>
                </a:prstGeom>
                <a:solidFill>
                  <a:srgbClr val="979797"/>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4" name="Rectangle 150"/>
                <p:cNvSpPr/>
                <p:nvPr/>
              </p:nvSpPr>
              <p:spPr>
                <a:xfrm>
                  <a:off x="7718400" y="1414440"/>
                  <a:ext cx="98280" cy="39600"/>
                </a:xfrm>
                <a:prstGeom prst="rect">
                  <a:avLst/>
                </a:prstGeom>
                <a:solidFill>
                  <a:srgbClr val="949494"/>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5" name="Rectangle 151"/>
                <p:cNvSpPr/>
                <p:nvPr/>
              </p:nvSpPr>
              <p:spPr>
                <a:xfrm>
                  <a:off x="7816680" y="1414440"/>
                  <a:ext cx="98640" cy="39600"/>
                </a:xfrm>
                <a:prstGeom prst="rect">
                  <a:avLst/>
                </a:prstGeom>
                <a:solidFill>
                  <a:srgbClr val="92929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6" name="Rectangle 152"/>
                <p:cNvSpPr/>
                <p:nvPr/>
              </p:nvSpPr>
              <p:spPr>
                <a:xfrm>
                  <a:off x="7915320" y="1414440"/>
                  <a:ext cx="96840" cy="39600"/>
                </a:xfrm>
                <a:prstGeom prst="rect">
                  <a:avLst/>
                </a:prstGeom>
                <a:solidFill>
                  <a:srgbClr val="90909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7" name="Rectangle 153"/>
                <p:cNvSpPr/>
                <p:nvPr/>
              </p:nvSpPr>
              <p:spPr>
                <a:xfrm>
                  <a:off x="8012160" y="1414440"/>
                  <a:ext cx="98280" cy="39600"/>
                </a:xfrm>
                <a:prstGeom prst="rect">
                  <a:avLst/>
                </a:prstGeom>
                <a:solidFill>
                  <a:srgbClr val="8d8d8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8" name="Rectangle 154"/>
                <p:cNvSpPr/>
                <p:nvPr/>
              </p:nvSpPr>
              <p:spPr>
                <a:xfrm>
                  <a:off x="8110440" y="1414440"/>
                  <a:ext cx="95400" cy="39600"/>
                </a:xfrm>
                <a:prstGeom prst="rect">
                  <a:avLst/>
                </a:prstGeom>
                <a:solidFill>
                  <a:srgbClr val="8b8b8b"/>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79" name="Rectangle 155"/>
                <p:cNvSpPr/>
                <p:nvPr/>
              </p:nvSpPr>
              <p:spPr>
                <a:xfrm>
                  <a:off x="8205840" y="1414440"/>
                  <a:ext cx="96840" cy="39600"/>
                </a:xfrm>
                <a:prstGeom prst="rect">
                  <a:avLst/>
                </a:prstGeom>
                <a:solidFill>
                  <a:srgbClr val="898989"/>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0" name="Rectangle 156"/>
                <p:cNvSpPr/>
                <p:nvPr/>
              </p:nvSpPr>
              <p:spPr>
                <a:xfrm>
                  <a:off x="8302680" y="1414440"/>
                  <a:ext cx="98280" cy="39600"/>
                </a:xfrm>
                <a:prstGeom prst="rect">
                  <a:avLst/>
                </a:prstGeom>
                <a:solidFill>
                  <a:srgbClr val="878787"/>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1" name="Rectangle 157"/>
                <p:cNvSpPr/>
                <p:nvPr/>
              </p:nvSpPr>
              <p:spPr>
                <a:xfrm>
                  <a:off x="8400960" y="1414440"/>
                  <a:ext cx="96840" cy="39600"/>
                </a:xfrm>
                <a:prstGeom prst="rect">
                  <a:avLst/>
                </a:prstGeom>
                <a:solidFill>
                  <a:srgbClr val="858585"/>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2" name="Rectangle 158"/>
                <p:cNvSpPr/>
                <p:nvPr/>
              </p:nvSpPr>
              <p:spPr>
                <a:xfrm>
                  <a:off x="8497800" y="1414440"/>
                  <a:ext cx="98640" cy="39600"/>
                </a:xfrm>
                <a:prstGeom prst="rect">
                  <a:avLst/>
                </a:prstGeom>
                <a:solidFill>
                  <a:srgbClr val="848484"/>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3" name="Rectangle 159"/>
                <p:cNvSpPr/>
                <p:nvPr/>
              </p:nvSpPr>
              <p:spPr>
                <a:xfrm>
                  <a:off x="8596440" y="1414440"/>
                  <a:ext cx="98280" cy="39600"/>
                </a:xfrm>
                <a:prstGeom prst="rect">
                  <a:avLst/>
                </a:prstGeom>
                <a:solidFill>
                  <a:srgbClr val="828282"/>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4" name="Rectangle 160"/>
                <p:cNvSpPr/>
                <p:nvPr/>
              </p:nvSpPr>
              <p:spPr>
                <a:xfrm>
                  <a:off x="8694720" y="1414440"/>
                  <a:ext cx="96840" cy="39600"/>
                </a:xfrm>
                <a:prstGeom prst="rect">
                  <a:avLst/>
                </a:prstGeom>
                <a:solidFill>
                  <a:srgbClr val="818181"/>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5" name="Rectangle 161"/>
                <p:cNvSpPr/>
                <p:nvPr/>
              </p:nvSpPr>
              <p:spPr>
                <a:xfrm>
                  <a:off x="8791560" y="1414440"/>
                  <a:ext cx="98280" cy="39600"/>
                </a:xfrm>
                <a:prstGeom prst="rect">
                  <a:avLst/>
                </a:prstGeom>
                <a:solidFill>
                  <a:srgbClr val="808080"/>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6" name="Rectangle 162"/>
                <p:cNvSpPr/>
                <p:nvPr/>
              </p:nvSpPr>
              <p:spPr>
                <a:xfrm>
                  <a:off x="8889840" y="1414440"/>
                  <a:ext cx="98640" cy="39600"/>
                </a:xfrm>
                <a:prstGeom prst="rect">
                  <a:avLst/>
                </a:prstGeom>
                <a:solidFill>
                  <a:srgbClr val="7f7f7f"/>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7" name="Rectangle 163"/>
                <p:cNvSpPr/>
                <p:nvPr/>
              </p:nvSpPr>
              <p:spPr>
                <a:xfrm>
                  <a:off x="8988480" y="1414440"/>
                  <a:ext cx="96840" cy="39600"/>
                </a:xfrm>
                <a:prstGeom prst="rect">
                  <a:avLst/>
                </a:prstGeom>
                <a:solidFill>
                  <a:srgbClr val="7e7e7e"/>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8" name="Rectangle 164"/>
                <p:cNvSpPr/>
                <p:nvPr/>
              </p:nvSpPr>
              <p:spPr>
                <a:xfrm>
                  <a:off x="9085320" y="1414440"/>
                  <a:ext cx="98280" cy="39600"/>
                </a:xfrm>
                <a:prstGeom prst="rect">
                  <a:avLst/>
                </a:prstGeom>
                <a:solidFill>
                  <a:srgbClr val="7d7d7d"/>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89" name="Rectangle 165"/>
                <p:cNvSpPr/>
                <p:nvPr/>
              </p:nvSpPr>
              <p:spPr>
                <a:xfrm>
                  <a:off x="9183600" y="1414440"/>
                  <a:ext cx="96840" cy="39600"/>
                </a:xfrm>
                <a:prstGeom prst="rect">
                  <a:avLst/>
                </a:prstGeom>
                <a:solidFill>
                  <a:srgbClr val="7c7c7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sp>
              <p:nvSpPr>
                <p:cNvPr id="2890" name="Rectangle 166"/>
                <p:cNvSpPr/>
                <p:nvPr/>
              </p:nvSpPr>
              <p:spPr>
                <a:xfrm>
                  <a:off x="9280440" y="1414440"/>
                  <a:ext cx="98640" cy="39600"/>
                </a:xfrm>
                <a:prstGeom prst="rect">
                  <a:avLst/>
                </a:prstGeom>
                <a:solidFill>
                  <a:srgbClr val="7c7c7c"/>
                </a:solidFill>
                <a:ln w="0">
                  <a:noFill/>
                </a:ln>
              </p:spPr>
              <p:style>
                <a:lnRef idx="0"/>
                <a:fillRef idx="0"/>
                <a:effectRef idx="0"/>
                <a:fontRef idx="minor"/>
              </p:style>
              <p:txBody>
                <a:bodyPr lIns="90000" rIns="90000" tIns="-7200" bIns="-7200" anchor="t">
                  <a:noAutofit/>
                </a:bodyPr>
                <a:p>
                  <a:endParaRPr b="0" lang="en-US" sz="2400" strike="noStrike" u="none">
                    <a:solidFill>
                      <a:srgbClr val="ffff00"/>
                    </a:solidFill>
                    <a:effectLst/>
                    <a:uFillTx/>
                    <a:latin typeface="Times New Roman"/>
                  </a:endParaRPr>
                </a:p>
              </p:txBody>
            </p:sp>
          </p:grpSp>
        </p:grpSp>
        <p:sp>
          <p:nvSpPr>
            <p:cNvPr id="2891" name="Rectangle 167"/>
            <p:cNvSpPr/>
            <p:nvPr/>
          </p:nvSpPr>
          <p:spPr>
            <a:xfrm>
              <a:off x="4249800" y="6492960"/>
              <a:ext cx="896760" cy="31248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92" name="Rectangle 168"/>
            <p:cNvSpPr/>
            <p:nvPr/>
          </p:nvSpPr>
          <p:spPr>
            <a:xfrm>
              <a:off x="4343400" y="6545160"/>
              <a:ext cx="360" cy="365400"/>
            </a:xfrm>
            <a:prstGeom prst="rect">
              <a:avLst/>
            </a:prstGeom>
            <a:noFill/>
            <a:ln w="0">
              <a:noFill/>
            </a:ln>
          </p:spPr>
          <p:style>
            <a:lnRef idx="0"/>
            <a:fillRef idx="0"/>
            <a:effectRef idx="0"/>
            <a:fontRef idx="minor"/>
          </p:style>
          <p:txBody>
            <a:bodyPr wrap="none" lIns="0" rIns="0" tIns="0" bIns="0" anchor="t">
              <a:spAutoFit/>
            </a:bodyPr>
            <a:p>
              <a:endParaRPr b="0" lang="en-US" sz="2400" strike="noStrike" u="none">
                <a:solidFill>
                  <a:srgbClr val="ffff00"/>
                </a:solidFill>
                <a:effectLst/>
                <a:uFillTx/>
                <a:latin typeface="Times New Roman"/>
              </a:endParaRPr>
            </a:p>
          </p:txBody>
        </p:sp>
        <p:sp>
          <p:nvSpPr>
            <p:cNvPr id="2893" name="Rectangle 169"/>
            <p:cNvSpPr/>
            <p:nvPr/>
          </p:nvSpPr>
          <p:spPr>
            <a:xfrm>
              <a:off x="757080" y="-3240"/>
              <a:ext cx="7839360" cy="109548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94" name="Rectangle 170"/>
            <p:cNvSpPr/>
            <p:nvPr/>
          </p:nvSpPr>
          <p:spPr>
            <a:xfrm>
              <a:off x="849960" y="61920"/>
              <a:ext cx="7369560" cy="5680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000000"/>
                  </a:solidFill>
                  <a:effectLst/>
                  <a:uFillTx/>
                  <a:latin typeface="Arial"/>
                </a:rPr>
                <a:t>TEMPS LIMITE :  %VO</a:t>
              </a:r>
              <a:r>
                <a:rPr b="1" lang="fr-FR" sz="3200" strike="noStrike" u="none" baseline="-25000">
                  <a:solidFill>
                    <a:srgbClr val="000000"/>
                  </a:solidFill>
                  <a:effectLst/>
                  <a:uFillTx/>
                  <a:latin typeface="Arial"/>
                </a:rPr>
                <a:t>2</a:t>
              </a:r>
              <a:r>
                <a:rPr b="1" lang="fr-FR" sz="3200" strike="noStrike" u="none">
                  <a:solidFill>
                    <a:srgbClr val="000000"/>
                  </a:solidFill>
                  <a:effectLst/>
                  <a:uFillTx/>
                  <a:latin typeface="Arial"/>
                </a:rPr>
                <a:t>MAX vs %VMA</a:t>
              </a:r>
              <a:r>
                <a:rPr b="1" lang="fr-FR" sz="3300" strike="noStrike" u="none">
                  <a:solidFill>
                    <a:srgbClr val="000000"/>
                  </a:solidFill>
                  <a:effectLst/>
                  <a:uFillTx/>
                  <a:latin typeface="Arial"/>
                </a:rPr>
                <a:t> </a:t>
              </a:r>
              <a:endParaRPr b="0" lang="en-US" sz="3300" strike="noStrike" u="none">
                <a:solidFill>
                  <a:srgbClr val="ffff00"/>
                </a:solidFill>
                <a:effectLst/>
                <a:uFillTx/>
                <a:latin typeface="Times New Roman"/>
              </a:endParaRPr>
            </a:p>
          </p:txBody>
        </p:sp>
        <p:sp>
          <p:nvSpPr>
            <p:cNvPr id="2895" name="Rectangle 171"/>
            <p:cNvSpPr/>
            <p:nvPr/>
          </p:nvSpPr>
          <p:spPr>
            <a:xfrm>
              <a:off x="1962360" y="561960"/>
              <a:ext cx="4617360" cy="4273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000000"/>
                  </a:solidFill>
                  <a:effectLst/>
                  <a:uFillTx/>
                  <a:latin typeface="Arial"/>
                </a:rPr>
                <a:t>LORS DE LA CROISSANCE</a:t>
              </a:r>
              <a:endParaRPr b="0" lang="en-US" sz="2800" strike="noStrike" u="none">
                <a:solidFill>
                  <a:srgbClr val="ffff00"/>
                </a:solidFill>
                <a:effectLst/>
                <a:uFillTx/>
                <a:latin typeface="Times New Roman"/>
              </a:endParaRPr>
            </a:p>
          </p:txBody>
        </p:sp>
        <p:sp>
          <p:nvSpPr>
            <p:cNvPr id="2896" name="Rectangle 172"/>
            <p:cNvSpPr/>
            <p:nvPr/>
          </p:nvSpPr>
          <p:spPr>
            <a:xfrm>
              <a:off x="6267600" y="1708200"/>
              <a:ext cx="1487160" cy="59688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97" name="Rectangle 173"/>
            <p:cNvSpPr/>
            <p:nvPr/>
          </p:nvSpPr>
          <p:spPr>
            <a:xfrm>
              <a:off x="6359400" y="1774800"/>
              <a:ext cx="1304640" cy="503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300" strike="noStrike" u="none">
                  <a:solidFill>
                    <a:srgbClr val="000000"/>
                  </a:solidFill>
                  <a:effectLst/>
                  <a:uFillTx/>
                  <a:latin typeface="Arial"/>
                </a:rPr>
                <a:t>%VMA</a:t>
              </a:r>
              <a:endParaRPr b="0" lang="en-US" sz="3300" strike="noStrike" u="none">
                <a:solidFill>
                  <a:srgbClr val="ffff00"/>
                </a:solidFill>
                <a:effectLst/>
                <a:uFillTx/>
                <a:latin typeface="Times New Roman"/>
              </a:endParaRPr>
            </a:p>
          </p:txBody>
        </p:sp>
        <p:sp>
          <p:nvSpPr>
            <p:cNvPr id="2898" name="Rectangle 174"/>
            <p:cNvSpPr/>
            <p:nvPr/>
          </p:nvSpPr>
          <p:spPr>
            <a:xfrm>
              <a:off x="1496880" y="1735200"/>
              <a:ext cx="2325960" cy="593640"/>
            </a:xfrm>
            <a:prstGeom prst="rect">
              <a:avLst/>
            </a:prstGeom>
            <a:noFill/>
            <a:ln w="0">
              <a:noFill/>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899" name="Rectangle 175"/>
            <p:cNvSpPr/>
            <p:nvPr/>
          </p:nvSpPr>
          <p:spPr>
            <a:xfrm>
              <a:off x="1523880" y="1752480"/>
              <a:ext cx="2143440" cy="50328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300" strike="noStrike" u="none">
                  <a:solidFill>
                    <a:srgbClr val="000000"/>
                  </a:solidFill>
                  <a:effectLst/>
                  <a:uFillTx/>
                  <a:latin typeface="Arial"/>
                </a:rPr>
                <a:t>%VO2MAX</a:t>
              </a:r>
              <a:endParaRPr b="0" lang="en-US" sz="3300" strike="noStrike" u="none">
                <a:solidFill>
                  <a:srgbClr val="ffff00"/>
                </a:solidFill>
                <a:effectLst/>
                <a:uFillTx/>
                <a:latin typeface="Times New Roman"/>
              </a:endParaRPr>
            </a:p>
          </p:txBody>
        </p:sp>
        <p:pic>
          <p:nvPicPr>
            <p:cNvPr id="2900" name="Picture 176" descr=""/>
            <p:cNvPicPr/>
            <p:nvPr/>
          </p:nvPicPr>
          <p:blipFill>
            <a:blip r:embed="rId1"/>
            <a:stretch/>
          </p:blipFill>
          <p:spPr>
            <a:xfrm>
              <a:off x="4572000" y="2286000"/>
              <a:ext cx="4800600" cy="3581280"/>
            </a:xfrm>
            <a:prstGeom prst="rect">
              <a:avLst/>
            </a:prstGeom>
            <a:noFill/>
            <a:ln w="0">
              <a:noFill/>
            </a:ln>
          </p:spPr>
        </p:pic>
      </p:grpSp>
      <p:pic>
        <p:nvPicPr>
          <p:cNvPr id="2901" name="Picture 177" descr=""/>
          <p:cNvPicPr/>
          <p:nvPr/>
        </p:nvPicPr>
        <p:blipFill>
          <a:blip r:embed="rId2"/>
          <a:stretch/>
        </p:blipFill>
        <p:spPr>
          <a:xfrm>
            <a:off x="0" y="2286000"/>
            <a:ext cx="4572000" cy="3581280"/>
          </a:xfrm>
          <a:prstGeom prst="rect">
            <a:avLst/>
          </a:prstGeom>
          <a:noFill/>
          <a:ln w="0">
            <a:noFill/>
          </a:ln>
        </p:spPr>
      </p:pic>
      <p:sp>
        <p:nvSpPr>
          <p:cNvPr id="2902" name="Text Box 179"/>
          <p:cNvSpPr/>
          <p:nvPr/>
        </p:nvSpPr>
        <p:spPr>
          <a:xfrm>
            <a:off x="0" y="5851440"/>
            <a:ext cx="9296280" cy="9543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Temps limite:  Alors que Tlim à %VO</a:t>
            </a:r>
            <a:r>
              <a:rPr b="1" lang="fr-FR" sz="1800" strike="noStrike" u="none" baseline="-25000">
                <a:solidFill>
                  <a:srgbClr val="000000"/>
                </a:solidFill>
                <a:effectLst/>
                <a:uFillTx/>
                <a:latin typeface="Arial"/>
              </a:rPr>
              <a:t>2</a:t>
            </a:r>
            <a:r>
              <a:rPr b="1" lang="fr-FR" sz="1800" strike="noStrike" u="none">
                <a:solidFill>
                  <a:srgbClr val="000000"/>
                </a:solidFill>
                <a:effectLst/>
                <a:uFillTx/>
                <a:latin typeface="Arial"/>
              </a:rPr>
              <a:t>max est le même chez l’enfant et l’adulte (à gauche), Tlim à %VMA est plus court chez le jeune (à droite).  A prendre en consi-</a:t>
            </a:r>
            <a:endParaRPr b="0" lang="en-US" sz="18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dération pour fixer la durée des entraînements.  Adapté de Berthoin et al.,  1996.</a:t>
            </a:r>
            <a:endParaRPr b="0" lang="en-US" sz="1800" strike="noStrike" u="none">
              <a:solidFill>
                <a:srgbClr val="ffff00"/>
              </a:solidFill>
              <a:effectLst/>
              <a:uFillTx/>
              <a:latin typeface="Times New Roman"/>
            </a:endParaRPr>
          </a:p>
        </p:txBody>
      </p:sp>
    </p:spTree>
  </p:cSld>
  <p:transition spd="med">
    <p:zoom dir="out"/>
  </p:transition>
  <p:timing>
    <p:tnLst>
      <p:par>
        <p:cTn id="2450" dur="indefinite" restart="never" nodeType="tmRoot">
          <p:childTnLst>
            <p:seq>
              <p:cTn id="2451" dur="indefinite" nodeType="mainSeq">
                <p:childTnLst>
                  <p:par>
                    <p:cTn id="2452" nodeType="clickEffect" fill="hold">
                      <p:stCondLst>
                        <p:cond delay="0"/>
                      </p:stCondLst>
                      <p:childTnLst>
                        <p:par>
                          <p:cTn id="2453" nodeType="withEffect" fill="hold">
                            <p:stCondLst>
                              <p:cond delay="0"/>
                            </p:stCondLst>
                            <p:childTnLst>
                              <p:par>
                                <p:cTn id="2454" nodeType="afterEffect" fill="hold" presetClass="entr" presetID="9">
                                  <p:stCondLst>
                                    <p:cond delay="0"/>
                                  </p:stCondLst>
                                  <p:childTnLst>
                                    <p:set>
                                      <p:cBhvr>
                                        <p:cTn id="2455" dur="1" fill="hold">
                                          <p:stCondLst>
                                            <p:cond delay="0"/>
                                          </p:stCondLst>
                                        </p:cTn>
                                        <p:tgtEl>
                                          <p:spTgt spid="2726"/>
                                        </p:tgtEl>
                                        <p:attrNameLst>
                                          <p:attrName>style.visibility</p:attrName>
                                        </p:attrNameLst>
                                      </p:cBhvr>
                                      <p:to>
                                        <p:strVal val="visible"/>
                                      </p:to>
                                    </p:set>
                                    <p:animEffect filter="dissolve" transition="in">
                                      <p:cBhvr additive="repl">
                                        <p:cTn id="2456" dur="500"/>
                                        <p:tgtEl>
                                          <p:spTgt spid="2726"/>
                                        </p:tgtEl>
                                      </p:cBhvr>
                                    </p:animEffect>
                                  </p:childTnLst>
                                </p:cTn>
                              </p:par>
                            </p:childTnLst>
                          </p:cTn>
                        </p:par>
                        <p:par>
                          <p:cTn id="2457" nodeType="afterEffect" fill="hold">
                            <p:stCondLst>
                              <p:cond delay="500"/>
                            </p:stCondLst>
                            <p:childTnLst>
                              <p:par>
                                <p:cTn id="2458" nodeType="afterEffect" fill="hold" presetClass="entr" presetID="2" presetSubtype="6">
                                  <p:stCondLst>
                                    <p:cond delay="2000"/>
                                  </p:stCondLst>
                                  <p:childTnLst>
                                    <p:set>
                                      <p:cBhvr>
                                        <p:cTn id="2459" dur="1" fill="hold">
                                          <p:stCondLst>
                                            <p:cond delay="0"/>
                                          </p:stCondLst>
                                        </p:cTn>
                                        <p:tgtEl>
                                          <p:spTgt spid="2727"/>
                                        </p:tgtEl>
                                        <p:attrNameLst>
                                          <p:attrName>style.visibility</p:attrName>
                                        </p:attrNameLst>
                                      </p:cBhvr>
                                      <p:to>
                                        <p:strVal val="visible"/>
                                      </p:to>
                                    </p:set>
                                    <p:anim calcmode="lin" valueType="num">
                                      <p:cBhvr additive="base">
                                        <p:cTn id="2460" dur="500" fill="hold"/>
                                        <p:tgtEl>
                                          <p:spTgt spid="2727"/>
                                        </p:tgtEl>
                                        <p:attrNameLst>
                                          <p:attrName>ppt_x</p:attrName>
                                        </p:attrNameLst>
                                      </p:cBhvr>
                                      <p:tavLst>
                                        <p:tav tm="0">
                                          <p:val>
                                            <p:strVal val="1+#ppt_w/2"/>
                                          </p:val>
                                        </p:tav>
                                        <p:tav tm="100000">
                                          <p:val>
                                            <p:strVal val="#ppt_x"/>
                                          </p:val>
                                        </p:tav>
                                      </p:tavLst>
                                    </p:anim>
                                    <p:anim calcmode="lin" valueType="num">
                                      <p:cBhvr additive="base">
                                        <p:cTn id="2461" dur="500" fill="hold"/>
                                        <p:tgtEl>
                                          <p:spTgt spid="2727"/>
                                        </p:tgtEl>
                                        <p:attrNameLst>
                                          <p:attrName>ppt_y</p:attrName>
                                        </p:attrNameLst>
                                      </p:cBhvr>
                                      <p:tavLst>
                                        <p:tav tm="0">
                                          <p:val>
                                            <p:strVal val="1+#ppt_h/2"/>
                                          </p:val>
                                        </p:tav>
                                        <p:tav tm="100000">
                                          <p:val>
                                            <p:strVal val="#ppt_y"/>
                                          </p:val>
                                        </p:tav>
                                      </p:tavLst>
                                    </p:anim>
                                  </p:childTnLst>
                                </p:cTn>
                              </p:par>
                            </p:childTnLst>
                          </p:cTn>
                        </p:par>
                        <p:par>
                          <p:cTn id="2462" nodeType="afterEffect" fill="hold">
                            <p:stCondLst>
                              <p:cond delay="3000"/>
                            </p:stCondLst>
                            <p:childTnLst>
                              <p:par>
                                <p:cTn id="2463" nodeType="afterEffect" fill="hold" presetClass="entr" presetID="12" presetSubtype="8">
                                  <p:stCondLst>
                                    <p:cond delay="2000"/>
                                  </p:stCondLst>
                                  <p:childTnLst>
                                    <p:set>
                                      <p:cBhvr>
                                        <p:cTn id="2464" dur="1" fill="hold">
                                          <p:stCondLst>
                                            <p:cond delay="0"/>
                                          </p:stCondLst>
                                        </p:cTn>
                                        <p:tgtEl>
                                          <p:spTgt spid="2901"/>
                                        </p:tgtEl>
                                        <p:attrNameLst>
                                          <p:attrName>style.visibility</p:attrName>
                                        </p:attrNameLst>
                                      </p:cBhvr>
                                      <p:to>
                                        <p:strVal val="visible"/>
                                      </p:to>
                                    </p:set>
                                    <p:anim calcmode="lin" valueType="num">
                                      <p:cBhvr additive="base">
                                        <p:cTn id="2465" dur="500"/>
                                        <p:tgtEl>
                                          <p:spTgt spid="2901"/>
                                        </p:tgtEl>
                                        <p:attrNameLst>
                                          <p:attrName>ppt_x</p:attrName>
                                        </p:attrNameLst>
                                      </p:cBhvr>
                                      <p:tavLst>
                                        <p:tav tm="0">
                                          <p:val>
                                            <p:strVal val="#ppt_x-#ppt_w*1.125000"/>
                                          </p:val>
                                        </p:tav>
                                        <p:tav tm="100000">
                                          <p:val>
                                            <p:strVal val="#ppt_x"/>
                                          </p:val>
                                        </p:tav>
                                      </p:tavLst>
                                    </p:anim>
                                    <p:animEffect filter="wipe(right)" transition="in">
                                      <p:cBhvr additive="repl">
                                        <p:cTn id="2466" dur="500"/>
                                        <p:tgtEl>
                                          <p:spTgt spid="29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3" name="Rectangle 2"/>
          <p:cNvSpPr/>
          <p:nvPr/>
        </p:nvSpPr>
        <p:spPr>
          <a:xfrm>
            <a:off x="0" y="228600"/>
            <a:ext cx="9142560" cy="762120"/>
          </a:xfrm>
          <a:prstGeom prst="rect">
            <a:avLst/>
          </a:prstGeom>
          <a:noFill/>
          <a:ln w="0">
            <a:noFill/>
          </a:ln>
        </p:spPr>
        <p:style>
          <a:lnRef idx="0"/>
          <a:fillRef idx="0"/>
          <a:effectRef idx="0"/>
          <a:fontRef idx="minor"/>
        </p:style>
        <p:txBody>
          <a:bodyPr lIns="92160" rIns="92160" tIns="46080" bIns="46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Arial"/>
              </a:rPr>
              <a:t>2.2 Durée limite à partir d’une épreuve unique</a:t>
            </a:r>
            <a:endParaRPr b="0" lang="en-US" sz="3200" strike="noStrike" u="none">
              <a:solidFill>
                <a:srgbClr val="ffff00"/>
              </a:solidFill>
              <a:effectLst/>
              <a:uFillTx/>
              <a:latin typeface="Times New Roman"/>
            </a:endParaRPr>
          </a:p>
        </p:txBody>
      </p:sp>
      <p:sp>
        <p:nvSpPr>
          <p:cNvPr id="2904" name="Rectangle 3"/>
          <p:cNvSpPr/>
          <p:nvPr/>
        </p:nvSpPr>
        <p:spPr>
          <a:xfrm>
            <a:off x="228600" y="1447920"/>
            <a:ext cx="4876920" cy="45828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DUREE LIMITE à 100 % de VAM</a:t>
            </a:r>
            <a:endParaRPr b="0" lang="en-US" sz="2400" strike="noStrike" u="none">
              <a:solidFill>
                <a:srgbClr val="ffff00"/>
              </a:solidFill>
              <a:effectLst/>
              <a:uFillTx/>
              <a:latin typeface="Times New Roman"/>
            </a:endParaRPr>
          </a:p>
        </p:txBody>
      </p:sp>
      <p:graphicFrame>
        <p:nvGraphicFramePr>
          <p:cNvPr id="2905" name="Object 4"/>
          <p:cNvGraphicFramePr/>
          <p:nvPr/>
        </p:nvGraphicFramePr>
        <p:xfrm>
          <a:off x="490680" y="2424240"/>
          <a:ext cx="8110440" cy="2300040"/>
        </p:xfrm>
        <a:graphic>
          <a:graphicData uri="http://schemas.openxmlformats.org/presentationml/2006/ole">
            <p:oleObj progId="Word.Document.12" r:id="rId1" spid="">
              <p:embed/>
              <p:pic>
                <p:nvPicPr>
                  <p:cNvPr id="2906" name="Object 4" descr=""/>
                  <p:cNvPicPr/>
                  <p:nvPr/>
                </p:nvPicPr>
                <p:blipFill>
                  <a:blip r:embed="rId2"/>
                  <a:stretch/>
                </p:blipFill>
                <p:spPr>
                  <a:xfrm>
                    <a:off x="490680" y="2424240"/>
                    <a:ext cx="8110440" cy="2300040"/>
                  </a:xfrm>
                  <a:prstGeom prst="rect">
                    <a:avLst/>
                  </a:prstGeom>
                  <a:noFill/>
                  <a:ln w="76320">
                    <a:solidFill>
                      <a:srgbClr val="66ff33"/>
                    </a:solidFill>
                    <a:miter/>
                  </a:ln>
                </p:spPr>
              </p:pic>
            </p:oleObj>
          </a:graphicData>
        </a:graphic>
      </p:graphicFrame>
      <p:sp>
        <p:nvSpPr>
          <p:cNvPr id="2907" name="Rectangle 5"/>
          <p:cNvSpPr/>
          <p:nvPr/>
        </p:nvSpPr>
        <p:spPr>
          <a:xfrm>
            <a:off x="0" y="5029200"/>
            <a:ext cx="9144000" cy="70236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Arial"/>
              </a:rPr>
              <a:t>VAM déterminée avec l’épreuve de course sur piste de Léger et Boucher (1980)</a:t>
            </a:r>
            <a:endParaRPr b="0" lang="en-US" sz="2000" strike="noStrike" u="none">
              <a:solidFill>
                <a:srgbClr val="ffff00"/>
              </a:solidFill>
              <a:effectLst/>
              <a:uFillTx/>
              <a:latin typeface="Times New Roman"/>
            </a:endParaRPr>
          </a:p>
        </p:txBody>
      </p:sp>
      <p:sp>
        <p:nvSpPr>
          <p:cNvPr id="2908" name="AutoShape 6"/>
          <p:cNvSpPr/>
          <p:nvPr/>
        </p:nvSpPr>
        <p:spPr>
          <a:xfrm>
            <a:off x="5410080" y="838080"/>
            <a:ext cx="3733920" cy="1143000"/>
          </a:xfrm>
          <a:prstGeom prst="wedgeRoundRectCallout">
            <a:avLst>
              <a:gd name="adj1" fmla="val -17856"/>
              <a:gd name="adj2" fmla="val 174027"/>
              <a:gd name="adj3" fmla="val 16667"/>
            </a:avLst>
          </a:prstGeom>
          <a:solidFill>
            <a:srgbClr val="ccccff"/>
          </a:solidFill>
          <a:ln w="9360">
            <a:solidFill>
              <a:srgbClr val="ffff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5 min 12s = temps limite à 100%</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obtenu avec des adolescents</a:t>
            </a:r>
            <a:endParaRPr b="0" lang="en-US" sz="18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000000"/>
                </a:solidFill>
                <a:effectLst/>
                <a:uFillTx/>
                <a:latin typeface="Arial"/>
              </a:rPr>
              <a:t>(épreuve VAMEVAL)</a:t>
            </a:r>
            <a:endParaRPr b="0" lang="en-US" sz="1800" strike="noStrike" u="none">
              <a:solidFill>
                <a:srgbClr val="ffff00"/>
              </a:solidFill>
              <a:effectLst/>
              <a:uFillTx/>
              <a:latin typeface="Times New Roman"/>
            </a:endParaRPr>
          </a:p>
        </p:txBody>
      </p:sp>
    </p:spTree>
  </p:cSld>
  <p:transition spd="med">
    <p:zoom dir="out"/>
  </p:transition>
  <p:timing>
    <p:tnLst>
      <p:par>
        <p:cTn id="2467" dur="indefinite" restart="never" nodeType="tmRoot">
          <p:childTnLst>
            <p:seq>
              <p:cTn id="2468" dur="indefinite" nodeType="mainSeq">
                <p:childTnLst>
                  <p:par>
                    <p:cTn id="2469" nodeType="clickEffect" fill="hold">
                      <p:stCondLst>
                        <p:cond delay="0"/>
                      </p:stCondLst>
                      <p:childTnLst>
                        <p:par>
                          <p:cTn id="2470" nodeType="withEffect" fill="hold">
                            <p:stCondLst>
                              <p:cond delay="0"/>
                            </p:stCondLst>
                            <p:childTnLst>
                              <p:par>
                                <p:cTn id="2471" nodeType="afterEffect" fill="hold" presetClass="entr" presetID="9">
                                  <p:stCondLst>
                                    <p:cond delay="0"/>
                                  </p:stCondLst>
                                  <p:iterate type="wd">
                                    <p:tmAbs val="300"/>
                                  </p:iterate>
                                  <p:childTnLst>
                                    <p:set>
                                      <p:cBhvr>
                                        <p:cTn id="2472" dur="1" fill="hold">
                                          <p:stCondLst>
                                            <p:cond delay="0"/>
                                          </p:stCondLst>
                                        </p:cTn>
                                        <p:tgtEl>
                                          <p:spTgt spid="2903"/>
                                        </p:tgtEl>
                                        <p:attrNameLst>
                                          <p:attrName>style.visibility</p:attrName>
                                        </p:attrNameLst>
                                      </p:cBhvr>
                                      <p:to>
                                        <p:strVal val="visible"/>
                                      </p:to>
                                    </p:set>
                                    <p:animEffect filter="dissolve" transition="in">
                                      <p:cBhvr additive="repl">
                                        <p:cTn id="2473" dur="300"/>
                                        <p:tgtEl>
                                          <p:spTgt spid="2903"/>
                                        </p:tgtEl>
                                      </p:cBhvr>
                                    </p:animEffect>
                                  </p:childTnLst>
                                </p:cTn>
                              </p:par>
                            </p:childTnLst>
                          </p:cTn>
                        </p:par>
                        <p:par>
                          <p:cTn id="2474" nodeType="afterEffect" fill="hold">
                            <p:stCondLst>
                              <p:cond delay="2400"/>
                            </p:stCondLst>
                            <p:childTnLst>
                              <p:par>
                                <p:cTn id="2475" nodeType="afterEffect" fill="hold" presetClass="entr" presetID="9">
                                  <p:stCondLst>
                                    <p:cond delay="0"/>
                                  </p:stCondLst>
                                  <p:iterate type="wd">
                                    <p:tmAbs val="300"/>
                                  </p:iterate>
                                  <p:childTnLst>
                                    <p:set>
                                      <p:cBhvr>
                                        <p:cTn id="2476" dur="1" fill="hold">
                                          <p:stCondLst>
                                            <p:cond delay="0"/>
                                          </p:stCondLst>
                                        </p:cTn>
                                        <p:tgtEl>
                                          <p:spTgt spid="2904"/>
                                        </p:tgtEl>
                                        <p:attrNameLst>
                                          <p:attrName>style.visibility</p:attrName>
                                        </p:attrNameLst>
                                      </p:cBhvr>
                                      <p:to>
                                        <p:strVal val="visible"/>
                                      </p:to>
                                    </p:set>
                                    <p:animEffect filter="dissolve" transition="in">
                                      <p:cBhvr additive="repl">
                                        <p:cTn id="2477" dur="300"/>
                                        <p:tgtEl>
                                          <p:spTgt spid="2904"/>
                                        </p:tgtEl>
                                      </p:cBhvr>
                                    </p:animEffect>
                                  </p:childTnLst>
                                </p:cTn>
                              </p:par>
                            </p:childTnLst>
                          </p:cTn>
                        </p:par>
                      </p:childTnLst>
                    </p:cTn>
                  </p:par>
                  <p:par>
                    <p:cTn id="2478" nodeType="clickEffect" fill="hold">
                      <p:stCondLst>
                        <p:cond delay="indefinite"/>
                      </p:stCondLst>
                      <p:childTnLst>
                        <p:par>
                          <p:cTn id="2479" nodeType="withEffect" fill="hold">
                            <p:stCondLst>
                              <p:cond delay="0"/>
                            </p:stCondLst>
                            <p:childTnLst>
                              <p:par>
                                <p:cTn id="2480" nodeType="clickEffect" fill="hold" presetClass="entr" presetID="2" presetSubtype="8">
                                  <p:stCondLst>
                                    <p:cond delay="0"/>
                                  </p:stCondLst>
                                  <p:childTnLst>
                                    <p:set>
                                      <p:cBhvr>
                                        <p:cTn id="2481" dur="1" fill="hold">
                                          <p:stCondLst>
                                            <p:cond delay="0"/>
                                          </p:stCondLst>
                                        </p:cTn>
                                        <p:tgtEl>
                                          <p:spTgt spid="2906"/>
                                        </p:tgtEl>
                                        <p:attrNameLst>
                                          <p:attrName>style.visibility</p:attrName>
                                        </p:attrNameLst>
                                      </p:cBhvr>
                                      <p:to>
                                        <p:strVal val="visible"/>
                                      </p:to>
                                    </p:set>
                                    <p:anim calcmode="lin" valueType="num">
                                      <p:cBhvr additive="base">
                                        <p:cTn id="2482" dur="500" fill="hold"/>
                                        <p:tgtEl>
                                          <p:spTgt spid="2906"/>
                                        </p:tgtEl>
                                        <p:attrNameLst>
                                          <p:attrName>ppt_x</p:attrName>
                                        </p:attrNameLst>
                                      </p:cBhvr>
                                      <p:tavLst>
                                        <p:tav tm="0">
                                          <p:val>
                                            <p:strVal val="0-#ppt_w/2"/>
                                          </p:val>
                                        </p:tav>
                                        <p:tav tm="100000">
                                          <p:val>
                                            <p:strVal val="#ppt_x"/>
                                          </p:val>
                                        </p:tav>
                                      </p:tavLst>
                                    </p:anim>
                                    <p:anim calcmode="lin" valueType="num">
                                      <p:cBhvr additive="base">
                                        <p:cTn id="2483" dur="500" fill="hold"/>
                                        <p:tgtEl>
                                          <p:spTgt spid="2906"/>
                                        </p:tgtEl>
                                        <p:attrNameLst>
                                          <p:attrName>ppt_y</p:attrName>
                                        </p:attrNameLst>
                                      </p:cBhvr>
                                      <p:tavLst>
                                        <p:tav tm="0">
                                          <p:val>
                                            <p:strVal val="#ppt_y"/>
                                          </p:val>
                                        </p:tav>
                                        <p:tav tm="100000">
                                          <p:val>
                                            <p:strVal val="#ppt_y"/>
                                          </p:val>
                                        </p:tav>
                                      </p:tavLst>
                                    </p:anim>
                                  </p:childTnLst>
                                </p:cTn>
                              </p:par>
                            </p:childTnLst>
                          </p:cTn>
                        </p:par>
                        <p:par>
                          <p:cTn id="2484" nodeType="afterEffect" fill="hold">
                            <p:stCondLst>
                              <p:cond delay="500"/>
                            </p:stCondLst>
                            <p:childTnLst>
                              <p:par>
                                <p:cTn id="2485" nodeType="afterEffect" fill="hold" presetClass="entr" presetID="9">
                                  <p:stCondLst>
                                    <p:cond delay="0"/>
                                  </p:stCondLst>
                                  <p:iterate type="wd">
                                    <p:tmAbs val="300"/>
                                  </p:iterate>
                                  <p:childTnLst>
                                    <p:set>
                                      <p:cBhvr>
                                        <p:cTn id="2486" dur="1" fill="hold">
                                          <p:stCondLst>
                                            <p:cond delay="0"/>
                                          </p:stCondLst>
                                        </p:cTn>
                                        <p:tgtEl>
                                          <p:spTgt spid="2907"/>
                                        </p:tgtEl>
                                        <p:attrNameLst>
                                          <p:attrName>style.visibility</p:attrName>
                                        </p:attrNameLst>
                                      </p:cBhvr>
                                      <p:to>
                                        <p:strVal val="visible"/>
                                      </p:to>
                                    </p:set>
                                    <p:animEffect filter="dissolve" transition="in">
                                      <p:cBhvr additive="repl">
                                        <p:cTn id="2487" dur="300"/>
                                        <p:tgtEl>
                                          <p:spTgt spid="2907"/>
                                        </p:tgtEl>
                                      </p:cBhvr>
                                    </p:animEffect>
                                  </p:childTnLst>
                                </p:cTn>
                              </p:par>
                            </p:childTnLst>
                          </p:cTn>
                        </p:par>
                      </p:childTnLst>
                    </p:cTn>
                  </p:par>
                  <p:par>
                    <p:cTn id="2488" nodeType="clickEffect" fill="hold">
                      <p:stCondLst>
                        <p:cond delay="indefinite"/>
                      </p:stCondLst>
                      <p:childTnLst>
                        <p:par>
                          <p:cTn id="2489" nodeType="withEffect" fill="hold">
                            <p:stCondLst>
                              <p:cond delay="0"/>
                            </p:stCondLst>
                            <p:childTnLst>
                              <p:par>
                                <p:cTn id="2490" nodeType="clickEffect" fill="hold" presetClass="entr" presetID="9">
                                  <p:stCondLst>
                                    <p:cond delay="0"/>
                                  </p:stCondLst>
                                  <p:iterate type="lt">
                                    <p:tmAbs val="75"/>
                                  </p:iterate>
                                  <p:childTnLst>
                                    <p:set>
                                      <p:cBhvr>
                                        <p:cTn id="2491" dur="1" fill="hold">
                                          <p:stCondLst>
                                            <p:cond delay="0"/>
                                          </p:stCondLst>
                                        </p:cTn>
                                        <p:tgtEl>
                                          <p:spTgt spid="2908"/>
                                        </p:tgtEl>
                                        <p:attrNameLst>
                                          <p:attrName>style.visibility</p:attrName>
                                        </p:attrNameLst>
                                      </p:cBhvr>
                                      <p:to>
                                        <p:strVal val="visible"/>
                                      </p:to>
                                    </p:set>
                                    <p:animEffect filter="dissolve" transition="in">
                                      <p:cBhvr additive="repl">
                                        <p:cTn id="2492" dur="75"/>
                                        <p:tgtEl>
                                          <p:spTgt spid="2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9" name="Rectangle 2"/>
          <p:cNvSpPr/>
          <p:nvPr/>
        </p:nvSpPr>
        <p:spPr>
          <a:xfrm>
            <a:off x="152280" y="2438280"/>
            <a:ext cx="8991720" cy="2434680"/>
          </a:xfrm>
          <a:prstGeom prst="rect">
            <a:avLst/>
          </a:prstGeom>
          <a:noFill/>
          <a:ln w="0">
            <a:noFill/>
          </a:ln>
        </p:spPr>
        <p:style>
          <a:lnRef idx="0"/>
          <a:fillRef idx="0"/>
          <a:effectRef idx="0"/>
          <a:fontRef idx="minor"/>
        </p:style>
        <p:txBody>
          <a:bodyPr lIns="90000" rIns="90000" tIns="46800" bIns="46800" anchor="t">
            <a:sp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none">
                <a:solidFill>
                  <a:srgbClr val="ffff00"/>
                </a:solidFill>
                <a:effectLst/>
                <a:uFillTx/>
                <a:latin typeface="Arial"/>
              </a:rPr>
              <a:t>Quelles durées de course envisager pour différents pourcentages de VAM ? (Bertoin et al.,1995)</a:t>
            </a: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3- Garçons 12-15 ans : E.A.(min) = 431.1 - 213.9 Log (%VAM)</a:t>
            </a:r>
            <a:endParaRPr b="0" lang="en-US" sz="2400" strike="noStrike" u="none">
              <a:solidFill>
                <a:srgbClr val="ffff00"/>
              </a:solidFill>
              <a:effectLst/>
              <a:uFillTx/>
              <a:latin typeface="Times New Roman"/>
            </a:endParaRPr>
          </a:p>
          <a:p>
            <a:pP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4- Filles 12-13 ans      :</a:t>
            </a:r>
            <a:r>
              <a:rPr b="1" lang="fr-FR" sz="2400" strike="noStrike" u="none">
                <a:solidFill>
                  <a:srgbClr val="3333cc"/>
                </a:solidFill>
                <a:effectLst/>
                <a:uFillTx/>
                <a:latin typeface="Arial"/>
              </a:rPr>
              <a:t> </a:t>
            </a:r>
            <a:r>
              <a:rPr b="1" lang="fr-FR" sz="2400" strike="noStrike" u="none">
                <a:solidFill>
                  <a:srgbClr val="ffff00"/>
                </a:solidFill>
                <a:effectLst/>
                <a:uFillTx/>
                <a:latin typeface="Arial"/>
              </a:rPr>
              <a:t>E.A.(min) =</a:t>
            </a:r>
            <a:r>
              <a:rPr b="1" lang="fr-FR" sz="3200" strike="noStrike" u="none">
                <a:solidFill>
                  <a:srgbClr val="ffff00"/>
                </a:solidFill>
                <a:effectLst/>
                <a:uFillTx/>
                <a:latin typeface="Arial"/>
              </a:rPr>
              <a:t> </a:t>
            </a:r>
            <a:r>
              <a:rPr b="1" lang="fr-FR" sz="2400" strike="noStrike" u="none">
                <a:solidFill>
                  <a:srgbClr val="ffff00"/>
                </a:solidFill>
                <a:effectLst/>
                <a:uFillTx/>
                <a:latin typeface="Arial"/>
              </a:rPr>
              <a:t>268.2 - 132.1 Log (%VAM)</a:t>
            </a:r>
            <a:endParaRPr b="0" lang="en-US" sz="2400" strike="noStrike" u="none">
              <a:solidFill>
                <a:srgbClr val="ffff00"/>
              </a:solidFill>
              <a:effectLst/>
              <a:uFillTx/>
              <a:latin typeface="Times New Roman"/>
            </a:endParaRPr>
          </a:p>
        </p:txBody>
      </p:sp>
    </p:spTree>
  </p:cSld>
  <p:transition spd="med">
    <p:zoom dir="out"/>
  </p:transition>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0" name="Text Box 2"/>
          <p:cNvSpPr/>
          <p:nvPr/>
        </p:nvSpPr>
        <p:spPr>
          <a:xfrm>
            <a:off x="1972080" y="380880"/>
            <a:ext cx="76996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Arial"/>
              </a:rPr>
              <a:t>COMMENT DEVELOPPER L’ENDURANCE AEROBIE</a:t>
            </a:r>
            <a:endParaRPr b="0" lang="en-US" sz="2400" strike="noStrike" u="none">
              <a:solidFill>
                <a:srgbClr val="ffff00"/>
              </a:solidFill>
              <a:effectLst/>
              <a:uFillTx/>
              <a:latin typeface="Times New Roman"/>
            </a:endParaRPr>
          </a:p>
        </p:txBody>
      </p:sp>
      <p:sp>
        <p:nvSpPr>
          <p:cNvPr id="2911" name="Text Box 3"/>
          <p:cNvSpPr/>
          <p:nvPr/>
        </p:nvSpPr>
        <p:spPr>
          <a:xfrm>
            <a:off x="304920" y="1676520"/>
            <a:ext cx="8475480" cy="3720240"/>
          </a:xfrm>
          <a:prstGeom prst="rect">
            <a:avLst/>
          </a:prstGeom>
          <a:noFill/>
          <a:ln w="0">
            <a:noFill/>
          </a:ln>
        </p:spPr>
        <p:style>
          <a:lnRef idx="0"/>
          <a:fillRef idx="0"/>
          <a:effectRef idx="0"/>
          <a:fontRef idx="minor"/>
        </p:style>
        <p:txBody>
          <a:bodyPr lIns="90000" rIns="90000" tIns="46800" bIns="46800" anchor="t">
            <a:spAutoFit/>
          </a:bodyPr>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ENDURANCE : </a:t>
            </a:r>
            <a:endParaRPr b="0" lang="en-US" sz="20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Exercices continus de durée supérieure à 15 min:</a:t>
            </a:r>
            <a:endParaRPr b="0" lang="en-US" sz="20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 Exemple: course continue entre 70 et 85 % de la VAM.</a:t>
            </a:r>
            <a:endParaRPr b="0" lang="en-US" sz="20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ENDURANCE + PUISANCE AEROBIE MAX: </a:t>
            </a:r>
            <a:endParaRPr b="0" lang="en-US" sz="20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Exemple : Fartlek (ou alternance de courses à allure modérée</a:t>
            </a:r>
            <a:endParaRPr b="0" lang="en-US" sz="2000" strike="noStrike" u="none">
              <a:solidFill>
                <a:srgbClr val="ffff00"/>
              </a:solidFill>
              <a:effectLst/>
              <a:uFillTx/>
              <a:latin typeface="Times New Roman"/>
            </a:endParaRPr>
          </a:p>
          <a:p>
            <a:pP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Arial"/>
              </a:rPr>
              <a:t>60 à 70 % de la vam et de courses rapides : 110 à130 % de la vam</a:t>
            </a:r>
            <a:endParaRPr b="0" lang="en-US" sz="2000" strike="noStrike" u="none">
              <a:solidFill>
                <a:srgbClr val="ffff00"/>
              </a:solidFill>
              <a:effectLst/>
              <a:uFillTx/>
              <a:latin typeface="Times New Roman"/>
            </a:endParaRPr>
          </a:p>
        </p:txBody>
      </p:sp>
    </p:spTree>
  </p:cSld>
  <p:transition spd="med">
    <p:zoom dir="out"/>
  </p:transition>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2" name="PlaceHolder 1"/>
          <p:cNvSpPr>
            <a:spLocks noGrp="1"/>
          </p:cNvSpPr>
          <p:nvPr>
            <p:ph type="title"/>
          </p:nvPr>
        </p:nvSpPr>
        <p:spPr>
          <a:xfrm>
            <a:off x="685800" y="304560"/>
            <a:ext cx="7772400" cy="114300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600" strike="noStrike" u="none">
                <a:solidFill>
                  <a:srgbClr val="ffff00"/>
                </a:solidFill>
                <a:effectLst/>
                <a:uFillTx/>
                <a:latin typeface="Arial"/>
              </a:rPr>
              <a:t>Quelles sont les intensités qui correspondent au travail aérobie?</a:t>
            </a:r>
            <a:endParaRPr b="0" lang="en-US" sz="3600" strike="noStrike" u="none">
              <a:solidFill>
                <a:srgbClr val="ffffff"/>
              </a:solidFill>
              <a:effectLst/>
              <a:uFillTx/>
              <a:latin typeface="Times New Roman"/>
            </a:endParaRPr>
          </a:p>
        </p:txBody>
      </p:sp>
      <p:sp>
        <p:nvSpPr>
          <p:cNvPr id="2913" name="PlaceHolder 2"/>
          <p:cNvSpPr>
            <a:spLocks noGrp="1"/>
          </p:cNvSpPr>
          <p:nvPr>
            <p:ph/>
          </p:nvPr>
        </p:nvSpPr>
        <p:spPr>
          <a:xfrm>
            <a:off x="0" y="1981080"/>
            <a:ext cx="9144000" cy="4114800"/>
          </a:xfrm>
          <a:prstGeom prst="rect">
            <a:avLst/>
          </a:prstGeom>
          <a:noFill/>
          <a:ln w="0">
            <a:noFill/>
          </a:ln>
        </p:spPr>
        <p:txBody>
          <a:bodyPr lIns="91440" rIns="91440" tIns="45720" bIns="45720" anchor="t">
            <a:normAutofit/>
          </a:bodyPr>
          <a:p>
            <a:pPr marL="343080" indent="-343080">
              <a:lnSpc>
                <a:spcPct val="9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Au plan métabolique: Entre 65 et 80 % de VO</a:t>
            </a:r>
            <a:r>
              <a:rPr b="1" lang="es-CL" sz="2400" strike="noStrike" u="none" baseline="-25000">
                <a:solidFill>
                  <a:srgbClr val="ffff00"/>
                </a:solidFill>
                <a:effectLst/>
                <a:uFillTx/>
                <a:latin typeface="Arial"/>
              </a:rPr>
              <a:t>2</a:t>
            </a:r>
            <a:r>
              <a:rPr b="1" lang="es-CL" sz="2400" strike="noStrike" u="none">
                <a:solidFill>
                  <a:srgbClr val="ffff00"/>
                </a:solidFill>
                <a:effectLst/>
                <a:uFillTx/>
                <a:latin typeface="Arial"/>
              </a:rPr>
              <a:t>max</a:t>
            </a:r>
            <a:endParaRPr b="0" lang="en-US" sz="2400" strike="noStrike" u="none">
              <a:solidFill>
                <a:srgbClr val="ffff00"/>
              </a:solidFill>
              <a:effectLst/>
              <a:uFillTx/>
              <a:latin typeface="Times New Roman"/>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2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Au plan des capacités motrices : entre 65 et 85 %  de la puissance aérobie maximale ou de la vitesse aérobie maximale.</a:t>
            </a:r>
            <a:endParaRPr b="0" lang="en-US" sz="2400" strike="noStrike" u="none">
              <a:solidFill>
                <a:srgbClr val="ffff00"/>
              </a:solidFill>
              <a:effectLst/>
              <a:uFillTx/>
              <a:latin typeface="Times New Roman"/>
            </a:endParaRPr>
          </a:p>
          <a:p>
            <a:pPr marL="343080" indent="0">
              <a:lnSpc>
                <a:spcPct val="12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2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s-CL" sz="2400" strike="noStrike" u="none">
                <a:solidFill>
                  <a:srgbClr val="ffff00"/>
                </a:solidFill>
                <a:effectLst/>
                <a:uFillTx/>
                <a:latin typeface="Arial"/>
              </a:rPr>
              <a:t>Au plan cardiaque : entre 80 et 9O % de la fréquence cardiaque maximale</a:t>
            </a:r>
            <a:r>
              <a:rPr b="0" lang="es-CL" sz="2400" strike="noStrike" u="none">
                <a:solidFill>
                  <a:srgbClr val="ffff00"/>
                </a:solidFill>
                <a:effectLst/>
                <a:uFillTx/>
                <a:latin typeface="Times New Roman"/>
              </a:rPr>
              <a:t> </a:t>
            </a:r>
            <a:endParaRPr b="0" lang="en-US" sz="2400" strike="noStrike" u="none">
              <a:solidFill>
                <a:srgbClr val="ffff00"/>
              </a:solidFill>
              <a:effectLst/>
              <a:uFillTx/>
              <a:latin typeface="Times New Roman"/>
            </a:endParaRPr>
          </a:p>
        </p:txBody>
      </p:sp>
    </p:spTree>
  </p:cSld>
  <p:transition spd="med">
    <p:zoom dir="out"/>
  </p:transition>
  <p:timing>
    <p:tnLst>
      <p:par>
        <p:cTn id="2493" dur="indefinite" restart="never" nodeType="tmRoot">
          <p:childTnLst>
            <p:seq>
              <p:cTn id="2494" dur="indefinite" nodeType="mainSeq">
                <p:childTnLst>
                  <p:par>
                    <p:cTn id="2495" nodeType="clickEffect" fill="hold">
                      <p:stCondLst>
                        <p:cond delay="0"/>
                      </p:stCondLst>
                      <p:childTnLst>
                        <p:par>
                          <p:cTn id="2496" nodeType="withEffect" fill="hold">
                            <p:stCondLst>
                              <p:cond delay="0"/>
                            </p:stCondLst>
                            <p:childTnLst>
                              <p:par>
                                <p:cTn id="2497" nodeType="afterEffect" fill="hold" presetClass="entr" presetID="9">
                                  <p:stCondLst>
                                    <p:cond delay="0"/>
                                  </p:stCondLst>
                                  <p:iterate type="lt">
                                    <p:tmAbs val="75"/>
                                  </p:iterate>
                                  <p:childTnLst>
                                    <p:set>
                                      <p:cBhvr>
                                        <p:cTn id="2498" dur="1" fill="hold">
                                          <p:stCondLst>
                                            <p:cond delay="0"/>
                                          </p:stCondLst>
                                        </p:cTn>
                                        <p:tgtEl>
                                          <p:spTgt spid="2912"/>
                                        </p:tgtEl>
                                        <p:attrNameLst>
                                          <p:attrName>style.visibility</p:attrName>
                                        </p:attrNameLst>
                                      </p:cBhvr>
                                      <p:to>
                                        <p:strVal val="visible"/>
                                      </p:to>
                                    </p:set>
                                    <p:animEffect filter="dissolve" transition="in">
                                      <p:cBhvr additive="repl">
                                        <p:cTn id="2499" dur="75"/>
                                        <p:tgtEl>
                                          <p:spTgt spid="2912"/>
                                        </p:tgtEl>
                                      </p:cBhvr>
                                    </p:animEffect>
                                  </p:childTnLst>
                                </p:cTn>
                              </p:par>
                            </p:childTnLst>
                          </p:cTn>
                        </p:par>
                        <p:par>
                          <p:cTn id="2500" nodeType="afterEffect" fill="hold">
                            <p:stCondLst>
                              <p:cond delay="4275"/>
                            </p:stCondLst>
                            <p:childTnLst>
                              <p:par>
                                <p:cTn id="2501" nodeType="afterEffect" fill="hold" presetClass="entr" presetID="9">
                                  <p:stCondLst>
                                    <p:cond delay="0"/>
                                  </p:stCondLst>
                                  <p:iterate type="lt">
                                    <p:tmAbs val="75"/>
                                  </p:iterate>
                                  <p:childTnLst>
                                    <p:set>
                                      <p:cBhvr>
                                        <p:cTn id="2502" dur="1" fill="hold">
                                          <p:stCondLst>
                                            <p:cond delay="0"/>
                                          </p:stCondLst>
                                        </p:cTn>
                                        <p:tgtEl>
                                          <p:spTgt spid="2913">
                                            <p:txEl>
                                              <p:pRg st="0" end="0"/>
                                            </p:txEl>
                                          </p:spTgt>
                                        </p:tgtEl>
                                        <p:attrNameLst>
                                          <p:attrName>style.visibility</p:attrName>
                                        </p:attrNameLst>
                                      </p:cBhvr>
                                      <p:to>
                                        <p:strVal val="visible"/>
                                      </p:to>
                                    </p:set>
                                    <p:animEffect filter="dissolve" transition="in">
                                      <p:cBhvr additive="repl">
                                        <p:cTn id="2503" dur="75"/>
                                        <p:tgtEl>
                                          <p:spTgt spid="2913">
                                            <p:txEl>
                                              <p:pRg st="0" end="0"/>
                                            </p:txEl>
                                          </p:spTgt>
                                        </p:tgtEl>
                                      </p:cBhvr>
                                    </p:animEffect>
                                  </p:childTnLst>
                                </p:cTn>
                              </p:par>
                            </p:childTnLst>
                          </p:cTn>
                        </p:par>
                        <p:par>
                          <p:cTn id="2504" nodeType="afterEffect" fill="hold">
                            <p:stCondLst>
                              <p:cond delay="7125"/>
                            </p:stCondLst>
                            <p:childTnLst>
                              <p:par>
                                <p:cTn id="2505" nodeType="afterEffect" fill="hold" presetClass="entr" presetID="9">
                                  <p:stCondLst>
                                    <p:cond delay="0"/>
                                  </p:stCondLst>
                                  <p:iterate type="lt">
                                    <p:tmAbs val="75"/>
                                  </p:iterate>
                                  <p:childTnLst>
                                    <p:set>
                                      <p:cBhvr>
                                        <p:cTn id="2506" dur="1" fill="hold">
                                          <p:stCondLst>
                                            <p:cond delay="0"/>
                                          </p:stCondLst>
                                        </p:cTn>
                                        <p:tgtEl>
                                          <p:spTgt spid="2913">
                                            <p:txEl>
                                              <p:pRg st="2" end="2"/>
                                            </p:txEl>
                                          </p:spTgt>
                                        </p:tgtEl>
                                        <p:attrNameLst>
                                          <p:attrName>style.visibility</p:attrName>
                                        </p:attrNameLst>
                                      </p:cBhvr>
                                      <p:to>
                                        <p:strVal val="visible"/>
                                      </p:to>
                                    </p:set>
                                    <p:animEffect filter="dissolve" transition="in">
                                      <p:cBhvr additive="repl">
                                        <p:cTn id="2507" dur="75"/>
                                        <p:tgtEl>
                                          <p:spTgt spid="2913">
                                            <p:txEl>
                                              <p:pRg st="2" end="2"/>
                                            </p:txEl>
                                          </p:spTgt>
                                        </p:tgtEl>
                                      </p:cBhvr>
                                    </p:animEffect>
                                  </p:childTnLst>
                                </p:cTn>
                              </p:par>
                            </p:childTnLst>
                          </p:cTn>
                        </p:par>
                        <p:par>
                          <p:cTn id="2508" nodeType="afterEffect" fill="hold">
                            <p:stCondLst>
                              <p:cond delay="14325"/>
                            </p:stCondLst>
                            <p:childTnLst>
                              <p:par>
                                <p:cTn id="2509" nodeType="afterEffect" fill="hold" presetClass="entr" presetID="9">
                                  <p:stCondLst>
                                    <p:cond delay="0"/>
                                  </p:stCondLst>
                                  <p:iterate type="lt">
                                    <p:tmAbs val="75"/>
                                  </p:iterate>
                                  <p:childTnLst>
                                    <p:set>
                                      <p:cBhvr>
                                        <p:cTn id="2510" dur="1" fill="hold">
                                          <p:stCondLst>
                                            <p:cond delay="0"/>
                                          </p:stCondLst>
                                        </p:cTn>
                                        <p:tgtEl>
                                          <p:spTgt spid="2913">
                                            <p:txEl>
                                              <p:pRg st="4" end="4"/>
                                            </p:txEl>
                                          </p:spTgt>
                                        </p:tgtEl>
                                        <p:attrNameLst>
                                          <p:attrName>style.visibility</p:attrName>
                                        </p:attrNameLst>
                                      </p:cBhvr>
                                      <p:to>
                                        <p:strVal val="visible"/>
                                      </p:to>
                                    </p:set>
                                    <p:animEffect filter="dissolve" transition="in">
                                      <p:cBhvr additive="repl">
                                        <p:cTn id="2511" dur="75"/>
                                        <p:tgtEl>
                                          <p:spTgt spid="291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14" name="Picture 3" descr="~AUT0021"/>
          <p:cNvPicPr/>
          <p:nvPr/>
        </p:nvPicPr>
        <p:blipFill>
          <a:blip r:embed="rId1"/>
          <a:stretch/>
        </p:blipFill>
        <p:spPr>
          <a:xfrm>
            <a:off x="838080" y="1219320"/>
            <a:ext cx="7086600" cy="4497120"/>
          </a:xfrm>
          <a:prstGeom prst="rect">
            <a:avLst/>
          </a:prstGeom>
          <a:noFill/>
          <a:ln w="0">
            <a:noFill/>
          </a:ln>
        </p:spPr>
      </p:pic>
      <p:sp>
        <p:nvSpPr>
          <p:cNvPr id="2915" name="Text Box 4"/>
          <p:cNvSpPr/>
          <p:nvPr/>
        </p:nvSpPr>
        <p:spPr>
          <a:xfrm>
            <a:off x="5778720" y="6134040"/>
            <a:ext cx="25041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fr-FR" sz="1800" strike="noStrike" u="none">
                <a:solidFill>
                  <a:srgbClr val="ffff00"/>
                </a:solidFill>
                <a:effectLst/>
                <a:uFillTx/>
                <a:latin typeface="Times New Roman"/>
              </a:rPr>
              <a:t>(Kobayashi et coll. 1978)</a:t>
            </a:r>
            <a:endParaRPr b="0" lang="en-US" sz="1800" strike="noStrike" u="none">
              <a:solidFill>
                <a:srgbClr val="ffff00"/>
              </a:solidFill>
              <a:effectLst/>
              <a:uFillTx/>
              <a:latin typeface="Times New Roman"/>
            </a:endParaRPr>
          </a:p>
        </p:txBody>
      </p:sp>
      <p:sp>
        <p:nvSpPr>
          <p:cNvPr id="2916" name="Rectangle 5"/>
          <p:cNvSpPr/>
          <p:nvPr/>
        </p:nvSpPr>
        <p:spPr>
          <a:xfrm>
            <a:off x="4529160" y="228600"/>
            <a:ext cx="4063320" cy="579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ff9933"/>
                </a:solidFill>
                <a:effectLst/>
                <a:uFillTx/>
                <a:latin typeface="Arial"/>
              </a:rPr>
              <a:t>VO</a:t>
            </a:r>
            <a:r>
              <a:rPr b="1" i="1" lang="fr-FR" sz="2800" strike="noStrike" u="none" baseline="-25000">
                <a:solidFill>
                  <a:srgbClr val="ff9933"/>
                </a:solidFill>
                <a:effectLst/>
                <a:uFillTx/>
                <a:latin typeface="Arial"/>
              </a:rPr>
              <a:t>2</a:t>
            </a:r>
            <a:r>
              <a:rPr b="1" i="1" lang="fr-FR" sz="2800" strike="noStrike" u="none">
                <a:solidFill>
                  <a:srgbClr val="ff9933"/>
                </a:solidFill>
                <a:effectLst/>
                <a:uFillTx/>
                <a:latin typeface="Arial"/>
              </a:rPr>
              <a:t>max (PMA ou VMA)</a:t>
            </a:r>
            <a:endParaRPr b="0" lang="en-US" sz="2800" strike="noStrike" u="none">
              <a:solidFill>
                <a:srgbClr val="ffff00"/>
              </a:solidFill>
              <a:effectLst/>
              <a:uFillTx/>
              <a:latin typeface="Times New Roman"/>
            </a:endParaRPr>
          </a:p>
        </p:txBody>
      </p:sp>
      <p:sp>
        <p:nvSpPr>
          <p:cNvPr id="2917" name="Line 6"/>
          <p:cNvSpPr/>
          <p:nvPr/>
        </p:nvSpPr>
        <p:spPr>
          <a:xfrm>
            <a:off x="1447920" y="838080"/>
            <a:ext cx="723888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2918" name="Rectangle 7"/>
          <p:cNvSpPr/>
          <p:nvPr/>
        </p:nvSpPr>
        <p:spPr>
          <a:xfrm>
            <a:off x="365400" y="6048360"/>
            <a:ext cx="23457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Étude longitudinale</a:t>
            </a:r>
            <a:endParaRPr b="0" lang="en-US" sz="2000" strike="noStrike" u="none">
              <a:solidFill>
                <a:srgbClr val="ffff00"/>
              </a:solidFill>
              <a:effectLst/>
              <a:uFillTx/>
              <a:latin typeface="Times New Roman"/>
            </a:endParaRPr>
          </a:p>
        </p:txBody>
      </p:sp>
      <p:sp>
        <p:nvSpPr>
          <p:cNvPr id="2919" name="Rectangle 1"/>
          <p:cNvSpPr/>
          <p:nvPr/>
        </p:nvSpPr>
        <p:spPr>
          <a:xfrm>
            <a:off x="3635280" y="1773360"/>
            <a:ext cx="1008000" cy="3240000"/>
          </a:xfrm>
          <a:prstGeom prst="rect">
            <a:avLst/>
          </a:prstGeom>
          <a:noFill/>
          <a:ln w="19080">
            <a:solidFill>
              <a:srgbClr val="0000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Tree>
  </p:cSld>
  <p:transition spd="med">
    <p:zoom dir="out"/>
  </p:transition>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0" name="Text Box 4"/>
          <p:cNvSpPr/>
          <p:nvPr/>
        </p:nvSpPr>
        <p:spPr>
          <a:xfrm>
            <a:off x="3174480" y="2562120"/>
            <a:ext cx="259992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Arial"/>
                <a:ea typeface="Arial"/>
              </a:rPr>
              <a:t>EN RESUME</a:t>
            </a:r>
            <a:endParaRPr b="0" lang="en-US" sz="3200" strike="noStrike" u="none">
              <a:solidFill>
                <a:srgbClr val="ffff00"/>
              </a:solidFill>
              <a:effectLst/>
              <a:uFillTx/>
              <a:latin typeface="Times New Roman"/>
            </a:endParaRPr>
          </a:p>
        </p:txBody>
      </p:sp>
    </p:spTree>
  </p:cSld>
  <p:transition spd="med">
    <p:zoom dir="out"/>
  </p:transition>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1" name="Rectangle 2"/>
          <p:cNvSpPr/>
          <p:nvPr/>
        </p:nvSpPr>
        <p:spPr>
          <a:xfrm>
            <a:off x="990720" y="609480"/>
            <a:ext cx="7391160" cy="82404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Meilleur maintien de la puissance maximale chez les enfants / aux adolescents et adultes </a:t>
            </a:r>
            <a:endParaRPr b="0" lang="en-US" sz="2400" strike="noStrike" u="none">
              <a:solidFill>
                <a:srgbClr val="ffff00"/>
              </a:solidFill>
              <a:effectLst/>
              <a:uFillTx/>
              <a:latin typeface="Times New Roman"/>
            </a:endParaRPr>
          </a:p>
        </p:txBody>
      </p:sp>
      <p:sp>
        <p:nvSpPr>
          <p:cNvPr id="2922" name="AutoShape 3"/>
          <p:cNvSpPr/>
          <p:nvPr/>
        </p:nvSpPr>
        <p:spPr>
          <a:xfrm>
            <a:off x="3686040" y="1905120"/>
            <a:ext cx="733680" cy="2133360"/>
          </a:xfrm>
          <a:custGeom>
            <a:avLst/>
            <a:gdLst>
              <a:gd name="textAreaLeft" fmla="*/ 98280 w 733680"/>
              <a:gd name="textAreaRight" fmla="*/ 635400 w 733680"/>
              <a:gd name="textAreaTop" fmla="*/ 373320 h 2133360"/>
              <a:gd name="textAreaBottom" fmla="*/ 1546920 h 2133360"/>
              <a:gd name="GluePoint1X" fmla="*/ 0 w 21600"/>
              <a:gd name="GluePoint1Y" fmla="*/ 15 h 21600"/>
              <a:gd name="GluePoint2X" fmla="*/ 2 w 21600"/>
              <a:gd name="GluePoint2Y" fmla="*/ 11 h 21600"/>
              <a:gd name="GluePoint3X" fmla="*/ 0 w 21600"/>
              <a:gd name="GluePoint3Y" fmla="*/ 8 h 21600"/>
              <a:gd name="GluePoint4X" fmla="*/ 2 w 21600"/>
              <a:gd name="GluePoint4Y" fmla="*/ 13 h 21600"/>
              <a:gd name="GluePoint5X" fmla="*/ 21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arcTo wR="21600" hR="7560" stAng="-5400000" swAng="5400000"/>
                <a:lnTo>
                  <a:pt x="21600" y="11880"/>
                </a:lnTo>
                <a:arcTo wR="21600" hR="7560" stAng="0" swAng="2682637"/>
                <a:lnTo>
                  <a:pt x="7200" y="21168"/>
                </a:lnTo>
                <a:lnTo>
                  <a:pt x="0" y="17280"/>
                </a:lnTo>
                <a:lnTo>
                  <a:pt x="7200" y="12528"/>
                </a:lnTo>
                <a:lnTo>
                  <a:pt x="7200" y="14688"/>
                </a:lnTo>
                <a:arcTo wR="21600" hR="7560" stAng="2682637" swAng="-2325203"/>
                <a:lnTo>
                  <a:pt x="20700" y="9720"/>
                </a:lnTo>
                <a:arcTo wR="21600" hR="7560" stAng="-357435" swAng="-5042565"/>
                <a:close/>
              </a:path>
              <a:path fill="darkenLess" w="21600" h="21600">
                <a:moveTo>
                  <a:pt x="0" y="0"/>
                </a:moveTo>
                <a:arcTo wR="21600" hR="7560" stAng="-5400000" swAng="5400000"/>
                <a:lnTo>
                  <a:pt x="21600" y="11880"/>
                </a:lnTo>
                <a:arcTo wR="21600" hR="7560" stAng="0" swAng="-357435"/>
                <a:lnTo>
                  <a:pt x="20700" y="9720"/>
                </a:lnTo>
                <a:arcTo wR="21600" hR="7560" stAng="-357435" swAng="-5042565"/>
                <a:close/>
              </a:path>
            </a:pathLst>
          </a:custGeom>
          <a:noFill/>
          <a:ln w="381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923" name="AutoShape 4"/>
          <p:cNvSpPr/>
          <p:nvPr/>
        </p:nvSpPr>
        <p:spPr>
          <a:xfrm>
            <a:off x="4800600" y="1905120"/>
            <a:ext cx="733320" cy="2128680"/>
          </a:xfrm>
          <a:custGeom>
            <a:avLst/>
            <a:gdLst>
              <a:gd name="textAreaLeft" fmla="*/ 98280 w 733320"/>
              <a:gd name="textAreaRight" fmla="*/ 635040 w 733320"/>
              <a:gd name="textAreaTop" fmla="*/ 372240 h 2128680"/>
              <a:gd name="textAreaBottom" fmla="*/ 1543320 h 2128680"/>
              <a:gd name="GluePoint1X" fmla="*/ 0 w 21600"/>
              <a:gd name="GluePoint1Y" fmla="*/ 17 h 21600"/>
              <a:gd name="GluePoint2X" fmla="*/ 2 w 21600"/>
              <a:gd name="GluePoint2Y" fmla="*/ 14 h 21600"/>
              <a:gd name="GluePoint3X" fmla="*/ 22 w 21600"/>
              <a:gd name="GluePoint3Y" fmla="*/ 8 h 21600"/>
              <a:gd name="GluePoint4X" fmla="*/ 2 w 21600"/>
              <a:gd name="GluePoint4Y" fmla="*/ 12 h 21600"/>
              <a:gd name="GluePoint5X" fmla="*/ 22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21600" y="0"/>
                </a:moveTo>
                <a:arcTo wR="21600" hR="7560" stAng="-5400000" swAng="-5400000"/>
                <a:lnTo>
                  <a:pt x="0" y="11880"/>
                </a:lnTo>
                <a:arcTo wR="21600" hR="7560" stAng="10800000" swAng="-2682637"/>
                <a:lnTo>
                  <a:pt x="14400" y="21168"/>
                </a:lnTo>
                <a:lnTo>
                  <a:pt x="21600" y="17280"/>
                </a:lnTo>
                <a:lnTo>
                  <a:pt x="14400" y="12528"/>
                </a:lnTo>
                <a:lnTo>
                  <a:pt x="14400" y="14688"/>
                </a:lnTo>
                <a:arcTo wR="21600" hR="7560" stAng="8117363" swAng="2325203"/>
                <a:lnTo>
                  <a:pt x="900" y="9720"/>
                </a:lnTo>
                <a:arcTo wR="21600" hR="7560" stAng="-10442565" swAng="5042565"/>
                <a:close/>
              </a:path>
              <a:path fill="darkenLess" w="21600" h="21600">
                <a:moveTo>
                  <a:pt x="21600" y="0"/>
                </a:moveTo>
                <a:arcTo wR="21600" hR="7560" stAng="-5400000" swAng="-5400000"/>
                <a:lnTo>
                  <a:pt x="0" y="7560"/>
                </a:lnTo>
                <a:arcTo wR="21600" hR="7560" stAng="10800000" swAng="-357435"/>
                <a:lnTo>
                  <a:pt x="900" y="9720"/>
                </a:lnTo>
                <a:arcTo wR="21600" hR="7560" stAng="-10442565" swAng="5042565"/>
                <a:close/>
              </a:path>
            </a:pathLst>
          </a:custGeom>
          <a:noFill/>
          <a:ln w="381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nvGrpSpPr>
          <p:cNvPr id="2924" name="Group 6"/>
          <p:cNvGrpSpPr/>
          <p:nvPr/>
        </p:nvGrpSpPr>
        <p:grpSpPr>
          <a:xfrm>
            <a:off x="228600" y="1905120"/>
            <a:ext cx="3429000" cy="4190760"/>
            <a:chOff x="228600" y="1905120"/>
            <a:chExt cx="3429000" cy="4190760"/>
          </a:xfrm>
        </p:grpSpPr>
        <p:sp>
          <p:nvSpPr>
            <p:cNvPr id="2925" name="Rectangle 7"/>
            <p:cNvSpPr/>
            <p:nvPr/>
          </p:nvSpPr>
          <p:spPr>
            <a:xfrm>
              <a:off x="304920" y="1981080"/>
              <a:ext cx="3352680" cy="458280"/>
            </a:xfrm>
            <a:prstGeom prst="rect">
              <a:avLst/>
            </a:prstGeom>
            <a:noFill/>
            <a:ln w="0">
              <a:noFill/>
            </a:ln>
          </p:spPr>
          <p:style>
            <a:lnRef idx="0"/>
            <a:fillRef idx="0"/>
            <a:effectRef idx="0"/>
            <a:fontRef idx="minor"/>
          </p:style>
          <p:txBody>
            <a:bodyPr lIns="92160" rIns="92160" tIns="46080" bIns="4608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Times New Roman"/>
                </a:rPr>
                <a:t>Acidose musculaire</a:t>
              </a:r>
              <a:endParaRPr b="0" lang="en-US" sz="2400" strike="noStrike" u="none">
                <a:solidFill>
                  <a:srgbClr val="ffff00"/>
                </a:solidFill>
                <a:effectLst/>
                <a:uFillTx/>
                <a:latin typeface="Times New Roman"/>
              </a:endParaRPr>
            </a:p>
          </p:txBody>
        </p:sp>
        <p:sp>
          <p:nvSpPr>
            <p:cNvPr id="2926" name="AutoShape 8"/>
            <p:cNvSpPr/>
            <p:nvPr/>
          </p:nvSpPr>
          <p:spPr>
            <a:xfrm>
              <a:off x="1549440" y="4572000"/>
              <a:ext cx="660240" cy="444600"/>
            </a:xfrm>
            <a:prstGeom prst="downArrow">
              <a:avLst>
                <a:gd name="adj1" fmla="val 50000"/>
                <a:gd name="adj2" fmla="val 50005"/>
              </a:avLst>
            </a:prstGeom>
            <a:noFill/>
            <a:ln w="2556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927" name="Rectangle 9"/>
            <p:cNvSpPr/>
            <p:nvPr/>
          </p:nvSpPr>
          <p:spPr>
            <a:xfrm>
              <a:off x="228600" y="5029200"/>
              <a:ext cx="3352680" cy="458280"/>
            </a:xfrm>
            <a:prstGeom prst="rect">
              <a:avLst/>
            </a:prstGeom>
            <a:noFill/>
            <a:ln w="0">
              <a:noFill/>
            </a:ln>
          </p:spPr>
          <p:style>
            <a:lnRef idx="0"/>
            <a:fillRef idx="0"/>
            <a:effectRef idx="0"/>
            <a:fontRef idx="minor"/>
          </p:style>
          <p:txBody>
            <a:bodyPr lIns="92160" rIns="92160" tIns="46080" bIns="4608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Times New Roman"/>
                </a:rPr>
                <a:t>Acidose sanguine</a:t>
              </a:r>
              <a:endParaRPr b="0" lang="en-US" sz="2400" strike="noStrike" u="none">
                <a:solidFill>
                  <a:srgbClr val="ffff00"/>
                </a:solidFill>
                <a:effectLst/>
                <a:uFillTx/>
                <a:latin typeface="Times New Roman"/>
              </a:endParaRPr>
            </a:p>
          </p:txBody>
        </p:sp>
        <p:grpSp>
          <p:nvGrpSpPr>
            <p:cNvPr id="2928" name="Group 10"/>
            <p:cNvGrpSpPr/>
            <p:nvPr/>
          </p:nvGrpSpPr>
          <p:grpSpPr>
            <a:xfrm>
              <a:off x="1371600" y="3048120"/>
              <a:ext cx="990720" cy="1447920"/>
              <a:chOff x="1371600" y="3048120"/>
              <a:chExt cx="990720" cy="1447920"/>
            </a:xfrm>
          </p:grpSpPr>
          <p:graphicFrame>
            <p:nvGraphicFramePr>
              <p:cNvPr id="2929" name="Object 11"/>
              <p:cNvGraphicFramePr/>
              <p:nvPr/>
            </p:nvGraphicFramePr>
            <p:xfrm>
              <a:off x="1539720" y="3048120"/>
              <a:ext cx="744840" cy="995040"/>
            </p:xfrm>
            <a:graphic>
              <a:graphicData uri="http://schemas.openxmlformats.org/presentationml/2006/ole">
                <p:oleObj r:id="rId1" spid="">
                  <p:embed/>
                  <p:pic>
                    <p:nvPicPr>
                      <p:cNvPr id="2930" name="Object 11" descr=""/>
                      <p:cNvPicPr/>
                      <p:nvPr/>
                    </p:nvPicPr>
                    <p:blipFill>
                      <a:blip r:embed="rId2"/>
                      <a:stretch/>
                    </p:blipFill>
                    <p:spPr>
                      <a:xfrm>
                        <a:off x="1539720" y="3048120"/>
                        <a:ext cx="744840" cy="995040"/>
                      </a:xfrm>
                      <a:prstGeom prst="rect">
                        <a:avLst/>
                      </a:prstGeom>
                      <a:noFill/>
                      <a:ln w="0">
                        <a:noFill/>
                      </a:ln>
                    </p:spPr>
                  </p:pic>
                </p:oleObj>
              </a:graphicData>
            </a:graphic>
          </p:graphicFrame>
          <p:sp>
            <p:nvSpPr>
              <p:cNvPr id="2931" name="Rectangle 12"/>
              <p:cNvSpPr/>
              <p:nvPr/>
            </p:nvSpPr>
            <p:spPr>
              <a:xfrm>
                <a:off x="1371600" y="3962160"/>
                <a:ext cx="457200" cy="519480"/>
              </a:xfrm>
              <a:prstGeom prst="rect">
                <a:avLst/>
              </a:prstGeom>
              <a:noFill/>
              <a:ln w="0">
                <a:noFill/>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2932" name="Rectangle 13"/>
              <p:cNvSpPr/>
              <p:nvPr/>
            </p:nvSpPr>
            <p:spPr>
              <a:xfrm>
                <a:off x="1905120" y="3976560"/>
                <a:ext cx="457200" cy="519480"/>
              </a:xfrm>
              <a:prstGeom prst="rect">
                <a:avLst/>
              </a:prstGeom>
              <a:noFill/>
              <a:ln w="0">
                <a:noFill/>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grpSp>
        <p:sp>
          <p:nvSpPr>
            <p:cNvPr id="2933" name="Rectangle 14"/>
            <p:cNvSpPr/>
            <p:nvPr/>
          </p:nvSpPr>
          <p:spPr>
            <a:xfrm>
              <a:off x="380880" y="1905120"/>
              <a:ext cx="3124440" cy="4190760"/>
            </a:xfrm>
            <a:prstGeom prst="rect">
              <a:avLst/>
            </a:prstGeom>
            <a:noFill/>
            <a:ln w="1260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934" name="Rectangle 15"/>
            <p:cNvSpPr/>
            <p:nvPr/>
          </p:nvSpPr>
          <p:spPr>
            <a:xfrm>
              <a:off x="685800" y="2438280"/>
              <a:ext cx="2590920" cy="443160"/>
            </a:xfrm>
            <a:prstGeom prst="rect">
              <a:avLst/>
            </a:prstGeom>
            <a:noFill/>
            <a:ln w="0">
              <a:noFill/>
            </a:ln>
          </p:spPr>
          <p:style>
            <a:lnRef idx="0"/>
            <a:fillRef idx="0"/>
            <a:effectRef idx="0"/>
            <a:fontRef idx="minor"/>
          </p:style>
          <p:txBody>
            <a:bodyPr lIns="92160" rIns="92160" tIns="46080" bIns="46080" anchor="t">
              <a:spAutoFit/>
            </a:bodyPr>
            <a:p>
              <a:pPr algn="ctr">
                <a:lnSpc>
                  <a:spcPct val="11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ffff00"/>
                  </a:solidFill>
                  <a:effectLst/>
                  <a:uFillTx/>
                  <a:latin typeface="Times New Roman"/>
                </a:rPr>
                <a:t>Kuno et coll. (1995), Taylor et coll. (1997) Zanconato et coll. (1993)</a:t>
              </a:r>
              <a:endParaRPr b="0" lang="en-US" sz="1000" strike="noStrike" u="none">
                <a:solidFill>
                  <a:srgbClr val="ffff00"/>
                </a:solidFill>
                <a:effectLst/>
                <a:uFillTx/>
                <a:latin typeface="Times New Roman"/>
              </a:endParaRPr>
            </a:p>
          </p:txBody>
        </p:sp>
        <p:sp>
          <p:nvSpPr>
            <p:cNvPr id="2935" name="Rectangle 16"/>
            <p:cNvSpPr/>
            <p:nvPr/>
          </p:nvSpPr>
          <p:spPr>
            <a:xfrm>
              <a:off x="609480" y="5502240"/>
              <a:ext cx="2590920" cy="522360"/>
            </a:xfrm>
            <a:prstGeom prst="rect">
              <a:avLst/>
            </a:prstGeom>
            <a:noFill/>
            <a:ln w="0">
              <a:noFill/>
            </a:ln>
          </p:spPr>
          <p:style>
            <a:lnRef idx="0"/>
            <a:fillRef idx="0"/>
            <a:effectRef idx="0"/>
            <a:fontRef idx="minor"/>
          </p:style>
          <p:txBody>
            <a:bodyPr lIns="92160" rIns="92160" tIns="46080" bIns="46080" anchor="t">
              <a:spAutoFit/>
            </a:bodyPr>
            <a:p>
              <a:pPr algn="ctr">
                <a:lnSpc>
                  <a:spcPct val="11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ffff00"/>
                  </a:solidFill>
                  <a:effectLst/>
                  <a:uFillTx/>
                  <a:latin typeface="Times New Roman"/>
                </a:rPr>
                <a:t>Hebestreit et coll. (1996)</a:t>
              </a:r>
              <a:endParaRPr b="0" lang="en-US" sz="1000" strike="noStrike" u="none">
                <a:solidFill>
                  <a:srgbClr val="ffff00"/>
                </a:solidFill>
                <a:effectLst/>
                <a:uFillTx/>
                <a:latin typeface="Times New Roman"/>
              </a:endParaRPr>
            </a:p>
            <a:p>
              <a:pPr algn="ctr">
                <a:lnSpc>
                  <a:spcPct val="11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ffff00"/>
                  </a:solidFill>
                  <a:effectLst/>
                  <a:uFillTx/>
                  <a:latin typeface="Times New Roman"/>
                </a:rPr>
                <a:t>Matejkova et coll. (1980)</a:t>
              </a:r>
              <a:endParaRPr b="0" lang="en-US" sz="1000" strike="noStrike" u="none">
                <a:solidFill>
                  <a:srgbClr val="ffff00"/>
                </a:solidFill>
                <a:effectLst/>
                <a:uFillTx/>
                <a:latin typeface="Times New Roman"/>
              </a:endParaRPr>
            </a:p>
          </p:txBody>
        </p:sp>
      </p:grpSp>
      <p:grpSp>
        <p:nvGrpSpPr>
          <p:cNvPr id="2936" name="Group 17"/>
          <p:cNvGrpSpPr/>
          <p:nvPr/>
        </p:nvGrpSpPr>
        <p:grpSpPr>
          <a:xfrm>
            <a:off x="5638680" y="1905120"/>
            <a:ext cx="3429000" cy="4190760"/>
            <a:chOff x="5638680" y="1905120"/>
            <a:chExt cx="3429000" cy="4190760"/>
          </a:xfrm>
        </p:grpSpPr>
        <p:sp>
          <p:nvSpPr>
            <p:cNvPr id="2937" name="Rectangle 18"/>
            <p:cNvSpPr/>
            <p:nvPr/>
          </p:nvSpPr>
          <p:spPr>
            <a:xfrm>
              <a:off x="5638680" y="5105520"/>
              <a:ext cx="3353040" cy="508680"/>
            </a:xfrm>
            <a:prstGeom prst="rect">
              <a:avLst/>
            </a:prstGeom>
            <a:noFill/>
            <a:ln w="0">
              <a:noFill/>
            </a:ln>
          </p:spPr>
          <p:style>
            <a:lnRef idx="0"/>
            <a:fillRef idx="0"/>
            <a:effectRef idx="0"/>
            <a:fontRef idx="minor"/>
          </p:style>
          <p:txBody>
            <a:bodyPr lIns="92160" rIns="92160" tIns="46080" bIns="4608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Times New Roman"/>
                </a:rPr>
                <a:t>Coût en O</a:t>
              </a:r>
              <a:r>
                <a:rPr b="1" lang="fr-FR" sz="2400" strike="noStrike" u="none" baseline="-25000">
                  <a:solidFill>
                    <a:srgbClr val="ffff00"/>
                  </a:solidFill>
                  <a:effectLst/>
                  <a:uFillTx/>
                  <a:latin typeface="Times New Roman"/>
                </a:rPr>
                <a:t>2</a:t>
              </a:r>
              <a:endParaRPr b="0" lang="en-US" sz="2400" strike="noStrike" u="none">
                <a:solidFill>
                  <a:srgbClr val="ffff00"/>
                </a:solidFill>
                <a:effectLst/>
                <a:uFillTx/>
                <a:latin typeface="Times New Roman"/>
              </a:endParaRPr>
            </a:p>
          </p:txBody>
        </p:sp>
        <p:sp>
          <p:nvSpPr>
            <p:cNvPr id="2938" name="Rectangle 19"/>
            <p:cNvSpPr/>
            <p:nvPr/>
          </p:nvSpPr>
          <p:spPr>
            <a:xfrm>
              <a:off x="5715000" y="1981080"/>
              <a:ext cx="3352680" cy="458280"/>
            </a:xfrm>
            <a:prstGeom prst="rect">
              <a:avLst/>
            </a:prstGeom>
            <a:noFill/>
            <a:ln w="0">
              <a:noFill/>
            </a:ln>
          </p:spPr>
          <p:style>
            <a:lnRef idx="0"/>
            <a:fillRef idx="0"/>
            <a:effectRef idx="0"/>
            <a:fontRef idx="minor"/>
          </p:style>
          <p:txBody>
            <a:bodyPr lIns="92160" rIns="92160" tIns="46080" bIns="4608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Times New Roman"/>
                </a:rPr>
                <a:t>Activité oxydative</a:t>
              </a:r>
              <a:endParaRPr b="0" lang="en-US" sz="2400" strike="noStrike" u="none">
                <a:solidFill>
                  <a:srgbClr val="ffff00"/>
                </a:solidFill>
                <a:effectLst/>
                <a:uFillTx/>
                <a:latin typeface="Times New Roman"/>
              </a:endParaRPr>
            </a:p>
          </p:txBody>
        </p:sp>
        <p:sp>
          <p:nvSpPr>
            <p:cNvPr id="2939" name="Rectangle 20"/>
            <p:cNvSpPr/>
            <p:nvPr/>
          </p:nvSpPr>
          <p:spPr>
            <a:xfrm>
              <a:off x="5638680" y="2590920"/>
              <a:ext cx="3353040" cy="458280"/>
            </a:xfrm>
            <a:prstGeom prst="rect">
              <a:avLst/>
            </a:prstGeom>
            <a:noFill/>
            <a:ln w="0">
              <a:noFill/>
            </a:ln>
          </p:spPr>
          <p:style>
            <a:lnRef idx="0"/>
            <a:fillRef idx="0"/>
            <a:effectRef idx="0"/>
            <a:fontRef idx="minor"/>
          </p:style>
          <p:txBody>
            <a:bodyPr lIns="92160" rIns="92160" tIns="46080" bIns="4608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Times New Roman"/>
                </a:rPr>
                <a:t>phosphorylcréatine</a:t>
              </a:r>
              <a:endParaRPr b="0" lang="en-US" sz="2400" strike="noStrike" u="none">
                <a:solidFill>
                  <a:srgbClr val="ffff00"/>
                </a:solidFill>
                <a:effectLst/>
                <a:uFillTx/>
                <a:latin typeface="Times New Roman"/>
              </a:endParaRPr>
            </a:p>
          </p:txBody>
        </p:sp>
        <p:graphicFrame>
          <p:nvGraphicFramePr>
            <p:cNvPr id="2940" name="Object 21"/>
            <p:cNvGraphicFramePr/>
            <p:nvPr/>
          </p:nvGraphicFramePr>
          <p:xfrm>
            <a:off x="6951600" y="3429000"/>
            <a:ext cx="744480" cy="914400"/>
          </p:xfrm>
          <a:graphic>
            <a:graphicData uri="http://schemas.openxmlformats.org/presentationml/2006/ole">
              <p:oleObj r:id="rId3" spid="">
                <p:embed/>
                <p:pic>
                  <p:nvPicPr>
                    <p:cNvPr id="2941" name="Object 21" descr=""/>
                    <p:cNvPicPr/>
                    <p:nvPr/>
                  </p:nvPicPr>
                  <p:blipFill>
                    <a:blip r:embed="rId4"/>
                    <a:stretch/>
                  </p:blipFill>
                  <p:spPr>
                    <a:xfrm>
                      <a:off x="6951600" y="3429000"/>
                      <a:ext cx="744480" cy="914400"/>
                    </a:xfrm>
                    <a:prstGeom prst="rect">
                      <a:avLst/>
                    </a:prstGeom>
                    <a:noFill/>
                    <a:ln w="0">
                      <a:noFill/>
                    </a:ln>
                  </p:spPr>
                </p:pic>
              </p:oleObj>
            </a:graphicData>
          </a:graphic>
        </p:graphicFrame>
        <p:sp>
          <p:nvSpPr>
            <p:cNvPr id="2942" name="AutoShape 22"/>
            <p:cNvSpPr/>
            <p:nvPr/>
          </p:nvSpPr>
          <p:spPr>
            <a:xfrm>
              <a:off x="6959520" y="4800600"/>
              <a:ext cx="660600" cy="291960"/>
            </a:xfrm>
            <a:prstGeom prst="downArrow">
              <a:avLst>
                <a:gd name="adj1" fmla="val 50000"/>
                <a:gd name="adj2" fmla="val 50005"/>
              </a:avLst>
            </a:prstGeom>
            <a:noFill/>
            <a:ln w="25560">
              <a:solidFill>
                <a:srgbClr val="ffffff"/>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2943" name="Rectangle 23"/>
            <p:cNvSpPr/>
            <p:nvPr/>
          </p:nvSpPr>
          <p:spPr>
            <a:xfrm>
              <a:off x="7315200" y="4267080"/>
              <a:ext cx="457200" cy="519480"/>
            </a:xfrm>
            <a:prstGeom prst="rect">
              <a:avLst/>
            </a:prstGeom>
            <a:noFill/>
            <a:ln w="0">
              <a:noFill/>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2944" name="Rectangle 24"/>
            <p:cNvSpPr/>
            <p:nvPr/>
          </p:nvSpPr>
          <p:spPr>
            <a:xfrm>
              <a:off x="6781680" y="4267080"/>
              <a:ext cx="457200" cy="519480"/>
            </a:xfrm>
            <a:prstGeom prst="rect">
              <a:avLst/>
            </a:prstGeom>
            <a:noFill/>
            <a:ln w="0">
              <a:noFill/>
            </a:ln>
          </p:spPr>
          <p:style>
            <a:lnRef idx="0"/>
            <a:fillRef idx="0"/>
            <a:effectRef idx="0"/>
            <a:fontRef idx="minor"/>
          </p:style>
          <p:txBody>
            <a:bodyPr lIns="92160" rIns="92160" tIns="46080" bIns="4608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Times New Roman"/>
                </a:rPr>
                <a:t>+</a:t>
              </a:r>
              <a:endParaRPr b="0" lang="en-US" sz="2800" strike="noStrike" u="none">
                <a:solidFill>
                  <a:srgbClr val="ffff00"/>
                </a:solidFill>
                <a:effectLst/>
                <a:uFillTx/>
                <a:latin typeface="Times New Roman"/>
              </a:endParaRPr>
            </a:p>
          </p:txBody>
        </p:sp>
        <p:sp>
          <p:nvSpPr>
            <p:cNvPr id="2945" name="Rectangle 25"/>
            <p:cNvSpPr/>
            <p:nvPr/>
          </p:nvSpPr>
          <p:spPr>
            <a:xfrm>
              <a:off x="5715000" y="1905120"/>
              <a:ext cx="3124080" cy="4190760"/>
            </a:xfrm>
            <a:prstGeom prst="rect">
              <a:avLst/>
            </a:prstGeom>
            <a:noFill/>
            <a:ln w="1260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aphicFrame>
          <p:nvGraphicFramePr>
            <p:cNvPr id="2946" name="Object 26"/>
            <p:cNvGraphicFramePr/>
            <p:nvPr/>
          </p:nvGraphicFramePr>
          <p:xfrm>
            <a:off x="6934320" y="2438280"/>
            <a:ext cx="919080" cy="228600"/>
          </p:xfrm>
          <a:graphic>
            <a:graphicData uri="http://schemas.openxmlformats.org/presentationml/2006/ole">
              <p:oleObj r:id="rId5" spid="">
                <p:embed/>
                <p:pic>
                  <p:nvPicPr>
                    <p:cNvPr id="2947" name="Object 26" descr=""/>
                    <p:cNvPicPr/>
                    <p:nvPr/>
                  </p:nvPicPr>
                  <p:blipFill>
                    <a:blip r:embed="rId6"/>
                    <a:stretch/>
                  </p:blipFill>
                  <p:spPr>
                    <a:xfrm>
                      <a:off x="6934320" y="2438280"/>
                      <a:ext cx="919080" cy="228600"/>
                    </a:xfrm>
                    <a:prstGeom prst="rect">
                      <a:avLst/>
                    </a:prstGeom>
                    <a:noFill/>
                    <a:ln w="0">
                      <a:noFill/>
                    </a:ln>
                  </p:spPr>
                </p:pic>
              </p:oleObj>
            </a:graphicData>
          </a:graphic>
        </p:graphicFrame>
        <p:sp>
          <p:nvSpPr>
            <p:cNvPr id="2948" name="Rectangle 27"/>
            <p:cNvSpPr/>
            <p:nvPr/>
          </p:nvSpPr>
          <p:spPr>
            <a:xfrm>
              <a:off x="6095880" y="3048120"/>
              <a:ext cx="2590920" cy="267840"/>
            </a:xfrm>
            <a:prstGeom prst="rect">
              <a:avLst/>
            </a:prstGeom>
            <a:noFill/>
            <a:ln w="0">
              <a:noFill/>
            </a:ln>
          </p:spPr>
          <p:style>
            <a:lnRef idx="0"/>
            <a:fillRef idx="0"/>
            <a:effectRef idx="0"/>
            <a:fontRef idx="minor"/>
          </p:style>
          <p:txBody>
            <a:bodyPr lIns="92160" rIns="92160" tIns="46080" bIns="46080" anchor="t">
              <a:spAutoFit/>
            </a:bodyPr>
            <a:p>
              <a:pPr algn="ctr">
                <a:lnSpc>
                  <a:spcPct val="11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ffff00"/>
                  </a:solidFill>
                  <a:effectLst/>
                  <a:uFillTx/>
                  <a:latin typeface="Times New Roman"/>
                </a:rPr>
                <a:t>Kuno et coll. (1995), Taylor et coll. (1997)</a:t>
              </a:r>
              <a:endParaRPr b="0" lang="en-US" sz="1000" strike="noStrike" u="none">
                <a:solidFill>
                  <a:srgbClr val="ffff00"/>
                </a:solidFill>
                <a:effectLst/>
                <a:uFillTx/>
                <a:latin typeface="Times New Roman"/>
              </a:endParaRPr>
            </a:p>
          </p:txBody>
        </p:sp>
        <p:sp>
          <p:nvSpPr>
            <p:cNvPr id="2949" name="Rectangle 28"/>
            <p:cNvSpPr/>
            <p:nvPr/>
          </p:nvSpPr>
          <p:spPr>
            <a:xfrm>
              <a:off x="6019920" y="5502240"/>
              <a:ext cx="2590560" cy="522360"/>
            </a:xfrm>
            <a:prstGeom prst="rect">
              <a:avLst/>
            </a:prstGeom>
            <a:noFill/>
            <a:ln w="0">
              <a:noFill/>
            </a:ln>
          </p:spPr>
          <p:style>
            <a:lnRef idx="0"/>
            <a:fillRef idx="0"/>
            <a:effectRef idx="0"/>
            <a:fontRef idx="minor"/>
          </p:style>
          <p:txBody>
            <a:bodyPr lIns="92160" rIns="92160" tIns="46080" bIns="46080" anchor="t">
              <a:spAutoFit/>
            </a:bodyPr>
            <a:p>
              <a:pPr algn="ctr">
                <a:lnSpc>
                  <a:spcPct val="11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ffff00"/>
                  </a:solidFill>
                  <a:effectLst/>
                  <a:uFillTx/>
                  <a:latin typeface="Times New Roman"/>
                </a:rPr>
                <a:t>Armon et coll. (1991)</a:t>
              </a:r>
              <a:endParaRPr b="0" lang="en-US" sz="1000" strike="noStrike" u="none">
                <a:solidFill>
                  <a:srgbClr val="ffff00"/>
                </a:solidFill>
                <a:effectLst/>
                <a:uFillTx/>
                <a:latin typeface="Times New Roman"/>
              </a:endParaRPr>
            </a:p>
            <a:p>
              <a:pPr algn="ctr">
                <a:lnSpc>
                  <a:spcPct val="11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000" strike="noStrike" u="none">
                  <a:solidFill>
                    <a:srgbClr val="ffff00"/>
                  </a:solidFill>
                  <a:effectLst/>
                  <a:uFillTx/>
                  <a:latin typeface="Times New Roman"/>
                </a:rPr>
                <a:t>Zanconato et coll. (1991)</a:t>
              </a:r>
              <a:endParaRPr b="0" lang="en-US" sz="1000" strike="noStrike" u="none">
                <a:solidFill>
                  <a:srgbClr val="ffff00"/>
                </a:solidFill>
                <a:effectLst/>
                <a:uFillTx/>
                <a:latin typeface="Times New Roman"/>
              </a:endParaRPr>
            </a:p>
          </p:txBody>
        </p:sp>
      </p:grpSp>
    </p:spTree>
  </p:cSld>
  <p:transition spd="med">
    <p:zoom dir="out"/>
  </p:transition>
  <p:timing>
    <p:tnLst>
      <p:par>
        <p:cTn id="2512" dur="indefinite" restart="never" nodeType="tmRoot">
          <p:childTnLst>
            <p:seq>
              <p:cTn id="2513" dur="indefinite" nodeType="mainSeq">
                <p:childTnLst>
                  <p:par>
                    <p:cTn id="2514" nodeType="clickEffect" fill="hold">
                      <p:stCondLst>
                        <p:cond delay="0"/>
                      </p:stCondLst>
                      <p:childTnLst>
                        <p:par>
                          <p:cTn id="2515" nodeType="withEffect" fill="hold">
                            <p:stCondLst>
                              <p:cond delay="0"/>
                            </p:stCondLst>
                            <p:childTnLst>
                              <p:par>
                                <p:cTn id="2516" nodeType="afterEffect" fill="hold" presetClass="entr" presetID="23" presetSubtype="272">
                                  <p:stCondLst>
                                    <p:cond delay="0"/>
                                  </p:stCondLst>
                                  <p:childTnLst>
                                    <p:set>
                                      <p:cBhvr>
                                        <p:cTn id="2517" dur="1" fill="hold">
                                          <p:stCondLst>
                                            <p:cond delay="0"/>
                                          </p:stCondLst>
                                        </p:cTn>
                                        <p:tgtEl>
                                          <p:spTgt spid="2921"/>
                                        </p:tgtEl>
                                        <p:attrNameLst>
                                          <p:attrName>style.visibility</p:attrName>
                                        </p:attrNameLst>
                                      </p:cBhvr>
                                      <p:to>
                                        <p:strVal val="visible"/>
                                      </p:to>
                                    </p:set>
                                    <p:anim calcmode="lin" valueType="num">
                                      <p:cBhvr additive="repl">
                                        <p:cTn id="2518" dur="500" fill="hold"/>
                                        <p:tgtEl>
                                          <p:spTgt spid="2921"/>
                                        </p:tgtEl>
                                        <p:attrNameLst>
                                          <p:attrName>ppt_w</p:attrName>
                                        </p:attrNameLst>
                                      </p:cBhvr>
                                      <p:tavLst>
                                        <p:tav tm="0">
                                          <p:val>
                                            <p:strVal val="2/3*#ppt_w"/>
                                          </p:val>
                                        </p:tav>
                                        <p:tav tm="100000">
                                          <p:val>
                                            <p:strVal val="#ppt_w"/>
                                          </p:val>
                                        </p:tav>
                                      </p:tavLst>
                                    </p:anim>
                                    <p:anim calcmode="lin" valueType="num">
                                      <p:cBhvr additive="repl">
                                        <p:cTn id="2519" dur="500" fill="hold"/>
                                        <p:tgtEl>
                                          <p:spTgt spid="2921"/>
                                        </p:tgtEl>
                                        <p:attrNameLst>
                                          <p:attrName>ppt_h</p:attrName>
                                        </p:attrNameLst>
                                      </p:cBhvr>
                                      <p:tavLst>
                                        <p:tav tm="0">
                                          <p:val>
                                            <p:strVal val="2/3*#ppt_h"/>
                                          </p:val>
                                        </p:tav>
                                        <p:tav tm="100000">
                                          <p:val>
                                            <p:strVal val="#ppt_h"/>
                                          </p:val>
                                        </p:tav>
                                      </p:tavLst>
                                    </p:anim>
                                  </p:childTnLst>
                                </p:cTn>
                              </p:par>
                            </p:childTnLst>
                          </p:cTn>
                        </p:par>
                      </p:childTnLst>
                    </p:cTn>
                  </p:par>
                  <p:par>
                    <p:cTn id="2520" nodeType="clickEffect" fill="hold">
                      <p:stCondLst>
                        <p:cond delay="indefinite"/>
                      </p:stCondLst>
                      <p:childTnLst>
                        <p:par>
                          <p:cTn id="2521" nodeType="withEffect" fill="hold">
                            <p:stCondLst>
                              <p:cond delay="0"/>
                            </p:stCondLst>
                            <p:childTnLst>
                              <p:par>
                                <p:cTn id="2522" nodeType="clickEffect" fill="hold" presetClass="entr" presetID="22" presetSubtype="2">
                                  <p:stCondLst>
                                    <p:cond delay="0"/>
                                  </p:stCondLst>
                                  <p:childTnLst>
                                    <p:set>
                                      <p:cBhvr>
                                        <p:cTn id="2523" dur="1" fill="hold">
                                          <p:stCondLst>
                                            <p:cond delay="0"/>
                                          </p:stCondLst>
                                        </p:cTn>
                                        <p:tgtEl>
                                          <p:spTgt spid="2922"/>
                                        </p:tgtEl>
                                        <p:attrNameLst>
                                          <p:attrName>style.visibility</p:attrName>
                                        </p:attrNameLst>
                                      </p:cBhvr>
                                      <p:to>
                                        <p:strVal val="visible"/>
                                      </p:to>
                                    </p:set>
                                    <p:animEffect filter="wipe(right)" transition="in">
                                      <p:cBhvr additive="repl">
                                        <p:cTn id="2524" dur="500"/>
                                        <p:tgtEl>
                                          <p:spTgt spid="2922"/>
                                        </p:tgtEl>
                                      </p:cBhvr>
                                    </p:animEffect>
                                  </p:childTnLst>
                                </p:cTn>
                              </p:par>
                            </p:childTnLst>
                          </p:cTn>
                        </p:par>
                        <p:par>
                          <p:cTn id="2525" nodeType="afterEffect" fill="hold">
                            <p:stCondLst>
                              <p:cond delay="500"/>
                            </p:stCondLst>
                            <p:childTnLst>
                              <p:par>
                                <p:cTn id="2526" nodeType="afterEffect" fill="hold" presetClass="entr" presetID="2" presetSubtype="8">
                                  <p:stCondLst>
                                    <p:cond delay="0"/>
                                  </p:stCondLst>
                                  <p:childTnLst>
                                    <p:set>
                                      <p:cBhvr>
                                        <p:cTn id="2527" dur="1" fill="hold">
                                          <p:stCondLst>
                                            <p:cond delay="0"/>
                                          </p:stCondLst>
                                        </p:cTn>
                                        <p:tgtEl>
                                          <p:spTgt spid="2924"/>
                                        </p:tgtEl>
                                        <p:attrNameLst>
                                          <p:attrName>style.visibility</p:attrName>
                                        </p:attrNameLst>
                                      </p:cBhvr>
                                      <p:to>
                                        <p:strVal val="visible"/>
                                      </p:to>
                                    </p:set>
                                    <p:anim calcmode="lin" valueType="num">
                                      <p:cBhvr additive="base">
                                        <p:cTn id="2528" dur="500" fill="hold"/>
                                        <p:tgtEl>
                                          <p:spTgt spid="2924"/>
                                        </p:tgtEl>
                                        <p:attrNameLst>
                                          <p:attrName>ppt_x</p:attrName>
                                        </p:attrNameLst>
                                      </p:cBhvr>
                                      <p:tavLst>
                                        <p:tav tm="0">
                                          <p:val>
                                            <p:strVal val="0-#ppt_w/2"/>
                                          </p:val>
                                        </p:tav>
                                        <p:tav tm="100000">
                                          <p:val>
                                            <p:strVal val="#ppt_x"/>
                                          </p:val>
                                        </p:tav>
                                      </p:tavLst>
                                    </p:anim>
                                    <p:anim calcmode="lin" valueType="num">
                                      <p:cBhvr additive="base">
                                        <p:cTn id="2529" dur="500" fill="hold"/>
                                        <p:tgtEl>
                                          <p:spTgt spid="2924"/>
                                        </p:tgtEl>
                                        <p:attrNameLst>
                                          <p:attrName>ppt_y</p:attrName>
                                        </p:attrNameLst>
                                      </p:cBhvr>
                                      <p:tavLst>
                                        <p:tav tm="0">
                                          <p:val>
                                            <p:strVal val="#ppt_y"/>
                                          </p:val>
                                        </p:tav>
                                        <p:tav tm="100000">
                                          <p:val>
                                            <p:strVal val="#ppt_y"/>
                                          </p:val>
                                        </p:tav>
                                      </p:tavLst>
                                    </p:anim>
                                  </p:childTnLst>
                                </p:cTn>
                              </p:par>
                            </p:childTnLst>
                          </p:cTn>
                        </p:par>
                      </p:childTnLst>
                    </p:cTn>
                  </p:par>
                  <p:par>
                    <p:cTn id="2530" nodeType="clickEffect" fill="hold">
                      <p:stCondLst>
                        <p:cond delay="indefinite"/>
                      </p:stCondLst>
                      <p:childTnLst>
                        <p:par>
                          <p:cTn id="2531" nodeType="withEffect" fill="hold">
                            <p:stCondLst>
                              <p:cond delay="0"/>
                            </p:stCondLst>
                            <p:childTnLst>
                              <p:par>
                                <p:cTn id="2532" nodeType="clickEffect" fill="hold" presetClass="entr" presetID="22" presetSubtype="8">
                                  <p:stCondLst>
                                    <p:cond delay="0"/>
                                  </p:stCondLst>
                                  <p:childTnLst>
                                    <p:set>
                                      <p:cBhvr>
                                        <p:cTn id="2533" dur="1" fill="hold">
                                          <p:stCondLst>
                                            <p:cond delay="0"/>
                                          </p:stCondLst>
                                        </p:cTn>
                                        <p:tgtEl>
                                          <p:spTgt spid="2923"/>
                                        </p:tgtEl>
                                        <p:attrNameLst>
                                          <p:attrName>style.visibility</p:attrName>
                                        </p:attrNameLst>
                                      </p:cBhvr>
                                      <p:to>
                                        <p:strVal val="visible"/>
                                      </p:to>
                                    </p:set>
                                    <p:animEffect filter="wipe(left)" transition="in">
                                      <p:cBhvr additive="repl">
                                        <p:cTn id="2534" dur="500"/>
                                        <p:tgtEl>
                                          <p:spTgt spid="2923"/>
                                        </p:tgtEl>
                                      </p:cBhvr>
                                    </p:animEffect>
                                  </p:childTnLst>
                                </p:cTn>
                              </p:par>
                            </p:childTnLst>
                          </p:cTn>
                        </p:par>
                        <p:par>
                          <p:cTn id="2535" nodeType="afterEffect" fill="hold">
                            <p:stCondLst>
                              <p:cond delay="500"/>
                            </p:stCondLst>
                            <p:childTnLst>
                              <p:par>
                                <p:cTn id="2536" nodeType="afterEffect" fill="hold" presetClass="entr" presetID="2" presetSubtype="2">
                                  <p:stCondLst>
                                    <p:cond delay="0"/>
                                  </p:stCondLst>
                                  <p:childTnLst>
                                    <p:set>
                                      <p:cBhvr>
                                        <p:cTn id="2537" dur="1" fill="hold">
                                          <p:stCondLst>
                                            <p:cond delay="0"/>
                                          </p:stCondLst>
                                        </p:cTn>
                                        <p:tgtEl>
                                          <p:spTgt spid="2936"/>
                                        </p:tgtEl>
                                        <p:attrNameLst>
                                          <p:attrName>style.visibility</p:attrName>
                                        </p:attrNameLst>
                                      </p:cBhvr>
                                      <p:to>
                                        <p:strVal val="visible"/>
                                      </p:to>
                                    </p:set>
                                    <p:anim calcmode="lin" valueType="num">
                                      <p:cBhvr additive="base">
                                        <p:cTn id="2538" dur="500" fill="hold"/>
                                        <p:tgtEl>
                                          <p:spTgt spid="2936"/>
                                        </p:tgtEl>
                                        <p:attrNameLst>
                                          <p:attrName>ppt_x</p:attrName>
                                        </p:attrNameLst>
                                      </p:cBhvr>
                                      <p:tavLst>
                                        <p:tav tm="0">
                                          <p:val>
                                            <p:strVal val="1+#ppt_w/2"/>
                                          </p:val>
                                        </p:tav>
                                        <p:tav tm="100000">
                                          <p:val>
                                            <p:strVal val="#ppt_x"/>
                                          </p:val>
                                        </p:tav>
                                      </p:tavLst>
                                    </p:anim>
                                    <p:anim calcmode="lin" valueType="num">
                                      <p:cBhvr additive="base">
                                        <p:cTn id="2539" dur="500" fill="hold"/>
                                        <p:tgtEl>
                                          <p:spTgt spid="29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0" name="Rectangle 2"/>
          <p:cNvSpPr/>
          <p:nvPr/>
        </p:nvSpPr>
        <p:spPr>
          <a:xfrm>
            <a:off x="1066680" y="533520"/>
            <a:ext cx="3353040" cy="397440"/>
          </a:xfrm>
          <a:prstGeom prst="rect">
            <a:avLst/>
          </a:prstGeom>
          <a:noFill/>
          <a:ln w="0">
            <a:noFill/>
          </a:ln>
        </p:spPr>
        <p:style>
          <a:lnRef idx="0"/>
          <a:fillRef idx="0"/>
          <a:effectRef idx="0"/>
          <a:fontRef idx="minor"/>
        </p:style>
        <p:txBody>
          <a:bodyPr lIns="92160" rIns="92160" tIns="46080" bIns="4608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Times New Roman"/>
              </a:rPr>
              <a:t> </a:t>
            </a:r>
            <a:r>
              <a:rPr b="1" lang="fr-FR" sz="2000" strike="noStrike" u="sng">
                <a:solidFill>
                  <a:srgbClr val="ffff00"/>
                </a:solidFill>
                <a:effectLst/>
                <a:uFillTx/>
                <a:latin typeface="Times New Roman"/>
              </a:rPr>
              <a:t>ENFANT-ADULTE</a:t>
            </a:r>
            <a:endParaRPr b="0" lang="en-US" sz="2000" strike="noStrike" u="none">
              <a:solidFill>
                <a:srgbClr val="ffff00"/>
              </a:solidFill>
              <a:effectLst/>
              <a:uFillTx/>
              <a:latin typeface="Times New Roman"/>
            </a:endParaRPr>
          </a:p>
        </p:txBody>
      </p:sp>
      <p:sp>
        <p:nvSpPr>
          <p:cNvPr id="2951" name="Rectangle 3"/>
          <p:cNvSpPr/>
          <p:nvPr/>
        </p:nvSpPr>
        <p:spPr>
          <a:xfrm>
            <a:off x="1066680" y="1111320"/>
            <a:ext cx="4800600" cy="336240"/>
          </a:xfrm>
          <a:prstGeom prst="rect">
            <a:avLst/>
          </a:prstGeom>
          <a:noFill/>
          <a:ln w="0">
            <a:noFill/>
          </a:ln>
        </p:spPr>
        <p:style>
          <a:lnRef idx="0"/>
          <a:fillRef idx="0"/>
          <a:effectRef idx="0"/>
          <a:fontRef idx="minor"/>
        </p:style>
        <p:txBody>
          <a:bodyPr lIns="92160" rIns="92160" tIns="46080" bIns="46080" anchor="t">
            <a:spAutoFit/>
          </a:bodyPr>
          <a:p>
            <a:pPr>
              <a:spcBef>
                <a:spcPts val="1001"/>
              </a:spcBef>
              <a:buClr>
                <a:srgbClr val="ffff00"/>
              </a:buClr>
              <a:buSzPct val="12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Times New Roman"/>
              </a:rPr>
              <a:t>  </a:t>
            </a:r>
            <a:r>
              <a:rPr b="1" lang="fr-FR" sz="1600" strike="noStrike" u="sng">
                <a:solidFill>
                  <a:srgbClr val="ffff00"/>
                </a:solidFill>
                <a:effectLst/>
                <a:uFillTx/>
                <a:latin typeface="Times New Roman"/>
              </a:rPr>
              <a:t>EVOLUTION DE LA DISTANCE DE COURSE</a:t>
            </a:r>
            <a:r>
              <a:rPr b="1" lang="fr-FR" sz="1600" strike="noStrike" u="none">
                <a:solidFill>
                  <a:srgbClr val="ffff00"/>
                </a:solidFill>
                <a:effectLst/>
                <a:uFillTx/>
                <a:latin typeface="Times New Roman"/>
              </a:rPr>
              <a:t> </a:t>
            </a:r>
            <a:endParaRPr b="0" lang="en-US" sz="1600" strike="noStrike" u="none">
              <a:solidFill>
                <a:srgbClr val="ffff00"/>
              </a:solidFill>
              <a:effectLst/>
              <a:uFillTx/>
              <a:latin typeface="Times New Roman"/>
            </a:endParaRPr>
          </a:p>
        </p:txBody>
      </p:sp>
      <p:grpSp>
        <p:nvGrpSpPr>
          <p:cNvPr id="2952" name="Group 4"/>
          <p:cNvGrpSpPr/>
          <p:nvPr/>
        </p:nvGrpSpPr>
        <p:grpSpPr>
          <a:xfrm>
            <a:off x="2071440" y="1955880"/>
            <a:ext cx="4941360" cy="4059000"/>
            <a:chOff x="2071440" y="1955880"/>
            <a:chExt cx="4941360" cy="4059000"/>
          </a:xfrm>
        </p:grpSpPr>
        <p:sp>
          <p:nvSpPr>
            <p:cNvPr id="2953" name="Line 5"/>
            <p:cNvSpPr/>
            <p:nvPr/>
          </p:nvSpPr>
          <p:spPr>
            <a:xfrm>
              <a:off x="2746440" y="2136600"/>
              <a:ext cx="0" cy="338904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4" name="Line 6"/>
            <p:cNvSpPr/>
            <p:nvPr/>
          </p:nvSpPr>
          <p:spPr>
            <a:xfrm>
              <a:off x="2673360" y="552600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5" name="Line 7"/>
            <p:cNvSpPr/>
            <p:nvPr/>
          </p:nvSpPr>
          <p:spPr>
            <a:xfrm>
              <a:off x="2673360" y="504180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6" name="Line 8"/>
            <p:cNvSpPr/>
            <p:nvPr/>
          </p:nvSpPr>
          <p:spPr>
            <a:xfrm>
              <a:off x="2673360" y="456084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7" name="Line 9"/>
            <p:cNvSpPr/>
            <p:nvPr/>
          </p:nvSpPr>
          <p:spPr>
            <a:xfrm>
              <a:off x="2673360" y="407664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8" name="Line 10"/>
            <p:cNvSpPr/>
            <p:nvPr/>
          </p:nvSpPr>
          <p:spPr>
            <a:xfrm>
              <a:off x="2673360" y="358776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59" name="Line 11"/>
            <p:cNvSpPr/>
            <p:nvPr/>
          </p:nvSpPr>
          <p:spPr>
            <a:xfrm>
              <a:off x="2673360" y="310176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60" name="Line 12"/>
            <p:cNvSpPr/>
            <p:nvPr/>
          </p:nvSpPr>
          <p:spPr>
            <a:xfrm>
              <a:off x="2673360" y="261756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61" name="Line 13"/>
            <p:cNvSpPr/>
            <p:nvPr/>
          </p:nvSpPr>
          <p:spPr>
            <a:xfrm>
              <a:off x="2673360" y="2136600"/>
              <a:ext cx="7308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62" name="Line 14"/>
            <p:cNvSpPr/>
            <p:nvPr/>
          </p:nvSpPr>
          <p:spPr>
            <a:xfrm>
              <a:off x="2746440" y="5526000"/>
              <a:ext cx="411300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63" name="Line 15"/>
            <p:cNvSpPr/>
            <p:nvPr/>
          </p:nvSpPr>
          <p:spPr>
            <a:xfrm flipV="1">
              <a:off x="2746440" y="5525640"/>
              <a:ext cx="0" cy="83880"/>
            </a:xfrm>
            <a:prstGeom prst="line">
              <a:avLst/>
            </a:prstGeom>
            <a:ln w="12600">
              <a:solidFill>
                <a:srgbClr val="ffffff"/>
              </a:solidFill>
              <a:miter/>
            </a:ln>
          </p:spPr>
          <p:style>
            <a:lnRef idx="0"/>
            <a:fillRef idx="0"/>
            <a:effectRef idx="0"/>
            <a:fontRef idx="minor"/>
          </p:style>
          <p:txBody>
            <a:bodyPr lIns="90000" rIns="90000" tIns="37080" bIns="37080" anchor="t">
              <a:noAutofit/>
            </a:bodyPr>
            <a:p>
              <a:endParaRPr b="0" lang="en-US" sz="2400" strike="noStrike" u="none">
                <a:solidFill>
                  <a:srgbClr val="ffff00"/>
                </a:solidFill>
                <a:effectLst/>
                <a:uFillTx/>
                <a:latin typeface="Times New Roman"/>
              </a:endParaRPr>
            </a:p>
          </p:txBody>
        </p:sp>
        <p:sp>
          <p:nvSpPr>
            <p:cNvPr id="2964" name="Line 16"/>
            <p:cNvSpPr/>
            <p:nvPr/>
          </p:nvSpPr>
          <p:spPr>
            <a:xfrm flipV="1">
              <a:off x="3568680" y="5525640"/>
              <a:ext cx="0" cy="83880"/>
            </a:xfrm>
            <a:prstGeom prst="line">
              <a:avLst/>
            </a:prstGeom>
            <a:ln w="12600">
              <a:solidFill>
                <a:srgbClr val="ffffff"/>
              </a:solidFill>
              <a:miter/>
            </a:ln>
          </p:spPr>
          <p:style>
            <a:lnRef idx="0"/>
            <a:fillRef idx="0"/>
            <a:effectRef idx="0"/>
            <a:fontRef idx="minor"/>
          </p:style>
          <p:txBody>
            <a:bodyPr lIns="90000" rIns="90000" tIns="37080" bIns="37080" anchor="t">
              <a:noAutofit/>
            </a:bodyPr>
            <a:p>
              <a:endParaRPr b="0" lang="en-US" sz="2400" strike="noStrike" u="none">
                <a:solidFill>
                  <a:srgbClr val="ffff00"/>
                </a:solidFill>
                <a:effectLst/>
                <a:uFillTx/>
                <a:latin typeface="Times New Roman"/>
              </a:endParaRPr>
            </a:p>
          </p:txBody>
        </p:sp>
        <p:sp>
          <p:nvSpPr>
            <p:cNvPr id="2965" name="Line 17"/>
            <p:cNvSpPr/>
            <p:nvPr/>
          </p:nvSpPr>
          <p:spPr>
            <a:xfrm flipV="1">
              <a:off x="4392720" y="5525640"/>
              <a:ext cx="0" cy="83880"/>
            </a:xfrm>
            <a:prstGeom prst="line">
              <a:avLst/>
            </a:prstGeom>
            <a:ln w="12600">
              <a:solidFill>
                <a:srgbClr val="ffffff"/>
              </a:solidFill>
              <a:miter/>
            </a:ln>
          </p:spPr>
          <p:style>
            <a:lnRef idx="0"/>
            <a:fillRef idx="0"/>
            <a:effectRef idx="0"/>
            <a:fontRef idx="minor"/>
          </p:style>
          <p:txBody>
            <a:bodyPr lIns="90000" rIns="90000" tIns="37080" bIns="37080" anchor="t">
              <a:noAutofit/>
            </a:bodyPr>
            <a:p>
              <a:endParaRPr b="0" lang="en-US" sz="2400" strike="noStrike" u="none">
                <a:solidFill>
                  <a:srgbClr val="ffff00"/>
                </a:solidFill>
                <a:effectLst/>
                <a:uFillTx/>
                <a:latin typeface="Times New Roman"/>
              </a:endParaRPr>
            </a:p>
          </p:txBody>
        </p:sp>
        <p:sp>
          <p:nvSpPr>
            <p:cNvPr id="2966" name="Line 18"/>
            <p:cNvSpPr/>
            <p:nvPr/>
          </p:nvSpPr>
          <p:spPr>
            <a:xfrm flipV="1">
              <a:off x="5211720" y="5525640"/>
              <a:ext cx="0" cy="83880"/>
            </a:xfrm>
            <a:prstGeom prst="line">
              <a:avLst/>
            </a:prstGeom>
            <a:ln w="12600">
              <a:solidFill>
                <a:srgbClr val="ffffff"/>
              </a:solidFill>
              <a:miter/>
            </a:ln>
          </p:spPr>
          <p:style>
            <a:lnRef idx="0"/>
            <a:fillRef idx="0"/>
            <a:effectRef idx="0"/>
            <a:fontRef idx="minor"/>
          </p:style>
          <p:txBody>
            <a:bodyPr lIns="90000" rIns="90000" tIns="37080" bIns="37080" anchor="t">
              <a:noAutofit/>
            </a:bodyPr>
            <a:p>
              <a:endParaRPr b="0" lang="en-US" sz="2400" strike="noStrike" u="none">
                <a:solidFill>
                  <a:srgbClr val="ffff00"/>
                </a:solidFill>
                <a:effectLst/>
                <a:uFillTx/>
                <a:latin typeface="Times New Roman"/>
              </a:endParaRPr>
            </a:p>
          </p:txBody>
        </p:sp>
        <p:sp>
          <p:nvSpPr>
            <p:cNvPr id="2967" name="Line 19"/>
            <p:cNvSpPr/>
            <p:nvPr/>
          </p:nvSpPr>
          <p:spPr>
            <a:xfrm flipV="1">
              <a:off x="6037200" y="5525640"/>
              <a:ext cx="0" cy="83880"/>
            </a:xfrm>
            <a:prstGeom prst="line">
              <a:avLst/>
            </a:prstGeom>
            <a:ln w="12600">
              <a:solidFill>
                <a:srgbClr val="ffffff"/>
              </a:solidFill>
              <a:miter/>
            </a:ln>
          </p:spPr>
          <p:style>
            <a:lnRef idx="0"/>
            <a:fillRef idx="0"/>
            <a:effectRef idx="0"/>
            <a:fontRef idx="minor"/>
          </p:style>
          <p:txBody>
            <a:bodyPr lIns="90000" rIns="90000" tIns="37080" bIns="37080" anchor="t">
              <a:noAutofit/>
            </a:bodyPr>
            <a:p>
              <a:endParaRPr b="0" lang="en-US" sz="2400" strike="noStrike" u="none">
                <a:solidFill>
                  <a:srgbClr val="ffff00"/>
                </a:solidFill>
                <a:effectLst/>
                <a:uFillTx/>
                <a:latin typeface="Times New Roman"/>
              </a:endParaRPr>
            </a:p>
          </p:txBody>
        </p:sp>
        <p:sp>
          <p:nvSpPr>
            <p:cNvPr id="2968" name="Line 20"/>
            <p:cNvSpPr/>
            <p:nvPr/>
          </p:nvSpPr>
          <p:spPr>
            <a:xfrm flipV="1">
              <a:off x="6859440" y="5525640"/>
              <a:ext cx="0" cy="83880"/>
            </a:xfrm>
            <a:prstGeom prst="line">
              <a:avLst/>
            </a:prstGeom>
            <a:ln w="12600">
              <a:solidFill>
                <a:srgbClr val="ffffff"/>
              </a:solidFill>
              <a:miter/>
            </a:ln>
          </p:spPr>
          <p:style>
            <a:lnRef idx="0"/>
            <a:fillRef idx="0"/>
            <a:effectRef idx="0"/>
            <a:fontRef idx="minor"/>
          </p:style>
          <p:txBody>
            <a:bodyPr lIns="90000" rIns="90000" tIns="37080" bIns="37080" anchor="t">
              <a:noAutofit/>
            </a:bodyPr>
            <a:p>
              <a:endParaRPr b="0" lang="en-US" sz="2400" strike="noStrike" u="none">
                <a:solidFill>
                  <a:srgbClr val="ffff00"/>
                </a:solidFill>
                <a:effectLst/>
                <a:uFillTx/>
                <a:latin typeface="Times New Roman"/>
              </a:endParaRPr>
            </a:p>
          </p:txBody>
        </p:sp>
        <p:sp>
          <p:nvSpPr>
            <p:cNvPr id="2969" name="Freeform 21"/>
            <p:cNvSpPr/>
            <p:nvPr/>
          </p:nvSpPr>
          <p:spPr>
            <a:xfrm>
              <a:off x="2746440" y="2617560"/>
              <a:ext cx="4114800" cy="636480"/>
            </a:xfrm>
            <a:custGeom>
              <a:avLst/>
              <a:gdLst>
                <a:gd name="GluePoint1X" fmla="*/ 0 w 2592"/>
                <a:gd name="GluePoint1Y" fmla="*/ 0 h 401"/>
                <a:gd name="GluePoint2X" fmla="*/ 518 w 2592"/>
                <a:gd name="GluePoint2Y" fmla="*/ 344 h 401"/>
                <a:gd name="GluePoint3X" fmla="*/ 1036 w 2592"/>
                <a:gd name="GluePoint3Y" fmla="*/ 210 h 401"/>
                <a:gd name="GluePoint4X" fmla="*/ 1552 w 2592"/>
                <a:gd name="GluePoint4Y" fmla="*/ 312 h 401"/>
                <a:gd name="GluePoint5X" fmla="*/ 2072 w 2592"/>
                <a:gd name="GluePoint5Y" fmla="*/ 284 h 401"/>
                <a:gd name="GluePoint6X" fmla="*/ 2591 w 2592"/>
                <a:gd name="GluePoint6Y" fmla="*/ 400 h 40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92" h="401">
                  <a:moveTo>
                    <a:pt x="0" y="0"/>
                  </a:moveTo>
                  <a:lnTo>
                    <a:pt x="518" y="344"/>
                  </a:lnTo>
                  <a:lnTo>
                    <a:pt x="1036" y="210"/>
                  </a:lnTo>
                  <a:lnTo>
                    <a:pt x="1552" y="312"/>
                  </a:lnTo>
                  <a:lnTo>
                    <a:pt x="2072" y="284"/>
                  </a:lnTo>
                  <a:lnTo>
                    <a:pt x="2591" y="400"/>
                  </a:lnTo>
                </a:path>
              </a:pathLst>
            </a:custGeom>
            <a:noFill/>
            <a:ln cap="rnd" w="12600">
              <a:solidFill>
                <a:srgbClr val="ffff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0" name="Line 22"/>
            <p:cNvSpPr/>
            <p:nvPr/>
          </p:nvSpPr>
          <p:spPr>
            <a:xfrm flipV="1">
              <a:off x="3568680" y="2852280"/>
              <a:ext cx="0" cy="30924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1" name="Line 23"/>
            <p:cNvSpPr/>
            <p:nvPr/>
          </p:nvSpPr>
          <p:spPr>
            <a:xfrm>
              <a:off x="3524400" y="2852640"/>
              <a:ext cx="9360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2" name="Line 24"/>
            <p:cNvSpPr/>
            <p:nvPr/>
          </p:nvSpPr>
          <p:spPr>
            <a:xfrm flipV="1">
              <a:off x="4392720" y="2561760"/>
              <a:ext cx="0" cy="38844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3" name="Line 25"/>
            <p:cNvSpPr/>
            <p:nvPr/>
          </p:nvSpPr>
          <p:spPr>
            <a:xfrm>
              <a:off x="4349880" y="2562120"/>
              <a:ext cx="9180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4" name="Line 26"/>
            <p:cNvSpPr/>
            <p:nvPr/>
          </p:nvSpPr>
          <p:spPr>
            <a:xfrm flipV="1">
              <a:off x="5211720" y="2679120"/>
              <a:ext cx="0" cy="43308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5" name="Line 27"/>
            <p:cNvSpPr/>
            <p:nvPr/>
          </p:nvSpPr>
          <p:spPr>
            <a:xfrm>
              <a:off x="5168880" y="2679480"/>
              <a:ext cx="8892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6" name="Line 28"/>
            <p:cNvSpPr/>
            <p:nvPr/>
          </p:nvSpPr>
          <p:spPr>
            <a:xfrm flipV="1">
              <a:off x="6037200" y="2638440"/>
              <a:ext cx="0" cy="42984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7" name="Line 29"/>
            <p:cNvSpPr/>
            <p:nvPr/>
          </p:nvSpPr>
          <p:spPr>
            <a:xfrm>
              <a:off x="5992920" y="2638440"/>
              <a:ext cx="9180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8" name="Line 30"/>
            <p:cNvSpPr/>
            <p:nvPr/>
          </p:nvSpPr>
          <p:spPr>
            <a:xfrm flipV="1">
              <a:off x="6859440" y="2900160"/>
              <a:ext cx="0" cy="35208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79" name="Line 31"/>
            <p:cNvSpPr/>
            <p:nvPr/>
          </p:nvSpPr>
          <p:spPr>
            <a:xfrm>
              <a:off x="6816600" y="2900160"/>
              <a:ext cx="92160" cy="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0" name="Freeform 32"/>
            <p:cNvSpPr/>
            <p:nvPr/>
          </p:nvSpPr>
          <p:spPr>
            <a:xfrm>
              <a:off x="2746440" y="2617560"/>
              <a:ext cx="4114800" cy="1566720"/>
            </a:xfrm>
            <a:custGeom>
              <a:avLst/>
              <a:gdLst>
                <a:gd name="GluePoint1X" fmla="*/ 0 w 2592"/>
                <a:gd name="GluePoint1Y" fmla="*/ 0 h 987"/>
                <a:gd name="GluePoint2X" fmla="*/ 518 w 2592"/>
                <a:gd name="GluePoint2Y" fmla="*/ 555 h 987"/>
                <a:gd name="GluePoint3X" fmla="*/ 1036 w 2592"/>
                <a:gd name="GluePoint3Y" fmla="*/ 642 h 987"/>
                <a:gd name="GluePoint4X" fmla="*/ 1552 w 2592"/>
                <a:gd name="GluePoint4Y" fmla="*/ 796 h 987"/>
                <a:gd name="GluePoint5X" fmla="*/ 2072 w 2592"/>
                <a:gd name="GluePoint5Y" fmla="*/ 986 h 987"/>
                <a:gd name="GluePoint6X" fmla="*/ 2591 w 2592"/>
                <a:gd name="GluePoint6Y" fmla="*/ 905 h 98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92" h="987">
                  <a:moveTo>
                    <a:pt x="0" y="0"/>
                  </a:moveTo>
                  <a:lnTo>
                    <a:pt x="518" y="555"/>
                  </a:lnTo>
                  <a:lnTo>
                    <a:pt x="1036" y="642"/>
                  </a:lnTo>
                  <a:lnTo>
                    <a:pt x="1552" y="796"/>
                  </a:lnTo>
                  <a:lnTo>
                    <a:pt x="2072" y="986"/>
                  </a:lnTo>
                  <a:lnTo>
                    <a:pt x="2591" y="905"/>
                  </a:lnTo>
                </a:path>
              </a:pathLst>
            </a:custGeom>
            <a:noFill/>
            <a:ln cap="rnd" w="12600">
              <a:solidFill>
                <a:srgbClr val="00ff00"/>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1" name="Line 33"/>
            <p:cNvSpPr/>
            <p:nvPr/>
          </p:nvSpPr>
          <p:spPr>
            <a:xfrm>
              <a:off x="3568680" y="3498840"/>
              <a:ext cx="0" cy="45036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2" name="Line 34"/>
            <p:cNvSpPr/>
            <p:nvPr/>
          </p:nvSpPr>
          <p:spPr>
            <a:xfrm>
              <a:off x="3524400" y="3949560"/>
              <a:ext cx="93600" cy="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3" name="Line 35"/>
            <p:cNvSpPr/>
            <p:nvPr/>
          </p:nvSpPr>
          <p:spPr>
            <a:xfrm>
              <a:off x="4392720" y="3636720"/>
              <a:ext cx="0" cy="43956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4" name="Line 36"/>
            <p:cNvSpPr/>
            <p:nvPr/>
          </p:nvSpPr>
          <p:spPr>
            <a:xfrm>
              <a:off x="4349880" y="4076640"/>
              <a:ext cx="91800" cy="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5" name="Line 37"/>
            <p:cNvSpPr/>
            <p:nvPr/>
          </p:nvSpPr>
          <p:spPr>
            <a:xfrm>
              <a:off x="5211720" y="3882960"/>
              <a:ext cx="0" cy="46152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6" name="Line 38"/>
            <p:cNvSpPr/>
            <p:nvPr/>
          </p:nvSpPr>
          <p:spPr>
            <a:xfrm>
              <a:off x="5168880" y="4344840"/>
              <a:ext cx="88920" cy="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7" name="Line 39"/>
            <p:cNvSpPr/>
            <p:nvPr/>
          </p:nvSpPr>
          <p:spPr>
            <a:xfrm>
              <a:off x="6037200" y="4182840"/>
              <a:ext cx="0" cy="68544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8" name="Line 40"/>
            <p:cNvSpPr/>
            <p:nvPr/>
          </p:nvSpPr>
          <p:spPr>
            <a:xfrm>
              <a:off x="5992920" y="4868640"/>
              <a:ext cx="91800" cy="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89" name="Line 41"/>
            <p:cNvSpPr/>
            <p:nvPr/>
          </p:nvSpPr>
          <p:spPr>
            <a:xfrm>
              <a:off x="6859440" y="4054320"/>
              <a:ext cx="0" cy="32364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90" name="Line 42"/>
            <p:cNvSpPr/>
            <p:nvPr/>
          </p:nvSpPr>
          <p:spPr>
            <a:xfrm>
              <a:off x="6816600" y="4378320"/>
              <a:ext cx="92160" cy="0"/>
            </a:xfrm>
            <a:prstGeom prst="line">
              <a:avLst/>
            </a:prstGeom>
            <a:ln w="12600">
              <a:solidFill>
                <a:srgbClr val="00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2991" name="Oval 43"/>
            <p:cNvSpPr/>
            <p:nvPr/>
          </p:nvSpPr>
          <p:spPr>
            <a:xfrm>
              <a:off x="2705040" y="2573280"/>
              <a:ext cx="77760" cy="9180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18360" bIns="18360" anchor="ctr">
              <a:noAutofit/>
            </a:bodyPr>
            <a:p>
              <a:endParaRPr b="0" lang="en-US" sz="2400" strike="noStrike" u="none">
                <a:solidFill>
                  <a:srgbClr val="ffff00"/>
                </a:solidFill>
                <a:effectLst/>
                <a:uFillTx/>
                <a:latin typeface="Times New Roman"/>
              </a:endParaRPr>
            </a:p>
          </p:txBody>
        </p:sp>
        <p:sp>
          <p:nvSpPr>
            <p:cNvPr id="2992" name="Oval 44"/>
            <p:cNvSpPr/>
            <p:nvPr/>
          </p:nvSpPr>
          <p:spPr>
            <a:xfrm>
              <a:off x="3530520" y="3119400"/>
              <a:ext cx="74520" cy="867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14760" bIns="14760" anchor="ctr">
              <a:noAutofit/>
            </a:bodyPr>
            <a:p>
              <a:endParaRPr b="0" lang="en-US" sz="2400" strike="noStrike" u="none">
                <a:solidFill>
                  <a:srgbClr val="ffff00"/>
                </a:solidFill>
                <a:effectLst/>
                <a:uFillTx/>
                <a:latin typeface="Times New Roman"/>
              </a:endParaRPr>
            </a:p>
          </p:txBody>
        </p:sp>
        <p:sp>
          <p:nvSpPr>
            <p:cNvPr id="2993" name="Oval 45"/>
            <p:cNvSpPr/>
            <p:nvPr/>
          </p:nvSpPr>
          <p:spPr>
            <a:xfrm>
              <a:off x="4356000" y="2906640"/>
              <a:ext cx="73080" cy="885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15840" bIns="15840" anchor="ctr">
              <a:noAutofit/>
            </a:bodyPr>
            <a:p>
              <a:endParaRPr b="0" lang="en-US" sz="2400" strike="noStrike" u="none">
                <a:solidFill>
                  <a:srgbClr val="ffff00"/>
                </a:solidFill>
                <a:effectLst/>
                <a:uFillTx/>
                <a:latin typeface="Times New Roman"/>
              </a:endParaRPr>
            </a:p>
          </p:txBody>
        </p:sp>
        <p:sp>
          <p:nvSpPr>
            <p:cNvPr id="2994" name="Oval 46"/>
            <p:cNvSpPr/>
            <p:nvPr/>
          </p:nvSpPr>
          <p:spPr>
            <a:xfrm>
              <a:off x="5175360" y="3070080"/>
              <a:ext cx="74520" cy="8532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14040" bIns="14040" anchor="ctr">
              <a:noAutofit/>
            </a:bodyPr>
            <a:p>
              <a:endParaRPr b="0" lang="en-US" sz="2400" strike="noStrike" u="none">
                <a:solidFill>
                  <a:srgbClr val="ffff00"/>
                </a:solidFill>
                <a:effectLst/>
                <a:uFillTx/>
                <a:latin typeface="Times New Roman"/>
              </a:endParaRPr>
            </a:p>
          </p:txBody>
        </p:sp>
        <p:sp>
          <p:nvSpPr>
            <p:cNvPr id="2995" name="Oval 47"/>
            <p:cNvSpPr/>
            <p:nvPr/>
          </p:nvSpPr>
          <p:spPr>
            <a:xfrm>
              <a:off x="5999040" y="3024000"/>
              <a:ext cx="76320" cy="885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15840" bIns="15840" anchor="ctr">
              <a:noAutofit/>
            </a:bodyPr>
            <a:p>
              <a:endParaRPr b="0" lang="en-US" sz="2400" strike="noStrike" u="none">
                <a:solidFill>
                  <a:srgbClr val="ffff00"/>
                </a:solidFill>
                <a:effectLst/>
                <a:uFillTx/>
                <a:latin typeface="Times New Roman"/>
              </a:endParaRPr>
            </a:p>
          </p:txBody>
        </p:sp>
        <p:sp>
          <p:nvSpPr>
            <p:cNvPr id="2996" name="Oval 48"/>
            <p:cNvSpPr/>
            <p:nvPr/>
          </p:nvSpPr>
          <p:spPr>
            <a:xfrm>
              <a:off x="6823080" y="3208320"/>
              <a:ext cx="74520" cy="885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15840" bIns="15840" anchor="ctr">
              <a:noAutofit/>
            </a:bodyPr>
            <a:p>
              <a:endParaRPr b="0" lang="en-US" sz="2400" strike="noStrike" u="none">
                <a:solidFill>
                  <a:srgbClr val="ffff00"/>
                </a:solidFill>
                <a:effectLst/>
                <a:uFillTx/>
                <a:latin typeface="Times New Roman"/>
              </a:endParaRPr>
            </a:p>
          </p:txBody>
        </p:sp>
        <p:sp>
          <p:nvSpPr>
            <p:cNvPr id="2997" name="Oval 49"/>
            <p:cNvSpPr/>
            <p:nvPr/>
          </p:nvSpPr>
          <p:spPr>
            <a:xfrm>
              <a:off x="2705040" y="2573280"/>
              <a:ext cx="77760" cy="918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8360" bIns="18360" anchor="ctr">
              <a:noAutofit/>
            </a:bodyPr>
            <a:p>
              <a:endParaRPr b="0" lang="en-US" sz="2400" strike="noStrike" u="none">
                <a:solidFill>
                  <a:srgbClr val="ffff00"/>
                </a:solidFill>
                <a:effectLst/>
                <a:uFillTx/>
                <a:latin typeface="Times New Roman"/>
              </a:endParaRPr>
            </a:p>
          </p:txBody>
        </p:sp>
        <p:sp>
          <p:nvSpPr>
            <p:cNvPr id="2998" name="Oval 50"/>
            <p:cNvSpPr/>
            <p:nvPr/>
          </p:nvSpPr>
          <p:spPr>
            <a:xfrm>
              <a:off x="3530520" y="3454200"/>
              <a:ext cx="74520" cy="9180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8360" bIns="18360" anchor="ctr">
              <a:noAutofit/>
            </a:bodyPr>
            <a:p>
              <a:endParaRPr b="0" lang="en-US" sz="2400" strike="noStrike" u="none">
                <a:solidFill>
                  <a:srgbClr val="ffff00"/>
                </a:solidFill>
                <a:effectLst/>
                <a:uFillTx/>
                <a:latin typeface="Times New Roman"/>
              </a:endParaRPr>
            </a:p>
          </p:txBody>
        </p:sp>
        <p:sp>
          <p:nvSpPr>
            <p:cNvPr id="2999" name="Oval 51"/>
            <p:cNvSpPr/>
            <p:nvPr/>
          </p:nvSpPr>
          <p:spPr>
            <a:xfrm>
              <a:off x="4356000" y="3593880"/>
              <a:ext cx="73080" cy="8712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5120" bIns="15120" anchor="ctr">
              <a:noAutofit/>
            </a:bodyPr>
            <a:p>
              <a:endParaRPr b="0" lang="en-US" sz="2400" strike="noStrike" u="none">
                <a:solidFill>
                  <a:srgbClr val="ffff00"/>
                </a:solidFill>
                <a:effectLst/>
                <a:uFillTx/>
                <a:latin typeface="Times New Roman"/>
              </a:endParaRPr>
            </a:p>
          </p:txBody>
        </p:sp>
        <p:sp>
          <p:nvSpPr>
            <p:cNvPr id="3000" name="Oval 52"/>
            <p:cNvSpPr/>
            <p:nvPr/>
          </p:nvSpPr>
          <p:spPr>
            <a:xfrm>
              <a:off x="5175360" y="3838320"/>
              <a:ext cx="74520" cy="8712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5120" bIns="15120" anchor="ctr">
              <a:noAutofit/>
            </a:bodyPr>
            <a:p>
              <a:endParaRPr b="0" lang="en-US" sz="2400" strike="noStrike" u="none">
                <a:solidFill>
                  <a:srgbClr val="ffff00"/>
                </a:solidFill>
                <a:effectLst/>
                <a:uFillTx/>
                <a:latin typeface="Times New Roman"/>
              </a:endParaRPr>
            </a:p>
          </p:txBody>
        </p:sp>
        <p:sp>
          <p:nvSpPr>
            <p:cNvPr id="3001" name="Oval 53"/>
            <p:cNvSpPr/>
            <p:nvPr/>
          </p:nvSpPr>
          <p:spPr>
            <a:xfrm>
              <a:off x="5999040" y="4138560"/>
              <a:ext cx="76320" cy="8676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4760" bIns="14760" anchor="ctr">
              <a:noAutofit/>
            </a:bodyPr>
            <a:p>
              <a:endParaRPr b="0" lang="en-US" sz="2400" strike="noStrike" u="none">
                <a:solidFill>
                  <a:srgbClr val="ffff00"/>
                </a:solidFill>
                <a:effectLst/>
                <a:uFillTx/>
                <a:latin typeface="Times New Roman"/>
              </a:endParaRPr>
            </a:p>
          </p:txBody>
        </p:sp>
        <p:sp>
          <p:nvSpPr>
            <p:cNvPr id="3002" name="Oval 54"/>
            <p:cNvSpPr/>
            <p:nvPr/>
          </p:nvSpPr>
          <p:spPr>
            <a:xfrm>
              <a:off x="6823080" y="4011480"/>
              <a:ext cx="74520" cy="87120"/>
            </a:xfrm>
            <a:prstGeom prst="ellipse">
              <a:avLst/>
            </a:prstGeom>
            <a:solidFill>
              <a:srgbClr val="00ff00"/>
            </a:solidFill>
            <a:ln w="12600">
              <a:solidFill>
                <a:srgbClr val="00ff00"/>
              </a:solidFill>
              <a:miter/>
            </a:ln>
          </p:spPr>
          <p:style>
            <a:lnRef idx="0"/>
            <a:fillRef idx="0"/>
            <a:effectRef idx="0"/>
            <a:fontRef idx="minor"/>
          </p:style>
          <p:txBody>
            <a:bodyPr wrap="none" lIns="90000" rIns="90000" tIns="15120" bIns="15120" anchor="ctr">
              <a:noAutofit/>
            </a:bodyPr>
            <a:p>
              <a:endParaRPr b="0" lang="en-US" sz="2400" strike="noStrike" u="none">
                <a:solidFill>
                  <a:srgbClr val="ffff00"/>
                </a:solidFill>
                <a:effectLst/>
                <a:uFillTx/>
                <a:latin typeface="Times New Roman"/>
              </a:endParaRPr>
            </a:p>
          </p:txBody>
        </p:sp>
        <p:sp>
          <p:nvSpPr>
            <p:cNvPr id="3003" name="Rectangle 55"/>
            <p:cNvSpPr/>
            <p:nvPr/>
          </p:nvSpPr>
          <p:spPr>
            <a:xfrm>
              <a:off x="2180880" y="5348160"/>
              <a:ext cx="41364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70</a:t>
              </a:r>
              <a:endParaRPr b="0" lang="en-US" sz="1800" strike="noStrike" u="none">
                <a:solidFill>
                  <a:srgbClr val="ffff00"/>
                </a:solidFill>
                <a:effectLst/>
                <a:uFillTx/>
                <a:latin typeface="Times New Roman"/>
              </a:endParaRPr>
            </a:p>
          </p:txBody>
        </p:sp>
        <p:sp>
          <p:nvSpPr>
            <p:cNvPr id="3004" name="Rectangle 56"/>
            <p:cNvSpPr/>
            <p:nvPr/>
          </p:nvSpPr>
          <p:spPr>
            <a:xfrm>
              <a:off x="2180880" y="4863960"/>
              <a:ext cx="41364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75</a:t>
              </a:r>
              <a:endParaRPr b="0" lang="en-US" sz="1800" strike="noStrike" u="none">
                <a:solidFill>
                  <a:srgbClr val="ffff00"/>
                </a:solidFill>
                <a:effectLst/>
                <a:uFillTx/>
                <a:latin typeface="Times New Roman"/>
              </a:endParaRPr>
            </a:p>
          </p:txBody>
        </p:sp>
        <p:sp>
          <p:nvSpPr>
            <p:cNvPr id="3005" name="Rectangle 57"/>
            <p:cNvSpPr/>
            <p:nvPr/>
          </p:nvSpPr>
          <p:spPr>
            <a:xfrm>
              <a:off x="2180880" y="4379760"/>
              <a:ext cx="41364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80</a:t>
              </a:r>
              <a:endParaRPr b="0" lang="en-US" sz="1800" strike="noStrike" u="none">
                <a:solidFill>
                  <a:srgbClr val="ffff00"/>
                </a:solidFill>
                <a:effectLst/>
                <a:uFillTx/>
                <a:latin typeface="Times New Roman"/>
              </a:endParaRPr>
            </a:p>
          </p:txBody>
        </p:sp>
        <p:sp>
          <p:nvSpPr>
            <p:cNvPr id="3006" name="Rectangle 58"/>
            <p:cNvSpPr/>
            <p:nvPr/>
          </p:nvSpPr>
          <p:spPr>
            <a:xfrm>
              <a:off x="2180880" y="3895560"/>
              <a:ext cx="41364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85</a:t>
              </a:r>
              <a:endParaRPr b="0" lang="en-US" sz="1800" strike="noStrike" u="none">
                <a:solidFill>
                  <a:srgbClr val="ffff00"/>
                </a:solidFill>
                <a:effectLst/>
                <a:uFillTx/>
                <a:latin typeface="Times New Roman"/>
              </a:endParaRPr>
            </a:p>
          </p:txBody>
        </p:sp>
        <p:sp>
          <p:nvSpPr>
            <p:cNvPr id="3007" name="Rectangle 59"/>
            <p:cNvSpPr/>
            <p:nvPr/>
          </p:nvSpPr>
          <p:spPr>
            <a:xfrm>
              <a:off x="2180880" y="3408120"/>
              <a:ext cx="41364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90</a:t>
              </a:r>
              <a:endParaRPr b="0" lang="en-US" sz="1800" strike="noStrike" u="none">
                <a:solidFill>
                  <a:srgbClr val="ffff00"/>
                </a:solidFill>
                <a:effectLst/>
                <a:uFillTx/>
                <a:latin typeface="Times New Roman"/>
              </a:endParaRPr>
            </a:p>
          </p:txBody>
        </p:sp>
        <p:sp>
          <p:nvSpPr>
            <p:cNvPr id="3008" name="Rectangle 60"/>
            <p:cNvSpPr/>
            <p:nvPr/>
          </p:nvSpPr>
          <p:spPr>
            <a:xfrm>
              <a:off x="2180880" y="2923920"/>
              <a:ext cx="41364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95</a:t>
              </a:r>
              <a:endParaRPr b="0" lang="en-US" sz="1800" strike="noStrike" u="none">
                <a:solidFill>
                  <a:srgbClr val="ffff00"/>
                </a:solidFill>
                <a:effectLst/>
                <a:uFillTx/>
                <a:latin typeface="Times New Roman"/>
              </a:endParaRPr>
            </a:p>
          </p:txBody>
        </p:sp>
        <p:sp>
          <p:nvSpPr>
            <p:cNvPr id="3009" name="Rectangle 61"/>
            <p:cNvSpPr/>
            <p:nvPr/>
          </p:nvSpPr>
          <p:spPr>
            <a:xfrm>
              <a:off x="2071440" y="2439720"/>
              <a:ext cx="5281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100</a:t>
              </a:r>
              <a:endParaRPr b="0" lang="en-US" sz="1800" strike="noStrike" u="none">
                <a:solidFill>
                  <a:srgbClr val="ffff00"/>
                </a:solidFill>
                <a:effectLst/>
                <a:uFillTx/>
                <a:latin typeface="Times New Roman"/>
              </a:endParaRPr>
            </a:p>
          </p:txBody>
        </p:sp>
        <p:sp>
          <p:nvSpPr>
            <p:cNvPr id="3010" name="Rectangle 62"/>
            <p:cNvSpPr/>
            <p:nvPr/>
          </p:nvSpPr>
          <p:spPr>
            <a:xfrm>
              <a:off x="2071440" y="1955880"/>
              <a:ext cx="5281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105</a:t>
              </a:r>
              <a:endParaRPr b="0" lang="en-US" sz="1800" strike="noStrike" u="none">
                <a:solidFill>
                  <a:srgbClr val="ffff00"/>
                </a:solidFill>
                <a:effectLst/>
                <a:uFillTx/>
                <a:latin typeface="Times New Roman"/>
              </a:endParaRPr>
            </a:p>
          </p:txBody>
        </p:sp>
        <p:sp>
          <p:nvSpPr>
            <p:cNvPr id="3011" name="Rectangle 63"/>
            <p:cNvSpPr/>
            <p:nvPr/>
          </p:nvSpPr>
          <p:spPr>
            <a:xfrm>
              <a:off x="2598480" y="5648040"/>
              <a:ext cx="2995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1</a:t>
              </a:r>
              <a:endParaRPr b="0" lang="en-US" sz="1800" strike="noStrike" u="none">
                <a:solidFill>
                  <a:srgbClr val="ffff00"/>
                </a:solidFill>
                <a:effectLst/>
                <a:uFillTx/>
                <a:latin typeface="Times New Roman"/>
              </a:endParaRPr>
            </a:p>
          </p:txBody>
        </p:sp>
        <p:sp>
          <p:nvSpPr>
            <p:cNvPr id="3012" name="Rectangle 64"/>
            <p:cNvSpPr/>
            <p:nvPr/>
          </p:nvSpPr>
          <p:spPr>
            <a:xfrm>
              <a:off x="3422160" y="5648040"/>
              <a:ext cx="2995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2</a:t>
              </a:r>
              <a:endParaRPr b="0" lang="en-US" sz="1800" strike="noStrike" u="none">
                <a:solidFill>
                  <a:srgbClr val="ffff00"/>
                </a:solidFill>
                <a:effectLst/>
                <a:uFillTx/>
                <a:latin typeface="Times New Roman"/>
              </a:endParaRPr>
            </a:p>
          </p:txBody>
        </p:sp>
        <p:sp>
          <p:nvSpPr>
            <p:cNvPr id="3013" name="Rectangle 65"/>
            <p:cNvSpPr/>
            <p:nvPr/>
          </p:nvSpPr>
          <p:spPr>
            <a:xfrm>
              <a:off x="4244760" y="5648040"/>
              <a:ext cx="2995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3</a:t>
              </a:r>
              <a:endParaRPr b="0" lang="en-US" sz="1800" strike="noStrike" u="none">
                <a:solidFill>
                  <a:srgbClr val="ffff00"/>
                </a:solidFill>
                <a:effectLst/>
                <a:uFillTx/>
                <a:latin typeface="Times New Roman"/>
              </a:endParaRPr>
            </a:p>
          </p:txBody>
        </p:sp>
        <p:sp>
          <p:nvSpPr>
            <p:cNvPr id="3014" name="Rectangle 66"/>
            <p:cNvSpPr/>
            <p:nvPr/>
          </p:nvSpPr>
          <p:spPr>
            <a:xfrm>
              <a:off x="5063760" y="5648040"/>
              <a:ext cx="2995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4</a:t>
              </a:r>
              <a:endParaRPr b="0" lang="en-US" sz="1800" strike="noStrike" u="none">
                <a:solidFill>
                  <a:srgbClr val="ffff00"/>
                </a:solidFill>
                <a:effectLst/>
                <a:uFillTx/>
                <a:latin typeface="Times New Roman"/>
              </a:endParaRPr>
            </a:p>
          </p:txBody>
        </p:sp>
        <p:sp>
          <p:nvSpPr>
            <p:cNvPr id="3015" name="Rectangle 67"/>
            <p:cNvSpPr/>
            <p:nvPr/>
          </p:nvSpPr>
          <p:spPr>
            <a:xfrm>
              <a:off x="5889240" y="5648040"/>
              <a:ext cx="2995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5</a:t>
              </a:r>
              <a:endParaRPr b="0" lang="en-US" sz="1800" strike="noStrike" u="none">
                <a:solidFill>
                  <a:srgbClr val="ffff00"/>
                </a:solidFill>
                <a:effectLst/>
                <a:uFillTx/>
                <a:latin typeface="Times New Roman"/>
              </a:endParaRPr>
            </a:p>
          </p:txBody>
        </p:sp>
        <p:sp>
          <p:nvSpPr>
            <p:cNvPr id="3016" name="Rectangle 68"/>
            <p:cNvSpPr/>
            <p:nvPr/>
          </p:nvSpPr>
          <p:spPr>
            <a:xfrm>
              <a:off x="6713280" y="5648040"/>
              <a:ext cx="29952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6</a:t>
              </a:r>
              <a:endParaRPr b="0" lang="en-US" sz="1800" strike="noStrike" u="none">
                <a:solidFill>
                  <a:srgbClr val="ffff00"/>
                </a:solidFill>
                <a:effectLst/>
                <a:uFillTx/>
                <a:latin typeface="Times New Roman"/>
              </a:endParaRPr>
            </a:p>
          </p:txBody>
        </p:sp>
      </p:grpSp>
      <p:sp>
        <p:nvSpPr>
          <p:cNvPr id="3017" name="Rectangle 69"/>
          <p:cNvSpPr/>
          <p:nvPr/>
        </p:nvSpPr>
        <p:spPr>
          <a:xfrm>
            <a:off x="7085160" y="6400800"/>
            <a:ext cx="1982520" cy="306000"/>
          </a:xfrm>
          <a:prstGeom prst="rect">
            <a:avLst/>
          </a:prstGeom>
          <a:noFill/>
          <a:ln w="0">
            <a:noFill/>
          </a:ln>
        </p:spPr>
        <p:style>
          <a:lnRef idx="0"/>
          <a:fillRef idx="0"/>
          <a:effectRef idx="0"/>
          <a:fontRef idx="minor"/>
        </p:style>
        <p:txBody>
          <a:bodyPr lIns="92160" rIns="92160" tIns="46080" bIns="4608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(Dupont et coll., 2000)</a:t>
            </a:r>
            <a:endParaRPr b="0" lang="en-US" sz="1400" strike="noStrike" u="none">
              <a:solidFill>
                <a:srgbClr val="ffff00"/>
              </a:solidFill>
              <a:effectLst/>
              <a:uFillTx/>
              <a:latin typeface="Times New Roman"/>
            </a:endParaRPr>
          </a:p>
        </p:txBody>
      </p:sp>
      <p:sp>
        <p:nvSpPr>
          <p:cNvPr id="3018" name="Rectangle 70"/>
          <p:cNvSpPr/>
          <p:nvPr/>
        </p:nvSpPr>
        <p:spPr>
          <a:xfrm>
            <a:off x="3124080" y="1676520"/>
            <a:ext cx="4343400" cy="306000"/>
          </a:xfrm>
          <a:prstGeom prst="rect">
            <a:avLst/>
          </a:prstGeom>
          <a:noFill/>
          <a:ln w="0">
            <a:noFill/>
          </a:ln>
        </p:spPr>
        <p:style>
          <a:lnRef idx="0"/>
          <a:fillRef idx="0"/>
          <a:effectRef idx="0"/>
          <a:fontRef idx="minor"/>
        </p:style>
        <p:txBody>
          <a:bodyPr lIns="92160" rIns="92160" tIns="46080" bIns="4608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6 COURSES DE 20 s SUR PISTE  R = 1  min </a:t>
            </a:r>
            <a:endParaRPr b="0" lang="en-US" sz="1400" strike="noStrike" u="none">
              <a:solidFill>
                <a:srgbClr val="ffff00"/>
              </a:solidFill>
              <a:effectLst/>
              <a:uFillTx/>
              <a:latin typeface="Times New Roman"/>
            </a:endParaRPr>
          </a:p>
        </p:txBody>
      </p:sp>
      <p:sp>
        <p:nvSpPr>
          <p:cNvPr id="3019" name="Rectangle 71"/>
          <p:cNvSpPr/>
          <p:nvPr/>
        </p:nvSpPr>
        <p:spPr>
          <a:xfrm>
            <a:off x="4259160" y="5943600"/>
            <a:ext cx="131148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Course (n°)</a:t>
            </a:r>
            <a:endParaRPr b="0" lang="en-US" sz="1800" strike="noStrike" u="none">
              <a:solidFill>
                <a:srgbClr val="ffff00"/>
              </a:solidFill>
              <a:effectLst/>
              <a:uFillTx/>
              <a:latin typeface="Times New Roman"/>
            </a:endParaRPr>
          </a:p>
        </p:txBody>
      </p:sp>
      <p:sp>
        <p:nvSpPr>
          <p:cNvPr id="3020" name="Rectangle 72"/>
          <p:cNvSpPr/>
          <p:nvPr/>
        </p:nvSpPr>
        <p:spPr>
          <a:xfrm rot="16200000">
            <a:off x="981720" y="3399120"/>
            <a:ext cx="1740600" cy="366840"/>
          </a:xfrm>
          <a:prstGeom prst="rect">
            <a:avLst/>
          </a:prstGeom>
          <a:noFill/>
          <a:ln w="0">
            <a:noFill/>
          </a:ln>
        </p:spPr>
        <p:style>
          <a:lnRef idx="0"/>
          <a:fillRef idx="0"/>
          <a:effectRef idx="0"/>
          <a:fontRef idx="minor"/>
        </p:style>
        <p:txBody>
          <a:bodyPr wrap="none" lIns="92160" rIns="92160" tIns="46080" bIns="460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ff"/>
                </a:solidFill>
                <a:effectLst/>
                <a:uFillTx/>
                <a:latin typeface="Times New Roman"/>
              </a:rPr>
              <a:t>Distance (%D1)</a:t>
            </a:r>
            <a:endParaRPr b="0" lang="en-US" sz="1800" strike="noStrike" u="none">
              <a:solidFill>
                <a:srgbClr val="ffff00"/>
              </a:solidFill>
              <a:effectLst/>
              <a:uFillTx/>
              <a:latin typeface="Times New Roman"/>
            </a:endParaRPr>
          </a:p>
        </p:txBody>
      </p:sp>
      <p:sp>
        <p:nvSpPr>
          <p:cNvPr id="3021" name="Rectangle 73"/>
          <p:cNvSpPr/>
          <p:nvPr/>
        </p:nvSpPr>
        <p:spPr>
          <a:xfrm>
            <a:off x="6477120" y="3429000"/>
            <a:ext cx="1066680" cy="306000"/>
          </a:xfrm>
          <a:prstGeom prst="rect">
            <a:avLst/>
          </a:prstGeom>
          <a:noFill/>
          <a:ln w="0">
            <a:noFill/>
          </a:ln>
        </p:spPr>
        <p:style>
          <a:lnRef idx="0"/>
          <a:fillRef idx="0"/>
          <a:effectRef idx="0"/>
          <a:fontRef idx="minor"/>
        </p:style>
        <p:txBody>
          <a:bodyPr lIns="92160" rIns="92160" tIns="46080" bIns="4608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66ff33"/>
                </a:solidFill>
                <a:effectLst/>
                <a:uFillTx/>
                <a:latin typeface="Times New Roman"/>
              </a:rPr>
              <a:t>- 14,8 %</a:t>
            </a:r>
            <a:endParaRPr b="0" lang="en-US" sz="1400" strike="noStrike" u="none">
              <a:solidFill>
                <a:srgbClr val="ffff00"/>
              </a:solidFill>
              <a:effectLst/>
              <a:uFillTx/>
              <a:latin typeface="Times New Roman"/>
            </a:endParaRPr>
          </a:p>
        </p:txBody>
      </p:sp>
      <p:sp>
        <p:nvSpPr>
          <p:cNvPr id="3022" name="AutoShape 74"/>
          <p:cNvSpPr/>
          <p:nvPr/>
        </p:nvSpPr>
        <p:spPr>
          <a:xfrm>
            <a:off x="6788160" y="3740040"/>
            <a:ext cx="139680" cy="216000"/>
          </a:xfrm>
          <a:prstGeom prst="downArrow">
            <a:avLst>
              <a:gd name="adj1" fmla="val 50000"/>
              <a:gd name="adj2" fmla="val 77355"/>
            </a:avLst>
          </a:prstGeom>
          <a:solidFill>
            <a:srgbClr val="66ff33"/>
          </a:solidFill>
          <a:ln w="1260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023" name="AutoShape 75"/>
          <p:cNvSpPr/>
          <p:nvPr/>
        </p:nvSpPr>
        <p:spPr>
          <a:xfrm>
            <a:off x="6788160" y="2597040"/>
            <a:ext cx="139680" cy="216000"/>
          </a:xfrm>
          <a:prstGeom prst="downArrow">
            <a:avLst>
              <a:gd name="adj1" fmla="val 50000"/>
              <a:gd name="adj2" fmla="val 77355"/>
            </a:avLst>
          </a:prstGeom>
          <a:solidFill>
            <a:srgbClr val="ffff00"/>
          </a:solid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024" name="Rectangle 76"/>
          <p:cNvSpPr/>
          <p:nvPr/>
        </p:nvSpPr>
        <p:spPr>
          <a:xfrm>
            <a:off x="6553080" y="2286000"/>
            <a:ext cx="1067040" cy="306000"/>
          </a:xfrm>
          <a:prstGeom prst="rect">
            <a:avLst/>
          </a:prstGeom>
          <a:noFill/>
          <a:ln w="0">
            <a:noFill/>
          </a:ln>
        </p:spPr>
        <p:style>
          <a:lnRef idx="0"/>
          <a:fillRef idx="0"/>
          <a:effectRef idx="0"/>
          <a:fontRef idx="minor"/>
        </p:style>
        <p:txBody>
          <a:bodyPr lIns="92160" rIns="92160" tIns="46080" bIns="4608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00"/>
                </a:solidFill>
                <a:effectLst/>
                <a:uFillTx/>
                <a:latin typeface="Times New Roman"/>
              </a:rPr>
              <a:t>- 6,5 %</a:t>
            </a:r>
            <a:endParaRPr b="0" lang="en-US" sz="1400" strike="noStrike" u="none">
              <a:solidFill>
                <a:srgbClr val="ffff00"/>
              </a:solidFill>
              <a:effectLst/>
              <a:uFillTx/>
              <a:latin typeface="Times New Roman"/>
            </a:endParaRPr>
          </a:p>
        </p:txBody>
      </p:sp>
      <p:grpSp>
        <p:nvGrpSpPr>
          <p:cNvPr id="3025" name="Group 77"/>
          <p:cNvGrpSpPr/>
          <p:nvPr/>
        </p:nvGrpSpPr>
        <p:grpSpPr>
          <a:xfrm>
            <a:off x="3200400" y="4572000"/>
            <a:ext cx="1371600" cy="306000"/>
            <a:chOff x="3200400" y="4572000"/>
            <a:chExt cx="1371600" cy="306000"/>
          </a:xfrm>
        </p:grpSpPr>
        <p:sp>
          <p:nvSpPr>
            <p:cNvPr id="3026" name="Oval 78"/>
            <p:cNvSpPr/>
            <p:nvPr/>
          </p:nvSpPr>
          <p:spPr>
            <a:xfrm>
              <a:off x="3200400" y="4572000"/>
              <a:ext cx="228600" cy="22860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027" name="Rectangle 79"/>
            <p:cNvSpPr/>
            <p:nvPr/>
          </p:nvSpPr>
          <p:spPr>
            <a:xfrm>
              <a:off x="3505320" y="4572000"/>
              <a:ext cx="1066680" cy="306000"/>
            </a:xfrm>
            <a:prstGeom prst="rect">
              <a:avLst/>
            </a:prstGeom>
            <a:noFill/>
            <a:ln w="0">
              <a:noFill/>
            </a:ln>
          </p:spPr>
          <p:style>
            <a:lnRef idx="0"/>
            <a:fillRef idx="0"/>
            <a:effectRef idx="0"/>
            <a:fontRef idx="minor"/>
          </p:style>
          <p:txBody>
            <a:bodyPr lIns="92160" rIns="92160" tIns="46080" bIns="4608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ffffff"/>
                  </a:solidFill>
                  <a:effectLst/>
                  <a:uFillTx/>
                  <a:latin typeface="Times New Roman"/>
                </a:rPr>
                <a:t>ENFANT</a:t>
              </a:r>
              <a:endParaRPr b="0" lang="en-US" sz="1400" strike="noStrike" u="none">
                <a:solidFill>
                  <a:srgbClr val="ffff00"/>
                </a:solidFill>
                <a:effectLst/>
                <a:uFillTx/>
                <a:latin typeface="Times New Roman"/>
              </a:endParaRPr>
            </a:p>
          </p:txBody>
        </p:sp>
      </p:grpSp>
      <p:grpSp>
        <p:nvGrpSpPr>
          <p:cNvPr id="3028" name="Group 80"/>
          <p:cNvGrpSpPr/>
          <p:nvPr/>
        </p:nvGrpSpPr>
        <p:grpSpPr>
          <a:xfrm>
            <a:off x="3200400" y="4952880"/>
            <a:ext cx="1371600" cy="306000"/>
            <a:chOff x="3200400" y="4952880"/>
            <a:chExt cx="1371600" cy="306000"/>
          </a:xfrm>
        </p:grpSpPr>
        <p:sp>
          <p:nvSpPr>
            <p:cNvPr id="3029" name="Oval 81"/>
            <p:cNvSpPr/>
            <p:nvPr/>
          </p:nvSpPr>
          <p:spPr>
            <a:xfrm>
              <a:off x="3200400" y="4952880"/>
              <a:ext cx="228600" cy="228600"/>
            </a:xfrm>
            <a:prstGeom prst="ellipse">
              <a:avLst/>
            </a:prstGeom>
            <a:solidFill>
              <a:srgbClr val="ffff00"/>
            </a:solidFill>
            <a:ln w="9360">
              <a:solidFill>
                <a:srgbClr val="66ff33"/>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030" name="Rectangle 82"/>
            <p:cNvSpPr/>
            <p:nvPr/>
          </p:nvSpPr>
          <p:spPr>
            <a:xfrm>
              <a:off x="3505320" y="4952880"/>
              <a:ext cx="1066680" cy="306000"/>
            </a:xfrm>
            <a:prstGeom prst="rect">
              <a:avLst/>
            </a:prstGeom>
            <a:noFill/>
            <a:ln w="0">
              <a:noFill/>
            </a:ln>
          </p:spPr>
          <p:style>
            <a:lnRef idx="0"/>
            <a:fillRef idx="0"/>
            <a:effectRef idx="0"/>
            <a:fontRef idx="minor"/>
          </p:style>
          <p:txBody>
            <a:bodyPr lIns="92160" rIns="92160" tIns="46080" bIns="46080" anchor="t">
              <a:spAutoFit/>
            </a:bodyPr>
            <a:p>
              <a:pP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400" strike="noStrike" u="none">
                  <a:solidFill>
                    <a:srgbClr val="66ff33"/>
                  </a:solidFill>
                  <a:effectLst/>
                  <a:uFillTx/>
                  <a:latin typeface="Times New Roman"/>
                </a:rPr>
                <a:t>ADULTE</a:t>
              </a:r>
              <a:endParaRPr b="0" lang="en-US" sz="1400" strike="noStrike" u="none">
                <a:solidFill>
                  <a:srgbClr val="ffff00"/>
                </a:solidFill>
                <a:effectLst/>
                <a:uFillTx/>
                <a:latin typeface="Times New Roman"/>
              </a:endParaRPr>
            </a:p>
          </p:txBody>
        </p:sp>
      </p:grpSp>
    </p:spTree>
  </p:cSld>
  <p:transition spd="med">
    <p:zoom dir="out"/>
  </p:transition>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1" name="Rectangle 3"/>
          <p:cNvSpPr/>
          <p:nvPr/>
        </p:nvSpPr>
        <p:spPr>
          <a:xfrm>
            <a:off x="1066680" y="533520"/>
            <a:ext cx="7620120" cy="45828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EXERCICE INTERMITTENT BREF ET INTENSE</a:t>
            </a:r>
            <a:endParaRPr b="0" lang="en-US" sz="2400" strike="noStrike" u="none">
              <a:solidFill>
                <a:srgbClr val="ffff00"/>
              </a:solidFill>
              <a:effectLst/>
              <a:uFillTx/>
              <a:latin typeface="Times New Roman"/>
            </a:endParaRPr>
          </a:p>
        </p:txBody>
      </p:sp>
      <p:grpSp>
        <p:nvGrpSpPr>
          <p:cNvPr id="3032" name="Group 4"/>
          <p:cNvGrpSpPr/>
          <p:nvPr/>
        </p:nvGrpSpPr>
        <p:grpSpPr>
          <a:xfrm>
            <a:off x="605880" y="1763640"/>
            <a:ext cx="8192160" cy="1555560"/>
            <a:chOff x="605880" y="1763640"/>
            <a:chExt cx="8192160" cy="1555560"/>
          </a:xfrm>
        </p:grpSpPr>
        <p:sp>
          <p:nvSpPr>
            <p:cNvPr id="3033" name="Rectangle 5"/>
            <p:cNvSpPr/>
            <p:nvPr/>
          </p:nvSpPr>
          <p:spPr>
            <a:xfrm>
              <a:off x="1330200" y="1763640"/>
              <a:ext cx="7467840" cy="15555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La puissance maximale est mieux maintenue chez les enfants que chez l’adolescent et chez l’adolescent que chez l’adulte</a:t>
              </a:r>
              <a:endParaRPr b="0" lang="en-US" sz="2400" strike="noStrike" u="none">
                <a:solidFill>
                  <a:srgbClr val="ffff00"/>
                </a:solidFill>
                <a:effectLst/>
                <a:uFillTx/>
                <a:latin typeface="Times New Roman"/>
              </a:endParaRPr>
            </a:p>
          </p:txBody>
        </p:sp>
        <p:sp>
          <p:nvSpPr>
            <p:cNvPr id="3034" name="AutoShape 6"/>
            <p:cNvSpPr/>
            <p:nvPr/>
          </p:nvSpPr>
          <p:spPr>
            <a:xfrm rot="16257000">
              <a:off x="685080" y="2164320"/>
              <a:ext cx="458640" cy="609840"/>
            </a:xfrm>
            <a:prstGeom prst="downArrow">
              <a:avLst>
                <a:gd name="adj1" fmla="val 50000"/>
                <a:gd name="adj2" fmla="val 62328"/>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sp>
        <p:nvSpPr>
          <p:cNvPr id="3035" name="AutoShape 7"/>
          <p:cNvSpPr/>
          <p:nvPr/>
        </p:nvSpPr>
        <p:spPr>
          <a:xfrm>
            <a:off x="4343400" y="1143000"/>
            <a:ext cx="838080" cy="609480"/>
          </a:xfrm>
          <a:prstGeom prst="downArrow">
            <a:avLst>
              <a:gd name="adj1" fmla="val 50000"/>
              <a:gd name="adj2" fmla="val 46875"/>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nvGrpSpPr>
          <p:cNvPr id="3036" name="Group 8"/>
          <p:cNvGrpSpPr/>
          <p:nvPr/>
        </p:nvGrpSpPr>
        <p:grpSpPr>
          <a:xfrm>
            <a:off x="605880" y="4572000"/>
            <a:ext cx="8233200" cy="824040"/>
            <a:chOff x="605880" y="4572000"/>
            <a:chExt cx="8233200" cy="824040"/>
          </a:xfrm>
        </p:grpSpPr>
        <p:sp>
          <p:nvSpPr>
            <p:cNvPr id="3037" name="Rectangle 9"/>
            <p:cNvSpPr/>
            <p:nvPr/>
          </p:nvSpPr>
          <p:spPr>
            <a:xfrm>
              <a:off x="1447920" y="4572000"/>
              <a:ext cx="7391160" cy="824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La balance acido-basique sanguine est régulée plus rapidement chez l’enfant</a:t>
              </a:r>
              <a:endParaRPr b="0" lang="en-US" sz="2400" strike="noStrike" u="none">
                <a:solidFill>
                  <a:srgbClr val="ffff00"/>
                </a:solidFill>
                <a:effectLst/>
                <a:uFillTx/>
                <a:latin typeface="Times New Roman"/>
              </a:endParaRPr>
            </a:p>
          </p:txBody>
        </p:sp>
        <p:sp>
          <p:nvSpPr>
            <p:cNvPr id="3038" name="AutoShape 10"/>
            <p:cNvSpPr/>
            <p:nvPr/>
          </p:nvSpPr>
          <p:spPr>
            <a:xfrm rot="16257000">
              <a:off x="685080" y="4755240"/>
              <a:ext cx="458640" cy="609840"/>
            </a:xfrm>
            <a:prstGeom prst="downArrow">
              <a:avLst>
                <a:gd name="adj1" fmla="val 50000"/>
                <a:gd name="adj2" fmla="val 62328"/>
              </a:avLst>
            </a:prstGeom>
            <a:noFill/>
            <a:ln w="381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sp>
        <p:nvSpPr>
          <p:cNvPr id="3039" name="Text Box 11"/>
          <p:cNvSpPr/>
          <p:nvPr/>
        </p:nvSpPr>
        <p:spPr>
          <a:xfrm>
            <a:off x="1295280" y="3230640"/>
            <a:ext cx="6877080" cy="1143000"/>
          </a:xfrm>
          <a:prstGeom prst="rect">
            <a:avLst/>
          </a:prstGeom>
          <a:noFill/>
          <a:ln w="0">
            <a:noFill/>
          </a:ln>
        </p:spPr>
        <p:style>
          <a:lnRef idx="0"/>
          <a:fillRef idx="0"/>
          <a:effectRef idx="0"/>
          <a:fontRef idx="minor"/>
        </p:style>
        <p:txBody>
          <a:bodyPr lIns="90000" rIns="90000" tIns="46800" bIns="46800" anchor="t">
            <a:spAutoFit/>
          </a:bodyPr>
          <a:p>
            <a:pPr>
              <a:lnSpc>
                <a:spcPct val="60000"/>
              </a:lnSpc>
              <a:spcBef>
                <a:spcPts val="1250"/>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Acidose musculaire plus faible</a:t>
            </a:r>
            <a:endParaRPr b="0" lang="en-US" sz="2000" strike="noStrike" u="none">
              <a:solidFill>
                <a:srgbClr val="ffff00"/>
              </a:solidFill>
              <a:effectLst/>
              <a:uFillTx/>
              <a:latin typeface="Times New Roman"/>
            </a:endParaRPr>
          </a:p>
          <a:p>
            <a:pPr>
              <a:lnSpc>
                <a:spcPct val="60000"/>
              </a:lnSpc>
              <a:spcBef>
                <a:spcPts val="1250"/>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Activité oxydative plus forte</a:t>
            </a:r>
            <a:endParaRPr b="0" lang="en-US" sz="2000" strike="noStrike" u="none">
              <a:solidFill>
                <a:srgbClr val="ffff00"/>
              </a:solidFill>
              <a:effectLst/>
              <a:uFillTx/>
              <a:latin typeface="Times New Roman"/>
            </a:endParaRPr>
          </a:p>
          <a:p>
            <a:pPr>
              <a:lnSpc>
                <a:spcPct val="60000"/>
              </a:lnSpc>
              <a:spcBef>
                <a:spcPts val="1250"/>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ff"/>
                </a:solidFill>
                <a:effectLst/>
                <a:uFillTx/>
                <a:latin typeface="Calibri"/>
                <a:ea typeface="Calibri"/>
              </a:rPr>
              <a:t> Re-synthèse plus rapide de la phosphocréatine</a:t>
            </a:r>
            <a:endParaRPr b="0" lang="en-US" sz="2000" strike="noStrike" u="none">
              <a:solidFill>
                <a:srgbClr val="ffff00"/>
              </a:solidFill>
              <a:effectLst/>
              <a:uFillTx/>
              <a:latin typeface="Times New Roman"/>
            </a:endParaRPr>
          </a:p>
        </p:txBody>
      </p:sp>
      <p:sp>
        <p:nvSpPr>
          <p:cNvPr id="3040" name="Text Box 12"/>
          <p:cNvSpPr/>
          <p:nvPr/>
        </p:nvSpPr>
        <p:spPr>
          <a:xfrm>
            <a:off x="1338120" y="5667480"/>
            <a:ext cx="6400800" cy="276840"/>
          </a:xfrm>
          <a:prstGeom prst="rect">
            <a:avLst/>
          </a:prstGeom>
          <a:noFill/>
          <a:ln w="0">
            <a:noFill/>
          </a:ln>
        </p:spPr>
        <p:style>
          <a:lnRef idx="0"/>
          <a:fillRef idx="0"/>
          <a:effectRef idx="0"/>
          <a:fontRef idx="minor"/>
        </p:style>
        <p:txBody>
          <a:bodyPr lIns="90000" rIns="90000" tIns="46800" bIns="46800" anchor="t">
            <a:spAutoFit/>
          </a:bodyPr>
          <a:p>
            <a:pPr>
              <a:lnSpc>
                <a:spcPct val="60000"/>
              </a:lnSpc>
              <a:spcBef>
                <a:spcPts val="1250"/>
              </a:spcBef>
              <a:buClr>
                <a:srgbClr val="ffffff"/>
              </a:buClr>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ff"/>
                </a:solidFill>
                <a:effectLst/>
                <a:uFillTx/>
                <a:latin typeface="Calibri"/>
                <a:ea typeface="Calibri"/>
              </a:rPr>
              <a:t> Ventilation relative plus forte</a:t>
            </a:r>
            <a:endParaRPr b="0" lang="en-US" sz="2000" strike="noStrike" u="none">
              <a:solidFill>
                <a:srgbClr val="ffff00"/>
              </a:solidFill>
              <a:effectLst/>
              <a:uFillTx/>
              <a:latin typeface="Times New Roman"/>
            </a:endParaRPr>
          </a:p>
        </p:txBody>
      </p:sp>
    </p:spTree>
  </p:cSld>
  <p:transition spd="med">
    <p:zoom dir="out"/>
  </p:transition>
  <p:timing>
    <p:tnLst>
      <p:par>
        <p:cTn id="2540" dur="indefinite" restart="never" nodeType="tmRoot">
          <p:childTnLst>
            <p:seq>
              <p:cTn id="2541" dur="indefinite" nodeType="mainSeq">
                <p:childTnLst>
                  <p:par>
                    <p:cTn id="2542" nodeType="clickEffect" fill="hold">
                      <p:stCondLst>
                        <p:cond delay="0"/>
                      </p:stCondLst>
                      <p:childTnLst>
                        <p:par>
                          <p:cTn id="2543" nodeType="withEffect" fill="hold">
                            <p:stCondLst>
                              <p:cond delay="0"/>
                            </p:stCondLst>
                            <p:childTnLst>
                              <p:par>
                                <p:cTn id="2544" nodeType="afterEffect" fill="hold" presetClass="entr" presetID="9">
                                  <p:stCondLst>
                                    <p:cond delay="0"/>
                                  </p:stCondLst>
                                  <p:childTnLst>
                                    <p:set>
                                      <p:cBhvr>
                                        <p:cTn id="2545" dur="1" fill="hold">
                                          <p:stCondLst>
                                            <p:cond delay="0"/>
                                          </p:stCondLst>
                                        </p:cTn>
                                        <p:tgtEl>
                                          <p:spTgt spid="3031"/>
                                        </p:tgtEl>
                                        <p:attrNameLst>
                                          <p:attrName>style.visibility</p:attrName>
                                        </p:attrNameLst>
                                      </p:cBhvr>
                                      <p:to>
                                        <p:strVal val="visible"/>
                                      </p:to>
                                    </p:set>
                                    <p:animEffect filter="dissolve" transition="in">
                                      <p:cBhvr additive="repl">
                                        <p:cTn id="2546" dur="500"/>
                                        <p:tgtEl>
                                          <p:spTgt spid="3031"/>
                                        </p:tgtEl>
                                      </p:cBhvr>
                                    </p:animEffect>
                                  </p:childTnLst>
                                </p:cTn>
                              </p:par>
                            </p:childTnLst>
                          </p:cTn>
                        </p:par>
                      </p:childTnLst>
                    </p:cTn>
                  </p:par>
                  <p:par>
                    <p:cTn id="2547" nodeType="clickEffect" fill="hold">
                      <p:stCondLst>
                        <p:cond delay="indefinite"/>
                      </p:stCondLst>
                      <p:childTnLst>
                        <p:par>
                          <p:cTn id="2548" nodeType="withEffect" fill="hold">
                            <p:stCondLst>
                              <p:cond delay="0"/>
                            </p:stCondLst>
                            <p:childTnLst>
                              <p:par>
                                <p:cTn id="2549" nodeType="clickEffect" fill="hold" presetClass="entr" presetID="9">
                                  <p:stCondLst>
                                    <p:cond delay="0"/>
                                  </p:stCondLst>
                                  <p:childTnLst>
                                    <p:set>
                                      <p:cBhvr>
                                        <p:cTn id="2550" dur="1" fill="hold">
                                          <p:stCondLst>
                                            <p:cond delay="0"/>
                                          </p:stCondLst>
                                        </p:cTn>
                                        <p:tgtEl>
                                          <p:spTgt spid="3035"/>
                                        </p:tgtEl>
                                        <p:attrNameLst>
                                          <p:attrName>style.visibility</p:attrName>
                                        </p:attrNameLst>
                                      </p:cBhvr>
                                      <p:to>
                                        <p:strVal val="visible"/>
                                      </p:to>
                                    </p:set>
                                    <p:animEffect filter="dissolve" transition="in">
                                      <p:cBhvr additive="repl">
                                        <p:cTn id="2551" dur="500"/>
                                        <p:tgtEl>
                                          <p:spTgt spid="3035"/>
                                        </p:tgtEl>
                                      </p:cBhvr>
                                    </p:animEffect>
                                  </p:childTnLst>
                                </p:cTn>
                              </p:par>
                            </p:childTnLst>
                          </p:cTn>
                        </p:par>
                        <p:par>
                          <p:cTn id="2552" nodeType="afterEffect" fill="hold">
                            <p:stCondLst>
                              <p:cond delay="500"/>
                            </p:stCondLst>
                            <p:childTnLst>
                              <p:par>
                                <p:cTn id="2553" nodeType="afterEffect" fill="hold" presetClass="entr" presetID="9">
                                  <p:stCondLst>
                                    <p:cond delay="0"/>
                                  </p:stCondLst>
                                  <p:childTnLst>
                                    <p:set>
                                      <p:cBhvr>
                                        <p:cTn id="2554" dur="1" fill="hold">
                                          <p:stCondLst>
                                            <p:cond delay="0"/>
                                          </p:stCondLst>
                                        </p:cTn>
                                        <p:tgtEl>
                                          <p:spTgt spid="3032"/>
                                        </p:tgtEl>
                                        <p:attrNameLst>
                                          <p:attrName>style.visibility</p:attrName>
                                        </p:attrNameLst>
                                      </p:cBhvr>
                                      <p:to>
                                        <p:strVal val="visible"/>
                                      </p:to>
                                    </p:set>
                                    <p:animEffect filter="dissolve" transition="in">
                                      <p:cBhvr additive="repl">
                                        <p:cTn id="2555" dur="500"/>
                                        <p:tgtEl>
                                          <p:spTgt spid="3032"/>
                                        </p:tgtEl>
                                      </p:cBhvr>
                                    </p:animEffect>
                                  </p:childTnLst>
                                </p:cTn>
                              </p:par>
                            </p:childTnLst>
                          </p:cTn>
                        </p:par>
                      </p:childTnLst>
                    </p:cTn>
                  </p:par>
                  <p:par>
                    <p:cTn id="2556" nodeType="clickEffect" fill="hold">
                      <p:stCondLst>
                        <p:cond delay="indefinite"/>
                      </p:stCondLst>
                      <p:childTnLst>
                        <p:par>
                          <p:cTn id="2557" nodeType="withEffect" fill="hold">
                            <p:stCondLst>
                              <p:cond delay="0"/>
                            </p:stCondLst>
                            <p:childTnLst>
                              <p:par>
                                <p:cTn id="2558" nodeType="clickEffect" fill="hold" presetClass="entr" presetID="23" presetSubtype="272">
                                  <p:stCondLst>
                                    <p:cond delay="0"/>
                                  </p:stCondLst>
                                  <p:childTnLst>
                                    <p:set>
                                      <p:cBhvr>
                                        <p:cTn id="2559" dur="1" fill="hold">
                                          <p:stCondLst>
                                            <p:cond delay="0"/>
                                          </p:stCondLst>
                                        </p:cTn>
                                        <p:tgtEl>
                                          <p:spTgt spid="3039"/>
                                        </p:tgtEl>
                                        <p:attrNameLst>
                                          <p:attrName>style.visibility</p:attrName>
                                        </p:attrNameLst>
                                      </p:cBhvr>
                                      <p:to>
                                        <p:strVal val="visible"/>
                                      </p:to>
                                    </p:set>
                                    <p:anim calcmode="lin" valueType="num">
                                      <p:cBhvr additive="repl">
                                        <p:cTn id="2560" dur="500" fill="hold"/>
                                        <p:tgtEl>
                                          <p:spTgt spid="3039"/>
                                        </p:tgtEl>
                                        <p:attrNameLst>
                                          <p:attrName>ppt_w</p:attrName>
                                        </p:attrNameLst>
                                      </p:cBhvr>
                                      <p:tavLst>
                                        <p:tav tm="0">
                                          <p:val>
                                            <p:strVal val="2/3*#ppt_w"/>
                                          </p:val>
                                        </p:tav>
                                        <p:tav tm="100000">
                                          <p:val>
                                            <p:strVal val="#ppt_w"/>
                                          </p:val>
                                        </p:tav>
                                      </p:tavLst>
                                    </p:anim>
                                    <p:anim calcmode="lin" valueType="num">
                                      <p:cBhvr additive="repl">
                                        <p:cTn id="2561" dur="500" fill="hold"/>
                                        <p:tgtEl>
                                          <p:spTgt spid="3039"/>
                                        </p:tgtEl>
                                        <p:attrNameLst>
                                          <p:attrName>ppt_h</p:attrName>
                                        </p:attrNameLst>
                                      </p:cBhvr>
                                      <p:tavLst>
                                        <p:tav tm="0">
                                          <p:val>
                                            <p:strVal val="2/3*#ppt_h"/>
                                          </p:val>
                                        </p:tav>
                                        <p:tav tm="100000">
                                          <p:val>
                                            <p:strVal val="#ppt_h"/>
                                          </p:val>
                                        </p:tav>
                                      </p:tavLst>
                                    </p:anim>
                                  </p:childTnLst>
                                </p:cTn>
                              </p:par>
                            </p:childTnLst>
                          </p:cTn>
                        </p:par>
                      </p:childTnLst>
                    </p:cTn>
                  </p:par>
                  <p:par>
                    <p:cTn id="2562" nodeType="clickEffect" fill="hold">
                      <p:stCondLst>
                        <p:cond delay="indefinite"/>
                      </p:stCondLst>
                      <p:childTnLst>
                        <p:par>
                          <p:cTn id="2563" nodeType="withEffect" fill="hold">
                            <p:stCondLst>
                              <p:cond delay="0"/>
                            </p:stCondLst>
                            <p:childTnLst>
                              <p:par>
                                <p:cTn id="2564" nodeType="clickEffect" fill="hold" presetClass="entr" presetID="9">
                                  <p:stCondLst>
                                    <p:cond delay="0"/>
                                  </p:stCondLst>
                                  <p:childTnLst>
                                    <p:set>
                                      <p:cBhvr>
                                        <p:cTn id="2565" dur="1" fill="hold">
                                          <p:stCondLst>
                                            <p:cond delay="0"/>
                                          </p:stCondLst>
                                        </p:cTn>
                                        <p:tgtEl>
                                          <p:spTgt spid="3036"/>
                                        </p:tgtEl>
                                        <p:attrNameLst>
                                          <p:attrName>style.visibility</p:attrName>
                                        </p:attrNameLst>
                                      </p:cBhvr>
                                      <p:to>
                                        <p:strVal val="visible"/>
                                      </p:to>
                                    </p:set>
                                    <p:animEffect filter="dissolve" transition="in">
                                      <p:cBhvr additive="repl">
                                        <p:cTn id="2566" dur="500"/>
                                        <p:tgtEl>
                                          <p:spTgt spid="3036"/>
                                        </p:tgtEl>
                                      </p:cBhvr>
                                    </p:animEffect>
                                  </p:childTnLst>
                                </p:cTn>
                              </p:par>
                            </p:childTnLst>
                          </p:cTn>
                        </p:par>
                      </p:childTnLst>
                    </p:cTn>
                  </p:par>
                  <p:par>
                    <p:cTn id="2567" nodeType="clickEffect" fill="hold">
                      <p:stCondLst>
                        <p:cond delay="indefinite"/>
                      </p:stCondLst>
                      <p:childTnLst>
                        <p:par>
                          <p:cTn id="2568" nodeType="withEffect" fill="hold">
                            <p:stCondLst>
                              <p:cond delay="0"/>
                            </p:stCondLst>
                            <p:childTnLst>
                              <p:par>
                                <p:cTn id="2569" nodeType="clickEffect" fill="hold" presetClass="entr" presetID="23" presetSubtype="272">
                                  <p:stCondLst>
                                    <p:cond delay="0"/>
                                  </p:stCondLst>
                                  <p:childTnLst>
                                    <p:set>
                                      <p:cBhvr>
                                        <p:cTn id="2570" dur="1" fill="hold">
                                          <p:stCondLst>
                                            <p:cond delay="0"/>
                                          </p:stCondLst>
                                        </p:cTn>
                                        <p:tgtEl>
                                          <p:spTgt spid="3040"/>
                                        </p:tgtEl>
                                        <p:attrNameLst>
                                          <p:attrName>style.visibility</p:attrName>
                                        </p:attrNameLst>
                                      </p:cBhvr>
                                      <p:to>
                                        <p:strVal val="visible"/>
                                      </p:to>
                                    </p:set>
                                    <p:anim calcmode="lin" valueType="num">
                                      <p:cBhvr additive="repl">
                                        <p:cTn id="2571" dur="500" fill="hold"/>
                                        <p:tgtEl>
                                          <p:spTgt spid="3040"/>
                                        </p:tgtEl>
                                        <p:attrNameLst>
                                          <p:attrName>ppt_w</p:attrName>
                                        </p:attrNameLst>
                                      </p:cBhvr>
                                      <p:tavLst>
                                        <p:tav tm="0">
                                          <p:val>
                                            <p:strVal val="2/3*#ppt_w"/>
                                          </p:val>
                                        </p:tav>
                                        <p:tav tm="100000">
                                          <p:val>
                                            <p:strVal val="#ppt_w"/>
                                          </p:val>
                                        </p:tav>
                                      </p:tavLst>
                                    </p:anim>
                                    <p:anim calcmode="lin" valueType="num">
                                      <p:cBhvr additive="repl">
                                        <p:cTn id="2572" dur="500" fill="hold"/>
                                        <p:tgtEl>
                                          <p:spTgt spid="304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041" name="Group 2"/>
          <p:cNvGrpSpPr/>
          <p:nvPr/>
        </p:nvGrpSpPr>
        <p:grpSpPr>
          <a:xfrm>
            <a:off x="279360" y="685800"/>
            <a:ext cx="8864280" cy="1629000"/>
            <a:chOff x="279360" y="685800"/>
            <a:chExt cx="8864280" cy="1629000"/>
          </a:xfrm>
        </p:grpSpPr>
        <p:sp>
          <p:nvSpPr>
            <p:cNvPr id="3042" name="Rectangle 3"/>
            <p:cNvSpPr/>
            <p:nvPr/>
          </p:nvSpPr>
          <p:spPr>
            <a:xfrm>
              <a:off x="279360" y="884160"/>
              <a:ext cx="8864280" cy="143064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VE/VCO</a:t>
              </a:r>
              <a:r>
                <a:rPr b="1" lang="fr-FR" sz="2400" strike="noStrike" u="none" baseline="-25000">
                  <a:solidFill>
                    <a:srgbClr val="ffff00"/>
                  </a:solidFill>
                  <a:effectLst/>
                  <a:uFillTx/>
                  <a:latin typeface="Calibri"/>
                  <a:ea typeface="Calibri"/>
                </a:rPr>
                <a:t>2</a:t>
              </a:r>
              <a:r>
                <a:rPr b="1" lang="fr-FR" sz="2400" strike="noStrike" u="none">
                  <a:solidFill>
                    <a:srgbClr val="ffff00"/>
                  </a:solidFill>
                  <a:effectLst/>
                  <a:uFillTx/>
                  <a:latin typeface="Calibri"/>
                  <a:ea typeface="Calibri"/>
                </a:rPr>
                <a:t> plus élevé chez les enfants que chez l’adolescent et plus</a:t>
              </a:r>
              <a:endParaRPr b="0" lang="en-US" sz="2400" strike="noStrike" u="none">
                <a:solidFill>
                  <a:srgbClr val="ffff00"/>
                </a:solidFill>
                <a:effectLst/>
                <a:uFillTx/>
                <a:latin typeface="Times New Roman"/>
              </a:endParaRPr>
            </a:p>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élevé chez l’adolescent que chez l’adulte</a:t>
              </a:r>
              <a:endParaRPr b="0" lang="en-US" sz="2400" strike="noStrike" u="none">
                <a:solidFill>
                  <a:srgbClr val="ffff00"/>
                </a:solidFill>
                <a:effectLst/>
                <a:uFillTx/>
                <a:latin typeface="Times New Roman"/>
              </a:endParaRPr>
            </a:p>
          </p:txBody>
        </p:sp>
        <p:sp>
          <p:nvSpPr>
            <p:cNvPr id="3043" name="Rectangle 4"/>
            <p:cNvSpPr/>
            <p:nvPr/>
          </p:nvSpPr>
          <p:spPr>
            <a:xfrm>
              <a:off x="2050200" y="685800"/>
              <a:ext cx="407880" cy="397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a:t>
              </a:r>
              <a:endParaRPr b="0" lang="en-US" sz="2000" strike="noStrike" u="none">
                <a:solidFill>
                  <a:srgbClr val="ffff00"/>
                </a:solidFill>
                <a:effectLst/>
                <a:uFillTx/>
                <a:latin typeface="Times New Roman"/>
              </a:endParaRPr>
            </a:p>
          </p:txBody>
        </p:sp>
        <p:sp>
          <p:nvSpPr>
            <p:cNvPr id="3044" name="Rectangle 5"/>
            <p:cNvSpPr/>
            <p:nvPr/>
          </p:nvSpPr>
          <p:spPr>
            <a:xfrm>
              <a:off x="2719080" y="685800"/>
              <a:ext cx="407880" cy="397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00"/>
                  </a:solidFill>
                  <a:effectLst/>
                  <a:uFillTx/>
                  <a:latin typeface="Bookman Old Style"/>
                </a:rPr>
                <a:t>.</a:t>
              </a:r>
              <a:endParaRPr b="0" lang="en-US" sz="2000" strike="noStrike" u="none">
                <a:solidFill>
                  <a:srgbClr val="ffff00"/>
                </a:solidFill>
                <a:effectLst/>
                <a:uFillTx/>
                <a:latin typeface="Times New Roman"/>
              </a:endParaRPr>
            </a:p>
          </p:txBody>
        </p:sp>
      </p:grpSp>
      <p:sp>
        <p:nvSpPr>
          <p:cNvPr id="3045" name="AutoShape 6"/>
          <p:cNvSpPr/>
          <p:nvPr/>
        </p:nvSpPr>
        <p:spPr>
          <a:xfrm>
            <a:off x="4238640" y="2060640"/>
            <a:ext cx="984240" cy="457200"/>
          </a:xfrm>
          <a:prstGeom prst="downArrow">
            <a:avLst>
              <a:gd name="adj1" fmla="val 50000"/>
              <a:gd name="adj2" fmla="val 50023"/>
            </a:avLst>
          </a:prstGeom>
          <a:solidFill>
            <a:srgbClr val="ffff00"/>
          </a:solid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nvGrpSpPr>
          <p:cNvPr id="3046" name="Group 7"/>
          <p:cNvGrpSpPr/>
          <p:nvPr/>
        </p:nvGrpSpPr>
        <p:grpSpPr>
          <a:xfrm>
            <a:off x="463680" y="2590920"/>
            <a:ext cx="8284680" cy="1269720"/>
            <a:chOff x="463680" y="2590920"/>
            <a:chExt cx="8284680" cy="1269720"/>
          </a:xfrm>
        </p:grpSpPr>
        <p:sp>
          <p:nvSpPr>
            <p:cNvPr id="3047" name="Rectangle 8"/>
            <p:cNvSpPr/>
            <p:nvPr/>
          </p:nvSpPr>
          <p:spPr>
            <a:xfrm>
              <a:off x="813960" y="2670840"/>
              <a:ext cx="7788960" cy="118980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La régulation ventilatoire liée au déséquilibre acido-basique sanguin est plus importante chez les enfants</a:t>
              </a:r>
              <a:endParaRPr b="0" lang="en-US" sz="2400" strike="noStrike" u="none">
                <a:solidFill>
                  <a:srgbClr val="ffff00"/>
                </a:solidFill>
                <a:effectLst/>
                <a:uFillTx/>
                <a:latin typeface="Times New Roman"/>
              </a:endParaRPr>
            </a:p>
          </p:txBody>
        </p:sp>
        <p:sp>
          <p:nvSpPr>
            <p:cNvPr id="3048" name="Rectangle 9"/>
            <p:cNvSpPr/>
            <p:nvPr/>
          </p:nvSpPr>
          <p:spPr>
            <a:xfrm>
              <a:off x="463680" y="2590920"/>
              <a:ext cx="8284680" cy="1125000"/>
            </a:xfrm>
            <a:prstGeom prst="rect">
              <a:avLst/>
            </a:prstGeom>
            <a:noFill/>
            <a:ln w="38160">
              <a:solidFill>
                <a:srgbClr val="66ff33"/>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grpSp>
      <p:sp>
        <p:nvSpPr>
          <p:cNvPr id="3049" name="AutoShape 10"/>
          <p:cNvSpPr/>
          <p:nvPr/>
        </p:nvSpPr>
        <p:spPr>
          <a:xfrm>
            <a:off x="4219560" y="3962520"/>
            <a:ext cx="984240" cy="457200"/>
          </a:xfrm>
          <a:prstGeom prst="downArrow">
            <a:avLst>
              <a:gd name="adj1" fmla="val 50000"/>
              <a:gd name="adj2" fmla="val 50023"/>
            </a:avLst>
          </a:prstGeom>
          <a:solidFill>
            <a:srgbClr val="ffff00"/>
          </a:solidFill>
          <a:ln w="1260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nvGrpSpPr>
          <p:cNvPr id="3050" name="Group 11"/>
          <p:cNvGrpSpPr/>
          <p:nvPr/>
        </p:nvGrpSpPr>
        <p:grpSpPr>
          <a:xfrm>
            <a:off x="1143000" y="4572000"/>
            <a:ext cx="7848360" cy="2307600"/>
            <a:chOff x="1143000" y="4572000"/>
            <a:chExt cx="7848360" cy="2307600"/>
          </a:xfrm>
        </p:grpSpPr>
        <p:sp>
          <p:nvSpPr>
            <p:cNvPr id="3051" name="Rectangle 12"/>
            <p:cNvSpPr/>
            <p:nvPr/>
          </p:nvSpPr>
          <p:spPr>
            <a:xfrm>
              <a:off x="1143000" y="5075280"/>
              <a:ext cx="7848360" cy="180432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Sensibilité plus élevée des chémorécepteurs périphériques chez les enfants</a:t>
              </a:r>
              <a:endParaRPr b="0" lang="en-US" sz="2400" strike="noStrike" u="none">
                <a:solidFill>
                  <a:srgbClr val="ffff00"/>
                </a:solidFill>
                <a:effectLst/>
                <a:uFillTx/>
                <a:latin typeface="Times New Roman"/>
              </a:endParaRPr>
            </a:p>
            <a:p>
              <a:pPr algn="just">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Calibri"/>
                  <a:ea typeface="Calibri"/>
                </a:rPr>
                <a:t>(Cosgrove et coll., 1975 ; Honda et coll., 1986 ; Springer et coll., 1988)</a:t>
              </a:r>
              <a:endParaRPr b="0" lang="en-US" sz="1600" strike="noStrike" u="none">
                <a:solidFill>
                  <a:srgbClr val="ffff00"/>
                </a:solidFill>
                <a:effectLst/>
                <a:uFillTx/>
                <a:latin typeface="Times New Roman"/>
              </a:endParaRPr>
            </a:p>
          </p:txBody>
        </p:sp>
        <p:sp>
          <p:nvSpPr>
            <p:cNvPr id="3052" name="Rectangle 13"/>
            <p:cNvSpPr/>
            <p:nvPr/>
          </p:nvSpPr>
          <p:spPr>
            <a:xfrm>
              <a:off x="3127320" y="4572000"/>
              <a:ext cx="3007800" cy="4582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Calibri"/>
                  <a:ea typeface="Calibri"/>
                </a:rPr>
                <a:t>HYPOTHESE</a:t>
              </a:r>
              <a:endParaRPr b="0" lang="en-US" sz="2400" strike="noStrike" u="none">
                <a:solidFill>
                  <a:srgbClr val="ffff00"/>
                </a:solidFill>
                <a:effectLst/>
                <a:uFillTx/>
                <a:latin typeface="Times New Roman"/>
              </a:endParaRPr>
            </a:p>
          </p:txBody>
        </p:sp>
      </p:grpSp>
    </p:spTree>
  </p:cSld>
  <p:transition spd="med">
    <p:zoom dir="out"/>
  </p:transition>
  <p:timing>
    <p:tnLst>
      <p:par>
        <p:cTn id="2573" dur="indefinite" restart="never" nodeType="tmRoot">
          <p:childTnLst>
            <p:seq>
              <p:cTn id="2574" dur="indefinite" nodeType="mainSeq">
                <p:childTnLst>
                  <p:par>
                    <p:cTn id="2575" nodeType="clickEffect" fill="hold">
                      <p:stCondLst>
                        <p:cond delay="0"/>
                      </p:stCondLst>
                      <p:childTnLst>
                        <p:par>
                          <p:cTn id="2576" nodeType="withEffect" fill="hold">
                            <p:stCondLst>
                              <p:cond delay="0"/>
                            </p:stCondLst>
                            <p:childTnLst>
                              <p:par>
                                <p:cTn id="2577" nodeType="afterEffect" fill="hold" presetClass="entr" presetID="4" presetSubtype="32">
                                  <p:stCondLst>
                                    <p:cond delay="0"/>
                                  </p:stCondLst>
                                  <p:childTnLst>
                                    <p:set>
                                      <p:cBhvr>
                                        <p:cTn id="2578" dur="1" fill="hold">
                                          <p:stCondLst>
                                            <p:cond delay="0"/>
                                          </p:stCondLst>
                                        </p:cTn>
                                        <p:tgtEl>
                                          <p:spTgt spid="3041"/>
                                        </p:tgtEl>
                                        <p:attrNameLst>
                                          <p:attrName>style.visibility</p:attrName>
                                        </p:attrNameLst>
                                      </p:cBhvr>
                                      <p:to>
                                        <p:strVal val="visible"/>
                                      </p:to>
                                    </p:set>
                                    <p:animEffect filter="box(out)" transition="in">
                                      <p:cBhvr additive="repl">
                                        <p:cTn id="2579" dur="500"/>
                                        <p:tgtEl>
                                          <p:spTgt spid="3041"/>
                                        </p:tgtEl>
                                      </p:cBhvr>
                                    </p:animEffect>
                                  </p:childTnLst>
                                </p:cTn>
                              </p:par>
                            </p:childTnLst>
                          </p:cTn>
                        </p:par>
                      </p:childTnLst>
                    </p:cTn>
                  </p:par>
                  <p:par>
                    <p:cTn id="2580" nodeType="clickEffect" fill="hold">
                      <p:stCondLst>
                        <p:cond delay="indefinite"/>
                      </p:stCondLst>
                      <p:childTnLst>
                        <p:par>
                          <p:cTn id="2581" nodeType="withEffect" fill="hold">
                            <p:stCondLst>
                              <p:cond delay="0"/>
                            </p:stCondLst>
                            <p:childTnLst>
                              <p:par>
                                <p:cTn id="2582" nodeType="clickEffect" fill="hold" presetClass="entr" presetID="4" presetSubtype="32">
                                  <p:stCondLst>
                                    <p:cond delay="0"/>
                                  </p:stCondLst>
                                  <p:childTnLst>
                                    <p:set>
                                      <p:cBhvr>
                                        <p:cTn id="2583" dur="1" fill="hold">
                                          <p:stCondLst>
                                            <p:cond delay="0"/>
                                          </p:stCondLst>
                                        </p:cTn>
                                        <p:tgtEl>
                                          <p:spTgt spid="3045"/>
                                        </p:tgtEl>
                                        <p:attrNameLst>
                                          <p:attrName>style.visibility</p:attrName>
                                        </p:attrNameLst>
                                      </p:cBhvr>
                                      <p:to>
                                        <p:strVal val="visible"/>
                                      </p:to>
                                    </p:set>
                                    <p:animEffect filter="box(out)" transition="in">
                                      <p:cBhvr additive="repl">
                                        <p:cTn id="2584" dur="500"/>
                                        <p:tgtEl>
                                          <p:spTgt spid="3045"/>
                                        </p:tgtEl>
                                      </p:cBhvr>
                                    </p:animEffect>
                                  </p:childTnLst>
                                </p:cTn>
                              </p:par>
                            </p:childTnLst>
                          </p:cTn>
                        </p:par>
                        <p:par>
                          <p:cTn id="2585" nodeType="afterEffect" fill="hold">
                            <p:stCondLst>
                              <p:cond delay="500"/>
                            </p:stCondLst>
                            <p:childTnLst>
                              <p:par>
                                <p:cTn id="2586" nodeType="afterEffect" fill="hold" presetClass="entr" presetID="4" presetSubtype="32">
                                  <p:stCondLst>
                                    <p:cond delay="0"/>
                                  </p:stCondLst>
                                  <p:childTnLst>
                                    <p:set>
                                      <p:cBhvr>
                                        <p:cTn id="2587" dur="1" fill="hold">
                                          <p:stCondLst>
                                            <p:cond delay="0"/>
                                          </p:stCondLst>
                                        </p:cTn>
                                        <p:tgtEl>
                                          <p:spTgt spid="3046"/>
                                        </p:tgtEl>
                                        <p:attrNameLst>
                                          <p:attrName>style.visibility</p:attrName>
                                        </p:attrNameLst>
                                      </p:cBhvr>
                                      <p:to>
                                        <p:strVal val="visible"/>
                                      </p:to>
                                    </p:set>
                                    <p:animEffect filter="box(out)" transition="in">
                                      <p:cBhvr additive="repl">
                                        <p:cTn id="2588" dur="500"/>
                                        <p:tgtEl>
                                          <p:spTgt spid="3046"/>
                                        </p:tgtEl>
                                      </p:cBhvr>
                                    </p:animEffect>
                                  </p:childTnLst>
                                </p:cTn>
                              </p:par>
                            </p:childTnLst>
                          </p:cTn>
                        </p:par>
                      </p:childTnLst>
                    </p:cTn>
                  </p:par>
                  <p:par>
                    <p:cTn id="2589" nodeType="clickEffect" fill="hold">
                      <p:stCondLst>
                        <p:cond delay="indefinite"/>
                      </p:stCondLst>
                      <p:childTnLst>
                        <p:par>
                          <p:cTn id="2590" nodeType="withEffect" fill="hold">
                            <p:stCondLst>
                              <p:cond delay="0"/>
                            </p:stCondLst>
                            <p:childTnLst>
                              <p:par>
                                <p:cTn id="2591" nodeType="clickEffect" fill="hold" presetClass="entr" presetID="4" presetSubtype="32">
                                  <p:stCondLst>
                                    <p:cond delay="0"/>
                                  </p:stCondLst>
                                  <p:childTnLst>
                                    <p:set>
                                      <p:cBhvr>
                                        <p:cTn id="2592" dur="1" fill="hold">
                                          <p:stCondLst>
                                            <p:cond delay="0"/>
                                          </p:stCondLst>
                                        </p:cTn>
                                        <p:tgtEl>
                                          <p:spTgt spid="3049"/>
                                        </p:tgtEl>
                                        <p:attrNameLst>
                                          <p:attrName>style.visibility</p:attrName>
                                        </p:attrNameLst>
                                      </p:cBhvr>
                                      <p:to>
                                        <p:strVal val="visible"/>
                                      </p:to>
                                    </p:set>
                                    <p:animEffect filter="box(out)" transition="in">
                                      <p:cBhvr additive="repl">
                                        <p:cTn id="2593" dur="500"/>
                                        <p:tgtEl>
                                          <p:spTgt spid="3049"/>
                                        </p:tgtEl>
                                      </p:cBhvr>
                                    </p:animEffect>
                                  </p:childTnLst>
                                </p:cTn>
                              </p:par>
                            </p:childTnLst>
                          </p:cTn>
                        </p:par>
                        <p:par>
                          <p:cTn id="2594" nodeType="afterEffect" fill="hold">
                            <p:stCondLst>
                              <p:cond delay="500"/>
                            </p:stCondLst>
                            <p:childTnLst>
                              <p:par>
                                <p:cTn id="2595" nodeType="afterEffect" fill="hold" presetClass="entr" presetID="4" presetSubtype="32">
                                  <p:stCondLst>
                                    <p:cond delay="0"/>
                                  </p:stCondLst>
                                  <p:childTnLst>
                                    <p:set>
                                      <p:cBhvr>
                                        <p:cTn id="2596" dur="1" fill="hold">
                                          <p:stCondLst>
                                            <p:cond delay="0"/>
                                          </p:stCondLst>
                                        </p:cTn>
                                        <p:tgtEl>
                                          <p:spTgt spid="3050"/>
                                        </p:tgtEl>
                                        <p:attrNameLst>
                                          <p:attrName>style.visibility</p:attrName>
                                        </p:attrNameLst>
                                      </p:cBhvr>
                                      <p:to>
                                        <p:strVal val="visible"/>
                                      </p:to>
                                    </p:set>
                                    <p:animEffect filter="box(out)" transition="in">
                                      <p:cBhvr additive="repl">
                                        <p:cTn id="2597" dur="500"/>
                                        <p:tgtEl>
                                          <p:spTgt spid="30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3" name="Text Box 3"/>
          <p:cNvSpPr/>
          <p:nvPr/>
        </p:nvSpPr>
        <p:spPr>
          <a:xfrm>
            <a:off x="2793960" y="260280"/>
            <a:ext cx="426708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ff"/>
                </a:solidFill>
                <a:effectLst/>
                <a:uFillTx/>
                <a:latin typeface="Bookman Old Style"/>
              </a:rPr>
              <a:t>IMPLICATION  PRATIQUE</a:t>
            </a:r>
            <a:endParaRPr b="0" lang="en-US" sz="2400" strike="noStrike" u="none">
              <a:solidFill>
                <a:srgbClr val="ffff00"/>
              </a:solidFill>
              <a:effectLst/>
              <a:uFillTx/>
              <a:latin typeface="Times New Roman"/>
            </a:endParaRPr>
          </a:p>
        </p:txBody>
      </p:sp>
      <p:grpSp>
        <p:nvGrpSpPr>
          <p:cNvPr id="3054" name="Group 4"/>
          <p:cNvGrpSpPr/>
          <p:nvPr/>
        </p:nvGrpSpPr>
        <p:grpSpPr>
          <a:xfrm>
            <a:off x="843120" y="1052640"/>
            <a:ext cx="7667640" cy="1555560"/>
            <a:chOff x="843120" y="1052640"/>
            <a:chExt cx="7667640" cy="1555560"/>
          </a:xfrm>
        </p:grpSpPr>
        <p:sp>
          <p:nvSpPr>
            <p:cNvPr id="3055" name="Rectangle 5"/>
            <p:cNvSpPr/>
            <p:nvPr/>
          </p:nvSpPr>
          <p:spPr>
            <a:xfrm>
              <a:off x="1729080" y="1052640"/>
              <a:ext cx="6781680" cy="155556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Pas de contre-indication à faire pratiquer des exercices brefs intenses et répétés chez les enfants et a fortiori chez les adolescents</a:t>
              </a:r>
              <a:endParaRPr b="0" lang="en-US" sz="2400" strike="noStrike" u="none">
                <a:solidFill>
                  <a:srgbClr val="ffff00"/>
                </a:solidFill>
                <a:effectLst/>
                <a:uFillTx/>
                <a:latin typeface="Times New Roman"/>
              </a:endParaRPr>
            </a:p>
          </p:txBody>
        </p:sp>
        <p:sp>
          <p:nvSpPr>
            <p:cNvPr id="3056" name="AutoShape 6"/>
            <p:cNvSpPr/>
            <p:nvPr/>
          </p:nvSpPr>
          <p:spPr>
            <a:xfrm>
              <a:off x="843120" y="1052640"/>
              <a:ext cx="609840" cy="990720"/>
            </a:xfrm>
            <a:custGeom>
              <a:avLst/>
              <a:gdLst>
                <a:gd name="textAreaLeft" fmla="*/ 95040 w 609840"/>
                <a:gd name="textAreaRight" fmla="*/ 533880 w 609840"/>
                <a:gd name="textAreaTop" fmla="*/ 247680 h 990720"/>
                <a:gd name="textAreaBottom" fmla="*/ 743040 h 99072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nvGrpSpPr>
          <p:cNvPr id="3057" name="Group 7"/>
          <p:cNvGrpSpPr/>
          <p:nvPr/>
        </p:nvGrpSpPr>
        <p:grpSpPr>
          <a:xfrm>
            <a:off x="804960" y="2928960"/>
            <a:ext cx="7816320" cy="1557360"/>
            <a:chOff x="804960" y="2928960"/>
            <a:chExt cx="7816320" cy="1557360"/>
          </a:xfrm>
        </p:grpSpPr>
        <p:sp>
          <p:nvSpPr>
            <p:cNvPr id="3058" name="Rectangle 8"/>
            <p:cNvSpPr/>
            <p:nvPr/>
          </p:nvSpPr>
          <p:spPr>
            <a:xfrm>
              <a:off x="1730880" y="2930760"/>
              <a:ext cx="6890400" cy="155556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Durées de récupération plus courtes chez les enfants que chez les adolescents et plus courte chez ces derniers comparés aux adultes</a:t>
              </a:r>
              <a:endParaRPr b="0" lang="en-US" sz="2400" strike="noStrike" u="none">
                <a:solidFill>
                  <a:srgbClr val="ffff00"/>
                </a:solidFill>
                <a:effectLst/>
                <a:uFillTx/>
                <a:latin typeface="Times New Roman"/>
              </a:endParaRPr>
            </a:p>
          </p:txBody>
        </p:sp>
        <p:sp>
          <p:nvSpPr>
            <p:cNvPr id="3059" name="AutoShape 9"/>
            <p:cNvSpPr/>
            <p:nvPr/>
          </p:nvSpPr>
          <p:spPr>
            <a:xfrm>
              <a:off x="804960" y="2928960"/>
              <a:ext cx="689040" cy="990720"/>
            </a:xfrm>
            <a:custGeom>
              <a:avLst/>
              <a:gdLst>
                <a:gd name="textAreaLeft" fmla="*/ 107640 w 689040"/>
                <a:gd name="textAreaRight" fmla="*/ 603000 w 689040"/>
                <a:gd name="textAreaTop" fmla="*/ 247680 h 990720"/>
                <a:gd name="textAreaBottom" fmla="*/ 743040 h 99072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grpSp>
        <p:nvGrpSpPr>
          <p:cNvPr id="3060" name="Group 10"/>
          <p:cNvGrpSpPr/>
          <p:nvPr/>
        </p:nvGrpSpPr>
        <p:grpSpPr>
          <a:xfrm>
            <a:off x="755640" y="4941720"/>
            <a:ext cx="7695720" cy="1555560"/>
            <a:chOff x="755640" y="4941720"/>
            <a:chExt cx="7695720" cy="1555560"/>
          </a:xfrm>
        </p:grpSpPr>
        <p:sp>
          <p:nvSpPr>
            <p:cNvPr id="3061" name="Rectangle 11"/>
            <p:cNvSpPr/>
            <p:nvPr/>
          </p:nvSpPr>
          <p:spPr>
            <a:xfrm>
              <a:off x="1669680" y="4941720"/>
              <a:ext cx="6781680" cy="1555560"/>
            </a:xfrm>
            <a:prstGeom prst="rect">
              <a:avLst/>
            </a:prstGeom>
            <a:noFill/>
            <a:ln w="0">
              <a:noFill/>
            </a:ln>
          </p:spPr>
          <p:style>
            <a:lnRef idx="0"/>
            <a:fillRef idx="0"/>
            <a:effectRef idx="0"/>
            <a:fontRef idx="minor"/>
          </p:style>
          <p:txBody>
            <a:bodyPr lIns="92160" rIns="92160" tIns="46080" bIns="4608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ffff00"/>
                  </a:solidFill>
                  <a:effectLst/>
                  <a:uFillTx/>
                  <a:latin typeface="Bookman Old Style"/>
                </a:rPr>
                <a:t>L’enfant présente une meilleure aptitude aux exercices intermittents intenses et de courtes durées. Ceci est encore vrai chez les jeunes adolescents</a:t>
              </a:r>
              <a:endParaRPr b="0" lang="en-US" sz="2400" strike="noStrike" u="none">
                <a:solidFill>
                  <a:srgbClr val="ffff00"/>
                </a:solidFill>
                <a:effectLst/>
                <a:uFillTx/>
                <a:latin typeface="Times New Roman"/>
              </a:endParaRPr>
            </a:p>
          </p:txBody>
        </p:sp>
        <p:sp>
          <p:nvSpPr>
            <p:cNvPr id="3062" name="AutoShape 12"/>
            <p:cNvSpPr/>
            <p:nvPr/>
          </p:nvSpPr>
          <p:spPr>
            <a:xfrm>
              <a:off x="755640" y="5170320"/>
              <a:ext cx="609480" cy="990360"/>
            </a:xfrm>
            <a:custGeom>
              <a:avLst/>
              <a:gdLst>
                <a:gd name="textAreaLeft" fmla="*/ 95040 w 609480"/>
                <a:gd name="textAreaRight" fmla="*/ 533520 w 609480"/>
                <a:gd name="textAreaTop" fmla="*/ 247680 h 990360"/>
                <a:gd name="textAreaBottom" fmla="*/ 743040 h 990360"/>
                <a:gd name="GluePoint1X" fmla="*/ 0 w 21600"/>
                <a:gd name="GluePoint1Y" fmla="*/ 0 h 21600"/>
                <a:gd name="GluePoint2X" fmla="*/ 0 w 21600"/>
                <a:gd name="GluePoint2Y" fmla="*/ 0 h 21600"/>
                <a:gd name="GluePoint3X" fmla="*/ 0 w 21600"/>
                <a:gd name="GluePoint3Y" fmla="*/ 0 h 21600"/>
                <a:gd name="GluePoint4X" fmla="*/ 0 w 21600"/>
                <a:gd name="GluePoint4Y" fmla="*/ 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grpSp>
    </p:spTree>
  </p:cSld>
  <p:transition spd="med">
    <p:zoom dir="out"/>
  </p:transition>
  <p:timing>
    <p:tnLst>
      <p:par>
        <p:cTn id="2598" dur="indefinite" restart="never" nodeType="tmRoot">
          <p:childTnLst>
            <p:seq>
              <p:cTn id="2599" dur="indefinite" nodeType="mainSeq">
                <p:childTnLst>
                  <p:par>
                    <p:cTn id="2600" nodeType="clickEffect" fill="hold">
                      <p:stCondLst>
                        <p:cond delay="indefinite"/>
                      </p:stCondLst>
                      <p:childTnLst>
                        <p:par>
                          <p:cTn id="2601" nodeType="withEffect" fill="hold">
                            <p:stCondLst>
                              <p:cond delay="0"/>
                            </p:stCondLst>
                            <p:childTnLst>
                              <p:par>
                                <p:cTn id="2602" nodeType="clickEffect" fill="hold" presetClass="entr" presetID="23" presetSubtype="272">
                                  <p:stCondLst>
                                    <p:cond delay="0"/>
                                  </p:stCondLst>
                                  <p:childTnLst>
                                    <p:set>
                                      <p:cBhvr>
                                        <p:cTn id="2603" dur="1" fill="hold">
                                          <p:stCondLst>
                                            <p:cond delay="0"/>
                                          </p:stCondLst>
                                        </p:cTn>
                                        <p:tgtEl>
                                          <p:spTgt spid="3054"/>
                                        </p:tgtEl>
                                        <p:attrNameLst>
                                          <p:attrName>style.visibility</p:attrName>
                                        </p:attrNameLst>
                                      </p:cBhvr>
                                      <p:to>
                                        <p:strVal val="visible"/>
                                      </p:to>
                                    </p:set>
                                    <p:anim calcmode="lin" valueType="num">
                                      <p:cBhvr additive="repl">
                                        <p:cTn id="2604" dur="500" fill="hold"/>
                                        <p:tgtEl>
                                          <p:spTgt spid="3054"/>
                                        </p:tgtEl>
                                        <p:attrNameLst>
                                          <p:attrName>ppt_w</p:attrName>
                                        </p:attrNameLst>
                                      </p:cBhvr>
                                      <p:tavLst>
                                        <p:tav tm="0">
                                          <p:val>
                                            <p:strVal val="2/3*#ppt_w"/>
                                          </p:val>
                                        </p:tav>
                                        <p:tav tm="100000">
                                          <p:val>
                                            <p:strVal val="#ppt_w"/>
                                          </p:val>
                                        </p:tav>
                                      </p:tavLst>
                                    </p:anim>
                                    <p:anim calcmode="lin" valueType="num">
                                      <p:cBhvr additive="repl">
                                        <p:cTn id="2605" dur="500" fill="hold"/>
                                        <p:tgtEl>
                                          <p:spTgt spid="3054"/>
                                        </p:tgtEl>
                                        <p:attrNameLst>
                                          <p:attrName>ppt_h</p:attrName>
                                        </p:attrNameLst>
                                      </p:cBhvr>
                                      <p:tavLst>
                                        <p:tav tm="0">
                                          <p:val>
                                            <p:strVal val="2/3*#ppt_h"/>
                                          </p:val>
                                        </p:tav>
                                        <p:tav tm="100000">
                                          <p:val>
                                            <p:strVal val="#ppt_h"/>
                                          </p:val>
                                        </p:tav>
                                      </p:tavLst>
                                    </p:anim>
                                  </p:childTnLst>
                                </p:cTn>
                              </p:par>
                            </p:childTnLst>
                          </p:cTn>
                        </p:par>
                      </p:childTnLst>
                    </p:cTn>
                  </p:par>
                  <p:par>
                    <p:cTn id="2606" nodeType="clickEffect" fill="hold">
                      <p:stCondLst>
                        <p:cond delay="indefinite"/>
                      </p:stCondLst>
                      <p:childTnLst>
                        <p:par>
                          <p:cTn id="2607" nodeType="withEffect" fill="hold">
                            <p:stCondLst>
                              <p:cond delay="0"/>
                            </p:stCondLst>
                            <p:childTnLst>
                              <p:par>
                                <p:cTn id="2608" nodeType="clickEffect" fill="hold" presetClass="entr" presetID="23" presetSubtype="272">
                                  <p:stCondLst>
                                    <p:cond delay="0"/>
                                  </p:stCondLst>
                                  <p:childTnLst>
                                    <p:set>
                                      <p:cBhvr>
                                        <p:cTn id="2609" dur="1" fill="hold">
                                          <p:stCondLst>
                                            <p:cond delay="0"/>
                                          </p:stCondLst>
                                        </p:cTn>
                                        <p:tgtEl>
                                          <p:spTgt spid="3057"/>
                                        </p:tgtEl>
                                        <p:attrNameLst>
                                          <p:attrName>style.visibility</p:attrName>
                                        </p:attrNameLst>
                                      </p:cBhvr>
                                      <p:to>
                                        <p:strVal val="visible"/>
                                      </p:to>
                                    </p:set>
                                    <p:anim calcmode="lin" valueType="num">
                                      <p:cBhvr additive="repl">
                                        <p:cTn id="2610" dur="500" fill="hold"/>
                                        <p:tgtEl>
                                          <p:spTgt spid="3057"/>
                                        </p:tgtEl>
                                        <p:attrNameLst>
                                          <p:attrName>ppt_w</p:attrName>
                                        </p:attrNameLst>
                                      </p:cBhvr>
                                      <p:tavLst>
                                        <p:tav tm="0">
                                          <p:val>
                                            <p:strVal val="2/3*#ppt_w"/>
                                          </p:val>
                                        </p:tav>
                                        <p:tav tm="100000">
                                          <p:val>
                                            <p:strVal val="#ppt_w"/>
                                          </p:val>
                                        </p:tav>
                                      </p:tavLst>
                                    </p:anim>
                                    <p:anim calcmode="lin" valueType="num">
                                      <p:cBhvr additive="repl">
                                        <p:cTn id="2611" dur="500" fill="hold"/>
                                        <p:tgtEl>
                                          <p:spTgt spid="3057"/>
                                        </p:tgtEl>
                                        <p:attrNameLst>
                                          <p:attrName>ppt_h</p:attrName>
                                        </p:attrNameLst>
                                      </p:cBhvr>
                                      <p:tavLst>
                                        <p:tav tm="0">
                                          <p:val>
                                            <p:strVal val="2/3*#ppt_h"/>
                                          </p:val>
                                        </p:tav>
                                        <p:tav tm="100000">
                                          <p:val>
                                            <p:strVal val="#ppt_h"/>
                                          </p:val>
                                        </p:tav>
                                      </p:tavLst>
                                    </p:anim>
                                  </p:childTnLst>
                                </p:cTn>
                              </p:par>
                            </p:childTnLst>
                          </p:cTn>
                        </p:par>
                      </p:childTnLst>
                    </p:cTn>
                  </p:par>
                  <p:par>
                    <p:cTn id="2612" nodeType="clickEffect" fill="hold">
                      <p:stCondLst>
                        <p:cond delay="indefinite"/>
                      </p:stCondLst>
                      <p:childTnLst>
                        <p:par>
                          <p:cTn id="2613" nodeType="withEffect" fill="hold">
                            <p:stCondLst>
                              <p:cond delay="0"/>
                            </p:stCondLst>
                            <p:childTnLst>
                              <p:par>
                                <p:cTn id="2614" nodeType="clickEffect" fill="hold" presetClass="entr" presetID="23" presetSubtype="272">
                                  <p:stCondLst>
                                    <p:cond delay="0"/>
                                  </p:stCondLst>
                                  <p:childTnLst>
                                    <p:set>
                                      <p:cBhvr>
                                        <p:cTn id="2615" dur="1" fill="hold">
                                          <p:stCondLst>
                                            <p:cond delay="0"/>
                                          </p:stCondLst>
                                        </p:cTn>
                                        <p:tgtEl>
                                          <p:spTgt spid="3060"/>
                                        </p:tgtEl>
                                        <p:attrNameLst>
                                          <p:attrName>style.visibility</p:attrName>
                                        </p:attrNameLst>
                                      </p:cBhvr>
                                      <p:to>
                                        <p:strVal val="visible"/>
                                      </p:to>
                                    </p:set>
                                    <p:anim calcmode="lin" valueType="num">
                                      <p:cBhvr additive="repl">
                                        <p:cTn id="2616" dur="500" fill="hold"/>
                                        <p:tgtEl>
                                          <p:spTgt spid="3060"/>
                                        </p:tgtEl>
                                        <p:attrNameLst>
                                          <p:attrName>ppt_w</p:attrName>
                                        </p:attrNameLst>
                                      </p:cBhvr>
                                      <p:tavLst>
                                        <p:tav tm="0">
                                          <p:val>
                                            <p:strVal val="2/3*#ppt_w"/>
                                          </p:val>
                                        </p:tav>
                                        <p:tav tm="100000">
                                          <p:val>
                                            <p:strVal val="#ppt_w"/>
                                          </p:val>
                                        </p:tav>
                                      </p:tavLst>
                                    </p:anim>
                                    <p:anim calcmode="lin" valueType="num">
                                      <p:cBhvr additive="repl">
                                        <p:cTn id="2617" dur="500" fill="hold"/>
                                        <p:tgtEl>
                                          <p:spTgt spid="306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3" name="PlaceHolder 1"/>
          <p:cNvSpPr>
            <a:spLocks noGrp="1"/>
          </p:cNvSpPr>
          <p:nvPr>
            <p:ph/>
          </p:nvPr>
        </p:nvSpPr>
        <p:spPr>
          <a:xfrm>
            <a:off x="838080" y="2743200"/>
            <a:ext cx="7772400" cy="4114800"/>
          </a:xfrm>
          <a:prstGeom prst="rect">
            <a:avLst/>
          </a:prstGeom>
          <a:noFill/>
          <a:ln w="0">
            <a:noFill/>
          </a:ln>
        </p:spPr>
        <p:txBody>
          <a:bodyPr lIns="91440" rIns="91440" tIns="45720" bIns="45720" anchor="t">
            <a:normAutofit/>
          </a:bodyPr>
          <a:p>
            <a:pPr marL="343080" indent="-343080" algn="ctr">
              <a:lnSpc>
                <a:spcPct val="10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200" strike="noStrike" u="none">
                <a:solidFill>
                  <a:srgbClr val="ffff00"/>
                </a:solidFill>
                <a:effectLst/>
                <a:uFillTx/>
                <a:latin typeface="Arial"/>
              </a:rPr>
              <a:t>…LE STRESS THERMIQUE</a:t>
            </a:r>
            <a:endParaRPr b="0" lang="en-US" sz="3200" strike="noStrike" u="none">
              <a:solidFill>
                <a:srgbClr val="ffff00"/>
              </a:solidFill>
              <a:effectLst/>
              <a:uFillTx/>
              <a:latin typeface="Times New Roman"/>
            </a:endParaRPr>
          </a:p>
        </p:txBody>
      </p:sp>
      <p:sp>
        <p:nvSpPr>
          <p:cNvPr id="3064" name="ZoneTexte 1"/>
          <p:cNvSpPr/>
          <p:nvPr/>
        </p:nvSpPr>
        <p:spPr>
          <a:xfrm>
            <a:off x="3483720" y="1413000"/>
            <a:ext cx="2332080" cy="8254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800" strike="noStrike" u="none">
                <a:solidFill>
                  <a:srgbClr val="ffff00"/>
                </a:solidFill>
                <a:effectLst/>
                <a:uFillTx/>
                <a:latin typeface="Calibri"/>
                <a:ea typeface="Calibri"/>
              </a:rPr>
              <a:t>Enfin…</a:t>
            </a:r>
            <a:endParaRPr b="0" lang="en-US" sz="4800" strike="noStrike" u="none">
              <a:solidFill>
                <a:srgbClr val="ffff00"/>
              </a:solidFill>
              <a:effectLst/>
              <a:uFillTx/>
              <a:latin typeface="Times New Roman"/>
            </a:endParaRPr>
          </a:p>
        </p:txBody>
      </p:sp>
    </p:spTree>
  </p:cSld>
  <p:transition spd="med">
    <p:zoom dir="out"/>
  </p:transition>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5" name="PlaceHolder 1"/>
          <p:cNvSpPr>
            <a:spLocks noGrp="1"/>
          </p:cNvSpPr>
          <p:nvPr>
            <p:ph/>
          </p:nvPr>
        </p:nvSpPr>
        <p:spPr>
          <a:xfrm>
            <a:off x="304560" y="761760"/>
            <a:ext cx="8458200" cy="5181480"/>
          </a:xfrm>
          <a:prstGeom prst="rect">
            <a:avLst/>
          </a:prstGeom>
          <a:noFill/>
          <a:ln w="0">
            <a:noFill/>
          </a:ln>
        </p:spPr>
        <p:txBody>
          <a:bodyPr lIns="91440" rIns="91440" tIns="45720" bIns="45720" anchor="t">
            <a:normAutofit/>
          </a:bodyPr>
          <a:p>
            <a:pPr marL="343080" indent="-343080">
              <a:lnSpc>
                <a:spcPct val="10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L’enfant présente une aptitude moindre à l’échange de chaleur par évaporation, leurs glandes sudoripares produisant moins de sueur que celles de l’adulte.</a:t>
            </a:r>
            <a:endParaRPr b="0" lang="en-US" sz="2400" strike="noStrike" u="none">
              <a:solidFill>
                <a:srgbClr val="ffff00"/>
              </a:solidFill>
              <a:effectLst/>
              <a:uFillTx/>
              <a:latin typeface="Times New Roman"/>
            </a:endParaRPr>
          </a:p>
          <a:p>
            <a:pPr marL="34308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0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L’enfant perd davantage de chaleur par conduction que l’adulte, ce qui augmente le risque d’hypotermie en environnement froid.</a:t>
            </a:r>
            <a:endParaRPr b="0" lang="en-US" sz="2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0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L’enfant est plus sensible que l’adulte aux exercices dans de conditions extrêmes de température.</a:t>
            </a:r>
            <a:endParaRPr b="0" lang="en-US" sz="2400" strike="noStrike" u="none">
              <a:solidFill>
                <a:srgbClr val="ffff00"/>
              </a:solidFill>
              <a:effectLst/>
              <a:uFillTx/>
              <a:latin typeface="Times New Roman"/>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marL="343080" indent="-343080">
              <a:lnSpc>
                <a:spcPct val="100000"/>
              </a:lnSpc>
              <a:spcBef>
                <a:spcPts val="601"/>
              </a:spcBef>
              <a:buClr>
                <a:srgbClr val="ffff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s-CL" sz="2400" strike="noStrike" u="none">
                <a:solidFill>
                  <a:srgbClr val="ffff00"/>
                </a:solidFill>
                <a:effectLst/>
                <a:uFillTx/>
                <a:latin typeface="Arial"/>
              </a:rPr>
              <a:t>L’enfant s’acclimate moins à la chaleur  que l’adulte.</a:t>
            </a:r>
            <a:endParaRPr b="0" lang="en-US" sz="2400" strike="noStrike" u="none">
              <a:solidFill>
                <a:srgbClr val="ffff00"/>
              </a:solidFill>
              <a:effectLst/>
              <a:uFillTx/>
              <a:latin typeface="Times New Roman"/>
            </a:endParaRPr>
          </a:p>
        </p:txBody>
      </p:sp>
    </p:spTree>
  </p:cSld>
  <p:transition spd="med">
    <p:zoom dir="out"/>
  </p:transition>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6" name="Line 2"/>
          <p:cNvSpPr/>
          <p:nvPr/>
        </p:nvSpPr>
        <p:spPr>
          <a:xfrm>
            <a:off x="990720" y="762120"/>
            <a:ext cx="0" cy="525780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67" name="Line 3"/>
          <p:cNvSpPr/>
          <p:nvPr/>
        </p:nvSpPr>
        <p:spPr>
          <a:xfrm>
            <a:off x="990720" y="6019920"/>
            <a:ext cx="6781680" cy="0"/>
          </a:xfrm>
          <a:prstGeom prst="line">
            <a:avLst/>
          </a:prstGeom>
          <a:ln w="2844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68" name="Freeform 5"/>
          <p:cNvSpPr/>
          <p:nvPr/>
        </p:nvSpPr>
        <p:spPr>
          <a:xfrm>
            <a:off x="1295280" y="1295280"/>
            <a:ext cx="6477120" cy="3810240"/>
          </a:xfrm>
          <a:custGeom>
            <a:avLst/>
            <a:gdLst>
              <a:gd name="GluePoint1X" fmla="*/ 0 w 4128"/>
              <a:gd name="GluePoint1Y" fmla="*/ 2147483647 h 2456"/>
              <a:gd name="GluePoint2X" fmla="*/ 2147483647 w 4128"/>
              <a:gd name="GluePoint2Y" fmla="*/ 2147483647 h 2456"/>
              <a:gd name="GluePoint3X" fmla="*/ 2147483647 w 4128"/>
              <a:gd name="GluePoint3Y" fmla="*/ 2147483647 h 2456"/>
              <a:gd name="GluePoint4X" fmla="*/ 2147483647 w 4128"/>
              <a:gd name="GluePoint4Y" fmla="*/ 2147483647 h 2456"/>
              <a:gd name="GluePoint5X" fmla="*/ 2147483647 w 4128"/>
              <a:gd name="GluePoint5Y" fmla="*/ 2147483647 h 2456"/>
              <a:gd name="GluePoint6X" fmla="*/ 2147483647 w 4128"/>
              <a:gd name="GluePoint6Y" fmla="*/ 2147483647 h 24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128" h="2456">
                <a:moveTo>
                  <a:pt x="0" y="2456"/>
                </a:moveTo>
                <a:cubicBezTo>
                  <a:pt x="64" y="1756"/>
                  <a:pt x="128" y="1056"/>
                  <a:pt x="192" y="680"/>
                </a:cubicBezTo>
                <a:cubicBezTo>
                  <a:pt x="256" y="304"/>
                  <a:pt x="288" y="304"/>
                  <a:pt x="384" y="200"/>
                </a:cubicBezTo>
                <a:cubicBezTo>
                  <a:pt x="480" y="96"/>
                  <a:pt x="512" y="88"/>
                  <a:pt x="768" y="56"/>
                </a:cubicBezTo>
                <a:cubicBezTo>
                  <a:pt x="1024" y="24"/>
                  <a:pt x="1360" y="16"/>
                  <a:pt x="1920" y="8"/>
                </a:cubicBezTo>
                <a:cubicBezTo>
                  <a:pt x="2480" y="0"/>
                  <a:pt x="3760" y="8"/>
                  <a:pt x="4128" y="8"/>
                </a:cubicBezTo>
              </a:path>
            </a:pathLst>
          </a:custGeom>
          <a:noFill/>
          <a:ln w="28440">
            <a:solidFill>
              <a:srgbClr val="ffff00"/>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69" name="Freeform 9"/>
          <p:cNvSpPr/>
          <p:nvPr/>
        </p:nvSpPr>
        <p:spPr>
          <a:xfrm>
            <a:off x="1447920" y="1295280"/>
            <a:ext cx="3809880" cy="3810240"/>
          </a:xfrm>
          <a:custGeom>
            <a:avLst/>
            <a:gdLst>
              <a:gd name="GluePoint1X" fmla="*/ 0 w 3168"/>
              <a:gd name="GluePoint1Y" fmla="*/ 2147483647 h 2448"/>
              <a:gd name="GluePoint2X" fmla="*/ 2147483647 w 3168"/>
              <a:gd name="GluePoint2Y" fmla="*/ 2147483647 h 2448"/>
              <a:gd name="GluePoint3X" fmla="*/ 2147483647 w 3168"/>
              <a:gd name="GluePoint3Y" fmla="*/ 2147483647 h 2448"/>
              <a:gd name="GluePoint4X" fmla="*/ 2147483647 w 3168"/>
              <a:gd name="GluePoint4Y" fmla="*/ 2147483647 h 2448"/>
              <a:gd name="GluePoint5X" fmla="*/ 2147483647 w 3168"/>
              <a:gd name="GluePoint5Y" fmla="*/ 2147483647 h 2448"/>
              <a:gd name="GluePoint6X" fmla="*/ 2147483647 w 3168"/>
              <a:gd name="GluePoint6Y" fmla="*/ 2147483647 h 2448"/>
              <a:gd name="GluePoint7X" fmla="*/ 2147483647 w 3168"/>
              <a:gd name="GluePoint7Y" fmla="*/ 2147483647 h 2448"/>
              <a:gd name="GluePoint8X" fmla="*/ 2147483647 w 3168"/>
              <a:gd name="GluePoint8Y" fmla="*/ 0 h 244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3168" h="2448">
                <a:moveTo>
                  <a:pt x="0" y="2448"/>
                </a:moveTo>
                <a:cubicBezTo>
                  <a:pt x="76" y="2304"/>
                  <a:pt x="152" y="2160"/>
                  <a:pt x="240" y="2064"/>
                </a:cubicBezTo>
                <a:cubicBezTo>
                  <a:pt x="328" y="1968"/>
                  <a:pt x="376" y="1928"/>
                  <a:pt x="528" y="1872"/>
                </a:cubicBezTo>
                <a:cubicBezTo>
                  <a:pt x="680" y="1816"/>
                  <a:pt x="968" y="1784"/>
                  <a:pt x="1152" y="1728"/>
                </a:cubicBezTo>
                <a:cubicBezTo>
                  <a:pt x="1336" y="1672"/>
                  <a:pt x="1424" y="1688"/>
                  <a:pt x="1632" y="1536"/>
                </a:cubicBezTo>
                <a:cubicBezTo>
                  <a:pt x="1840" y="1384"/>
                  <a:pt x="2184" y="1048"/>
                  <a:pt x="2400" y="816"/>
                </a:cubicBezTo>
                <a:cubicBezTo>
                  <a:pt x="2616" y="584"/>
                  <a:pt x="2800" y="280"/>
                  <a:pt x="2928" y="144"/>
                </a:cubicBezTo>
                <a:cubicBezTo>
                  <a:pt x="3056" y="8"/>
                  <a:pt x="3128" y="24"/>
                  <a:pt x="3168" y="0"/>
                </a:cubicBezTo>
              </a:path>
            </a:pathLst>
          </a:custGeom>
          <a:noFill/>
          <a:ln w="28440">
            <a:solidFill>
              <a:srgbClr val="ccccff"/>
            </a:solidFill>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0" name="Freeform 11"/>
          <p:cNvSpPr/>
          <p:nvPr/>
        </p:nvSpPr>
        <p:spPr>
          <a:xfrm>
            <a:off x="1523880" y="1295280"/>
            <a:ext cx="4800600" cy="3810240"/>
          </a:xfrm>
          <a:custGeom>
            <a:avLst/>
            <a:gdLst>
              <a:gd name="GluePoint1X" fmla="*/ 0 w 4032"/>
              <a:gd name="GluePoint1Y" fmla="*/ 2147483647 h 2464"/>
              <a:gd name="GluePoint2X" fmla="*/ 2147483647 w 4032"/>
              <a:gd name="GluePoint2Y" fmla="*/ 2147483647 h 2464"/>
              <a:gd name="GluePoint3X" fmla="*/ 2147483647 w 4032"/>
              <a:gd name="GluePoint3Y" fmla="*/ 2147483647 h 2464"/>
              <a:gd name="GluePoint4X" fmla="*/ 2147483647 w 4032"/>
              <a:gd name="GluePoint4Y" fmla="*/ 2147483647 h 2464"/>
              <a:gd name="GluePoint5X" fmla="*/ 2147483647 w 4032"/>
              <a:gd name="GluePoint5Y" fmla="*/ 2147483647 h 2464"/>
              <a:gd name="GluePoint6X" fmla="*/ 2147483647 w 4032"/>
              <a:gd name="GluePoint6Y" fmla="*/ 2147483647 h 2464"/>
              <a:gd name="GluePoint7X" fmla="*/ 2147483647 w 4032"/>
              <a:gd name="GluePoint7Y" fmla="*/ 2147483647 h 2464"/>
              <a:gd name="GluePoint8X" fmla="*/ 2147483647 w 4032"/>
              <a:gd name="GluePoint8Y" fmla="*/ 2147483647 h 2464"/>
              <a:gd name="GluePoint9X" fmla="*/ 2147483647 w 4032"/>
              <a:gd name="GluePoint9Y" fmla="*/ 2147483647 h 2464"/>
              <a:gd name="GluePoint10X" fmla="*/ 2147483647 w 4032"/>
              <a:gd name="GluePoint10Y" fmla="*/ 2147483647 h 24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l" t="t" r="r" b="b"/>
            <a:pathLst>
              <a:path w="4032" h="2464">
                <a:moveTo>
                  <a:pt x="0" y="2464"/>
                </a:moveTo>
                <a:cubicBezTo>
                  <a:pt x="52" y="2432"/>
                  <a:pt x="104" y="2400"/>
                  <a:pt x="336" y="2368"/>
                </a:cubicBezTo>
                <a:cubicBezTo>
                  <a:pt x="568" y="2336"/>
                  <a:pt x="1096" y="2296"/>
                  <a:pt x="1392" y="2272"/>
                </a:cubicBezTo>
                <a:cubicBezTo>
                  <a:pt x="1688" y="2248"/>
                  <a:pt x="1944" y="2288"/>
                  <a:pt x="2112" y="2224"/>
                </a:cubicBezTo>
                <a:cubicBezTo>
                  <a:pt x="2280" y="2160"/>
                  <a:pt x="2296" y="2176"/>
                  <a:pt x="2400" y="1888"/>
                </a:cubicBezTo>
                <a:cubicBezTo>
                  <a:pt x="2504" y="1600"/>
                  <a:pt x="2656" y="792"/>
                  <a:pt x="2736" y="496"/>
                </a:cubicBezTo>
                <a:cubicBezTo>
                  <a:pt x="2816" y="200"/>
                  <a:pt x="2824" y="192"/>
                  <a:pt x="2880" y="112"/>
                </a:cubicBezTo>
                <a:cubicBezTo>
                  <a:pt x="2936" y="32"/>
                  <a:pt x="3000" y="32"/>
                  <a:pt x="3072" y="16"/>
                </a:cubicBezTo>
                <a:cubicBezTo>
                  <a:pt x="3144" y="0"/>
                  <a:pt x="3152" y="16"/>
                  <a:pt x="3312" y="16"/>
                </a:cubicBezTo>
                <a:cubicBezTo>
                  <a:pt x="3472" y="16"/>
                  <a:pt x="3912" y="16"/>
                  <a:pt x="4032" y="16"/>
                </a:cubicBezTo>
              </a:path>
            </a:pathLst>
          </a:custGeom>
          <a:noFill/>
          <a:ln w="38160">
            <a:solidFill>
              <a:srgbClr val="ff99cc"/>
            </a:solidFill>
            <a:prstDash val="sys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1" name="Line 23"/>
          <p:cNvSpPr/>
          <p:nvPr/>
        </p:nvSpPr>
        <p:spPr>
          <a:xfrm flipH="1">
            <a:off x="990720" y="1295280"/>
            <a:ext cx="670536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2" name="Text Box 24"/>
          <p:cNvSpPr/>
          <p:nvPr/>
        </p:nvSpPr>
        <p:spPr>
          <a:xfrm>
            <a:off x="1057320" y="898560"/>
            <a:ext cx="25570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100% du potentiel adulte</a:t>
            </a:r>
            <a:endParaRPr b="0" lang="en-US" sz="1600" strike="noStrike" u="none">
              <a:solidFill>
                <a:srgbClr val="ffff00"/>
              </a:solidFill>
              <a:effectLst/>
              <a:uFillTx/>
              <a:latin typeface="Times New Roman"/>
            </a:endParaRPr>
          </a:p>
        </p:txBody>
      </p:sp>
      <p:sp>
        <p:nvSpPr>
          <p:cNvPr id="3073" name="Text Box 25"/>
          <p:cNvSpPr/>
          <p:nvPr/>
        </p:nvSpPr>
        <p:spPr>
          <a:xfrm>
            <a:off x="4497480" y="3657600"/>
            <a:ext cx="8902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FORCE</a:t>
            </a:r>
            <a:endParaRPr b="0" lang="en-US" sz="1600" strike="noStrike" u="none">
              <a:solidFill>
                <a:srgbClr val="ffff00"/>
              </a:solidFill>
              <a:effectLst/>
              <a:uFillTx/>
              <a:latin typeface="Times New Roman"/>
            </a:endParaRPr>
          </a:p>
        </p:txBody>
      </p:sp>
      <p:sp>
        <p:nvSpPr>
          <p:cNvPr id="3074" name="Text Box 26"/>
          <p:cNvSpPr/>
          <p:nvPr/>
        </p:nvSpPr>
        <p:spPr>
          <a:xfrm>
            <a:off x="4956840" y="4419720"/>
            <a:ext cx="28497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99cc"/>
                </a:solidFill>
                <a:effectLst/>
                <a:uFillTx/>
                <a:latin typeface="Arial"/>
              </a:rPr>
              <a:t>TESTOSTERONE (Garçons)</a:t>
            </a:r>
            <a:endParaRPr b="0" lang="en-US" sz="1600" strike="noStrike" u="none">
              <a:solidFill>
                <a:srgbClr val="ffff00"/>
              </a:solidFill>
              <a:effectLst/>
              <a:uFillTx/>
              <a:latin typeface="Times New Roman"/>
            </a:endParaRPr>
          </a:p>
        </p:txBody>
      </p:sp>
      <p:sp>
        <p:nvSpPr>
          <p:cNvPr id="3075" name="Freeform 27"/>
          <p:cNvSpPr/>
          <p:nvPr/>
        </p:nvSpPr>
        <p:spPr>
          <a:xfrm>
            <a:off x="1447920" y="1295280"/>
            <a:ext cx="4343400" cy="3746520"/>
          </a:xfrm>
          <a:custGeom>
            <a:avLst/>
            <a:gdLst>
              <a:gd name="GluePoint1X" fmla="*/ 0 w 3024"/>
              <a:gd name="GluePoint1Y" fmla="*/ 2147483647 h 2360"/>
              <a:gd name="GluePoint2X" fmla="*/ 2147483647 w 3024"/>
              <a:gd name="GluePoint2Y" fmla="*/ 2147483647 h 2360"/>
              <a:gd name="GluePoint3X" fmla="*/ 2147483647 w 3024"/>
              <a:gd name="GluePoint3Y" fmla="*/ 2147483647 h 2360"/>
              <a:gd name="GluePoint4X" fmla="*/ 2147483647 w 3024"/>
              <a:gd name="GluePoint4Y" fmla="*/ 2147483647 h 2360"/>
              <a:gd name="GluePoint5X" fmla="*/ 2147483647 w 3024"/>
              <a:gd name="GluePoint5Y" fmla="*/ 2147483647 h 2360"/>
              <a:gd name="GluePoint6X" fmla="*/ 2147483647 w 3024"/>
              <a:gd name="GluePoint6Y" fmla="*/ 2147483647 h 23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024" h="2360">
                <a:moveTo>
                  <a:pt x="0" y="2360"/>
                </a:moveTo>
                <a:cubicBezTo>
                  <a:pt x="504" y="2204"/>
                  <a:pt x="1008" y="2048"/>
                  <a:pt x="1296" y="1928"/>
                </a:cubicBezTo>
                <a:cubicBezTo>
                  <a:pt x="1584" y="1808"/>
                  <a:pt x="1568" y="1848"/>
                  <a:pt x="1728" y="1640"/>
                </a:cubicBezTo>
                <a:cubicBezTo>
                  <a:pt x="1888" y="1432"/>
                  <a:pt x="2120" y="936"/>
                  <a:pt x="2256" y="680"/>
                </a:cubicBezTo>
                <a:cubicBezTo>
                  <a:pt x="2392" y="424"/>
                  <a:pt x="2416" y="208"/>
                  <a:pt x="2544" y="104"/>
                </a:cubicBezTo>
                <a:cubicBezTo>
                  <a:pt x="2672" y="0"/>
                  <a:pt x="2944" y="64"/>
                  <a:pt x="3024" y="56"/>
                </a:cubicBezTo>
              </a:path>
            </a:pathLst>
          </a:custGeom>
          <a:noFill/>
          <a:ln w="38160">
            <a:solidFill>
              <a:srgbClr val="ffff00"/>
            </a:solidFill>
            <a:prstDash val="dashDot"/>
            <a:roun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6" name="Line 28"/>
          <p:cNvSpPr/>
          <p:nvPr/>
        </p:nvSpPr>
        <p:spPr>
          <a:xfrm>
            <a:off x="3733920" y="762120"/>
            <a:ext cx="0" cy="47242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7" name="Line 29"/>
          <p:cNvSpPr/>
          <p:nvPr/>
        </p:nvSpPr>
        <p:spPr>
          <a:xfrm>
            <a:off x="5181480" y="457200"/>
            <a:ext cx="0" cy="47242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8" name="Line 30"/>
          <p:cNvSpPr/>
          <p:nvPr/>
        </p:nvSpPr>
        <p:spPr>
          <a:xfrm>
            <a:off x="6095880" y="1295280"/>
            <a:ext cx="0" cy="388620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79" name="Line 31"/>
          <p:cNvSpPr/>
          <p:nvPr/>
        </p:nvSpPr>
        <p:spPr>
          <a:xfrm>
            <a:off x="990720" y="5105520"/>
            <a:ext cx="4876560" cy="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0" name="Freeform 33"/>
          <p:cNvSpPr/>
          <p:nvPr/>
        </p:nvSpPr>
        <p:spPr>
          <a:xfrm rot="11026800">
            <a:off x="4038120" y="3733200"/>
            <a:ext cx="457200" cy="190440"/>
          </a:xfrm>
          <a:custGeom>
            <a:avLst/>
            <a:gdLst>
              <a:gd name="GluePoint1X" fmla="*/ 0 w 288"/>
              <a:gd name="GluePoint1Y" fmla="*/ 2147483647 h 120"/>
              <a:gd name="GluePoint2X" fmla="*/ 2147483647 w 288"/>
              <a:gd name="GluePoint2Y" fmla="*/ 2147483647 h 120"/>
              <a:gd name="GluePoint3X" fmla="*/ 2147483647 w 288"/>
              <a:gd name="GluePoint3Y" fmla="*/ 2147483647 h 120"/>
              <a:gd name="GluePoint4X" fmla="*/ 2147483647 w 288"/>
              <a:gd name="GluePoint4Y" fmla="*/ 2147483647 h 120"/>
            </a:gdLst>
            <a:ahLst/>
            <a:cxnLst>
              <a:cxn ang="0">
                <a:pos x="GluePoint1X" y="GluePoint1Y"/>
              </a:cxn>
              <a:cxn ang="0">
                <a:pos x="GluePoint2X" y="GluePoint2Y"/>
              </a:cxn>
              <a:cxn ang="0">
                <a:pos x="GluePoint3X" y="GluePoint3Y"/>
              </a:cxn>
              <a:cxn ang="0">
                <a:pos x="GluePoint4X" y="GluePoint4Y"/>
              </a:cxn>
            </a:cxnLst>
            <a:rect l="l" t="t" r="r" b="b"/>
            <a:pathLst>
              <a:path w="288" h="120">
                <a:moveTo>
                  <a:pt x="0" y="56"/>
                </a:moveTo>
                <a:cubicBezTo>
                  <a:pt x="60" y="28"/>
                  <a:pt x="120" y="0"/>
                  <a:pt x="144" y="8"/>
                </a:cubicBezTo>
                <a:cubicBezTo>
                  <a:pt x="168" y="16"/>
                  <a:pt x="120" y="88"/>
                  <a:pt x="144" y="104"/>
                </a:cubicBezTo>
                <a:cubicBezTo>
                  <a:pt x="168" y="120"/>
                  <a:pt x="264" y="104"/>
                  <a:pt x="288" y="104"/>
                </a:cubicBezTo>
              </a:path>
            </a:pathLst>
          </a:custGeom>
          <a:noFill/>
          <a:ln w="28440">
            <a:solidFill>
              <a:srgbClr val="ffff00"/>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1" name="Freeform 34"/>
          <p:cNvSpPr/>
          <p:nvPr/>
        </p:nvSpPr>
        <p:spPr>
          <a:xfrm rot="11026800">
            <a:off x="4495320" y="4495320"/>
            <a:ext cx="457200" cy="190800"/>
          </a:xfrm>
          <a:custGeom>
            <a:avLst/>
            <a:gdLst>
              <a:gd name="GluePoint1X" fmla="*/ 0 w 288"/>
              <a:gd name="GluePoint1Y" fmla="*/ 2147483647 h 120"/>
              <a:gd name="GluePoint2X" fmla="*/ 2147483647 w 288"/>
              <a:gd name="GluePoint2Y" fmla="*/ 2147483647 h 120"/>
              <a:gd name="GluePoint3X" fmla="*/ 2147483647 w 288"/>
              <a:gd name="GluePoint3Y" fmla="*/ 2147483647 h 120"/>
              <a:gd name="GluePoint4X" fmla="*/ 2147483647 w 288"/>
              <a:gd name="GluePoint4Y" fmla="*/ 2147483647 h 120"/>
            </a:gdLst>
            <a:ahLst/>
            <a:cxnLst>
              <a:cxn ang="0">
                <a:pos x="GluePoint1X" y="GluePoint1Y"/>
              </a:cxn>
              <a:cxn ang="0">
                <a:pos x="GluePoint2X" y="GluePoint2Y"/>
              </a:cxn>
              <a:cxn ang="0">
                <a:pos x="GluePoint3X" y="GluePoint3Y"/>
              </a:cxn>
              <a:cxn ang="0">
                <a:pos x="GluePoint4X" y="GluePoint4Y"/>
              </a:cxn>
            </a:cxnLst>
            <a:rect l="l" t="t" r="r" b="b"/>
            <a:pathLst>
              <a:path w="288" h="120">
                <a:moveTo>
                  <a:pt x="0" y="56"/>
                </a:moveTo>
                <a:cubicBezTo>
                  <a:pt x="60" y="28"/>
                  <a:pt x="120" y="0"/>
                  <a:pt x="144" y="8"/>
                </a:cubicBezTo>
                <a:cubicBezTo>
                  <a:pt x="168" y="16"/>
                  <a:pt x="120" y="88"/>
                  <a:pt x="144" y="104"/>
                </a:cubicBezTo>
                <a:cubicBezTo>
                  <a:pt x="168" y="120"/>
                  <a:pt x="264" y="104"/>
                  <a:pt x="288" y="104"/>
                </a:cubicBezTo>
              </a:path>
            </a:pathLst>
          </a:custGeom>
          <a:noFill/>
          <a:ln w="28440">
            <a:solidFill>
              <a:srgbClr val="ff99cc"/>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2" name="Text Box 35"/>
          <p:cNvSpPr/>
          <p:nvPr/>
        </p:nvSpPr>
        <p:spPr>
          <a:xfrm>
            <a:off x="1680120" y="2666880"/>
            <a:ext cx="17686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ccccff"/>
                </a:solidFill>
                <a:effectLst/>
                <a:uFillTx/>
                <a:latin typeface="Arial"/>
              </a:rPr>
              <a:t>MASSE MAIGRE</a:t>
            </a:r>
            <a:endParaRPr b="0" lang="en-US" sz="1600" strike="noStrike" u="none">
              <a:solidFill>
                <a:srgbClr val="ffff00"/>
              </a:solidFill>
              <a:effectLst/>
              <a:uFillTx/>
              <a:latin typeface="Times New Roman"/>
            </a:endParaRPr>
          </a:p>
        </p:txBody>
      </p:sp>
      <p:sp>
        <p:nvSpPr>
          <p:cNvPr id="3083" name="Freeform 36"/>
          <p:cNvSpPr/>
          <p:nvPr/>
        </p:nvSpPr>
        <p:spPr>
          <a:xfrm rot="21443400">
            <a:off x="3428640" y="2819520"/>
            <a:ext cx="609480" cy="228600"/>
          </a:xfrm>
          <a:custGeom>
            <a:avLst/>
            <a:gdLst>
              <a:gd name="GluePoint1X" fmla="*/ 0 w 288"/>
              <a:gd name="GluePoint1Y" fmla="*/ 2147483647 h 120"/>
              <a:gd name="GluePoint2X" fmla="*/ 2147483647 w 288"/>
              <a:gd name="GluePoint2Y" fmla="*/ 2147483647 h 120"/>
              <a:gd name="GluePoint3X" fmla="*/ 2147483647 w 288"/>
              <a:gd name="GluePoint3Y" fmla="*/ 2147483647 h 120"/>
              <a:gd name="GluePoint4X" fmla="*/ 2147483647 w 288"/>
              <a:gd name="GluePoint4Y" fmla="*/ 2147483647 h 120"/>
            </a:gdLst>
            <a:ahLst/>
            <a:cxnLst>
              <a:cxn ang="0">
                <a:pos x="GluePoint1X" y="GluePoint1Y"/>
              </a:cxn>
              <a:cxn ang="0">
                <a:pos x="GluePoint2X" y="GluePoint2Y"/>
              </a:cxn>
              <a:cxn ang="0">
                <a:pos x="GluePoint3X" y="GluePoint3Y"/>
              </a:cxn>
              <a:cxn ang="0">
                <a:pos x="GluePoint4X" y="GluePoint4Y"/>
              </a:cxn>
            </a:cxnLst>
            <a:rect l="l" t="t" r="r" b="b"/>
            <a:pathLst>
              <a:path w="288" h="120">
                <a:moveTo>
                  <a:pt x="0" y="56"/>
                </a:moveTo>
                <a:cubicBezTo>
                  <a:pt x="60" y="28"/>
                  <a:pt x="120" y="0"/>
                  <a:pt x="144" y="8"/>
                </a:cubicBezTo>
                <a:cubicBezTo>
                  <a:pt x="168" y="16"/>
                  <a:pt x="120" y="88"/>
                  <a:pt x="144" y="104"/>
                </a:cubicBezTo>
                <a:cubicBezTo>
                  <a:pt x="168" y="120"/>
                  <a:pt x="264" y="104"/>
                  <a:pt x="288" y="104"/>
                </a:cubicBezTo>
              </a:path>
            </a:pathLst>
          </a:custGeom>
          <a:noFill/>
          <a:ln w="28440">
            <a:solidFill>
              <a:srgbClr val="ccccff"/>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4" name="Text Box 37"/>
          <p:cNvSpPr/>
          <p:nvPr/>
        </p:nvSpPr>
        <p:spPr>
          <a:xfrm>
            <a:off x="2059200" y="1981080"/>
            <a:ext cx="218556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SYSTEME NERVEUX</a:t>
            </a:r>
            <a:endParaRPr b="0" lang="en-US" sz="1600" strike="noStrike" u="none">
              <a:solidFill>
                <a:srgbClr val="ffff00"/>
              </a:solidFill>
              <a:effectLst/>
              <a:uFillTx/>
              <a:latin typeface="Times New Roman"/>
            </a:endParaRPr>
          </a:p>
        </p:txBody>
      </p:sp>
      <p:sp>
        <p:nvSpPr>
          <p:cNvPr id="3085" name="Freeform 38"/>
          <p:cNvSpPr/>
          <p:nvPr/>
        </p:nvSpPr>
        <p:spPr>
          <a:xfrm rot="11026800">
            <a:off x="1599840" y="2056680"/>
            <a:ext cx="457200" cy="190440"/>
          </a:xfrm>
          <a:custGeom>
            <a:avLst/>
            <a:gdLst>
              <a:gd name="GluePoint1X" fmla="*/ 0 w 288"/>
              <a:gd name="GluePoint1Y" fmla="*/ 2147483647 h 120"/>
              <a:gd name="GluePoint2X" fmla="*/ 2147483647 w 288"/>
              <a:gd name="GluePoint2Y" fmla="*/ 2147483647 h 120"/>
              <a:gd name="GluePoint3X" fmla="*/ 2147483647 w 288"/>
              <a:gd name="GluePoint3Y" fmla="*/ 2147483647 h 120"/>
              <a:gd name="GluePoint4X" fmla="*/ 2147483647 w 288"/>
              <a:gd name="GluePoint4Y" fmla="*/ 2147483647 h 120"/>
            </a:gdLst>
            <a:ahLst/>
            <a:cxnLst>
              <a:cxn ang="0">
                <a:pos x="GluePoint1X" y="GluePoint1Y"/>
              </a:cxn>
              <a:cxn ang="0">
                <a:pos x="GluePoint2X" y="GluePoint2Y"/>
              </a:cxn>
              <a:cxn ang="0">
                <a:pos x="GluePoint3X" y="GluePoint3Y"/>
              </a:cxn>
              <a:cxn ang="0">
                <a:pos x="GluePoint4X" y="GluePoint4Y"/>
              </a:cxn>
            </a:cxnLst>
            <a:rect l="l" t="t" r="r" b="b"/>
            <a:pathLst>
              <a:path w="288" h="120">
                <a:moveTo>
                  <a:pt x="0" y="56"/>
                </a:moveTo>
                <a:cubicBezTo>
                  <a:pt x="60" y="28"/>
                  <a:pt x="120" y="0"/>
                  <a:pt x="144" y="8"/>
                </a:cubicBezTo>
                <a:cubicBezTo>
                  <a:pt x="168" y="16"/>
                  <a:pt x="120" y="88"/>
                  <a:pt x="144" y="104"/>
                </a:cubicBezTo>
                <a:cubicBezTo>
                  <a:pt x="168" y="120"/>
                  <a:pt x="264" y="104"/>
                  <a:pt x="288" y="104"/>
                </a:cubicBezTo>
              </a:path>
            </a:pathLst>
          </a:custGeom>
          <a:noFill/>
          <a:ln w="28440">
            <a:solidFill>
              <a:srgbClr val="ffff00"/>
            </a:solidFill>
            <a:round/>
            <a:tailEnd len="med" type="triangle" w="med"/>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6" name="Line 39"/>
          <p:cNvSpPr/>
          <p:nvPr/>
        </p:nvSpPr>
        <p:spPr>
          <a:xfrm>
            <a:off x="1447920" y="1295280"/>
            <a:ext cx="0" cy="426744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87" name="Text Box 40"/>
          <p:cNvSpPr/>
          <p:nvPr/>
        </p:nvSpPr>
        <p:spPr>
          <a:xfrm>
            <a:off x="915120" y="5562720"/>
            <a:ext cx="13744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NAISSANCE</a:t>
            </a:r>
            <a:endParaRPr b="0" lang="en-US" sz="1600" strike="noStrike" u="none">
              <a:solidFill>
                <a:srgbClr val="ffff00"/>
              </a:solidFill>
              <a:effectLst/>
              <a:uFillTx/>
              <a:latin typeface="Times New Roman"/>
            </a:endParaRPr>
          </a:p>
        </p:txBody>
      </p:sp>
      <p:sp>
        <p:nvSpPr>
          <p:cNvPr id="3088" name="Text Box 42"/>
          <p:cNvSpPr/>
          <p:nvPr/>
        </p:nvSpPr>
        <p:spPr>
          <a:xfrm>
            <a:off x="3124800" y="5562720"/>
            <a:ext cx="114912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PUBERTE</a:t>
            </a:r>
            <a:endParaRPr b="0" lang="en-US" sz="1600" strike="noStrike" u="none">
              <a:solidFill>
                <a:srgbClr val="ffff00"/>
              </a:solidFill>
              <a:effectLst/>
              <a:uFillTx/>
              <a:latin typeface="Times New Roman"/>
            </a:endParaRPr>
          </a:p>
        </p:txBody>
      </p:sp>
      <p:sp>
        <p:nvSpPr>
          <p:cNvPr id="3089" name="Text Box 43"/>
          <p:cNvSpPr/>
          <p:nvPr/>
        </p:nvSpPr>
        <p:spPr>
          <a:xfrm>
            <a:off x="4573080" y="5562720"/>
            <a:ext cx="100260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ADULTE</a:t>
            </a:r>
            <a:endParaRPr b="0" lang="en-US" sz="1600" strike="noStrike" u="none">
              <a:solidFill>
                <a:srgbClr val="ffff00"/>
              </a:solidFill>
              <a:effectLst/>
              <a:uFillTx/>
              <a:latin typeface="Times New Roman"/>
            </a:endParaRPr>
          </a:p>
        </p:txBody>
      </p:sp>
      <p:sp>
        <p:nvSpPr>
          <p:cNvPr id="3090" name="Text Box 44"/>
          <p:cNvSpPr/>
          <p:nvPr/>
        </p:nvSpPr>
        <p:spPr>
          <a:xfrm>
            <a:off x="5411880" y="5029200"/>
            <a:ext cx="2382120" cy="459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Arial"/>
              </a:rPr>
              <a:t>CONSOLIDATION DE LA </a:t>
            </a:r>
            <a:endParaRPr b="0" lang="en-US" sz="1200" strike="noStrike" u="none">
              <a:solidFill>
                <a:srgbClr val="ffff00"/>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200" strike="noStrike" u="none">
                <a:solidFill>
                  <a:srgbClr val="ffff00"/>
                </a:solidFill>
                <a:effectLst/>
                <a:uFillTx/>
                <a:latin typeface="Arial"/>
              </a:rPr>
              <a:t>FORCE ET DE LA PUISSANCE</a:t>
            </a:r>
            <a:endParaRPr b="0" lang="en-US" sz="1200" strike="noStrike" u="none">
              <a:solidFill>
                <a:srgbClr val="ffff00"/>
              </a:solidFill>
              <a:effectLst/>
              <a:uFillTx/>
              <a:latin typeface="Times New Roman"/>
            </a:endParaRPr>
          </a:p>
        </p:txBody>
      </p:sp>
      <p:sp>
        <p:nvSpPr>
          <p:cNvPr id="3091" name="Text Box 45"/>
          <p:cNvSpPr/>
          <p:nvPr/>
        </p:nvSpPr>
        <p:spPr>
          <a:xfrm>
            <a:off x="6479280" y="2666880"/>
            <a:ext cx="1317960" cy="5814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POTENTIEL</a:t>
            </a:r>
            <a:br>
              <a:rPr sz="1600"/>
            </a:br>
            <a:r>
              <a:rPr b="1" lang="fr-FR" sz="1600" strike="noStrike" u="none">
                <a:solidFill>
                  <a:srgbClr val="ffff00"/>
                </a:solidFill>
                <a:effectLst/>
                <a:uFillTx/>
                <a:latin typeface="Arial"/>
              </a:rPr>
              <a:t>OPTIMAL</a:t>
            </a:r>
            <a:endParaRPr b="0" lang="en-US" sz="1600" strike="noStrike" u="none">
              <a:solidFill>
                <a:srgbClr val="ffff00"/>
              </a:solidFill>
              <a:effectLst/>
              <a:uFillTx/>
              <a:latin typeface="Times New Roman"/>
            </a:endParaRPr>
          </a:p>
        </p:txBody>
      </p:sp>
      <p:sp>
        <p:nvSpPr>
          <p:cNvPr id="3092" name="Line 46"/>
          <p:cNvSpPr/>
          <p:nvPr/>
        </p:nvSpPr>
        <p:spPr>
          <a:xfrm flipV="1">
            <a:off x="1447920" y="380880"/>
            <a:ext cx="0" cy="53352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93" name="Text Box 47"/>
          <p:cNvSpPr/>
          <p:nvPr/>
        </p:nvSpPr>
        <p:spPr>
          <a:xfrm>
            <a:off x="1525680" y="380880"/>
            <a:ext cx="36604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CROISSANCE ET MATURATION</a:t>
            </a:r>
            <a:endParaRPr b="0" lang="en-US" sz="1800" strike="noStrike" u="none">
              <a:solidFill>
                <a:srgbClr val="ffff00"/>
              </a:solidFill>
              <a:effectLst/>
              <a:uFillTx/>
              <a:latin typeface="Times New Roman"/>
            </a:endParaRPr>
          </a:p>
        </p:txBody>
      </p:sp>
      <p:sp>
        <p:nvSpPr>
          <p:cNvPr id="3094" name="Text Box 48"/>
          <p:cNvSpPr/>
          <p:nvPr/>
        </p:nvSpPr>
        <p:spPr>
          <a:xfrm>
            <a:off x="5716800" y="380880"/>
            <a:ext cx="136152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MATURITE</a:t>
            </a:r>
            <a:endParaRPr b="0" lang="en-US" sz="1800" strike="noStrike" u="none">
              <a:solidFill>
                <a:srgbClr val="ffff00"/>
              </a:solidFill>
              <a:effectLst/>
              <a:uFillTx/>
              <a:latin typeface="Times New Roman"/>
            </a:endParaRPr>
          </a:p>
        </p:txBody>
      </p:sp>
      <p:sp>
        <p:nvSpPr>
          <p:cNvPr id="3095" name="Line 49"/>
          <p:cNvSpPr/>
          <p:nvPr/>
        </p:nvSpPr>
        <p:spPr>
          <a:xfrm>
            <a:off x="5181480" y="5486400"/>
            <a:ext cx="0" cy="152280"/>
          </a:xfrm>
          <a:prstGeom prst="line">
            <a:avLst/>
          </a:prstGeom>
          <a:ln w="9360">
            <a:solidFill>
              <a:srgbClr val="ffff00"/>
            </a:solidFill>
            <a:miter/>
          </a:ln>
        </p:spPr>
        <p:style>
          <a:lnRef idx="0"/>
          <a:fillRef idx="0"/>
          <a:effectRef idx="0"/>
          <a:fontRef idx="minor"/>
        </p:style>
        <p:txBody>
          <a:bodyPr lIns="90000" rIns="90000" tIns="46800" bIns="46800" anchor="t">
            <a:noAutofit/>
          </a:bodyPr>
          <a:p>
            <a:endParaRPr b="0" lang="en-US" sz="2400" strike="noStrike" u="none">
              <a:solidFill>
                <a:srgbClr val="ffff00"/>
              </a:solidFill>
              <a:effectLst/>
              <a:uFillTx/>
              <a:latin typeface="Times New Roman"/>
            </a:endParaRPr>
          </a:p>
        </p:txBody>
      </p:sp>
      <p:sp>
        <p:nvSpPr>
          <p:cNvPr id="3096" name="Oval 50"/>
          <p:cNvSpPr/>
          <p:nvPr/>
        </p:nvSpPr>
        <p:spPr>
          <a:xfrm>
            <a:off x="4876920" y="990720"/>
            <a:ext cx="914400" cy="838080"/>
          </a:xfrm>
          <a:prstGeom prst="ellipse">
            <a:avLst/>
          </a:prstGeom>
          <a:noFill/>
          <a:ln w="936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097" name="Text Box 51"/>
          <p:cNvSpPr/>
          <p:nvPr/>
        </p:nvSpPr>
        <p:spPr>
          <a:xfrm>
            <a:off x="380880" y="990720"/>
            <a:ext cx="717840" cy="4315320"/>
          </a:xfrm>
          <a:prstGeom prst="rect">
            <a:avLst/>
          </a:prstGeom>
          <a:noFill/>
          <a:ln w="0">
            <a:noFill/>
          </a:ln>
        </p:spPr>
        <p:style>
          <a:lnRef idx="0"/>
          <a:fillRef idx="0"/>
          <a:effectRef idx="0"/>
          <a:fontRef idx="minor"/>
        </p:style>
        <p:txBody>
          <a:bodyPr lIns="90000" rIns="90000" tIns="46800" bIns="46800" anchor="t">
            <a:spAutoFit/>
          </a:bodyPr>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100 </a:t>
            </a: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80 –</a:t>
            </a: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60 –</a:t>
            </a: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40 –</a:t>
            </a: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20 –</a:t>
            </a: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a:p>
            <a:pPr>
              <a:lnSpc>
                <a:spcPct val="10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ffff00"/>
                </a:solidFill>
                <a:effectLst/>
                <a:uFillTx/>
                <a:latin typeface="Times New Roman"/>
              </a:rPr>
              <a:t>0   –</a:t>
            </a:r>
            <a:endParaRPr b="0" lang="en-US" sz="2400" strike="noStrike" u="none">
              <a:solidFill>
                <a:srgbClr val="ffff00"/>
              </a:solidFill>
              <a:effectLst/>
              <a:uFillTx/>
              <a:latin typeface="Times New Roman"/>
            </a:endParaRPr>
          </a:p>
        </p:txBody>
      </p:sp>
      <p:sp>
        <p:nvSpPr>
          <p:cNvPr id="3098" name="Text Box 53"/>
          <p:cNvSpPr/>
          <p:nvPr/>
        </p:nvSpPr>
        <p:spPr>
          <a:xfrm>
            <a:off x="1459800" y="5029200"/>
            <a:ext cx="4034880" cy="459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Arial"/>
              </a:rPr>
              <a:t>  I   I   I   I    I   I   I   I   I   I   I   I   I   I    I    I    I    I    I    I</a:t>
            </a:r>
            <a:endParaRPr b="0" lang="en-US" sz="12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ffff00"/>
                </a:solidFill>
                <a:effectLst/>
                <a:uFillTx/>
                <a:latin typeface="Arial"/>
              </a:rPr>
              <a:t>     2      4        6      8     10    12    14      16       18      20  </a:t>
            </a:r>
            <a:endParaRPr b="0" lang="en-US" sz="1200" strike="noStrike" u="none">
              <a:solidFill>
                <a:srgbClr val="ffff00"/>
              </a:solidFill>
              <a:effectLst/>
              <a:uFillTx/>
              <a:latin typeface="Times New Roman"/>
            </a:endParaRPr>
          </a:p>
        </p:txBody>
      </p:sp>
      <p:sp>
        <p:nvSpPr>
          <p:cNvPr id="3099" name="Text Box 55"/>
          <p:cNvSpPr/>
          <p:nvPr/>
        </p:nvSpPr>
        <p:spPr>
          <a:xfrm>
            <a:off x="97920" y="6218280"/>
            <a:ext cx="8499240" cy="703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Croissance et maturation de quelques facteurs de la motricité au cours de</a:t>
            </a:r>
            <a:endParaRPr b="0" lang="en-US" sz="20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ffff00"/>
                </a:solidFill>
                <a:effectLst/>
                <a:uFillTx/>
                <a:latin typeface="Arial"/>
              </a:rPr>
              <a:t>l’enfance et de l’adolescence. Adapté de Scammon (1930)</a:t>
            </a:r>
            <a:endParaRPr b="0" lang="en-US" sz="2000" strike="noStrike" u="none">
              <a:solidFill>
                <a:srgbClr val="ffff00"/>
              </a:solidFill>
              <a:effectLst/>
              <a:uFillTx/>
              <a:latin typeface="Times New Roman"/>
            </a:endParaRPr>
          </a:p>
        </p:txBody>
      </p:sp>
    </p:spTree>
  </p:cSld>
  <p:transition spd="med">
    <p:zoom dir="out"/>
  </p:transition>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0" name="Text Box 2"/>
          <p:cNvSpPr/>
          <p:nvPr/>
        </p:nvSpPr>
        <p:spPr>
          <a:xfrm>
            <a:off x="-50400" y="1585800"/>
            <a:ext cx="9179640" cy="2997000"/>
          </a:xfrm>
          <a:prstGeom prst="rect">
            <a:avLst/>
          </a:prstGeom>
          <a:noFill/>
          <a:ln w="0">
            <a:noFill/>
          </a:ln>
        </p:spPr>
        <p:style>
          <a:lnRef idx="0"/>
          <a:fillRef idx="0"/>
          <a:effectRef idx="0"/>
          <a:fontRef idx="minor"/>
        </p:style>
        <p:txBody>
          <a:bodyPr wrap="none" lIns="90000" rIns="90000" tIns="46800" bIns="46800" anchor="t">
            <a:spAutoFit/>
          </a:bodyPr>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EN CONCLUSION...</a:t>
            </a:r>
            <a:br>
              <a:rPr sz="2800"/>
            </a:br>
            <a:r>
              <a:rPr b="1" lang="fr-FR" sz="2800" strike="noStrike" u="none">
                <a:solidFill>
                  <a:srgbClr val="ffff00"/>
                </a:solidFill>
                <a:effectLst/>
                <a:uFillTx/>
                <a:latin typeface="Arial"/>
              </a:rPr>
              <a:t>En fonction de l ’âge biologique des enfants et des </a:t>
            </a:r>
            <a:endParaRPr b="0" lang="en-US" sz="28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adolescents, quelles sont les périodes sensibles au </a:t>
            </a:r>
            <a:endParaRPr b="0" lang="en-US" sz="28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développement des principales capacités motrices ? </a:t>
            </a:r>
            <a:endParaRPr b="0" lang="en-US" sz="2800" strike="noStrike" u="none">
              <a:solidFill>
                <a:srgbClr val="ffff00"/>
              </a:solidFill>
              <a:effectLst/>
              <a:uFillTx/>
              <a:latin typeface="Times New Roman"/>
            </a:endParaRPr>
          </a:p>
        </p:txBody>
      </p:sp>
    </p:spTree>
  </p:cSld>
  <p:transition spd="med">
    <p:zoom dir="out"/>
  </p:transition>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1" name="Text Box 2"/>
          <p:cNvSpPr/>
          <p:nvPr/>
        </p:nvSpPr>
        <p:spPr>
          <a:xfrm>
            <a:off x="179280" y="2090880"/>
            <a:ext cx="8964720" cy="2997000"/>
          </a:xfrm>
          <a:prstGeom prst="rect">
            <a:avLst/>
          </a:prstGeom>
          <a:noFill/>
          <a:ln w="0">
            <a:noFill/>
          </a:ln>
        </p:spPr>
        <p:style>
          <a:lnRef idx="0"/>
          <a:fillRef idx="0"/>
          <a:effectRef idx="0"/>
          <a:fontRef idx="minor"/>
        </p:style>
        <p:txBody>
          <a:bodyPr lIns="90000" rIns="90000" tIns="46800" bIns="46800" anchor="t">
            <a:spAutoFit/>
          </a:bodyPr>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En fonction de l ’âge biologique des enfants et des </a:t>
            </a:r>
            <a:endParaRPr b="0" lang="en-US" sz="28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adolescents, quelles sont les périodes sensibles au </a:t>
            </a:r>
            <a:endParaRPr b="0" lang="en-US" sz="2800" strike="noStrike" u="none">
              <a:solidFill>
                <a:srgbClr val="ffff00"/>
              </a:solidFill>
              <a:effectLst/>
              <a:uFillTx/>
              <a:latin typeface="Times New Roman"/>
            </a:endParaRPr>
          </a:p>
          <a:p>
            <a:pPr algn="ctr">
              <a:lnSpc>
                <a:spcPct val="1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ff00"/>
                </a:solidFill>
                <a:effectLst/>
                <a:uFillTx/>
                <a:latin typeface="Arial"/>
              </a:rPr>
              <a:t>développement des principales capacités motrices ? </a:t>
            </a:r>
            <a:endParaRPr b="0" lang="en-US" sz="2800" strike="noStrike" u="none">
              <a:solidFill>
                <a:srgbClr val="ffff00"/>
              </a:solidFill>
              <a:effectLst/>
              <a:uFillTx/>
              <a:latin typeface="Times New Roman"/>
            </a:endParaRPr>
          </a:p>
        </p:txBody>
      </p:sp>
      <p:sp>
        <p:nvSpPr>
          <p:cNvPr id="3102" name="Text Box 3"/>
          <p:cNvSpPr/>
          <p:nvPr/>
        </p:nvSpPr>
        <p:spPr>
          <a:xfrm>
            <a:off x="5343480" y="6689880"/>
            <a:ext cx="184320" cy="45720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3103" name="Text Box 4"/>
          <p:cNvSpPr/>
          <p:nvPr/>
        </p:nvSpPr>
        <p:spPr>
          <a:xfrm>
            <a:off x="1323000" y="971640"/>
            <a:ext cx="6625080" cy="581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ffffff"/>
                </a:solidFill>
                <a:effectLst/>
                <a:uFillTx/>
                <a:latin typeface="Arial"/>
                <a:ea typeface="Arial"/>
              </a:rPr>
              <a:t>La parole est maintenant à vous !</a:t>
            </a:r>
            <a:endParaRPr b="0" lang="en-US" sz="3200" strike="noStrike" u="none">
              <a:solidFill>
                <a:srgbClr val="ffff00"/>
              </a:solidFill>
              <a:effectLst/>
              <a:uFillTx/>
              <a:latin typeface="Times New Roman"/>
            </a:endParaRPr>
          </a:p>
        </p:txBody>
      </p:sp>
    </p:spTree>
  </p:cSld>
  <p:transition spd="med">
    <p:zoom dir="out"/>
  </p:transition>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104" name="Object 2"/>
          <p:cNvGraphicFramePr/>
          <p:nvPr/>
        </p:nvGraphicFramePr>
        <p:xfrm>
          <a:off x="0" y="0"/>
          <a:ext cx="9009000" cy="6858000"/>
        </p:xfrm>
        <a:graphic>
          <a:graphicData uri="http://schemas.openxmlformats.org/presentationml/2006/ole">
            <p:oleObj progId="Word.Document.12" r:id="rId1" spid="">
              <p:embed/>
              <p:pic>
                <p:nvPicPr>
                  <p:cNvPr id="3105" name="Object 2" descr=""/>
                  <p:cNvPicPr/>
                  <p:nvPr/>
                </p:nvPicPr>
                <p:blipFill>
                  <a:blip r:embed="rId2"/>
                  <a:stretch/>
                </p:blipFill>
                <p:spPr>
                  <a:xfrm>
                    <a:off x="0" y="0"/>
                    <a:ext cx="9009000" cy="6858000"/>
                  </a:xfrm>
                  <a:prstGeom prst="rect">
                    <a:avLst/>
                  </a:prstGeom>
                  <a:noFill/>
                  <a:ln w="0">
                    <a:noFill/>
                  </a:ln>
                </p:spPr>
              </p:pic>
            </p:oleObj>
          </a:graphicData>
        </a:graphic>
      </p:graphicFrame>
      <p:sp>
        <p:nvSpPr>
          <p:cNvPr id="3106" name="Line 3"/>
          <p:cNvSpPr/>
          <p:nvPr/>
        </p:nvSpPr>
        <p:spPr>
          <a:xfrm>
            <a:off x="243828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07" name="Line 4"/>
          <p:cNvSpPr/>
          <p:nvPr/>
        </p:nvSpPr>
        <p:spPr>
          <a:xfrm>
            <a:off x="464832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08" name="Line 5"/>
          <p:cNvSpPr/>
          <p:nvPr/>
        </p:nvSpPr>
        <p:spPr>
          <a:xfrm>
            <a:off x="6019920" y="152280"/>
            <a:ext cx="0" cy="670572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09" name="Rectangle 6"/>
          <p:cNvSpPr/>
          <p:nvPr/>
        </p:nvSpPr>
        <p:spPr>
          <a:xfrm>
            <a:off x="0" y="152280"/>
            <a:ext cx="9144000" cy="6705720"/>
          </a:xfrm>
          <a:prstGeom prst="rect">
            <a:avLst/>
          </a:prstGeom>
          <a:noFill/>
          <a:ln w="28440">
            <a:solidFill>
              <a:srgbClr val="ffff00"/>
            </a:solidFill>
            <a:miter/>
          </a:ln>
        </p:spPr>
        <p:style>
          <a:lnRef idx="0"/>
          <a:fillRef idx="0"/>
          <a:effectRef idx="0"/>
          <a:fontRef idx="minor"/>
        </p:style>
        <p:txBody>
          <a:bodyPr wrap="none" lIns="90000" rIns="90000" tIns="46800" bIns="46800" anchor="ctr">
            <a:noAutofit/>
          </a:bodyPr>
          <a:p>
            <a:endParaRPr b="0" lang="en-US" sz="2400" strike="noStrike" u="none">
              <a:solidFill>
                <a:srgbClr val="ffff00"/>
              </a:solidFill>
              <a:effectLst/>
              <a:uFillTx/>
              <a:latin typeface="Times New Roman"/>
            </a:endParaRPr>
          </a:p>
        </p:txBody>
      </p:sp>
      <p:sp>
        <p:nvSpPr>
          <p:cNvPr id="3110" name="Line 7"/>
          <p:cNvSpPr/>
          <p:nvPr/>
        </p:nvSpPr>
        <p:spPr>
          <a:xfrm>
            <a:off x="0" y="1066680"/>
            <a:ext cx="9144000" cy="0"/>
          </a:xfrm>
          <a:prstGeom prst="line">
            <a:avLst/>
          </a:prstGeom>
          <a:ln w="2844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1" name="Line 8"/>
          <p:cNvSpPr/>
          <p:nvPr/>
        </p:nvSpPr>
        <p:spPr>
          <a:xfrm>
            <a:off x="0" y="144792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2" name="Line 9"/>
          <p:cNvSpPr/>
          <p:nvPr/>
        </p:nvSpPr>
        <p:spPr>
          <a:xfrm>
            <a:off x="0" y="20574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3" name="Line 10"/>
          <p:cNvSpPr/>
          <p:nvPr/>
        </p:nvSpPr>
        <p:spPr>
          <a:xfrm>
            <a:off x="0" y="26668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4" name="Line 11"/>
          <p:cNvSpPr/>
          <p:nvPr/>
        </p:nvSpPr>
        <p:spPr>
          <a:xfrm>
            <a:off x="0" y="350532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5" name="Line 12"/>
          <p:cNvSpPr/>
          <p:nvPr/>
        </p:nvSpPr>
        <p:spPr>
          <a:xfrm>
            <a:off x="0" y="40384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6" name="Line 13"/>
          <p:cNvSpPr/>
          <p:nvPr/>
        </p:nvSpPr>
        <p:spPr>
          <a:xfrm>
            <a:off x="0" y="45720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7" name="Line 14"/>
          <p:cNvSpPr/>
          <p:nvPr/>
        </p:nvSpPr>
        <p:spPr>
          <a:xfrm>
            <a:off x="0" y="541008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8" name="Line 15"/>
          <p:cNvSpPr/>
          <p:nvPr/>
        </p:nvSpPr>
        <p:spPr>
          <a:xfrm>
            <a:off x="0" y="59436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19" name="Line 16"/>
          <p:cNvSpPr/>
          <p:nvPr/>
        </p:nvSpPr>
        <p:spPr>
          <a:xfrm>
            <a:off x="0" y="6400800"/>
            <a:ext cx="9144000" cy="0"/>
          </a:xfrm>
          <a:prstGeom prst="line">
            <a:avLst/>
          </a:prstGeom>
          <a:ln w="2844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20" name="Line 17"/>
          <p:cNvSpPr/>
          <p:nvPr/>
        </p:nvSpPr>
        <p:spPr>
          <a:xfrm>
            <a:off x="3505320" y="609480"/>
            <a:ext cx="0" cy="6248520"/>
          </a:xfrm>
          <a:prstGeom prst="line">
            <a:avLst/>
          </a:prstGeom>
          <a:ln w="1908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21" name="Line 18"/>
          <p:cNvSpPr/>
          <p:nvPr/>
        </p:nvSpPr>
        <p:spPr>
          <a:xfrm>
            <a:off x="2438280" y="609480"/>
            <a:ext cx="6705720" cy="0"/>
          </a:xfrm>
          <a:prstGeom prst="line">
            <a:avLst/>
          </a:prstGeom>
          <a:ln w="936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22" name="Line 19"/>
          <p:cNvSpPr/>
          <p:nvPr/>
        </p:nvSpPr>
        <p:spPr>
          <a:xfrm>
            <a:off x="7543800" y="609480"/>
            <a:ext cx="0" cy="6248520"/>
          </a:xfrm>
          <a:prstGeom prst="line">
            <a:avLst/>
          </a:prstGeom>
          <a:ln w="19080">
            <a:solidFill>
              <a:srgbClr val="ffff00"/>
            </a:solidFill>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23" name="Text Box 20"/>
          <p:cNvSpPr/>
          <p:nvPr/>
        </p:nvSpPr>
        <p:spPr>
          <a:xfrm>
            <a:off x="2667600" y="10429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24" name="Text Box 21"/>
          <p:cNvSpPr/>
          <p:nvPr/>
        </p:nvSpPr>
        <p:spPr>
          <a:xfrm>
            <a:off x="3611520" y="955800"/>
            <a:ext cx="24444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3125" name="Text Box 22"/>
          <p:cNvSpPr/>
          <p:nvPr/>
        </p:nvSpPr>
        <p:spPr>
          <a:xfrm>
            <a:off x="3864600" y="10429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26" name="Text Box 23"/>
          <p:cNvSpPr/>
          <p:nvPr/>
        </p:nvSpPr>
        <p:spPr>
          <a:xfrm>
            <a:off x="3687840" y="1638360"/>
            <a:ext cx="244440" cy="274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trike="noStrike" u="none">
              <a:solidFill>
                <a:srgbClr val="ffff00"/>
              </a:solidFill>
              <a:effectLst/>
              <a:uFillTx/>
              <a:latin typeface="Times New Roman"/>
            </a:endParaRPr>
          </a:p>
        </p:txBody>
      </p:sp>
      <p:sp>
        <p:nvSpPr>
          <p:cNvPr id="3127" name="Text Box 24"/>
          <p:cNvSpPr/>
          <p:nvPr/>
        </p:nvSpPr>
        <p:spPr>
          <a:xfrm>
            <a:off x="3810600" y="15001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28" name="Text Box 25"/>
          <p:cNvSpPr/>
          <p:nvPr/>
        </p:nvSpPr>
        <p:spPr>
          <a:xfrm>
            <a:off x="2721600" y="15001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29" name="Text Box 26"/>
          <p:cNvSpPr/>
          <p:nvPr/>
        </p:nvSpPr>
        <p:spPr>
          <a:xfrm>
            <a:off x="6477480" y="218592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30" name="Text Box 27"/>
          <p:cNvSpPr/>
          <p:nvPr/>
        </p:nvSpPr>
        <p:spPr>
          <a:xfrm>
            <a:off x="5029560" y="312408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31" name="Text Box 28"/>
          <p:cNvSpPr/>
          <p:nvPr/>
        </p:nvSpPr>
        <p:spPr>
          <a:xfrm>
            <a:off x="5029560" y="40910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32" name="Text Box 29"/>
          <p:cNvSpPr/>
          <p:nvPr/>
        </p:nvSpPr>
        <p:spPr>
          <a:xfrm>
            <a:off x="5105880" y="649116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33" name="Text Box 30"/>
          <p:cNvSpPr/>
          <p:nvPr/>
        </p:nvSpPr>
        <p:spPr>
          <a:xfrm>
            <a:off x="8077680" y="50054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34" name="Text Box 31"/>
          <p:cNvSpPr/>
          <p:nvPr/>
        </p:nvSpPr>
        <p:spPr>
          <a:xfrm>
            <a:off x="8077680" y="5462640"/>
            <a:ext cx="9054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35" name="Line 32"/>
          <p:cNvSpPr/>
          <p:nvPr/>
        </p:nvSpPr>
        <p:spPr>
          <a:xfrm>
            <a:off x="914400" y="4572000"/>
            <a:ext cx="0" cy="83808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36" name="Line 33"/>
          <p:cNvSpPr/>
          <p:nvPr/>
        </p:nvSpPr>
        <p:spPr>
          <a:xfrm>
            <a:off x="1066680" y="2666880"/>
            <a:ext cx="0" cy="83844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37" name="Text Box 34"/>
          <p:cNvSpPr/>
          <p:nvPr/>
        </p:nvSpPr>
        <p:spPr>
          <a:xfrm>
            <a:off x="1174320" y="3124080"/>
            <a:ext cx="631080" cy="3376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ffff00"/>
                </a:solidFill>
                <a:effectLst/>
                <a:uFillTx/>
                <a:latin typeface="Arial"/>
              </a:rPr>
              <a:t>PMA</a:t>
            </a:r>
            <a:endParaRPr b="0" lang="en-US" sz="1600" strike="noStrike" u="none">
              <a:solidFill>
                <a:srgbClr val="ffff00"/>
              </a:solidFill>
              <a:effectLst/>
              <a:uFillTx/>
              <a:latin typeface="Times New Roman"/>
            </a:endParaRPr>
          </a:p>
        </p:txBody>
      </p:sp>
      <p:sp>
        <p:nvSpPr>
          <p:cNvPr id="3138" name="Line 35"/>
          <p:cNvSpPr/>
          <p:nvPr/>
        </p:nvSpPr>
        <p:spPr>
          <a:xfrm>
            <a:off x="1066680" y="3048120"/>
            <a:ext cx="8077320" cy="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39" name="Text Box 36"/>
          <p:cNvSpPr/>
          <p:nvPr/>
        </p:nvSpPr>
        <p:spPr>
          <a:xfrm>
            <a:off x="5007600" y="15001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0" name="Text Box 37"/>
          <p:cNvSpPr/>
          <p:nvPr/>
        </p:nvSpPr>
        <p:spPr>
          <a:xfrm>
            <a:off x="5007600" y="22096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1" name="Text Box 38"/>
          <p:cNvSpPr/>
          <p:nvPr/>
        </p:nvSpPr>
        <p:spPr>
          <a:xfrm>
            <a:off x="5007600" y="26668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2" name="Text Box 39"/>
          <p:cNvSpPr/>
          <p:nvPr/>
        </p:nvSpPr>
        <p:spPr>
          <a:xfrm>
            <a:off x="3864600" y="411480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3" name="Text Box 40"/>
          <p:cNvSpPr/>
          <p:nvPr/>
        </p:nvSpPr>
        <p:spPr>
          <a:xfrm>
            <a:off x="3864600" y="46483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4" name="Line 41"/>
          <p:cNvSpPr/>
          <p:nvPr/>
        </p:nvSpPr>
        <p:spPr>
          <a:xfrm>
            <a:off x="914400" y="5029200"/>
            <a:ext cx="8229600" cy="0"/>
          </a:xfrm>
          <a:prstGeom prst="line">
            <a:avLst/>
          </a:prstGeom>
          <a:ln w="19080">
            <a:solidFill>
              <a:srgbClr val="ffff00"/>
            </a:solidFill>
            <a:prstDash val="sysDot"/>
            <a:miter/>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45" name="Text Box 42"/>
          <p:cNvSpPr/>
          <p:nvPr/>
        </p:nvSpPr>
        <p:spPr>
          <a:xfrm>
            <a:off x="5040000" y="4648320"/>
            <a:ext cx="96876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 </a:t>
            </a:r>
            <a:endParaRPr b="0" lang="en-US" sz="1800" strike="noStrike" u="none">
              <a:solidFill>
                <a:srgbClr val="ffff00"/>
              </a:solidFill>
              <a:effectLst/>
              <a:uFillTx/>
              <a:latin typeface="Times New Roman"/>
            </a:endParaRPr>
          </a:p>
        </p:txBody>
      </p:sp>
      <p:sp>
        <p:nvSpPr>
          <p:cNvPr id="3146" name="Text Box 43"/>
          <p:cNvSpPr/>
          <p:nvPr/>
        </p:nvSpPr>
        <p:spPr>
          <a:xfrm>
            <a:off x="6455160" y="548640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7" name="Text Box 44"/>
          <p:cNvSpPr/>
          <p:nvPr/>
        </p:nvSpPr>
        <p:spPr>
          <a:xfrm>
            <a:off x="3951000" y="2209680"/>
            <a:ext cx="835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48" name="Text Box 45"/>
          <p:cNvSpPr/>
          <p:nvPr/>
        </p:nvSpPr>
        <p:spPr>
          <a:xfrm>
            <a:off x="6509520" y="35812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49" name="Text Box 46"/>
          <p:cNvSpPr/>
          <p:nvPr/>
        </p:nvSpPr>
        <p:spPr>
          <a:xfrm>
            <a:off x="8186040" y="35812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0" name="Text Box 47"/>
          <p:cNvSpPr/>
          <p:nvPr/>
        </p:nvSpPr>
        <p:spPr>
          <a:xfrm>
            <a:off x="6509520" y="15238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1" name="Text Box 48"/>
          <p:cNvSpPr/>
          <p:nvPr/>
        </p:nvSpPr>
        <p:spPr>
          <a:xfrm>
            <a:off x="3918600" y="31240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2" name="Text Box 49"/>
          <p:cNvSpPr/>
          <p:nvPr/>
        </p:nvSpPr>
        <p:spPr>
          <a:xfrm>
            <a:off x="3842640" y="60199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3" name="Text Box 50"/>
          <p:cNvSpPr/>
          <p:nvPr/>
        </p:nvSpPr>
        <p:spPr>
          <a:xfrm>
            <a:off x="5137920" y="60199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4" name="Text Box 51"/>
          <p:cNvSpPr/>
          <p:nvPr/>
        </p:nvSpPr>
        <p:spPr>
          <a:xfrm>
            <a:off x="3842640" y="649116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5" name="Text Box 52"/>
          <p:cNvSpPr/>
          <p:nvPr/>
        </p:nvSpPr>
        <p:spPr>
          <a:xfrm>
            <a:off x="2775600" y="26668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6" name="Text Box 53"/>
          <p:cNvSpPr/>
          <p:nvPr/>
        </p:nvSpPr>
        <p:spPr>
          <a:xfrm>
            <a:off x="2775600" y="411480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7" name="Text Box 54"/>
          <p:cNvSpPr/>
          <p:nvPr/>
        </p:nvSpPr>
        <p:spPr>
          <a:xfrm>
            <a:off x="2775600" y="464832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8" name="Text Box 55"/>
          <p:cNvSpPr/>
          <p:nvPr/>
        </p:nvSpPr>
        <p:spPr>
          <a:xfrm>
            <a:off x="6509520" y="502920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59" name="Text Box 56"/>
          <p:cNvSpPr/>
          <p:nvPr/>
        </p:nvSpPr>
        <p:spPr>
          <a:xfrm>
            <a:off x="2743200" y="312408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60" name="Text Box 57"/>
          <p:cNvSpPr/>
          <p:nvPr/>
        </p:nvSpPr>
        <p:spPr>
          <a:xfrm>
            <a:off x="2819520" y="601992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61" name="Text Box 58"/>
          <p:cNvSpPr/>
          <p:nvPr/>
        </p:nvSpPr>
        <p:spPr>
          <a:xfrm>
            <a:off x="5029200" y="1066680"/>
            <a:ext cx="60948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62" name="Text Box 59"/>
          <p:cNvSpPr/>
          <p:nvPr/>
        </p:nvSpPr>
        <p:spPr>
          <a:xfrm>
            <a:off x="5105520" y="548640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63" name="Text Box 60"/>
          <p:cNvSpPr/>
          <p:nvPr/>
        </p:nvSpPr>
        <p:spPr>
          <a:xfrm>
            <a:off x="2819520" y="649116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64" name="Text Box 61"/>
          <p:cNvSpPr/>
          <p:nvPr/>
        </p:nvSpPr>
        <p:spPr>
          <a:xfrm>
            <a:off x="6541920" y="3124080"/>
            <a:ext cx="835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165" name="Text Box 62"/>
          <p:cNvSpPr/>
          <p:nvPr/>
        </p:nvSpPr>
        <p:spPr>
          <a:xfrm>
            <a:off x="7878600" y="2022480"/>
            <a:ext cx="24480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3166" name="Text Box 63"/>
          <p:cNvSpPr/>
          <p:nvPr/>
        </p:nvSpPr>
        <p:spPr>
          <a:xfrm>
            <a:off x="7878600" y="2022480"/>
            <a:ext cx="24480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3167" name="Text Box 64"/>
          <p:cNvSpPr/>
          <p:nvPr/>
        </p:nvSpPr>
        <p:spPr>
          <a:xfrm>
            <a:off x="7650000" y="2098800"/>
            <a:ext cx="244800" cy="342720"/>
          </a:xfrm>
          <a:prstGeom prst="rect">
            <a:avLst/>
          </a:prstGeom>
          <a:noFill/>
          <a:ln w="0">
            <a:noFill/>
          </a:ln>
        </p:spPr>
        <p:style>
          <a:lnRef idx="0"/>
          <a:fillRef idx="0"/>
          <a:effectRef idx="0"/>
          <a:fontRef idx="minor"/>
        </p:style>
        <p:txBody>
          <a:bodyPr wrap="none" lIns="90000" rIns="90000" tIns="46800" bIns="46800" anchor="t">
            <a:spAutoFit/>
          </a:bodyPr>
          <a:p>
            <a:endParaRPr b="0" lang="en-US" sz="2400" strike="noStrike" u="none">
              <a:solidFill>
                <a:srgbClr val="ffff00"/>
              </a:solidFill>
              <a:effectLst/>
              <a:uFillTx/>
              <a:latin typeface="Times New Roman"/>
            </a:endParaRPr>
          </a:p>
        </p:txBody>
      </p:sp>
      <p:sp>
        <p:nvSpPr>
          <p:cNvPr id="3168" name="Line 65"/>
          <p:cNvSpPr/>
          <p:nvPr/>
        </p:nvSpPr>
        <p:spPr>
          <a:xfrm>
            <a:off x="7848720" y="17524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69" name="Line 66"/>
          <p:cNvSpPr/>
          <p:nvPr/>
        </p:nvSpPr>
        <p:spPr>
          <a:xfrm>
            <a:off x="8153280" y="17524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0" name="Line 67"/>
          <p:cNvSpPr/>
          <p:nvPr/>
        </p:nvSpPr>
        <p:spPr>
          <a:xfrm>
            <a:off x="784872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1" name="Line 68"/>
          <p:cNvSpPr/>
          <p:nvPr/>
        </p:nvSpPr>
        <p:spPr>
          <a:xfrm>
            <a:off x="815328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2" name="Line 69"/>
          <p:cNvSpPr/>
          <p:nvPr/>
        </p:nvSpPr>
        <p:spPr>
          <a:xfrm>
            <a:off x="678168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3" name="Line 70"/>
          <p:cNvSpPr/>
          <p:nvPr/>
        </p:nvSpPr>
        <p:spPr>
          <a:xfrm>
            <a:off x="7086600" y="28195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4" name="Line 71"/>
          <p:cNvSpPr/>
          <p:nvPr/>
        </p:nvSpPr>
        <p:spPr>
          <a:xfrm>
            <a:off x="807732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5" name="Line 72"/>
          <p:cNvSpPr/>
          <p:nvPr/>
        </p:nvSpPr>
        <p:spPr>
          <a:xfrm>
            <a:off x="838188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6" name="Line 73"/>
          <p:cNvSpPr/>
          <p:nvPr/>
        </p:nvSpPr>
        <p:spPr>
          <a:xfrm>
            <a:off x="838188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7" name="Line 74"/>
          <p:cNvSpPr/>
          <p:nvPr/>
        </p:nvSpPr>
        <p:spPr>
          <a:xfrm>
            <a:off x="868680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8" name="Line 75"/>
          <p:cNvSpPr/>
          <p:nvPr/>
        </p:nvSpPr>
        <p:spPr>
          <a:xfrm>
            <a:off x="830592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79" name="Line 76"/>
          <p:cNvSpPr/>
          <p:nvPr/>
        </p:nvSpPr>
        <p:spPr>
          <a:xfrm>
            <a:off x="861048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0" name="Text Box 77"/>
          <p:cNvSpPr/>
          <p:nvPr/>
        </p:nvSpPr>
        <p:spPr>
          <a:xfrm>
            <a:off x="7881120" y="31240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81" name="Line 78"/>
          <p:cNvSpPr/>
          <p:nvPr/>
        </p:nvSpPr>
        <p:spPr>
          <a:xfrm>
            <a:off x="792468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2" name="Line 79"/>
          <p:cNvSpPr/>
          <p:nvPr/>
        </p:nvSpPr>
        <p:spPr>
          <a:xfrm>
            <a:off x="822960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3" name="Line 80"/>
          <p:cNvSpPr/>
          <p:nvPr/>
        </p:nvSpPr>
        <p:spPr>
          <a:xfrm>
            <a:off x="853452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4" name="Line 81"/>
          <p:cNvSpPr/>
          <p:nvPr/>
        </p:nvSpPr>
        <p:spPr>
          <a:xfrm>
            <a:off x="632448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5" name="Line 82"/>
          <p:cNvSpPr/>
          <p:nvPr/>
        </p:nvSpPr>
        <p:spPr>
          <a:xfrm>
            <a:off x="662940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6" name="Line 83"/>
          <p:cNvSpPr/>
          <p:nvPr/>
        </p:nvSpPr>
        <p:spPr>
          <a:xfrm>
            <a:off x="6934320" y="66294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7" name="Line 84"/>
          <p:cNvSpPr/>
          <p:nvPr/>
        </p:nvSpPr>
        <p:spPr>
          <a:xfrm>
            <a:off x="640080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8" name="Line 85"/>
          <p:cNvSpPr/>
          <p:nvPr/>
        </p:nvSpPr>
        <p:spPr>
          <a:xfrm>
            <a:off x="670572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89" name="Line 86"/>
          <p:cNvSpPr/>
          <p:nvPr/>
        </p:nvSpPr>
        <p:spPr>
          <a:xfrm>
            <a:off x="7010280" y="48006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0" name="Line 87"/>
          <p:cNvSpPr/>
          <p:nvPr/>
        </p:nvSpPr>
        <p:spPr>
          <a:xfrm>
            <a:off x="640080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1" name="Line 88"/>
          <p:cNvSpPr/>
          <p:nvPr/>
        </p:nvSpPr>
        <p:spPr>
          <a:xfrm>
            <a:off x="670572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2" name="Line 89"/>
          <p:cNvSpPr/>
          <p:nvPr/>
        </p:nvSpPr>
        <p:spPr>
          <a:xfrm>
            <a:off x="701028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3" name="Line 90"/>
          <p:cNvSpPr/>
          <p:nvPr/>
        </p:nvSpPr>
        <p:spPr>
          <a:xfrm>
            <a:off x="784872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4" name="Line 91"/>
          <p:cNvSpPr/>
          <p:nvPr/>
        </p:nvSpPr>
        <p:spPr>
          <a:xfrm>
            <a:off x="815328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5" name="Line 92"/>
          <p:cNvSpPr/>
          <p:nvPr/>
        </p:nvSpPr>
        <p:spPr>
          <a:xfrm>
            <a:off x="8458200" y="426708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196" name="Text Box 93"/>
          <p:cNvSpPr/>
          <p:nvPr/>
        </p:nvSpPr>
        <p:spPr>
          <a:xfrm>
            <a:off x="7924680" y="6019920"/>
            <a:ext cx="3812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97" name="Text Box 94"/>
          <p:cNvSpPr/>
          <p:nvPr/>
        </p:nvSpPr>
        <p:spPr>
          <a:xfrm>
            <a:off x="6324480" y="2666880"/>
            <a:ext cx="38124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198" name="Text Box 95"/>
          <p:cNvSpPr/>
          <p:nvPr/>
        </p:nvSpPr>
        <p:spPr>
          <a:xfrm>
            <a:off x="7804800" y="2209680"/>
            <a:ext cx="63828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a:t>
            </a:r>
            <a:endParaRPr b="0" lang="en-US" sz="1800" strike="noStrike" u="none">
              <a:solidFill>
                <a:srgbClr val="ffff00"/>
              </a:solidFill>
              <a:effectLst/>
              <a:uFillTx/>
              <a:latin typeface="Times New Roman"/>
            </a:endParaRPr>
          </a:p>
        </p:txBody>
      </p:sp>
      <p:sp>
        <p:nvSpPr>
          <p:cNvPr id="3199" name="Line 96"/>
          <p:cNvSpPr/>
          <p:nvPr/>
        </p:nvSpPr>
        <p:spPr>
          <a:xfrm>
            <a:off x="8305920" y="23623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200" name="Text Box 97"/>
          <p:cNvSpPr/>
          <p:nvPr/>
        </p:nvSpPr>
        <p:spPr>
          <a:xfrm>
            <a:off x="3864600" y="266688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201" name="Line 98"/>
          <p:cNvSpPr/>
          <p:nvPr/>
        </p:nvSpPr>
        <p:spPr>
          <a:xfrm>
            <a:off x="7162920" y="327672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202" name="Text Box 99"/>
          <p:cNvSpPr/>
          <p:nvPr/>
        </p:nvSpPr>
        <p:spPr>
          <a:xfrm>
            <a:off x="5105520" y="3581280"/>
            <a:ext cx="380880" cy="64260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
        <p:nvSpPr>
          <p:cNvPr id="3203" name="Text Box 100"/>
          <p:cNvSpPr/>
          <p:nvPr/>
        </p:nvSpPr>
        <p:spPr>
          <a:xfrm>
            <a:off x="6379200" y="6019920"/>
            <a:ext cx="77184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 + </a:t>
            </a:r>
            <a:endParaRPr b="0" lang="en-US" sz="1800" strike="noStrike" u="none">
              <a:solidFill>
                <a:srgbClr val="ffff00"/>
              </a:solidFill>
              <a:effectLst/>
              <a:uFillTx/>
              <a:latin typeface="Times New Roman"/>
            </a:endParaRPr>
          </a:p>
        </p:txBody>
      </p:sp>
      <p:sp>
        <p:nvSpPr>
          <p:cNvPr id="3204" name="Line 101"/>
          <p:cNvSpPr/>
          <p:nvPr/>
        </p:nvSpPr>
        <p:spPr>
          <a:xfrm>
            <a:off x="7010280" y="6172200"/>
            <a:ext cx="228600" cy="0"/>
          </a:xfrm>
          <a:prstGeom prst="line">
            <a:avLst/>
          </a:prstGeom>
          <a:ln w="19080">
            <a:solidFill>
              <a:srgbClr val="ffff00"/>
            </a:solidFill>
            <a:miter/>
            <a:tailEnd len="med" type="triangle" w="med"/>
          </a:ln>
        </p:spPr>
        <p:style>
          <a:lnRef idx="0"/>
          <a:fillRef idx="0"/>
          <a:effectRef idx="0"/>
          <a:fontRef idx="minor"/>
        </p:style>
        <p:txBody>
          <a:bodyPr lIns="90000" rIns="90000" tIns="-46800" bIns="-46800" anchor="ctr">
            <a:noAutofit/>
          </a:bodyPr>
          <a:p>
            <a:endParaRPr b="0" lang="en-US" sz="2400" strike="noStrike" u="none">
              <a:solidFill>
                <a:srgbClr val="ffff00"/>
              </a:solidFill>
              <a:effectLst/>
              <a:uFillTx/>
              <a:latin typeface="Times New Roman"/>
            </a:endParaRPr>
          </a:p>
        </p:txBody>
      </p:sp>
      <p:sp>
        <p:nvSpPr>
          <p:cNvPr id="3205" name="Text Box 102"/>
          <p:cNvSpPr/>
          <p:nvPr/>
        </p:nvSpPr>
        <p:spPr>
          <a:xfrm>
            <a:off x="2739960" y="2170080"/>
            <a:ext cx="511200" cy="368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ff00"/>
                </a:solidFill>
                <a:effectLst/>
                <a:uFillTx/>
                <a:latin typeface="Arial"/>
              </a:rPr>
              <a:t>+ +</a:t>
            </a:r>
            <a:endParaRPr b="0" lang="en-US" sz="1800" strike="noStrike" u="none">
              <a:solidFill>
                <a:srgbClr val="ffff00"/>
              </a:solidFill>
              <a:effectLst/>
              <a:uFillTx/>
              <a:latin typeface="Times New Roman"/>
            </a:endParaRPr>
          </a:p>
        </p:txBody>
      </p:sp>
    </p:spTree>
  </p:cSld>
  <p:transition spd="med">
    <p:zoom dir="out"/>
  </p:transition>
  <p:timing>
    <p:tnLst>
      <p:par>
        <p:cTn id="2618" dur="indefinite" restart="never" nodeType="tmRoot">
          <p:childTnLst>
            <p:seq>
              <p:cTn id="2619" dur="indefinite" nodeType="mainSeq">
                <p:childTnLst>
                  <p:par>
                    <p:cTn id="2620" nodeType="clickEffect" fill="hold">
                      <p:stCondLst>
                        <p:cond delay="indefinite"/>
                      </p:stCondLst>
                      <p:childTnLst>
                        <p:par>
                          <p:cTn id="2621" nodeType="withEffect" fill="hold">
                            <p:stCondLst>
                              <p:cond delay="0"/>
                            </p:stCondLst>
                            <p:childTnLst>
                              <p:par>
                                <p:cTn id="2622" nodeType="clickEffect" fill="hold" presetClass="entr" presetID="9">
                                  <p:stCondLst>
                                    <p:cond delay="0"/>
                                  </p:stCondLst>
                                  <p:iterate type="lt">
                                    <p:tmAbs val="75"/>
                                  </p:iterate>
                                  <p:childTnLst>
                                    <p:set>
                                      <p:cBhvr>
                                        <p:cTn id="2623" dur="1" fill="hold">
                                          <p:stCondLst>
                                            <p:cond delay="0"/>
                                          </p:stCondLst>
                                        </p:cTn>
                                        <p:tgtEl>
                                          <p:spTgt spid="3123"/>
                                        </p:tgtEl>
                                        <p:attrNameLst>
                                          <p:attrName>style.visibility</p:attrName>
                                        </p:attrNameLst>
                                      </p:cBhvr>
                                      <p:to>
                                        <p:strVal val="visible"/>
                                      </p:to>
                                    </p:set>
                                    <p:animEffect filter="dissolve" transition="in">
                                      <p:cBhvr additive="repl">
                                        <p:cTn id="2624" dur="75"/>
                                        <p:tgtEl>
                                          <p:spTgt spid="3123"/>
                                        </p:tgtEl>
                                      </p:cBhvr>
                                    </p:animEffect>
                                  </p:childTnLst>
                                </p:cTn>
                              </p:par>
                            </p:childTnLst>
                          </p:cTn>
                        </p:par>
                        <p:par>
                          <p:cTn id="2625" nodeType="afterEffect" fill="hold">
                            <p:stCondLst>
                              <p:cond delay="300"/>
                            </p:stCondLst>
                            <p:childTnLst>
                              <p:par>
                                <p:cTn id="2626" nodeType="afterEffect" fill="hold" presetClass="entr" presetID="9">
                                  <p:stCondLst>
                                    <p:cond delay="1000"/>
                                  </p:stCondLst>
                                  <p:iterate type="lt">
                                    <p:tmAbs val="75"/>
                                  </p:iterate>
                                  <p:childTnLst>
                                    <p:set>
                                      <p:cBhvr>
                                        <p:cTn id="2627" dur="1" fill="hold">
                                          <p:stCondLst>
                                            <p:cond delay="0"/>
                                          </p:stCondLst>
                                        </p:cTn>
                                        <p:tgtEl>
                                          <p:spTgt spid="3125"/>
                                        </p:tgtEl>
                                        <p:attrNameLst>
                                          <p:attrName>style.visibility</p:attrName>
                                        </p:attrNameLst>
                                      </p:cBhvr>
                                      <p:to>
                                        <p:strVal val="visible"/>
                                      </p:to>
                                    </p:set>
                                    <p:animEffect filter="dissolve" transition="in">
                                      <p:cBhvr additive="repl">
                                        <p:cTn id="2628" dur="75"/>
                                        <p:tgtEl>
                                          <p:spTgt spid="3125"/>
                                        </p:tgtEl>
                                      </p:cBhvr>
                                    </p:animEffect>
                                  </p:childTnLst>
                                </p:cTn>
                              </p:par>
                            </p:childTnLst>
                          </p:cTn>
                        </p:par>
                        <p:par>
                          <p:cTn id="2629" nodeType="afterEffect" fill="hold">
                            <p:stCondLst>
                              <p:cond delay="1525"/>
                            </p:stCondLst>
                            <p:childTnLst>
                              <p:par>
                                <p:cTn id="2630" nodeType="afterEffect" fill="hold" presetClass="entr" presetID="9">
                                  <p:stCondLst>
                                    <p:cond delay="1000"/>
                                  </p:stCondLst>
                                  <p:iterate type="lt">
                                    <p:tmAbs val="75"/>
                                  </p:iterate>
                                  <p:childTnLst>
                                    <p:set>
                                      <p:cBhvr>
                                        <p:cTn id="2631" dur="1" fill="hold">
                                          <p:stCondLst>
                                            <p:cond delay="0"/>
                                          </p:stCondLst>
                                        </p:cTn>
                                        <p:tgtEl>
                                          <p:spTgt spid="3161"/>
                                        </p:tgtEl>
                                        <p:attrNameLst>
                                          <p:attrName>style.visibility</p:attrName>
                                        </p:attrNameLst>
                                      </p:cBhvr>
                                      <p:to>
                                        <p:strVal val="visible"/>
                                      </p:to>
                                    </p:set>
                                    <p:animEffect filter="dissolve" transition="in">
                                      <p:cBhvr additive="repl">
                                        <p:cTn id="2632" dur="75"/>
                                        <p:tgtEl>
                                          <p:spTgt spid="3161"/>
                                        </p:tgtEl>
                                      </p:cBhvr>
                                    </p:animEffect>
                                  </p:childTnLst>
                                </p:cTn>
                              </p:par>
                            </p:childTnLst>
                          </p:cTn>
                        </p:par>
                      </p:childTnLst>
                    </p:cTn>
                  </p:par>
                  <p:par>
                    <p:cTn id="2633" nodeType="clickEffect" fill="hold">
                      <p:stCondLst>
                        <p:cond delay="indefinite"/>
                      </p:stCondLst>
                      <p:childTnLst>
                        <p:par>
                          <p:cTn id="2634" nodeType="withEffect" fill="hold">
                            <p:stCondLst>
                              <p:cond delay="0"/>
                            </p:stCondLst>
                            <p:childTnLst>
                              <p:par>
                                <p:cTn id="2635" nodeType="clickEffect" fill="hold" presetClass="entr" presetID="9">
                                  <p:stCondLst>
                                    <p:cond delay="0"/>
                                  </p:stCondLst>
                                  <p:iterate type="lt">
                                    <p:tmAbs val="75"/>
                                  </p:iterate>
                                  <p:childTnLst>
                                    <p:set>
                                      <p:cBhvr>
                                        <p:cTn id="2636" dur="1" fill="hold">
                                          <p:stCondLst>
                                            <p:cond delay="0"/>
                                          </p:stCondLst>
                                        </p:cTn>
                                        <p:tgtEl>
                                          <p:spTgt spid="3128"/>
                                        </p:tgtEl>
                                        <p:attrNameLst>
                                          <p:attrName>style.visibility</p:attrName>
                                        </p:attrNameLst>
                                      </p:cBhvr>
                                      <p:to>
                                        <p:strVal val="visible"/>
                                      </p:to>
                                    </p:set>
                                    <p:animEffect filter="dissolve" transition="in">
                                      <p:cBhvr additive="repl">
                                        <p:cTn id="2637" dur="75"/>
                                        <p:tgtEl>
                                          <p:spTgt spid="3128"/>
                                        </p:tgtEl>
                                      </p:cBhvr>
                                    </p:animEffect>
                                  </p:childTnLst>
                                </p:cTn>
                              </p:par>
                            </p:childTnLst>
                          </p:cTn>
                        </p:par>
                        <p:par>
                          <p:cTn id="2638" nodeType="afterEffect" fill="hold">
                            <p:stCondLst>
                              <p:cond delay="225"/>
                            </p:stCondLst>
                            <p:childTnLst>
                              <p:par>
                                <p:cTn id="2639" nodeType="afterEffect" fill="hold" presetClass="entr" presetID="9">
                                  <p:stCondLst>
                                    <p:cond delay="1000"/>
                                  </p:stCondLst>
                                  <p:iterate type="lt">
                                    <p:tmAbs val="75"/>
                                  </p:iterate>
                                  <p:childTnLst>
                                    <p:set>
                                      <p:cBhvr>
                                        <p:cTn id="2640" dur="1" fill="hold">
                                          <p:stCondLst>
                                            <p:cond delay="0"/>
                                          </p:stCondLst>
                                        </p:cTn>
                                        <p:tgtEl>
                                          <p:spTgt spid="3127"/>
                                        </p:tgtEl>
                                        <p:attrNameLst>
                                          <p:attrName>style.visibility</p:attrName>
                                        </p:attrNameLst>
                                      </p:cBhvr>
                                      <p:to>
                                        <p:strVal val="visible"/>
                                      </p:to>
                                    </p:set>
                                    <p:animEffect filter="dissolve" transition="in">
                                      <p:cBhvr additive="repl">
                                        <p:cTn id="2641" dur="75"/>
                                        <p:tgtEl>
                                          <p:spTgt spid="3127"/>
                                        </p:tgtEl>
                                      </p:cBhvr>
                                    </p:animEffect>
                                  </p:childTnLst>
                                </p:cTn>
                              </p:par>
                            </p:childTnLst>
                          </p:cTn>
                        </p:par>
                        <p:par>
                          <p:cTn id="2642" nodeType="afterEffect" fill="hold">
                            <p:stCondLst>
                              <p:cond delay="1525"/>
                            </p:stCondLst>
                            <p:childTnLst>
                              <p:par>
                                <p:cTn id="2643" nodeType="afterEffect" fill="hold" presetClass="entr" presetID="9">
                                  <p:stCondLst>
                                    <p:cond delay="1000"/>
                                  </p:stCondLst>
                                  <p:iterate type="lt">
                                    <p:tmAbs val="75"/>
                                  </p:iterate>
                                  <p:childTnLst>
                                    <p:set>
                                      <p:cBhvr>
                                        <p:cTn id="2644" dur="1" fill="hold">
                                          <p:stCondLst>
                                            <p:cond delay="0"/>
                                          </p:stCondLst>
                                        </p:cTn>
                                        <p:tgtEl>
                                          <p:spTgt spid="3139"/>
                                        </p:tgtEl>
                                        <p:attrNameLst>
                                          <p:attrName>style.visibility</p:attrName>
                                        </p:attrNameLst>
                                      </p:cBhvr>
                                      <p:to>
                                        <p:strVal val="visible"/>
                                      </p:to>
                                    </p:set>
                                    <p:animEffect filter="dissolve" transition="in">
                                      <p:cBhvr additive="repl">
                                        <p:cTn id="2645" dur="75"/>
                                        <p:tgtEl>
                                          <p:spTgt spid="3139"/>
                                        </p:tgtEl>
                                      </p:cBhvr>
                                    </p:animEffect>
                                  </p:childTnLst>
                                </p:cTn>
                              </p:par>
                            </p:childTnLst>
                          </p:cTn>
                        </p:par>
                        <p:par>
                          <p:cTn id="2646" nodeType="afterEffect" fill="hold">
                            <p:stCondLst>
                              <p:cond delay="2750"/>
                            </p:stCondLst>
                            <p:childTnLst>
                              <p:par>
                                <p:cTn id="2647" nodeType="afterEffect" fill="hold" presetClass="entr" presetID="9">
                                  <p:stCondLst>
                                    <p:cond delay="1000"/>
                                  </p:stCondLst>
                                  <p:iterate type="lt">
                                    <p:tmAbs val="75"/>
                                  </p:iterate>
                                  <p:childTnLst>
                                    <p:set>
                                      <p:cBhvr>
                                        <p:cTn id="2648" dur="1" fill="hold">
                                          <p:stCondLst>
                                            <p:cond delay="0"/>
                                          </p:stCondLst>
                                        </p:cTn>
                                        <p:tgtEl>
                                          <p:spTgt spid="3150"/>
                                        </p:tgtEl>
                                        <p:attrNameLst>
                                          <p:attrName>style.visibility</p:attrName>
                                        </p:attrNameLst>
                                      </p:cBhvr>
                                      <p:to>
                                        <p:strVal val="visible"/>
                                      </p:to>
                                    </p:set>
                                    <p:animEffect filter="dissolve" transition="in">
                                      <p:cBhvr additive="repl">
                                        <p:cTn id="2649" dur="75"/>
                                        <p:tgtEl>
                                          <p:spTgt spid="3150"/>
                                        </p:tgtEl>
                                      </p:cBhvr>
                                    </p:animEffect>
                                  </p:childTnLst>
                                </p:cTn>
                              </p:par>
                            </p:childTnLst>
                          </p:cTn>
                        </p:par>
                        <p:par>
                          <p:cTn id="2650" nodeType="afterEffect" fill="hold">
                            <p:stCondLst>
                              <p:cond delay="3900"/>
                            </p:stCondLst>
                            <p:childTnLst>
                              <p:par>
                                <p:cTn id="2651" nodeType="afterEffect" fill="hold" presetClass="entr" presetID="9">
                                  <p:stCondLst>
                                    <p:cond delay="0"/>
                                  </p:stCondLst>
                                  <p:childTnLst>
                                    <p:set>
                                      <p:cBhvr>
                                        <p:cTn id="2652" dur="1" fill="hold">
                                          <p:stCondLst>
                                            <p:cond delay="0"/>
                                          </p:stCondLst>
                                        </p:cTn>
                                        <p:tgtEl>
                                          <p:spTgt spid="3168"/>
                                        </p:tgtEl>
                                        <p:attrNameLst>
                                          <p:attrName>style.visibility</p:attrName>
                                        </p:attrNameLst>
                                      </p:cBhvr>
                                      <p:to>
                                        <p:strVal val="visible"/>
                                      </p:to>
                                    </p:set>
                                    <p:animEffect filter="dissolve" transition="in">
                                      <p:cBhvr additive="repl">
                                        <p:cTn id="2653" dur="500"/>
                                        <p:tgtEl>
                                          <p:spTgt spid="3168"/>
                                        </p:tgtEl>
                                      </p:cBhvr>
                                    </p:animEffect>
                                  </p:childTnLst>
                                </p:cTn>
                              </p:par>
                            </p:childTnLst>
                          </p:cTn>
                        </p:par>
                        <p:par>
                          <p:cTn id="2654" nodeType="afterEffect" fill="hold">
                            <p:stCondLst>
                              <p:cond delay="4400"/>
                            </p:stCondLst>
                            <p:childTnLst>
                              <p:par>
                                <p:cTn id="2655" nodeType="afterEffect" fill="hold" presetClass="entr" presetID="9">
                                  <p:stCondLst>
                                    <p:cond delay="0"/>
                                  </p:stCondLst>
                                  <p:childTnLst>
                                    <p:set>
                                      <p:cBhvr>
                                        <p:cTn id="2656" dur="1" fill="hold">
                                          <p:stCondLst>
                                            <p:cond delay="0"/>
                                          </p:stCondLst>
                                        </p:cTn>
                                        <p:tgtEl>
                                          <p:spTgt spid="3169"/>
                                        </p:tgtEl>
                                        <p:attrNameLst>
                                          <p:attrName>style.visibility</p:attrName>
                                        </p:attrNameLst>
                                      </p:cBhvr>
                                      <p:to>
                                        <p:strVal val="visible"/>
                                      </p:to>
                                    </p:set>
                                    <p:animEffect filter="dissolve" transition="in">
                                      <p:cBhvr additive="repl">
                                        <p:cTn id="2657" dur="500"/>
                                        <p:tgtEl>
                                          <p:spTgt spid="3169"/>
                                        </p:tgtEl>
                                      </p:cBhvr>
                                    </p:animEffect>
                                  </p:childTnLst>
                                </p:cTn>
                              </p:par>
                            </p:childTnLst>
                          </p:cTn>
                        </p:par>
                      </p:childTnLst>
                    </p:cTn>
                  </p:par>
                  <p:par>
                    <p:cTn id="2658" nodeType="clickEffect" fill="hold">
                      <p:stCondLst>
                        <p:cond delay="indefinite"/>
                      </p:stCondLst>
                      <p:childTnLst>
                        <p:par>
                          <p:cTn id="2659" nodeType="withEffect" fill="hold">
                            <p:stCondLst>
                              <p:cond delay="0"/>
                            </p:stCondLst>
                            <p:childTnLst>
                              <p:par>
                                <p:cTn id="2660" nodeType="clickEffect" fill="hold" presetClass="entr" presetID="9">
                                  <p:stCondLst>
                                    <p:cond delay="0"/>
                                  </p:stCondLst>
                                  <p:iterate type="lt">
                                    <p:tmAbs val="75"/>
                                  </p:iterate>
                                  <p:childTnLst>
                                    <p:set>
                                      <p:cBhvr>
                                        <p:cTn id="2661" dur="1" fill="hold">
                                          <p:stCondLst>
                                            <p:cond delay="0"/>
                                          </p:stCondLst>
                                        </p:cTn>
                                        <p:tgtEl>
                                          <p:spTgt spid="3205"/>
                                        </p:tgtEl>
                                        <p:attrNameLst>
                                          <p:attrName>style.visibility</p:attrName>
                                        </p:attrNameLst>
                                      </p:cBhvr>
                                      <p:to>
                                        <p:strVal val="visible"/>
                                      </p:to>
                                    </p:set>
                                    <p:animEffect filter="dissolve" transition="in">
                                      <p:cBhvr additive="repl">
                                        <p:cTn id="2662" dur="75"/>
                                        <p:tgtEl>
                                          <p:spTgt spid="3205"/>
                                        </p:tgtEl>
                                      </p:cBhvr>
                                    </p:animEffect>
                                  </p:childTnLst>
                                </p:cTn>
                              </p:par>
                            </p:childTnLst>
                          </p:cTn>
                        </p:par>
                        <p:par>
                          <p:cTn id="2663" nodeType="afterEffect" fill="hold">
                            <p:stCondLst>
                              <p:cond delay="150"/>
                            </p:stCondLst>
                            <p:childTnLst>
                              <p:par>
                                <p:cTn id="2664" nodeType="afterEffect" fill="hold" presetClass="entr" presetID="9">
                                  <p:stCondLst>
                                    <p:cond delay="1000"/>
                                  </p:stCondLst>
                                  <p:iterate type="lt">
                                    <p:tmAbs val="75"/>
                                  </p:iterate>
                                  <p:childTnLst>
                                    <p:set>
                                      <p:cBhvr>
                                        <p:cTn id="2665" dur="1" fill="hold">
                                          <p:stCondLst>
                                            <p:cond delay="0"/>
                                          </p:stCondLst>
                                        </p:cTn>
                                        <p:tgtEl>
                                          <p:spTgt spid="3147"/>
                                        </p:tgtEl>
                                        <p:attrNameLst>
                                          <p:attrName>style.visibility</p:attrName>
                                        </p:attrNameLst>
                                      </p:cBhvr>
                                      <p:to>
                                        <p:strVal val="visible"/>
                                      </p:to>
                                    </p:set>
                                    <p:animEffect filter="dissolve" transition="in">
                                      <p:cBhvr additive="repl">
                                        <p:cTn id="2666" dur="75"/>
                                        <p:tgtEl>
                                          <p:spTgt spid="3147"/>
                                        </p:tgtEl>
                                      </p:cBhvr>
                                    </p:animEffect>
                                  </p:childTnLst>
                                </p:cTn>
                              </p:par>
                            </p:childTnLst>
                          </p:cTn>
                        </p:par>
                        <p:par>
                          <p:cTn id="2667" nodeType="afterEffect" fill="hold">
                            <p:stCondLst>
                              <p:cond delay="1375"/>
                            </p:stCondLst>
                            <p:childTnLst>
                              <p:par>
                                <p:cTn id="2668" nodeType="afterEffect" fill="hold" presetClass="entr" presetID="9">
                                  <p:stCondLst>
                                    <p:cond delay="1000"/>
                                  </p:stCondLst>
                                  <p:iterate type="lt">
                                    <p:tmAbs val="75"/>
                                  </p:iterate>
                                  <p:childTnLst>
                                    <p:set>
                                      <p:cBhvr>
                                        <p:cTn id="2669" dur="1" fill="hold">
                                          <p:stCondLst>
                                            <p:cond delay="0"/>
                                          </p:stCondLst>
                                        </p:cTn>
                                        <p:tgtEl>
                                          <p:spTgt spid="3140"/>
                                        </p:tgtEl>
                                        <p:attrNameLst>
                                          <p:attrName>style.visibility</p:attrName>
                                        </p:attrNameLst>
                                      </p:cBhvr>
                                      <p:to>
                                        <p:strVal val="visible"/>
                                      </p:to>
                                    </p:set>
                                    <p:animEffect filter="dissolve" transition="in">
                                      <p:cBhvr additive="repl">
                                        <p:cTn id="2670" dur="75"/>
                                        <p:tgtEl>
                                          <p:spTgt spid="3140"/>
                                        </p:tgtEl>
                                      </p:cBhvr>
                                    </p:animEffect>
                                  </p:childTnLst>
                                </p:cTn>
                              </p:par>
                            </p:childTnLst>
                          </p:cTn>
                        </p:par>
                        <p:par>
                          <p:cTn id="2671" nodeType="afterEffect" fill="hold">
                            <p:stCondLst>
                              <p:cond delay="2600"/>
                            </p:stCondLst>
                            <p:childTnLst>
                              <p:par>
                                <p:cTn id="2672" nodeType="afterEffect" fill="hold" presetClass="entr" presetID="9">
                                  <p:stCondLst>
                                    <p:cond delay="1000"/>
                                  </p:stCondLst>
                                  <p:iterate type="lt">
                                    <p:tmAbs val="75"/>
                                  </p:iterate>
                                  <p:childTnLst>
                                    <p:set>
                                      <p:cBhvr>
                                        <p:cTn id="2673" dur="1" fill="hold">
                                          <p:stCondLst>
                                            <p:cond delay="0"/>
                                          </p:stCondLst>
                                        </p:cTn>
                                        <p:tgtEl>
                                          <p:spTgt spid="3129"/>
                                        </p:tgtEl>
                                        <p:attrNameLst>
                                          <p:attrName>style.visibility</p:attrName>
                                        </p:attrNameLst>
                                      </p:cBhvr>
                                      <p:to>
                                        <p:strVal val="visible"/>
                                      </p:to>
                                    </p:set>
                                    <p:animEffect filter="dissolve" transition="in">
                                      <p:cBhvr additive="repl">
                                        <p:cTn id="2674" dur="75"/>
                                        <p:tgtEl>
                                          <p:spTgt spid="3129"/>
                                        </p:tgtEl>
                                      </p:cBhvr>
                                    </p:animEffect>
                                  </p:childTnLst>
                                </p:cTn>
                              </p:par>
                            </p:childTnLst>
                          </p:cTn>
                        </p:par>
                        <p:par>
                          <p:cTn id="2675" nodeType="afterEffect" fill="hold">
                            <p:stCondLst>
                              <p:cond delay="3900"/>
                            </p:stCondLst>
                            <p:childTnLst>
                              <p:par>
                                <p:cTn id="2676" nodeType="afterEffect" fill="hold" presetClass="entr" presetID="9">
                                  <p:stCondLst>
                                    <p:cond delay="1000"/>
                                  </p:stCondLst>
                                  <p:iterate type="lt">
                                    <p:tmAbs val="75"/>
                                  </p:iterate>
                                  <p:childTnLst>
                                    <p:set>
                                      <p:cBhvr>
                                        <p:cTn id="2677" dur="1" fill="hold">
                                          <p:stCondLst>
                                            <p:cond delay="0"/>
                                          </p:stCondLst>
                                        </p:cTn>
                                        <p:tgtEl>
                                          <p:spTgt spid="3198"/>
                                        </p:tgtEl>
                                        <p:attrNameLst>
                                          <p:attrName>style.visibility</p:attrName>
                                        </p:attrNameLst>
                                      </p:cBhvr>
                                      <p:to>
                                        <p:strVal val="visible"/>
                                      </p:to>
                                    </p:set>
                                    <p:animEffect filter="dissolve" transition="in">
                                      <p:cBhvr additive="repl">
                                        <p:cTn id="2678" dur="75"/>
                                        <p:tgtEl>
                                          <p:spTgt spid="3198"/>
                                        </p:tgtEl>
                                      </p:cBhvr>
                                    </p:animEffect>
                                  </p:childTnLst>
                                </p:cTn>
                              </p:par>
                            </p:childTnLst>
                          </p:cTn>
                        </p:par>
                        <p:par>
                          <p:cTn id="2679" nodeType="afterEffect" fill="hold">
                            <p:stCondLst>
                              <p:cond delay="5050"/>
                            </p:stCondLst>
                            <p:childTnLst>
                              <p:par>
                                <p:cTn id="2680" nodeType="afterEffect" fill="hold" presetClass="entr" presetID="17" presetSubtype="8">
                                  <p:stCondLst>
                                    <p:cond delay="0"/>
                                  </p:stCondLst>
                                  <p:childTnLst>
                                    <p:set>
                                      <p:cBhvr>
                                        <p:cTn id="2681" dur="1" fill="hold">
                                          <p:stCondLst>
                                            <p:cond delay="0"/>
                                          </p:stCondLst>
                                        </p:cTn>
                                        <p:tgtEl>
                                          <p:spTgt spid="3199"/>
                                        </p:tgtEl>
                                        <p:attrNameLst>
                                          <p:attrName>style.visibility</p:attrName>
                                        </p:attrNameLst>
                                      </p:cBhvr>
                                      <p:to>
                                        <p:strVal val="visible"/>
                                      </p:to>
                                    </p:set>
                                    <p:anim calcmode="lin" valueType="num">
                                      <p:cBhvr additive="repl">
                                        <p:cTn id="2682" dur="500" fill="hold"/>
                                        <p:tgtEl>
                                          <p:spTgt spid="3199"/>
                                        </p:tgtEl>
                                        <p:attrNameLst>
                                          <p:attrName>ppt_x</p:attrName>
                                        </p:attrNameLst>
                                      </p:cBhvr>
                                      <p:tavLst>
                                        <p:tav tm="0">
                                          <p:val>
                                            <p:strVal val="#ppt_x-#ppt_w/2"/>
                                          </p:val>
                                        </p:tav>
                                        <p:tav tm="100000">
                                          <p:val>
                                            <p:strVal val="#ppt_x"/>
                                          </p:val>
                                        </p:tav>
                                      </p:tavLst>
                                    </p:anim>
                                    <p:anim calcmode="lin" valueType="num">
                                      <p:cBhvr additive="repl">
                                        <p:cTn id="2683" dur="500" fill="hold"/>
                                        <p:tgtEl>
                                          <p:spTgt spid="3199"/>
                                        </p:tgtEl>
                                        <p:attrNameLst>
                                          <p:attrName>ppt_y</p:attrName>
                                        </p:attrNameLst>
                                      </p:cBhvr>
                                      <p:tavLst>
                                        <p:tav tm="0">
                                          <p:val>
                                            <p:strVal val="#ppt_y"/>
                                          </p:val>
                                        </p:tav>
                                        <p:tav tm="100000">
                                          <p:val>
                                            <p:strVal val="#ppt_y"/>
                                          </p:val>
                                        </p:tav>
                                      </p:tavLst>
                                    </p:anim>
                                    <p:anim calcmode="lin" valueType="num">
                                      <p:cBhvr additive="repl">
                                        <p:cTn id="2684" dur="500" fill="hold"/>
                                        <p:tgtEl>
                                          <p:spTgt spid="3199"/>
                                        </p:tgtEl>
                                        <p:attrNameLst>
                                          <p:attrName>ppt_w</p:attrName>
                                        </p:attrNameLst>
                                      </p:cBhvr>
                                      <p:tavLst>
                                        <p:tav tm="0">
                                          <p:val>
                                            <p:fltVal val="0"/>
                                          </p:val>
                                        </p:tav>
                                        <p:tav tm="100000">
                                          <p:val>
                                            <p:strVal val="#ppt_w"/>
                                          </p:val>
                                        </p:tav>
                                      </p:tavLst>
                                    </p:anim>
                                    <p:anim calcmode="lin" valueType="num">
                                      <p:cBhvr additive="repl">
                                        <p:cTn id="2685" dur="500" fill="hold"/>
                                        <p:tgtEl>
                                          <p:spTgt spid="3199"/>
                                        </p:tgtEl>
                                        <p:attrNameLst>
                                          <p:attrName>ppt_h</p:attrName>
                                        </p:attrNameLst>
                                      </p:cBhvr>
                                      <p:tavLst>
                                        <p:tav tm="0">
                                          <p:val>
                                            <p:strVal val="#ppt_h"/>
                                          </p:val>
                                        </p:tav>
                                        <p:tav tm="100000">
                                          <p:val>
                                            <p:strVal val="#ppt_h"/>
                                          </p:val>
                                        </p:tav>
                                      </p:tavLst>
                                    </p:anim>
                                  </p:childTnLst>
                                </p:cTn>
                              </p:par>
                            </p:childTnLst>
                          </p:cTn>
                        </p:par>
                      </p:childTnLst>
                    </p:cTn>
                  </p:par>
                  <p:par>
                    <p:cTn id="2686" nodeType="clickEffect" fill="hold">
                      <p:stCondLst>
                        <p:cond delay="indefinite"/>
                      </p:stCondLst>
                      <p:childTnLst>
                        <p:par>
                          <p:cTn id="2687" nodeType="withEffect" fill="hold">
                            <p:stCondLst>
                              <p:cond delay="0"/>
                            </p:stCondLst>
                            <p:childTnLst>
                              <p:par>
                                <p:cTn id="2688" nodeType="clickEffect" fill="hold" presetClass="entr" presetID="9">
                                  <p:stCondLst>
                                    <p:cond delay="0"/>
                                  </p:stCondLst>
                                  <p:iterate type="lt">
                                    <p:tmAbs val="75"/>
                                  </p:iterate>
                                  <p:childTnLst>
                                    <p:set>
                                      <p:cBhvr>
                                        <p:cTn id="2689" dur="1" fill="hold">
                                          <p:stCondLst>
                                            <p:cond delay="0"/>
                                          </p:stCondLst>
                                        </p:cTn>
                                        <p:tgtEl>
                                          <p:spTgt spid="3155"/>
                                        </p:tgtEl>
                                        <p:attrNameLst>
                                          <p:attrName>style.visibility</p:attrName>
                                        </p:attrNameLst>
                                      </p:cBhvr>
                                      <p:to>
                                        <p:strVal val="visible"/>
                                      </p:to>
                                    </p:set>
                                    <p:animEffect filter="dissolve" transition="in">
                                      <p:cBhvr additive="repl">
                                        <p:cTn id="2690" dur="75"/>
                                        <p:tgtEl>
                                          <p:spTgt spid="3155"/>
                                        </p:tgtEl>
                                      </p:cBhvr>
                                    </p:animEffect>
                                  </p:childTnLst>
                                </p:cTn>
                              </p:par>
                            </p:childTnLst>
                          </p:cTn>
                        </p:par>
                        <p:par>
                          <p:cTn id="2691" nodeType="afterEffect" fill="hold">
                            <p:stCondLst>
                              <p:cond delay="150"/>
                            </p:stCondLst>
                            <p:childTnLst>
                              <p:par>
                                <p:cTn id="2692" nodeType="afterEffect" fill="hold" presetClass="entr" presetID="9">
                                  <p:stCondLst>
                                    <p:cond delay="1000"/>
                                  </p:stCondLst>
                                  <p:iterate type="lt">
                                    <p:tmAbs val="75"/>
                                  </p:iterate>
                                  <p:childTnLst>
                                    <p:set>
                                      <p:cBhvr>
                                        <p:cTn id="2693" dur="1" fill="hold">
                                          <p:stCondLst>
                                            <p:cond delay="0"/>
                                          </p:stCondLst>
                                        </p:cTn>
                                        <p:tgtEl>
                                          <p:spTgt spid="3200"/>
                                        </p:tgtEl>
                                        <p:attrNameLst>
                                          <p:attrName>style.visibility</p:attrName>
                                        </p:attrNameLst>
                                      </p:cBhvr>
                                      <p:to>
                                        <p:strVal val="visible"/>
                                      </p:to>
                                    </p:set>
                                    <p:animEffect filter="dissolve" transition="in">
                                      <p:cBhvr additive="repl">
                                        <p:cTn id="2694" dur="75"/>
                                        <p:tgtEl>
                                          <p:spTgt spid="3200"/>
                                        </p:tgtEl>
                                      </p:cBhvr>
                                    </p:animEffect>
                                  </p:childTnLst>
                                </p:cTn>
                              </p:par>
                            </p:childTnLst>
                          </p:cTn>
                        </p:par>
                        <p:par>
                          <p:cTn id="2695" nodeType="afterEffect" fill="hold">
                            <p:stCondLst>
                              <p:cond delay="1375"/>
                            </p:stCondLst>
                            <p:childTnLst>
                              <p:par>
                                <p:cTn id="2696" nodeType="afterEffect" fill="hold" presetClass="entr" presetID="9">
                                  <p:stCondLst>
                                    <p:cond delay="1000"/>
                                  </p:stCondLst>
                                  <p:iterate type="lt">
                                    <p:tmAbs val="75"/>
                                  </p:iterate>
                                  <p:childTnLst>
                                    <p:set>
                                      <p:cBhvr>
                                        <p:cTn id="2697" dur="1" fill="hold">
                                          <p:stCondLst>
                                            <p:cond delay="0"/>
                                          </p:stCondLst>
                                        </p:cTn>
                                        <p:tgtEl>
                                          <p:spTgt spid="3141"/>
                                        </p:tgtEl>
                                        <p:attrNameLst>
                                          <p:attrName>style.visibility</p:attrName>
                                        </p:attrNameLst>
                                      </p:cBhvr>
                                      <p:to>
                                        <p:strVal val="visible"/>
                                      </p:to>
                                    </p:set>
                                    <p:animEffect filter="dissolve" transition="in">
                                      <p:cBhvr additive="repl">
                                        <p:cTn id="2698" dur="75"/>
                                        <p:tgtEl>
                                          <p:spTgt spid="3141"/>
                                        </p:tgtEl>
                                      </p:cBhvr>
                                    </p:animEffect>
                                  </p:childTnLst>
                                </p:cTn>
                              </p:par>
                            </p:childTnLst>
                          </p:cTn>
                        </p:par>
                        <p:par>
                          <p:cTn id="2699" nodeType="afterEffect" fill="hold">
                            <p:stCondLst>
                              <p:cond delay="2600"/>
                            </p:stCondLst>
                            <p:childTnLst>
                              <p:par>
                                <p:cTn id="2700" nodeType="afterEffect" fill="hold" presetClass="entr" presetID="9">
                                  <p:stCondLst>
                                    <p:cond delay="1000"/>
                                  </p:stCondLst>
                                  <p:iterate type="lt">
                                    <p:tmAbs val="75"/>
                                  </p:iterate>
                                  <p:childTnLst>
                                    <p:set>
                                      <p:cBhvr>
                                        <p:cTn id="2701" dur="1" fill="hold">
                                          <p:stCondLst>
                                            <p:cond delay="0"/>
                                          </p:stCondLst>
                                        </p:cTn>
                                        <p:tgtEl>
                                          <p:spTgt spid="3197"/>
                                        </p:tgtEl>
                                        <p:attrNameLst>
                                          <p:attrName>style.visibility</p:attrName>
                                        </p:attrNameLst>
                                      </p:cBhvr>
                                      <p:to>
                                        <p:strVal val="visible"/>
                                      </p:to>
                                    </p:set>
                                    <p:animEffect filter="dissolve" transition="in">
                                      <p:cBhvr additive="repl">
                                        <p:cTn id="2702" dur="75"/>
                                        <p:tgtEl>
                                          <p:spTgt spid="3197"/>
                                        </p:tgtEl>
                                      </p:cBhvr>
                                    </p:animEffect>
                                  </p:childTnLst>
                                </p:cTn>
                              </p:par>
                            </p:childTnLst>
                          </p:cTn>
                        </p:par>
                        <p:par>
                          <p:cTn id="2703" nodeType="afterEffect" fill="hold">
                            <p:stCondLst>
                              <p:cond delay="3675"/>
                            </p:stCondLst>
                            <p:childTnLst>
                              <p:par>
                                <p:cTn id="2704" nodeType="afterEffect" fill="hold" presetClass="entr" presetID="17" presetSubtype="8">
                                  <p:stCondLst>
                                    <p:cond delay="0"/>
                                  </p:stCondLst>
                                  <p:childTnLst>
                                    <p:set>
                                      <p:cBhvr>
                                        <p:cTn id="2705" dur="1" fill="hold">
                                          <p:stCondLst>
                                            <p:cond delay="0"/>
                                          </p:stCondLst>
                                        </p:cTn>
                                        <p:tgtEl>
                                          <p:spTgt spid="3172"/>
                                        </p:tgtEl>
                                        <p:attrNameLst>
                                          <p:attrName>style.visibility</p:attrName>
                                        </p:attrNameLst>
                                      </p:cBhvr>
                                      <p:to>
                                        <p:strVal val="visible"/>
                                      </p:to>
                                    </p:set>
                                    <p:anim calcmode="lin" valueType="num">
                                      <p:cBhvr additive="repl">
                                        <p:cTn id="2706" dur="500" fill="hold"/>
                                        <p:tgtEl>
                                          <p:spTgt spid="3172"/>
                                        </p:tgtEl>
                                        <p:attrNameLst>
                                          <p:attrName>ppt_x</p:attrName>
                                        </p:attrNameLst>
                                      </p:cBhvr>
                                      <p:tavLst>
                                        <p:tav tm="0">
                                          <p:val>
                                            <p:strVal val="#ppt_x-#ppt_w/2"/>
                                          </p:val>
                                        </p:tav>
                                        <p:tav tm="100000">
                                          <p:val>
                                            <p:strVal val="#ppt_x"/>
                                          </p:val>
                                        </p:tav>
                                      </p:tavLst>
                                    </p:anim>
                                    <p:anim calcmode="lin" valueType="num">
                                      <p:cBhvr additive="repl">
                                        <p:cTn id="2707" dur="500" fill="hold"/>
                                        <p:tgtEl>
                                          <p:spTgt spid="3172"/>
                                        </p:tgtEl>
                                        <p:attrNameLst>
                                          <p:attrName>ppt_y</p:attrName>
                                        </p:attrNameLst>
                                      </p:cBhvr>
                                      <p:tavLst>
                                        <p:tav tm="0">
                                          <p:val>
                                            <p:strVal val="#ppt_y"/>
                                          </p:val>
                                        </p:tav>
                                        <p:tav tm="100000">
                                          <p:val>
                                            <p:strVal val="#ppt_y"/>
                                          </p:val>
                                        </p:tav>
                                      </p:tavLst>
                                    </p:anim>
                                    <p:anim calcmode="lin" valueType="num">
                                      <p:cBhvr additive="repl">
                                        <p:cTn id="2708" dur="500" fill="hold"/>
                                        <p:tgtEl>
                                          <p:spTgt spid="3172"/>
                                        </p:tgtEl>
                                        <p:attrNameLst>
                                          <p:attrName>ppt_w</p:attrName>
                                        </p:attrNameLst>
                                      </p:cBhvr>
                                      <p:tavLst>
                                        <p:tav tm="0">
                                          <p:val>
                                            <p:fltVal val="0"/>
                                          </p:val>
                                        </p:tav>
                                        <p:tav tm="100000">
                                          <p:val>
                                            <p:strVal val="#ppt_w"/>
                                          </p:val>
                                        </p:tav>
                                      </p:tavLst>
                                    </p:anim>
                                    <p:anim calcmode="lin" valueType="num">
                                      <p:cBhvr additive="repl">
                                        <p:cTn id="2709" dur="500" fill="hold"/>
                                        <p:tgtEl>
                                          <p:spTgt spid="3172"/>
                                        </p:tgtEl>
                                        <p:attrNameLst>
                                          <p:attrName>ppt_h</p:attrName>
                                        </p:attrNameLst>
                                      </p:cBhvr>
                                      <p:tavLst>
                                        <p:tav tm="0">
                                          <p:val>
                                            <p:strVal val="#ppt_h"/>
                                          </p:val>
                                        </p:tav>
                                        <p:tav tm="100000">
                                          <p:val>
                                            <p:strVal val="#ppt_h"/>
                                          </p:val>
                                        </p:tav>
                                      </p:tavLst>
                                    </p:anim>
                                  </p:childTnLst>
                                </p:cTn>
                              </p:par>
                            </p:childTnLst>
                          </p:cTn>
                        </p:par>
                        <p:par>
                          <p:cTn id="2710" nodeType="afterEffect" fill="hold">
                            <p:stCondLst>
                              <p:cond delay="4175"/>
                            </p:stCondLst>
                            <p:childTnLst>
                              <p:par>
                                <p:cTn id="2711" nodeType="afterEffect" fill="hold" presetClass="entr" presetID="17" presetSubtype="8">
                                  <p:stCondLst>
                                    <p:cond delay="0"/>
                                  </p:stCondLst>
                                  <p:childTnLst>
                                    <p:set>
                                      <p:cBhvr>
                                        <p:cTn id="2712" dur="1" fill="hold">
                                          <p:stCondLst>
                                            <p:cond delay="0"/>
                                          </p:stCondLst>
                                        </p:cTn>
                                        <p:tgtEl>
                                          <p:spTgt spid="3173"/>
                                        </p:tgtEl>
                                        <p:attrNameLst>
                                          <p:attrName>style.visibility</p:attrName>
                                        </p:attrNameLst>
                                      </p:cBhvr>
                                      <p:to>
                                        <p:strVal val="visible"/>
                                      </p:to>
                                    </p:set>
                                    <p:anim calcmode="lin" valueType="num">
                                      <p:cBhvr additive="repl">
                                        <p:cTn id="2713" dur="500" fill="hold"/>
                                        <p:tgtEl>
                                          <p:spTgt spid="3173"/>
                                        </p:tgtEl>
                                        <p:attrNameLst>
                                          <p:attrName>ppt_x</p:attrName>
                                        </p:attrNameLst>
                                      </p:cBhvr>
                                      <p:tavLst>
                                        <p:tav tm="0">
                                          <p:val>
                                            <p:strVal val="#ppt_x-#ppt_w/2"/>
                                          </p:val>
                                        </p:tav>
                                        <p:tav tm="100000">
                                          <p:val>
                                            <p:strVal val="#ppt_x"/>
                                          </p:val>
                                        </p:tav>
                                      </p:tavLst>
                                    </p:anim>
                                    <p:anim calcmode="lin" valueType="num">
                                      <p:cBhvr additive="repl">
                                        <p:cTn id="2714" dur="500" fill="hold"/>
                                        <p:tgtEl>
                                          <p:spTgt spid="3173"/>
                                        </p:tgtEl>
                                        <p:attrNameLst>
                                          <p:attrName>ppt_y</p:attrName>
                                        </p:attrNameLst>
                                      </p:cBhvr>
                                      <p:tavLst>
                                        <p:tav tm="0">
                                          <p:val>
                                            <p:strVal val="#ppt_y"/>
                                          </p:val>
                                        </p:tav>
                                        <p:tav tm="100000">
                                          <p:val>
                                            <p:strVal val="#ppt_y"/>
                                          </p:val>
                                        </p:tav>
                                      </p:tavLst>
                                    </p:anim>
                                    <p:anim calcmode="lin" valueType="num">
                                      <p:cBhvr additive="repl">
                                        <p:cTn id="2715" dur="500" fill="hold"/>
                                        <p:tgtEl>
                                          <p:spTgt spid="3173"/>
                                        </p:tgtEl>
                                        <p:attrNameLst>
                                          <p:attrName>ppt_w</p:attrName>
                                        </p:attrNameLst>
                                      </p:cBhvr>
                                      <p:tavLst>
                                        <p:tav tm="0">
                                          <p:val>
                                            <p:fltVal val="0"/>
                                          </p:val>
                                        </p:tav>
                                        <p:tav tm="100000">
                                          <p:val>
                                            <p:strVal val="#ppt_w"/>
                                          </p:val>
                                        </p:tav>
                                      </p:tavLst>
                                    </p:anim>
                                    <p:anim calcmode="lin" valueType="num">
                                      <p:cBhvr additive="repl">
                                        <p:cTn id="2716" dur="500" fill="hold"/>
                                        <p:tgtEl>
                                          <p:spTgt spid="3173"/>
                                        </p:tgtEl>
                                        <p:attrNameLst>
                                          <p:attrName>ppt_h</p:attrName>
                                        </p:attrNameLst>
                                      </p:cBhvr>
                                      <p:tavLst>
                                        <p:tav tm="0">
                                          <p:val>
                                            <p:strVal val="#ppt_h"/>
                                          </p:val>
                                        </p:tav>
                                        <p:tav tm="100000">
                                          <p:val>
                                            <p:strVal val="#ppt_h"/>
                                          </p:val>
                                        </p:tav>
                                      </p:tavLst>
                                    </p:anim>
                                  </p:childTnLst>
                                </p:cTn>
                              </p:par>
                            </p:childTnLst>
                          </p:cTn>
                        </p:par>
                        <p:par>
                          <p:cTn id="2717" nodeType="afterEffect" fill="hold">
                            <p:stCondLst>
                              <p:cond delay="4675"/>
                            </p:stCondLst>
                            <p:childTnLst>
                              <p:par>
                                <p:cTn id="2718" nodeType="afterEffect" fill="hold" presetClass="entr" presetID="17" presetSubtype="8">
                                  <p:stCondLst>
                                    <p:cond delay="1000"/>
                                  </p:stCondLst>
                                  <p:childTnLst>
                                    <p:set>
                                      <p:cBhvr>
                                        <p:cTn id="2719" dur="1" fill="hold">
                                          <p:stCondLst>
                                            <p:cond delay="0"/>
                                          </p:stCondLst>
                                        </p:cTn>
                                        <p:tgtEl>
                                          <p:spTgt spid="3170"/>
                                        </p:tgtEl>
                                        <p:attrNameLst>
                                          <p:attrName>style.visibility</p:attrName>
                                        </p:attrNameLst>
                                      </p:cBhvr>
                                      <p:to>
                                        <p:strVal val="visible"/>
                                      </p:to>
                                    </p:set>
                                    <p:anim calcmode="lin" valueType="num">
                                      <p:cBhvr additive="repl">
                                        <p:cTn id="2720" dur="500" fill="hold"/>
                                        <p:tgtEl>
                                          <p:spTgt spid="3170"/>
                                        </p:tgtEl>
                                        <p:attrNameLst>
                                          <p:attrName>ppt_x</p:attrName>
                                        </p:attrNameLst>
                                      </p:cBhvr>
                                      <p:tavLst>
                                        <p:tav tm="0">
                                          <p:val>
                                            <p:strVal val="#ppt_x-#ppt_w/2"/>
                                          </p:val>
                                        </p:tav>
                                        <p:tav tm="100000">
                                          <p:val>
                                            <p:strVal val="#ppt_x"/>
                                          </p:val>
                                        </p:tav>
                                      </p:tavLst>
                                    </p:anim>
                                    <p:anim calcmode="lin" valueType="num">
                                      <p:cBhvr additive="repl">
                                        <p:cTn id="2721" dur="500" fill="hold"/>
                                        <p:tgtEl>
                                          <p:spTgt spid="3170"/>
                                        </p:tgtEl>
                                        <p:attrNameLst>
                                          <p:attrName>ppt_y</p:attrName>
                                        </p:attrNameLst>
                                      </p:cBhvr>
                                      <p:tavLst>
                                        <p:tav tm="0">
                                          <p:val>
                                            <p:strVal val="#ppt_y"/>
                                          </p:val>
                                        </p:tav>
                                        <p:tav tm="100000">
                                          <p:val>
                                            <p:strVal val="#ppt_y"/>
                                          </p:val>
                                        </p:tav>
                                      </p:tavLst>
                                    </p:anim>
                                    <p:anim calcmode="lin" valueType="num">
                                      <p:cBhvr additive="repl">
                                        <p:cTn id="2722" dur="500" fill="hold"/>
                                        <p:tgtEl>
                                          <p:spTgt spid="3170"/>
                                        </p:tgtEl>
                                        <p:attrNameLst>
                                          <p:attrName>ppt_w</p:attrName>
                                        </p:attrNameLst>
                                      </p:cBhvr>
                                      <p:tavLst>
                                        <p:tav tm="0">
                                          <p:val>
                                            <p:fltVal val="0"/>
                                          </p:val>
                                        </p:tav>
                                        <p:tav tm="100000">
                                          <p:val>
                                            <p:strVal val="#ppt_w"/>
                                          </p:val>
                                        </p:tav>
                                      </p:tavLst>
                                    </p:anim>
                                    <p:anim calcmode="lin" valueType="num">
                                      <p:cBhvr additive="repl">
                                        <p:cTn id="2723" dur="500" fill="hold"/>
                                        <p:tgtEl>
                                          <p:spTgt spid="3170"/>
                                        </p:tgtEl>
                                        <p:attrNameLst>
                                          <p:attrName>ppt_h</p:attrName>
                                        </p:attrNameLst>
                                      </p:cBhvr>
                                      <p:tavLst>
                                        <p:tav tm="0">
                                          <p:val>
                                            <p:strVal val="#ppt_h"/>
                                          </p:val>
                                        </p:tav>
                                        <p:tav tm="100000">
                                          <p:val>
                                            <p:strVal val="#ppt_h"/>
                                          </p:val>
                                        </p:tav>
                                      </p:tavLst>
                                    </p:anim>
                                  </p:childTnLst>
                                </p:cTn>
                              </p:par>
                            </p:childTnLst>
                          </p:cTn>
                        </p:par>
                        <p:par>
                          <p:cTn id="2724" nodeType="afterEffect" fill="hold">
                            <p:stCondLst>
                              <p:cond delay="6175"/>
                            </p:stCondLst>
                            <p:childTnLst>
                              <p:par>
                                <p:cTn id="2725" nodeType="afterEffect" fill="hold" presetClass="entr" presetID="17" presetSubtype="8">
                                  <p:stCondLst>
                                    <p:cond delay="0"/>
                                  </p:stCondLst>
                                  <p:childTnLst>
                                    <p:set>
                                      <p:cBhvr>
                                        <p:cTn id="2726" dur="1" fill="hold">
                                          <p:stCondLst>
                                            <p:cond delay="0"/>
                                          </p:stCondLst>
                                        </p:cTn>
                                        <p:tgtEl>
                                          <p:spTgt spid="3171"/>
                                        </p:tgtEl>
                                        <p:attrNameLst>
                                          <p:attrName>style.visibility</p:attrName>
                                        </p:attrNameLst>
                                      </p:cBhvr>
                                      <p:to>
                                        <p:strVal val="visible"/>
                                      </p:to>
                                    </p:set>
                                    <p:anim calcmode="lin" valueType="num">
                                      <p:cBhvr additive="repl">
                                        <p:cTn id="2727" dur="500" fill="hold"/>
                                        <p:tgtEl>
                                          <p:spTgt spid="3171"/>
                                        </p:tgtEl>
                                        <p:attrNameLst>
                                          <p:attrName>ppt_x</p:attrName>
                                        </p:attrNameLst>
                                      </p:cBhvr>
                                      <p:tavLst>
                                        <p:tav tm="0">
                                          <p:val>
                                            <p:strVal val="#ppt_x-#ppt_w/2"/>
                                          </p:val>
                                        </p:tav>
                                        <p:tav tm="100000">
                                          <p:val>
                                            <p:strVal val="#ppt_x"/>
                                          </p:val>
                                        </p:tav>
                                      </p:tavLst>
                                    </p:anim>
                                    <p:anim calcmode="lin" valueType="num">
                                      <p:cBhvr additive="repl">
                                        <p:cTn id="2728" dur="500" fill="hold"/>
                                        <p:tgtEl>
                                          <p:spTgt spid="3171"/>
                                        </p:tgtEl>
                                        <p:attrNameLst>
                                          <p:attrName>ppt_y</p:attrName>
                                        </p:attrNameLst>
                                      </p:cBhvr>
                                      <p:tavLst>
                                        <p:tav tm="0">
                                          <p:val>
                                            <p:strVal val="#ppt_y"/>
                                          </p:val>
                                        </p:tav>
                                        <p:tav tm="100000">
                                          <p:val>
                                            <p:strVal val="#ppt_y"/>
                                          </p:val>
                                        </p:tav>
                                      </p:tavLst>
                                    </p:anim>
                                    <p:anim calcmode="lin" valueType="num">
                                      <p:cBhvr additive="repl">
                                        <p:cTn id="2729" dur="500" fill="hold"/>
                                        <p:tgtEl>
                                          <p:spTgt spid="3171"/>
                                        </p:tgtEl>
                                        <p:attrNameLst>
                                          <p:attrName>ppt_w</p:attrName>
                                        </p:attrNameLst>
                                      </p:cBhvr>
                                      <p:tavLst>
                                        <p:tav tm="0">
                                          <p:val>
                                            <p:fltVal val="0"/>
                                          </p:val>
                                        </p:tav>
                                        <p:tav tm="100000">
                                          <p:val>
                                            <p:strVal val="#ppt_w"/>
                                          </p:val>
                                        </p:tav>
                                      </p:tavLst>
                                    </p:anim>
                                    <p:anim calcmode="lin" valueType="num">
                                      <p:cBhvr additive="repl">
                                        <p:cTn id="2730" dur="500" fill="hold"/>
                                        <p:tgtEl>
                                          <p:spTgt spid="3171"/>
                                        </p:tgtEl>
                                        <p:attrNameLst>
                                          <p:attrName>ppt_h</p:attrName>
                                        </p:attrNameLst>
                                      </p:cBhvr>
                                      <p:tavLst>
                                        <p:tav tm="0">
                                          <p:val>
                                            <p:strVal val="#ppt_h"/>
                                          </p:val>
                                        </p:tav>
                                        <p:tav tm="100000">
                                          <p:val>
                                            <p:strVal val="#ppt_h"/>
                                          </p:val>
                                        </p:tav>
                                      </p:tavLst>
                                    </p:anim>
                                  </p:childTnLst>
                                </p:cTn>
                              </p:par>
                            </p:childTnLst>
                          </p:cTn>
                        </p:par>
                      </p:childTnLst>
                    </p:cTn>
                  </p:par>
                  <p:par>
                    <p:cTn id="2731" nodeType="clickEffect" fill="hold">
                      <p:stCondLst>
                        <p:cond delay="indefinite"/>
                      </p:stCondLst>
                      <p:childTnLst>
                        <p:par>
                          <p:cTn id="2732" nodeType="withEffect" fill="hold">
                            <p:stCondLst>
                              <p:cond delay="0"/>
                            </p:stCondLst>
                            <p:childTnLst>
                              <p:par>
                                <p:cTn id="2733" nodeType="clickEffect" fill="hold" presetClass="entr" presetID="9">
                                  <p:stCondLst>
                                    <p:cond delay="0"/>
                                  </p:stCondLst>
                                  <p:iterate type="lt">
                                    <p:tmAbs val="75"/>
                                  </p:iterate>
                                  <p:childTnLst>
                                    <p:set>
                                      <p:cBhvr>
                                        <p:cTn id="2734" dur="1" fill="hold">
                                          <p:stCondLst>
                                            <p:cond delay="0"/>
                                          </p:stCondLst>
                                        </p:cTn>
                                        <p:tgtEl>
                                          <p:spTgt spid="3159"/>
                                        </p:tgtEl>
                                        <p:attrNameLst>
                                          <p:attrName>style.visibility</p:attrName>
                                        </p:attrNameLst>
                                      </p:cBhvr>
                                      <p:to>
                                        <p:strVal val="visible"/>
                                      </p:to>
                                    </p:set>
                                    <p:animEffect filter="dissolve" transition="in">
                                      <p:cBhvr additive="repl">
                                        <p:cTn id="2735" dur="75"/>
                                        <p:tgtEl>
                                          <p:spTgt spid="3159"/>
                                        </p:tgtEl>
                                      </p:cBhvr>
                                    </p:animEffect>
                                  </p:childTnLst>
                                </p:cTn>
                              </p:par>
                            </p:childTnLst>
                          </p:cTn>
                        </p:par>
                        <p:par>
                          <p:cTn id="2736" nodeType="afterEffect" fill="hold">
                            <p:stCondLst>
                              <p:cond delay="75"/>
                            </p:stCondLst>
                            <p:childTnLst>
                              <p:par>
                                <p:cTn id="2737" nodeType="afterEffect" fill="hold" presetClass="entr" presetID="9">
                                  <p:stCondLst>
                                    <p:cond delay="1000"/>
                                  </p:stCondLst>
                                  <p:iterate type="lt">
                                    <p:tmAbs val="75"/>
                                  </p:iterate>
                                  <p:childTnLst>
                                    <p:set>
                                      <p:cBhvr>
                                        <p:cTn id="2738" dur="1" fill="hold">
                                          <p:stCondLst>
                                            <p:cond delay="0"/>
                                          </p:stCondLst>
                                        </p:cTn>
                                        <p:tgtEl>
                                          <p:spTgt spid="3151"/>
                                        </p:tgtEl>
                                        <p:attrNameLst>
                                          <p:attrName>style.visibility</p:attrName>
                                        </p:attrNameLst>
                                      </p:cBhvr>
                                      <p:to>
                                        <p:strVal val="visible"/>
                                      </p:to>
                                    </p:set>
                                    <p:animEffect filter="dissolve" transition="in">
                                      <p:cBhvr additive="repl">
                                        <p:cTn id="2739" dur="75"/>
                                        <p:tgtEl>
                                          <p:spTgt spid="3151"/>
                                        </p:tgtEl>
                                      </p:cBhvr>
                                    </p:animEffect>
                                  </p:childTnLst>
                                </p:cTn>
                              </p:par>
                            </p:childTnLst>
                          </p:cTn>
                        </p:par>
                        <p:par>
                          <p:cTn id="2740" nodeType="afterEffect" fill="hold">
                            <p:stCondLst>
                              <p:cond delay="1225"/>
                            </p:stCondLst>
                            <p:childTnLst>
                              <p:par>
                                <p:cTn id="2741" nodeType="afterEffect" fill="hold" presetClass="entr" presetID="9">
                                  <p:stCondLst>
                                    <p:cond delay="1000"/>
                                  </p:stCondLst>
                                  <p:iterate type="lt">
                                    <p:tmAbs val="75"/>
                                  </p:iterate>
                                  <p:childTnLst>
                                    <p:set>
                                      <p:cBhvr>
                                        <p:cTn id="2742" dur="1" fill="hold">
                                          <p:stCondLst>
                                            <p:cond delay="0"/>
                                          </p:stCondLst>
                                        </p:cTn>
                                        <p:tgtEl>
                                          <p:spTgt spid="3130"/>
                                        </p:tgtEl>
                                        <p:attrNameLst>
                                          <p:attrName>style.visibility</p:attrName>
                                        </p:attrNameLst>
                                      </p:cBhvr>
                                      <p:to>
                                        <p:strVal val="visible"/>
                                      </p:to>
                                    </p:set>
                                    <p:animEffect filter="dissolve" transition="in">
                                      <p:cBhvr additive="repl">
                                        <p:cTn id="2743" dur="75"/>
                                        <p:tgtEl>
                                          <p:spTgt spid="3130"/>
                                        </p:tgtEl>
                                      </p:cBhvr>
                                    </p:animEffect>
                                  </p:childTnLst>
                                </p:cTn>
                              </p:par>
                            </p:childTnLst>
                          </p:cTn>
                        </p:par>
                        <p:par>
                          <p:cTn id="2744" nodeType="afterEffect" fill="hold">
                            <p:stCondLst>
                              <p:cond delay="2525"/>
                            </p:stCondLst>
                            <p:childTnLst>
                              <p:par>
                                <p:cTn id="2745" nodeType="afterEffect" fill="hold" presetClass="entr" presetID="9">
                                  <p:stCondLst>
                                    <p:cond delay="0"/>
                                  </p:stCondLst>
                                  <p:iterate type="lt">
                                    <p:tmAbs val="75"/>
                                  </p:iterate>
                                  <p:childTnLst>
                                    <p:set>
                                      <p:cBhvr>
                                        <p:cTn id="2746" dur="1" fill="hold">
                                          <p:stCondLst>
                                            <p:cond delay="0"/>
                                          </p:stCondLst>
                                        </p:cTn>
                                        <p:tgtEl>
                                          <p:spTgt spid="3164"/>
                                        </p:tgtEl>
                                        <p:attrNameLst>
                                          <p:attrName>style.visibility</p:attrName>
                                        </p:attrNameLst>
                                      </p:cBhvr>
                                      <p:to>
                                        <p:strVal val="visible"/>
                                      </p:to>
                                    </p:set>
                                    <p:animEffect filter="dissolve" transition="in">
                                      <p:cBhvr additive="repl">
                                        <p:cTn id="2747" dur="75"/>
                                        <p:tgtEl>
                                          <p:spTgt spid="3164"/>
                                        </p:tgtEl>
                                      </p:cBhvr>
                                    </p:animEffect>
                                  </p:childTnLst>
                                </p:cTn>
                              </p:par>
                            </p:childTnLst>
                          </p:cTn>
                        </p:par>
                        <p:par>
                          <p:cTn id="2748" nodeType="afterEffect" fill="hold">
                            <p:stCondLst>
                              <p:cond delay="2750"/>
                            </p:stCondLst>
                            <p:childTnLst>
                              <p:par>
                                <p:cTn id="2749" nodeType="afterEffect" fill="hold" presetClass="entr" presetID="17" presetSubtype="8">
                                  <p:stCondLst>
                                    <p:cond delay="0"/>
                                  </p:stCondLst>
                                  <p:childTnLst>
                                    <p:set>
                                      <p:cBhvr>
                                        <p:cTn id="2750" dur="1" fill="hold">
                                          <p:stCondLst>
                                            <p:cond delay="0"/>
                                          </p:stCondLst>
                                        </p:cTn>
                                        <p:tgtEl>
                                          <p:spTgt spid="3201"/>
                                        </p:tgtEl>
                                        <p:attrNameLst>
                                          <p:attrName>style.visibility</p:attrName>
                                        </p:attrNameLst>
                                      </p:cBhvr>
                                      <p:to>
                                        <p:strVal val="visible"/>
                                      </p:to>
                                    </p:set>
                                    <p:anim calcmode="lin" valueType="num">
                                      <p:cBhvr additive="repl">
                                        <p:cTn id="2751" dur="500" fill="hold"/>
                                        <p:tgtEl>
                                          <p:spTgt spid="3201"/>
                                        </p:tgtEl>
                                        <p:attrNameLst>
                                          <p:attrName>ppt_x</p:attrName>
                                        </p:attrNameLst>
                                      </p:cBhvr>
                                      <p:tavLst>
                                        <p:tav tm="0">
                                          <p:val>
                                            <p:strVal val="#ppt_x-#ppt_w/2"/>
                                          </p:val>
                                        </p:tav>
                                        <p:tav tm="100000">
                                          <p:val>
                                            <p:strVal val="#ppt_x"/>
                                          </p:val>
                                        </p:tav>
                                      </p:tavLst>
                                    </p:anim>
                                    <p:anim calcmode="lin" valueType="num">
                                      <p:cBhvr additive="repl">
                                        <p:cTn id="2752" dur="500" fill="hold"/>
                                        <p:tgtEl>
                                          <p:spTgt spid="3201"/>
                                        </p:tgtEl>
                                        <p:attrNameLst>
                                          <p:attrName>ppt_y</p:attrName>
                                        </p:attrNameLst>
                                      </p:cBhvr>
                                      <p:tavLst>
                                        <p:tav tm="0">
                                          <p:val>
                                            <p:strVal val="#ppt_y"/>
                                          </p:val>
                                        </p:tav>
                                        <p:tav tm="100000">
                                          <p:val>
                                            <p:strVal val="#ppt_y"/>
                                          </p:val>
                                        </p:tav>
                                      </p:tavLst>
                                    </p:anim>
                                    <p:anim calcmode="lin" valueType="num">
                                      <p:cBhvr additive="repl">
                                        <p:cTn id="2753" dur="500" fill="hold"/>
                                        <p:tgtEl>
                                          <p:spTgt spid="3201"/>
                                        </p:tgtEl>
                                        <p:attrNameLst>
                                          <p:attrName>ppt_w</p:attrName>
                                        </p:attrNameLst>
                                      </p:cBhvr>
                                      <p:tavLst>
                                        <p:tav tm="0">
                                          <p:val>
                                            <p:fltVal val="0"/>
                                          </p:val>
                                        </p:tav>
                                        <p:tav tm="100000">
                                          <p:val>
                                            <p:strVal val="#ppt_w"/>
                                          </p:val>
                                        </p:tav>
                                      </p:tavLst>
                                    </p:anim>
                                    <p:anim calcmode="lin" valueType="num">
                                      <p:cBhvr additive="repl">
                                        <p:cTn id="2754" dur="500" fill="hold"/>
                                        <p:tgtEl>
                                          <p:spTgt spid="3201"/>
                                        </p:tgtEl>
                                        <p:attrNameLst>
                                          <p:attrName>ppt_h</p:attrName>
                                        </p:attrNameLst>
                                      </p:cBhvr>
                                      <p:tavLst>
                                        <p:tav tm="0">
                                          <p:val>
                                            <p:strVal val="#ppt_h"/>
                                          </p:val>
                                        </p:tav>
                                        <p:tav tm="100000">
                                          <p:val>
                                            <p:strVal val="#ppt_h"/>
                                          </p:val>
                                        </p:tav>
                                      </p:tavLst>
                                    </p:anim>
                                  </p:childTnLst>
                                </p:cTn>
                              </p:par>
                            </p:childTnLst>
                          </p:cTn>
                        </p:par>
                        <p:par>
                          <p:cTn id="2755" nodeType="afterEffect" fill="hold">
                            <p:stCondLst>
                              <p:cond delay="3250"/>
                            </p:stCondLst>
                            <p:childTnLst>
                              <p:par>
                                <p:cTn id="2756" nodeType="afterEffect" fill="hold" presetClass="entr" presetID="9">
                                  <p:stCondLst>
                                    <p:cond delay="1000"/>
                                  </p:stCondLst>
                                  <p:iterate type="lt">
                                    <p:tmAbs val="75"/>
                                  </p:iterate>
                                  <p:childTnLst>
                                    <p:set>
                                      <p:cBhvr>
                                        <p:cTn id="2757" dur="1" fill="hold">
                                          <p:stCondLst>
                                            <p:cond delay="0"/>
                                          </p:stCondLst>
                                        </p:cTn>
                                        <p:tgtEl>
                                          <p:spTgt spid="3180"/>
                                        </p:tgtEl>
                                        <p:attrNameLst>
                                          <p:attrName>style.visibility</p:attrName>
                                        </p:attrNameLst>
                                      </p:cBhvr>
                                      <p:to>
                                        <p:strVal val="visible"/>
                                      </p:to>
                                    </p:set>
                                    <p:animEffect filter="dissolve" transition="in">
                                      <p:cBhvr additive="repl">
                                        <p:cTn id="2758" dur="75"/>
                                        <p:tgtEl>
                                          <p:spTgt spid="3180"/>
                                        </p:tgtEl>
                                      </p:cBhvr>
                                    </p:animEffect>
                                  </p:childTnLst>
                                </p:cTn>
                              </p:par>
                            </p:childTnLst>
                          </p:cTn>
                        </p:par>
                        <p:par>
                          <p:cTn id="2759" nodeType="afterEffect" fill="hold">
                            <p:stCondLst>
                              <p:cond delay="4400"/>
                            </p:stCondLst>
                            <p:childTnLst>
                              <p:par>
                                <p:cTn id="2760" nodeType="afterEffect" fill="hold" presetClass="entr" presetID="17" presetSubtype="8">
                                  <p:stCondLst>
                                    <p:cond delay="0"/>
                                  </p:stCondLst>
                                  <p:childTnLst>
                                    <p:set>
                                      <p:cBhvr>
                                        <p:cTn id="2761" dur="1" fill="hold">
                                          <p:stCondLst>
                                            <p:cond delay="0"/>
                                          </p:stCondLst>
                                        </p:cTn>
                                        <p:tgtEl>
                                          <p:spTgt spid="3176"/>
                                        </p:tgtEl>
                                        <p:attrNameLst>
                                          <p:attrName>style.visibility</p:attrName>
                                        </p:attrNameLst>
                                      </p:cBhvr>
                                      <p:to>
                                        <p:strVal val="visible"/>
                                      </p:to>
                                    </p:set>
                                    <p:anim calcmode="lin" valueType="num">
                                      <p:cBhvr additive="repl">
                                        <p:cTn id="2762" dur="500" fill="hold"/>
                                        <p:tgtEl>
                                          <p:spTgt spid="3176"/>
                                        </p:tgtEl>
                                        <p:attrNameLst>
                                          <p:attrName>ppt_x</p:attrName>
                                        </p:attrNameLst>
                                      </p:cBhvr>
                                      <p:tavLst>
                                        <p:tav tm="0">
                                          <p:val>
                                            <p:strVal val="#ppt_x-#ppt_w/2"/>
                                          </p:val>
                                        </p:tav>
                                        <p:tav tm="100000">
                                          <p:val>
                                            <p:strVal val="#ppt_x"/>
                                          </p:val>
                                        </p:tav>
                                      </p:tavLst>
                                    </p:anim>
                                    <p:anim calcmode="lin" valueType="num">
                                      <p:cBhvr additive="repl">
                                        <p:cTn id="2763" dur="500" fill="hold"/>
                                        <p:tgtEl>
                                          <p:spTgt spid="3176"/>
                                        </p:tgtEl>
                                        <p:attrNameLst>
                                          <p:attrName>ppt_y</p:attrName>
                                        </p:attrNameLst>
                                      </p:cBhvr>
                                      <p:tavLst>
                                        <p:tav tm="0">
                                          <p:val>
                                            <p:strVal val="#ppt_y"/>
                                          </p:val>
                                        </p:tav>
                                        <p:tav tm="100000">
                                          <p:val>
                                            <p:strVal val="#ppt_y"/>
                                          </p:val>
                                        </p:tav>
                                      </p:tavLst>
                                    </p:anim>
                                    <p:anim calcmode="lin" valueType="num">
                                      <p:cBhvr additive="repl">
                                        <p:cTn id="2764" dur="500" fill="hold"/>
                                        <p:tgtEl>
                                          <p:spTgt spid="3176"/>
                                        </p:tgtEl>
                                        <p:attrNameLst>
                                          <p:attrName>ppt_w</p:attrName>
                                        </p:attrNameLst>
                                      </p:cBhvr>
                                      <p:tavLst>
                                        <p:tav tm="0">
                                          <p:val>
                                            <p:fltVal val="0"/>
                                          </p:val>
                                        </p:tav>
                                        <p:tav tm="100000">
                                          <p:val>
                                            <p:strVal val="#ppt_w"/>
                                          </p:val>
                                        </p:tav>
                                      </p:tavLst>
                                    </p:anim>
                                    <p:anim calcmode="lin" valueType="num">
                                      <p:cBhvr additive="repl">
                                        <p:cTn id="2765" dur="500" fill="hold"/>
                                        <p:tgtEl>
                                          <p:spTgt spid="3176"/>
                                        </p:tgtEl>
                                        <p:attrNameLst>
                                          <p:attrName>ppt_h</p:attrName>
                                        </p:attrNameLst>
                                      </p:cBhvr>
                                      <p:tavLst>
                                        <p:tav tm="0">
                                          <p:val>
                                            <p:strVal val="#ppt_h"/>
                                          </p:val>
                                        </p:tav>
                                        <p:tav tm="100000">
                                          <p:val>
                                            <p:strVal val="#ppt_h"/>
                                          </p:val>
                                        </p:tav>
                                      </p:tavLst>
                                    </p:anim>
                                  </p:childTnLst>
                                </p:cTn>
                              </p:par>
                            </p:childTnLst>
                          </p:cTn>
                        </p:par>
                        <p:par>
                          <p:cTn id="2766" nodeType="afterEffect" fill="hold">
                            <p:stCondLst>
                              <p:cond delay="4900"/>
                            </p:stCondLst>
                            <p:childTnLst>
                              <p:par>
                                <p:cTn id="2767" nodeType="afterEffect" fill="hold" presetClass="entr" presetID="17" presetSubtype="8">
                                  <p:stCondLst>
                                    <p:cond delay="0"/>
                                  </p:stCondLst>
                                  <p:childTnLst>
                                    <p:set>
                                      <p:cBhvr>
                                        <p:cTn id="2768" dur="1" fill="hold">
                                          <p:stCondLst>
                                            <p:cond delay="0"/>
                                          </p:stCondLst>
                                        </p:cTn>
                                        <p:tgtEl>
                                          <p:spTgt spid="3177"/>
                                        </p:tgtEl>
                                        <p:attrNameLst>
                                          <p:attrName>style.visibility</p:attrName>
                                        </p:attrNameLst>
                                      </p:cBhvr>
                                      <p:to>
                                        <p:strVal val="visible"/>
                                      </p:to>
                                    </p:set>
                                    <p:anim calcmode="lin" valueType="num">
                                      <p:cBhvr additive="repl">
                                        <p:cTn id="2769" dur="500" fill="hold"/>
                                        <p:tgtEl>
                                          <p:spTgt spid="3177"/>
                                        </p:tgtEl>
                                        <p:attrNameLst>
                                          <p:attrName>ppt_x</p:attrName>
                                        </p:attrNameLst>
                                      </p:cBhvr>
                                      <p:tavLst>
                                        <p:tav tm="0">
                                          <p:val>
                                            <p:strVal val="#ppt_x-#ppt_w/2"/>
                                          </p:val>
                                        </p:tav>
                                        <p:tav tm="100000">
                                          <p:val>
                                            <p:strVal val="#ppt_x"/>
                                          </p:val>
                                        </p:tav>
                                      </p:tavLst>
                                    </p:anim>
                                    <p:anim calcmode="lin" valueType="num">
                                      <p:cBhvr additive="repl">
                                        <p:cTn id="2770" dur="500" fill="hold"/>
                                        <p:tgtEl>
                                          <p:spTgt spid="3177"/>
                                        </p:tgtEl>
                                        <p:attrNameLst>
                                          <p:attrName>ppt_y</p:attrName>
                                        </p:attrNameLst>
                                      </p:cBhvr>
                                      <p:tavLst>
                                        <p:tav tm="0">
                                          <p:val>
                                            <p:strVal val="#ppt_y"/>
                                          </p:val>
                                        </p:tav>
                                        <p:tav tm="100000">
                                          <p:val>
                                            <p:strVal val="#ppt_y"/>
                                          </p:val>
                                        </p:tav>
                                      </p:tavLst>
                                    </p:anim>
                                    <p:anim calcmode="lin" valueType="num">
                                      <p:cBhvr additive="repl">
                                        <p:cTn id="2771" dur="500" fill="hold"/>
                                        <p:tgtEl>
                                          <p:spTgt spid="3177"/>
                                        </p:tgtEl>
                                        <p:attrNameLst>
                                          <p:attrName>ppt_w</p:attrName>
                                        </p:attrNameLst>
                                      </p:cBhvr>
                                      <p:tavLst>
                                        <p:tav tm="0">
                                          <p:val>
                                            <p:fltVal val="0"/>
                                          </p:val>
                                        </p:tav>
                                        <p:tav tm="100000">
                                          <p:val>
                                            <p:strVal val="#ppt_w"/>
                                          </p:val>
                                        </p:tav>
                                      </p:tavLst>
                                    </p:anim>
                                    <p:anim calcmode="lin" valueType="num">
                                      <p:cBhvr additive="repl">
                                        <p:cTn id="2772" dur="500" fill="hold"/>
                                        <p:tgtEl>
                                          <p:spTgt spid="3177"/>
                                        </p:tgtEl>
                                        <p:attrNameLst>
                                          <p:attrName>ppt_h</p:attrName>
                                        </p:attrNameLst>
                                      </p:cBhvr>
                                      <p:tavLst>
                                        <p:tav tm="0">
                                          <p:val>
                                            <p:strVal val="#ppt_h"/>
                                          </p:val>
                                        </p:tav>
                                        <p:tav tm="100000">
                                          <p:val>
                                            <p:strVal val="#ppt_h"/>
                                          </p:val>
                                        </p:tav>
                                      </p:tavLst>
                                    </p:anim>
                                  </p:childTnLst>
                                </p:cTn>
                              </p:par>
                            </p:childTnLst>
                          </p:cTn>
                        </p:par>
                      </p:childTnLst>
                    </p:cTn>
                  </p:par>
                  <p:par>
                    <p:cTn id="2773" nodeType="clickEffect" fill="hold">
                      <p:stCondLst>
                        <p:cond delay="indefinite"/>
                      </p:stCondLst>
                      <p:childTnLst>
                        <p:par>
                          <p:cTn id="2774" nodeType="withEffect" fill="hold">
                            <p:stCondLst>
                              <p:cond delay="0"/>
                            </p:stCondLst>
                            <p:childTnLst>
                              <p:par>
                                <p:cTn id="2775" nodeType="clickEffect" fill="hold" presetClass="entr" presetID="9">
                                  <p:stCondLst>
                                    <p:cond delay="0"/>
                                  </p:stCondLst>
                                  <p:iterate type="lt">
                                    <p:tmAbs val="75"/>
                                  </p:iterate>
                                  <p:childTnLst>
                                    <p:set>
                                      <p:cBhvr>
                                        <p:cTn id="2776" dur="1" fill="hold">
                                          <p:stCondLst>
                                            <p:cond delay="0"/>
                                          </p:stCondLst>
                                        </p:cTn>
                                        <p:tgtEl>
                                          <p:spTgt spid="3202"/>
                                        </p:tgtEl>
                                        <p:attrNameLst>
                                          <p:attrName>style.visibility</p:attrName>
                                        </p:attrNameLst>
                                      </p:cBhvr>
                                      <p:to>
                                        <p:strVal val="visible"/>
                                      </p:to>
                                    </p:set>
                                    <p:animEffect filter="dissolve" transition="in">
                                      <p:cBhvr additive="repl">
                                        <p:cTn id="2777" dur="75"/>
                                        <p:tgtEl>
                                          <p:spTgt spid="3202"/>
                                        </p:tgtEl>
                                      </p:cBhvr>
                                    </p:animEffect>
                                  </p:childTnLst>
                                </p:cTn>
                              </p:par>
                            </p:childTnLst>
                          </p:cTn>
                        </p:par>
                        <p:par>
                          <p:cTn id="2778" nodeType="afterEffect" fill="hold">
                            <p:stCondLst>
                              <p:cond delay="75"/>
                            </p:stCondLst>
                            <p:childTnLst>
                              <p:par>
                                <p:cTn id="2779" nodeType="afterEffect" fill="hold" presetClass="entr" presetID="9">
                                  <p:stCondLst>
                                    <p:cond delay="1000"/>
                                  </p:stCondLst>
                                  <p:iterate type="lt">
                                    <p:tmAbs val="75"/>
                                  </p:iterate>
                                  <p:childTnLst>
                                    <p:set>
                                      <p:cBhvr>
                                        <p:cTn id="2780" dur="1" fill="hold">
                                          <p:stCondLst>
                                            <p:cond delay="0"/>
                                          </p:stCondLst>
                                        </p:cTn>
                                        <p:tgtEl>
                                          <p:spTgt spid="3148"/>
                                        </p:tgtEl>
                                        <p:attrNameLst>
                                          <p:attrName>style.visibility</p:attrName>
                                        </p:attrNameLst>
                                      </p:cBhvr>
                                      <p:to>
                                        <p:strVal val="visible"/>
                                      </p:to>
                                    </p:set>
                                    <p:animEffect filter="dissolve" transition="in">
                                      <p:cBhvr additive="repl">
                                        <p:cTn id="2781" dur="75"/>
                                        <p:tgtEl>
                                          <p:spTgt spid="3148"/>
                                        </p:tgtEl>
                                      </p:cBhvr>
                                    </p:animEffect>
                                  </p:childTnLst>
                                </p:cTn>
                              </p:par>
                            </p:childTnLst>
                          </p:cTn>
                        </p:par>
                        <p:par>
                          <p:cTn id="2782" nodeType="afterEffect" fill="hold">
                            <p:stCondLst>
                              <p:cond delay="1225"/>
                            </p:stCondLst>
                            <p:childTnLst>
                              <p:par>
                                <p:cTn id="2783" nodeType="afterEffect" fill="hold" presetClass="entr" presetID="9">
                                  <p:stCondLst>
                                    <p:cond delay="1000"/>
                                  </p:stCondLst>
                                  <p:iterate type="lt">
                                    <p:tmAbs val="75"/>
                                  </p:iterate>
                                  <p:childTnLst>
                                    <p:set>
                                      <p:cBhvr>
                                        <p:cTn id="2784" dur="1" fill="hold">
                                          <p:stCondLst>
                                            <p:cond delay="0"/>
                                          </p:stCondLst>
                                        </p:cTn>
                                        <p:tgtEl>
                                          <p:spTgt spid="3149"/>
                                        </p:tgtEl>
                                        <p:attrNameLst>
                                          <p:attrName>style.visibility</p:attrName>
                                        </p:attrNameLst>
                                      </p:cBhvr>
                                      <p:to>
                                        <p:strVal val="visible"/>
                                      </p:to>
                                    </p:set>
                                    <p:animEffect filter="dissolve" transition="in">
                                      <p:cBhvr additive="repl">
                                        <p:cTn id="2785" dur="75"/>
                                        <p:tgtEl>
                                          <p:spTgt spid="3149"/>
                                        </p:tgtEl>
                                      </p:cBhvr>
                                    </p:animEffect>
                                  </p:childTnLst>
                                </p:cTn>
                              </p:par>
                            </p:childTnLst>
                          </p:cTn>
                        </p:par>
                      </p:childTnLst>
                    </p:cTn>
                  </p:par>
                  <p:par>
                    <p:cTn id="2786" nodeType="clickEffect" fill="hold">
                      <p:stCondLst>
                        <p:cond delay="indefinite"/>
                      </p:stCondLst>
                      <p:childTnLst>
                        <p:par>
                          <p:cTn id="2787" nodeType="withEffect" fill="hold">
                            <p:stCondLst>
                              <p:cond delay="0"/>
                            </p:stCondLst>
                            <p:childTnLst>
                              <p:par>
                                <p:cTn id="2788" nodeType="clickEffect" fill="hold" presetClass="entr" presetID="9">
                                  <p:stCondLst>
                                    <p:cond delay="0"/>
                                  </p:stCondLst>
                                  <p:iterate type="lt">
                                    <p:tmAbs val="75"/>
                                  </p:iterate>
                                  <p:childTnLst>
                                    <p:set>
                                      <p:cBhvr>
                                        <p:cTn id="2789" dur="1" fill="hold">
                                          <p:stCondLst>
                                            <p:cond delay="0"/>
                                          </p:stCondLst>
                                        </p:cTn>
                                        <p:tgtEl>
                                          <p:spTgt spid="3156"/>
                                        </p:tgtEl>
                                        <p:attrNameLst>
                                          <p:attrName>style.visibility</p:attrName>
                                        </p:attrNameLst>
                                      </p:cBhvr>
                                      <p:to>
                                        <p:strVal val="visible"/>
                                      </p:to>
                                    </p:set>
                                    <p:animEffect filter="dissolve" transition="in">
                                      <p:cBhvr additive="repl">
                                        <p:cTn id="2790" dur="75"/>
                                        <p:tgtEl>
                                          <p:spTgt spid="3156"/>
                                        </p:tgtEl>
                                      </p:cBhvr>
                                    </p:animEffect>
                                  </p:childTnLst>
                                </p:cTn>
                              </p:par>
                            </p:childTnLst>
                          </p:cTn>
                        </p:par>
                        <p:par>
                          <p:cTn id="2791" nodeType="afterEffect" fill="hold">
                            <p:stCondLst>
                              <p:cond delay="150"/>
                            </p:stCondLst>
                            <p:childTnLst>
                              <p:par>
                                <p:cTn id="2792" nodeType="afterEffect" fill="hold" presetClass="entr" presetID="9">
                                  <p:stCondLst>
                                    <p:cond delay="1000"/>
                                  </p:stCondLst>
                                  <p:iterate type="lt">
                                    <p:tmAbs val="75"/>
                                  </p:iterate>
                                  <p:childTnLst>
                                    <p:set>
                                      <p:cBhvr>
                                        <p:cTn id="2793" dur="1" fill="hold">
                                          <p:stCondLst>
                                            <p:cond delay="0"/>
                                          </p:stCondLst>
                                        </p:cTn>
                                        <p:tgtEl>
                                          <p:spTgt spid="3142"/>
                                        </p:tgtEl>
                                        <p:attrNameLst>
                                          <p:attrName>style.visibility</p:attrName>
                                        </p:attrNameLst>
                                      </p:cBhvr>
                                      <p:to>
                                        <p:strVal val="visible"/>
                                      </p:to>
                                    </p:set>
                                    <p:animEffect filter="dissolve" transition="in">
                                      <p:cBhvr additive="repl">
                                        <p:cTn id="2794" dur="75"/>
                                        <p:tgtEl>
                                          <p:spTgt spid="3142"/>
                                        </p:tgtEl>
                                      </p:cBhvr>
                                    </p:animEffect>
                                  </p:childTnLst>
                                </p:cTn>
                              </p:par>
                            </p:childTnLst>
                          </p:cTn>
                        </p:par>
                        <p:par>
                          <p:cTn id="2795" nodeType="afterEffect" fill="hold">
                            <p:stCondLst>
                              <p:cond delay="1375"/>
                            </p:stCondLst>
                            <p:childTnLst>
                              <p:par>
                                <p:cTn id="2796" nodeType="afterEffect" fill="hold" presetClass="entr" presetID="9">
                                  <p:stCondLst>
                                    <p:cond delay="1000"/>
                                  </p:stCondLst>
                                  <p:iterate type="lt">
                                    <p:tmAbs val="75"/>
                                  </p:iterate>
                                  <p:childTnLst>
                                    <p:set>
                                      <p:cBhvr>
                                        <p:cTn id="2797" dur="1" fill="hold">
                                          <p:stCondLst>
                                            <p:cond delay="0"/>
                                          </p:stCondLst>
                                        </p:cTn>
                                        <p:tgtEl>
                                          <p:spTgt spid="3131"/>
                                        </p:tgtEl>
                                        <p:attrNameLst>
                                          <p:attrName>style.visibility</p:attrName>
                                        </p:attrNameLst>
                                      </p:cBhvr>
                                      <p:to>
                                        <p:strVal val="visible"/>
                                      </p:to>
                                    </p:set>
                                    <p:animEffect filter="dissolve" transition="in">
                                      <p:cBhvr additive="repl">
                                        <p:cTn id="2798" dur="75"/>
                                        <p:tgtEl>
                                          <p:spTgt spid="3131"/>
                                        </p:tgtEl>
                                      </p:cBhvr>
                                    </p:animEffect>
                                  </p:childTnLst>
                                </p:cTn>
                              </p:par>
                            </p:childTnLst>
                          </p:cTn>
                        </p:par>
                        <p:par>
                          <p:cTn id="2799" nodeType="afterEffect" fill="hold">
                            <p:stCondLst>
                              <p:cond delay="2675"/>
                            </p:stCondLst>
                            <p:childTnLst>
                              <p:par>
                                <p:cTn id="2800" nodeType="afterEffect" fill="hold" presetClass="entr" presetID="17" presetSubtype="8">
                                  <p:stCondLst>
                                    <p:cond delay="1000"/>
                                  </p:stCondLst>
                                  <p:childTnLst>
                                    <p:set>
                                      <p:cBhvr>
                                        <p:cTn id="2801" dur="1" fill="hold">
                                          <p:stCondLst>
                                            <p:cond delay="0"/>
                                          </p:stCondLst>
                                        </p:cTn>
                                        <p:tgtEl>
                                          <p:spTgt spid="3190"/>
                                        </p:tgtEl>
                                        <p:attrNameLst>
                                          <p:attrName>style.visibility</p:attrName>
                                        </p:attrNameLst>
                                      </p:cBhvr>
                                      <p:to>
                                        <p:strVal val="visible"/>
                                      </p:to>
                                    </p:set>
                                    <p:anim calcmode="lin" valueType="num">
                                      <p:cBhvr additive="repl">
                                        <p:cTn id="2802" dur="500" fill="hold"/>
                                        <p:tgtEl>
                                          <p:spTgt spid="3190"/>
                                        </p:tgtEl>
                                        <p:attrNameLst>
                                          <p:attrName>ppt_x</p:attrName>
                                        </p:attrNameLst>
                                      </p:cBhvr>
                                      <p:tavLst>
                                        <p:tav tm="0">
                                          <p:val>
                                            <p:strVal val="#ppt_x-#ppt_w/2"/>
                                          </p:val>
                                        </p:tav>
                                        <p:tav tm="100000">
                                          <p:val>
                                            <p:strVal val="#ppt_x"/>
                                          </p:val>
                                        </p:tav>
                                      </p:tavLst>
                                    </p:anim>
                                    <p:anim calcmode="lin" valueType="num">
                                      <p:cBhvr additive="repl">
                                        <p:cTn id="2803" dur="500" fill="hold"/>
                                        <p:tgtEl>
                                          <p:spTgt spid="3190"/>
                                        </p:tgtEl>
                                        <p:attrNameLst>
                                          <p:attrName>ppt_y</p:attrName>
                                        </p:attrNameLst>
                                      </p:cBhvr>
                                      <p:tavLst>
                                        <p:tav tm="0">
                                          <p:val>
                                            <p:strVal val="#ppt_y"/>
                                          </p:val>
                                        </p:tav>
                                        <p:tav tm="100000">
                                          <p:val>
                                            <p:strVal val="#ppt_y"/>
                                          </p:val>
                                        </p:tav>
                                      </p:tavLst>
                                    </p:anim>
                                    <p:anim calcmode="lin" valueType="num">
                                      <p:cBhvr additive="repl">
                                        <p:cTn id="2804" dur="500" fill="hold"/>
                                        <p:tgtEl>
                                          <p:spTgt spid="3190"/>
                                        </p:tgtEl>
                                        <p:attrNameLst>
                                          <p:attrName>ppt_w</p:attrName>
                                        </p:attrNameLst>
                                      </p:cBhvr>
                                      <p:tavLst>
                                        <p:tav tm="0">
                                          <p:val>
                                            <p:fltVal val="0"/>
                                          </p:val>
                                        </p:tav>
                                        <p:tav tm="100000">
                                          <p:val>
                                            <p:strVal val="#ppt_w"/>
                                          </p:val>
                                        </p:tav>
                                      </p:tavLst>
                                    </p:anim>
                                    <p:anim calcmode="lin" valueType="num">
                                      <p:cBhvr additive="repl">
                                        <p:cTn id="2805" dur="500" fill="hold"/>
                                        <p:tgtEl>
                                          <p:spTgt spid="3190"/>
                                        </p:tgtEl>
                                        <p:attrNameLst>
                                          <p:attrName>ppt_h</p:attrName>
                                        </p:attrNameLst>
                                      </p:cBhvr>
                                      <p:tavLst>
                                        <p:tav tm="0">
                                          <p:val>
                                            <p:strVal val="#ppt_h"/>
                                          </p:val>
                                        </p:tav>
                                        <p:tav tm="100000">
                                          <p:val>
                                            <p:strVal val="#ppt_h"/>
                                          </p:val>
                                        </p:tav>
                                      </p:tavLst>
                                    </p:anim>
                                  </p:childTnLst>
                                </p:cTn>
                              </p:par>
                            </p:childTnLst>
                          </p:cTn>
                        </p:par>
                        <p:par>
                          <p:cTn id="2806" nodeType="afterEffect" fill="hold">
                            <p:stCondLst>
                              <p:cond delay="4175"/>
                            </p:stCondLst>
                            <p:childTnLst>
                              <p:par>
                                <p:cTn id="2807" nodeType="afterEffect" fill="hold" presetClass="entr" presetID="17" presetSubtype="8">
                                  <p:stCondLst>
                                    <p:cond delay="0"/>
                                  </p:stCondLst>
                                  <p:childTnLst>
                                    <p:set>
                                      <p:cBhvr>
                                        <p:cTn id="2808" dur="1" fill="hold">
                                          <p:stCondLst>
                                            <p:cond delay="0"/>
                                          </p:stCondLst>
                                        </p:cTn>
                                        <p:tgtEl>
                                          <p:spTgt spid="3191"/>
                                        </p:tgtEl>
                                        <p:attrNameLst>
                                          <p:attrName>style.visibility</p:attrName>
                                        </p:attrNameLst>
                                      </p:cBhvr>
                                      <p:to>
                                        <p:strVal val="visible"/>
                                      </p:to>
                                    </p:set>
                                    <p:anim calcmode="lin" valueType="num">
                                      <p:cBhvr additive="repl">
                                        <p:cTn id="2809" dur="500" fill="hold"/>
                                        <p:tgtEl>
                                          <p:spTgt spid="3191"/>
                                        </p:tgtEl>
                                        <p:attrNameLst>
                                          <p:attrName>ppt_x</p:attrName>
                                        </p:attrNameLst>
                                      </p:cBhvr>
                                      <p:tavLst>
                                        <p:tav tm="0">
                                          <p:val>
                                            <p:strVal val="#ppt_x-#ppt_w/2"/>
                                          </p:val>
                                        </p:tav>
                                        <p:tav tm="100000">
                                          <p:val>
                                            <p:strVal val="#ppt_x"/>
                                          </p:val>
                                        </p:tav>
                                      </p:tavLst>
                                    </p:anim>
                                    <p:anim calcmode="lin" valueType="num">
                                      <p:cBhvr additive="repl">
                                        <p:cTn id="2810" dur="500" fill="hold"/>
                                        <p:tgtEl>
                                          <p:spTgt spid="3191"/>
                                        </p:tgtEl>
                                        <p:attrNameLst>
                                          <p:attrName>ppt_y</p:attrName>
                                        </p:attrNameLst>
                                      </p:cBhvr>
                                      <p:tavLst>
                                        <p:tav tm="0">
                                          <p:val>
                                            <p:strVal val="#ppt_y"/>
                                          </p:val>
                                        </p:tav>
                                        <p:tav tm="100000">
                                          <p:val>
                                            <p:strVal val="#ppt_y"/>
                                          </p:val>
                                        </p:tav>
                                      </p:tavLst>
                                    </p:anim>
                                    <p:anim calcmode="lin" valueType="num">
                                      <p:cBhvr additive="repl">
                                        <p:cTn id="2811" dur="500" fill="hold"/>
                                        <p:tgtEl>
                                          <p:spTgt spid="3191"/>
                                        </p:tgtEl>
                                        <p:attrNameLst>
                                          <p:attrName>ppt_w</p:attrName>
                                        </p:attrNameLst>
                                      </p:cBhvr>
                                      <p:tavLst>
                                        <p:tav tm="0">
                                          <p:val>
                                            <p:fltVal val="0"/>
                                          </p:val>
                                        </p:tav>
                                        <p:tav tm="100000">
                                          <p:val>
                                            <p:strVal val="#ppt_w"/>
                                          </p:val>
                                        </p:tav>
                                      </p:tavLst>
                                    </p:anim>
                                    <p:anim calcmode="lin" valueType="num">
                                      <p:cBhvr additive="repl">
                                        <p:cTn id="2812" dur="500" fill="hold"/>
                                        <p:tgtEl>
                                          <p:spTgt spid="3191"/>
                                        </p:tgtEl>
                                        <p:attrNameLst>
                                          <p:attrName>ppt_h</p:attrName>
                                        </p:attrNameLst>
                                      </p:cBhvr>
                                      <p:tavLst>
                                        <p:tav tm="0">
                                          <p:val>
                                            <p:strVal val="#ppt_h"/>
                                          </p:val>
                                        </p:tav>
                                        <p:tav tm="100000">
                                          <p:val>
                                            <p:strVal val="#ppt_h"/>
                                          </p:val>
                                        </p:tav>
                                      </p:tavLst>
                                    </p:anim>
                                  </p:childTnLst>
                                </p:cTn>
                              </p:par>
                            </p:childTnLst>
                          </p:cTn>
                        </p:par>
                        <p:par>
                          <p:cTn id="2813" nodeType="afterEffect" fill="hold">
                            <p:stCondLst>
                              <p:cond delay="4675"/>
                            </p:stCondLst>
                            <p:childTnLst>
                              <p:par>
                                <p:cTn id="2814" nodeType="afterEffect" fill="hold" presetClass="entr" presetID="17" presetSubtype="8">
                                  <p:stCondLst>
                                    <p:cond delay="0"/>
                                  </p:stCondLst>
                                  <p:childTnLst>
                                    <p:set>
                                      <p:cBhvr>
                                        <p:cTn id="2815" dur="1" fill="hold">
                                          <p:stCondLst>
                                            <p:cond delay="0"/>
                                          </p:stCondLst>
                                        </p:cTn>
                                        <p:tgtEl>
                                          <p:spTgt spid="3192"/>
                                        </p:tgtEl>
                                        <p:attrNameLst>
                                          <p:attrName>style.visibility</p:attrName>
                                        </p:attrNameLst>
                                      </p:cBhvr>
                                      <p:to>
                                        <p:strVal val="visible"/>
                                      </p:to>
                                    </p:set>
                                    <p:anim calcmode="lin" valueType="num">
                                      <p:cBhvr additive="repl">
                                        <p:cTn id="2816" dur="500" fill="hold"/>
                                        <p:tgtEl>
                                          <p:spTgt spid="3192"/>
                                        </p:tgtEl>
                                        <p:attrNameLst>
                                          <p:attrName>ppt_x</p:attrName>
                                        </p:attrNameLst>
                                      </p:cBhvr>
                                      <p:tavLst>
                                        <p:tav tm="0">
                                          <p:val>
                                            <p:strVal val="#ppt_x-#ppt_w/2"/>
                                          </p:val>
                                        </p:tav>
                                        <p:tav tm="100000">
                                          <p:val>
                                            <p:strVal val="#ppt_x"/>
                                          </p:val>
                                        </p:tav>
                                      </p:tavLst>
                                    </p:anim>
                                    <p:anim calcmode="lin" valueType="num">
                                      <p:cBhvr additive="repl">
                                        <p:cTn id="2817" dur="500" fill="hold"/>
                                        <p:tgtEl>
                                          <p:spTgt spid="3192"/>
                                        </p:tgtEl>
                                        <p:attrNameLst>
                                          <p:attrName>ppt_y</p:attrName>
                                        </p:attrNameLst>
                                      </p:cBhvr>
                                      <p:tavLst>
                                        <p:tav tm="0">
                                          <p:val>
                                            <p:strVal val="#ppt_y"/>
                                          </p:val>
                                        </p:tav>
                                        <p:tav tm="100000">
                                          <p:val>
                                            <p:strVal val="#ppt_y"/>
                                          </p:val>
                                        </p:tav>
                                      </p:tavLst>
                                    </p:anim>
                                    <p:anim calcmode="lin" valueType="num">
                                      <p:cBhvr additive="repl">
                                        <p:cTn id="2818" dur="500" fill="hold"/>
                                        <p:tgtEl>
                                          <p:spTgt spid="3192"/>
                                        </p:tgtEl>
                                        <p:attrNameLst>
                                          <p:attrName>ppt_w</p:attrName>
                                        </p:attrNameLst>
                                      </p:cBhvr>
                                      <p:tavLst>
                                        <p:tav tm="0">
                                          <p:val>
                                            <p:fltVal val="0"/>
                                          </p:val>
                                        </p:tav>
                                        <p:tav tm="100000">
                                          <p:val>
                                            <p:strVal val="#ppt_w"/>
                                          </p:val>
                                        </p:tav>
                                      </p:tavLst>
                                    </p:anim>
                                    <p:anim calcmode="lin" valueType="num">
                                      <p:cBhvr additive="repl">
                                        <p:cTn id="2819" dur="500" fill="hold"/>
                                        <p:tgtEl>
                                          <p:spTgt spid="3192"/>
                                        </p:tgtEl>
                                        <p:attrNameLst>
                                          <p:attrName>ppt_h</p:attrName>
                                        </p:attrNameLst>
                                      </p:cBhvr>
                                      <p:tavLst>
                                        <p:tav tm="0">
                                          <p:val>
                                            <p:strVal val="#ppt_h"/>
                                          </p:val>
                                        </p:tav>
                                        <p:tav tm="100000">
                                          <p:val>
                                            <p:strVal val="#ppt_h"/>
                                          </p:val>
                                        </p:tav>
                                      </p:tavLst>
                                    </p:anim>
                                  </p:childTnLst>
                                </p:cTn>
                              </p:par>
                            </p:childTnLst>
                          </p:cTn>
                        </p:par>
                        <p:par>
                          <p:cTn id="2820" nodeType="afterEffect" fill="hold">
                            <p:stCondLst>
                              <p:cond delay="5175"/>
                            </p:stCondLst>
                            <p:childTnLst>
                              <p:par>
                                <p:cTn id="2821" nodeType="afterEffect" fill="hold" presetClass="entr" presetID="17" presetSubtype="8">
                                  <p:stCondLst>
                                    <p:cond delay="1000"/>
                                  </p:stCondLst>
                                  <p:childTnLst>
                                    <p:set>
                                      <p:cBhvr>
                                        <p:cTn id="2822" dur="1" fill="hold">
                                          <p:stCondLst>
                                            <p:cond delay="0"/>
                                          </p:stCondLst>
                                        </p:cTn>
                                        <p:tgtEl>
                                          <p:spTgt spid="3193"/>
                                        </p:tgtEl>
                                        <p:attrNameLst>
                                          <p:attrName>style.visibility</p:attrName>
                                        </p:attrNameLst>
                                      </p:cBhvr>
                                      <p:to>
                                        <p:strVal val="visible"/>
                                      </p:to>
                                    </p:set>
                                    <p:anim calcmode="lin" valueType="num">
                                      <p:cBhvr additive="repl">
                                        <p:cTn id="2823" dur="500" fill="hold"/>
                                        <p:tgtEl>
                                          <p:spTgt spid="3193"/>
                                        </p:tgtEl>
                                        <p:attrNameLst>
                                          <p:attrName>ppt_x</p:attrName>
                                        </p:attrNameLst>
                                      </p:cBhvr>
                                      <p:tavLst>
                                        <p:tav tm="0">
                                          <p:val>
                                            <p:strVal val="#ppt_x-#ppt_w/2"/>
                                          </p:val>
                                        </p:tav>
                                        <p:tav tm="100000">
                                          <p:val>
                                            <p:strVal val="#ppt_x"/>
                                          </p:val>
                                        </p:tav>
                                      </p:tavLst>
                                    </p:anim>
                                    <p:anim calcmode="lin" valueType="num">
                                      <p:cBhvr additive="repl">
                                        <p:cTn id="2824" dur="500" fill="hold"/>
                                        <p:tgtEl>
                                          <p:spTgt spid="3193"/>
                                        </p:tgtEl>
                                        <p:attrNameLst>
                                          <p:attrName>ppt_y</p:attrName>
                                        </p:attrNameLst>
                                      </p:cBhvr>
                                      <p:tavLst>
                                        <p:tav tm="0">
                                          <p:val>
                                            <p:strVal val="#ppt_y"/>
                                          </p:val>
                                        </p:tav>
                                        <p:tav tm="100000">
                                          <p:val>
                                            <p:strVal val="#ppt_y"/>
                                          </p:val>
                                        </p:tav>
                                      </p:tavLst>
                                    </p:anim>
                                    <p:anim calcmode="lin" valueType="num">
                                      <p:cBhvr additive="repl">
                                        <p:cTn id="2825" dur="500" fill="hold"/>
                                        <p:tgtEl>
                                          <p:spTgt spid="3193"/>
                                        </p:tgtEl>
                                        <p:attrNameLst>
                                          <p:attrName>ppt_w</p:attrName>
                                        </p:attrNameLst>
                                      </p:cBhvr>
                                      <p:tavLst>
                                        <p:tav tm="0">
                                          <p:val>
                                            <p:fltVal val="0"/>
                                          </p:val>
                                        </p:tav>
                                        <p:tav tm="100000">
                                          <p:val>
                                            <p:strVal val="#ppt_w"/>
                                          </p:val>
                                        </p:tav>
                                      </p:tavLst>
                                    </p:anim>
                                    <p:anim calcmode="lin" valueType="num">
                                      <p:cBhvr additive="repl">
                                        <p:cTn id="2826" dur="500" fill="hold"/>
                                        <p:tgtEl>
                                          <p:spTgt spid="3193"/>
                                        </p:tgtEl>
                                        <p:attrNameLst>
                                          <p:attrName>ppt_h</p:attrName>
                                        </p:attrNameLst>
                                      </p:cBhvr>
                                      <p:tavLst>
                                        <p:tav tm="0">
                                          <p:val>
                                            <p:strVal val="#ppt_h"/>
                                          </p:val>
                                        </p:tav>
                                        <p:tav tm="100000">
                                          <p:val>
                                            <p:strVal val="#ppt_h"/>
                                          </p:val>
                                        </p:tav>
                                      </p:tavLst>
                                    </p:anim>
                                  </p:childTnLst>
                                </p:cTn>
                              </p:par>
                            </p:childTnLst>
                          </p:cTn>
                        </p:par>
                        <p:par>
                          <p:cTn id="2827" nodeType="afterEffect" fill="hold">
                            <p:stCondLst>
                              <p:cond delay="6675"/>
                            </p:stCondLst>
                            <p:childTnLst>
                              <p:par>
                                <p:cTn id="2828" nodeType="afterEffect" fill="hold" presetClass="entr" presetID="17" presetSubtype="8">
                                  <p:stCondLst>
                                    <p:cond delay="0"/>
                                  </p:stCondLst>
                                  <p:childTnLst>
                                    <p:set>
                                      <p:cBhvr>
                                        <p:cTn id="2829" dur="1" fill="hold">
                                          <p:stCondLst>
                                            <p:cond delay="0"/>
                                          </p:stCondLst>
                                        </p:cTn>
                                        <p:tgtEl>
                                          <p:spTgt spid="3194"/>
                                        </p:tgtEl>
                                        <p:attrNameLst>
                                          <p:attrName>style.visibility</p:attrName>
                                        </p:attrNameLst>
                                      </p:cBhvr>
                                      <p:to>
                                        <p:strVal val="visible"/>
                                      </p:to>
                                    </p:set>
                                    <p:anim calcmode="lin" valueType="num">
                                      <p:cBhvr additive="repl">
                                        <p:cTn id="2830" dur="500" fill="hold"/>
                                        <p:tgtEl>
                                          <p:spTgt spid="3194"/>
                                        </p:tgtEl>
                                        <p:attrNameLst>
                                          <p:attrName>ppt_x</p:attrName>
                                        </p:attrNameLst>
                                      </p:cBhvr>
                                      <p:tavLst>
                                        <p:tav tm="0">
                                          <p:val>
                                            <p:strVal val="#ppt_x-#ppt_w/2"/>
                                          </p:val>
                                        </p:tav>
                                        <p:tav tm="100000">
                                          <p:val>
                                            <p:strVal val="#ppt_x"/>
                                          </p:val>
                                        </p:tav>
                                      </p:tavLst>
                                    </p:anim>
                                    <p:anim calcmode="lin" valueType="num">
                                      <p:cBhvr additive="repl">
                                        <p:cTn id="2831" dur="500" fill="hold"/>
                                        <p:tgtEl>
                                          <p:spTgt spid="3194"/>
                                        </p:tgtEl>
                                        <p:attrNameLst>
                                          <p:attrName>ppt_y</p:attrName>
                                        </p:attrNameLst>
                                      </p:cBhvr>
                                      <p:tavLst>
                                        <p:tav tm="0">
                                          <p:val>
                                            <p:strVal val="#ppt_y"/>
                                          </p:val>
                                        </p:tav>
                                        <p:tav tm="100000">
                                          <p:val>
                                            <p:strVal val="#ppt_y"/>
                                          </p:val>
                                        </p:tav>
                                      </p:tavLst>
                                    </p:anim>
                                    <p:anim calcmode="lin" valueType="num">
                                      <p:cBhvr additive="repl">
                                        <p:cTn id="2832" dur="500" fill="hold"/>
                                        <p:tgtEl>
                                          <p:spTgt spid="3194"/>
                                        </p:tgtEl>
                                        <p:attrNameLst>
                                          <p:attrName>ppt_w</p:attrName>
                                        </p:attrNameLst>
                                      </p:cBhvr>
                                      <p:tavLst>
                                        <p:tav tm="0">
                                          <p:val>
                                            <p:fltVal val="0"/>
                                          </p:val>
                                        </p:tav>
                                        <p:tav tm="100000">
                                          <p:val>
                                            <p:strVal val="#ppt_w"/>
                                          </p:val>
                                        </p:tav>
                                      </p:tavLst>
                                    </p:anim>
                                    <p:anim calcmode="lin" valueType="num">
                                      <p:cBhvr additive="repl">
                                        <p:cTn id="2833" dur="500" fill="hold"/>
                                        <p:tgtEl>
                                          <p:spTgt spid="3194"/>
                                        </p:tgtEl>
                                        <p:attrNameLst>
                                          <p:attrName>ppt_h</p:attrName>
                                        </p:attrNameLst>
                                      </p:cBhvr>
                                      <p:tavLst>
                                        <p:tav tm="0">
                                          <p:val>
                                            <p:strVal val="#ppt_h"/>
                                          </p:val>
                                        </p:tav>
                                        <p:tav tm="100000">
                                          <p:val>
                                            <p:strVal val="#ppt_h"/>
                                          </p:val>
                                        </p:tav>
                                      </p:tavLst>
                                    </p:anim>
                                  </p:childTnLst>
                                </p:cTn>
                              </p:par>
                            </p:childTnLst>
                          </p:cTn>
                        </p:par>
                        <p:par>
                          <p:cTn id="2834" nodeType="afterEffect" fill="hold">
                            <p:stCondLst>
                              <p:cond delay="7175"/>
                            </p:stCondLst>
                            <p:childTnLst>
                              <p:par>
                                <p:cTn id="2835" nodeType="afterEffect" fill="hold" presetClass="entr" presetID="17" presetSubtype="8">
                                  <p:stCondLst>
                                    <p:cond delay="0"/>
                                  </p:stCondLst>
                                  <p:childTnLst>
                                    <p:set>
                                      <p:cBhvr>
                                        <p:cTn id="2836" dur="1" fill="hold">
                                          <p:stCondLst>
                                            <p:cond delay="0"/>
                                          </p:stCondLst>
                                        </p:cTn>
                                        <p:tgtEl>
                                          <p:spTgt spid="3195"/>
                                        </p:tgtEl>
                                        <p:attrNameLst>
                                          <p:attrName>style.visibility</p:attrName>
                                        </p:attrNameLst>
                                      </p:cBhvr>
                                      <p:to>
                                        <p:strVal val="visible"/>
                                      </p:to>
                                    </p:set>
                                    <p:anim calcmode="lin" valueType="num">
                                      <p:cBhvr additive="repl">
                                        <p:cTn id="2837" dur="500" fill="hold"/>
                                        <p:tgtEl>
                                          <p:spTgt spid="3195"/>
                                        </p:tgtEl>
                                        <p:attrNameLst>
                                          <p:attrName>ppt_x</p:attrName>
                                        </p:attrNameLst>
                                      </p:cBhvr>
                                      <p:tavLst>
                                        <p:tav tm="0">
                                          <p:val>
                                            <p:strVal val="#ppt_x-#ppt_w/2"/>
                                          </p:val>
                                        </p:tav>
                                        <p:tav tm="100000">
                                          <p:val>
                                            <p:strVal val="#ppt_x"/>
                                          </p:val>
                                        </p:tav>
                                      </p:tavLst>
                                    </p:anim>
                                    <p:anim calcmode="lin" valueType="num">
                                      <p:cBhvr additive="repl">
                                        <p:cTn id="2838" dur="500" fill="hold"/>
                                        <p:tgtEl>
                                          <p:spTgt spid="3195"/>
                                        </p:tgtEl>
                                        <p:attrNameLst>
                                          <p:attrName>ppt_y</p:attrName>
                                        </p:attrNameLst>
                                      </p:cBhvr>
                                      <p:tavLst>
                                        <p:tav tm="0">
                                          <p:val>
                                            <p:strVal val="#ppt_y"/>
                                          </p:val>
                                        </p:tav>
                                        <p:tav tm="100000">
                                          <p:val>
                                            <p:strVal val="#ppt_y"/>
                                          </p:val>
                                        </p:tav>
                                      </p:tavLst>
                                    </p:anim>
                                    <p:anim calcmode="lin" valueType="num">
                                      <p:cBhvr additive="repl">
                                        <p:cTn id="2839" dur="500" fill="hold"/>
                                        <p:tgtEl>
                                          <p:spTgt spid="3195"/>
                                        </p:tgtEl>
                                        <p:attrNameLst>
                                          <p:attrName>ppt_w</p:attrName>
                                        </p:attrNameLst>
                                      </p:cBhvr>
                                      <p:tavLst>
                                        <p:tav tm="0">
                                          <p:val>
                                            <p:fltVal val="0"/>
                                          </p:val>
                                        </p:tav>
                                        <p:tav tm="100000">
                                          <p:val>
                                            <p:strVal val="#ppt_w"/>
                                          </p:val>
                                        </p:tav>
                                      </p:tavLst>
                                    </p:anim>
                                    <p:anim calcmode="lin" valueType="num">
                                      <p:cBhvr additive="repl">
                                        <p:cTn id="2840" dur="500" fill="hold"/>
                                        <p:tgtEl>
                                          <p:spTgt spid="3195"/>
                                        </p:tgtEl>
                                        <p:attrNameLst>
                                          <p:attrName>ppt_h</p:attrName>
                                        </p:attrNameLst>
                                      </p:cBhvr>
                                      <p:tavLst>
                                        <p:tav tm="0">
                                          <p:val>
                                            <p:strVal val="#ppt_h"/>
                                          </p:val>
                                        </p:tav>
                                        <p:tav tm="100000">
                                          <p:val>
                                            <p:strVal val="#ppt_h"/>
                                          </p:val>
                                        </p:tav>
                                      </p:tavLst>
                                    </p:anim>
                                  </p:childTnLst>
                                </p:cTn>
                              </p:par>
                            </p:childTnLst>
                          </p:cTn>
                        </p:par>
                      </p:childTnLst>
                    </p:cTn>
                  </p:par>
                  <p:par>
                    <p:cTn id="2841" nodeType="clickEffect" fill="hold">
                      <p:stCondLst>
                        <p:cond delay="indefinite"/>
                      </p:stCondLst>
                      <p:childTnLst>
                        <p:par>
                          <p:cTn id="2842" nodeType="withEffect" fill="hold">
                            <p:stCondLst>
                              <p:cond delay="0"/>
                            </p:stCondLst>
                            <p:childTnLst>
                              <p:par>
                                <p:cTn id="2843" nodeType="clickEffect" fill="hold" presetClass="entr" presetID="9">
                                  <p:stCondLst>
                                    <p:cond delay="0"/>
                                  </p:stCondLst>
                                  <p:iterate type="lt">
                                    <p:tmAbs val="75"/>
                                  </p:iterate>
                                  <p:childTnLst>
                                    <p:set>
                                      <p:cBhvr>
                                        <p:cTn id="2844" dur="1" fill="hold">
                                          <p:stCondLst>
                                            <p:cond delay="0"/>
                                          </p:stCondLst>
                                        </p:cTn>
                                        <p:tgtEl>
                                          <p:spTgt spid="3157"/>
                                        </p:tgtEl>
                                        <p:attrNameLst>
                                          <p:attrName>style.visibility</p:attrName>
                                        </p:attrNameLst>
                                      </p:cBhvr>
                                      <p:to>
                                        <p:strVal val="visible"/>
                                      </p:to>
                                    </p:set>
                                    <p:animEffect filter="dissolve" transition="in">
                                      <p:cBhvr additive="repl">
                                        <p:cTn id="2845" dur="75"/>
                                        <p:tgtEl>
                                          <p:spTgt spid="3157"/>
                                        </p:tgtEl>
                                      </p:cBhvr>
                                    </p:animEffect>
                                  </p:childTnLst>
                                </p:cTn>
                              </p:par>
                            </p:childTnLst>
                          </p:cTn>
                        </p:par>
                        <p:par>
                          <p:cTn id="2846" nodeType="afterEffect" fill="hold">
                            <p:stCondLst>
                              <p:cond delay="150"/>
                            </p:stCondLst>
                            <p:childTnLst>
                              <p:par>
                                <p:cTn id="2847" nodeType="afterEffect" fill="hold" presetClass="entr" presetID="9">
                                  <p:stCondLst>
                                    <p:cond delay="1000"/>
                                  </p:stCondLst>
                                  <p:iterate type="lt">
                                    <p:tmAbs val="75"/>
                                  </p:iterate>
                                  <p:childTnLst>
                                    <p:set>
                                      <p:cBhvr>
                                        <p:cTn id="2848" dur="1" fill="hold">
                                          <p:stCondLst>
                                            <p:cond delay="0"/>
                                          </p:stCondLst>
                                        </p:cTn>
                                        <p:tgtEl>
                                          <p:spTgt spid="3143"/>
                                        </p:tgtEl>
                                        <p:attrNameLst>
                                          <p:attrName>style.visibility</p:attrName>
                                        </p:attrNameLst>
                                      </p:cBhvr>
                                      <p:to>
                                        <p:strVal val="visible"/>
                                      </p:to>
                                    </p:set>
                                    <p:animEffect filter="dissolve" transition="in">
                                      <p:cBhvr additive="repl">
                                        <p:cTn id="2849" dur="75"/>
                                        <p:tgtEl>
                                          <p:spTgt spid="3143"/>
                                        </p:tgtEl>
                                      </p:cBhvr>
                                    </p:animEffect>
                                  </p:childTnLst>
                                </p:cTn>
                              </p:par>
                            </p:childTnLst>
                          </p:cTn>
                        </p:par>
                        <p:par>
                          <p:cTn id="2850" nodeType="afterEffect" fill="hold">
                            <p:stCondLst>
                              <p:cond delay="1375"/>
                            </p:stCondLst>
                            <p:childTnLst>
                              <p:par>
                                <p:cTn id="2851" nodeType="afterEffect" fill="hold" presetClass="entr" presetID="9">
                                  <p:stCondLst>
                                    <p:cond delay="1000"/>
                                  </p:stCondLst>
                                  <p:iterate type="lt">
                                    <p:tmAbs val="75"/>
                                  </p:iterate>
                                  <p:childTnLst>
                                    <p:set>
                                      <p:cBhvr>
                                        <p:cTn id="2852" dur="1" fill="hold">
                                          <p:stCondLst>
                                            <p:cond delay="0"/>
                                          </p:stCondLst>
                                        </p:cTn>
                                        <p:tgtEl>
                                          <p:spTgt spid="3145"/>
                                        </p:tgtEl>
                                        <p:attrNameLst>
                                          <p:attrName>style.visibility</p:attrName>
                                        </p:attrNameLst>
                                      </p:cBhvr>
                                      <p:to>
                                        <p:strVal val="visible"/>
                                      </p:to>
                                    </p:set>
                                    <p:animEffect filter="dissolve" transition="in">
                                      <p:cBhvr additive="repl">
                                        <p:cTn id="2853" dur="75"/>
                                        <p:tgtEl>
                                          <p:spTgt spid="3145"/>
                                        </p:tgtEl>
                                      </p:cBhvr>
                                    </p:animEffect>
                                  </p:childTnLst>
                                </p:cTn>
                              </p:par>
                            </p:childTnLst>
                          </p:cTn>
                        </p:par>
                        <p:par>
                          <p:cTn id="2854" nodeType="afterEffect" fill="hold">
                            <p:stCondLst>
                              <p:cond delay="2675"/>
                            </p:stCondLst>
                            <p:childTnLst>
                              <p:par>
                                <p:cTn id="2855" nodeType="afterEffect" fill="hold" presetClass="entr" presetID="17" presetSubtype="8">
                                  <p:stCondLst>
                                    <p:cond delay="1000"/>
                                  </p:stCondLst>
                                  <p:childTnLst>
                                    <p:set>
                                      <p:cBhvr>
                                        <p:cTn id="2856" dur="1" fill="hold">
                                          <p:stCondLst>
                                            <p:cond delay="0"/>
                                          </p:stCondLst>
                                        </p:cTn>
                                        <p:tgtEl>
                                          <p:spTgt spid="3187"/>
                                        </p:tgtEl>
                                        <p:attrNameLst>
                                          <p:attrName>style.visibility</p:attrName>
                                        </p:attrNameLst>
                                      </p:cBhvr>
                                      <p:to>
                                        <p:strVal val="visible"/>
                                      </p:to>
                                    </p:set>
                                    <p:anim calcmode="lin" valueType="num">
                                      <p:cBhvr additive="repl">
                                        <p:cTn id="2857" dur="500" fill="hold"/>
                                        <p:tgtEl>
                                          <p:spTgt spid="3187"/>
                                        </p:tgtEl>
                                        <p:attrNameLst>
                                          <p:attrName>ppt_x</p:attrName>
                                        </p:attrNameLst>
                                      </p:cBhvr>
                                      <p:tavLst>
                                        <p:tav tm="0">
                                          <p:val>
                                            <p:strVal val="#ppt_x-#ppt_w/2"/>
                                          </p:val>
                                        </p:tav>
                                        <p:tav tm="100000">
                                          <p:val>
                                            <p:strVal val="#ppt_x"/>
                                          </p:val>
                                        </p:tav>
                                      </p:tavLst>
                                    </p:anim>
                                    <p:anim calcmode="lin" valueType="num">
                                      <p:cBhvr additive="repl">
                                        <p:cTn id="2858" dur="500" fill="hold"/>
                                        <p:tgtEl>
                                          <p:spTgt spid="3187"/>
                                        </p:tgtEl>
                                        <p:attrNameLst>
                                          <p:attrName>ppt_y</p:attrName>
                                        </p:attrNameLst>
                                      </p:cBhvr>
                                      <p:tavLst>
                                        <p:tav tm="0">
                                          <p:val>
                                            <p:strVal val="#ppt_y"/>
                                          </p:val>
                                        </p:tav>
                                        <p:tav tm="100000">
                                          <p:val>
                                            <p:strVal val="#ppt_y"/>
                                          </p:val>
                                        </p:tav>
                                      </p:tavLst>
                                    </p:anim>
                                    <p:anim calcmode="lin" valueType="num">
                                      <p:cBhvr additive="repl">
                                        <p:cTn id="2859" dur="500" fill="hold"/>
                                        <p:tgtEl>
                                          <p:spTgt spid="3187"/>
                                        </p:tgtEl>
                                        <p:attrNameLst>
                                          <p:attrName>ppt_w</p:attrName>
                                        </p:attrNameLst>
                                      </p:cBhvr>
                                      <p:tavLst>
                                        <p:tav tm="0">
                                          <p:val>
                                            <p:fltVal val="0"/>
                                          </p:val>
                                        </p:tav>
                                        <p:tav tm="100000">
                                          <p:val>
                                            <p:strVal val="#ppt_w"/>
                                          </p:val>
                                        </p:tav>
                                      </p:tavLst>
                                    </p:anim>
                                    <p:anim calcmode="lin" valueType="num">
                                      <p:cBhvr additive="repl">
                                        <p:cTn id="2860" dur="500" fill="hold"/>
                                        <p:tgtEl>
                                          <p:spTgt spid="3187"/>
                                        </p:tgtEl>
                                        <p:attrNameLst>
                                          <p:attrName>ppt_h</p:attrName>
                                        </p:attrNameLst>
                                      </p:cBhvr>
                                      <p:tavLst>
                                        <p:tav tm="0">
                                          <p:val>
                                            <p:strVal val="#ppt_h"/>
                                          </p:val>
                                        </p:tav>
                                        <p:tav tm="100000">
                                          <p:val>
                                            <p:strVal val="#ppt_h"/>
                                          </p:val>
                                        </p:tav>
                                      </p:tavLst>
                                    </p:anim>
                                  </p:childTnLst>
                                </p:cTn>
                              </p:par>
                            </p:childTnLst>
                          </p:cTn>
                        </p:par>
                        <p:par>
                          <p:cTn id="2861" nodeType="afterEffect" fill="hold">
                            <p:stCondLst>
                              <p:cond delay="4175"/>
                            </p:stCondLst>
                            <p:childTnLst>
                              <p:par>
                                <p:cTn id="2862" nodeType="afterEffect" fill="hold" presetClass="entr" presetID="17" presetSubtype="8">
                                  <p:stCondLst>
                                    <p:cond delay="0"/>
                                  </p:stCondLst>
                                  <p:childTnLst>
                                    <p:set>
                                      <p:cBhvr>
                                        <p:cTn id="2863" dur="1" fill="hold">
                                          <p:stCondLst>
                                            <p:cond delay="0"/>
                                          </p:stCondLst>
                                        </p:cTn>
                                        <p:tgtEl>
                                          <p:spTgt spid="3188"/>
                                        </p:tgtEl>
                                        <p:attrNameLst>
                                          <p:attrName>style.visibility</p:attrName>
                                        </p:attrNameLst>
                                      </p:cBhvr>
                                      <p:to>
                                        <p:strVal val="visible"/>
                                      </p:to>
                                    </p:set>
                                    <p:anim calcmode="lin" valueType="num">
                                      <p:cBhvr additive="repl">
                                        <p:cTn id="2864" dur="500" fill="hold"/>
                                        <p:tgtEl>
                                          <p:spTgt spid="3188"/>
                                        </p:tgtEl>
                                        <p:attrNameLst>
                                          <p:attrName>ppt_x</p:attrName>
                                        </p:attrNameLst>
                                      </p:cBhvr>
                                      <p:tavLst>
                                        <p:tav tm="0">
                                          <p:val>
                                            <p:strVal val="#ppt_x-#ppt_w/2"/>
                                          </p:val>
                                        </p:tav>
                                        <p:tav tm="100000">
                                          <p:val>
                                            <p:strVal val="#ppt_x"/>
                                          </p:val>
                                        </p:tav>
                                      </p:tavLst>
                                    </p:anim>
                                    <p:anim calcmode="lin" valueType="num">
                                      <p:cBhvr additive="repl">
                                        <p:cTn id="2865" dur="500" fill="hold"/>
                                        <p:tgtEl>
                                          <p:spTgt spid="3188"/>
                                        </p:tgtEl>
                                        <p:attrNameLst>
                                          <p:attrName>ppt_y</p:attrName>
                                        </p:attrNameLst>
                                      </p:cBhvr>
                                      <p:tavLst>
                                        <p:tav tm="0">
                                          <p:val>
                                            <p:strVal val="#ppt_y"/>
                                          </p:val>
                                        </p:tav>
                                        <p:tav tm="100000">
                                          <p:val>
                                            <p:strVal val="#ppt_y"/>
                                          </p:val>
                                        </p:tav>
                                      </p:tavLst>
                                    </p:anim>
                                    <p:anim calcmode="lin" valueType="num">
                                      <p:cBhvr additive="repl">
                                        <p:cTn id="2866" dur="500" fill="hold"/>
                                        <p:tgtEl>
                                          <p:spTgt spid="3188"/>
                                        </p:tgtEl>
                                        <p:attrNameLst>
                                          <p:attrName>ppt_w</p:attrName>
                                        </p:attrNameLst>
                                      </p:cBhvr>
                                      <p:tavLst>
                                        <p:tav tm="0">
                                          <p:val>
                                            <p:fltVal val="0"/>
                                          </p:val>
                                        </p:tav>
                                        <p:tav tm="100000">
                                          <p:val>
                                            <p:strVal val="#ppt_w"/>
                                          </p:val>
                                        </p:tav>
                                      </p:tavLst>
                                    </p:anim>
                                    <p:anim calcmode="lin" valueType="num">
                                      <p:cBhvr additive="repl">
                                        <p:cTn id="2867" dur="500" fill="hold"/>
                                        <p:tgtEl>
                                          <p:spTgt spid="3188"/>
                                        </p:tgtEl>
                                        <p:attrNameLst>
                                          <p:attrName>ppt_h</p:attrName>
                                        </p:attrNameLst>
                                      </p:cBhvr>
                                      <p:tavLst>
                                        <p:tav tm="0">
                                          <p:val>
                                            <p:strVal val="#ppt_h"/>
                                          </p:val>
                                        </p:tav>
                                        <p:tav tm="100000">
                                          <p:val>
                                            <p:strVal val="#ppt_h"/>
                                          </p:val>
                                        </p:tav>
                                      </p:tavLst>
                                    </p:anim>
                                  </p:childTnLst>
                                </p:cTn>
                              </p:par>
                            </p:childTnLst>
                          </p:cTn>
                        </p:par>
                        <p:par>
                          <p:cTn id="2868" nodeType="afterEffect" fill="hold">
                            <p:stCondLst>
                              <p:cond delay="4675"/>
                            </p:stCondLst>
                            <p:childTnLst>
                              <p:par>
                                <p:cTn id="2869" nodeType="afterEffect" fill="hold" presetClass="entr" presetID="17" presetSubtype="8">
                                  <p:stCondLst>
                                    <p:cond delay="0"/>
                                  </p:stCondLst>
                                  <p:childTnLst>
                                    <p:set>
                                      <p:cBhvr>
                                        <p:cTn id="2870" dur="1" fill="hold">
                                          <p:stCondLst>
                                            <p:cond delay="0"/>
                                          </p:stCondLst>
                                        </p:cTn>
                                        <p:tgtEl>
                                          <p:spTgt spid="3189"/>
                                        </p:tgtEl>
                                        <p:attrNameLst>
                                          <p:attrName>style.visibility</p:attrName>
                                        </p:attrNameLst>
                                      </p:cBhvr>
                                      <p:to>
                                        <p:strVal val="visible"/>
                                      </p:to>
                                    </p:set>
                                    <p:anim calcmode="lin" valueType="num">
                                      <p:cBhvr additive="repl">
                                        <p:cTn id="2871" dur="500" fill="hold"/>
                                        <p:tgtEl>
                                          <p:spTgt spid="3189"/>
                                        </p:tgtEl>
                                        <p:attrNameLst>
                                          <p:attrName>ppt_x</p:attrName>
                                        </p:attrNameLst>
                                      </p:cBhvr>
                                      <p:tavLst>
                                        <p:tav tm="0">
                                          <p:val>
                                            <p:strVal val="#ppt_x-#ppt_w/2"/>
                                          </p:val>
                                        </p:tav>
                                        <p:tav tm="100000">
                                          <p:val>
                                            <p:strVal val="#ppt_x"/>
                                          </p:val>
                                        </p:tav>
                                      </p:tavLst>
                                    </p:anim>
                                    <p:anim calcmode="lin" valueType="num">
                                      <p:cBhvr additive="repl">
                                        <p:cTn id="2872" dur="500" fill="hold"/>
                                        <p:tgtEl>
                                          <p:spTgt spid="3189"/>
                                        </p:tgtEl>
                                        <p:attrNameLst>
                                          <p:attrName>ppt_y</p:attrName>
                                        </p:attrNameLst>
                                      </p:cBhvr>
                                      <p:tavLst>
                                        <p:tav tm="0">
                                          <p:val>
                                            <p:strVal val="#ppt_y"/>
                                          </p:val>
                                        </p:tav>
                                        <p:tav tm="100000">
                                          <p:val>
                                            <p:strVal val="#ppt_y"/>
                                          </p:val>
                                        </p:tav>
                                      </p:tavLst>
                                    </p:anim>
                                    <p:anim calcmode="lin" valueType="num">
                                      <p:cBhvr additive="repl">
                                        <p:cTn id="2873" dur="500" fill="hold"/>
                                        <p:tgtEl>
                                          <p:spTgt spid="3189"/>
                                        </p:tgtEl>
                                        <p:attrNameLst>
                                          <p:attrName>ppt_w</p:attrName>
                                        </p:attrNameLst>
                                      </p:cBhvr>
                                      <p:tavLst>
                                        <p:tav tm="0">
                                          <p:val>
                                            <p:fltVal val="0"/>
                                          </p:val>
                                        </p:tav>
                                        <p:tav tm="100000">
                                          <p:val>
                                            <p:strVal val="#ppt_w"/>
                                          </p:val>
                                        </p:tav>
                                      </p:tavLst>
                                    </p:anim>
                                    <p:anim calcmode="lin" valueType="num">
                                      <p:cBhvr additive="repl">
                                        <p:cTn id="2874" dur="500" fill="hold"/>
                                        <p:tgtEl>
                                          <p:spTgt spid="3189"/>
                                        </p:tgtEl>
                                        <p:attrNameLst>
                                          <p:attrName>ppt_h</p:attrName>
                                        </p:attrNameLst>
                                      </p:cBhvr>
                                      <p:tavLst>
                                        <p:tav tm="0">
                                          <p:val>
                                            <p:strVal val="#ppt_h"/>
                                          </p:val>
                                        </p:tav>
                                        <p:tav tm="100000">
                                          <p:val>
                                            <p:strVal val="#ppt_h"/>
                                          </p:val>
                                        </p:tav>
                                      </p:tavLst>
                                    </p:anim>
                                  </p:childTnLst>
                                </p:cTn>
                              </p:par>
                            </p:childTnLst>
                          </p:cTn>
                        </p:par>
                        <p:par>
                          <p:cTn id="2875" nodeType="afterEffect" fill="hold">
                            <p:stCondLst>
                              <p:cond delay="5175"/>
                            </p:stCondLst>
                            <p:childTnLst>
                              <p:par>
                                <p:cTn id="2876" nodeType="afterEffect" fill="hold" presetClass="entr" presetID="17" presetSubtype="8">
                                  <p:stCondLst>
                                    <p:cond delay="1000"/>
                                  </p:stCondLst>
                                  <p:childTnLst>
                                    <p:set>
                                      <p:cBhvr>
                                        <p:cTn id="2877" dur="1" fill="hold">
                                          <p:stCondLst>
                                            <p:cond delay="0"/>
                                          </p:stCondLst>
                                        </p:cTn>
                                        <p:tgtEl>
                                          <p:spTgt spid="3174"/>
                                        </p:tgtEl>
                                        <p:attrNameLst>
                                          <p:attrName>style.visibility</p:attrName>
                                        </p:attrNameLst>
                                      </p:cBhvr>
                                      <p:to>
                                        <p:strVal val="visible"/>
                                      </p:to>
                                    </p:set>
                                    <p:anim calcmode="lin" valueType="num">
                                      <p:cBhvr additive="repl">
                                        <p:cTn id="2878" dur="500" fill="hold"/>
                                        <p:tgtEl>
                                          <p:spTgt spid="3174"/>
                                        </p:tgtEl>
                                        <p:attrNameLst>
                                          <p:attrName>ppt_x</p:attrName>
                                        </p:attrNameLst>
                                      </p:cBhvr>
                                      <p:tavLst>
                                        <p:tav tm="0">
                                          <p:val>
                                            <p:strVal val="#ppt_x-#ppt_w/2"/>
                                          </p:val>
                                        </p:tav>
                                        <p:tav tm="100000">
                                          <p:val>
                                            <p:strVal val="#ppt_x"/>
                                          </p:val>
                                        </p:tav>
                                      </p:tavLst>
                                    </p:anim>
                                    <p:anim calcmode="lin" valueType="num">
                                      <p:cBhvr additive="repl">
                                        <p:cTn id="2879" dur="500" fill="hold"/>
                                        <p:tgtEl>
                                          <p:spTgt spid="3174"/>
                                        </p:tgtEl>
                                        <p:attrNameLst>
                                          <p:attrName>ppt_y</p:attrName>
                                        </p:attrNameLst>
                                      </p:cBhvr>
                                      <p:tavLst>
                                        <p:tav tm="0">
                                          <p:val>
                                            <p:strVal val="#ppt_y"/>
                                          </p:val>
                                        </p:tav>
                                        <p:tav tm="100000">
                                          <p:val>
                                            <p:strVal val="#ppt_y"/>
                                          </p:val>
                                        </p:tav>
                                      </p:tavLst>
                                    </p:anim>
                                    <p:anim calcmode="lin" valueType="num">
                                      <p:cBhvr additive="repl">
                                        <p:cTn id="2880" dur="500" fill="hold"/>
                                        <p:tgtEl>
                                          <p:spTgt spid="3174"/>
                                        </p:tgtEl>
                                        <p:attrNameLst>
                                          <p:attrName>ppt_w</p:attrName>
                                        </p:attrNameLst>
                                      </p:cBhvr>
                                      <p:tavLst>
                                        <p:tav tm="0">
                                          <p:val>
                                            <p:fltVal val="0"/>
                                          </p:val>
                                        </p:tav>
                                        <p:tav tm="100000">
                                          <p:val>
                                            <p:strVal val="#ppt_w"/>
                                          </p:val>
                                        </p:tav>
                                      </p:tavLst>
                                    </p:anim>
                                    <p:anim calcmode="lin" valueType="num">
                                      <p:cBhvr additive="repl">
                                        <p:cTn id="2881" dur="500" fill="hold"/>
                                        <p:tgtEl>
                                          <p:spTgt spid="3174"/>
                                        </p:tgtEl>
                                        <p:attrNameLst>
                                          <p:attrName>ppt_h</p:attrName>
                                        </p:attrNameLst>
                                      </p:cBhvr>
                                      <p:tavLst>
                                        <p:tav tm="0">
                                          <p:val>
                                            <p:strVal val="#ppt_h"/>
                                          </p:val>
                                        </p:tav>
                                        <p:tav tm="100000">
                                          <p:val>
                                            <p:strVal val="#ppt_h"/>
                                          </p:val>
                                        </p:tav>
                                      </p:tavLst>
                                    </p:anim>
                                  </p:childTnLst>
                                </p:cTn>
                              </p:par>
                            </p:childTnLst>
                          </p:cTn>
                        </p:par>
                        <p:par>
                          <p:cTn id="2882" nodeType="afterEffect" fill="hold">
                            <p:stCondLst>
                              <p:cond delay="6675"/>
                            </p:stCondLst>
                            <p:childTnLst>
                              <p:par>
                                <p:cTn id="2883" nodeType="afterEffect" fill="hold" presetClass="entr" presetID="17" presetSubtype="8">
                                  <p:stCondLst>
                                    <p:cond delay="0"/>
                                  </p:stCondLst>
                                  <p:childTnLst>
                                    <p:set>
                                      <p:cBhvr>
                                        <p:cTn id="2884" dur="1" fill="hold">
                                          <p:stCondLst>
                                            <p:cond delay="0"/>
                                          </p:stCondLst>
                                        </p:cTn>
                                        <p:tgtEl>
                                          <p:spTgt spid="3175"/>
                                        </p:tgtEl>
                                        <p:attrNameLst>
                                          <p:attrName>style.visibility</p:attrName>
                                        </p:attrNameLst>
                                      </p:cBhvr>
                                      <p:to>
                                        <p:strVal val="visible"/>
                                      </p:to>
                                    </p:set>
                                    <p:anim calcmode="lin" valueType="num">
                                      <p:cBhvr additive="repl">
                                        <p:cTn id="2885" dur="500" fill="hold"/>
                                        <p:tgtEl>
                                          <p:spTgt spid="3175"/>
                                        </p:tgtEl>
                                        <p:attrNameLst>
                                          <p:attrName>ppt_x</p:attrName>
                                        </p:attrNameLst>
                                      </p:cBhvr>
                                      <p:tavLst>
                                        <p:tav tm="0">
                                          <p:val>
                                            <p:strVal val="#ppt_x-#ppt_w/2"/>
                                          </p:val>
                                        </p:tav>
                                        <p:tav tm="100000">
                                          <p:val>
                                            <p:strVal val="#ppt_x"/>
                                          </p:val>
                                        </p:tav>
                                      </p:tavLst>
                                    </p:anim>
                                    <p:anim calcmode="lin" valueType="num">
                                      <p:cBhvr additive="repl">
                                        <p:cTn id="2886" dur="500" fill="hold"/>
                                        <p:tgtEl>
                                          <p:spTgt spid="3175"/>
                                        </p:tgtEl>
                                        <p:attrNameLst>
                                          <p:attrName>ppt_y</p:attrName>
                                        </p:attrNameLst>
                                      </p:cBhvr>
                                      <p:tavLst>
                                        <p:tav tm="0">
                                          <p:val>
                                            <p:strVal val="#ppt_y"/>
                                          </p:val>
                                        </p:tav>
                                        <p:tav tm="100000">
                                          <p:val>
                                            <p:strVal val="#ppt_y"/>
                                          </p:val>
                                        </p:tav>
                                      </p:tavLst>
                                    </p:anim>
                                    <p:anim calcmode="lin" valueType="num">
                                      <p:cBhvr additive="repl">
                                        <p:cTn id="2887" dur="500" fill="hold"/>
                                        <p:tgtEl>
                                          <p:spTgt spid="3175"/>
                                        </p:tgtEl>
                                        <p:attrNameLst>
                                          <p:attrName>ppt_w</p:attrName>
                                        </p:attrNameLst>
                                      </p:cBhvr>
                                      <p:tavLst>
                                        <p:tav tm="0">
                                          <p:val>
                                            <p:fltVal val="0"/>
                                          </p:val>
                                        </p:tav>
                                        <p:tav tm="100000">
                                          <p:val>
                                            <p:strVal val="#ppt_w"/>
                                          </p:val>
                                        </p:tav>
                                      </p:tavLst>
                                    </p:anim>
                                    <p:anim calcmode="lin" valueType="num">
                                      <p:cBhvr additive="repl">
                                        <p:cTn id="2888" dur="500" fill="hold"/>
                                        <p:tgtEl>
                                          <p:spTgt spid="3175"/>
                                        </p:tgtEl>
                                        <p:attrNameLst>
                                          <p:attrName>ppt_h</p:attrName>
                                        </p:attrNameLst>
                                      </p:cBhvr>
                                      <p:tavLst>
                                        <p:tav tm="0">
                                          <p:val>
                                            <p:strVal val="#ppt_h"/>
                                          </p:val>
                                        </p:tav>
                                        <p:tav tm="100000">
                                          <p:val>
                                            <p:strVal val="#ppt_h"/>
                                          </p:val>
                                        </p:tav>
                                      </p:tavLst>
                                    </p:anim>
                                  </p:childTnLst>
                                </p:cTn>
                              </p:par>
                            </p:childTnLst>
                          </p:cTn>
                        </p:par>
                      </p:childTnLst>
                    </p:cTn>
                  </p:par>
                  <p:par>
                    <p:cTn id="2889" nodeType="clickEffect" fill="hold">
                      <p:stCondLst>
                        <p:cond delay="indefinite"/>
                      </p:stCondLst>
                      <p:childTnLst>
                        <p:par>
                          <p:cTn id="2890" nodeType="withEffect" fill="hold">
                            <p:stCondLst>
                              <p:cond delay="0"/>
                            </p:stCondLst>
                            <p:childTnLst>
                              <p:par>
                                <p:cTn id="2891" nodeType="clickEffect" fill="hold" presetClass="entr" presetID="9">
                                  <p:stCondLst>
                                    <p:cond delay="0"/>
                                  </p:stCondLst>
                                  <p:iterate type="lt">
                                    <p:tmAbs val="75"/>
                                  </p:iterate>
                                  <p:childTnLst>
                                    <p:set>
                                      <p:cBhvr>
                                        <p:cTn id="2892" dur="1" fill="hold">
                                          <p:stCondLst>
                                            <p:cond delay="0"/>
                                          </p:stCondLst>
                                        </p:cTn>
                                        <p:tgtEl>
                                          <p:spTgt spid="3158"/>
                                        </p:tgtEl>
                                        <p:attrNameLst>
                                          <p:attrName>style.visibility</p:attrName>
                                        </p:attrNameLst>
                                      </p:cBhvr>
                                      <p:to>
                                        <p:strVal val="visible"/>
                                      </p:to>
                                    </p:set>
                                    <p:animEffect filter="dissolve" transition="in">
                                      <p:cBhvr additive="repl">
                                        <p:cTn id="2893" dur="75"/>
                                        <p:tgtEl>
                                          <p:spTgt spid="3158"/>
                                        </p:tgtEl>
                                      </p:cBhvr>
                                    </p:animEffect>
                                  </p:childTnLst>
                                </p:cTn>
                              </p:par>
                            </p:childTnLst>
                          </p:cTn>
                        </p:par>
                        <p:par>
                          <p:cTn id="2894" nodeType="afterEffect" fill="hold">
                            <p:stCondLst>
                              <p:cond delay="150"/>
                            </p:stCondLst>
                            <p:childTnLst>
                              <p:par>
                                <p:cTn id="2895" nodeType="afterEffect" fill="hold" presetClass="entr" presetID="9">
                                  <p:stCondLst>
                                    <p:cond delay="1000"/>
                                  </p:stCondLst>
                                  <p:iterate type="lt">
                                    <p:tmAbs val="75"/>
                                  </p:iterate>
                                  <p:childTnLst>
                                    <p:set>
                                      <p:cBhvr>
                                        <p:cTn id="2896" dur="1" fill="hold">
                                          <p:stCondLst>
                                            <p:cond delay="0"/>
                                          </p:stCondLst>
                                        </p:cTn>
                                        <p:tgtEl>
                                          <p:spTgt spid="3133"/>
                                        </p:tgtEl>
                                        <p:attrNameLst>
                                          <p:attrName>style.visibility</p:attrName>
                                        </p:attrNameLst>
                                      </p:cBhvr>
                                      <p:to>
                                        <p:strVal val="visible"/>
                                      </p:to>
                                    </p:set>
                                    <p:animEffect filter="dissolve" transition="in">
                                      <p:cBhvr additive="repl">
                                        <p:cTn id="2897" dur="75"/>
                                        <p:tgtEl>
                                          <p:spTgt spid="3133"/>
                                        </p:tgtEl>
                                      </p:cBhvr>
                                    </p:animEffect>
                                  </p:childTnLst>
                                </p:cTn>
                              </p:par>
                            </p:childTnLst>
                          </p:cTn>
                        </p:par>
                      </p:childTnLst>
                    </p:cTn>
                  </p:par>
                  <p:par>
                    <p:cTn id="2898" nodeType="clickEffect" fill="hold">
                      <p:stCondLst>
                        <p:cond delay="indefinite"/>
                      </p:stCondLst>
                      <p:childTnLst>
                        <p:par>
                          <p:cTn id="2899" nodeType="withEffect" fill="hold">
                            <p:stCondLst>
                              <p:cond delay="0"/>
                            </p:stCondLst>
                            <p:childTnLst>
                              <p:par>
                                <p:cTn id="2900" nodeType="clickEffect" fill="hold" presetClass="entr" presetID="9">
                                  <p:stCondLst>
                                    <p:cond delay="0"/>
                                  </p:stCondLst>
                                  <p:iterate type="lt">
                                    <p:tmAbs val="75"/>
                                  </p:iterate>
                                  <p:childTnLst>
                                    <p:set>
                                      <p:cBhvr>
                                        <p:cTn id="2901" dur="1" fill="hold">
                                          <p:stCondLst>
                                            <p:cond delay="0"/>
                                          </p:stCondLst>
                                        </p:cTn>
                                        <p:tgtEl>
                                          <p:spTgt spid="3162"/>
                                        </p:tgtEl>
                                        <p:attrNameLst>
                                          <p:attrName>style.visibility</p:attrName>
                                        </p:attrNameLst>
                                      </p:cBhvr>
                                      <p:to>
                                        <p:strVal val="visible"/>
                                      </p:to>
                                    </p:set>
                                    <p:animEffect filter="dissolve" transition="in">
                                      <p:cBhvr additive="repl">
                                        <p:cTn id="2902" dur="75"/>
                                        <p:tgtEl>
                                          <p:spTgt spid="3162"/>
                                        </p:tgtEl>
                                      </p:cBhvr>
                                    </p:animEffect>
                                  </p:childTnLst>
                                </p:cTn>
                              </p:par>
                            </p:childTnLst>
                          </p:cTn>
                        </p:par>
                        <p:par>
                          <p:cTn id="2903" nodeType="afterEffect" fill="hold">
                            <p:stCondLst>
                              <p:cond delay="75"/>
                            </p:stCondLst>
                            <p:childTnLst>
                              <p:par>
                                <p:cTn id="2904" nodeType="afterEffect" fill="hold" presetClass="entr" presetID="9">
                                  <p:stCondLst>
                                    <p:cond delay="1000"/>
                                  </p:stCondLst>
                                  <p:iterate type="lt">
                                    <p:tmAbs val="75"/>
                                  </p:iterate>
                                  <p:childTnLst>
                                    <p:set>
                                      <p:cBhvr>
                                        <p:cTn id="2905" dur="1" fill="hold">
                                          <p:stCondLst>
                                            <p:cond delay="0"/>
                                          </p:stCondLst>
                                        </p:cTn>
                                        <p:tgtEl>
                                          <p:spTgt spid="3146"/>
                                        </p:tgtEl>
                                        <p:attrNameLst>
                                          <p:attrName>style.visibility</p:attrName>
                                        </p:attrNameLst>
                                      </p:cBhvr>
                                      <p:to>
                                        <p:strVal val="visible"/>
                                      </p:to>
                                    </p:set>
                                    <p:animEffect filter="dissolve" transition="in">
                                      <p:cBhvr additive="repl">
                                        <p:cTn id="2906" dur="75"/>
                                        <p:tgtEl>
                                          <p:spTgt spid="3146"/>
                                        </p:tgtEl>
                                      </p:cBhvr>
                                    </p:animEffect>
                                  </p:childTnLst>
                                </p:cTn>
                              </p:par>
                            </p:childTnLst>
                          </p:cTn>
                        </p:par>
                        <p:par>
                          <p:cTn id="2907" nodeType="afterEffect" fill="hold">
                            <p:stCondLst>
                              <p:cond delay="1300"/>
                            </p:stCondLst>
                            <p:childTnLst>
                              <p:par>
                                <p:cTn id="2908" nodeType="afterEffect" fill="hold" presetClass="entr" presetID="9">
                                  <p:stCondLst>
                                    <p:cond delay="1000"/>
                                  </p:stCondLst>
                                  <p:iterate type="lt">
                                    <p:tmAbs val="75"/>
                                  </p:iterate>
                                  <p:childTnLst>
                                    <p:set>
                                      <p:cBhvr>
                                        <p:cTn id="2909" dur="1" fill="hold">
                                          <p:stCondLst>
                                            <p:cond delay="0"/>
                                          </p:stCondLst>
                                        </p:cTn>
                                        <p:tgtEl>
                                          <p:spTgt spid="3134"/>
                                        </p:tgtEl>
                                        <p:attrNameLst>
                                          <p:attrName>style.visibility</p:attrName>
                                        </p:attrNameLst>
                                      </p:cBhvr>
                                      <p:to>
                                        <p:strVal val="visible"/>
                                      </p:to>
                                    </p:set>
                                    <p:animEffect filter="dissolve" transition="in">
                                      <p:cBhvr additive="repl">
                                        <p:cTn id="2910" dur="75"/>
                                        <p:tgtEl>
                                          <p:spTgt spid="3134"/>
                                        </p:tgtEl>
                                      </p:cBhvr>
                                    </p:animEffect>
                                  </p:childTnLst>
                                </p:cTn>
                              </p:par>
                            </p:childTnLst>
                          </p:cTn>
                        </p:par>
                      </p:childTnLst>
                    </p:cTn>
                  </p:par>
                  <p:par>
                    <p:cTn id="2911" nodeType="clickEffect" fill="hold">
                      <p:stCondLst>
                        <p:cond delay="indefinite"/>
                      </p:stCondLst>
                      <p:childTnLst>
                        <p:par>
                          <p:cTn id="2912" nodeType="withEffect" fill="hold">
                            <p:stCondLst>
                              <p:cond delay="0"/>
                            </p:stCondLst>
                            <p:childTnLst>
                              <p:par>
                                <p:cTn id="2913" nodeType="clickEffect" fill="hold" presetClass="entr" presetID="9">
                                  <p:stCondLst>
                                    <p:cond delay="0"/>
                                  </p:stCondLst>
                                  <p:iterate type="lt">
                                    <p:tmAbs val="75"/>
                                  </p:iterate>
                                  <p:childTnLst>
                                    <p:set>
                                      <p:cBhvr>
                                        <p:cTn id="2914" dur="1" fill="hold">
                                          <p:stCondLst>
                                            <p:cond delay="0"/>
                                          </p:stCondLst>
                                        </p:cTn>
                                        <p:tgtEl>
                                          <p:spTgt spid="3160"/>
                                        </p:tgtEl>
                                        <p:attrNameLst>
                                          <p:attrName>style.visibility</p:attrName>
                                        </p:attrNameLst>
                                      </p:cBhvr>
                                      <p:to>
                                        <p:strVal val="visible"/>
                                      </p:to>
                                    </p:set>
                                    <p:animEffect filter="dissolve" transition="in">
                                      <p:cBhvr additive="repl">
                                        <p:cTn id="2915" dur="75"/>
                                        <p:tgtEl>
                                          <p:spTgt spid="3160"/>
                                        </p:tgtEl>
                                      </p:cBhvr>
                                    </p:animEffect>
                                  </p:childTnLst>
                                </p:cTn>
                              </p:par>
                            </p:childTnLst>
                          </p:cTn>
                        </p:par>
                        <p:par>
                          <p:cTn id="2916" nodeType="afterEffect" fill="hold">
                            <p:stCondLst>
                              <p:cond delay="75"/>
                            </p:stCondLst>
                            <p:childTnLst>
                              <p:par>
                                <p:cTn id="2917" nodeType="afterEffect" fill="hold" presetClass="entr" presetID="9">
                                  <p:stCondLst>
                                    <p:cond delay="1000"/>
                                  </p:stCondLst>
                                  <p:iterate type="lt">
                                    <p:tmAbs val="75"/>
                                  </p:iterate>
                                  <p:childTnLst>
                                    <p:set>
                                      <p:cBhvr>
                                        <p:cTn id="2918" dur="1" fill="hold">
                                          <p:stCondLst>
                                            <p:cond delay="0"/>
                                          </p:stCondLst>
                                        </p:cTn>
                                        <p:tgtEl>
                                          <p:spTgt spid="3152"/>
                                        </p:tgtEl>
                                        <p:attrNameLst>
                                          <p:attrName>style.visibility</p:attrName>
                                        </p:attrNameLst>
                                      </p:cBhvr>
                                      <p:to>
                                        <p:strVal val="visible"/>
                                      </p:to>
                                    </p:set>
                                    <p:animEffect filter="dissolve" transition="in">
                                      <p:cBhvr additive="repl">
                                        <p:cTn id="2919" dur="75"/>
                                        <p:tgtEl>
                                          <p:spTgt spid="3152"/>
                                        </p:tgtEl>
                                      </p:cBhvr>
                                    </p:animEffect>
                                  </p:childTnLst>
                                </p:cTn>
                              </p:par>
                            </p:childTnLst>
                          </p:cTn>
                        </p:par>
                        <p:par>
                          <p:cTn id="2920" nodeType="afterEffect" fill="hold">
                            <p:stCondLst>
                              <p:cond delay="1225"/>
                            </p:stCondLst>
                            <p:childTnLst>
                              <p:par>
                                <p:cTn id="2921" nodeType="afterEffect" fill="hold" presetClass="entr" presetID="9">
                                  <p:stCondLst>
                                    <p:cond delay="1000"/>
                                  </p:stCondLst>
                                  <p:iterate type="lt">
                                    <p:tmAbs val="75"/>
                                  </p:iterate>
                                  <p:childTnLst>
                                    <p:set>
                                      <p:cBhvr>
                                        <p:cTn id="2922" dur="1" fill="hold">
                                          <p:stCondLst>
                                            <p:cond delay="0"/>
                                          </p:stCondLst>
                                        </p:cTn>
                                        <p:tgtEl>
                                          <p:spTgt spid="3153"/>
                                        </p:tgtEl>
                                        <p:attrNameLst>
                                          <p:attrName>style.visibility</p:attrName>
                                        </p:attrNameLst>
                                      </p:cBhvr>
                                      <p:to>
                                        <p:strVal val="visible"/>
                                      </p:to>
                                    </p:set>
                                    <p:animEffect filter="dissolve" transition="in">
                                      <p:cBhvr additive="repl">
                                        <p:cTn id="2923" dur="75"/>
                                        <p:tgtEl>
                                          <p:spTgt spid="3153"/>
                                        </p:tgtEl>
                                      </p:cBhvr>
                                    </p:animEffect>
                                  </p:childTnLst>
                                </p:cTn>
                              </p:par>
                            </p:childTnLst>
                          </p:cTn>
                        </p:par>
                        <p:par>
                          <p:cTn id="2924" nodeType="afterEffect" fill="hold">
                            <p:stCondLst>
                              <p:cond delay="2375"/>
                            </p:stCondLst>
                            <p:childTnLst>
                              <p:par>
                                <p:cTn id="2925" nodeType="afterEffect" fill="hold" presetClass="entr" presetID="9">
                                  <p:stCondLst>
                                    <p:cond delay="1000"/>
                                  </p:stCondLst>
                                  <p:iterate type="lt">
                                    <p:tmAbs val="75"/>
                                  </p:iterate>
                                  <p:childTnLst>
                                    <p:set>
                                      <p:cBhvr>
                                        <p:cTn id="2926" dur="1" fill="hold">
                                          <p:stCondLst>
                                            <p:cond delay="0"/>
                                          </p:stCondLst>
                                        </p:cTn>
                                        <p:tgtEl>
                                          <p:spTgt spid="3203"/>
                                        </p:tgtEl>
                                        <p:attrNameLst>
                                          <p:attrName>style.visibility</p:attrName>
                                        </p:attrNameLst>
                                      </p:cBhvr>
                                      <p:to>
                                        <p:strVal val="visible"/>
                                      </p:to>
                                    </p:set>
                                    <p:animEffect filter="dissolve" transition="in">
                                      <p:cBhvr additive="repl">
                                        <p:cTn id="2927" dur="75"/>
                                        <p:tgtEl>
                                          <p:spTgt spid="3203"/>
                                        </p:tgtEl>
                                      </p:cBhvr>
                                    </p:animEffect>
                                  </p:childTnLst>
                                </p:cTn>
                              </p:par>
                            </p:childTnLst>
                          </p:cTn>
                        </p:par>
                        <p:par>
                          <p:cTn id="2928" nodeType="afterEffect" fill="hold">
                            <p:stCondLst>
                              <p:cond delay="3600"/>
                            </p:stCondLst>
                            <p:childTnLst>
                              <p:par>
                                <p:cTn id="2929" nodeType="afterEffect" fill="hold" presetClass="entr" presetID="17" presetSubtype="8">
                                  <p:stCondLst>
                                    <p:cond delay="0"/>
                                  </p:stCondLst>
                                  <p:childTnLst>
                                    <p:set>
                                      <p:cBhvr>
                                        <p:cTn id="2930" dur="1" fill="hold">
                                          <p:stCondLst>
                                            <p:cond delay="0"/>
                                          </p:stCondLst>
                                        </p:cTn>
                                        <p:tgtEl>
                                          <p:spTgt spid="3204"/>
                                        </p:tgtEl>
                                        <p:attrNameLst>
                                          <p:attrName>style.visibility</p:attrName>
                                        </p:attrNameLst>
                                      </p:cBhvr>
                                      <p:to>
                                        <p:strVal val="visible"/>
                                      </p:to>
                                    </p:set>
                                    <p:anim calcmode="lin" valueType="num">
                                      <p:cBhvr additive="repl">
                                        <p:cTn id="2931" dur="500" fill="hold"/>
                                        <p:tgtEl>
                                          <p:spTgt spid="3204"/>
                                        </p:tgtEl>
                                        <p:attrNameLst>
                                          <p:attrName>ppt_x</p:attrName>
                                        </p:attrNameLst>
                                      </p:cBhvr>
                                      <p:tavLst>
                                        <p:tav tm="0">
                                          <p:val>
                                            <p:strVal val="#ppt_x-#ppt_w/2"/>
                                          </p:val>
                                        </p:tav>
                                        <p:tav tm="100000">
                                          <p:val>
                                            <p:strVal val="#ppt_x"/>
                                          </p:val>
                                        </p:tav>
                                      </p:tavLst>
                                    </p:anim>
                                    <p:anim calcmode="lin" valueType="num">
                                      <p:cBhvr additive="repl">
                                        <p:cTn id="2932" dur="500" fill="hold"/>
                                        <p:tgtEl>
                                          <p:spTgt spid="3204"/>
                                        </p:tgtEl>
                                        <p:attrNameLst>
                                          <p:attrName>ppt_y</p:attrName>
                                        </p:attrNameLst>
                                      </p:cBhvr>
                                      <p:tavLst>
                                        <p:tav tm="0">
                                          <p:val>
                                            <p:strVal val="#ppt_y"/>
                                          </p:val>
                                        </p:tav>
                                        <p:tav tm="100000">
                                          <p:val>
                                            <p:strVal val="#ppt_y"/>
                                          </p:val>
                                        </p:tav>
                                      </p:tavLst>
                                    </p:anim>
                                    <p:anim calcmode="lin" valueType="num">
                                      <p:cBhvr additive="repl">
                                        <p:cTn id="2933" dur="500" fill="hold"/>
                                        <p:tgtEl>
                                          <p:spTgt spid="3204"/>
                                        </p:tgtEl>
                                        <p:attrNameLst>
                                          <p:attrName>ppt_w</p:attrName>
                                        </p:attrNameLst>
                                      </p:cBhvr>
                                      <p:tavLst>
                                        <p:tav tm="0">
                                          <p:val>
                                            <p:fltVal val="0"/>
                                          </p:val>
                                        </p:tav>
                                        <p:tav tm="100000">
                                          <p:val>
                                            <p:strVal val="#ppt_w"/>
                                          </p:val>
                                        </p:tav>
                                      </p:tavLst>
                                    </p:anim>
                                    <p:anim calcmode="lin" valueType="num">
                                      <p:cBhvr additive="repl">
                                        <p:cTn id="2934" dur="500" fill="hold"/>
                                        <p:tgtEl>
                                          <p:spTgt spid="3204"/>
                                        </p:tgtEl>
                                        <p:attrNameLst>
                                          <p:attrName>ppt_h</p:attrName>
                                        </p:attrNameLst>
                                      </p:cBhvr>
                                      <p:tavLst>
                                        <p:tav tm="0">
                                          <p:val>
                                            <p:strVal val="#ppt_h"/>
                                          </p:val>
                                        </p:tav>
                                        <p:tav tm="100000">
                                          <p:val>
                                            <p:strVal val="#ppt_h"/>
                                          </p:val>
                                        </p:tav>
                                      </p:tavLst>
                                    </p:anim>
                                  </p:childTnLst>
                                </p:cTn>
                              </p:par>
                            </p:childTnLst>
                          </p:cTn>
                        </p:par>
                        <p:par>
                          <p:cTn id="2935" nodeType="afterEffect" fill="hold">
                            <p:stCondLst>
                              <p:cond delay="4100"/>
                            </p:stCondLst>
                            <p:childTnLst>
                              <p:par>
                                <p:cTn id="2936" nodeType="afterEffect" fill="hold" presetClass="entr" presetID="9">
                                  <p:stCondLst>
                                    <p:cond delay="1000"/>
                                  </p:stCondLst>
                                  <p:iterate type="lt">
                                    <p:tmAbs val="75"/>
                                  </p:iterate>
                                  <p:childTnLst>
                                    <p:set>
                                      <p:cBhvr>
                                        <p:cTn id="2937" dur="1" fill="hold">
                                          <p:stCondLst>
                                            <p:cond delay="0"/>
                                          </p:stCondLst>
                                        </p:cTn>
                                        <p:tgtEl>
                                          <p:spTgt spid="3196"/>
                                        </p:tgtEl>
                                        <p:attrNameLst>
                                          <p:attrName>style.visibility</p:attrName>
                                        </p:attrNameLst>
                                      </p:cBhvr>
                                      <p:to>
                                        <p:strVal val="visible"/>
                                      </p:to>
                                    </p:set>
                                    <p:animEffect filter="dissolve" transition="in">
                                      <p:cBhvr additive="repl">
                                        <p:cTn id="2938" dur="75"/>
                                        <p:tgtEl>
                                          <p:spTgt spid="3196"/>
                                        </p:tgtEl>
                                      </p:cBhvr>
                                    </p:animEffect>
                                  </p:childTnLst>
                                </p:cTn>
                              </p:par>
                            </p:childTnLst>
                          </p:cTn>
                        </p:par>
                        <p:par>
                          <p:cTn id="2939" nodeType="afterEffect" fill="hold">
                            <p:stCondLst>
                              <p:cond delay="5175"/>
                            </p:stCondLst>
                            <p:childTnLst>
                              <p:par>
                                <p:cTn id="2940" nodeType="afterEffect" fill="hold" presetClass="entr" presetID="17" presetSubtype="8">
                                  <p:stCondLst>
                                    <p:cond delay="0"/>
                                  </p:stCondLst>
                                  <p:childTnLst>
                                    <p:set>
                                      <p:cBhvr>
                                        <p:cTn id="2941" dur="1" fill="hold">
                                          <p:stCondLst>
                                            <p:cond delay="0"/>
                                          </p:stCondLst>
                                        </p:cTn>
                                        <p:tgtEl>
                                          <p:spTgt spid="3178"/>
                                        </p:tgtEl>
                                        <p:attrNameLst>
                                          <p:attrName>style.visibility</p:attrName>
                                        </p:attrNameLst>
                                      </p:cBhvr>
                                      <p:to>
                                        <p:strVal val="visible"/>
                                      </p:to>
                                    </p:set>
                                    <p:anim calcmode="lin" valueType="num">
                                      <p:cBhvr additive="repl">
                                        <p:cTn id="2942" dur="500" fill="hold"/>
                                        <p:tgtEl>
                                          <p:spTgt spid="3178"/>
                                        </p:tgtEl>
                                        <p:attrNameLst>
                                          <p:attrName>ppt_x</p:attrName>
                                        </p:attrNameLst>
                                      </p:cBhvr>
                                      <p:tavLst>
                                        <p:tav tm="0">
                                          <p:val>
                                            <p:strVal val="#ppt_x-#ppt_w/2"/>
                                          </p:val>
                                        </p:tav>
                                        <p:tav tm="100000">
                                          <p:val>
                                            <p:strVal val="#ppt_x"/>
                                          </p:val>
                                        </p:tav>
                                      </p:tavLst>
                                    </p:anim>
                                    <p:anim calcmode="lin" valueType="num">
                                      <p:cBhvr additive="repl">
                                        <p:cTn id="2943" dur="500" fill="hold"/>
                                        <p:tgtEl>
                                          <p:spTgt spid="3178"/>
                                        </p:tgtEl>
                                        <p:attrNameLst>
                                          <p:attrName>ppt_y</p:attrName>
                                        </p:attrNameLst>
                                      </p:cBhvr>
                                      <p:tavLst>
                                        <p:tav tm="0">
                                          <p:val>
                                            <p:strVal val="#ppt_y"/>
                                          </p:val>
                                        </p:tav>
                                        <p:tav tm="100000">
                                          <p:val>
                                            <p:strVal val="#ppt_y"/>
                                          </p:val>
                                        </p:tav>
                                      </p:tavLst>
                                    </p:anim>
                                    <p:anim calcmode="lin" valueType="num">
                                      <p:cBhvr additive="repl">
                                        <p:cTn id="2944" dur="500" fill="hold"/>
                                        <p:tgtEl>
                                          <p:spTgt spid="3178"/>
                                        </p:tgtEl>
                                        <p:attrNameLst>
                                          <p:attrName>ppt_w</p:attrName>
                                        </p:attrNameLst>
                                      </p:cBhvr>
                                      <p:tavLst>
                                        <p:tav tm="0">
                                          <p:val>
                                            <p:fltVal val="0"/>
                                          </p:val>
                                        </p:tav>
                                        <p:tav tm="100000">
                                          <p:val>
                                            <p:strVal val="#ppt_w"/>
                                          </p:val>
                                        </p:tav>
                                      </p:tavLst>
                                    </p:anim>
                                    <p:anim calcmode="lin" valueType="num">
                                      <p:cBhvr additive="repl">
                                        <p:cTn id="2945" dur="500" fill="hold"/>
                                        <p:tgtEl>
                                          <p:spTgt spid="3178"/>
                                        </p:tgtEl>
                                        <p:attrNameLst>
                                          <p:attrName>ppt_h</p:attrName>
                                        </p:attrNameLst>
                                      </p:cBhvr>
                                      <p:tavLst>
                                        <p:tav tm="0">
                                          <p:val>
                                            <p:strVal val="#ppt_h"/>
                                          </p:val>
                                        </p:tav>
                                        <p:tav tm="100000">
                                          <p:val>
                                            <p:strVal val="#ppt_h"/>
                                          </p:val>
                                        </p:tav>
                                      </p:tavLst>
                                    </p:anim>
                                  </p:childTnLst>
                                </p:cTn>
                              </p:par>
                            </p:childTnLst>
                          </p:cTn>
                        </p:par>
                        <p:par>
                          <p:cTn id="2946" nodeType="afterEffect" fill="hold">
                            <p:stCondLst>
                              <p:cond delay="5675"/>
                            </p:stCondLst>
                            <p:childTnLst>
                              <p:par>
                                <p:cTn id="2947" nodeType="afterEffect" fill="hold" presetClass="entr" presetID="17" presetSubtype="8">
                                  <p:stCondLst>
                                    <p:cond delay="0"/>
                                  </p:stCondLst>
                                  <p:childTnLst>
                                    <p:set>
                                      <p:cBhvr>
                                        <p:cTn id="2948" dur="1" fill="hold">
                                          <p:stCondLst>
                                            <p:cond delay="0"/>
                                          </p:stCondLst>
                                        </p:cTn>
                                        <p:tgtEl>
                                          <p:spTgt spid="3179"/>
                                        </p:tgtEl>
                                        <p:attrNameLst>
                                          <p:attrName>style.visibility</p:attrName>
                                        </p:attrNameLst>
                                      </p:cBhvr>
                                      <p:to>
                                        <p:strVal val="visible"/>
                                      </p:to>
                                    </p:set>
                                    <p:anim calcmode="lin" valueType="num">
                                      <p:cBhvr additive="repl">
                                        <p:cTn id="2949" dur="500" fill="hold"/>
                                        <p:tgtEl>
                                          <p:spTgt spid="3179"/>
                                        </p:tgtEl>
                                        <p:attrNameLst>
                                          <p:attrName>ppt_x</p:attrName>
                                        </p:attrNameLst>
                                      </p:cBhvr>
                                      <p:tavLst>
                                        <p:tav tm="0">
                                          <p:val>
                                            <p:strVal val="#ppt_x-#ppt_w/2"/>
                                          </p:val>
                                        </p:tav>
                                        <p:tav tm="100000">
                                          <p:val>
                                            <p:strVal val="#ppt_x"/>
                                          </p:val>
                                        </p:tav>
                                      </p:tavLst>
                                    </p:anim>
                                    <p:anim calcmode="lin" valueType="num">
                                      <p:cBhvr additive="repl">
                                        <p:cTn id="2950" dur="500" fill="hold"/>
                                        <p:tgtEl>
                                          <p:spTgt spid="3179"/>
                                        </p:tgtEl>
                                        <p:attrNameLst>
                                          <p:attrName>ppt_y</p:attrName>
                                        </p:attrNameLst>
                                      </p:cBhvr>
                                      <p:tavLst>
                                        <p:tav tm="0">
                                          <p:val>
                                            <p:strVal val="#ppt_y"/>
                                          </p:val>
                                        </p:tav>
                                        <p:tav tm="100000">
                                          <p:val>
                                            <p:strVal val="#ppt_y"/>
                                          </p:val>
                                        </p:tav>
                                      </p:tavLst>
                                    </p:anim>
                                    <p:anim calcmode="lin" valueType="num">
                                      <p:cBhvr additive="repl">
                                        <p:cTn id="2951" dur="500" fill="hold"/>
                                        <p:tgtEl>
                                          <p:spTgt spid="3179"/>
                                        </p:tgtEl>
                                        <p:attrNameLst>
                                          <p:attrName>ppt_w</p:attrName>
                                        </p:attrNameLst>
                                      </p:cBhvr>
                                      <p:tavLst>
                                        <p:tav tm="0">
                                          <p:val>
                                            <p:fltVal val="0"/>
                                          </p:val>
                                        </p:tav>
                                        <p:tav tm="100000">
                                          <p:val>
                                            <p:strVal val="#ppt_w"/>
                                          </p:val>
                                        </p:tav>
                                      </p:tavLst>
                                    </p:anim>
                                    <p:anim calcmode="lin" valueType="num">
                                      <p:cBhvr additive="repl">
                                        <p:cTn id="2952" dur="500" fill="hold"/>
                                        <p:tgtEl>
                                          <p:spTgt spid="3179"/>
                                        </p:tgtEl>
                                        <p:attrNameLst>
                                          <p:attrName>ppt_h</p:attrName>
                                        </p:attrNameLst>
                                      </p:cBhvr>
                                      <p:tavLst>
                                        <p:tav tm="0">
                                          <p:val>
                                            <p:strVal val="#ppt_h"/>
                                          </p:val>
                                        </p:tav>
                                        <p:tav tm="100000">
                                          <p:val>
                                            <p:strVal val="#ppt_h"/>
                                          </p:val>
                                        </p:tav>
                                      </p:tavLst>
                                    </p:anim>
                                  </p:childTnLst>
                                </p:cTn>
                              </p:par>
                            </p:childTnLst>
                          </p:cTn>
                        </p:par>
                      </p:childTnLst>
                    </p:cTn>
                  </p:par>
                  <p:par>
                    <p:cTn id="2953" nodeType="clickEffect" fill="hold">
                      <p:stCondLst>
                        <p:cond delay="indefinite"/>
                      </p:stCondLst>
                      <p:childTnLst>
                        <p:par>
                          <p:cTn id="2954" nodeType="withEffect" fill="hold">
                            <p:stCondLst>
                              <p:cond delay="0"/>
                            </p:stCondLst>
                            <p:childTnLst>
                              <p:par>
                                <p:cTn id="2955" nodeType="clickEffect" fill="hold" presetClass="entr" presetID="9">
                                  <p:stCondLst>
                                    <p:cond delay="0"/>
                                  </p:stCondLst>
                                  <p:iterate type="lt">
                                    <p:tmAbs val="75"/>
                                  </p:iterate>
                                  <p:childTnLst>
                                    <p:set>
                                      <p:cBhvr>
                                        <p:cTn id="2956" dur="1" fill="hold">
                                          <p:stCondLst>
                                            <p:cond delay="0"/>
                                          </p:stCondLst>
                                        </p:cTn>
                                        <p:tgtEl>
                                          <p:spTgt spid="3163"/>
                                        </p:tgtEl>
                                        <p:attrNameLst>
                                          <p:attrName>style.visibility</p:attrName>
                                        </p:attrNameLst>
                                      </p:cBhvr>
                                      <p:to>
                                        <p:strVal val="visible"/>
                                      </p:to>
                                    </p:set>
                                    <p:animEffect filter="dissolve" transition="in">
                                      <p:cBhvr additive="repl">
                                        <p:cTn id="2957" dur="75"/>
                                        <p:tgtEl>
                                          <p:spTgt spid="3163"/>
                                        </p:tgtEl>
                                      </p:cBhvr>
                                    </p:animEffect>
                                  </p:childTnLst>
                                </p:cTn>
                              </p:par>
                            </p:childTnLst>
                          </p:cTn>
                        </p:par>
                        <p:par>
                          <p:cTn id="2958" nodeType="afterEffect" fill="hold">
                            <p:stCondLst>
                              <p:cond delay="75"/>
                            </p:stCondLst>
                            <p:childTnLst>
                              <p:par>
                                <p:cTn id="2959" nodeType="afterEffect" fill="hold" presetClass="entr" presetID="9">
                                  <p:stCondLst>
                                    <p:cond delay="1000"/>
                                  </p:stCondLst>
                                  <p:iterate type="lt">
                                    <p:tmAbs val="75"/>
                                  </p:iterate>
                                  <p:childTnLst>
                                    <p:set>
                                      <p:cBhvr>
                                        <p:cTn id="2960" dur="1" fill="hold">
                                          <p:stCondLst>
                                            <p:cond delay="0"/>
                                          </p:stCondLst>
                                        </p:cTn>
                                        <p:tgtEl>
                                          <p:spTgt spid="3154"/>
                                        </p:tgtEl>
                                        <p:attrNameLst>
                                          <p:attrName>style.visibility</p:attrName>
                                        </p:attrNameLst>
                                      </p:cBhvr>
                                      <p:to>
                                        <p:strVal val="visible"/>
                                      </p:to>
                                    </p:set>
                                    <p:animEffect filter="dissolve" transition="in">
                                      <p:cBhvr additive="repl">
                                        <p:cTn id="2961" dur="75"/>
                                        <p:tgtEl>
                                          <p:spTgt spid="3154"/>
                                        </p:tgtEl>
                                      </p:cBhvr>
                                    </p:animEffect>
                                  </p:childTnLst>
                                </p:cTn>
                              </p:par>
                            </p:childTnLst>
                          </p:cTn>
                        </p:par>
                        <p:par>
                          <p:cTn id="2962" nodeType="afterEffect" fill="hold">
                            <p:stCondLst>
                              <p:cond delay="1225"/>
                            </p:stCondLst>
                            <p:childTnLst>
                              <p:par>
                                <p:cTn id="2963" nodeType="afterEffect" fill="hold" presetClass="entr" presetID="9">
                                  <p:stCondLst>
                                    <p:cond delay="1000"/>
                                  </p:stCondLst>
                                  <p:iterate type="lt">
                                    <p:tmAbs val="75"/>
                                  </p:iterate>
                                  <p:childTnLst>
                                    <p:set>
                                      <p:cBhvr>
                                        <p:cTn id="2964" dur="1" fill="hold">
                                          <p:stCondLst>
                                            <p:cond delay="0"/>
                                          </p:stCondLst>
                                        </p:cTn>
                                        <p:tgtEl>
                                          <p:spTgt spid="3132"/>
                                        </p:tgtEl>
                                        <p:attrNameLst>
                                          <p:attrName>style.visibility</p:attrName>
                                        </p:attrNameLst>
                                      </p:cBhvr>
                                      <p:to>
                                        <p:strVal val="visible"/>
                                      </p:to>
                                    </p:set>
                                    <p:animEffect filter="dissolve" transition="in">
                                      <p:cBhvr additive="repl">
                                        <p:cTn id="2965" dur="75"/>
                                        <p:tgtEl>
                                          <p:spTgt spid="3132"/>
                                        </p:tgtEl>
                                      </p:cBhvr>
                                    </p:animEffect>
                                  </p:childTnLst>
                                </p:cTn>
                              </p:par>
                            </p:childTnLst>
                          </p:cTn>
                        </p:par>
                        <p:par>
                          <p:cTn id="2966" nodeType="afterEffect" fill="hold">
                            <p:stCondLst>
                              <p:cond delay="2525"/>
                            </p:stCondLst>
                            <p:childTnLst>
                              <p:par>
                                <p:cTn id="2967" nodeType="afterEffect" fill="hold" presetClass="entr" presetID="17" presetSubtype="8">
                                  <p:stCondLst>
                                    <p:cond delay="1000"/>
                                  </p:stCondLst>
                                  <p:childTnLst>
                                    <p:set>
                                      <p:cBhvr>
                                        <p:cTn id="2968" dur="1" fill="hold">
                                          <p:stCondLst>
                                            <p:cond delay="0"/>
                                          </p:stCondLst>
                                        </p:cTn>
                                        <p:tgtEl>
                                          <p:spTgt spid="3184"/>
                                        </p:tgtEl>
                                        <p:attrNameLst>
                                          <p:attrName>style.visibility</p:attrName>
                                        </p:attrNameLst>
                                      </p:cBhvr>
                                      <p:to>
                                        <p:strVal val="visible"/>
                                      </p:to>
                                    </p:set>
                                    <p:anim calcmode="lin" valueType="num">
                                      <p:cBhvr additive="repl">
                                        <p:cTn id="2969" dur="500" fill="hold"/>
                                        <p:tgtEl>
                                          <p:spTgt spid="3184"/>
                                        </p:tgtEl>
                                        <p:attrNameLst>
                                          <p:attrName>ppt_x</p:attrName>
                                        </p:attrNameLst>
                                      </p:cBhvr>
                                      <p:tavLst>
                                        <p:tav tm="0">
                                          <p:val>
                                            <p:strVal val="#ppt_x-#ppt_w/2"/>
                                          </p:val>
                                        </p:tav>
                                        <p:tav tm="100000">
                                          <p:val>
                                            <p:strVal val="#ppt_x"/>
                                          </p:val>
                                        </p:tav>
                                      </p:tavLst>
                                    </p:anim>
                                    <p:anim calcmode="lin" valueType="num">
                                      <p:cBhvr additive="repl">
                                        <p:cTn id="2970" dur="500" fill="hold"/>
                                        <p:tgtEl>
                                          <p:spTgt spid="3184"/>
                                        </p:tgtEl>
                                        <p:attrNameLst>
                                          <p:attrName>ppt_y</p:attrName>
                                        </p:attrNameLst>
                                      </p:cBhvr>
                                      <p:tavLst>
                                        <p:tav tm="0">
                                          <p:val>
                                            <p:strVal val="#ppt_y"/>
                                          </p:val>
                                        </p:tav>
                                        <p:tav tm="100000">
                                          <p:val>
                                            <p:strVal val="#ppt_y"/>
                                          </p:val>
                                        </p:tav>
                                      </p:tavLst>
                                    </p:anim>
                                    <p:anim calcmode="lin" valueType="num">
                                      <p:cBhvr additive="repl">
                                        <p:cTn id="2971" dur="500" fill="hold"/>
                                        <p:tgtEl>
                                          <p:spTgt spid="3184"/>
                                        </p:tgtEl>
                                        <p:attrNameLst>
                                          <p:attrName>ppt_w</p:attrName>
                                        </p:attrNameLst>
                                      </p:cBhvr>
                                      <p:tavLst>
                                        <p:tav tm="0">
                                          <p:val>
                                            <p:fltVal val="0"/>
                                          </p:val>
                                        </p:tav>
                                        <p:tav tm="100000">
                                          <p:val>
                                            <p:strVal val="#ppt_w"/>
                                          </p:val>
                                        </p:tav>
                                      </p:tavLst>
                                    </p:anim>
                                    <p:anim calcmode="lin" valueType="num">
                                      <p:cBhvr additive="repl">
                                        <p:cTn id="2972" dur="500" fill="hold"/>
                                        <p:tgtEl>
                                          <p:spTgt spid="3184"/>
                                        </p:tgtEl>
                                        <p:attrNameLst>
                                          <p:attrName>ppt_h</p:attrName>
                                        </p:attrNameLst>
                                      </p:cBhvr>
                                      <p:tavLst>
                                        <p:tav tm="0">
                                          <p:val>
                                            <p:strVal val="#ppt_h"/>
                                          </p:val>
                                        </p:tav>
                                        <p:tav tm="100000">
                                          <p:val>
                                            <p:strVal val="#ppt_h"/>
                                          </p:val>
                                        </p:tav>
                                      </p:tavLst>
                                    </p:anim>
                                  </p:childTnLst>
                                </p:cTn>
                              </p:par>
                            </p:childTnLst>
                          </p:cTn>
                        </p:par>
                        <p:par>
                          <p:cTn id="2973" nodeType="afterEffect" fill="hold">
                            <p:stCondLst>
                              <p:cond delay="4025"/>
                            </p:stCondLst>
                            <p:childTnLst>
                              <p:par>
                                <p:cTn id="2974" nodeType="afterEffect" fill="hold" presetClass="entr" presetID="17" presetSubtype="8">
                                  <p:stCondLst>
                                    <p:cond delay="0"/>
                                  </p:stCondLst>
                                  <p:childTnLst>
                                    <p:set>
                                      <p:cBhvr>
                                        <p:cTn id="2975" dur="1" fill="hold">
                                          <p:stCondLst>
                                            <p:cond delay="0"/>
                                          </p:stCondLst>
                                        </p:cTn>
                                        <p:tgtEl>
                                          <p:spTgt spid="3185"/>
                                        </p:tgtEl>
                                        <p:attrNameLst>
                                          <p:attrName>style.visibility</p:attrName>
                                        </p:attrNameLst>
                                      </p:cBhvr>
                                      <p:to>
                                        <p:strVal val="visible"/>
                                      </p:to>
                                    </p:set>
                                    <p:anim calcmode="lin" valueType="num">
                                      <p:cBhvr additive="repl">
                                        <p:cTn id="2976" dur="500" fill="hold"/>
                                        <p:tgtEl>
                                          <p:spTgt spid="3185"/>
                                        </p:tgtEl>
                                        <p:attrNameLst>
                                          <p:attrName>ppt_x</p:attrName>
                                        </p:attrNameLst>
                                      </p:cBhvr>
                                      <p:tavLst>
                                        <p:tav tm="0">
                                          <p:val>
                                            <p:strVal val="#ppt_x-#ppt_w/2"/>
                                          </p:val>
                                        </p:tav>
                                        <p:tav tm="100000">
                                          <p:val>
                                            <p:strVal val="#ppt_x"/>
                                          </p:val>
                                        </p:tav>
                                      </p:tavLst>
                                    </p:anim>
                                    <p:anim calcmode="lin" valueType="num">
                                      <p:cBhvr additive="repl">
                                        <p:cTn id="2977" dur="500" fill="hold"/>
                                        <p:tgtEl>
                                          <p:spTgt spid="3185"/>
                                        </p:tgtEl>
                                        <p:attrNameLst>
                                          <p:attrName>ppt_y</p:attrName>
                                        </p:attrNameLst>
                                      </p:cBhvr>
                                      <p:tavLst>
                                        <p:tav tm="0">
                                          <p:val>
                                            <p:strVal val="#ppt_y"/>
                                          </p:val>
                                        </p:tav>
                                        <p:tav tm="100000">
                                          <p:val>
                                            <p:strVal val="#ppt_y"/>
                                          </p:val>
                                        </p:tav>
                                      </p:tavLst>
                                    </p:anim>
                                    <p:anim calcmode="lin" valueType="num">
                                      <p:cBhvr additive="repl">
                                        <p:cTn id="2978" dur="500" fill="hold"/>
                                        <p:tgtEl>
                                          <p:spTgt spid="3185"/>
                                        </p:tgtEl>
                                        <p:attrNameLst>
                                          <p:attrName>ppt_w</p:attrName>
                                        </p:attrNameLst>
                                      </p:cBhvr>
                                      <p:tavLst>
                                        <p:tav tm="0">
                                          <p:val>
                                            <p:fltVal val="0"/>
                                          </p:val>
                                        </p:tav>
                                        <p:tav tm="100000">
                                          <p:val>
                                            <p:strVal val="#ppt_w"/>
                                          </p:val>
                                        </p:tav>
                                      </p:tavLst>
                                    </p:anim>
                                    <p:anim calcmode="lin" valueType="num">
                                      <p:cBhvr additive="repl">
                                        <p:cTn id="2979" dur="500" fill="hold"/>
                                        <p:tgtEl>
                                          <p:spTgt spid="3185"/>
                                        </p:tgtEl>
                                        <p:attrNameLst>
                                          <p:attrName>ppt_h</p:attrName>
                                        </p:attrNameLst>
                                      </p:cBhvr>
                                      <p:tavLst>
                                        <p:tav tm="0">
                                          <p:val>
                                            <p:strVal val="#ppt_h"/>
                                          </p:val>
                                        </p:tav>
                                        <p:tav tm="100000">
                                          <p:val>
                                            <p:strVal val="#ppt_h"/>
                                          </p:val>
                                        </p:tav>
                                      </p:tavLst>
                                    </p:anim>
                                  </p:childTnLst>
                                </p:cTn>
                              </p:par>
                            </p:childTnLst>
                          </p:cTn>
                        </p:par>
                        <p:par>
                          <p:cTn id="2980" nodeType="afterEffect" fill="hold">
                            <p:stCondLst>
                              <p:cond delay="4525"/>
                            </p:stCondLst>
                            <p:childTnLst>
                              <p:par>
                                <p:cTn id="2981" nodeType="afterEffect" fill="hold" presetClass="entr" presetID="17" presetSubtype="8">
                                  <p:stCondLst>
                                    <p:cond delay="0"/>
                                  </p:stCondLst>
                                  <p:childTnLst>
                                    <p:set>
                                      <p:cBhvr>
                                        <p:cTn id="2982" dur="1" fill="hold">
                                          <p:stCondLst>
                                            <p:cond delay="0"/>
                                          </p:stCondLst>
                                        </p:cTn>
                                        <p:tgtEl>
                                          <p:spTgt spid="3186"/>
                                        </p:tgtEl>
                                        <p:attrNameLst>
                                          <p:attrName>style.visibility</p:attrName>
                                        </p:attrNameLst>
                                      </p:cBhvr>
                                      <p:to>
                                        <p:strVal val="visible"/>
                                      </p:to>
                                    </p:set>
                                    <p:anim calcmode="lin" valueType="num">
                                      <p:cBhvr additive="repl">
                                        <p:cTn id="2983" dur="500" fill="hold"/>
                                        <p:tgtEl>
                                          <p:spTgt spid="3186"/>
                                        </p:tgtEl>
                                        <p:attrNameLst>
                                          <p:attrName>ppt_x</p:attrName>
                                        </p:attrNameLst>
                                      </p:cBhvr>
                                      <p:tavLst>
                                        <p:tav tm="0">
                                          <p:val>
                                            <p:strVal val="#ppt_x-#ppt_w/2"/>
                                          </p:val>
                                        </p:tav>
                                        <p:tav tm="100000">
                                          <p:val>
                                            <p:strVal val="#ppt_x"/>
                                          </p:val>
                                        </p:tav>
                                      </p:tavLst>
                                    </p:anim>
                                    <p:anim calcmode="lin" valueType="num">
                                      <p:cBhvr additive="repl">
                                        <p:cTn id="2984" dur="500" fill="hold"/>
                                        <p:tgtEl>
                                          <p:spTgt spid="3186"/>
                                        </p:tgtEl>
                                        <p:attrNameLst>
                                          <p:attrName>ppt_y</p:attrName>
                                        </p:attrNameLst>
                                      </p:cBhvr>
                                      <p:tavLst>
                                        <p:tav tm="0">
                                          <p:val>
                                            <p:strVal val="#ppt_y"/>
                                          </p:val>
                                        </p:tav>
                                        <p:tav tm="100000">
                                          <p:val>
                                            <p:strVal val="#ppt_y"/>
                                          </p:val>
                                        </p:tav>
                                      </p:tavLst>
                                    </p:anim>
                                    <p:anim calcmode="lin" valueType="num">
                                      <p:cBhvr additive="repl">
                                        <p:cTn id="2985" dur="500" fill="hold"/>
                                        <p:tgtEl>
                                          <p:spTgt spid="3186"/>
                                        </p:tgtEl>
                                        <p:attrNameLst>
                                          <p:attrName>ppt_w</p:attrName>
                                        </p:attrNameLst>
                                      </p:cBhvr>
                                      <p:tavLst>
                                        <p:tav tm="0">
                                          <p:val>
                                            <p:fltVal val="0"/>
                                          </p:val>
                                        </p:tav>
                                        <p:tav tm="100000">
                                          <p:val>
                                            <p:strVal val="#ppt_w"/>
                                          </p:val>
                                        </p:tav>
                                      </p:tavLst>
                                    </p:anim>
                                    <p:anim calcmode="lin" valueType="num">
                                      <p:cBhvr additive="repl">
                                        <p:cTn id="2986" dur="500" fill="hold"/>
                                        <p:tgtEl>
                                          <p:spTgt spid="3186"/>
                                        </p:tgtEl>
                                        <p:attrNameLst>
                                          <p:attrName>ppt_h</p:attrName>
                                        </p:attrNameLst>
                                      </p:cBhvr>
                                      <p:tavLst>
                                        <p:tav tm="0">
                                          <p:val>
                                            <p:strVal val="#ppt_h"/>
                                          </p:val>
                                        </p:tav>
                                        <p:tav tm="100000">
                                          <p:val>
                                            <p:strVal val="#ppt_h"/>
                                          </p:val>
                                        </p:tav>
                                      </p:tavLst>
                                    </p:anim>
                                  </p:childTnLst>
                                </p:cTn>
                              </p:par>
                            </p:childTnLst>
                          </p:cTn>
                        </p:par>
                        <p:par>
                          <p:cTn id="2987" nodeType="afterEffect" fill="hold">
                            <p:stCondLst>
                              <p:cond delay="5025"/>
                            </p:stCondLst>
                            <p:childTnLst>
                              <p:par>
                                <p:cTn id="2988" nodeType="afterEffect" fill="hold" presetClass="entr" presetID="17" presetSubtype="8">
                                  <p:stCondLst>
                                    <p:cond delay="1000"/>
                                  </p:stCondLst>
                                  <p:childTnLst>
                                    <p:set>
                                      <p:cBhvr>
                                        <p:cTn id="2989" dur="1" fill="hold">
                                          <p:stCondLst>
                                            <p:cond delay="0"/>
                                          </p:stCondLst>
                                        </p:cTn>
                                        <p:tgtEl>
                                          <p:spTgt spid="3181"/>
                                        </p:tgtEl>
                                        <p:attrNameLst>
                                          <p:attrName>style.visibility</p:attrName>
                                        </p:attrNameLst>
                                      </p:cBhvr>
                                      <p:to>
                                        <p:strVal val="visible"/>
                                      </p:to>
                                    </p:set>
                                    <p:anim calcmode="lin" valueType="num">
                                      <p:cBhvr additive="repl">
                                        <p:cTn id="2990" dur="500" fill="hold"/>
                                        <p:tgtEl>
                                          <p:spTgt spid="3181"/>
                                        </p:tgtEl>
                                        <p:attrNameLst>
                                          <p:attrName>ppt_x</p:attrName>
                                        </p:attrNameLst>
                                      </p:cBhvr>
                                      <p:tavLst>
                                        <p:tav tm="0">
                                          <p:val>
                                            <p:strVal val="#ppt_x-#ppt_w/2"/>
                                          </p:val>
                                        </p:tav>
                                        <p:tav tm="100000">
                                          <p:val>
                                            <p:strVal val="#ppt_x"/>
                                          </p:val>
                                        </p:tav>
                                      </p:tavLst>
                                    </p:anim>
                                    <p:anim calcmode="lin" valueType="num">
                                      <p:cBhvr additive="repl">
                                        <p:cTn id="2991" dur="500" fill="hold"/>
                                        <p:tgtEl>
                                          <p:spTgt spid="3181"/>
                                        </p:tgtEl>
                                        <p:attrNameLst>
                                          <p:attrName>ppt_y</p:attrName>
                                        </p:attrNameLst>
                                      </p:cBhvr>
                                      <p:tavLst>
                                        <p:tav tm="0">
                                          <p:val>
                                            <p:strVal val="#ppt_y"/>
                                          </p:val>
                                        </p:tav>
                                        <p:tav tm="100000">
                                          <p:val>
                                            <p:strVal val="#ppt_y"/>
                                          </p:val>
                                        </p:tav>
                                      </p:tavLst>
                                    </p:anim>
                                    <p:anim calcmode="lin" valueType="num">
                                      <p:cBhvr additive="repl">
                                        <p:cTn id="2992" dur="500" fill="hold"/>
                                        <p:tgtEl>
                                          <p:spTgt spid="3181"/>
                                        </p:tgtEl>
                                        <p:attrNameLst>
                                          <p:attrName>ppt_w</p:attrName>
                                        </p:attrNameLst>
                                      </p:cBhvr>
                                      <p:tavLst>
                                        <p:tav tm="0">
                                          <p:val>
                                            <p:fltVal val="0"/>
                                          </p:val>
                                        </p:tav>
                                        <p:tav tm="100000">
                                          <p:val>
                                            <p:strVal val="#ppt_w"/>
                                          </p:val>
                                        </p:tav>
                                      </p:tavLst>
                                    </p:anim>
                                    <p:anim calcmode="lin" valueType="num">
                                      <p:cBhvr additive="repl">
                                        <p:cTn id="2993" dur="500" fill="hold"/>
                                        <p:tgtEl>
                                          <p:spTgt spid="3181"/>
                                        </p:tgtEl>
                                        <p:attrNameLst>
                                          <p:attrName>ppt_h</p:attrName>
                                        </p:attrNameLst>
                                      </p:cBhvr>
                                      <p:tavLst>
                                        <p:tav tm="0">
                                          <p:val>
                                            <p:strVal val="#ppt_h"/>
                                          </p:val>
                                        </p:tav>
                                        <p:tav tm="100000">
                                          <p:val>
                                            <p:strVal val="#ppt_h"/>
                                          </p:val>
                                        </p:tav>
                                      </p:tavLst>
                                    </p:anim>
                                  </p:childTnLst>
                                </p:cTn>
                              </p:par>
                            </p:childTnLst>
                          </p:cTn>
                        </p:par>
                        <p:par>
                          <p:cTn id="2994" nodeType="afterEffect" fill="hold">
                            <p:stCondLst>
                              <p:cond delay="6525"/>
                            </p:stCondLst>
                            <p:childTnLst>
                              <p:par>
                                <p:cTn id="2995" nodeType="afterEffect" fill="hold" presetClass="entr" presetID="17" presetSubtype="8">
                                  <p:stCondLst>
                                    <p:cond delay="0"/>
                                  </p:stCondLst>
                                  <p:childTnLst>
                                    <p:set>
                                      <p:cBhvr>
                                        <p:cTn id="2996" dur="1" fill="hold">
                                          <p:stCondLst>
                                            <p:cond delay="0"/>
                                          </p:stCondLst>
                                        </p:cTn>
                                        <p:tgtEl>
                                          <p:spTgt spid="3182"/>
                                        </p:tgtEl>
                                        <p:attrNameLst>
                                          <p:attrName>style.visibility</p:attrName>
                                        </p:attrNameLst>
                                      </p:cBhvr>
                                      <p:to>
                                        <p:strVal val="visible"/>
                                      </p:to>
                                    </p:set>
                                    <p:anim calcmode="lin" valueType="num">
                                      <p:cBhvr additive="repl">
                                        <p:cTn id="2997" dur="500" fill="hold"/>
                                        <p:tgtEl>
                                          <p:spTgt spid="3182"/>
                                        </p:tgtEl>
                                        <p:attrNameLst>
                                          <p:attrName>ppt_x</p:attrName>
                                        </p:attrNameLst>
                                      </p:cBhvr>
                                      <p:tavLst>
                                        <p:tav tm="0">
                                          <p:val>
                                            <p:strVal val="#ppt_x-#ppt_w/2"/>
                                          </p:val>
                                        </p:tav>
                                        <p:tav tm="100000">
                                          <p:val>
                                            <p:strVal val="#ppt_x"/>
                                          </p:val>
                                        </p:tav>
                                      </p:tavLst>
                                    </p:anim>
                                    <p:anim calcmode="lin" valueType="num">
                                      <p:cBhvr additive="repl">
                                        <p:cTn id="2998" dur="500" fill="hold"/>
                                        <p:tgtEl>
                                          <p:spTgt spid="3182"/>
                                        </p:tgtEl>
                                        <p:attrNameLst>
                                          <p:attrName>ppt_y</p:attrName>
                                        </p:attrNameLst>
                                      </p:cBhvr>
                                      <p:tavLst>
                                        <p:tav tm="0">
                                          <p:val>
                                            <p:strVal val="#ppt_y"/>
                                          </p:val>
                                        </p:tav>
                                        <p:tav tm="100000">
                                          <p:val>
                                            <p:strVal val="#ppt_y"/>
                                          </p:val>
                                        </p:tav>
                                      </p:tavLst>
                                    </p:anim>
                                    <p:anim calcmode="lin" valueType="num">
                                      <p:cBhvr additive="repl">
                                        <p:cTn id="2999" dur="500" fill="hold"/>
                                        <p:tgtEl>
                                          <p:spTgt spid="3182"/>
                                        </p:tgtEl>
                                        <p:attrNameLst>
                                          <p:attrName>ppt_w</p:attrName>
                                        </p:attrNameLst>
                                      </p:cBhvr>
                                      <p:tavLst>
                                        <p:tav tm="0">
                                          <p:val>
                                            <p:fltVal val="0"/>
                                          </p:val>
                                        </p:tav>
                                        <p:tav tm="100000">
                                          <p:val>
                                            <p:strVal val="#ppt_w"/>
                                          </p:val>
                                        </p:tav>
                                      </p:tavLst>
                                    </p:anim>
                                    <p:anim calcmode="lin" valueType="num">
                                      <p:cBhvr additive="repl">
                                        <p:cTn id="3000" dur="500" fill="hold"/>
                                        <p:tgtEl>
                                          <p:spTgt spid="3182"/>
                                        </p:tgtEl>
                                        <p:attrNameLst>
                                          <p:attrName>ppt_h</p:attrName>
                                        </p:attrNameLst>
                                      </p:cBhvr>
                                      <p:tavLst>
                                        <p:tav tm="0">
                                          <p:val>
                                            <p:strVal val="#ppt_h"/>
                                          </p:val>
                                        </p:tav>
                                        <p:tav tm="100000">
                                          <p:val>
                                            <p:strVal val="#ppt_h"/>
                                          </p:val>
                                        </p:tav>
                                      </p:tavLst>
                                    </p:anim>
                                  </p:childTnLst>
                                </p:cTn>
                              </p:par>
                            </p:childTnLst>
                          </p:cTn>
                        </p:par>
                        <p:par>
                          <p:cTn id="3001" nodeType="afterEffect" fill="hold">
                            <p:stCondLst>
                              <p:cond delay="7025"/>
                            </p:stCondLst>
                            <p:childTnLst>
                              <p:par>
                                <p:cTn id="3002" nodeType="afterEffect" fill="hold" presetClass="entr" presetID="17" presetSubtype="8">
                                  <p:stCondLst>
                                    <p:cond delay="0"/>
                                  </p:stCondLst>
                                  <p:childTnLst>
                                    <p:set>
                                      <p:cBhvr>
                                        <p:cTn id="3003" dur="1" fill="hold">
                                          <p:stCondLst>
                                            <p:cond delay="0"/>
                                          </p:stCondLst>
                                        </p:cTn>
                                        <p:tgtEl>
                                          <p:spTgt spid="3183"/>
                                        </p:tgtEl>
                                        <p:attrNameLst>
                                          <p:attrName>style.visibility</p:attrName>
                                        </p:attrNameLst>
                                      </p:cBhvr>
                                      <p:to>
                                        <p:strVal val="visible"/>
                                      </p:to>
                                    </p:set>
                                    <p:anim calcmode="lin" valueType="num">
                                      <p:cBhvr additive="repl">
                                        <p:cTn id="3004" dur="500" fill="hold"/>
                                        <p:tgtEl>
                                          <p:spTgt spid="3183"/>
                                        </p:tgtEl>
                                        <p:attrNameLst>
                                          <p:attrName>ppt_x</p:attrName>
                                        </p:attrNameLst>
                                      </p:cBhvr>
                                      <p:tavLst>
                                        <p:tav tm="0">
                                          <p:val>
                                            <p:strVal val="#ppt_x-#ppt_w/2"/>
                                          </p:val>
                                        </p:tav>
                                        <p:tav tm="100000">
                                          <p:val>
                                            <p:strVal val="#ppt_x"/>
                                          </p:val>
                                        </p:tav>
                                      </p:tavLst>
                                    </p:anim>
                                    <p:anim calcmode="lin" valueType="num">
                                      <p:cBhvr additive="repl">
                                        <p:cTn id="3005" dur="500" fill="hold"/>
                                        <p:tgtEl>
                                          <p:spTgt spid="3183"/>
                                        </p:tgtEl>
                                        <p:attrNameLst>
                                          <p:attrName>ppt_y</p:attrName>
                                        </p:attrNameLst>
                                      </p:cBhvr>
                                      <p:tavLst>
                                        <p:tav tm="0">
                                          <p:val>
                                            <p:strVal val="#ppt_y"/>
                                          </p:val>
                                        </p:tav>
                                        <p:tav tm="100000">
                                          <p:val>
                                            <p:strVal val="#ppt_y"/>
                                          </p:val>
                                        </p:tav>
                                      </p:tavLst>
                                    </p:anim>
                                    <p:anim calcmode="lin" valueType="num">
                                      <p:cBhvr additive="repl">
                                        <p:cTn id="3006" dur="500" fill="hold"/>
                                        <p:tgtEl>
                                          <p:spTgt spid="3183"/>
                                        </p:tgtEl>
                                        <p:attrNameLst>
                                          <p:attrName>ppt_w</p:attrName>
                                        </p:attrNameLst>
                                      </p:cBhvr>
                                      <p:tavLst>
                                        <p:tav tm="0">
                                          <p:val>
                                            <p:fltVal val="0"/>
                                          </p:val>
                                        </p:tav>
                                        <p:tav tm="100000">
                                          <p:val>
                                            <p:strVal val="#ppt_w"/>
                                          </p:val>
                                        </p:tav>
                                      </p:tavLst>
                                    </p:anim>
                                    <p:anim calcmode="lin" valueType="num">
                                      <p:cBhvr additive="repl">
                                        <p:cTn id="3007" dur="500" fill="hold"/>
                                        <p:tgtEl>
                                          <p:spTgt spid="318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6" name="Text Box 2"/>
          <p:cNvSpPr/>
          <p:nvPr/>
        </p:nvSpPr>
        <p:spPr>
          <a:xfrm>
            <a:off x="380880" y="228600"/>
            <a:ext cx="8001000" cy="2068920"/>
          </a:xfrm>
          <a:prstGeom prst="rect">
            <a:avLst/>
          </a:prstGeom>
          <a:noFill/>
          <a:ln w="0">
            <a:noFill/>
          </a:ln>
        </p:spPr>
        <p:style>
          <a:lnRef idx="0"/>
          <a:fillRef idx="0"/>
          <a:effectRef idx="0"/>
          <a:fontRef idx="minor"/>
        </p:style>
        <p:txBody>
          <a:bodyPr lIns="90000" rIns="90000" tIns="46800" bIns="46800" anchor="t">
            <a:spAutoFit/>
          </a:bodyPr>
          <a:p>
            <a:pPr algn="ctr">
              <a:lnSpc>
                <a:spcPct val="1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600" strike="noStrike" u="none">
                <a:solidFill>
                  <a:srgbClr val="ffff00"/>
                </a:solidFill>
                <a:effectLst/>
                <a:uFillTx/>
                <a:latin typeface="Arial"/>
              </a:rPr>
              <a:t> MERCI POUR</a:t>
            </a:r>
            <a:endParaRPr b="0" lang="en-US" sz="3600" strike="noStrike" u="none">
              <a:solidFill>
                <a:srgbClr val="ffff00"/>
              </a:solidFill>
              <a:effectLst/>
              <a:uFillTx/>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600" strike="noStrike" u="none">
              <a:solidFill>
                <a:srgbClr val="ffff00"/>
              </a:solidFill>
              <a:effectLst/>
              <a:uFillTx/>
              <a:latin typeface="Times New Roman"/>
            </a:endParaRPr>
          </a:p>
          <a:p>
            <a:pPr algn="ct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CL" sz="3600" strike="noStrike" u="none">
                <a:solidFill>
                  <a:srgbClr val="ffff00"/>
                </a:solidFill>
                <a:effectLst/>
                <a:uFillTx/>
                <a:latin typeface="Arial"/>
              </a:rPr>
              <a:t>    VOTRE ATTENTION</a:t>
            </a:r>
            <a:endParaRPr b="0" lang="en-US" sz="3600" strike="noStrike" u="none">
              <a:solidFill>
                <a:srgbClr val="ffff00"/>
              </a:solidFill>
              <a:effectLst/>
              <a:uFillTx/>
              <a:latin typeface="Times New Roman"/>
            </a:endParaRPr>
          </a:p>
        </p:txBody>
      </p:sp>
      <p:pic>
        <p:nvPicPr>
          <p:cNvPr id="3207" name="Object 3" descr=""/>
          <p:cNvPicPr/>
          <p:nvPr/>
        </p:nvPicPr>
        <p:blipFill>
          <a:blip r:embed="rId1"/>
          <a:stretch/>
        </p:blipFill>
        <p:spPr>
          <a:xfrm>
            <a:off x="2514600" y="4038480"/>
            <a:ext cx="4191120" cy="2374920"/>
          </a:xfrm>
          <a:prstGeom prst="rect">
            <a:avLst/>
          </a:prstGeom>
          <a:noFill/>
          <a:ln w="0">
            <a:noFill/>
          </a:ln>
        </p:spPr>
      </p:pic>
    </p:spTree>
  </p:cSld>
  <p:transition spd="med">
    <p:zoom dir="out"/>
  </p:transition>
  <p:timing>
    <p:tnLst>
      <p:par>
        <p:cTn id="3008" dur="indefinite" restart="never" nodeType="tmRoot">
          <p:childTnLst>
            <p:seq>
              <p:cTn id="3009" dur="indefinite" nodeType="mainSeq">
                <p:childTnLst>
                  <p:par>
                    <p:cTn id="3010" nodeType="clickEffect" fill="hold">
                      <p:stCondLst>
                        <p:cond delay="0"/>
                      </p:stCondLst>
                      <p:childTnLst>
                        <p:par>
                          <p:cTn id="3011" nodeType="withEffect" fill="hold">
                            <p:stCondLst>
                              <p:cond delay="0"/>
                            </p:stCondLst>
                            <p:childTnLst>
                              <p:par>
                                <p:cTn id="3012" nodeType="afterEffect" fill="hold" presetClass="entr" presetID="4" presetSubtype="32">
                                  <p:stCondLst>
                                    <p:cond delay="0"/>
                                  </p:stCondLst>
                                  <p:childTnLst>
                                    <p:set>
                                      <p:cBhvr>
                                        <p:cTn id="3013" dur="1" fill="hold">
                                          <p:stCondLst>
                                            <p:cond delay="0"/>
                                          </p:stCondLst>
                                        </p:cTn>
                                        <p:tgtEl>
                                          <p:spTgt spid="3206"/>
                                        </p:tgtEl>
                                        <p:attrNameLst>
                                          <p:attrName>style.visibility</p:attrName>
                                        </p:attrNameLst>
                                      </p:cBhvr>
                                      <p:to>
                                        <p:strVal val="visible"/>
                                      </p:to>
                                    </p:set>
                                    <p:animEffect filter="box(out)" transition="in">
                                      <p:cBhvr additive="repl">
                                        <p:cTn id="3014" dur="500"/>
                                        <p:tgtEl>
                                          <p:spTgt spid="3206"/>
                                        </p:tgtEl>
                                      </p:cBhvr>
                                    </p:animEffect>
                                  </p:childTnLst>
                                </p:cTn>
                              </p:par>
                            </p:childTnLst>
                          </p:cTn>
                        </p:par>
                        <p:par>
                          <p:cTn id="3015" nodeType="afterEffect" fill="hold">
                            <p:stCondLst>
                              <p:cond delay="500"/>
                            </p:stCondLst>
                            <p:childTnLst>
                              <p:par>
                                <p:cTn id="3016" nodeType="afterEffect" fill="hold" presetClass="entr" presetID="9">
                                  <p:stCondLst>
                                    <p:cond delay="0"/>
                                  </p:stCondLst>
                                  <p:childTnLst>
                                    <p:set>
                                      <p:cBhvr>
                                        <p:cTn id="3017" dur="1" fill="hold">
                                          <p:stCondLst>
                                            <p:cond delay="0"/>
                                          </p:stCondLst>
                                        </p:cTn>
                                        <p:tgtEl>
                                          <p:spTgt spid="3207"/>
                                        </p:tgtEl>
                                        <p:attrNameLst>
                                          <p:attrName>style.visibility</p:attrName>
                                        </p:attrNameLst>
                                      </p:cBhvr>
                                      <p:to>
                                        <p:strVal val="visible"/>
                                      </p:to>
                                    </p:set>
                                    <p:animEffect filter="dissolve" transition="in">
                                      <p:cBhvr additive="repl">
                                        <p:cTn id="3018" dur="500"/>
                                        <p:tgtEl>
                                          <p:spTgt spid="3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10541</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1999-03-31T07:07:01Z</dcterms:created>
  <dc:creator>Cazorla</dc:creator>
  <dc:description/>
  <dc:language>en-US</dc:language>
  <cp:lastModifiedBy>Georges Caz</cp:lastModifiedBy>
  <cp:lastPrinted>2000-01-30T12:10:06Z</cp:lastPrinted>
  <dcterms:modified xsi:type="dcterms:W3CDTF">2017-08-09T14:55:23Z</dcterms:modified>
  <cp:revision>211</cp:revision>
  <dc:subject/>
  <dc:title>CARACTERISTIQUES ET PLASTICITE DES FACTEURS PHYSIOLOGIQUES DE LA MOTRICITE DE L’ENFANT ET DE L’ADOLESCENT</dc:title>
</cp:coreProperties>
</file>