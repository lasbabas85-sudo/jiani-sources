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9.png" ContentType="image/png"/>
  <Override PartName="/ppt/media/image12.png" ContentType="image/png"/>
  <Override PartName="/ppt/media/image8.png" ContentType="image/png"/>
  <Override PartName="/ppt/media/image17.wmf" ContentType="image/x-wmf"/>
  <Override PartName="/ppt/media/image14.jpeg" ContentType="image/jpeg"/>
  <Override PartName="/ppt/media/image2.wmf" ContentType="image/x-wmf"/>
  <Override PartName="/ppt/media/image5.png" ContentType="image/png"/>
  <Override PartName="/ppt/media/image16.png" ContentType="image/png"/>
  <Override PartName="/ppt/media/image7.png" ContentType="image/png"/>
  <Override PartName="/ppt/media/image10.wmf" ContentType="image/x-wmf"/>
  <Override PartName="/ppt/media/image11.png" ContentType="image/png"/>
  <Override PartName="/ppt/media/image1.gif" ContentType="image/gif"/>
  <Override PartName="/ppt/media/image13.jpeg" ContentType="image/jpeg"/>
  <Override PartName="/ppt/media/image4.png" ContentType="image/png"/>
  <Override PartName="/ppt/media/image6.png" ContentType="image/png"/>
  <Override PartName="/ppt/media/image3.gif" ContentType="image/gif"/>
  <Override PartName="/ppt/media/image15.png" ContentType="image/png"/>
  <Override PartName="/ppt/embeddings/oleObject1.xlsx" ContentType="application/vnd.openxmlformats-officedocument.spreadsheetml.sheet"/>
  <Override PartName="/ppt/embeddings/oleObject2.xlsx" ContentType="application/vnd.openxmlformats-officedocument.spreadsheetml.sheet"/>
  <Override PartName="/ppt/embeddings/oleObject3.xlsx" ContentType="application/vnd.openxmlformats-officedocument.spreadsheetml.sheet"/>
  <Override PartName="/ppt/embeddings/oleObject4.xlsx" ContentType="application/vnd.openxmlformats-officedocument.spreadsheetml.sheet"/>
  <Override PartName="/ppt/embeddings/oleObject1.bin" ContentType="application/vnd.openxmlformats-officedocument.oleObject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2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dt" idx="4"/>
          </p:nvPr>
        </p:nvSpPr>
        <p:spPr>
          <a:xfrm>
            <a:off x="388584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move the slide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-36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388584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D5C2C8-2200-4DA3-B588-CE7B048C4807}" type="slidenum"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2645572-E4D6-43E2-8959-99A1A7464881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Rectangle 6"/>
          <p:cNvSpPr/>
          <p:nvPr/>
        </p:nvSpPr>
        <p:spPr>
          <a:xfrm>
            <a:off x="388620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Rectangle 7"/>
          <p:cNvSpPr/>
          <p:nvPr/>
        </p:nvSpPr>
        <p:spPr>
          <a:xfrm>
            <a:off x="388620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Rectangle 8"/>
          <p:cNvSpPr/>
          <p:nvPr/>
        </p:nvSpPr>
        <p:spPr>
          <a:xfrm>
            <a:off x="0" y="8704440"/>
            <a:ext cx="2971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Rectangle 9"/>
          <p:cNvSpPr/>
          <p:nvPr/>
        </p:nvSpPr>
        <p:spPr>
          <a:xfrm>
            <a:off x="0" y="4680"/>
            <a:ext cx="29718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8C88C0-763B-48E4-A785-B2B01FC7872F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20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F014F08-1AD3-47B2-AF56-58B6CAA77740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Rectangle 2"/>
          <p:cNvSpPr/>
          <p:nvPr/>
        </p:nvSpPr>
        <p:spPr>
          <a:xfrm>
            <a:off x="388620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8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Rectangle 5"/>
          <p:cNvSpPr/>
          <p:nvPr/>
        </p:nvSpPr>
        <p:spPr>
          <a:xfrm>
            <a:off x="0" y="648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 type="sldImg"/>
          </p:nvPr>
        </p:nvSpPr>
        <p:spPr>
          <a:xfrm>
            <a:off x="1300320" y="800280"/>
            <a:ext cx="426060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050F89A-97F1-4EB1-86D9-41990A31DB53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Rectangle 2"/>
          <p:cNvSpPr/>
          <p:nvPr/>
        </p:nvSpPr>
        <p:spPr>
          <a:xfrm>
            <a:off x="388620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4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Rectangle 5"/>
          <p:cNvSpPr/>
          <p:nvPr/>
        </p:nvSpPr>
        <p:spPr>
          <a:xfrm>
            <a:off x="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Rectangle 6"/>
          <p:cNvSpPr/>
          <p:nvPr/>
        </p:nvSpPr>
        <p:spPr>
          <a:xfrm>
            <a:off x="3886200" y="324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Rectangle 7"/>
          <p:cNvSpPr/>
          <p:nvPr/>
        </p:nvSpPr>
        <p:spPr>
          <a:xfrm>
            <a:off x="3886200" y="8702640"/>
            <a:ext cx="29718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4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Rectangle 8"/>
          <p:cNvSpPr/>
          <p:nvPr/>
        </p:nvSpPr>
        <p:spPr>
          <a:xfrm>
            <a:off x="0" y="8702640"/>
            <a:ext cx="297180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Rectangle 9"/>
          <p:cNvSpPr/>
          <p:nvPr/>
        </p:nvSpPr>
        <p:spPr>
          <a:xfrm>
            <a:off x="0" y="3240"/>
            <a:ext cx="2971800" cy="43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Rectangle 7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D6C693-F0D1-4EE8-B1A5-DFBA3084BDA0}" type="slidenum">
              <a:rPr b="0" lang="fr-FR" sz="1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Rectangle 2"/>
          <p:cNvSpPr/>
          <p:nvPr/>
        </p:nvSpPr>
        <p:spPr>
          <a:xfrm>
            <a:off x="388620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Rectangle 3"/>
          <p:cNvSpPr/>
          <p:nvPr/>
        </p:nvSpPr>
        <p:spPr>
          <a:xfrm>
            <a:off x="388620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762120"/>
                <a:tab algn="l" pos="1523880"/>
                <a:tab algn="l" pos="2286000"/>
                <a:tab algn="l" pos="3048120"/>
                <a:tab algn="l" pos="3809880"/>
                <a:tab algn="l" pos="4572000"/>
                <a:tab algn="l" pos="5334120"/>
                <a:tab algn="l" pos="6095880"/>
                <a:tab algn="l" pos="6858000"/>
                <a:tab algn="l" pos="7620120"/>
                <a:tab algn="l" pos="8381880"/>
                <a:tab algn="l" pos="9144000"/>
                <a:tab algn="l" pos="9906120"/>
                <a:tab algn="l" pos="10667880"/>
              </a:tabLst>
            </a:pPr>
            <a:r>
              <a:rPr b="0" i="1" lang="fr-FR" sz="1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18</a:t>
            </a:r>
            <a:endParaRPr b="0" lang="en-US" sz="1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Rectangle 4"/>
          <p:cNvSpPr/>
          <p:nvPr/>
        </p:nvSpPr>
        <p:spPr>
          <a:xfrm>
            <a:off x="0" y="870444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Rectangle 5"/>
          <p:cNvSpPr/>
          <p:nvPr/>
        </p:nvSpPr>
        <p:spPr>
          <a:xfrm>
            <a:off x="0" y="6480"/>
            <a:ext cx="297180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1"/>
          <p:cNvSpPr>
            <a:spLocks noGrp="1"/>
          </p:cNvSpPr>
          <p:nvPr>
            <p:ph type="body"/>
          </p:nvPr>
        </p:nvSpPr>
        <p:spPr>
          <a:xfrm>
            <a:off x="914400" y="4348080"/>
            <a:ext cx="5029200" cy="336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PlaceHolder 2"/>
          <p:cNvSpPr>
            <a:spLocks noGrp="1"/>
          </p:cNvSpPr>
          <p:nvPr>
            <p:ph type="sldImg"/>
          </p:nvPr>
        </p:nvSpPr>
        <p:spPr>
          <a:xfrm>
            <a:off x="1298520" y="800280"/>
            <a:ext cx="4260960" cy="319536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652C1E-C7BC-4300-A2F5-81CC4F4F3D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99"/>
            </a:gs>
            <a:gs pos="100000">
              <a:srgbClr val="000000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ffff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6CAA13-6074-4CB8-B856-2EC04014D71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5.png"/><Relationship Id="rId3" Type="http://schemas.openxmlformats.org/officeDocument/2006/relationships/package" Target="../embeddings/oleObject2.xlsx"/><Relationship Id="rId4" Type="http://schemas.openxmlformats.org/officeDocument/2006/relationships/image" Target="../media/image6.png"/><Relationship Id="rId5" Type="http://schemas.openxmlformats.org/officeDocument/2006/relationships/package" Target="../embeddings/oleObject3.xlsx"/><Relationship Id="rId6" Type="http://schemas.openxmlformats.org/officeDocument/2006/relationships/image" Target="../media/image7.png"/><Relationship Id="rId7" Type="http://schemas.openxmlformats.org/officeDocument/2006/relationships/package" Target="../embeddings/oleObject4.xlsx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0.wmf"/><Relationship Id="rId3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.pn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15.png"/><Relationship Id="rId6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7.wmf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7.wmf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9BC019A-56C2-4BEB-85E3-836F7DE6BB2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68000" y="1700280"/>
            <a:ext cx="8026200" cy="447336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4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« Y a t’il un intérêt à doser le lactate » ? </a:t>
            </a:r>
            <a:br>
              <a:rPr sz="4400"/>
            </a:br>
            <a:br>
              <a:rPr sz="4400"/>
            </a:br>
            <a:br>
              <a:rPr sz="44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Controverse : </a:t>
            </a:r>
            <a:br>
              <a:rPr sz="2800"/>
            </a:br>
            <a:br>
              <a:rPr sz="28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Georges Cazorla (Bordeaux) </a:t>
            </a:r>
            <a:br>
              <a:rPr sz="28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Ruddy Richard (Strasbourg)</a:t>
            </a:r>
            <a:r>
              <a:rPr b="1" lang="fr-FR" sz="4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 Box 10"/>
          <p:cNvSpPr/>
          <p:nvPr/>
        </p:nvSpPr>
        <p:spPr>
          <a:xfrm>
            <a:off x="1478520" y="523800"/>
            <a:ext cx="5648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G.E.R.S.  Paris le 19 octobre 2007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E02E00-234D-4DAC-AFC2-EA3847190EC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Rectangle 2"/>
          <p:cNvSpPr/>
          <p:nvPr/>
        </p:nvSpPr>
        <p:spPr>
          <a:xfrm>
            <a:off x="6095880" y="914400"/>
            <a:ext cx="1675080" cy="30600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GLYCOGENE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Rectangle 3"/>
          <p:cNvSpPr/>
          <p:nvPr/>
        </p:nvSpPr>
        <p:spPr>
          <a:xfrm>
            <a:off x="3276720" y="1981080"/>
            <a:ext cx="269712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CELLULE MUSCULAIRE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Oval 4"/>
          <p:cNvSpPr/>
          <p:nvPr/>
        </p:nvSpPr>
        <p:spPr>
          <a:xfrm>
            <a:off x="360360" y="4005360"/>
            <a:ext cx="1322280" cy="1089000"/>
          </a:xfrm>
          <a:prstGeom prst="ellipse">
            <a:avLst/>
          </a:prstGeom>
          <a:solidFill>
            <a:srgbClr val="ffff00"/>
          </a:solidFill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361800" y="4157640"/>
            <a:ext cx="129564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CAPILLAIRE SANGUIN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Rectangle 6"/>
          <p:cNvSpPr/>
          <p:nvPr/>
        </p:nvSpPr>
        <p:spPr>
          <a:xfrm>
            <a:off x="1352520" y="4995720"/>
            <a:ext cx="4111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Rectangle 7"/>
          <p:cNvSpPr/>
          <p:nvPr/>
        </p:nvSpPr>
        <p:spPr>
          <a:xfrm>
            <a:off x="6934320" y="2895480"/>
            <a:ext cx="1441440" cy="30600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 PYRUVATE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Line 8"/>
          <p:cNvSpPr/>
          <p:nvPr/>
        </p:nvSpPr>
        <p:spPr>
          <a:xfrm>
            <a:off x="6858000" y="1295280"/>
            <a:ext cx="609480" cy="1600200"/>
          </a:xfrm>
          <a:prstGeom prst="line">
            <a:avLst/>
          </a:prstGeom>
          <a:ln w="2844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Rectangle 9"/>
          <p:cNvSpPr/>
          <p:nvPr/>
        </p:nvSpPr>
        <p:spPr>
          <a:xfrm>
            <a:off x="4800600" y="3809880"/>
            <a:ext cx="1355760" cy="306000"/>
          </a:xfrm>
          <a:prstGeom prst="rect">
            <a:avLst/>
          </a:prstGeom>
          <a:noFill/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2 LACTATE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Rectangle 10"/>
          <p:cNvSpPr/>
          <p:nvPr/>
        </p:nvSpPr>
        <p:spPr>
          <a:xfrm>
            <a:off x="6629400" y="5257800"/>
            <a:ext cx="1447920" cy="2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Cycle de Krebs.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Rectangle 11"/>
          <p:cNvSpPr/>
          <p:nvPr/>
        </p:nvSpPr>
        <p:spPr>
          <a:xfrm>
            <a:off x="3048120" y="4876920"/>
            <a:ext cx="4205160" cy="73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ADP                 ATP  (36)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1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Line 12"/>
          <p:cNvSpPr/>
          <p:nvPr/>
        </p:nvSpPr>
        <p:spPr>
          <a:xfrm>
            <a:off x="3657600" y="5257800"/>
            <a:ext cx="2887560" cy="0"/>
          </a:xfrm>
          <a:prstGeom prst="line">
            <a:avLst/>
          </a:prstGeom>
          <a:ln w="38160">
            <a:solidFill>
              <a:srgbClr val="ffffff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Rectangle 13"/>
          <p:cNvSpPr/>
          <p:nvPr/>
        </p:nvSpPr>
        <p:spPr>
          <a:xfrm>
            <a:off x="3252960" y="4629240"/>
            <a:ext cx="5651280" cy="1314360"/>
          </a:xfrm>
          <a:prstGeom prst="rect">
            <a:avLst/>
          </a:prstGeom>
          <a:noFill/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Arc 14"/>
          <p:cNvSpPr/>
          <p:nvPr/>
        </p:nvSpPr>
        <p:spPr>
          <a:xfrm>
            <a:off x="6500880" y="4832280"/>
            <a:ext cx="1625400" cy="1035000"/>
          </a:xfrm>
          <a:custGeom>
            <a:avLst/>
            <a:gdLst>
              <a:gd name="GluePoint1X" fmla="*/ 35841507 w 43200"/>
              <a:gd name="GluePoint1Y" fmla="*/ 0 h 42879"/>
              <a:gd name="GluePoint2X" fmla="*/ 22634599 w 43200"/>
              <a:gd name="GluePoint2Y" fmla="*/ 245903 h 42879"/>
              <a:gd name="GluePoint3X" fmla="*/ 30585363 w 43200"/>
              <a:gd name="GluePoint3Y" fmla="*/ 12398947 h 4287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3200" h="42879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</a:path>
              <a:path stroke="0" w="43200" h="42879">
                <a:moveTo>
                  <a:pt x="25311" y="0"/>
                </a:moveTo>
                <a:cubicBezTo>
                  <a:pt x="35653" y="1804"/>
                  <a:pt x="43200" y="10781"/>
                  <a:pt x="43200" y="21279"/>
                </a:cubicBezTo>
                <a:cubicBezTo>
                  <a:pt x="43200" y="33208"/>
                  <a:pt x="33529" y="42879"/>
                  <a:pt x="21600" y="42879"/>
                </a:cubicBezTo>
                <a:cubicBezTo>
                  <a:pt x="9670" y="42879"/>
                  <a:pt x="0" y="33208"/>
                  <a:pt x="0" y="21279"/>
                </a:cubicBezTo>
                <a:cubicBezTo>
                  <a:pt x="-1" y="11512"/>
                  <a:pt x="6553" y="2960"/>
                  <a:pt x="15984" y="421"/>
                </a:cubicBezTo>
                <a:lnTo>
                  <a:pt x="21600" y="21279"/>
                </a:lnTo>
                <a:lnTo>
                  <a:pt x="25311" y="0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Arc 15"/>
          <p:cNvSpPr/>
          <p:nvPr/>
        </p:nvSpPr>
        <p:spPr>
          <a:xfrm>
            <a:off x="7924680" y="4952880"/>
            <a:ext cx="760680" cy="184320"/>
          </a:xfrm>
          <a:custGeom>
            <a:avLst/>
            <a:gdLst>
              <a:gd name="GluePoint1X" fmla="*/ 14332439 w 40344"/>
              <a:gd name="GluePoint1Y" fmla="*/ 640391 h 37688"/>
              <a:gd name="GluePoint2X" fmla="*/ 2553219 w 40344"/>
              <a:gd name="GluePoint2Y" fmla="*/ 0 h 37688"/>
              <a:gd name="GluePoint3X" fmla="*/ 7673529 w 40344"/>
              <a:gd name="GluePoint3Y" fmla="*/ 384097 h 376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stroke="0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cap="rnd" w="19080">
            <a:solidFill>
              <a:srgbClr val="ffffff"/>
            </a:solidFill>
            <a:round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Rectangle 16"/>
          <p:cNvSpPr/>
          <p:nvPr/>
        </p:nvSpPr>
        <p:spPr>
          <a:xfrm>
            <a:off x="8305920" y="4800600"/>
            <a:ext cx="6094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CO</a:t>
            </a:r>
            <a:r>
              <a:rPr b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Arc 17"/>
          <p:cNvSpPr/>
          <p:nvPr/>
        </p:nvSpPr>
        <p:spPr>
          <a:xfrm rot="19020000">
            <a:off x="1738440" y="1998360"/>
            <a:ext cx="3975120" cy="3832200"/>
          </a:xfrm>
          <a:custGeom>
            <a:avLst/>
            <a:gdLst>
              <a:gd name="GluePoint1X" fmla="*/ 0 w 21889"/>
              <a:gd name="GluePoint1Y" fmla="*/ 620633629 h 21600"/>
              <a:gd name="GluePoint2X" fmla="*/ 721888620 w 21889"/>
              <a:gd name="GluePoint2Y" fmla="*/ 94386 h 21600"/>
              <a:gd name="GluePoint3X" fmla="*/ 709653143 w 21889"/>
              <a:gd name="GluePoint3Y" fmla="*/ 679905021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889" h="2160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</a:path>
              <a:path stroke="0" w="21889" h="21600">
                <a:moveTo>
                  <a:pt x="0" y="19717"/>
                </a:moveTo>
                <a:cubicBezTo>
                  <a:pt x="976" y="8560"/>
                  <a:pt x="10318" y="-1"/>
                  <a:pt x="21518" y="0"/>
                </a:cubicBezTo>
                <a:cubicBezTo>
                  <a:pt x="21641" y="0"/>
                  <a:pt x="21765" y="1"/>
                  <a:pt x="21888" y="3"/>
                </a:cubicBezTo>
                <a:lnTo>
                  <a:pt x="21518" y="21600"/>
                </a:lnTo>
                <a:lnTo>
                  <a:pt x="0" y="19717"/>
                </a:lnTo>
                <a:close/>
              </a:path>
            </a:pathLst>
          </a:custGeom>
          <a:noFill/>
          <a:ln cap="rnd" w="7632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Rectangle 18"/>
          <p:cNvSpPr/>
          <p:nvPr/>
        </p:nvSpPr>
        <p:spPr>
          <a:xfrm>
            <a:off x="7926840" y="3429000"/>
            <a:ext cx="51012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ccccff"/>
                </a:solidFill>
                <a:effectLst/>
                <a:uFillTx/>
                <a:latin typeface="Arial"/>
              </a:rPr>
              <a:t>CO</a:t>
            </a:r>
            <a:r>
              <a:rPr b="1" lang="fr-FR" sz="1400" strike="noStrike" u="none" baseline="-25000">
                <a:solidFill>
                  <a:srgbClr val="cccc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Arc 19"/>
          <p:cNvSpPr/>
          <p:nvPr/>
        </p:nvSpPr>
        <p:spPr>
          <a:xfrm>
            <a:off x="7467480" y="3657600"/>
            <a:ext cx="703440" cy="209520"/>
          </a:xfrm>
          <a:custGeom>
            <a:avLst/>
            <a:gdLst>
              <a:gd name="GluePoint1X" fmla="*/ 11612558 w 42590"/>
              <a:gd name="GluePoint1Y" fmla="*/ 475387 h 21600"/>
              <a:gd name="GluePoint2X" fmla="*/ 0 w 42590"/>
              <a:gd name="GluePoint2Y" fmla="*/ 63525 h 21600"/>
              <a:gd name="GluePoint3X" fmla="*/ 5886438 w 4259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2590" h="2160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</a:path>
              <a:path stroke="0" w="42590" h="21600">
                <a:moveTo>
                  <a:pt x="42590" y="5051"/>
                </a:moveTo>
                <a:cubicBezTo>
                  <a:pt x="40255" y="14757"/>
                  <a:pt x="31572" y="21599"/>
                  <a:pt x="21589" y="21600"/>
                </a:cubicBezTo>
                <a:cubicBezTo>
                  <a:pt x="9922" y="21600"/>
                  <a:pt x="364" y="12335"/>
                  <a:pt x="-1" y="675"/>
                </a:cubicBezTo>
                <a:lnTo>
                  <a:pt x="21589" y="0"/>
                </a:lnTo>
                <a:lnTo>
                  <a:pt x="42590" y="5051"/>
                </a:lnTo>
                <a:close/>
              </a:path>
            </a:pathLst>
          </a:custGeom>
          <a:noFill/>
          <a:ln cap="rnd" w="12600">
            <a:solidFill>
              <a:srgbClr val="ffffff"/>
            </a:solidFill>
            <a:round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Line 20"/>
          <p:cNvSpPr/>
          <p:nvPr/>
        </p:nvSpPr>
        <p:spPr>
          <a:xfrm>
            <a:off x="4572000" y="5105520"/>
            <a:ext cx="482760" cy="0"/>
          </a:xfrm>
          <a:prstGeom prst="line">
            <a:avLst/>
          </a:prstGeom>
          <a:ln w="1260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Line 21"/>
          <p:cNvSpPr/>
          <p:nvPr/>
        </p:nvSpPr>
        <p:spPr>
          <a:xfrm>
            <a:off x="1692360" y="5229360"/>
            <a:ext cx="1888920" cy="28440"/>
          </a:xfrm>
          <a:prstGeom prst="line">
            <a:avLst/>
          </a:prstGeom>
          <a:ln w="12600">
            <a:solidFill>
              <a:srgbClr val="ffffff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18360" bIns="-1836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Text Box 22"/>
          <p:cNvSpPr/>
          <p:nvPr/>
        </p:nvSpPr>
        <p:spPr>
          <a:xfrm>
            <a:off x="7390800" y="1676520"/>
            <a:ext cx="909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ATP</a:t>
            </a:r>
            <a:r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(+3)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Freeform 23"/>
          <p:cNvSpPr/>
          <p:nvPr/>
        </p:nvSpPr>
        <p:spPr>
          <a:xfrm>
            <a:off x="7010280" y="1600200"/>
            <a:ext cx="304920" cy="244440"/>
          </a:xfrm>
          <a:custGeom>
            <a:avLst/>
            <a:gdLst>
              <a:gd name="GluePoint1X" fmla="*/ 645160000 w 144"/>
              <a:gd name="GluePoint1Y" fmla="*/ 0 h 224"/>
              <a:gd name="GluePoint2X" fmla="*/ 0 w 144"/>
              <a:gd name="GluePoint2Y" fmla="*/ 228704180 h 224"/>
              <a:gd name="GluePoint3X" fmla="*/ 645160000 w 144"/>
              <a:gd name="GluePoint3Y" fmla="*/ 228704180 h 2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w="144" h="224">
                <a:moveTo>
                  <a:pt x="144" y="0"/>
                </a:moveTo>
                <a:cubicBezTo>
                  <a:pt x="72" y="80"/>
                  <a:pt x="0" y="160"/>
                  <a:pt x="0" y="192"/>
                </a:cubicBezTo>
                <a:cubicBezTo>
                  <a:pt x="0" y="224"/>
                  <a:pt x="120" y="192"/>
                  <a:pt x="144" y="192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Text Box 24"/>
          <p:cNvSpPr/>
          <p:nvPr/>
        </p:nvSpPr>
        <p:spPr>
          <a:xfrm>
            <a:off x="7392600" y="1336680"/>
            <a:ext cx="656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ADP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 Box 25"/>
          <p:cNvSpPr/>
          <p:nvPr/>
        </p:nvSpPr>
        <p:spPr>
          <a:xfrm>
            <a:off x="5796000" y="3198960"/>
            <a:ext cx="3700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1" lang="fr-FR" sz="14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AutoShape 26"/>
          <p:cNvSpPr/>
          <p:nvPr/>
        </p:nvSpPr>
        <p:spPr>
          <a:xfrm>
            <a:off x="6553080" y="1600200"/>
            <a:ext cx="470160" cy="209520"/>
          </a:xfrm>
          <a:custGeom>
            <a:avLst/>
            <a:gdLst>
              <a:gd name="textAreaLeft" fmla="*/ 63000 w 470160"/>
              <a:gd name="textAreaRight" fmla="*/ 407160 w 470160"/>
              <a:gd name="textAreaTop" fmla="*/ 45000 h 209520"/>
              <a:gd name="textAreaBottom" fmla="*/ 143640 h 209520"/>
              <a:gd name="GluePoint1X" fmla="*/ 0 w 21600"/>
              <a:gd name="GluePoint1Y" fmla="*/ 15 h 21600"/>
              <a:gd name="GluePoint2X" fmla="*/ 2 w 21600"/>
              <a:gd name="GluePoint2Y" fmla="*/ 11 h 21600"/>
              <a:gd name="GluePoint3X" fmla="*/ 0 w 21600"/>
              <a:gd name="GluePoint3Y" fmla="*/ 8 h 21600"/>
              <a:gd name="GluePoint4X" fmla="*/ 2 w 21600"/>
              <a:gd name="GluePoint4Y" fmla="*/ 13 h 21600"/>
              <a:gd name="GluePoint5X" fmla="*/ 21 w 21600"/>
              <a:gd name="GluePoint5Y" fmla="*/ 16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arcTo wR="21600" hR="9288" stAng="-5400000" swAng="5400000"/>
                <a:lnTo>
                  <a:pt x="21600" y="10152"/>
                </a:lnTo>
                <a:arcTo wR="21600" hR="9288" stAng="0" swAng="3355657"/>
                <a:lnTo>
                  <a:pt x="6032" y="21230"/>
                </a:lnTo>
                <a:lnTo>
                  <a:pt x="0" y="19008"/>
                </a:lnTo>
                <a:lnTo>
                  <a:pt x="6032" y="16046"/>
                </a:lnTo>
                <a:lnTo>
                  <a:pt x="6032" y="18206"/>
                </a:lnTo>
                <a:arcTo wR="21600" hR="9288" stAng="3355657" swAng="-3286837"/>
                <a:lnTo>
                  <a:pt x="21577" y="9720"/>
                </a:lnTo>
                <a:arcTo wR="21600" hR="9288" stAng="-68820" swAng="-5331180"/>
                <a:close/>
              </a:path>
              <a:path fill="darkenLess" w="21600" h="21600">
                <a:moveTo>
                  <a:pt x="0" y="0"/>
                </a:moveTo>
                <a:arcTo wR="21600" hR="9288" stAng="-5400000" swAng="5400000"/>
                <a:lnTo>
                  <a:pt x="21600" y="10152"/>
                </a:lnTo>
                <a:arcTo wR="21600" hR="9288" stAng="0" swAng="-68820"/>
                <a:lnTo>
                  <a:pt x="21577" y="9720"/>
                </a:lnTo>
                <a:arcTo wR="21600" hR="9288" stAng="-68820" swAng="-5331180"/>
                <a:close/>
              </a:path>
            </a:pathLst>
          </a:custGeom>
          <a:solidFill>
            <a:srgbClr val="000000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 Box 27"/>
          <p:cNvSpPr/>
          <p:nvPr/>
        </p:nvSpPr>
        <p:spPr>
          <a:xfrm>
            <a:off x="6019920" y="1752480"/>
            <a:ext cx="7617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s-CL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NADH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Line 28"/>
          <p:cNvSpPr/>
          <p:nvPr/>
        </p:nvSpPr>
        <p:spPr>
          <a:xfrm flipH="1">
            <a:off x="6019920" y="1981080"/>
            <a:ext cx="309600" cy="129564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Line 29"/>
          <p:cNvSpPr/>
          <p:nvPr/>
        </p:nvSpPr>
        <p:spPr>
          <a:xfrm>
            <a:off x="6095880" y="3429000"/>
            <a:ext cx="507960" cy="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Line 30"/>
          <p:cNvSpPr/>
          <p:nvPr/>
        </p:nvSpPr>
        <p:spPr>
          <a:xfrm flipV="1">
            <a:off x="6629400" y="3123720"/>
            <a:ext cx="0" cy="3049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 Box 31"/>
          <p:cNvSpPr/>
          <p:nvPr/>
        </p:nvSpPr>
        <p:spPr>
          <a:xfrm>
            <a:off x="6324480" y="2895480"/>
            <a:ext cx="685800" cy="30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Line 32"/>
          <p:cNvSpPr/>
          <p:nvPr/>
        </p:nvSpPr>
        <p:spPr>
          <a:xfrm flipH="1" flipV="1">
            <a:off x="6476760" y="1600200"/>
            <a:ext cx="152280" cy="129528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Line 33"/>
          <p:cNvSpPr/>
          <p:nvPr/>
        </p:nvSpPr>
        <p:spPr>
          <a:xfrm flipH="1">
            <a:off x="6095880" y="3200400"/>
            <a:ext cx="914400" cy="60948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Line 34"/>
          <p:cNvSpPr/>
          <p:nvPr/>
        </p:nvSpPr>
        <p:spPr>
          <a:xfrm>
            <a:off x="7451640" y="3197160"/>
            <a:ext cx="0" cy="16002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Line 35"/>
          <p:cNvSpPr/>
          <p:nvPr/>
        </p:nvSpPr>
        <p:spPr>
          <a:xfrm>
            <a:off x="1322280" y="5003640"/>
            <a:ext cx="120600" cy="68400"/>
          </a:xfrm>
          <a:prstGeom prst="line">
            <a:avLst/>
          </a:prstGeom>
          <a:ln w="936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1600" bIns="216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Text Box 36"/>
          <p:cNvSpPr/>
          <p:nvPr/>
        </p:nvSpPr>
        <p:spPr>
          <a:xfrm>
            <a:off x="3059280" y="5300640"/>
            <a:ext cx="3757320" cy="2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Chaîne des transporteurs d’électrons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Arc 37"/>
          <p:cNvSpPr/>
          <p:nvPr/>
        </p:nvSpPr>
        <p:spPr>
          <a:xfrm rot="10321200">
            <a:off x="5943600" y="5638320"/>
            <a:ext cx="760320" cy="181080"/>
          </a:xfrm>
          <a:custGeom>
            <a:avLst/>
            <a:gdLst>
              <a:gd name="GluePoint1X" fmla="*/ 14332439 w 40344"/>
              <a:gd name="GluePoint1Y" fmla="*/ 618498 h 37688"/>
              <a:gd name="GluePoint2X" fmla="*/ 2553219 w 40344"/>
              <a:gd name="GluePoint2Y" fmla="*/ 0 h 37688"/>
              <a:gd name="GluePoint3X" fmla="*/ 7673529 w 40344"/>
              <a:gd name="GluePoint3Y" fmla="*/ 370963 h 3768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</a:path>
              <a:path stroke="0" w="40344" h="37688">
                <a:moveTo>
                  <a:pt x="40343" y="26822"/>
                </a:moveTo>
                <a:cubicBezTo>
                  <a:pt x="36495" y="33542"/>
                  <a:pt x="29343" y="37687"/>
                  <a:pt x="21600" y="37688"/>
                </a:cubicBezTo>
                <a:cubicBezTo>
                  <a:pt x="9670" y="37688"/>
                  <a:pt x="0" y="28017"/>
                  <a:pt x="0" y="16088"/>
                </a:cubicBezTo>
                <a:cubicBezTo>
                  <a:pt x="-1" y="9947"/>
                  <a:pt x="2613" y="4097"/>
                  <a:pt x="7186" y="-1"/>
                </a:cubicBezTo>
                <a:lnTo>
                  <a:pt x="21600" y="16088"/>
                </a:lnTo>
                <a:lnTo>
                  <a:pt x="40343" y="26822"/>
                </a:lnTo>
                <a:close/>
              </a:path>
            </a:pathLst>
          </a:custGeom>
          <a:noFill/>
          <a:ln cap="rnd" w="1908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 rot="10800000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Text Box 38"/>
          <p:cNvSpPr/>
          <p:nvPr/>
        </p:nvSpPr>
        <p:spPr>
          <a:xfrm>
            <a:off x="5638680" y="5562720"/>
            <a:ext cx="53352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1" lang="fr-FR" sz="16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Rectangle 39"/>
          <p:cNvSpPr/>
          <p:nvPr/>
        </p:nvSpPr>
        <p:spPr>
          <a:xfrm>
            <a:off x="304920" y="228600"/>
            <a:ext cx="8654760" cy="64008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 Box 40"/>
          <p:cNvSpPr/>
          <p:nvPr/>
        </p:nvSpPr>
        <p:spPr>
          <a:xfrm>
            <a:off x="3373560" y="4629240"/>
            <a:ext cx="541008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MITOCHONDRIE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 </a:t>
            </a: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OXYDATION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Text Box 41"/>
          <p:cNvSpPr/>
          <p:nvPr/>
        </p:nvSpPr>
        <p:spPr>
          <a:xfrm>
            <a:off x="108000" y="2565360"/>
            <a:ext cx="264636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sng">
                <a:solidFill>
                  <a:srgbClr val="ffff00"/>
                </a:solidFill>
                <a:effectLst/>
                <a:uFillTx/>
                <a:latin typeface="Arial"/>
              </a:rPr>
              <a:t>MILIEU INTERSTITIEL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Text Box 42"/>
          <p:cNvSpPr/>
          <p:nvPr/>
        </p:nvSpPr>
        <p:spPr>
          <a:xfrm>
            <a:off x="6097320" y="1349280"/>
            <a:ext cx="567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NAD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Line 43"/>
          <p:cNvSpPr/>
          <p:nvPr/>
        </p:nvSpPr>
        <p:spPr>
          <a:xfrm flipV="1">
            <a:off x="5791320" y="5486040"/>
            <a:ext cx="0" cy="152280"/>
          </a:xfrm>
          <a:prstGeom prst="line">
            <a:avLst/>
          </a:prstGeom>
          <a:ln w="9360">
            <a:solidFill>
              <a:srgbClr val="3333cc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AutoShape 45"/>
          <p:cNvSpPr/>
          <p:nvPr/>
        </p:nvSpPr>
        <p:spPr>
          <a:xfrm>
            <a:off x="5181480" y="3048120"/>
            <a:ext cx="228600" cy="685800"/>
          </a:xfrm>
          <a:prstGeom prst="upArrow">
            <a:avLst>
              <a:gd name="adj1" fmla="val 50000"/>
              <a:gd name="adj2" fmla="val 75000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AutoShape 46"/>
          <p:cNvSpPr/>
          <p:nvPr/>
        </p:nvSpPr>
        <p:spPr>
          <a:xfrm flipV="1">
            <a:off x="2700360" y="3809160"/>
            <a:ext cx="2023920" cy="266760"/>
          </a:xfrm>
          <a:prstGeom prst="leftArrow">
            <a:avLst>
              <a:gd name="adj1" fmla="val 50000"/>
              <a:gd name="adj2" fmla="val 189676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 Box 47"/>
          <p:cNvSpPr/>
          <p:nvPr/>
        </p:nvSpPr>
        <p:spPr>
          <a:xfrm>
            <a:off x="361440" y="4614840"/>
            <a:ext cx="13298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LACTATEMIE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 Box 48"/>
          <p:cNvSpPr/>
          <p:nvPr/>
        </p:nvSpPr>
        <p:spPr>
          <a:xfrm>
            <a:off x="4651200" y="2362320"/>
            <a:ext cx="152100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Accumulation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intracellulaire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Text Box 49"/>
          <p:cNvSpPr/>
          <p:nvPr/>
        </p:nvSpPr>
        <p:spPr>
          <a:xfrm>
            <a:off x="2187360" y="3200400"/>
            <a:ext cx="24559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Transport membranaire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extra cellulaire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Rectangle 50"/>
          <p:cNvSpPr/>
          <p:nvPr/>
        </p:nvSpPr>
        <p:spPr>
          <a:xfrm>
            <a:off x="4068720" y="4149720"/>
            <a:ext cx="409680" cy="3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1" lang="fr-FR" sz="14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Line 51"/>
          <p:cNvSpPr/>
          <p:nvPr/>
        </p:nvSpPr>
        <p:spPr>
          <a:xfrm flipH="1">
            <a:off x="3637080" y="4365720"/>
            <a:ext cx="574560" cy="79200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Oval 52"/>
          <p:cNvSpPr/>
          <p:nvPr/>
        </p:nvSpPr>
        <p:spPr>
          <a:xfrm>
            <a:off x="2411280" y="3789360"/>
            <a:ext cx="287640" cy="289080"/>
          </a:xfrm>
          <a:prstGeom prst="ellipse">
            <a:avLst/>
          </a:prstGeom>
          <a:solidFill>
            <a:srgbClr val="66ff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Text Box 53"/>
          <p:cNvSpPr/>
          <p:nvPr/>
        </p:nvSpPr>
        <p:spPr>
          <a:xfrm>
            <a:off x="1621080" y="3833640"/>
            <a:ext cx="7326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MCT4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" name="Picture 54" descr="Molécule animée"/>
          <p:cNvPicPr/>
          <p:nvPr/>
        </p:nvPicPr>
        <p:blipFill>
          <a:blip r:embed="rId1"/>
          <a:stretch/>
        </p:blipFill>
        <p:spPr>
          <a:xfrm>
            <a:off x="3348000" y="3933720"/>
            <a:ext cx="914400" cy="70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Line 55"/>
          <p:cNvSpPr/>
          <p:nvPr/>
        </p:nvSpPr>
        <p:spPr>
          <a:xfrm flipH="1">
            <a:off x="2410920" y="3860640"/>
            <a:ext cx="289080" cy="144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AutoShape 57"/>
          <p:cNvSpPr/>
          <p:nvPr/>
        </p:nvSpPr>
        <p:spPr>
          <a:xfrm rot="17766600">
            <a:off x="1944000" y="3319560"/>
            <a:ext cx="289080" cy="649440"/>
          </a:xfrm>
          <a:prstGeom prst="upArrow">
            <a:avLst>
              <a:gd name="adj1" fmla="val 50000"/>
              <a:gd name="adj2" fmla="val 56164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AutoShape 58"/>
          <p:cNvSpPr/>
          <p:nvPr/>
        </p:nvSpPr>
        <p:spPr>
          <a:xfrm rot="3838800">
            <a:off x="1980360" y="3932640"/>
            <a:ext cx="287280" cy="720720"/>
          </a:xfrm>
          <a:prstGeom prst="downArrow">
            <a:avLst>
              <a:gd name="adj1" fmla="val 50000"/>
              <a:gd name="adj2" fmla="val 62719"/>
            </a:avLst>
          </a:pr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ext Box 59"/>
          <p:cNvSpPr/>
          <p:nvPr/>
        </p:nvSpPr>
        <p:spPr>
          <a:xfrm rot="19504800">
            <a:off x="401040" y="616320"/>
            <a:ext cx="1108080" cy="36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RAPPEL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 Box 60"/>
          <p:cNvSpPr/>
          <p:nvPr/>
        </p:nvSpPr>
        <p:spPr>
          <a:xfrm>
            <a:off x="1855800" y="115920"/>
            <a:ext cx="6556320" cy="64260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METABOLISME DU LACTATE AU COURS DE L’EXERCICE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INTENSE ( &gt;PAM ) et DE COURTE DUREE (400 m - 800 m)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split dir="out" orient="vert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0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nodeType="clickEffect" fill="hold">
                      <p:stCondLst>
                        <p:cond delay="indefinite"/>
                      </p:stCondLst>
                      <p:childTnLst>
                        <p:par>
                          <p:cTn id="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4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nodeType="afterEffect" fill="hold">
                            <p:stCondLst>
                              <p:cond delay="5500"/>
                            </p:stCondLst>
                            <p:childTnLst>
                              <p:par>
                                <p:cTn id="66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nodeType="afterEffect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nodeType="afterEffect" fill="hold">
                            <p:stCondLst>
                              <p:cond delay="6500"/>
                            </p:stCondLst>
                            <p:childTnLst>
                              <p:par>
                                <p:cTn id="74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nodeType="afterEffect" fill="hold">
                            <p:stCondLst>
                              <p:cond delay="7000"/>
                            </p:stCondLst>
                            <p:childTnLst>
                              <p:par>
                                <p:cTn id="8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8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nodeType="afterEffect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nodeType="clickEffect" fill="hold">
                      <p:stCondLst>
                        <p:cond delay="indefinite"/>
                      </p:stCondLst>
                      <p:childTnLst>
                        <p:par>
                          <p:cTn id="9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9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nodeType="clickEffect" fill="hold">
                      <p:stCondLst>
                        <p:cond delay="indefinite"/>
                      </p:stCondLst>
                      <p:childTnLst>
                        <p:par>
                          <p:cTn id="11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1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1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16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2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nodeType="after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3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nodeType="clickEffect" fill="hold">
                      <p:stCondLst>
                        <p:cond delay="indefinite"/>
                      </p:stCondLst>
                      <p:childTnLst>
                        <p:par>
                          <p:cTn id="13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2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right)" transition="in">
                                      <p:cBhvr additive="repl">
                                        <p:cTn id="1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5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nodeType="clickEffect" fill="hold">
                      <p:stCondLst>
                        <p:cond delay="indefinite"/>
                      </p:stCondLst>
                      <p:childTnLst>
                        <p:par>
                          <p:cTn id="15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2DD509-7341-4FF7-9AE1-E8915967874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Picture 6" descr=""/>
          <p:cNvPicPr/>
          <p:nvPr/>
        </p:nvPicPr>
        <p:blipFill>
          <a:blip r:embed="rId1"/>
          <a:stretch/>
        </p:blipFill>
        <p:spPr>
          <a:xfrm>
            <a:off x="324000" y="85680"/>
            <a:ext cx="8351640" cy="669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Line 7"/>
          <p:cNvSpPr/>
          <p:nvPr/>
        </p:nvSpPr>
        <p:spPr>
          <a:xfrm>
            <a:off x="1187280" y="260280"/>
            <a:ext cx="0" cy="417672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Line 8"/>
          <p:cNvSpPr/>
          <p:nvPr/>
        </p:nvSpPr>
        <p:spPr>
          <a:xfrm>
            <a:off x="1187280" y="4437000"/>
            <a:ext cx="7056720" cy="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 Box 9"/>
          <p:cNvSpPr/>
          <p:nvPr/>
        </p:nvSpPr>
        <p:spPr>
          <a:xfrm>
            <a:off x="5077800" y="6237360"/>
            <a:ext cx="3280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D’après Krustrup et al. 2006)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Box 10"/>
          <p:cNvSpPr/>
          <p:nvPr/>
        </p:nvSpPr>
        <p:spPr>
          <a:xfrm>
            <a:off x="1450440" y="3648240"/>
            <a:ext cx="682128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r>
            <a:r>
              <a:rPr b="1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</a:rPr>
              <a:t>ère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mi-temps : [LA]m = 15.9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1.9 mmol.kg</a:t>
            </a:r>
            <a:r>
              <a:rPr b="1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</a:rPr>
              <a:t>-1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[LA]s = 6.0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0.4 mM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r>
            <a:r>
              <a:rPr b="1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</a:rPr>
              <a:t>ème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mi-temps : [LA]m = 16.9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2.3 mmol.kg</a:t>
            </a:r>
            <a:r>
              <a:rPr b="1" lang="fr-FR" sz="1800" strike="noStrike" u="none" baseline="30000">
                <a:solidFill>
                  <a:srgbClr val="000000"/>
                </a:solidFill>
                <a:effectLst/>
                <a:uFillTx/>
                <a:latin typeface="Times New Roman"/>
              </a:rPr>
              <a:t>-1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[LA]s = 5.0 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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0.4 mM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97F663-F7CB-46D7-92DB-D373CDB794F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76320"/>
            <a:ext cx="9142560" cy="91440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QUELLE SIGNIFICATION ACCORDER A LA LACTATEMIE ?</a:t>
            </a:r>
            <a:endParaRPr b="0" lang="en-US" sz="2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Rectangle 7"/>
          <p:cNvSpPr/>
          <p:nvPr/>
        </p:nvSpPr>
        <p:spPr>
          <a:xfrm>
            <a:off x="0" y="1068480"/>
            <a:ext cx="4140360" cy="101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ENTRANT (L.E.)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(MUSCLE : producteur)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Rectangle 10"/>
          <p:cNvSpPr/>
          <p:nvPr/>
        </p:nvSpPr>
        <p:spPr>
          <a:xfrm>
            <a:off x="0" y="5715000"/>
            <a:ext cx="4211640" cy="11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spcBef>
                <a:spcPts val="137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SORTANT (L.S.)</a:t>
            </a:r>
            <a:endParaRPr b="0" lang="en-US" sz="2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OXYDATION (MCT1), NEOGLYCOGENESE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AutoShape 11"/>
          <p:cNvSpPr/>
          <p:nvPr/>
        </p:nvSpPr>
        <p:spPr>
          <a:xfrm>
            <a:off x="1758960" y="2063880"/>
            <a:ext cx="368280" cy="825480"/>
          </a:xfrm>
          <a:prstGeom prst="downArrow">
            <a:avLst>
              <a:gd name="adj1" fmla="val 75009"/>
              <a:gd name="adj2" fmla="val 112082"/>
            </a:avLst>
          </a:prstGeom>
          <a:solidFill>
            <a:srgbClr val="ffff00"/>
          </a:solidFill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Rectangle 12"/>
          <p:cNvSpPr/>
          <p:nvPr/>
        </p:nvSpPr>
        <p:spPr>
          <a:xfrm>
            <a:off x="2608200" y="2286000"/>
            <a:ext cx="502920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L.E. &gt; LS : (accumulation)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Line 13"/>
          <p:cNvSpPr/>
          <p:nvPr/>
        </p:nvSpPr>
        <p:spPr>
          <a:xfrm>
            <a:off x="7467480" y="1676520"/>
            <a:ext cx="0" cy="1218960"/>
          </a:xfrm>
          <a:prstGeom prst="line">
            <a:avLst/>
          </a:prstGeom>
          <a:ln w="12600">
            <a:solidFill>
              <a:srgbClr val="ffff00"/>
            </a:solidFill>
            <a:miter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Line 14"/>
          <p:cNvSpPr/>
          <p:nvPr/>
        </p:nvSpPr>
        <p:spPr>
          <a:xfrm>
            <a:off x="7467480" y="2895480"/>
            <a:ext cx="152424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Arc 15"/>
          <p:cNvSpPr/>
          <p:nvPr/>
        </p:nvSpPr>
        <p:spPr>
          <a:xfrm>
            <a:off x="7620120" y="1981080"/>
            <a:ext cx="914400" cy="685800"/>
          </a:xfrm>
          <a:custGeom>
            <a:avLst/>
            <a:gdLst>
              <a:gd name="GluePoint1X" fmla="*/ 38709600 w 21600"/>
              <a:gd name="GluePoint1Y" fmla="*/ 0 h 21600"/>
              <a:gd name="GluePoint2X" fmla="*/ 0 w 21600"/>
              <a:gd name="GluePoint2Y" fmla="*/ 21774150 h 21600"/>
              <a:gd name="GluePoint3X" fmla="*/ 0 w 2160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stroke="0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Line 16"/>
          <p:cNvSpPr/>
          <p:nvPr/>
        </p:nvSpPr>
        <p:spPr>
          <a:xfrm>
            <a:off x="8001000" y="2514600"/>
            <a:ext cx="0" cy="152280"/>
          </a:xfrm>
          <a:prstGeom prst="line">
            <a:avLst/>
          </a:prstGeom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Rectangle 17"/>
          <p:cNvSpPr/>
          <p:nvPr/>
        </p:nvSpPr>
        <p:spPr>
          <a:xfrm>
            <a:off x="3416400" y="3429000"/>
            <a:ext cx="360360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L.E. = L.S.  :  (Etat stable)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Line 18"/>
          <p:cNvSpPr/>
          <p:nvPr/>
        </p:nvSpPr>
        <p:spPr>
          <a:xfrm>
            <a:off x="7467480" y="3124080"/>
            <a:ext cx="0" cy="1219320"/>
          </a:xfrm>
          <a:prstGeom prst="line">
            <a:avLst/>
          </a:prstGeom>
          <a:ln w="12600">
            <a:solidFill>
              <a:srgbClr val="ffff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Line 19"/>
          <p:cNvSpPr/>
          <p:nvPr/>
        </p:nvSpPr>
        <p:spPr>
          <a:xfrm>
            <a:off x="7467480" y="4343400"/>
            <a:ext cx="152424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Line 20"/>
          <p:cNvSpPr/>
          <p:nvPr/>
        </p:nvSpPr>
        <p:spPr>
          <a:xfrm>
            <a:off x="8077320" y="3809880"/>
            <a:ext cx="76176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Freeform 21"/>
          <p:cNvSpPr/>
          <p:nvPr/>
        </p:nvSpPr>
        <p:spPr>
          <a:xfrm>
            <a:off x="7772400" y="3809880"/>
            <a:ext cx="306360" cy="459000"/>
          </a:xfrm>
          <a:custGeom>
            <a:avLst/>
            <a:gdLst>
              <a:gd name="GluePoint1X" fmla="*/ 483870790 w 193"/>
              <a:gd name="GluePoint1Y" fmla="*/ 0 h 289"/>
              <a:gd name="GluePoint2X" fmla="*/ 483870790 w 193"/>
              <a:gd name="GluePoint2Y" fmla="*/ 151209540 h 289"/>
              <a:gd name="GluePoint3X" fmla="*/ 443548224 w 193"/>
              <a:gd name="GluePoint3Y" fmla="*/ 264617488 h 289"/>
              <a:gd name="GluePoint4X" fmla="*/ 403225658 w 193"/>
              <a:gd name="GluePoint4Y" fmla="*/ 378023849 h 289"/>
              <a:gd name="GluePoint5X" fmla="*/ 322580526 w 193"/>
              <a:gd name="GluePoint5Y" fmla="*/ 491431798 h 289"/>
              <a:gd name="GluePoint6X" fmla="*/ 241935395 w 193"/>
              <a:gd name="GluePoint6Y" fmla="*/ 604838159 h 289"/>
              <a:gd name="GluePoint7X" fmla="*/ 120967697 w 193"/>
              <a:gd name="GluePoint7Y" fmla="*/ 642641338 h 289"/>
              <a:gd name="GluePoint8X" fmla="*/ 0 w 193"/>
              <a:gd name="GluePoint8Y" fmla="*/ 680442929 h 289"/>
              <a:gd name="GluePoint9X" fmla="*/ 95766094 w 193"/>
              <a:gd name="GluePoint9Y" fmla="*/ 725805791 h 28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193" h="289">
                <a:moveTo>
                  <a:pt x="192" y="0"/>
                </a:moveTo>
                <a:lnTo>
                  <a:pt x="192" y="60"/>
                </a:lnTo>
                <a:lnTo>
                  <a:pt x="176" y="105"/>
                </a:lnTo>
                <a:lnTo>
                  <a:pt x="160" y="150"/>
                </a:lnTo>
                <a:lnTo>
                  <a:pt x="128" y="195"/>
                </a:lnTo>
                <a:lnTo>
                  <a:pt x="96" y="240"/>
                </a:lnTo>
                <a:lnTo>
                  <a:pt x="48" y="255"/>
                </a:lnTo>
                <a:lnTo>
                  <a:pt x="0" y="270"/>
                </a:lnTo>
                <a:lnTo>
                  <a:pt x="38" y="288"/>
                </a:lnTo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Rectangle 22"/>
          <p:cNvSpPr/>
          <p:nvPr/>
        </p:nvSpPr>
        <p:spPr>
          <a:xfrm>
            <a:off x="7842600" y="3427560"/>
            <a:ext cx="119916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6-8 mmol.l</a:t>
            </a:r>
            <a:r>
              <a:rPr b="1" lang="fr-FR" sz="16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-</a:t>
            </a:r>
            <a:r>
              <a:rPr b="1" lang="fr-FR" sz="1400" strike="noStrike" u="none" baseline="30000">
                <a:solidFill>
                  <a:srgbClr val="ffff00"/>
                </a:solidFill>
                <a:effectLst/>
                <a:uFillTx/>
                <a:latin typeface="Times New Roman"/>
              </a:rPr>
              <a:t>1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Rectangle 23"/>
          <p:cNvSpPr/>
          <p:nvPr/>
        </p:nvSpPr>
        <p:spPr>
          <a:xfrm>
            <a:off x="3419640" y="4724280"/>
            <a:ext cx="374472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L.E. &lt; L.S. :  (décroissance)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Line 24"/>
          <p:cNvSpPr/>
          <p:nvPr/>
        </p:nvSpPr>
        <p:spPr>
          <a:xfrm>
            <a:off x="7467480" y="4495680"/>
            <a:ext cx="0" cy="1219320"/>
          </a:xfrm>
          <a:prstGeom prst="line">
            <a:avLst/>
          </a:prstGeom>
          <a:ln w="12600">
            <a:solidFill>
              <a:srgbClr val="ffff00"/>
            </a:solidFill>
            <a:miter/>
            <a:head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Line 25"/>
          <p:cNvSpPr/>
          <p:nvPr/>
        </p:nvSpPr>
        <p:spPr>
          <a:xfrm>
            <a:off x="7469280" y="5715000"/>
            <a:ext cx="1523880" cy="0"/>
          </a:xfrm>
          <a:prstGeom prst="line">
            <a:avLst/>
          </a:prstGeom>
          <a:ln w="12600">
            <a:solidFill>
              <a:srgbClr val="ffff00"/>
            </a:solidFill>
            <a:miter/>
            <a:tailEnd len="lg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Arc 27"/>
          <p:cNvSpPr/>
          <p:nvPr/>
        </p:nvSpPr>
        <p:spPr>
          <a:xfrm>
            <a:off x="7888320" y="4811760"/>
            <a:ext cx="1076400" cy="753840"/>
          </a:xfrm>
          <a:custGeom>
            <a:avLst/>
            <a:gdLst>
              <a:gd name="GluePoint1X" fmla="*/ 45537559 w 25440"/>
              <a:gd name="GluePoint1Y" fmla="*/ 23587822 h 23757"/>
              <a:gd name="GluePoint2X" fmla="*/ 193307 w 25440"/>
              <a:gd name="GluePoint2Y" fmla="*/ 0 h 23757"/>
              <a:gd name="GluePoint3X" fmla="*/ 38663972 w 25440"/>
              <a:gd name="GluePoint3Y" fmla="*/ 2173122 h 2375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5440" h="23757">
                <a:moveTo>
                  <a:pt x="25439" y="23412"/>
                </a:moveTo>
                <a:cubicBezTo>
                  <a:pt x="24172" y="23641"/>
                  <a:pt x="22887" y="23756"/>
                  <a:pt x="21600" y="23757"/>
                </a:cubicBezTo>
                <a:cubicBezTo>
                  <a:pt x="9670" y="23757"/>
                  <a:pt x="0" y="14086"/>
                  <a:pt x="0" y="2157"/>
                </a:cubicBezTo>
                <a:cubicBezTo>
                  <a:pt x="-1" y="1436"/>
                  <a:pt x="36" y="716"/>
                  <a:pt x="107" y="-1"/>
                </a:cubicBezTo>
              </a:path>
              <a:path stroke="0" w="25440" h="23757">
                <a:moveTo>
                  <a:pt x="25439" y="23412"/>
                </a:moveTo>
                <a:cubicBezTo>
                  <a:pt x="24172" y="23641"/>
                  <a:pt x="22887" y="23756"/>
                  <a:pt x="21600" y="23757"/>
                </a:cubicBezTo>
                <a:cubicBezTo>
                  <a:pt x="9670" y="23757"/>
                  <a:pt x="0" y="14086"/>
                  <a:pt x="0" y="2157"/>
                </a:cubicBezTo>
                <a:cubicBezTo>
                  <a:pt x="-1" y="1436"/>
                  <a:pt x="36" y="716"/>
                  <a:pt x="107" y="-1"/>
                </a:cubicBezTo>
                <a:lnTo>
                  <a:pt x="21600" y="2157"/>
                </a:lnTo>
                <a:lnTo>
                  <a:pt x="25439" y="23412"/>
                </a:lnTo>
                <a:close/>
              </a:path>
            </a:pathLst>
          </a:custGeom>
          <a:noFill/>
          <a:ln cap="rnd"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Line 28"/>
          <p:cNvSpPr/>
          <p:nvPr/>
        </p:nvSpPr>
        <p:spPr>
          <a:xfrm flipH="1">
            <a:off x="456840" y="4800600"/>
            <a:ext cx="609480" cy="76212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Line 29"/>
          <p:cNvSpPr/>
          <p:nvPr/>
        </p:nvSpPr>
        <p:spPr>
          <a:xfrm>
            <a:off x="2743200" y="4876920"/>
            <a:ext cx="457200" cy="76176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Line 30"/>
          <p:cNvSpPr/>
          <p:nvPr/>
        </p:nvSpPr>
        <p:spPr>
          <a:xfrm>
            <a:off x="1905120" y="4797360"/>
            <a:ext cx="0" cy="609840"/>
          </a:xfrm>
          <a:prstGeom prst="line">
            <a:avLst/>
          </a:prstGeom>
          <a:ln w="7632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Rectangle 31"/>
          <p:cNvSpPr/>
          <p:nvPr/>
        </p:nvSpPr>
        <p:spPr>
          <a:xfrm>
            <a:off x="4709520" y="1052640"/>
            <a:ext cx="21492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LACTATEMIE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7" name="Picture 32" descr="Circulation"/>
          <p:cNvPicPr/>
          <p:nvPr/>
        </p:nvPicPr>
        <p:blipFill>
          <a:blip r:embed="rId1"/>
          <a:stretch/>
        </p:blipFill>
        <p:spPr>
          <a:xfrm>
            <a:off x="826920" y="2906640"/>
            <a:ext cx="2232360" cy="1674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Box 33"/>
          <p:cNvSpPr/>
          <p:nvPr/>
        </p:nvSpPr>
        <p:spPr>
          <a:xfrm>
            <a:off x="7866000" y="5780160"/>
            <a:ext cx="701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1h30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Freeform 35"/>
          <p:cNvSpPr/>
          <p:nvPr/>
        </p:nvSpPr>
        <p:spPr>
          <a:xfrm>
            <a:off x="7451640" y="4700520"/>
            <a:ext cx="446040" cy="241200"/>
          </a:xfrm>
          <a:custGeom>
            <a:avLst/>
            <a:gdLst>
              <a:gd name="GluePoint1X" fmla="*/ 0 w 281"/>
              <a:gd name="GluePoint1Y" fmla="*/ 383063750 h 152"/>
              <a:gd name="GluePoint2X" fmla="*/ 115927317 w 281"/>
              <a:gd name="GluePoint2Y" fmla="*/ 153730325 h 152"/>
              <a:gd name="GluePoint3X" fmla="*/ 342741634 w 281"/>
              <a:gd name="GluePoint3Y" fmla="*/ 37803138 h 152"/>
              <a:gd name="GluePoint4X" fmla="*/ 572076904 w 281"/>
              <a:gd name="GluePoint4Y" fmla="*/ 37803138 h 152"/>
              <a:gd name="GluePoint5X" fmla="*/ 688004221 w 281"/>
              <a:gd name="GluePoint5Y" fmla="*/ 267136563 h 152"/>
              <a:gd name="GluePoint6X" fmla="*/ 688004221 w 281"/>
              <a:gd name="GluePoint6Y" fmla="*/ 383063750 h 15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281" h="152">
                <a:moveTo>
                  <a:pt x="0" y="152"/>
                </a:moveTo>
                <a:cubicBezTo>
                  <a:pt x="11" y="118"/>
                  <a:pt x="23" y="84"/>
                  <a:pt x="46" y="61"/>
                </a:cubicBezTo>
                <a:cubicBezTo>
                  <a:pt x="69" y="38"/>
                  <a:pt x="106" y="23"/>
                  <a:pt x="136" y="15"/>
                </a:cubicBezTo>
                <a:cubicBezTo>
                  <a:pt x="166" y="7"/>
                  <a:pt x="204" y="0"/>
                  <a:pt x="227" y="15"/>
                </a:cubicBezTo>
                <a:cubicBezTo>
                  <a:pt x="250" y="30"/>
                  <a:pt x="265" y="83"/>
                  <a:pt x="273" y="106"/>
                </a:cubicBezTo>
                <a:cubicBezTo>
                  <a:pt x="281" y="129"/>
                  <a:pt x="273" y="144"/>
                  <a:pt x="273" y="152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Text Box 36"/>
          <p:cNvSpPr/>
          <p:nvPr/>
        </p:nvSpPr>
        <p:spPr>
          <a:xfrm>
            <a:off x="828360" y="4214880"/>
            <a:ext cx="1933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CIRCULATION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hecker dir="horz"/>
  </p:transition>
  <p:timing>
    <p:tnLst>
      <p:par>
        <p:cTn id="204" dur="indefinite" restart="never" nodeType="tmRoot">
          <p:childTnLst>
            <p:seq>
              <p:cTn id="205" dur="indefinite" nodeType="mainSeq">
                <p:childTnLst>
                  <p:par>
                    <p:cTn id="206" nodeType="clickEffect" fill="hold">
                      <p:stCondLst>
                        <p:cond delay="indefinite"/>
                      </p:stCondLst>
                      <p:childTnLst>
                        <p:par>
                          <p:cTn id="2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14" nodeType="afterEffect" fill="hold" presetClass="entr" presetID="9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218" nodeType="after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2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222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4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22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23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23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nodeType="afterEffect" fill="hold">
                            <p:stCondLst>
                              <p:cond delay="4500"/>
                            </p:stCondLst>
                            <p:childTnLst>
                              <p:par>
                                <p:cTn id="24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4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nodeType="afterEffect" fill="hold">
                            <p:stCondLst>
                              <p:cond delay="5000"/>
                            </p:stCondLst>
                            <p:childTnLst>
                              <p:par>
                                <p:cTn id="244" nodeType="afterEffect" fill="hold" presetClass="entr" presetID="2" presetSubtype="2">
                                  <p:stCondLst>
                                    <p:cond delay="1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3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nodeType="clickEffect" fill="hold">
                      <p:stCondLst>
                        <p:cond delay="indefinite"/>
                      </p:stCondLst>
                      <p:childTnLst>
                        <p:par>
                          <p:cTn id="2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50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54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5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6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7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nodeType="clickEffect" fill="hold">
                      <p:stCondLst>
                        <p:cond delay="indefinite"/>
                      </p:stCondLst>
                      <p:childTnLst>
                        <p:par>
                          <p:cTn id="27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7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27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8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8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2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nodeType="clickEffect" fill="hold">
                      <p:stCondLst>
                        <p:cond delay="indefinite"/>
                      </p:stCondLst>
                      <p:childTnLst>
                        <p:par>
                          <p:cTn id="30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0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311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9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3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88575B-F678-4E50-8F2F-1B12094F978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Line 2"/>
          <p:cNvSpPr/>
          <p:nvPr/>
        </p:nvSpPr>
        <p:spPr>
          <a:xfrm>
            <a:off x="1454040" y="457200"/>
            <a:ext cx="0" cy="4572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Line 3"/>
          <p:cNvSpPr/>
          <p:nvPr/>
        </p:nvSpPr>
        <p:spPr>
          <a:xfrm>
            <a:off x="1606680" y="5105520"/>
            <a:ext cx="63244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 Box 4"/>
          <p:cNvSpPr/>
          <p:nvPr/>
        </p:nvSpPr>
        <p:spPr>
          <a:xfrm>
            <a:off x="1607040" y="5029200"/>
            <a:ext cx="64058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                              I                              I                              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25                            50                           75                         100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 Box 5"/>
          <p:cNvSpPr/>
          <p:nvPr/>
        </p:nvSpPr>
        <p:spPr>
          <a:xfrm>
            <a:off x="2749680" y="5638680"/>
            <a:ext cx="4794120" cy="3682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% vam, % PAM, % VO2max, % FCmax,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Line 6"/>
          <p:cNvSpPr/>
          <p:nvPr/>
        </p:nvSpPr>
        <p:spPr>
          <a:xfrm>
            <a:off x="4578480" y="914400"/>
            <a:ext cx="0" cy="411480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Line 7"/>
          <p:cNvSpPr/>
          <p:nvPr/>
        </p:nvSpPr>
        <p:spPr>
          <a:xfrm>
            <a:off x="6407280" y="914400"/>
            <a:ext cx="0" cy="4114800"/>
          </a:xfrm>
          <a:prstGeom prst="line">
            <a:avLst/>
          </a:prstGeom>
          <a:ln w="2844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Freeform 8"/>
          <p:cNvSpPr/>
          <p:nvPr/>
        </p:nvSpPr>
        <p:spPr>
          <a:xfrm>
            <a:off x="2133720" y="990720"/>
            <a:ext cx="5562360" cy="3619440"/>
          </a:xfrm>
          <a:custGeom>
            <a:avLst/>
            <a:gdLst>
              <a:gd name="GluePoint1X" fmla="*/ 0 w 3288"/>
              <a:gd name="GluePoint1Y" fmla="*/ 2147483647 h 2616"/>
              <a:gd name="GluePoint2X" fmla="*/ 2147483647 w 3288"/>
              <a:gd name="GluePoint2Y" fmla="*/ 2147483647 h 2616"/>
              <a:gd name="GluePoint3X" fmla="*/ 2147483647 w 3288"/>
              <a:gd name="GluePoint3Y" fmla="*/ 2147483647 h 2616"/>
              <a:gd name="GluePoint4X" fmla="*/ 2147483647 w 3288"/>
              <a:gd name="GluePoint4Y" fmla="*/ 2147483647 h 2616"/>
              <a:gd name="GluePoint5X" fmla="*/ 2147483647 w 3288"/>
              <a:gd name="GluePoint5Y" fmla="*/ 551333143 h 2616"/>
              <a:gd name="GluePoint6X" fmla="*/ 2147483647 w 3288"/>
              <a:gd name="GluePoint6Y" fmla="*/ 0 h 26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3288" h="2616">
                <a:moveTo>
                  <a:pt x="0" y="2544"/>
                </a:moveTo>
                <a:cubicBezTo>
                  <a:pt x="496" y="2580"/>
                  <a:pt x="992" y="2616"/>
                  <a:pt x="1392" y="2544"/>
                </a:cubicBezTo>
                <a:cubicBezTo>
                  <a:pt x="1792" y="2472"/>
                  <a:pt x="2160" y="2296"/>
                  <a:pt x="2400" y="2112"/>
                </a:cubicBezTo>
                <a:cubicBezTo>
                  <a:pt x="2640" y="1928"/>
                  <a:pt x="2696" y="1744"/>
                  <a:pt x="2832" y="1440"/>
                </a:cubicBezTo>
                <a:cubicBezTo>
                  <a:pt x="2968" y="1136"/>
                  <a:pt x="3144" y="528"/>
                  <a:pt x="3216" y="288"/>
                </a:cubicBezTo>
                <a:cubicBezTo>
                  <a:pt x="3288" y="48"/>
                  <a:pt x="3276" y="24"/>
                  <a:pt x="3264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 Box 9"/>
          <p:cNvSpPr/>
          <p:nvPr/>
        </p:nvSpPr>
        <p:spPr>
          <a:xfrm>
            <a:off x="6713280" y="2819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Text Box 10"/>
          <p:cNvSpPr/>
          <p:nvPr/>
        </p:nvSpPr>
        <p:spPr>
          <a:xfrm>
            <a:off x="6256080" y="3429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 Box 11"/>
          <p:cNvSpPr/>
          <p:nvPr/>
        </p:nvSpPr>
        <p:spPr>
          <a:xfrm>
            <a:off x="5418000" y="3962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 Box 12"/>
          <p:cNvSpPr/>
          <p:nvPr/>
        </p:nvSpPr>
        <p:spPr>
          <a:xfrm>
            <a:off x="442728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Text Box 13"/>
          <p:cNvSpPr/>
          <p:nvPr/>
        </p:nvSpPr>
        <p:spPr>
          <a:xfrm>
            <a:off x="3817800" y="4343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 Box 14"/>
          <p:cNvSpPr/>
          <p:nvPr/>
        </p:nvSpPr>
        <p:spPr>
          <a:xfrm>
            <a:off x="2903400" y="4343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 Box 15"/>
          <p:cNvSpPr/>
          <p:nvPr/>
        </p:nvSpPr>
        <p:spPr>
          <a:xfrm>
            <a:off x="191268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16"/>
          <p:cNvSpPr/>
          <p:nvPr/>
        </p:nvSpPr>
        <p:spPr>
          <a:xfrm flipV="1">
            <a:off x="7473960" y="83520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 Box 17"/>
          <p:cNvSpPr/>
          <p:nvPr/>
        </p:nvSpPr>
        <p:spPr>
          <a:xfrm>
            <a:off x="7094520" y="1981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Text Box 18"/>
          <p:cNvSpPr/>
          <p:nvPr/>
        </p:nvSpPr>
        <p:spPr>
          <a:xfrm>
            <a:off x="1620720" y="1916280"/>
            <a:ext cx="24800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d’apparition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</a:t>
            </a:r>
            <a:r>
              <a:rPr b="1" i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dans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le sang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SL1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S. Aérobie *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Text Box 19"/>
          <p:cNvSpPr/>
          <p:nvPr/>
        </p:nvSpPr>
        <p:spPr>
          <a:xfrm>
            <a:off x="6294240" y="3860640"/>
            <a:ext cx="284832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d’accumulation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</a:t>
            </a:r>
            <a:r>
              <a:rPr b="1" i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dans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le sang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: SL2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ou S. Anaérobie *,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Freeform 20"/>
          <p:cNvSpPr/>
          <p:nvPr/>
        </p:nvSpPr>
        <p:spPr>
          <a:xfrm>
            <a:off x="4121280" y="4038480"/>
            <a:ext cx="380880" cy="381240"/>
          </a:xfrm>
          <a:custGeom>
            <a:avLst/>
            <a:gdLst>
              <a:gd name="GluePoint1X" fmla="*/ 0 w 288"/>
              <a:gd name="GluePoint1Y" fmla="*/ 0 h 240"/>
              <a:gd name="GluePoint2X" fmla="*/ 336020833 w 288"/>
              <a:gd name="GluePoint2Y" fmla="*/ 120967500 h 240"/>
              <a:gd name="GluePoint3X" fmla="*/ 252015625 w 288"/>
              <a:gd name="GluePoint3Y" fmla="*/ 241935000 h 240"/>
              <a:gd name="GluePoint4X" fmla="*/ 504031250 w 288"/>
              <a:gd name="GluePoint4Y" fmla="*/ 604837500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Freeform 21"/>
          <p:cNvSpPr/>
          <p:nvPr/>
        </p:nvSpPr>
        <p:spPr>
          <a:xfrm>
            <a:off x="6443640" y="3716280"/>
            <a:ext cx="380880" cy="165240"/>
          </a:xfrm>
          <a:custGeom>
            <a:avLst/>
            <a:gdLst>
              <a:gd name="GluePoint1X" fmla="*/ 604837500 w 240"/>
              <a:gd name="GluePoint1Y" fmla="*/ 241935000 h 104"/>
              <a:gd name="GluePoint2X" fmla="*/ 241935000 w 240"/>
              <a:gd name="GluePoint2Y" fmla="*/ 0 h 104"/>
              <a:gd name="GluePoint3X" fmla="*/ 241935000 w 240"/>
              <a:gd name="GluePoint3Y" fmla="*/ 241935000 h 104"/>
              <a:gd name="GluePoint4X" fmla="*/ 0 w 240"/>
              <a:gd name="GluePoint4Y" fmla="*/ 120967500 h 1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40" h="104">
                <a:moveTo>
                  <a:pt x="240" y="96"/>
                </a:moveTo>
                <a:cubicBezTo>
                  <a:pt x="180" y="48"/>
                  <a:pt x="120" y="0"/>
                  <a:pt x="96" y="0"/>
                </a:cubicBezTo>
                <a:cubicBezTo>
                  <a:pt x="72" y="0"/>
                  <a:pt x="112" y="88"/>
                  <a:pt x="96" y="96"/>
                </a:cubicBezTo>
                <a:cubicBezTo>
                  <a:pt x="80" y="104"/>
                  <a:pt x="16" y="56"/>
                  <a:pt x="0" y="48"/>
                </a:cubicBezTo>
              </a:path>
            </a:pathLst>
          </a:custGeom>
          <a:noFill/>
          <a:ln w="936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22"/>
          <p:cNvSpPr/>
          <p:nvPr/>
        </p:nvSpPr>
        <p:spPr>
          <a:xfrm>
            <a:off x="914400" y="0"/>
            <a:ext cx="709560" cy="50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11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9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9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7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7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3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3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 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23"/>
          <p:cNvSpPr/>
          <p:nvPr/>
        </p:nvSpPr>
        <p:spPr>
          <a:xfrm rot="16200000">
            <a:off x="-522000" y="1982520"/>
            <a:ext cx="220536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Line 24"/>
          <p:cNvSpPr/>
          <p:nvPr/>
        </p:nvSpPr>
        <p:spPr>
          <a:xfrm>
            <a:off x="4578480" y="4495680"/>
            <a:ext cx="251460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Line 25"/>
          <p:cNvSpPr/>
          <p:nvPr/>
        </p:nvSpPr>
        <p:spPr>
          <a:xfrm>
            <a:off x="6372360" y="3716280"/>
            <a:ext cx="1904760" cy="0"/>
          </a:xfrm>
          <a:prstGeom prst="line">
            <a:avLst/>
          </a:prstGeom>
          <a:ln w="936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 Box 26"/>
          <p:cNvSpPr/>
          <p:nvPr/>
        </p:nvSpPr>
        <p:spPr>
          <a:xfrm>
            <a:off x="1057320" y="6248520"/>
            <a:ext cx="75232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* Selon la terminologie proposée par Wasserman, (1964 et 1967)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Rectangle 27"/>
          <p:cNvSpPr/>
          <p:nvPr/>
        </p:nvSpPr>
        <p:spPr>
          <a:xfrm>
            <a:off x="2484360" y="189000"/>
            <a:ext cx="502920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 algn="ctr">
              <a:lnSpc>
                <a:spcPct val="100000"/>
              </a:lnSpc>
              <a:buClr>
                <a:srgbClr val="ffffff"/>
              </a:buClr>
              <a:buFont typeface="Bookman Old Style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L.E. &gt; L.S. : (accumulation)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6" dur="indefinite" restart="never" nodeType="tmRoot">
          <p:childTnLst>
            <p:seq>
              <p:cTn id="337" dur="indefinite" nodeType="mainSeq">
                <p:childTnLst>
                  <p:par>
                    <p:cTn id="338" nodeType="clickEffect" fill="hold">
                      <p:stCondLst>
                        <p:cond delay="0"/>
                      </p:stCondLst>
                      <p:childTnLst>
                        <p:par>
                          <p:cTn id="33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34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Espace réservé du numéro de diapositive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087682-EC85-46AA-81B9-353426F5EBA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Rectangle 2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Rectangle 3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Rectangle 5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468360" y="189000"/>
            <a:ext cx="8496360" cy="28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4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Travaux de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GREEN et Coll. 1983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montrent qu'à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une puissance correspondant à 50% de VO2 max 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la concentration du lactate musculaire atteint 4,5 mmol/l alors que la lactatémie n'augmente pas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(1,3 à 1,5 mmol/l)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Line 7"/>
          <p:cNvSpPr/>
          <p:nvPr/>
        </p:nvSpPr>
        <p:spPr>
          <a:xfrm>
            <a:off x="838080" y="3886200"/>
            <a:ext cx="0" cy="20574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Line 8"/>
          <p:cNvSpPr/>
          <p:nvPr/>
        </p:nvSpPr>
        <p:spPr>
          <a:xfrm>
            <a:off x="838080" y="5943600"/>
            <a:ext cx="2438640" cy="0"/>
          </a:xfrm>
          <a:prstGeom prst="line">
            <a:avLst/>
          </a:prstGeom>
          <a:ln w="1908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Line 9"/>
          <p:cNvSpPr/>
          <p:nvPr/>
        </p:nvSpPr>
        <p:spPr>
          <a:xfrm>
            <a:off x="5257800" y="3886200"/>
            <a:ext cx="0" cy="20574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Line 10"/>
          <p:cNvSpPr/>
          <p:nvPr/>
        </p:nvSpPr>
        <p:spPr>
          <a:xfrm>
            <a:off x="5257800" y="5943600"/>
            <a:ext cx="2438280" cy="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Line 11"/>
          <p:cNvSpPr/>
          <p:nvPr/>
        </p:nvSpPr>
        <p:spPr>
          <a:xfrm flipV="1">
            <a:off x="990720" y="4038480"/>
            <a:ext cx="2361960" cy="1828800"/>
          </a:xfrm>
          <a:prstGeom prst="line">
            <a:avLst/>
          </a:prstGeom>
          <a:ln w="381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Line 12"/>
          <p:cNvSpPr/>
          <p:nvPr/>
        </p:nvSpPr>
        <p:spPr>
          <a:xfrm>
            <a:off x="1981080" y="5105520"/>
            <a:ext cx="0" cy="83808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Line 13"/>
          <p:cNvSpPr/>
          <p:nvPr/>
        </p:nvSpPr>
        <p:spPr>
          <a:xfrm flipH="1">
            <a:off x="837720" y="5105520"/>
            <a:ext cx="1143000" cy="0"/>
          </a:xfrm>
          <a:prstGeom prst="line">
            <a:avLst/>
          </a:prstGeom>
          <a:ln w="38160">
            <a:solidFill>
              <a:srgbClr val="ffff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Rectangle 14"/>
          <p:cNvSpPr/>
          <p:nvPr/>
        </p:nvSpPr>
        <p:spPr>
          <a:xfrm>
            <a:off x="154080" y="4952880"/>
            <a:ext cx="6858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4.5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ectangle 15"/>
          <p:cNvSpPr/>
          <p:nvPr/>
        </p:nvSpPr>
        <p:spPr>
          <a:xfrm>
            <a:off x="306360" y="3506760"/>
            <a:ext cx="175248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[ La 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m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] mmol / 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Rectangle 16"/>
          <p:cNvSpPr/>
          <p:nvPr/>
        </p:nvSpPr>
        <p:spPr>
          <a:xfrm>
            <a:off x="839880" y="6019920"/>
            <a:ext cx="320040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50 % VO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2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max     puissance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Rectangle 17"/>
          <p:cNvSpPr/>
          <p:nvPr/>
        </p:nvSpPr>
        <p:spPr>
          <a:xfrm>
            <a:off x="1297080" y="6402240"/>
            <a:ext cx="220968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MUSCLE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Rectangle 18"/>
          <p:cNvSpPr/>
          <p:nvPr/>
        </p:nvSpPr>
        <p:spPr>
          <a:xfrm>
            <a:off x="4495680" y="3505320"/>
            <a:ext cx="1676520" cy="4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[ La 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S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] mmol / 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Rectangle 19"/>
          <p:cNvSpPr/>
          <p:nvPr/>
        </p:nvSpPr>
        <p:spPr>
          <a:xfrm>
            <a:off x="5321880" y="6049800"/>
            <a:ext cx="314532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50 % VO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Times New Roman"/>
              </a:rPr>
              <a:t>2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max     puissance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Rectangle 20"/>
          <p:cNvSpPr/>
          <p:nvPr/>
        </p:nvSpPr>
        <p:spPr>
          <a:xfrm>
            <a:off x="6005880" y="6384960"/>
            <a:ext cx="10656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SANG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Arc 21"/>
          <p:cNvSpPr/>
          <p:nvPr/>
        </p:nvSpPr>
        <p:spPr>
          <a:xfrm>
            <a:off x="5257800" y="4038480"/>
            <a:ext cx="2362320" cy="1600200"/>
          </a:xfrm>
          <a:custGeom>
            <a:avLst/>
            <a:gdLst>
              <a:gd name="GluePoint1X" fmla="*/ 258332817 w 21600"/>
              <a:gd name="GluePoint1Y" fmla="*/ 0 h 21600"/>
              <a:gd name="GluePoint2X" fmla="*/ 0 w 21600"/>
              <a:gd name="GluePoint2Y" fmla="*/ 118548150 h 21600"/>
              <a:gd name="GluePoint3X" fmla="*/ 0 w 21600"/>
              <a:gd name="GluePoint3Y" fmla="*/ 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stroke="0" w="21600" h="2160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noFill/>
          <a:ln cap="rnd" w="3816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Rectangle 22"/>
          <p:cNvSpPr/>
          <p:nvPr/>
        </p:nvSpPr>
        <p:spPr>
          <a:xfrm>
            <a:off x="4634280" y="5394240"/>
            <a:ext cx="60876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1.5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Line 23"/>
          <p:cNvSpPr/>
          <p:nvPr/>
        </p:nvSpPr>
        <p:spPr>
          <a:xfrm>
            <a:off x="6324480" y="5486400"/>
            <a:ext cx="0" cy="4572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343" dur="indefinite" restart="never" nodeType="tmRoot">
          <p:childTnLst>
            <p:seq>
              <p:cTn id="344" dur="indefinite" nodeType="mainSeq">
                <p:childTnLst>
                  <p:par>
                    <p:cTn id="345" nodeType="clickEffect" fill="hold">
                      <p:stCondLst>
                        <p:cond delay="indefinite"/>
                      </p:stCondLst>
                      <p:childTnLst>
                        <p:par>
                          <p:cTn id="3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evt="begin"/>
                                  </p:end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nodeType="with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evt="begin"/>
                                  </p:end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nodeType="with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evt="begin"/>
                                  </p:end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">
                                  <p:stCondLst>
                                    <p:cond delay="0"/>
                                  </p:stCondLst>
                                  <p:endCondLst>
                                    <p:cond evt="begin"/>
                                  </p:end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324C51-1E90-448F-93B7-69CED81174C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Line 2"/>
          <p:cNvSpPr/>
          <p:nvPr/>
        </p:nvSpPr>
        <p:spPr>
          <a:xfrm>
            <a:off x="1454040" y="457200"/>
            <a:ext cx="0" cy="4572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Line 3"/>
          <p:cNvSpPr/>
          <p:nvPr/>
        </p:nvSpPr>
        <p:spPr>
          <a:xfrm>
            <a:off x="1606680" y="5105520"/>
            <a:ext cx="63244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Text Box 4"/>
          <p:cNvSpPr/>
          <p:nvPr/>
        </p:nvSpPr>
        <p:spPr>
          <a:xfrm>
            <a:off x="1607040" y="5029200"/>
            <a:ext cx="64058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I                              I                              I                              I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25                            50                           75                         100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Text Box 5"/>
          <p:cNvSpPr/>
          <p:nvPr/>
        </p:nvSpPr>
        <p:spPr>
          <a:xfrm>
            <a:off x="2749680" y="5638680"/>
            <a:ext cx="4794120" cy="3682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% vam, % PAM, % VO2max, % FCmax,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Freeform 8"/>
          <p:cNvSpPr/>
          <p:nvPr/>
        </p:nvSpPr>
        <p:spPr>
          <a:xfrm>
            <a:off x="2133720" y="990720"/>
            <a:ext cx="5562360" cy="3619440"/>
          </a:xfrm>
          <a:custGeom>
            <a:avLst/>
            <a:gdLst>
              <a:gd name="GluePoint1X" fmla="*/ 0 w 3288"/>
              <a:gd name="GluePoint1Y" fmla="*/ 2147483647 h 2616"/>
              <a:gd name="GluePoint2X" fmla="*/ 2147483647 w 3288"/>
              <a:gd name="GluePoint2Y" fmla="*/ 2147483647 h 2616"/>
              <a:gd name="GluePoint3X" fmla="*/ 2147483647 w 3288"/>
              <a:gd name="GluePoint3Y" fmla="*/ 2147483647 h 2616"/>
              <a:gd name="GluePoint4X" fmla="*/ 2147483647 w 3288"/>
              <a:gd name="GluePoint4Y" fmla="*/ 2147483647 h 2616"/>
              <a:gd name="GluePoint5X" fmla="*/ 2147483647 w 3288"/>
              <a:gd name="GluePoint5Y" fmla="*/ 551333143 h 2616"/>
              <a:gd name="GluePoint6X" fmla="*/ 2147483647 w 3288"/>
              <a:gd name="GluePoint6Y" fmla="*/ 0 h 26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3288" h="2616">
                <a:moveTo>
                  <a:pt x="0" y="2544"/>
                </a:moveTo>
                <a:cubicBezTo>
                  <a:pt x="496" y="2580"/>
                  <a:pt x="992" y="2616"/>
                  <a:pt x="1392" y="2544"/>
                </a:cubicBezTo>
                <a:cubicBezTo>
                  <a:pt x="1792" y="2472"/>
                  <a:pt x="2160" y="2296"/>
                  <a:pt x="2400" y="2112"/>
                </a:cubicBezTo>
                <a:cubicBezTo>
                  <a:pt x="2640" y="1928"/>
                  <a:pt x="2696" y="1744"/>
                  <a:pt x="2832" y="1440"/>
                </a:cubicBezTo>
                <a:cubicBezTo>
                  <a:pt x="2968" y="1136"/>
                  <a:pt x="3144" y="528"/>
                  <a:pt x="3216" y="288"/>
                </a:cubicBezTo>
                <a:cubicBezTo>
                  <a:pt x="3288" y="48"/>
                  <a:pt x="3276" y="24"/>
                  <a:pt x="3264" y="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Text Box 9"/>
          <p:cNvSpPr/>
          <p:nvPr/>
        </p:nvSpPr>
        <p:spPr>
          <a:xfrm>
            <a:off x="6713280" y="2819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Text Box 10"/>
          <p:cNvSpPr/>
          <p:nvPr/>
        </p:nvSpPr>
        <p:spPr>
          <a:xfrm>
            <a:off x="6256080" y="34290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Text Box 11"/>
          <p:cNvSpPr/>
          <p:nvPr/>
        </p:nvSpPr>
        <p:spPr>
          <a:xfrm>
            <a:off x="5418000" y="39625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Text Box 12"/>
          <p:cNvSpPr/>
          <p:nvPr/>
        </p:nvSpPr>
        <p:spPr>
          <a:xfrm>
            <a:off x="442728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Text Box 13"/>
          <p:cNvSpPr/>
          <p:nvPr/>
        </p:nvSpPr>
        <p:spPr>
          <a:xfrm>
            <a:off x="3817800" y="4343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 Box 14"/>
          <p:cNvSpPr/>
          <p:nvPr/>
        </p:nvSpPr>
        <p:spPr>
          <a:xfrm>
            <a:off x="2903400" y="4343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Text Box 15"/>
          <p:cNvSpPr/>
          <p:nvPr/>
        </p:nvSpPr>
        <p:spPr>
          <a:xfrm>
            <a:off x="1912680" y="4267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Text Box 16"/>
          <p:cNvSpPr/>
          <p:nvPr/>
        </p:nvSpPr>
        <p:spPr>
          <a:xfrm flipV="1">
            <a:off x="7473960" y="83520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Text Box 17"/>
          <p:cNvSpPr/>
          <p:nvPr/>
        </p:nvSpPr>
        <p:spPr>
          <a:xfrm>
            <a:off x="7094520" y="19810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Text Box 22"/>
          <p:cNvSpPr/>
          <p:nvPr/>
        </p:nvSpPr>
        <p:spPr>
          <a:xfrm>
            <a:off x="914400" y="0"/>
            <a:ext cx="709560" cy="506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11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9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9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8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7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7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6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5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4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3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3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buClr>
                <a:srgbClr val="ffff00"/>
              </a:buClr>
              <a:buFont typeface="Arial"/>
              <a:buAutoNum type="arabicPlain" startAt="2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7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     -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Text Box 23"/>
          <p:cNvSpPr/>
          <p:nvPr/>
        </p:nvSpPr>
        <p:spPr>
          <a:xfrm rot="16200000">
            <a:off x="-522000" y="1982520"/>
            <a:ext cx="220536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Text Box 27"/>
          <p:cNvSpPr/>
          <p:nvPr/>
        </p:nvSpPr>
        <p:spPr>
          <a:xfrm>
            <a:off x="2485800" y="3213000"/>
            <a:ext cx="235260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Inactivation des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transporteurs MCT4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gradient pH faible 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Text Box 28"/>
          <p:cNvSpPr/>
          <p:nvPr/>
        </p:nvSpPr>
        <p:spPr>
          <a:xfrm>
            <a:off x="4717800" y="2708280"/>
            <a:ext cx="206064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Transport vers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milieu interstitiel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+ capillaire 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Text Box 29"/>
          <p:cNvSpPr/>
          <p:nvPr/>
        </p:nvSpPr>
        <p:spPr>
          <a:xfrm>
            <a:off x="4211640" y="836640"/>
            <a:ext cx="32400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Accumulation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dans le sang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(gradient pH élevé : activation et recrutement maximales des MCT4) 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Freeform 31"/>
          <p:cNvSpPr/>
          <p:nvPr/>
        </p:nvSpPr>
        <p:spPr>
          <a:xfrm>
            <a:off x="3780000" y="4127400"/>
            <a:ext cx="380880" cy="381240"/>
          </a:xfrm>
          <a:custGeom>
            <a:avLst/>
            <a:gdLst>
              <a:gd name="GluePoint1X" fmla="*/ 0 w 288"/>
              <a:gd name="GluePoint1Y" fmla="*/ 0 h 240"/>
              <a:gd name="GluePoint2X" fmla="*/ 336020833 w 288"/>
              <a:gd name="GluePoint2Y" fmla="*/ 120967500 h 240"/>
              <a:gd name="GluePoint3X" fmla="*/ 252015625 w 288"/>
              <a:gd name="GluePoint3Y" fmla="*/ 241935000 h 240"/>
              <a:gd name="GluePoint4X" fmla="*/ 504031250 w 288"/>
              <a:gd name="GluePoint4Y" fmla="*/ 604837500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1908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Freeform 32"/>
          <p:cNvSpPr/>
          <p:nvPr/>
        </p:nvSpPr>
        <p:spPr>
          <a:xfrm>
            <a:off x="5508720" y="3645000"/>
            <a:ext cx="380880" cy="380880"/>
          </a:xfrm>
          <a:custGeom>
            <a:avLst/>
            <a:gdLst>
              <a:gd name="GluePoint1X" fmla="*/ 0 w 288"/>
              <a:gd name="GluePoint1Y" fmla="*/ 0 h 240"/>
              <a:gd name="GluePoint2X" fmla="*/ 336020833 w 288"/>
              <a:gd name="GluePoint2Y" fmla="*/ 120967500 h 240"/>
              <a:gd name="GluePoint3X" fmla="*/ 252015625 w 288"/>
              <a:gd name="GluePoint3Y" fmla="*/ 241935000 h 240"/>
              <a:gd name="GluePoint4X" fmla="*/ 504031250 w 288"/>
              <a:gd name="GluePoint4Y" fmla="*/ 604837500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2844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Freeform 33"/>
          <p:cNvSpPr/>
          <p:nvPr/>
        </p:nvSpPr>
        <p:spPr>
          <a:xfrm>
            <a:off x="6588000" y="2349360"/>
            <a:ext cx="381240" cy="381240"/>
          </a:xfrm>
          <a:custGeom>
            <a:avLst/>
            <a:gdLst>
              <a:gd name="GluePoint1X" fmla="*/ 0 w 288"/>
              <a:gd name="GluePoint1Y" fmla="*/ 0 h 240"/>
              <a:gd name="GluePoint2X" fmla="*/ 336020833 w 288"/>
              <a:gd name="GluePoint2Y" fmla="*/ 120967500 h 240"/>
              <a:gd name="GluePoint3X" fmla="*/ 252015625 w 288"/>
              <a:gd name="GluePoint3Y" fmla="*/ 241935000 h 240"/>
              <a:gd name="GluePoint4X" fmla="*/ 504031250 w 288"/>
              <a:gd name="GluePoint4Y" fmla="*/ 604837500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 Box 34"/>
          <p:cNvSpPr/>
          <p:nvPr/>
        </p:nvSpPr>
        <p:spPr>
          <a:xfrm>
            <a:off x="1957680" y="115920"/>
            <a:ext cx="5647680" cy="3988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AUTRES INTERPRETATIONS POSSIBLES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9" dur="indefinite" restart="never" nodeType="tmRoot">
          <p:childTnLst>
            <p:seq>
              <p:cTn id="390" dur="indefinite" nodeType="mainSeq">
                <p:childTnLst>
                  <p:par>
                    <p:cTn id="391" nodeType="clickEffect" fill="hold">
                      <p:stCondLst>
                        <p:cond delay="indefinite"/>
                      </p:stCondLst>
                      <p:childTnLst>
                        <p:par>
                          <p:cTn id="39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95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nodeType="clickEffect" fill="hold">
                      <p:stCondLst>
                        <p:cond delay="indefinite"/>
                      </p:stCondLst>
                      <p:childTnLst>
                        <p:par>
                          <p:cTn id="39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00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01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04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0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nodeType="clickEffect" fill="hold">
                      <p:stCondLst>
                        <p:cond delay="indefinite"/>
                      </p:stCondLst>
                      <p:childTnLst>
                        <p:par>
                          <p:cTn id="40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1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1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1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15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nodeType="clickEffect" fill="hold">
                      <p:stCondLst>
                        <p:cond delay="indefinite"/>
                      </p:stCondLst>
                      <p:childTnLst>
                        <p:par>
                          <p:cTn id="41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20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22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23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2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2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F8B151F-7256-4B22-AD8B-6E0A8F82D436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 Box 2"/>
          <p:cNvSpPr/>
          <p:nvPr/>
        </p:nvSpPr>
        <p:spPr>
          <a:xfrm>
            <a:off x="324000" y="189000"/>
            <a:ext cx="7797960" cy="15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 penser en 2007 de l’utilisation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des « seuils » ? :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3 questions que l’on doit se poser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Text Box 3"/>
          <p:cNvSpPr/>
          <p:nvPr/>
        </p:nvSpPr>
        <p:spPr>
          <a:xfrm>
            <a:off x="185040" y="1835280"/>
            <a:ext cx="8107200" cy="8614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Première question :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quel seuil s’agit-il ? puisqu’à notre connaissance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il existe 34 techniques pour déterminer un « seuil » !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(Tokmakidis Thèse 1989)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Text Box 4"/>
          <p:cNvSpPr/>
          <p:nvPr/>
        </p:nvSpPr>
        <p:spPr>
          <a:xfrm>
            <a:off x="241920" y="3062160"/>
            <a:ext cx="8462880" cy="205560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Deuxième question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: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Sur quels fondements scientifiques s’adosse la notion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de « seuil » et plus particulièrement </a:t>
            </a:r>
            <a:r>
              <a:rPr b="1" lang="fr-FR" sz="20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le</a:t>
            </a: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» choisi ?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Cazorla et al. (2001).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STAPS, 54, 63-76.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Robergs et al. (2004</a:t>
            </a:r>
            <a:r>
              <a:rPr b="0" i="1" lang="fr-FR" sz="1800" strike="noStrike" u="none">
                <a:solidFill>
                  <a:srgbClr val="3333ff"/>
                </a:solidFill>
                <a:effectLst/>
                <a:uFillTx/>
                <a:latin typeface="Arial"/>
              </a:rPr>
              <a:t>).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Am. J Physiol</a:t>
            </a:r>
            <a:r>
              <a:rPr b="0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Regul Integr Comp Physiol, 287 : 502-516.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Péronnet et Aguilaniu (2005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). </a:t>
            </a:r>
            <a:r>
              <a:rPr b="1" i="1" lang="en-GB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Resp</a:t>
            </a:r>
            <a:r>
              <a:rPr b="1" i="1" lang="fr-F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iratory physiol end neurobio. 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Text Box 5"/>
          <p:cNvSpPr/>
          <p:nvPr/>
        </p:nvSpPr>
        <p:spPr>
          <a:xfrm>
            <a:off x="236520" y="5559480"/>
            <a:ext cx="8375400" cy="12452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sng">
                <a:solidFill>
                  <a:srgbClr val="ffffff"/>
                </a:solidFill>
                <a:effectLst/>
                <a:uFillTx/>
                <a:latin typeface="Arial"/>
              </a:rPr>
              <a:t>Troisième question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: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A-t-on prouvé que des coureurs s’entraînant à des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vitesses correspondant  à des « seuils » choisis obtiendraient de meilleurs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résultats que ceux s’entraînant à d’autres vitesses &lt; ou &gt; ?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9" dur="indefinite" restart="never" nodeType="tmRoot">
          <p:childTnLst>
            <p:seq>
              <p:cTn id="430" dur="indefinite" nodeType="mainSeq">
                <p:childTnLst>
                  <p:par>
                    <p:cTn id="431" nodeType="clickEffect" fill="hold">
                      <p:stCondLst>
                        <p:cond delay="indefinite"/>
                      </p:stCondLst>
                      <p:childTnLst>
                        <p:par>
                          <p:cTn id="43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35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nodeType="clickEffect" fill="hold">
                      <p:stCondLst>
                        <p:cond delay="indefinite"/>
                      </p:stCondLst>
                      <p:childTnLst>
                        <p:par>
                          <p:cTn id="4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38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40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nodeType="clickEffect" fill="hold">
                      <p:stCondLst>
                        <p:cond delay="indefinite"/>
                      </p:stCondLst>
                      <p:childTnLst>
                        <p:par>
                          <p:cTn id="4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43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45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AA5313-A622-4DED-B415-748B76CA3F8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1" name="Picture 2" descr=""/>
          <p:cNvPicPr/>
          <p:nvPr/>
        </p:nvPicPr>
        <p:blipFill>
          <a:blip r:embed="rId1"/>
          <a:srcRect l="61539" t="34748" r="34750" b="58238"/>
          <a:stretch/>
        </p:blipFill>
        <p:spPr>
          <a:xfrm>
            <a:off x="3132000" y="3357720"/>
            <a:ext cx="2379960" cy="280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Box 3"/>
          <p:cNvSpPr/>
          <p:nvPr/>
        </p:nvSpPr>
        <p:spPr>
          <a:xfrm>
            <a:off x="2051640" y="1341360"/>
            <a:ext cx="5313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S’ENTRAÎNER AUX « SEUILS »….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Text Box 4"/>
          <p:cNvSpPr/>
          <p:nvPr/>
        </p:nvSpPr>
        <p:spPr>
          <a:xfrm>
            <a:off x="2561040" y="461880"/>
            <a:ext cx="39661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DONC POUR NOUS…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AutoShape 5"/>
          <p:cNvSpPr/>
          <p:nvPr/>
        </p:nvSpPr>
        <p:spPr>
          <a:xfrm rot="5400000">
            <a:off x="3821400" y="2266200"/>
            <a:ext cx="976320" cy="485640"/>
          </a:xfrm>
          <a:custGeom>
            <a:avLst/>
            <a:gdLst>
              <a:gd name="textAreaLeft" fmla="*/ 122040 w 976320"/>
              <a:gd name="textAreaRight" fmla="*/ 854280 w 976320"/>
              <a:gd name="textAreaTop" fmla="*/ 121320 h 485640"/>
              <a:gd name="textAreaBottom" fmla="*/ 364320 h 48564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lnTo>
                  <a:pt x="2700" y="108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6" dur="indefinite" restart="never" nodeType="tmRoot">
          <p:childTnLst>
            <p:seq>
              <p:cTn id="447" dur="indefinite" nodeType="mainSeq">
                <p:childTnLst>
                  <p:par>
                    <p:cTn id="448" nodeType="clickEffect" fill="hold">
                      <p:stCondLst>
                        <p:cond delay="0"/>
                      </p:stCondLst>
                      <p:childTnLst>
                        <p:par>
                          <p:cTn id="44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0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2" nodeType="clickEffect" fill="hold">
                      <p:stCondLst>
                        <p:cond delay="indefinite"/>
                      </p:stCondLst>
                      <p:childTnLst>
                        <p:par>
                          <p:cTn id="45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5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456"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7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45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460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nodeType="clickEffect" fill="hold">
                      <p:stCondLst>
                        <p:cond delay="indefinite"/>
                      </p:stCondLst>
                      <p:childTnLst>
                        <p:par>
                          <p:cTn id="46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5" presetSubtype="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down)" transition="in">
                                      <p:cBhvr additive="repl">
                                        <p:cTn id="465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0F4F054-420D-4B09-B33B-BF1B235B237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Text Box 4"/>
          <p:cNvSpPr/>
          <p:nvPr/>
        </p:nvSpPr>
        <p:spPr>
          <a:xfrm>
            <a:off x="789120" y="2009880"/>
            <a:ext cx="6770520" cy="26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PEUT-ON UTILISER LES CINETIQUES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LACTATEMIE - % VAM, PAM OU VO2max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COMME UN MOYENS DE SUIVI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DE L’ENTRAÎNEMENT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46DD599-EB86-45F4-9BDA-F767BE7E1D5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Line 2"/>
          <p:cNvSpPr/>
          <p:nvPr/>
        </p:nvSpPr>
        <p:spPr>
          <a:xfrm>
            <a:off x="1066680" y="1103400"/>
            <a:ext cx="0" cy="4876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Line 3"/>
          <p:cNvSpPr/>
          <p:nvPr/>
        </p:nvSpPr>
        <p:spPr>
          <a:xfrm>
            <a:off x="1066680" y="597996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Arc 4"/>
          <p:cNvSpPr/>
          <p:nvPr/>
        </p:nvSpPr>
        <p:spPr>
          <a:xfrm rot="5548800">
            <a:off x="2241000" y="1533240"/>
            <a:ext cx="3564000" cy="4211640"/>
          </a:xfrm>
          <a:custGeom>
            <a:avLst/>
            <a:gdLst>
              <a:gd name="GluePoint1X" fmla="*/ 0 w 21600"/>
              <a:gd name="GluePoint1Y" fmla="*/ 0 h 24520"/>
              <a:gd name="GluePoint2X" fmla="*/ 582649249 w 21600"/>
              <a:gd name="GluePoint2Y" fmla="*/ 723405165 h 24520"/>
              <a:gd name="GluePoint3X" fmla="*/ 0 w 21600"/>
              <a:gd name="GluePoint3Y" fmla="*/ 637257415 h 2452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452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</a:path>
              <a:path stroke="0" w="21600" h="2452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576"/>
                  <a:pt x="21533" y="23552"/>
                  <a:pt x="21401" y="2451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 anchorCtr="1" rot="10800000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Arc 5"/>
          <p:cNvSpPr/>
          <p:nvPr/>
        </p:nvSpPr>
        <p:spPr>
          <a:xfrm rot="5548800">
            <a:off x="2481840" y="830880"/>
            <a:ext cx="4179960" cy="5029200"/>
          </a:xfrm>
          <a:custGeom>
            <a:avLst/>
            <a:gdLst>
              <a:gd name="GluePoint1X" fmla="*/ 12469996 w 21600"/>
              <a:gd name="GluePoint1Y" fmla="*/ 0 h 23698"/>
              <a:gd name="GluePoint2X" fmla="*/ 805044108 w 21600"/>
              <a:gd name="GluePoint2Y" fmla="*/ 1067299040 h 23698"/>
              <a:gd name="GluePoint3X" fmla="*/ 0 w 21600"/>
              <a:gd name="GluePoint3Y" fmla="*/ 972675251 h 2369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l" t="t" r="r" b="b"/>
            <a:pathLst>
              <a:path fill="none" w="21600" h="23698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</a:path>
              <a:path stroke="0" w="21600" h="23698">
                <a:moveTo>
                  <a:pt x="333" y="-1"/>
                </a:moveTo>
                <a:cubicBezTo>
                  <a:pt x="12131" y="181"/>
                  <a:pt x="21600" y="9797"/>
                  <a:pt x="21600" y="21597"/>
                </a:cubicBezTo>
                <a:cubicBezTo>
                  <a:pt x="21600" y="22298"/>
                  <a:pt x="21565" y="22999"/>
                  <a:pt x="21497" y="23697"/>
                </a:cubicBezTo>
                <a:lnTo>
                  <a:pt x="0" y="21597"/>
                </a:lnTo>
                <a:lnTo>
                  <a:pt x="333" y="-1"/>
                </a:lnTo>
                <a:close/>
              </a:path>
            </a:pathLst>
          </a:custGeom>
          <a:noFill/>
          <a:ln w="2844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Line 6"/>
          <p:cNvSpPr/>
          <p:nvPr/>
        </p:nvSpPr>
        <p:spPr>
          <a:xfrm>
            <a:off x="4800600" y="4608360"/>
            <a:ext cx="0" cy="1371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Line 7"/>
          <p:cNvSpPr/>
          <p:nvPr/>
        </p:nvSpPr>
        <p:spPr>
          <a:xfrm>
            <a:off x="5181480" y="4608360"/>
            <a:ext cx="0" cy="1371600"/>
          </a:xfrm>
          <a:prstGeom prst="line">
            <a:avLst/>
          </a:prstGeom>
          <a:ln w="2844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Line 8"/>
          <p:cNvSpPr/>
          <p:nvPr/>
        </p:nvSpPr>
        <p:spPr>
          <a:xfrm flipH="1">
            <a:off x="1066680" y="4608360"/>
            <a:ext cx="4191120" cy="0"/>
          </a:xfrm>
          <a:prstGeom prst="line">
            <a:avLst/>
          </a:prstGeom>
          <a:ln w="1908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AutoShape 9"/>
          <p:cNvSpPr/>
          <p:nvPr/>
        </p:nvSpPr>
        <p:spPr>
          <a:xfrm>
            <a:off x="5638680" y="3693960"/>
            <a:ext cx="457200" cy="152640"/>
          </a:xfrm>
          <a:custGeom>
            <a:avLst/>
            <a:gdLst>
              <a:gd name="textAreaLeft" fmla="*/ 71280 w 457200"/>
              <a:gd name="textAreaRight" fmla="*/ 400320 w 457200"/>
              <a:gd name="textAreaTop" fmla="*/ 38160 h 152640"/>
              <a:gd name="textAreaBottom" fmla="*/ 114480 h 152640"/>
              <a:gd name="GluePoint1X" fmla="*/ 7258050 w 21600"/>
              <a:gd name="GluePoint1Y" fmla="*/ 0 h 21600"/>
              <a:gd name="GluePoint2X" fmla="*/ 0 w 21600"/>
              <a:gd name="GluePoint2Y" fmla="*/ 537633 h 21600"/>
              <a:gd name="GluePoint3X" fmla="*/ 7258050 w 21600"/>
              <a:gd name="GluePoint3Y" fmla="*/ 1075267 h 21600"/>
              <a:gd name="GluePoint4X" fmla="*/ 9677400 w 21600"/>
              <a:gd name="GluePoint4Y" fmla="*/ 53763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Text Box 10"/>
          <p:cNvSpPr/>
          <p:nvPr/>
        </p:nvSpPr>
        <p:spPr>
          <a:xfrm>
            <a:off x="1357200" y="839880"/>
            <a:ext cx="1843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Text Box 11"/>
          <p:cNvSpPr/>
          <p:nvPr/>
        </p:nvSpPr>
        <p:spPr>
          <a:xfrm rot="16200000">
            <a:off x="-260640" y="2795400"/>
            <a:ext cx="179712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[LAs]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Text Box 12"/>
          <p:cNvSpPr/>
          <p:nvPr/>
        </p:nvSpPr>
        <p:spPr>
          <a:xfrm>
            <a:off x="1692360" y="6335640"/>
            <a:ext cx="6624720" cy="440640"/>
          </a:xfrm>
          <a:prstGeom prst="rect">
            <a:avLst/>
          </a:prstGeom>
          <a:solidFill>
            <a:srgbClr val="000066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% PAM, % VAM, % VO</a:t>
            </a:r>
            <a:r>
              <a:rPr b="0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AutoShape 13"/>
          <p:cNvSpPr/>
          <p:nvPr/>
        </p:nvSpPr>
        <p:spPr>
          <a:xfrm>
            <a:off x="4800600" y="6132600"/>
            <a:ext cx="457200" cy="152280"/>
          </a:xfrm>
          <a:custGeom>
            <a:avLst/>
            <a:gdLst>
              <a:gd name="textAreaLeft" fmla="*/ 71280 w 457200"/>
              <a:gd name="textAreaRight" fmla="*/ 400320 w 457200"/>
              <a:gd name="textAreaTop" fmla="*/ 38160 h 152280"/>
              <a:gd name="textAreaBottom" fmla="*/ 114480 h 152280"/>
              <a:gd name="GluePoint1X" fmla="*/ 7258050 w 21600"/>
              <a:gd name="GluePoint1Y" fmla="*/ 0 h 21600"/>
              <a:gd name="GluePoint2X" fmla="*/ 0 w 21600"/>
              <a:gd name="GluePoint2Y" fmla="*/ 537633 h 21600"/>
              <a:gd name="GluePoint3X" fmla="*/ 7258050 w 21600"/>
              <a:gd name="GluePoint3Y" fmla="*/ 1075267 h 21600"/>
              <a:gd name="GluePoint4X" fmla="*/ 9677400 w 21600"/>
              <a:gd name="GluePoint4Y" fmla="*/ 53763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00cc99"/>
          </a:solidFill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Text Box 15"/>
          <p:cNvSpPr/>
          <p:nvPr/>
        </p:nvSpPr>
        <p:spPr>
          <a:xfrm>
            <a:off x="3504600" y="996840"/>
            <a:ext cx="160992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non entraîné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Line 16"/>
          <p:cNvSpPr/>
          <p:nvPr/>
        </p:nvSpPr>
        <p:spPr>
          <a:xfrm>
            <a:off x="2971800" y="1255680"/>
            <a:ext cx="5335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Line 17"/>
          <p:cNvSpPr/>
          <p:nvPr/>
        </p:nvSpPr>
        <p:spPr>
          <a:xfrm>
            <a:off x="2971800" y="178920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Text Box 18"/>
          <p:cNvSpPr/>
          <p:nvPr/>
        </p:nvSpPr>
        <p:spPr>
          <a:xfrm>
            <a:off x="3506040" y="1530360"/>
            <a:ext cx="1114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entraîné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Text Box 21"/>
          <p:cNvSpPr/>
          <p:nvPr/>
        </p:nvSpPr>
        <p:spPr>
          <a:xfrm>
            <a:off x="390240" y="111240"/>
            <a:ext cx="84524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EVOLUTION DES CINETIQUES LACTATEMIE - %... AU COURS D’UN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TEST TRIANGULAIRE LORS D’UNE SAISON SPORTIVE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32AF7F-A5E4-472A-ADD3-EE69341E6BD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16" name="Object 2"/>
          <p:cNvGraphicFramePr/>
          <p:nvPr/>
        </p:nvGraphicFramePr>
        <p:xfrm>
          <a:off x="4859280" y="3718080"/>
          <a:ext cx="4392720" cy="31399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17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859280" y="3718080"/>
                    <a:ext cx="4392720" cy="3139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18" name="Object 3"/>
          <p:cNvGraphicFramePr/>
          <p:nvPr/>
        </p:nvGraphicFramePr>
        <p:xfrm>
          <a:off x="108000" y="3760920"/>
          <a:ext cx="4680000" cy="3124080"/>
        </p:xfrm>
        <a:graphic>
          <a:graphicData uri="http://schemas.openxmlformats.org/presentationml/2006/ole">
            <p:oleObj progId="Excel.Sheet.12" r:id="rId3" spid="">
              <p:embed/>
              <p:pic>
                <p:nvPicPr>
                  <p:cNvPr id="219" name="Object 3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108000" y="3760920"/>
                    <a:ext cx="4680000" cy="3124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20" name="Text Box 4"/>
          <p:cNvSpPr/>
          <p:nvPr/>
        </p:nvSpPr>
        <p:spPr>
          <a:xfrm>
            <a:off x="4811400" y="3789360"/>
            <a:ext cx="3217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Relation vitesse-lactatémie VAM = 18km/h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 = 17 : y = 0.308</a:t>
            </a:r>
            <a:r>
              <a:rPr b="1" lang="fr-FR" sz="12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0,194x; R2 = 0,902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1" name="Object 5"/>
          <p:cNvGraphicFramePr/>
          <p:nvPr/>
        </p:nvGraphicFramePr>
        <p:xfrm>
          <a:off x="4859280" y="333360"/>
          <a:ext cx="4356000" cy="3382920"/>
        </p:xfrm>
        <a:graphic>
          <a:graphicData uri="http://schemas.openxmlformats.org/presentationml/2006/ole">
            <p:oleObj progId="Excel.Sheet.12" r:id="rId5" spid="">
              <p:embed/>
              <p:pic>
                <p:nvPicPr>
                  <p:cNvPr id="222" name="Object 5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4859280" y="333360"/>
                    <a:ext cx="4356000" cy="338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23" name="Object 6"/>
          <p:cNvGraphicFramePr/>
          <p:nvPr/>
        </p:nvGraphicFramePr>
        <p:xfrm>
          <a:off x="-108000" y="404640"/>
          <a:ext cx="4896000" cy="3326040"/>
        </p:xfrm>
        <a:graphic>
          <a:graphicData uri="http://schemas.openxmlformats.org/presentationml/2006/ole">
            <p:oleObj progId="Excel.Sheet.12" r:id="rId7" spid="">
              <p:embed/>
              <p:pic>
                <p:nvPicPr>
                  <p:cNvPr id="224" name="Object 6" descr=""/>
                  <p:cNvPicPr/>
                  <p:nvPr/>
                </p:nvPicPr>
                <p:blipFill>
                  <a:blip r:embed="rId8"/>
                  <a:stretch/>
                </p:blipFill>
                <p:spPr>
                  <a:xfrm>
                    <a:off x="-108000" y="404640"/>
                    <a:ext cx="4896000" cy="33260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25" name="Text Box 7"/>
          <p:cNvSpPr/>
          <p:nvPr/>
        </p:nvSpPr>
        <p:spPr>
          <a:xfrm>
            <a:off x="539640" y="595440"/>
            <a:ext cx="32594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Relation vitesse-lactatémie VAM = 15 km/h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 = 73 : y = 0.391</a:t>
            </a:r>
            <a:r>
              <a:rPr b="1" lang="fr-FR" sz="12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0,209x; R</a:t>
            </a:r>
            <a:r>
              <a:rPr b="1" lang="fr-FR" sz="12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= 0,908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Text Box 8"/>
          <p:cNvSpPr/>
          <p:nvPr/>
        </p:nvSpPr>
        <p:spPr>
          <a:xfrm>
            <a:off x="7739640" y="549360"/>
            <a:ext cx="8992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; n= 128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E08195-C391-4A6B-9FB5-E739082728F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28" name="Object 4"/>
          <p:cNvGraphicFramePr/>
          <p:nvPr/>
        </p:nvGraphicFramePr>
        <p:xfrm>
          <a:off x="684360" y="476280"/>
          <a:ext cx="8424720" cy="634356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229" name="Object 4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84360" y="476280"/>
                    <a:ext cx="8424720" cy="63435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30" name="Freeform 5"/>
          <p:cNvSpPr/>
          <p:nvPr/>
        </p:nvSpPr>
        <p:spPr>
          <a:xfrm>
            <a:off x="1187280" y="2846520"/>
            <a:ext cx="7345440" cy="2473200"/>
          </a:xfrm>
          <a:custGeom>
            <a:avLst/>
            <a:gdLst>
              <a:gd name="GluePoint1X" fmla="*/ 0 w 5072"/>
              <a:gd name="GluePoint1Y" fmla="*/ 2147483647 h 2012"/>
              <a:gd name="GluePoint2X" fmla="*/ 1522665365 w 5072"/>
              <a:gd name="GluePoint2Y" fmla="*/ 2147483647 h 2012"/>
              <a:gd name="GluePoint3X" fmla="*/ 2147483647 w 5072"/>
              <a:gd name="GluePoint3Y" fmla="*/ 2147483647 h 2012"/>
              <a:gd name="GluePoint4X" fmla="*/ 2147483647 w 5072"/>
              <a:gd name="GluePoint4Y" fmla="*/ 2147483647 h 2012"/>
              <a:gd name="GluePoint5X" fmla="*/ 2147483647 w 5072"/>
              <a:gd name="GluePoint5Y" fmla="*/ 2046091297 h 2012"/>
              <a:gd name="GluePoint6X" fmla="*/ 2147483647 w 5072"/>
              <a:gd name="GluePoint6Y" fmla="*/ 1361542056 h 2012"/>
              <a:gd name="GluePoint7X" fmla="*/ 2147483647 w 5072"/>
              <a:gd name="GluePoint7Y" fmla="*/ 194937839 h 2012"/>
              <a:gd name="GluePoint8X" fmla="*/ 2147483647 w 5072"/>
              <a:gd name="GluePoint8Y" fmla="*/ 194937839 h 2012"/>
              <a:gd name="GluePoint9X" fmla="*/ 2147483647 w 5072"/>
              <a:gd name="GluePoint9Y" fmla="*/ 194937839 h 201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l" t="t" r="r" b="b"/>
            <a:pathLst>
              <a:path w="5072" h="2012">
                <a:moveTo>
                  <a:pt x="0" y="1989"/>
                </a:moveTo>
                <a:cubicBezTo>
                  <a:pt x="230" y="2000"/>
                  <a:pt x="461" y="2012"/>
                  <a:pt x="726" y="1989"/>
                </a:cubicBezTo>
                <a:cubicBezTo>
                  <a:pt x="991" y="1966"/>
                  <a:pt x="1301" y="1913"/>
                  <a:pt x="1588" y="1853"/>
                </a:cubicBezTo>
                <a:cubicBezTo>
                  <a:pt x="1875" y="1793"/>
                  <a:pt x="2163" y="1709"/>
                  <a:pt x="2450" y="1626"/>
                </a:cubicBezTo>
                <a:cubicBezTo>
                  <a:pt x="2737" y="1543"/>
                  <a:pt x="3031" y="1475"/>
                  <a:pt x="3311" y="1354"/>
                </a:cubicBezTo>
                <a:cubicBezTo>
                  <a:pt x="3591" y="1233"/>
                  <a:pt x="3856" y="1105"/>
                  <a:pt x="4128" y="901"/>
                </a:cubicBezTo>
                <a:cubicBezTo>
                  <a:pt x="4400" y="697"/>
                  <a:pt x="4816" y="258"/>
                  <a:pt x="4944" y="129"/>
                </a:cubicBezTo>
                <a:cubicBezTo>
                  <a:pt x="5072" y="0"/>
                  <a:pt x="4891" y="129"/>
                  <a:pt x="4899" y="129"/>
                </a:cubicBezTo>
                <a:cubicBezTo>
                  <a:pt x="4907" y="129"/>
                  <a:pt x="4975" y="129"/>
                  <a:pt x="4990" y="129"/>
                </a:cubicBezTo>
              </a:path>
            </a:pathLst>
          </a:custGeom>
          <a:noFill/>
          <a:ln w="57240">
            <a:solidFill>
              <a:srgbClr val="3333ff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Freeform 9"/>
          <p:cNvSpPr/>
          <p:nvPr/>
        </p:nvSpPr>
        <p:spPr>
          <a:xfrm>
            <a:off x="1116000" y="757080"/>
            <a:ext cx="7343640" cy="4392720"/>
          </a:xfrm>
          <a:custGeom>
            <a:avLst/>
            <a:gdLst>
              <a:gd name="GluePoint1X" fmla="*/ 0 w 4626"/>
              <a:gd name="GluePoint1Y" fmla="*/ 2147483647 h 2767"/>
              <a:gd name="GluePoint2X" fmla="*/ 2056447500 w 4626"/>
              <a:gd name="GluePoint2Y" fmla="*/ 2147483647 h 2767"/>
              <a:gd name="GluePoint3X" fmla="*/ 2147483647 w 4626"/>
              <a:gd name="GluePoint3Y" fmla="*/ 2147483647 h 2767"/>
              <a:gd name="GluePoint4X" fmla="*/ 2147483647 w 4626"/>
              <a:gd name="GluePoint4Y" fmla="*/ 2147483647 h 2767"/>
              <a:gd name="GluePoint5X" fmla="*/ 2147483647 w 4626"/>
              <a:gd name="GluePoint5Y" fmla="*/ 2147483647 h 2767"/>
              <a:gd name="GluePoint6X" fmla="*/ 2147483647 w 4626"/>
              <a:gd name="GluePoint6Y" fmla="*/ 2147483647 h 2767"/>
              <a:gd name="GluePoint7X" fmla="*/ 2147483647 w 4626"/>
              <a:gd name="GluePoint7Y" fmla="*/ 0 h 27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l" t="t" r="r" b="b"/>
            <a:pathLst>
              <a:path w="4626" h="2767">
                <a:moveTo>
                  <a:pt x="0" y="2767"/>
                </a:moveTo>
                <a:cubicBezTo>
                  <a:pt x="276" y="2763"/>
                  <a:pt x="552" y="2760"/>
                  <a:pt x="816" y="2722"/>
                </a:cubicBezTo>
                <a:cubicBezTo>
                  <a:pt x="1080" y="2684"/>
                  <a:pt x="1330" y="2623"/>
                  <a:pt x="1587" y="2540"/>
                </a:cubicBezTo>
                <a:cubicBezTo>
                  <a:pt x="1844" y="2457"/>
                  <a:pt x="2109" y="2367"/>
                  <a:pt x="2358" y="2223"/>
                </a:cubicBezTo>
                <a:cubicBezTo>
                  <a:pt x="2607" y="2079"/>
                  <a:pt x="2835" y="1882"/>
                  <a:pt x="3084" y="1678"/>
                </a:cubicBezTo>
                <a:cubicBezTo>
                  <a:pt x="3333" y="1474"/>
                  <a:pt x="3598" y="1278"/>
                  <a:pt x="3855" y="998"/>
                </a:cubicBezTo>
                <a:cubicBezTo>
                  <a:pt x="4112" y="718"/>
                  <a:pt x="4498" y="159"/>
                  <a:pt x="4626" y="0"/>
                </a:cubicBezTo>
              </a:path>
            </a:pathLst>
          </a:custGeom>
          <a:noFill/>
          <a:ln w="57240">
            <a:solidFill>
              <a:srgbClr val="ff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Text Box 10"/>
          <p:cNvSpPr/>
          <p:nvPr/>
        </p:nvSpPr>
        <p:spPr>
          <a:xfrm>
            <a:off x="145800" y="622440"/>
            <a:ext cx="463680" cy="553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16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14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5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Text Box 11"/>
          <p:cNvSpPr/>
          <p:nvPr/>
        </p:nvSpPr>
        <p:spPr>
          <a:xfrm rot="16200000">
            <a:off x="-389880" y="2994120"/>
            <a:ext cx="26175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Lactatémie mmol.L</a:t>
            </a:r>
            <a:r>
              <a:rPr b="1" lang="fr-FR" sz="20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-1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Text Box 12"/>
          <p:cNvSpPr/>
          <p:nvPr/>
        </p:nvSpPr>
        <p:spPr>
          <a:xfrm>
            <a:off x="2365200" y="5727600"/>
            <a:ext cx="40752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Vitesse aérobie maximale km.h</a:t>
            </a:r>
            <a:r>
              <a:rPr b="1" lang="fr-FR" sz="2000" strike="noStrike" u="none" baseline="30000">
                <a:solidFill>
                  <a:srgbClr val="000000"/>
                </a:solidFill>
                <a:effectLst/>
                <a:uFillTx/>
                <a:latin typeface="Arial"/>
              </a:rPr>
              <a:t>-1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6" dur="indefinite" restart="never" nodeType="tmRoot">
          <p:childTnLst>
            <p:seq>
              <p:cTn id="467" dur="indefinite" nodeType="mainSeq">
                <p:childTnLst>
                  <p:par>
                    <p:cTn id="468" nodeType="clickEffect" fill="hold">
                      <p:stCondLst>
                        <p:cond delay="indefinite"/>
                      </p:stCondLst>
                      <p:childTnLst>
                        <p:par>
                          <p:cTn id="46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0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72" dur="2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nodeType="clickEffect" fill="hold">
                      <p:stCondLst>
                        <p:cond delay="indefinite"/>
                      </p:stCondLst>
                      <p:childTnLst>
                        <p:par>
                          <p:cTn id="47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477" dur="2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317F82C-2EDD-4293-8FA0-2522F6FF556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Text Box 4"/>
          <p:cNvSpPr/>
          <p:nvPr/>
        </p:nvSpPr>
        <p:spPr>
          <a:xfrm>
            <a:off x="1380960" y="622440"/>
            <a:ext cx="65023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QUELLES PRECAUTIONS RESPECTER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Text Box 5"/>
          <p:cNvSpPr/>
          <p:nvPr/>
        </p:nvSpPr>
        <p:spPr>
          <a:xfrm>
            <a:off x="658440" y="1984320"/>
            <a:ext cx="8227440" cy="29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Utiliser toujours le même protocole expérimental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buClr>
                <a:srgbClr val="ffff00"/>
              </a:buClr>
              <a:buFont typeface="Times New Roman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 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- Même ergomètre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Mêmes durées et intensités des différents paliers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Même moment et même environnement du test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Même régime alimentaire avant le test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- Repos avant le test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2F18AB-4FA7-4C2D-8C35-64F6374E937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Line 2"/>
          <p:cNvSpPr/>
          <p:nvPr/>
        </p:nvSpPr>
        <p:spPr>
          <a:xfrm>
            <a:off x="1066680" y="1600200"/>
            <a:ext cx="0" cy="419112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Line 3"/>
          <p:cNvSpPr/>
          <p:nvPr/>
        </p:nvSpPr>
        <p:spPr>
          <a:xfrm>
            <a:off x="1066680" y="5791320"/>
            <a:ext cx="723924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Text Box 4"/>
          <p:cNvSpPr/>
          <p:nvPr/>
        </p:nvSpPr>
        <p:spPr>
          <a:xfrm rot="16201200">
            <a:off x="-546480" y="3168720"/>
            <a:ext cx="2403720" cy="39888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[LAs ]   ( 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Text Box 5"/>
          <p:cNvSpPr/>
          <p:nvPr/>
        </p:nvSpPr>
        <p:spPr>
          <a:xfrm>
            <a:off x="1449360" y="12952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Text Box 6"/>
          <p:cNvSpPr/>
          <p:nvPr/>
        </p:nvSpPr>
        <p:spPr>
          <a:xfrm>
            <a:off x="6402240" y="29718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Text Box 7"/>
          <p:cNvSpPr/>
          <p:nvPr/>
        </p:nvSpPr>
        <p:spPr>
          <a:xfrm>
            <a:off x="5945040" y="35053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Text Box 8"/>
          <p:cNvSpPr/>
          <p:nvPr/>
        </p:nvSpPr>
        <p:spPr>
          <a:xfrm>
            <a:off x="5410080" y="4038480"/>
            <a:ext cx="290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Text Box 9"/>
          <p:cNvSpPr/>
          <p:nvPr/>
        </p:nvSpPr>
        <p:spPr>
          <a:xfrm>
            <a:off x="4878360" y="44956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Text Box 10"/>
          <p:cNvSpPr/>
          <p:nvPr/>
        </p:nvSpPr>
        <p:spPr>
          <a:xfrm>
            <a:off x="4116240" y="487692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Text Box 11"/>
          <p:cNvSpPr/>
          <p:nvPr/>
        </p:nvSpPr>
        <p:spPr>
          <a:xfrm>
            <a:off x="3049560" y="50292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Text Box 12"/>
          <p:cNvSpPr/>
          <p:nvPr/>
        </p:nvSpPr>
        <p:spPr>
          <a:xfrm>
            <a:off x="1601640" y="518148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Freeform 13"/>
          <p:cNvSpPr/>
          <p:nvPr/>
        </p:nvSpPr>
        <p:spPr>
          <a:xfrm>
            <a:off x="1676520" y="2209680"/>
            <a:ext cx="5257800" cy="3200400"/>
          </a:xfrm>
          <a:custGeom>
            <a:avLst/>
            <a:gdLst>
              <a:gd name="GluePoint1X" fmla="*/ 0 w 3168"/>
              <a:gd name="GluePoint1Y" fmla="*/ 2147483647 h 1824"/>
              <a:gd name="GluePoint2X" fmla="*/ 2147483647 w 3168"/>
              <a:gd name="GluePoint2Y" fmla="*/ 2147483647 h 1824"/>
              <a:gd name="GluePoint3X" fmla="*/ 2147483647 w 3168"/>
              <a:gd name="GluePoint3Y" fmla="*/ 2147483647 h 1824"/>
              <a:gd name="GluePoint4X" fmla="*/ 2147483647 w 3168"/>
              <a:gd name="GluePoint4Y" fmla="*/ 2147483647 h 1824"/>
              <a:gd name="GluePoint5X" fmla="*/ 2147483647 w 3168"/>
              <a:gd name="GluePoint5Y" fmla="*/ 2147483647 h 1824"/>
              <a:gd name="GluePoint6X" fmla="*/ 2147483647 w 3168"/>
              <a:gd name="GluePoint6Y" fmla="*/ 2147483647 h 1824"/>
              <a:gd name="GluePoint7X" fmla="*/ 2147483647 w 3168"/>
              <a:gd name="GluePoint7Y" fmla="*/ 1329971489 h 1824"/>
              <a:gd name="GluePoint8X" fmla="*/ 2147483647 w 3168"/>
              <a:gd name="GluePoint8Y" fmla="*/ 0 h 182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3168" h="1824">
                <a:moveTo>
                  <a:pt x="0" y="1824"/>
                </a:moveTo>
                <a:cubicBezTo>
                  <a:pt x="352" y="1804"/>
                  <a:pt x="704" y="1784"/>
                  <a:pt x="864" y="1776"/>
                </a:cubicBezTo>
                <a:cubicBezTo>
                  <a:pt x="1024" y="1768"/>
                  <a:pt x="848" y="1792"/>
                  <a:pt x="960" y="1776"/>
                </a:cubicBezTo>
                <a:cubicBezTo>
                  <a:pt x="1072" y="1760"/>
                  <a:pt x="1368" y="1736"/>
                  <a:pt x="1536" y="1680"/>
                </a:cubicBezTo>
                <a:cubicBezTo>
                  <a:pt x="1704" y="1624"/>
                  <a:pt x="1808" y="1552"/>
                  <a:pt x="1968" y="1440"/>
                </a:cubicBezTo>
                <a:cubicBezTo>
                  <a:pt x="2128" y="1328"/>
                  <a:pt x="2328" y="1176"/>
                  <a:pt x="2496" y="1008"/>
                </a:cubicBezTo>
                <a:cubicBezTo>
                  <a:pt x="2664" y="840"/>
                  <a:pt x="2864" y="600"/>
                  <a:pt x="2976" y="432"/>
                </a:cubicBezTo>
                <a:cubicBezTo>
                  <a:pt x="3088" y="264"/>
                  <a:pt x="3136" y="72"/>
                  <a:pt x="3168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Text Box 14"/>
          <p:cNvSpPr/>
          <p:nvPr/>
        </p:nvSpPr>
        <p:spPr>
          <a:xfrm>
            <a:off x="1602000" y="53341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Line 15"/>
          <p:cNvSpPr/>
          <p:nvPr/>
        </p:nvSpPr>
        <p:spPr>
          <a:xfrm>
            <a:off x="4267080" y="5181480"/>
            <a:ext cx="0" cy="53352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Text Box 16"/>
          <p:cNvSpPr/>
          <p:nvPr/>
        </p:nvSpPr>
        <p:spPr>
          <a:xfrm>
            <a:off x="4111920" y="6019920"/>
            <a:ext cx="177624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« Seuil s»  lactique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Line 17"/>
          <p:cNvSpPr/>
          <p:nvPr/>
        </p:nvSpPr>
        <p:spPr>
          <a:xfrm flipV="1">
            <a:off x="1828800" y="5333760"/>
            <a:ext cx="2362320" cy="1522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Freeform 18"/>
          <p:cNvSpPr/>
          <p:nvPr/>
        </p:nvSpPr>
        <p:spPr>
          <a:xfrm>
            <a:off x="4191120" y="3352680"/>
            <a:ext cx="2666880" cy="1981440"/>
          </a:xfrm>
          <a:custGeom>
            <a:avLst/>
            <a:gdLst>
              <a:gd name="GluePoint1X" fmla="*/ 0 w 1920"/>
              <a:gd name="GluePoint1Y" fmla="*/ 1947000714 h 2016"/>
              <a:gd name="GluePoint2X" fmla="*/ 1481851875 w 1920"/>
              <a:gd name="GluePoint2Y" fmla="*/ 1622500595 h 2016"/>
              <a:gd name="GluePoint3X" fmla="*/ 2147483647 w 1920"/>
              <a:gd name="GluePoint3Y" fmla="*/ 1251643738 h 2016"/>
              <a:gd name="GluePoint4X" fmla="*/ 2147483647 w 1920"/>
              <a:gd name="GluePoint4Y" fmla="*/ 788071437 h 2016"/>
              <a:gd name="GluePoint5X" fmla="*/ 2147483647 w 1920"/>
              <a:gd name="GluePoint5Y" fmla="*/ 0 h 201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l" t="t" r="r" b="b"/>
            <a:pathLst>
              <a:path w="1920" h="2016">
                <a:moveTo>
                  <a:pt x="0" y="2016"/>
                </a:moveTo>
                <a:cubicBezTo>
                  <a:pt x="276" y="1908"/>
                  <a:pt x="552" y="1800"/>
                  <a:pt x="768" y="1680"/>
                </a:cubicBezTo>
                <a:cubicBezTo>
                  <a:pt x="984" y="1560"/>
                  <a:pt x="1144" y="1440"/>
                  <a:pt x="1296" y="1296"/>
                </a:cubicBezTo>
                <a:cubicBezTo>
                  <a:pt x="1448" y="1152"/>
                  <a:pt x="1576" y="1032"/>
                  <a:pt x="1680" y="816"/>
                </a:cubicBezTo>
                <a:cubicBezTo>
                  <a:pt x="1784" y="600"/>
                  <a:pt x="1880" y="136"/>
                  <a:pt x="1920" y="0"/>
                </a:cubicBezTo>
              </a:path>
            </a:pathLst>
          </a:custGeom>
          <a:noFill/>
          <a:ln w="284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Freeform 19"/>
          <p:cNvSpPr/>
          <p:nvPr/>
        </p:nvSpPr>
        <p:spPr>
          <a:xfrm>
            <a:off x="1905120" y="4267080"/>
            <a:ext cx="5029200" cy="1143000"/>
          </a:xfrm>
          <a:custGeom>
            <a:avLst/>
            <a:gdLst>
              <a:gd name="GluePoint1X" fmla="*/ 0 w 3456"/>
              <a:gd name="GluePoint1Y" fmla="*/ 1008062500 h 1296"/>
              <a:gd name="GluePoint2X" fmla="*/ 2147483647 w 3456"/>
              <a:gd name="GluePoint2Y" fmla="*/ 970727146 h 1296"/>
              <a:gd name="GluePoint3X" fmla="*/ 2147483647 w 3456"/>
              <a:gd name="GluePoint3Y" fmla="*/ 821383965 h 1296"/>
              <a:gd name="GluePoint4X" fmla="*/ 2147483647 w 3456"/>
              <a:gd name="GluePoint4Y" fmla="*/ 560034722 h 1296"/>
              <a:gd name="GluePoint5X" fmla="*/ 2147483647 w 3456"/>
              <a:gd name="GluePoint5Y" fmla="*/ 112006944 h 1296"/>
              <a:gd name="GluePoint6X" fmla="*/ 2147483647 w 3456"/>
              <a:gd name="GluePoint6Y" fmla="*/ 0 h 129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w="3456" h="1296">
                <a:moveTo>
                  <a:pt x="0" y="1296"/>
                </a:moveTo>
                <a:cubicBezTo>
                  <a:pt x="624" y="1292"/>
                  <a:pt x="1248" y="1288"/>
                  <a:pt x="1632" y="1248"/>
                </a:cubicBezTo>
                <a:cubicBezTo>
                  <a:pt x="2016" y="1208"/>
                  <a:pt x="2088" y="1144"/>
                  <a:pt x="2304" y="1056"/>
                </a:cubicBezTo>
                <a:cubicBezTo>
                  <a:pt x="2520" y="968"/>
                  <a:pt x="2752" y="872"/>
                  <a:pt x="2928" y="720"/>
                </a:cubicBezTo>
                <a:cubicBezTo>
                  <a:pt x="3104" y="568"/>
                  <a:pt x="3272" y="264"/>
                  <a:pt x="3360" y="144"/>
                </a:cubicBezTo>
                <a:cubicBezTo>
                  <a:pt x="3448" y="24"/>
                  <a:pt x="3452" y="12"/>
                  <a:pt x="3456" y="0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dash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Text Box 20"/>
          <p:cNvSpPr/>
          <p:nvPr/>
        </p:nvSpPr>
        <p:spPr>
          <a:xfrm>
            <a:off x="6707520" y="31240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Text Box 21"/>
          <p:cNvSpPr/>
          <p:nvPr/>
        </p:nvSpPr>
        <p:spPr>
          <a:xfrm>
            <a:off x="6478920" y="365760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Text Box 22"/>
          <p:cNvSpPr/>
          <p:nvPr/>
        </p:nvSpPr>
        <p:spPr>
          <a:xfrm>
            <a:off x="5945400" y="42670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Text Box 23"/>
          <p:cNvSpPr/>
          <p:nvPr/>
        </p:nvSpPr>
        <p:spPr>
          <a:xfrm>
            <a:off x="5488200" y="46483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Text Box 24"/>
          <p:cNvSpPr/>
          <p:nvPr/>
        </p:nvSpPr>
        <p:spPr>
          <a:xfrm>
            <a:off x="4954680" y="48769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Text Box 25"/>
          <p:cNvSpPr/>
          <p:nvPr/>
        </p:nvSpPr>
        <p:spPr>
          <a:xfrm>
            <a:off x="4116600" y="510552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Text Box 26"/>
          <p:cNvSpPr/>
          <p:nvPr/>
        </p:nvSpPr>
        <p:spPr>
          <a:xfrm>
            <a:off x="3049920" y="5181480"/>
            <a:ext cx="33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3333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Line 27"/>
          <p:cNvSpPr/>
          <p:nvPr/>
        </p:nvSpPr>
        <p:spPr>
          <a:xfrm>
            <a:off x="1770120" y="2225520"/>
            <a:ext cx="533520" cy="0"/>
          </a:xfrm>
          <a:prstGeom prst="line">
            <a:avLst/>
          </a:prstGeom>
          <a:ln w="28440">
            <a:solidFill>
              <a:srgbClr val="ffff00"/>
            </a:solidFill>
            <a:prstDash val="dash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Text Box 28"/>
          <p:cNvSpPr/>
          <p:nvPr/>
        </p:nvSpPr>
        <p:spPr>
          <a:xfrm>
            <a:off x="2288520" y="2057400"/>
            <a:ext cx="155520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pauvre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Text Box 29"/>
          <p:cNvSpPr/>
          <p:nvPr/>
        </p:nvSpPr>
        <p:spPr>
          <a:xfrm>
            <a:off x="1447920" y="1676520"/>
            <a:ext cx="336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*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Line 30"/>
          <p:cNvSpPr/>
          <p:nvPr/>
        </p:nvSpPr>
        <p:spPr>
          <a:xfrm>
            <a:off x="1752480" y="1905120"/>
            <a:ext cx="53352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Text Box 31"/>
          <p:cNvSpPr/>
          <p:nvPr/>
        </p:nvSpPr>
        <p:spPr>
          <a:xfrm>
            <a:off x="2273760" y="1736640"/>
            <a:ext cx="141984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mixte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Text Box 32"/>
          <p:cNvSpPr/>
          <p:nvPr/>
        </p:nvSpPr>
        <p:spPr>
          <a:xfrm>
            <a:off x="6783120" y="2057400"/>
            <a:ext cx="287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2400" strike="noStrike" u="none">
                <a:solidFill>
                  <a:srgbClr val="ffff00"/>
                </a:solidFill>
                <a:effectLst/>
                <a:uFillTx/>
                <a:latin typeface="Times New Roman"/>
                <a:ea typeface="Times New Roman"/>
              </a:rPr>
              <a:t>•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Line 33"/>
          <p:cNvSpPr/>
          <p:nvPr/>
        </p:nvSpPr>
        <p:spPr>
          <a:xfrm>
            <a:off x="1676520" y="1523880"/>
            <a:ext cx="60948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Text Box 34"/>
          <p:cNvSpPr/>
          <p:nvPr/>
        </p:nvSpPr>
        <p:spPr>
          <a:xfrm>
            <a:off x="2286000" y="1371600"/>
            <a:ext cx="2590920" cy="3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Régime riche en glucides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Line 35"/>
          <p:cNvSpPr/>
          <p:nvPr/>
        </p:nvSpPr>
        <p:spPr>
          <a:xfrm>
            <a:off x="4952880" y="5105520"/>
            <a:ext cx="0" cy="60948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Line 36"/>
          <p:cNvSpPr/>
          <p:nvPr/>
        </p:nvSpPr>
        <p:spPr>
          <a:xfrm>
            <a:off x="5791320" y="5105520"/>
            <a:ext cx="0" cy="609480"/>
          </a:xfrm>
          <a:prstGeom prst="line">
            <a:avLst/>
          </a:prstGeom>
          <a:ln w="28440">
            <a:solidFill>
              <a:srgbClr val="ffff00"/>
            </a:solidFill>
            <a:prstDash val="dash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Line 37"/>
          <p:cNvSpPr/>
          <p:nvPr/>
        </p:nvSpPr>
        <p:spPr>
          <a:xfrm>
            <a:off x="1066680" y="5105520"/>
            <a:ext cx="6096240" cy="0"/>
          </a:xfrm>
          <a:prstGeom prst="line">
            <a:avLst/>
          </a:prstGeom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Text Box 38"/>
          <p:cNvSpPr/>
          <p:nvPr/>
        </p:nvSpPr>
        <p:spPr>
          <a:xfrm>
            <a:off x="7158960" y="4842000"/>
            <a:ext cx="13312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4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mmol.l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Text Box 39"/>
          <p:cNvSpPr/>
          <p:nvPr/>
        </p:nvSpPr>
        <p:spPr>
          <a:xfrm>
            <a:off x="7010640" y="5837400"/>
            <a:ext cx="7038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Watt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Text Box 40"/>
          <p:cNvSpPr/>
          <p:nvPr/>
        </p:nvSpPr>
        <p:spPr>
          <a:xfrm>
            <a:off x="1132560" y="152280"/>
            <a:ext cx="77490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Effets de régimes riche, mixte et pauvre en glucide sur la cinétique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sanguin (d’après Maassen et Busse, 1989)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Text Box 41"/>
          <p:cNvSpPr/>
          <p:nvPr/>
        </p:nvSpPr>
        <p:spPr>
          <a:xfrm>
            <a:off x="1385640" y="206064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Text Box 42"/>
          <p:cNvSpPr/>
          <p:nvPr/>
        </p:nvSpPr>
        <p:spPr>
          <a:xfrm>
            <a:off x="5994000" y="471816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Text Box 43"/>
          <p:cNvSpPr/>
          <p:nvPr/>
        </p:nvSpPr>
        <p:spPr>
          <a:xfrm>
            <a:off x="5562360" y="494172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Text Box 44"/>
          <p:cNvSpPr/>
          <p:nvPr/>
        </p:nvSpPr>
        <p:spPr>
          <a:xfrm>
            <a:off x="4914720" y="508464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Text Box 45"/>
          <p:cNvSpPr/>
          <p:nvPr/>
        </p:nvSpPr>
        <p:spPr>
          <a:xfrm>
            <a:off x="4122360" y="522936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Text Box 46"/>
          <p:cNvSpPr/>
          <p:nvPr/>
        </p:nvSpPr>
        <p:spPr>
          <a:xfrm>
            <a:off x="3041280" y="530064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Text Box 47"/>
          <p:cNvSpPr/>
          <p:nvPr/>
        </p:nvSpPr>
        <p:spPr>
          <a:xfrm>
            <a:off x="1601640" y="537372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Text Box 48"/>
          <p:cNvSpPr/>
          <p:nvPr/>
        </p:nvSpPr>
        <p:spPr>
          <a:xfrm>
            <a:off x="6642000" y="414972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Text Box 49"/>
          <p:cNvSpPr/>
          <p:nvPr/>
        </p:nvSpPr>
        <p:spPr>
          <a:xfrm>
            <a:off x="6426000" y="4437000"/>
            <a:ext cx="3564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 Unicode MS"/>
                <a:ea typeface="Arial Unicode MS"/>
              </a:rPr>
              <a:t>◆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8" dur="indefinite" restart="never" nodeType="tmRoot">
          <p:childTnLst>
            <p:seq>
              <p:cTn id="479" dur="indefinite" nodeType="mainSeq">
                <p:childTnLst>
                  <p:par>
                    <p:cTn id="480" nodeType="clickEffect" fill="hold">
                      <p:stCondLst>
                        <p:cond delay="0"/>
                      </p:stCondLst>
                      <p:childTnLst>
                        <p:par>
                          <p:cTn id="4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afterEffect" fill="hold" presetClass="entr" presetID="17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4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6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7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489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1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2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3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4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49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8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500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04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0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508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0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nodeType="afterEffect" fill="hold">
                            <p:stCondLst>
                              <p:cond delay="3000"/>
                            </p:stCondLst>
                            <p:childTnLst>
                              <p:par>
                                <p:cTn id="512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4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nodeType="afterEffect" fill="hold">
                            <p:stCondLst>
                              <p:cond delay="3500"/>
                            </p:stCondLst>
                            <p:childTnLst>
                              <p:par>
                                <p:cTn id="516" nodeType="after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18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nodeType="afterEffect" fill="hold">
                            <p:stCondLst>
                              <p:cond delay="4000"/>
                            </p:stCondLst>
                            <p:childTnLst>
                              <p:par>
                                <p:cTn id="520" nodeType="afterEffect" fill="hold" presetClass="entr" presetID="9">
                                  <p:stCondLst>
                                    <p:cond delay="200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22" dur="3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nodeType="afterEffect" fill="hold">
                            <p:stCondLst>
                              <p:cond delay="7500"/>
                            </p:stCondLst>
                            <p:childTnLst>
                              <p:par>
                                <p:cTn id="524" nodeType="afterEffect" fill="hold" presetClass="entr" presetID="17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26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7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8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29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A4B66E-6C81-4BC8-8152-C4AFC785699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8" name="Picture 2" descr="21"/>
          <p:cNvPicPr/>
          <p:nvPr/>
        </p:nvPicPr>
        <p:blipFill>
          <a:blip r:embed="rId1"/>
          <a:srcRect l="0" t="0" r="50837" b="0"/>
          <a:stretch/>
        </p:blipFill>
        <p:spPr>
          <a:xfrm>
            <a:off x="2057400" y="914400"/>
            <a:ext cx="5859360" cy="594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9" name="Text Box 3"/>
          <p:cNvSpPr/>
          <p:nvPr/>
        </p:nvSpPr>
        <p:spPr>
          <a:xfrm>
            <a:off x="869040" y="0"/>
            <a:ext cx="7523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Effets de la déplétion des réserves en glycogène sur la cinétique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du lactate plasmatique (d’après Yoshida et al., 1984)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8D92C4-7AC3-46A1-B7D6-33C04EAE0A83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Rectangle 4"/>
          <p:cNvSpPr/>
          <p:nvPr/>
        </p:nvSpPr>
        <p:spPr>
          <a:xfrm>
            <a:off x="1511640" y="2523960"/>
            <a:ext cx="6368040" cy="15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L’ÉTAT STABLE DE LA LACTATEMIE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PEUT-IL RENSEIGNER SUR LA LIMITE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AEROBIE-ANAEROBIE ?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Rectangle 5"/>
          <p:cNvSpPr/>
          <p:nvPr/>
        </p:nvSpPr>
        <p:spPr>
          <a:xfrm>
            <a:off x="2340000" y="692280"/>
            <a:ext cx="453852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L.E. = L.S.  :  (Etat stable)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0" dur="indefinite" restart="never" nodeType="tmRoot">
          <p:childTnLst>
            <p:seq>
              <p:cTn id="531" dur="indefinite" nodeType="mainSeq">
                <p:childTnLst>
                  <p:par>
                    <p:cTn id="532" nodeType="clickEffect" fill="hold">
                      <p:stCondLst>
                        <p:cond delay="indefinite"/>
                      </p:stCondLst>
                      <p:childTnLst>
                        <p:par>
                          <p:cTn id="53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3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36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B56D22B-1BB3-4F19-9491-57C6CC9370D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Line 2"/>
          <p:cNvSpPr/>
          <p:nvPr/>
        </p:nvSpPr>
        <p:spPr>
          <a:xfrm>
            <a:off x="762120" y="914400"/>
            <a:ext cx="0" cy="54864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Line 3"/>
          <p:cNvSpPr/>
          <p:nvPr/>
        </p:nvSpPr>
        <p:spPr>
          <a:xfrm>
            <a:off x="762120" y="6400800"/>
            <a:ext cx="533376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Line 4"/>
          <p:cNvSpPr/>
          <p:nvPr/>
        </p:nvSpPr>
        <p:spPr>
          <a:xfrm flipV="1">
            <a:off x="6095880" y="685440"/>
            <a:ext cx="0" cy="57150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Text Box 5"/>
          <p:cNvSpPr/>
          <p:nvPr/>
        </p:nvSpPr>
        <p:spPr>
          <a:xfrm>
            <a:off x="-225720" y="914400"/>
            <a:ext cx="1560960" cy="53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10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3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2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1       _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Text Box 6"/>
          <p:cNvSpPr/>
          <p:nvPr/>
        </p:nvSpPr>
        <p:spPr>
          <a:xfrm>
            <a:off x="5623560" y="990720"/>
            <a:ext cx="1434240" cy="53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10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9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8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7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6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5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4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3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2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_    1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Text Box 7"/>
          <p:cNvSpPr/>
          <p:nvPr/>
        </p:nvSpPr>
        <p:spPr>
          <a:xfrm>
            <a:off x="596520" y="6324480"/>
            <a:ext cx="48380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I                            I                             I                              I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0                           4                             8                            12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Line 8"/>
          <p:cNvSpPr/>
          <p:nvPr/>
        </p:nvSpPr>
        <p:spPr>
          <a:xfrm flipV="1">
            <a:off x="5181480" y="517320"/>
            <a:ext cx="0" cy="60948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Line 9"/>
          <p:cNvSpPr/>
          <p:nvPr/>
        </p:nvSpPr>
        <p:spPr>
          <a:xfrm flipV="1">
            <a:off x="762120" y="2133360"/>
            <a:ext cx="1447560" cy="388620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Line 10"/>
          <p:cNvSpPr/>
          <p:nvPr/>
        </p:nvSpPr>
        <p:spPr>
          <a:xfrm flipV="1">
            <a:off x="762120" y="2819520"/>
            <a:ext cx="1447560" cy="3200400"/>
          </a:xfrm>
          <a:prstGeom prst="line">
            <a:avLst/>
          </a:prstGeom>
          <a:ln w="381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Line 11"/>
          <p:cNvSpPr/>
          <p:nvPr/>
        </p:nvSpPr>
        <p:spPr>
          <a:xfrm flipV="1">
            <a:off x="762120" y="4266720"/>
            <a:ext cx="1447560" cy="17528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Line 12"/>
          <p:cNvSpPr/>
          <p:nvPr/>
        </p:nvSpPr>
        <p:spPr>
          <a:xfrm flipV="1">
            <a:off x="762120" y="5181120"/>
            <a:ext cx="1447560" cy="83844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Line 13"/>
          <p:cNvSpPr/>
          <p:nvPr/>
        </p:nvSpPr>
        <p:spPr>
          <a:xfrm flipV="1">
            <a:off x="838080" y="5486400"/>
            <a:ext cx="1371600" cy="53352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Line 14"/>
          <p:cNvSpPr/>
          <p:nvPr/>
        </p:nvSpPr>
        <p:spPr>
          <a:xfrm flipV="1">
            <a:off x="762120" y="5790960"/>
            <a:ext cx="1447560" cy="22860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Line 15"/>
          <p:cNvSpPr/>
          <p:nvPr/>
        </p:nvSpPr>
        <p:spPr>
          <a:xfrm>
            <a:off x="2209680" y="5791320"/>
            <a:ext cx="2971800" cy="3045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Line 16"/>
          <p:cNvSpPr/>
          <p:nvPr/>
        </p:nvSpPr>
        <p:spPr>
          <a:xfrm>
            <a:off x="2209680" y="5486400"/>
            <a:ext cx="2971800" cy="22860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Line 17"/>
          <p:cNvSpPr/>
          <p:nvPr/>
        </p:nvSpPr>
        <p:spPr>
          <a:xfrm>
            <a:off x="2209680" y="5181480"/>
            <a:ext cx="2971800" cy="7632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9520" bIns="2952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Line 18"/>
          <p:cNvSpPr/>
          <p:nvPr/>
        </p:nvSpPr>
        <p:spPr>
          <a:xfrm>
            <a:off x="2209680" y="4267080"/>
            <a:ext cx="297180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Line 19"/>
          <p:cNvSpPr/>
          <p:nvPr/>
        </p:nvSpPr>
        <p:spPr>
          <a:xfrm>
            <a:off x="2209680" y="2819520"/>
            <a:ext cx="2971800" cy="0"/>
          </a:xfrm>
          <a:prstGeom prst="line">
            <a:avLst/>
          </a:prstGeom>
          <a:ln w="3816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Line 20"/>
          <p:cNvSpPr/>
          <p:nvPr/>
        </p:nvSpPr>
        <p:spPr>
          <a:xfrm flipV="1">
            <a:off x="2209680" y="1143000"/>
            <a:ext cx="2971800" cy="99072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Line 21"/>
          <p:cNvSpPr/>
          <p:nvPr/>
        </p:nvSpPr>
        <p:spPr>
          <a:xfrm flipV="1">
            <a:off x="2209680" y="1752120"/>
            <a:ext cx="0" cy="38124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Line 22"/>
          <p:cNvSpPr/>
          <p:nvPr/>
        </p:nvSpPr>
        <p:spPr>
          <a:xfrm>
            <a:off x="2133720" y="175248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Line 23"/>
          <p:cNvSpPr/>
          <p:nvPr/>
        </p:nvSpPr>
        <p:spPr>
          <a:xfrm>
            <a:off x="5105520" y="517680"/>
            <a:ext cx="152280" cy="0"/>
          </a:xfrm>
          <a:prstGeom prst="line">
            <a:avLst/>
          </a:prstGeom>
          <a:ln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Text Box 24"/>
          <p:cNvSpPr/>
          <p:nvPr/>
        </p:nvSpPr>
        <p:spPr>
          <a:xfrm>
            <a:off x="5259240" y="83808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94%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Line 25"/>
          <p:cNvSpPr/>
          <p:nvPr/>
        </p:nvSpPr>
        <p:spPr>
          <a:xfrm flipV="1">
            <a:off x="5181480" y="2514240"/>
            <a:ext cx="0" cy="30492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Line 26"/>
          <p:cNvSpPr/>
          <p:nvPr/>
        </p:nvSpPr>
        <p:spPr>
          <a:xfrm>
            <a:off x="5105520" y="2514600"/>
            <a:ext cx="152280" cy="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Line 27"/>
          <p:cNvSpPr/>
          <p:nvPr/>
        </p:nvSpPr>
        <p:spPr>
          <a:xfrm flipV="1">
            <a:off x="2209680" y="2590560"/>
            <a:ext cx="0" cy="22860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Line 28"/>
          <p:cNvSpPr/>
          <p:nvPr/>
        </p:nvSpPr>
        <p:spPr>
          <a:xfrm>
            <a:off x="2133720" y="2590920"/>
            <a:ext cx="152280" cy="0"/>
          </a:xfrm>
          <a:prstGeom prst="line">
            <a:avLst/>
          </a:prstGeom>
          <a:ln w="28440">
            <a:solidFill>
              <a:srgbClr val="cc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Line 29"/>
          <p:cNvSpPr/>
          <p:nvPr/>
        </p:nvSpPr>
        <p:spPr>
          <a:xfrm flipV="1">
            <a:off x="838080" y="4419360"/>
            <a:ext cx="1371600" cy="16002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Line 30"/>
          <p:cNvSpPr/>
          <p:nvPr/>
        </p:nvSpPr>
        <p:spPr>
          <a:xfrm>
            <a:off x="2209680" y="4419720"/>
            <a:ext cx="2971800" cy="2286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Line 31"/>
          <p:cNvSpPr/>
          <p:nvPr/>
        </p:nvSpPr>
        <p:spPr>
          <a:xfrm flipV="1">
            <a:off x="2209680" y="4114440"/>
            <a:ext cx="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Line 32"/>
          <p:cNvSpPr/>
          <p:nvPr/>
        </p:nvSpPr>
        <p:spPr>
          <a:xfrm>
            <a:off x="2133720" y="411480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Line 33"/>
          <p:cNvSpPr/>
          <p:nvPr/>
        </p:nvSpPr>
        <p:spPr>
          <a:xfrm flipV="1">
            <a:off x="2209680" y="4190760"/>
            <a:ext cx="0" cy="22860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Line 34"/>
          <p:cNvSpPr/>
          <p:nvPr/>
        </p:nvSpPr>
        <p:spPr>
          <a:xfrm>
            <a:off x="2133720" y="419112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Line 35"/>
          <p:cNvSpPr/>
          <p:nvPr/>
        </p:nvSpPr>
        <p:spPr>
          <a:xfrm flipV="1">
            <a:off x="5181480" y="4266720"/>
            <a:ext cx="0" cy="381240"/>
          </a:xfrm>
          <a:prstGeom prst="line">
            <a:avLst/>
          </a:prstGeom>
          <a:ln w="28440">
            <a:solidFill>
              <a:srgbClr val="ffff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Line 36"/>
          <p:cNvSpPr/>
          <p:nvPr/>
        </p:nvSpPr>
        <p:spPr>
          <a:xfrm>
            <a:off x="5105520" y="426708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Line 37"/>
          <p:cNvSpPr/>
          <p:nvPr/>
        </p:nvSpPr>
        <p:spPr>
          <a:xfrm flipV="1">
            <a:off x="5181480" y="4190760"/>
            <a:ext cx="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Line 38"/>
          <p:cNvSpPr/>
          <p:nvPr/>
        </p:nvSpPr>
        <p:spPr>
          <a:xfrm>
            <a:off x="5105520" y="419112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Line 39"/>
          <p:cNvSpPr/>
          <p:nvPr/>
        </p:nvSpPr>
        <p:spPr>
          <a:xfrm flipV="1">
            <a:off x="2209680" y="4952520"/>
            <a:ext cx="0" cy="22860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Line 40"/>
          <p:cNvSpPr/>
          <p:nvPr/>
        </p:nvSpPr>
        <p:spPr>
          <a:xfrm>
            <a:off x="2133720" y="4952880"/>
            <a:ext cx="152280" cy="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Line 41"/>
          <p:cNvSpPr/>
          <p:nvPr/>
        </p:nvSpPr>
        <p:spPr>
          <a:xfrm flipV="1">
            <a:off x="5181480" y="5028840"/>
            <a:ext cx="0" cy="22860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Line 42"/>
          <p:cNvSpPr/>
          <p:nvPr/>
        </p:nvSpPr>
        <p:spPr>
          <a:xfrm>
            <a:off x="5105520" y="5029200"/>
            <a:ext cx="152280" cy="0"/>
          </a:xfrm>
          <a:prstGeom prst="line">
            <a:avLst/>
          </a:prstGeom>
          <a:ln w="2844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Line 43"/>
          <p:cNvSpPr/>
          <p:nvPr/>
        </p:nvSpPr>
        <p:spPr>
          <a:xfrm flipV="1">
            <a:off x="2209680" y="5333760"/>
            <a:ext cx="0" cy="15228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Line 44"/>
          <p:cNvSpPr/>
          <p:nvPr/>
        </p:nvSpPr>
        <p:spPr>
          <a:xfrm>
            <a:off x="2133720" y="5334120"/>
            <a:ext cx="152280" cy="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Line 45"/>
          <p:cNvSpPr/>
          <p:nvPr/>
        </p:nvSpPr>
        <p:spPr>
          <a:xfrm flipV="1">
            <a:off x="5181480" y="5562360"/>
            <a:ext cx="0" cy="15228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Line 46"/>
          <p:cNvSpPr/>
          <p:nvPr/>
        </p:nvSpPr>
        <p:spPr>
          <a:xfrm>
            <a:off x="5105520" y="5562720"/>
            <a:ext cx="152280" cy="0"/>
          </a:xfrm>
          <a:prstGeom prst="line">
            <a:avLst/>
          </a:prstGeom>
          <a:ln w="28440">
            <a:solidFill>
              <a:srgbClr val="cccc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Line 47"/>
          <p:cNvSpPr/>
          <p:nvPr/>
        </p:nvSpPr>
        <p:spPr>
          <a:xfrm flipV="1">
            <a:off x="2209680" y="5638680"/>
            <a:ext cx="0" cy="15264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Line 48"/>
          <p:cNvSpPr/>
          <p:nvPr/>
        </p:nvSpPr>
        <p:spPr>
          <a:xfrm>
            <a:off x="2133720" y="563868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Line 49"/>
          <p:cNvSpPr/>
          <p:nvPr/>
        </p:nvSpPr>
        <p:spPr>
          <a:xfrm flipV="1">
            <a:off x="5181480" y="5943240"/>
            <a:ext cx="0" cy="15228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Line 50"/>
          <p:cNvSpPr/>
          <p:nvPr/>
        </p:nvSpPr>
        <p:spPr>
          <a:xfrm>
            <a:off x="5105520" y="5943600"/>
            <a:ext cx="15228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Text Box 51"/>
          <p:cNvSpPr/>
          <p:nvPr/>
        </p:nvSpPr>
        <p:spPr>
          <a:xfrm>
            <a:off x="5259240" y="25146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85%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Text Box 52"/>
          <p:cNvSpPr/>
          <p:nvPr/>
        </p:nvSpPr>
        <p:spPr>
          <a:xfrm>
            <a:off x="5259240" y="41148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77%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Text Box 53"/>
          <p:cNvSpPr/>
          <p:nvPr/>
        </p:nvSpPr>
        <p:spPr>
          <a:xfrm>
            <a:off x="5259240" y="441972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75%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Text Box 54"/>
          <p:cNvSpPr/>
          <p:nvPr/>
        </p:nvSpPr>
        <p:spPr>
          <a:xfrm>
            <a:off x="5259240" y="50292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67%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Text Box 55"/>
          <p:cNvSpPr/>
          <p:nvPr/>
        </p:nvSpPr>
        <p:spPr>
          <a:xfrm>
            <a:off x="5259240" y="548640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54%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Text Box 56"/>
          <p:cNvSpPr/>
          <p:nvPr/>
        </p:nvSpPr>
        <p:spPr>
          <a:xfrm>
            <a:off x="5259240" y="5867280"/>
            <a:ext cx="6382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45%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Text Box 57"/>
          <p:cNvSpPr/>
          <p:nvPr/>
        </p:nvSpPr>
        <p:spPr>
          <a:xfrm>
            <a:off x="5699520" y="6411960"/>
            <a:ext cx="160884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Temps (min)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Text Box 58"/>
          <p:cNvSpPr/>
          <p:nvPr/>
        </p:nvSpPr>
        <p:spPr>
          <a:xfrm>
            <a:off x="976320" y="955800"/>
            <a:ext cx="19875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[La</a:t>
            </a:r>
            <a:r>
              <a:rPr b="1" lang="fr-FR" sz="20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s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] mmol.l </a:t>
            </a:r>
            <a:r>
              <a:rPr b="1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Text Box 59"/>
          <p:cNvSpPr/>
          <p:nvPr/>
        </p:nvSpPr>
        <p:spPr>
          <a:xfrm>
            <a:off x="0" y="0"/>
            <a:ext cx="9213840" cy="95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Lactatémie au cours d’un exercice rectangulaire de 12min réalisé à différents % de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VO</a:t>
            </a:r>
            <a:r>
              <a:rPr b="1" lang="fr-FR" sz="1800" strike="noStrike" u="none" baseline="-25000">
                <a:solidFill>
                  <a:srgbClr val="ffff00"/>
                </a:solidFill>
                <a:effectLst/>
                <a:uFillTx/>
                <a:latin typeface="Arial"/>
              </a:rPr>
              <a:t>2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max sur ergo cycle </a:t>
            </a:r>
            <a:r>
              <a:rPr b="1" i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(d’après Jorfeld et al., 1978) et « Concept of maximal lactate steady state » (Billat…Mercier 2003)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Rectangle 60"/>
          <p:cNvSpPr/>
          <p:nvPr/>
        </p:nvSpPr>
        <p:spPr>
          <a:xfrm>
            <a:off x="6784920" y="2971800"/>
            <a:ext cx="2160720" cy="86256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buClr>
                <a:srgbClr val="ffff00"/>
              </a:buClr>
              <a:buFont typeface="Arial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État stable de la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lactatémie limite,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ZoneTexte 1"/>
          <p:cNvSpPr/>
          <p:nvPr/>
        </p:nvSpPr>
        <p:spPr>
          <a:xfrm>
            <a:off x="6193800" y="4840200"/>
            <a:ext cx="337932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Beaucoup d’essais !!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 état stable individuel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trouvé  à une  intensité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et une lactatémie élevée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 mmol.L (&gt; 2-4 mmol.L)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FFB9374-CFD7-43CA-9CAC-2CE5EC9F46A5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Text Box 2"/>
          <p:cNvSpPr/>
          <p:nvPr/>
        </p:nvSpPr>
        <p:spPr>
          <a:xfrm>
            <a:off x="416880" y="1844640"/>
            <a:ext cx="7873920" cy="17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PIC MAX LACTIQUE POST EXERCICE INTENSE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ET VITESSE DE DECROISSANCE DE LA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LACTATEMIE AU COURS DE LA RECUPERATION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Rectangle 3"/>
          <p:cNvSpPr/>
          <p:nvPr/>
        </p:nvSpPr>
        <p:spPr>
          <a:xfrm>
            <a:off x="2122560" y="765000"/>
            <a:ext cx="4610160" cy="45828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L.E. &lt; L.S. :  (décroissance)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7" dur="indefinite" restart="never" nodeType="tmRoot">
          <p:childTnLst>
            <p:seq>
              <p:cTn id="538" dur="indefinite" nodeType="mainSeq">
                <p:childTnLst>
                  <p:par>
                    <p:cTn id="539" nodeType="clickEffect" fill="hold">
                      <p:stCondLst>
                        <p:cond delay="indefinite"/>
                      </p:stCondLst>
                      <p:childTnLst>
                        <p:par>
                          <p:cTn id="54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43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F85D276-8ED2-4A4A-AC9F-90E43731586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Line 4"/>
          <p:cNvSpPr/>
          <p:nvPr/>
        </p:nvSpPr>
        <p:spPr>
          <a:xfrm>
            <a:off x="2340000" y="692280"/>
            <a:ext cx="0" cy="237636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Line 5"/>
          <p:cNvSpPr/>
          <p:nvPr/>
        </p:nvSpPr>
        <p:spPr>
          <a:xfrm>
            <a:off x="2340000" y="3068640"/>
            <a:ext cx="4392720" cy="0"/>
          </a:xfrm>
          <a:prstGeom prst="line">
            <a:avLst/>
          </a:prstGeom>
          <a:ln w="284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Freeform 6"/>
          <p:cNvSpPr/>
          <p:nvPr/>
        </p:nvSpPr>
        <p:spPr>
          <a:xfrm>
            <a:off x="2340000" y="920880"/>
            <a:ext cx="4392720" cy="1860480"/>
          </a:xfrm>
          <a:custGeom>
            <a:avLst/>
            <a:gdLst>
              <a:gd name="GluePoint1X" fmla="*/ 0 w 2767"/>
              <a:gd name="GluePoint1Y" fmla="*/ 1123989688 h 1172"/>
              <a:gd name="GluePoint2X" fmla="*/ 572076328 w 2767"/>
              <a:gd name="GluePoint2Y" fmla="*/ 667842200 h 1172"/>
              <a:gd name="GluePoint3X" fmla="*/ 1713706445 w 2767"/>
              <a:gd name="GluePoint3Y" fmla="*/ 209173763 h 1172"/>
              <a:gd name="GluePoint4X" fmla="*/ 2147483647 w 2767"/>
              <a:gd name="GluePoint4Y" fmla="*/ 95765938 h 1172"/>
              <a:gd name="GluePoint5X" fmla="*/ 2147483647 w 2767"/>
              <a:gd name="GluePoint5Y" fmla="*/ 781248438 h 1172"/>
              <a:gd name="GluePoint6X" fmla="*/ 2147483647 w 2767"/>
              <a:gd name="GluePoint6Y" fmla="*/ 1466730938 h 1172"/>
              <a:gd name="GluePoint7X" fmla="*/ 2147483647 w 2767"/>
              <a:gd name="GluePoint7Y" fmla="*/ 2147483647 h 1172"/>
              <a:gd name="GluePoint8X" fmla="*/ 2147483647 w 2767"/>
              <a:gd name="GluePoint8Y" fmla="*/ 2147483647 h 117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l" t="t" r="r" b="b"/>
            <a:pathLst>
              <a:path w="2767" h="1172">
                <a:moveTo>
                  <a:pt x="0" y="446"/>
                </a:moveTo>
                <a:cubicBezTo>
                  <a:pt x="57" y="385"/>
                  <a:pt x="114" y="325"/>
                  <a:pt x="227" y="265"/>
                </a:cubicBezTo>
                <a:cubicBezTo>
                  <a:pt x="340" y="205"/>
                  <a:pt x="567" y="121"/>
                  <a:pt x="680" y="83"/>
                </a:cubicBezTo>
                <a:cubicBezTo>
                  <a:pt x="793" y="45"/>
                  <a:pt x="839" y="0"/>
                  <a:pt x="907" y="38"/>
                </a:cubicBezTo>
                <a:cubicBezTo>
                  <a:pt x="975" y="76"/>
                  <a:pt x="1012" y="219"/>
                  <a:pt x="1088" y="310"/>
                </a:cubicBezTo>
                <a:cubicBezTo>
                  <a:pt x="1164" y="401"/>
                  <a:pt x="1240" y="484"/>
                  <a:pt x="1361" y="582"/>
                </a:cubicBezTo>
                <a:cubicBezTo>
                  <a:pt x="1482" y="680"/>
                  <a:pt x="1580" y="802"/>
                  <a:pt x="1814" y="900"/>
                </a:cubicBezTo>
                <a:cubicBezTo>
                  <a:pt x="2048" y="998"/>
                  <a:pt x="2608" y="1127"/>
                  <a:pt x="2767" y="1172"/>
                </a:cubicBezTo>
              </a:path>
            </a:pathLst>
          </a:custGeom>
          <a:noFill/>
          <a:ln w="28440">
            <a:solidFill>
              <a:srgbClr val="ffff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Text Box 7"/>
          <p:cNvSpPr/>
          <p:nvPr/>
        </p:nvSpPr>
        <p:spPr>
          <a:xfrm>
            <a:off x="2893680" y="189000"/>
            <a:ext cx="292500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Pic lactate post exercice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Freeform 8"/>
          <p:cNvSpPr/>
          <p:nvPr/>
        </p:nvSpPr>
        <p:spPr>
          <a:xfrm>
            <a:off x="3348000" y="549360"/>
            <a:ext cx="380880" cy="330120"/>
          </a:xfrm>
          <a:custGeom>
            <a:avLst/>
            <a:gdLst>
              <a:gd name="GluePoint1X" fmla="*/ 0 w 288"/>
              <a:gd name="GluePoint1Y" fmla="*/ 0 h 240"/>
              <a:gd name="GluePoint2X" fmla="*/ 336020833 w 288"/>
              <a:gd name="GluePoint2Y" fmla="*/ 90860033 h 240"/>
              <a:gd name="GluePoint3X" fmla="*/ 252015625 w 288"/>
              <a:gd name="GluePoint3Y" fmla="*/ 181720067 h 240"/>
              <a:gd name="GluePoint4X" fmla="*/ 504031250 w 288"/>
              <a:gd name="GluePoint4Y" fmla="*/ 454300167 h 24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l" t="t" r="r" b="b"/>
            <a:pathLst>
              <a:path w="288" h="240">
                <a:moveTo>
                  <a:pt x="0" y="0"/>
                </a:moveTo>
                <a:cubicBezTo>
                  <a:pt x="84" y="16"/>
                  <a:pt x="168" y="32"/>
                  <a:pt x="192" y="48"/>
                </a:cubicBezTo>
                <a:cubicBezTo>
                  <a:pt x="216" y="64"/>
                  <a:pt x="128" y="64"/>
                  <a:pt x="144" y="96"/>
                </a:cubicBezTo>
                <a:cubicBezTo>
                  <a:pt x="160" y="128"/>
                  <a:pt x="264" y="216"/>
                  <a:pt x="288" y="240"/>
                </a:cubicBezTo>
              </a:path>
            </a:pathLst>
          </a:custGeom>
          <a:noFill/>
          <a:ln w="12600">
            <a:solidFill>
              <a:srgbClr val="ffff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63" name=""/>
          <p:cNvGraphicFramePr/>
          <p:nvPr/>
        </p:nvGraphicFramePr>
        <p:xfrm>
          <a:off x="324000" y="4076640"/>
          <a:ext cx="8640720" cy="1150920"/>
        </p:xfrm>
        <a:graphic>
          <a:graphicData uri="http://schemas.openxmlformats.org/drawingml/2006/table">
            <a:tbl>
              <a:tblPr/>
              <a:tblGrid>
                <a:gridCol w="1726920"/>
                <a:gridCol w="1800360"/>
                <a:gridCol w="1368360"/>
                <a:gridCol w="1656000"/>
                <a:gridCol w="2089080"/>
              </a:tblGrid>
              <a:tr h="64044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Exercice triangulaire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5000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1500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800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100 m – 400 m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510480"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0 – 1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 – 3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 – 4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4 – 6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 – 8 min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4" dur="indefinite" restart="never" nodeType="tmRoot">
          <p:childTnLst>
            <p:seq>
              <p:cTn id="545" dur="indefinite" nodeType="mainSeq">
                <p:childTnLst>
                  <p:par>
                    <p:cTn id="546" nodeType="clickEffect" fill="hold">
                      <p:stCondLst>
                        <p:cond delay="0"/>
                      </p:stCondLst>
                      <p:childTnLst>
                        <p:par>
                          <p:cTn id="5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50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33B0B5C-029D-4492-B417-DD76A634E57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Text Box 2"/>
          <p:cNvSpPr/>
          <p:nvPr/>
        </p:nvSpPr>
        <p:spPr>
          <a:xfrm>
            <a:off x="1981080" y="380880"/>
            <a:ext cx="573264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VITESSE DE DECROISSANCE DU LACTATE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POST EXERCICE (en % du La max.min</a:t>
            </a:r>
            <a:r>
              <a:rPr b="1" lang="fr-FR" sz="2000" strike="noStrike" u="none" baseline="30000">
                <a:solidFill>
                  <a:srgbClr val="ffff00"/>
                </a:solidFill>
                <a:effectLst/>
                <a:uFillTx/>
                <a:latin typeface="Arial"/>
              </a:rPr>
              <a:t>-1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)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66" name=""/>
          <p:cNvGraphicFramePr/>
          <p:nvPr/>
        </p:nvGraphicFramePr>
        <p:xfrm>
          <a:off x="380880" y="1397160"/>
          <a:ext cx="8458200" cy="4622760"/>
        </p:xfrm>
        <a:graphic>
          <a:graphicData uri="http://schemas.openxmlformats.org/drawingml/2006/table">
            <a:tbl>
              <a:tblPr/>
              <a:tblGrid>
                <a:gridCol w="2971800"/>
                <a:gridCol w="1600200"/>
                <a:gridCol w="1676520"/>
                <a:gridCol w="2209680"/>
              </a:tblGrid>
              <a:tr h="89208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Auteurs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Nature de l’exercice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Récupération passive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Récupération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active (% VO</a:t>
                      </a:r>
                      <a:r>
                        <a:rPr b="1" lang="fr-FR" sz="1800" strike="noStrike" u="none" baseline="-25000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max)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13680">
                      <a:solidFill>
                        <a:srgbClr val="ffff00"/>
                      </a:solidFill>
                      <a:prstDash val="solid"/>
                    </a:lnT>
                    <a:lnB w="576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  <a:tr h="373068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Mc Grail et al. (1978)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Bonen et Belcastro (1977)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Hermansen et Stenvold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(1972)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Cazorla et al. (1984)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1368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Ergocycle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Course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Course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Natation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2.0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2.5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2.8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2.73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576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2.9   (30)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4.5   (60 – 70)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4.8   (70)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51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fr-FR" sz="1800" strike="noStrike" u="none">
                          <a:solidFill>
                            <a:srgbClr val="ffff00"/>
                          </a:solidFill>
                          <a:effectLst/>
                          <a:uFillTx/>
                          <a:latin typeface="Arial"/>
                        </a:rPr>
                        <a:t>5.3   (70 et libre)</a:t>
                      </a:r>
                      <a:endParaRPr b="0" lang="en-US" sz="1800" strike="noStrike" u="none">
                        <a:solidFill>
                          <a:srgbClr val="ffff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00"/>
                      </a:solidFill>
                      <a:prstDash val="solid"/>
                    </a:lnL>
                    <a:lnR w="13680">
                      <a:solidFill>
                        <a:srgbClr val="ffff00"/>
                      </a:solidFill>
                      <a:prstDash val="solid"/>
                    </a:lnR>
                    <a:lnT w="5760">
                      <a:solidFill>
                        <a:srgbClr val="ffff00"/>
                      </a:solidFill>
                      <a:prstDash val="solid"/>
                    </a:lnT>
                    <a:lnB w="13680">
                      <a:solidFill>
                        <a:srgbClr val="ffff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0F77D4-2E0A-4549-8B9E-20144C6D7DA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Text Box 2"/>
          <p:cNvSpPr/>
          <p:nvPr/>
        </p:nvSpPr>
        <p:spPr>
          <a:xfrm>
            <a:off x="965160" y="2057400"/>
            <a:ext cx="66974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PIC MAX LACTIQUE COMME UN DES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5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INDICATEURS DU SURENTRAÎNEMENT ?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1A8368-D87B-47B2-9A7C-FBF37A8782B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Rectangle 2"/>
          <p:cNvSpPr/>
          <p:nvPr/>
        </p:nvSpPr>
        <p:spPr>
          <a:xfrm>
            <a:off x="2281320" y="22334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371" name="Object 3"/>
          <p:cNvGraphicFramePr/>
          <p:nvPr/>
        </p:nvGraphicFramePr>
        <p:xfrm>
          <a:off x="380880" y="304920"/>
          <a:ext cx="8305920" cy="54864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372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80880" y="304920"/>
                    <a:ext cx="8305920" cy="5486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73" name="Text Box 4"/>
          <p:cNvSpPr/>
          <p:nvPr/>
        </p:nvSpPr>
        <p:spPr>
          <a:xfrm>
            <a:off x="304920" y="5823000"/>
            <a:ext cx="8458200" cy="70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00ffff"/>
                </a:solidFill>
                <a:effectLst/>
                <a:uFillTx/>
                <a:latin typeface="Arial"/>
                <a:ea typeface="Times New Roman"/>
              </a:rPr>
              <a:t>Effet du surentraînement sur le pic de lactatémie mesuré au cours d’un test progressif jusqu’à épuisement. Adapté de Bosquet (2000).</a:t>
            </a:r>
            <a:r>
              <a:rPr b="0" lang="fr-CA" sz="2000" strike="noStrike" u="none">
                <a:solidFill>
                  <a:srgbClr val="00ffff"/>
                </a:solidFill>
                <a:effectLst/>
                <a:uFillTx/>
                <a:latin typeface="Arial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6ED439-9452-4744-98BD-49A59D635E88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Text Box 4"/>
          <p:cNvSpPr/>
          <p:nvPr/>
        </p:nvSpPr>
        <p:spPr>
          <a:xfrm>
            <a:off x="1193040" y="2031840"/>
            <a:ext cx="67784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LACTATE ET TURN OVER DE L’ATP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82E1CF4-1B4E-4C93-8277-1772707F889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Rectangle 2"/>
          <p:cNvSpPr/>
          <p:nvPr/>
        </p:nvSpPr>
        <p:spPr>
          <a:xfrm>
            <a:off x="685800" y="6211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Rectangle 3"/>
          <p:cNvSpPr/>
          <p:nvPr/>
        </p:nvSpPr>
        <p:spPr>
          <a:xfrm>
            <a:off x="3124080" y="621180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Rectangle 4"/>
          <p:cNvSpPr/>
          <p:nvPr/>
        </p:nvSpPr>
        <p:spPr>
          <a:xfrm>
            <a:off x="685800" y="621180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Rectangle 5"/>
          <p:cNvSpPr/>
          <p:nvPr/>
        </p:nvSpPr>
        <p:spPr>
          <a:xfrm>
            <a:off x="3124080" y="621180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PlaceHolder 1"/>
          <p:cNvSpPr>
            <a:spLocks noGrp="1"/>
          </p:cNvSpPr>
          <p:nvPr>
            <p:ph/>
          </p:nvPr>
        </p:nvSpPr>
        <p:spPr>
          <a:xfrm>
            <a:off x="0" y="764640"/>
            <a:ext cx="9144000" cy="487692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1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GLYCOGENE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1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1 mol. de GLUCOSE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	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                     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2 mol. d'ACIDE LACTIQUE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12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                                       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 C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+ 197 kJ (+ 3ATP rend</a:t>
            </a:r>
            <a:r>
              <a:rPr b="1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t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: 76%)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Au  pH du muscle (7.05 à 6.4)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              C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O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H</a:t>
            </a:r>
            <a:r>
              <a:rPr b="1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+ 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+     C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H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0</a:t>
            </a:r>
            <a:r>
              <a:rPr b="1" lang="fr-FR" sz="1800" strike="noStrike" u="none" baseline="-25000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r>
              <a:rPr b="1" lang="fr-FR" sz="1800" strike="noStrike" u="none" baseline="30000">
                <a:solidFill>
                  <a:srgbClr val="ffffff"/>
                </a:solidFill>
                <a:effectLst/>
                <a:uFillTx/>
                <a:latin typeface="Arial"/>
              </a:rPr>
              <a:t>-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                             Proton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	</a:t>
            </a:r>
            <a:r>
              <a:rPr b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Anion :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Lactate   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35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Rectangle 8"/>
          <p:cNvSpPr/>
          <p:nvPr/>
        </p:nvSpPr>
        <p:spPr>
          <a:xfrm>
            <a:off x="1149480" y="692280"/>
            <a:ext cx="6540480" cy="1968480"/>
          </a:xfrm>
          <a:prstGeom prst="rect">
            <a:avLst/>
          </a:prstGeom>
          <a:noFill/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Line 9"/>
          <p:cNvSpPr/>
          <p:nvPr/>
        </p:nvSpPr>
        <p:spPr>
          <a:xfrm>
            <a:off x="3124080" y="2249640"/>
            <a:ext cx="0" cy="304560"/>
          </a:xfrm>
          <a:prstGeom prst="line">
            <a:avLst/>
          </a:prstGeom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AutoShape 10"/>
          <p:cNvSpPr/>
          <p:nvPr/>
        </p:nvSpPr>
        <p:spPr>
          <a:xfrm>
            <a:off x="4614840" y="1052640"/>
            <a:ext cx="749160" cy="1206360"/>
          </a:xfrm>
          <a:custGeom>
            <a:avLst/>
            <a:gdLst>
              <a:gd name="textAreaLeft" fmla="*/ 0 w 749160"/>
              <a:gd name="textAreaRight" fmla="*/ 749520 w 749160"/>
              <a:gd name="textAreaTop" fmla="*/ 0 h 1206360"/>
              <a:gd name="textAreaBottom" fmla="*/ 1206720 h 120636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4400" y="0"/>
                </a:lnTo>
                <a:lnTo>
                  <a:pt x="21600" y="10800"/>
                </a:lnTo>
                <a:lnTo>
                  <a:pt x="144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afd00"/>
          </a:solidFill>
          <a:ln w="12600">
            <a:solidFill>
              <a:srgbClr val="f766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Line 11"/>
          <p:cNvSpPr/>
          <p:nvPr/>
        </p:nvSpPr>
        <p:spPr>
          <a:xfrm>
            <a:off x="2187720" y="3357720"/>
            <a:ext cx="144756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Line 12"/>
          <p:cNvSpPr/>
          <p:nvPr/>
        </p:nvSpPr>
        <p:spPr>
          <a:xfrm>
            <a:off x="3780000" y="4653000"/>
            <a:ext cx="914400" cy="0"/>
          </a:xfrm>
          <a:prstGeom prst="line">
            <a:avLst/>
          </a:prstGeom>
          <a:ln w="284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Rectangle 14"/>
          <p:cNvSpPr/>
          <p:nvPr/>
        </p:nvSpPr>
        <p:spPr>
          <a:xfrm>
            <a:off x="5486400" y="1484280"/>
            <a:ext cx="220968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2160" rIns="92160" tIns="46080" bIns="4608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= 3 mol. d'ATP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Line 15"/>
          <p:cNvSpPr/>
          <p:nvPr/>
        </p:nvSpPr>
        <p:spPr>
          <a:xfrm>
            <a:off x="2700360" y="1413000"/>
            <a:ext cx="0" cy="457200"/>
          </a:xfrm>
          <a:prstGeom prst="line">
            <a:avLst/>
          </a:prstGeom>
          <a:ln w="5724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Text Box 16"/>
          <p:cNvSpPr/>
          <p:nvPr/>
        </p:nvSpPr>
        <p:spPr>
          <a:xfrm>
            <a:off x="1789200" y="4797360"/>
            <a:ext cx="3143160" cy="6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</a:t>
            </a: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Acide lactique :</a:t>
            </a: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                 </a:t>
            </a:r>
            <a:endParaRPr b="0" lang="en-US" sz="1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Rectangle 17"/>
          <p:cNvSpPr/>
          <p:nvPr/>
        </p:nvSpPr>
        <p:spPr>
          <a:xfrm>
            <a:off x="4788000" y="4437000"/>
            <a:ext cx="304560" cy="304920"/>
          </a:xfrm>
          <a:prstGeom prst="rect">
            <a:avLst/>
          </a:prstGeom>
          <a:noFill/>
          <a:ln w="1260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Oval 18"/>
          <p:cNvSpPr/>
          <p:nvPr/>
        </p:nvSpPr>
        <p:spPr>
          <a:xfrm>
            <a:off x="1116000" y="1793880"/>
            <a:ext cx="3311640" cy="914400"/>
          </a:xfrm>
          <a:prstGeom prst="ellipse">
            <a:avLst/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Oval 19"/>
          <p:cNvSpPr/>
          <p:nvPr/>
        </p:nvSpPr>
        <p:spPr>
          <a:xfrm>
            <a:off x="5437080" y="1268280"/>
            <a:ext cx="2303640" cy="792360"/>
          </a:xfrm>
          <a:prstGeom prst="ellipse">
            <a:avLst/>
          </a:prstGeom>
          <a:noFill/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cut thruBlk="true"/>
  </p:transition>
  <p:timing>
    <p:tnLst>
      <p:par>
        <p:cTn id="551" dur="indefinite" restart="never" nodeType="tmRoot">
          <p:childTnLst>
            <p:seq>
              <p:cTn id="552" dur="indefinite" nodeType="mainSeq">
                <p:childTnLst>
                  <p:par>
                    <p:cTn id="553" nodeType="clickEffect" fill="hold">
                      <p:stCondLst>
                        <p:cond delay="indefinite"/>
                      </p:stCondLst>
                      <p:childTnLst>
                        <p:par>
                          <p:cTn id="55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55" nodeType="click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57" dur="500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58" dur="500" fill="hold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59" dur="500"/>
                                        <p:tgtEl>
                                          <p:spTgt spid="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0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62" dur="500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63" dur="500" fill="hold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64" dur="500"/>
                                        <p:tgtEl>
                                          <p:spTgt spid="3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66" nodeType="after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568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9" nodeType="afterEffect" fill="hold">
                            <p:stCondLst>
                              <p:cond delay="1000"/>
                            </p:stCondLst>
                            <p:childTnLst>
                              <p:par>
                                <p:cTn id="57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72" dur="1000" fill="hold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73" dur="1000" fill="hold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74" dur="1000"/>
                                        <p:tgtEl>
                                          <p:spTgt spid="3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57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578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9" nodeType="afterEffect" fill="hold">
                            <p:stCondLst>
                              <p:cond delay="2500"/>
                            </p:stCondLst>
                            <p:childTnLst>
                              <p:par>
                                <p:cTn id="580" nodeType="after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82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83" dur="500" fill="hold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584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5" nodeType="clickEffect" fill="hold">
                      <p:stCondLst>
                        <p:cond delay="indefinite"/>
                      </p:stCondLst>
                      <p:childTnLst>
                        <p:par>
                          <p:cTn id="58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87" nodeType="clickEffect" fill="hold" presetClass="entr" presetID="21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8)" transition="in">
                                      <p:cBhvr additive="repl">
                                        <p:cTn id="589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0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591" nodeType="afterEffect" fill="hold" presetClass="entr" presetID="21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heel(8)" transition="in">
                                      <p:cBhvr additive="repl">
                                        <p:cTn id="593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4" nodeType="clickEffect" fill="hold">
                      <p:stCondLst>
                        <p:cond delay="indefinite"/>
                      </p:stCondLst>
                      <p:childTnLst>
                        <p:par>
                          <p:cTn id="59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9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598" dur="500"/>
                                        <p:tgtEl>
                                          <p:spTgt spid="3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9" nodeType="with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01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nodeType="clickEffect" fill="hold">
                      <p:stCondLst>
                        <p:cond delay="indefinite"/>
                      </p:stCondLst>
                      <p:childTnLst>
                        <p:par>
                          <p:cTn id="60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06" dur="500"/>
                                        <p:tgtEl>
                                          <p:spTgt spid="3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08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10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nodeType="afterEffect" fill="hold">
                            <p:stCondLst>
                              <p:cond delay="1500"/>
                            </p:stCondLst>
                            <p:childTnLst>
                              <p:par>
                                <p:cTn id="61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14" dur="500"/>
                                        <p:tgtEl>
                                          <p:spTgt spid="3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5" nodeType="afterEffect" fill="hold">
                            <p:stCondLst>
                              <p:cond delay="2000"/>
                            </p:stCondLst>
                            <p:childTnLst>
                              <p:par>
                                <p:cTn id="61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18" dur="500"/>
                                        <p:tgtEl>
                                          <p:spTgt spid="3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9" nodeType="with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621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nodeType="withEffect" fill="hold" presetClass="entr" presetID="53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24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25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626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F6DCB3-842B-48AA-9CE0-242E4E495147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/>
          </p:nvPr>
        </p:nvSpPr>
        <p:spPr>
          <a:xfrm>
            <a:off x="323640" y="4107960"/>
            <a:ext cx="8381880" cy="1584360"/>
          </a:xfrm>
          <a:prstGeom prst="rect">
            <a:avLst/>
          </a:prstGeom>
          <a:noFill/>
          <a:ln w="0">
            <a:noFill/>
          </a:ln>
        </p:spPr>
        <p:txBody>
          <a:bodyPr lIns="92160" rIns="92160" tIns="46080" bIns="46080" anchor="t">
            <a:normAutofit/>
          </a:bodyPr>
          <a:p>
            <a:pPr marL="343080" indent="-343080">
              <a:lnSpc>
                <a:spcPct val="130000"/>
              </a:lnSpc>
              <a:spcBef>
                <a:spcPts val="901"/>
              </a:spcBef>
              <a:spcAft>
                <a:spcPts val="901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L’athlète qui réussit dans les disciplines courtes est celui qui produit le plus de lactate par unité de temps</a:t>
            </a: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 </a:t>
            </a:r>
            <a:r>
              <a:rPr b="0" i="1" lang="fr-FR" sz="2400" strike="noStrike" u="non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(Lacour et Coll. 1990)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Text Box 7"/>
          <p:cNvSpPr/>
          <p:nvPr/>
        </p:nvSpPr>
        <p:spPr>
          <a:xfrm>
            <a:off x="451440" y="765000"/>
            <a:ext cx="8233200" cy="98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90000"/>
              </a:lnSpc>
              <a:spcBef>
                <a:spcPts val="901"/>
              </a:spcBef>
              <a:spcAft>
                <a:spcPts val="901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Une molécule de glycogène permet la synthèse de 3 ATP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90000"/>
              </a:lnSpc>
              <a:spcBef>
                <a:spcPts val="901"/>
              </a:spcBef>
              <a:spcAft>
                <a:spcPts val="9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et s’accompagne de la formation de 2 molécules de lactate.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Text Box 8"/>
          <p:cNvSpPr/>
          <p:nvPr/>
        </p:nvSpPr>
        <p:spPr>
          <a:xfrm>
            <a:off x="523440" y="2111400"/>
            <a:ext cx="8470080" cy="16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901"/>
              </a:spcBef>
              <a:spcAft>
                <a:spcPts val="901"/>
              </a:spcAft>
              <a:buClr>
                <a:srgbClr val="ffff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Donc, plus le muscle produit de lactate  par unité de temps,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9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 plus de molécules d’ATP ont été synthétisées et donc plus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901"/>
              </a:spcBef>
              <a:spcAft>
                <a:spcPts val="90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400" strike="noStrike" u="none">
                <a:solidFill>
                  <a:srgbClr val="ffff00"/>
                </a:solidFill>
                <a:effectLst/>
                <a:uFillTx/>
                <a:latin typeface="Arial"/>
                <a:ea typeface="Arial"/>
              </a:rPr>
              <a:t>  important a été le travail musculaire.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627" dur="indefinite" restart="never" nodeType="tmRoot">
          <p:childTnLst>
            <p:seq>
              <p:cTn id="628" dur="indefinite" nodeType="mainSeq">
                <p:childTnLst>
                  <p:par>
                    <p:cTn id="629" nodeType="clickEffect" fill="hold">
                      <p:stCondLst>
                        <p:cond delay="0"/>
                      </p:stCondLst>
                      <p:childTnLst>
                        <p:par>
                          <p:cTn id="6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1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33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4" nodeType="clickEffect" fill="hold">
                      <p:stCondLst>
                        <p:cond delay="indefinite"/>
                      </p:stCondLst>
                      <p:childTnLst>
                        <p:par>
                          <p:cTn id="635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36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38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9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40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42" dur="2000"/>
                                        <p:tgtEl>
                                          <p:spTgt spid="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EB8C8C-561C-494F-ADCA-ECDB6B83311D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Rectangle 2"/>
          <p:cNvSpPr/>
          <p:nvPr/>
        </p:nvSpPr>
        <p:spPr>
          <a:xfrm>
            <a:off x="1785960" y="10810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6440" bIns="-46440" anchor="t">
            <a:sp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9" name="Picture 3" descr="lacour01"/>
          <p:cNvPicPr/>
          <p:nvPr/>
        </p:nvPicPr>
        <p:blipFill>
          <a:blip r:embed="rId1"/>
          <a:stretch/>
        </p:blipFill>
        <p:spPr>
          <a:xfrm>
            <a:off x="395280" y="123840"/>
            <a:ext cx="8280360" cy="5521320"/>
          </a:xfrm>
          <a:prstGeom prst="rect">
            <a:avLst/>
          </a:prstGeom>
          <a:noFill/>
          <a:ln w="38160">
            <a:solidFill>
              <a:srgbClr val="99ccff"/>
            </a:solidFill>
            <a:miter/>
          </a:ln>
        </p:spPr>
      </p:pic>
      <p:sp>
        <p:nvSpPr>
          <p:cNvPr id="400" name="Text Box 4"/>
          <p:cNvSpPr/>
          <p:nvPr/>
        </p:nvSpPr>
        <p:spPr>
          <a:xfrm>
            <a:off x="324000" y="5826240"/>
            <a:ext cx="85341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just"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Times New Roman"/>
              </a:rPr>
              <a:t>Relation entre le pic de lactatémie mesurée 5min après la fin d’une compétition et la performance au 400 m chez des coureurs de haut niveau. Lacour et al. </a:t>
            </a: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  <a:ea typeface="Times New Roman"/>
              </a:rPr>
              <a:t>Eur J Appl Physiol 1990 ; 61 : 172-176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Line 5"/>
          <p:cNvSpPr/>
          <p:nvPr/>
        </p:nvSpPr>
        <p:spPr>
          <a:xfrm>
            <a:off x="1042920" y="836640"/>
            <a:ext cx="73080" cy="374472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Line 6"/>
          <p:cNvSpPr/>
          <p:nvPr/>
        </p:nvSpPr>
        <p:spPr>
          <a:xfrm>
            <a:off x="4859280" y="836640"/>
            <a:ext cx="73080" cy="374472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Line 7"/>
          <p:cNvSpPr/>
          <p:nvPr/>
        </p:nvSpPr>
        <p:spPr>
          <a:xfrm>
            <a:off x="8602560" y="765000"/>
            <a:ext cx="1800" cy="374364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Line 8"/>
          <p:cNvSpPr/>
          <p:nvPr/>
        </p:nvSpPr>
        <p:spPr>
          <a:xfrm flipV="1">
            <a:off x="1042920" y="764640"/>
            <a:ext cx="7489800" cy="7164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4840" bIns="2484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Line 9"/>
          <p:cNvSpPr/>
          <p:nvPr/>
        </p:nvSpPr>
        <p:spPr>
          <a:xfrm flipV="1">
            <a:off x="1116000" y="4510080"/>
            <a:ext cx="7489800" cy="71280"/>
          </a:xfrm>
          <a:prstGeom prst="line">
            <a:avLst/>
          </a:prstGeom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24480" bIns="2448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7634D70-C07F-49E0-A560-628B39128CDA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Text Box 4"/>
          <p:cNvSpPr/>
          <p:nvPr/>
        </p:nvSpPr>
        <p:spPr>
          <a:xfrm>
            <a:off x="475560" y="1590840"/>
            <a:ext cx="8184600" cy="24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APPLICATION DE LA LACTATEMIE COMME</a:t>
            </a:r>
            <a:br>
              <a:rPr sz="2800"/>
            </a:b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UN DES PARAMETRES BIOLOGIQUES DU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CONTRÔLE DE L’ENTRAÎNEMENT DU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8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RUGBYMAN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ED1C86-63EA-4479-9D96-12053AA617E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09" name="Object 3"/>
          <p:cNvGraphicFramePr/>
          <p:nvPr/>
        </p:nvGraphicFramePr>
        <p:xfrm>
          <a:off x="4795920" y="3886200"/>
          <a:ext cx="1076400" cy="12952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410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4795920" y="3886200"/>
                    <a:ext cx="1076400" cy="1295280"/>
                  </a:xfrm>
                  <a:prstGeom prst="rect">
                    <a:avLst/>
                  </a:prstGeom>
                  <a:noFill/>
                  <a:ln w="9360">
                    <a:solidFill>
                      <a:srgbClr val="3333ff"/>
                    </a:solidFill>
                    <a:miter/>
                  </a:ln>
                </p:spPr>
              </p:pic>
            </p:oleObj>
          </a:graphicData>
        </a:graphic>
      </p:graphicFrame>
      <p:pic>
        <p:nvPicPr>
          <p:cNvPr id="411" name="Picture 4" descr="microcentrifugeuse"/>
          <p:cNvPicPr/>
          <p:nvPr/>
        </p:nvPicPr>
        <p:blipFill>
          <a:blip r:embed="rId3"/>
          <a:stretch/>
        </p:blipFill>
        <p:spPr>
          <a:xfrm>
            <a:off x="2743200" y="2362320"/>
            <a:ext cx="2057400" cy="1865160"/>
          </a:xfrm>
          <a:prstGeom prst="rect">
            <a:avLst/>
          </a:prstGeom>
          <a:noFill/>
          <a:ln w="9360">
            <a:solidFill>
              <a:srgbClr val="3333ff"/>
            </a:solidFill>
            <a:miter/>
          </a:ln>
        </p:spPr>
      </p:pic>
      <p:pic>
        <p:nvPicPr>
          <p:cNvPr id="412" name="Picture 5" descr="Photo 002"/>
          <p:cNvPicPr/>
          <p:nvPr/>
        </p:nvPicPr>
        <p:blipFill>
          <a:blip r:embed="rId4"/>
          <a:stretch/>
        </p:blipFill>
        <p:spPr>
          <a:xfrm>
            <a:off x="5867280" y="4513320"/>
            <a:ext cx="3124440" cy="2343240"/>
          </a:xfrm>
          <a:prstGeom prst="rect">
            <a:avLst/>
          </a:prstGeom>
          <a:noFill/>
          <a:ln w="9360">
            <a:solidFill>
              <a:srgbClr val="3333ff"/>
            </a:solidFill>
            <a:miter/>
          </a:ln>
        </p:spPr>
      </p:pic>
      <p:sp>
        <p:nvSpPr>
          <p:cNvPr id="413" name="Line 6"/>
          <p:cNvSpPr/>
          <p:nvPr/>
        </p:nvSpPr>
        <p:spPr>
          <a:xfrm>
            <a:off x="4572000" y="3860640"/>
            <a:ext cx="504720" cy="64800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Line 7"/>
          <p:cNvSpPr/>
          <p:nvPr/>
        </p:nvSpPr>
        <p:spPr>
          <a:xfrm>
            <a:off x="5580000" y="5013360"/>
            <a:ext cx="504720" cy="503280"/>
          </a:xfrm>
          <a:prstGeom prst="line">
            <a:avLst/>
          </a:prstGeom>
          <a:ln w="38160">
            <a:solidFill>
              <a:srgbClr val="cdd61c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Rectangle 8"/>
          <p:cNvSpPr/>
          <p:nvPr/>
        </p:nvSpPr>
        <p:spPr>
          <a:xfrm>
            <a:off x="2916360" y="404640"/>
            <a:ext cx="411480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Arial"/>
              </a:rPr>
              <a:t>Prélèvement de 35µL de sang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Arial"/>
              </a:rPr>
              <a:t>à la pulpe du doigt.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Text Box 9"/>
          <p:cNvSpPr/>
          <p:nvPr/>
        </p:nvSpPr>
        <p:spPr>
          <a:xfrm>
            <a:off x="4791600" y="2666880"/>
            <a:ext cx="18770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Arial"/>
              </a:rPr>
              <a:t>centrifugeuse.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Text Box 10"/>
          <p:cNvSpPr/>
          <p:nvPr/>
        </p:nvSpPr>
        <p:spPr>
          <a:xfrm>
            <a:off x="5922720" y="3733920"/>
            <a:ext cx="336744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Arial"/>
              </a:rPr>
              <a:t>Tube gélosé contenant du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  <a:ea typeface="Arial"/>
              </a:rPr>
              <a:t>sang après centrifugation.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Text Box 11"/>
          <p:cNvSpPr/>
          <p:nvPr/>
        </p:nvSpPr>
        <p:spPr>
          <a:xfrm>
            <a:off x="7547040" y="1413000"/>
            <a:ext cx="1412640" cy="398880"/>
          </a:xfrm>
          <a:prstGeom prst="rect">
            <a:avLst/>
          </a:prstGeom>
          <a:noFill/>
          <a:ln w="9360">
            <a:solidFill>
              <a:srgbClr val="2828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TERRAIN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Text Box 12"/>
          <p:cNvSpPr/>
          <p:nvPr/>
        </p:nvSpPr>
        <p:spPr>
          <a:xfrm>
            <a:off x="2125800" y="4508640"/>
            <a:ext cx="25520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LABORATOIRE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Text Box 13"/>
          <p:cNvSpPr/>
          <p:nvPr/>
        </p:nvSpPr>
        <p:spPr>
          <a:xfrm>
            <a:off x="1767960" y="5229360"/>
            <a:ext cx="4044240" cy="11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Analyse des concentrations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plasmatiques de 19 molécules à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Partir de la technique de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spectrométrie à infra-rouge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Text Box 14"/>
          <p:cNvSpPr/>
          <p:nvPr/>
        </p:nvSpPr>
        <p:spPr>
          <a:xfrm>
            <a:off x="5745600" y="6491160"/>
            <a:ext cx="33948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Spectromètre à infra-rouge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AutoShape 15"/>
          <p:cNvSpPr/>
          <p:nvPr/>
        </p:nvSpPr>
        <p:spPr>
          <a:xfrm>
            <a:off x="7018200" y="260280"/>
            <a:ext cx="457200" cy="2881440"/>
          </a:xfrm>
          <a:custGeom>
            <a:avLst/>
            <a:gdLst>
              <a:gd name="textAreaLeft" fmla="*/ 0 w 457200"/>
              <a:gd name="textAreaRight" fmla="*/ 164880 w 457200"/>
              <a:gd name="textAreaTop" fmla="*/ 74880 h 2881440"/>
              <a:gd name="textAreaBottom" fmla="*/ 2806560 h 288144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5724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3" name="Picture 20" descr=""/>
          <p:cNvPicPr/>
          <p:nvPr/>
        </p:nvPicPr>
        <p:blipFill>
          <a:blip r:embed="rId5"/>
          <a:srcRect l="0" t="7467" r="0" b="16520"/>
          <a:stretch/>
        </p:blipFill>
        <p:spPr>
          <a:xfrm>
            <a:off x="108000" y="0"/>
            <a:ext cx="2519280" cy="2276640"/>
          </a:xfrm>
          <a:prstGeom prst="rect">
            <a:avLst/>
          </a:prstGeom>
          <a:noFill/>
          <a:ln w="19080">
            <a:solidFill>
              <a:srgbClr val="3333ff"/>
            </a:solidFill>
            <a:miter/>
          </a:ln>
        </p:spPr>
      </p:pic>
      <p:sp>
        <p:nvSpPr>
          <p:cNvPr id="424" name="Line 17"/>
          <p:cNvSpPr/>
          <p:nvPr/>
        </p:nvSpPr>
        <p:spPr>
          <a:xfrm>
            <a:off x="2484360" y="2060640"/>
            <a:ext cx="432000" cy="574560"/>
          </a:xfrm>
          <a:prstGeom prst="line">
            <a:avLst/>
          </a:prstGeom>
          <a:ln w="38160">
            <a:solidFill>
              <a:srgbClr val="ffff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iming>
    <p:tnLst>
      <p:par>
        <p:cTn id="643" dur="indefinite" restart="never" nodeType="tmRoot">
          <p:childTnLst>
            <p:seq>
              <p:cTn id="644" dur="indefinite" nodeType="mainSeq">
                <p:childTnLst>
                  <p:par>
                    <p:cTn id="645" nodeType="clickEffect" fill="hold">
                      <p:stCondLst>
                        <p:cond delay="0"/>
                      </p:stCondLst>
                      <p:childTnLst>
                        <p:par>
                          <p:cTn id="64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47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49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0" nodeType="clickEffect" fill="hold">
                      <p:stCondLst>
                        <p:cond delay="indefinite"/>
                      </p:stCondLst>
                      <p:childTnLst>
                        <p:par>
                          <p:cTn id="65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5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54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5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58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9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61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2" nodeType="clickEffect" fill="hold">
                      <p:stCondLst>
                        <p:cond delay="indefinite"/>
                      </p:stCondLst>
                      <p:childTnLst>
                        <p:par>
                          <p:cTn id="663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64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66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7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68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70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73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76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7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7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0" nodeType="clickEffect" fill="hold">
                      <p:stCondLst>
                        <p:cond delay="indefinite"/>
                      </p:stCondLst>
                      <p:childTnLst>
                        <p:par>
                          <p:cTn id="68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682" nodeType="click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84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686" nodeType="after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88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9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91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2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94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5" nodeType="withEffect" fill="hold" presetClass="entr" presetID="5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checkerboard(across)" transition="in">
                                      <p:cBhvr additive="repl">
                                        <p:cTn id="697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09EBB0-F80B-4E7B-822A-9B1878DE8C9C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Text Box 2"/>
          <p:cNvSpPr/>
          <p:nvPr/>
        </p:nvSpPr>
        <p:spPr>
          <a:xfrm>
            <a:off x="106200" y="577800"/>
            <a:ext cx="8858520" cy="36309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1)  Concentrations susceptibles de renseigner sur l’état métabolique au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moment et au cours du test et indirectement de l’état des réserves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énergétiques musculaires et donc éventuellement du niveau de fatigue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encore facile à corriger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Glucose, </a:t>
            </a:r>
            <a:r>
              <a:rPr b="1" lang="fr-FR" sz="32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lactate</a:t>
            </a:r>
            <a:r>
              <a:rPr b="1" lang="fr-FR" sz="32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,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triglycérides, acides gras libres, glycérol,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cholestérol total, acides aminés totaux, urée, protéines totales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marL="533520" indent="-533520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+ albumine, transferrine, apolipoprotéines : Apo-A1, Apo-B.</a:t>
            </a:r>
            <a:r>
              <a:rPr b="1" lang="fr-FR" sz="2000" strike="noStrike" u="none">
                <a:solidFill>
                  <a:srgbClr val="3333ff"/>
                </a:solidFill>
                <a:effectLst/>
                <a:uFillTx/>
                <a:latin typeface="Bookman Old Style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Text Box 3"/>
          <p:cNvSpPr/>
          <p:nvPr/>
        </p:nvSpPr>
        <p:spPr>
          <a:xfrm>
            <a:off x="-1237680" y="3530520"/>
            <a:ext cx="11576880" cy="131364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2) Concentrations dont les variations sont susceptibles de faire suspecter un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état inflammatoire qu’un diagnostic médical approfondi peut ensuite préciser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CRP </a:t>
            </a:r>
            <a:r>
              <a:rPr b="0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(C-réactive protéine),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 haptoglobine,  orosomucoide,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Text Box 4"/>
          <p:cNvSpPr/>
          <p:nvPr/>
        </p:nvSpPr>
        <p:spPr>
          <a:xfrm>
            <a:off x="-1058040" y="5259240"/>
            <a:ext cx="11185920" cy="161856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3) Les variations de concentrations des immunoglobulines (IgA, G et M)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peuvent faire suspecter  des défenses immunitaires perturbées et donc des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risques infectieux lorsque l’état d’entraînement devient limite  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Immunoglobulines IgM, IgA, IgG.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Text Box 5"/>
          <p:cNvSpPr/>
          <p:nvPr/>
        </p:nvSpPr>
        <p:spPr>
          <a:xfrm>
            <a:off x="-618120" y="19080"/>
            <a:ext cx="102006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 Unicode MS"/>
              </a:rPr>
              <a:t>CONCENTRATIONS MESUREES A PARTIR DE 35 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Symbol"/>
                <a:ea typeface="Symbol"/>
              </a:rPr>
              <a:t></a:t>
            </a: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Arial Unicode MS"/>
              </a:rPr>
              <a:t>L DE SANG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6CA0F6-8249-40E6-B93B-FEA38B2AD39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31" name="Object 2"/>
          <p:cNvGraphicFramePr/>
          <p:nvPr/>
        </p:nvGraphicFramePr>
        <p:xfrm>
          <a:off x="0" y="2039760"/>
          <a:ext cx="9144000" cy="391032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43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0" y="2039760"/>
                    <a:ext cx="9144000" cy="3910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33" name="Text Box 3"/>
          <p:cNvSpPr/>
          <p:nvPr/>
        </p:nvSpPr>
        <p:spPr>
          <a:xfrm>
            <a:off x="3895920" y="4667400"/>
            <a:ext cx="824760" cy="276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12 x 20m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Text Box 4"/>
          <p:cNvSpPr/>
          <p:nvPr/>
        </p:nvSpPr>
        <p:spPr>
          <a:xfrm>
            <a:off x="2269800" y="4678200"/>
            <a:ext cx="1154520" cy="459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Récupération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active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Text Box 5"/>
          <p:cNvSpPr/>
          <p:nvPr/>
        </p:nvSpPr>
        <p:spPr>
          <a:xfrm>
            <a:off x="6939720" y="4653000"/>
            <a:ext cx="731520" cy="276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 x 30 s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Line 6"/>
          <p:cNvSpPr/>
          <p:nvPr/>
        </p:nvSpPr>
        <p:spPr>
          <a:xfrm>
            <a:off x="1260360" y="3297240"/>
            <a:ext cx="0" cy="57636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Text Box 7"/>
          <p:cNvSpPr/>
          <p:nvPr/>
        </p:nvSpPr>
        <p:spPr>
          <a:xfrm>
            <a:off x="893520" y="2759040"/>
            <a:ext cx="1154520" cy="459720"/>
          </a:xfrm>
          <a:prstGeom prst="rect">
            <a:avLst/>
          </a:prstGeom>
          <a:solidFill>
            <a:srgbClr val="ff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Prélèvement 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Avant : repos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Line 8"/>
          <p:cNvSpPr/>
          <p:nvPr/>
        </p:nvSpPr>
        <p:spPr>
          <a:xfrm>
            <a:off x="4859280" y="3263760"/>
            <a:ext cx="0" cy="57636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Text Box 9"/>
          <p:cNvSpPr/>
          <p:nvPr/>
        </p:nvSpPr>
        <p:spPr>
          <a:xfrm>
            <a:off x="4690080" y="2797200"/>
            <a:ext cx="1171440" cy="459720"/>
          </a:xfrm>
          <a:prstGeom prst="rect">
            <a:avLst/>
          </a:prstGeom>
          <a:solidFill>
            <a:srgbClr val="ff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Prélèvement 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Après - Avant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Line 10"/>
          <p:cNvSpPr/>
          <p:nvPr/>
        </p:nvSpPr>
        <p:spPr>
          <a:xfrm>
            <a:off x="1979640" y="3297240"/>
            <a:ext cx="0" cy="57636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Text Box 11"/>
          <p:cNvSpPr/>
          <p:nvPr/>
        </p:nvSpPr>
        <p:spPr>
          <a:xfrm>
            <a:off x="2142000" y="2759040"/>
            <a:ext cx="1129320" cy="459720"/>
          </a:xfrm>
          <a:prstGeom prst="rect">
            <a:avLst/>
          </a:prstGeom>
          <a:solidFill>
            <a:srgbClr val="ff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Prélèvement 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Après  Avant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Line 12"/>
          <p:cNvSpPr/>
          <p:nvPr/>
        </p:nvSpPr>
        <p:spPr>
          <a:xfrm>
            <a:off x="6732720" y="3009960"/>
            <a:ext cx="0" cy="57636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Text Box 13"/>
          <p:cNvSpPr/>
          <p:nvPr/>
        </p:nvSpPr>
        <p:spPr>
          <a:xfrm>
            <a:off x="5872680" y="2471760"/>
            <a:ext cx="1129320" cy="459720"/>
          </a:xfrm>
          <a:prstGeom prst="rect">
            <a:avLst/>
          </a:prstGeom>
          <a:solidFill>
            <a:srgbClr val="ff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Prélèvement 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Après -Avant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Text Box 14"/>
          <p:cNvSpPr/>
          <p:nvPr/>
        </p:nvSpPr>
        <p:spPr>
          <a:xfrm>
            <a:off x="5149800" y="4678200"/>
            <a:ext cx="1154520" cy="45972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Récupération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active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Text Box 15"/>
          <p:cNvSpPr/>
          <p:nvPr/>
        </p:nvSpPr>
        <p:spPr>
          <a:xfrm>
            <a:off x="1317960" y="4653000"/>
            <a:ext cx="705600" cy="276840"/>
          </a:xfrm>
          <a:prstGeom prst="rect">
            <a:avLst/>
          </a:prstGeom>
          <a:noFill/>
          <a:ln w="9360">
            <a:solidFill>
              <a:srgbClr val="ffff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Sprints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Line 16"/>
          <p:cNvSpPr/>
          <p:nvPr/>
        </p:nvSpPr>
        <p:spPr>
          <a:xfrm>
            <a:off x="3564000" y="3263760"/>
            <a:ext cx="0" cy="57636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Text Box 17"/>
          <p:cNvSpPr/>
          <p:nvPr/>
        </p:nvSpPr>
        <p:spPr>
          <a:xfrm>
            <a:off x="7673040" y="2471760"/>
            <a:ext cx="1171440" cy="459720"/>
          </a:xfrm>
          <a:prstGeom prst="rect">
            <a:avLst/>
          </a:prstGeom>
          <a:solidFill>
            <a:srgbClr val="ffcc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Prélèvement 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Après - Avant</a:t>
            </a:r>
            <a:endParaRPr b="0" lang="en-US" sz="1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Line 18"/>
          <p:cNvSpPr/>
          <p:nvPr/>
        </p:nvSpPr>
        <p:spPr>
          <a:xfrm>
            <a:off x="7812000" y="2975040"/>
            <a:ext cx="0" cy="576360"/>
          </a:xfrm>
          <a:prstGeom prst="line">
            <a:avLst/>
          </a:prstGeom>
          <a:ln w="5724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Text Box 19"/>
          <p:cNvSpPr/>
          <p:nvPr/>
        </p:nvSpPr>
        <p:spPr>
          <a:xfrm>
            <a:off x="4068720" y="3335400"/>
            <a:ext cx="32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Text Box 20"/>
          <p:cNvSpPr/>
          <p:nvPr/>
        </p:nvSpPr>
        <p:spPr>
          <a:xfrm>
            <a:off x="2628720" y="3335400"/>
            <a:ext cx="32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Text Box 21"/>
          <p:cNvSpPr/>
          <p:nvPr/>
        </p:nvSpPr>
        <p:spPr>
          <a:xfrm>
            <a:off x="7165800" y="3335400"/>
            <a:ext cx="32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Text Box 22"/>
          <p:cNvSpPr/>
          <p:nvPr/>
        </p:nvSpPr>
        <p:spPr>
          <a:xfrm>
            <a:off x="5653080" y="3335400"/>
            <a:ext cx="32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Text Box 23"/>
          <p:cNvSpPr/>
          <p:nvPr/>
        </p:nvSpPr>
        <p:spPr>
          <a:xfrm>
            <a:off x="1477800" y="3335400"/>
            <a:ext cx="3207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Symbol"/>
                <a:ea typeface="Symbol"/>
              </a:rPr>
              <a:t>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Line 24"/>
          <p:cNvSpPr/>
          <p:nvPr/>
        </p:nvSpPr>
        <p:spPr>
          <a:xfrm flipH="1">
            <a:off x="1331640" y="3551400"/>
            <a:ext cx="2156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Line 25"/>
          <p:cNvSpPr/>
          <p:nvPr/>
        </p:nvSpPr>
        <p:spPr>
          <a:xfrm>
            <a:off x="1692360" y="3551400"/>
            <a:ext cx="2156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Line 26"/>
          <p:cNvSpPr/>
          <p:nvPr/>
        </p:nvSpPr>
        <p:spPr>
          <a:xfrm flipH="1">
            <a:off x="2050920" y="3551400"/>
            <a:ext cx="6494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Line 27"/>
          <p:cNvSpPr/>
          <p:nvPr/>
        </p:nvSpPr>
        <p:spPr>
          <a:xfrm>
            <a:off x="2916360" y="3551400"/>
            <a:ext cx="5760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Line 28"/>
          <p:cNvSpPr/>
          <p:nvPr/>
        </p:nvSpPr>
        <p:spPr>
          <a:xfrm flipH="1">
            <a:off x="3634920" y="3551400"/>
            <a:ext cx="5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Line 29"/>
          <p:cNvSpPr/>
          <p:nvPr/>
        </p:nvSpPr>
        <p:spPr>
          <a:xfrm>
            <a:off x="4356000" y="3551400"/>
            <a:ext cx="5032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Line 30"/>
          <p:cNvSpPr/>
          <p:nvPr/>
        </p:nvSpPr>
        <p:spPr>
          <a:xfrm flipH="1">
            <a:off x="4932360" y="3551400"/>
            <a:ext cx="7920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Line 31"/>
          <p:cNvSpPr/>
          <p:nvPr/>
        </p:nvSpPr>
        <p:spPr>
          <a:xfrm>
            <a:off x="5940360" y="3551400"/>
            <a:ext cx="6476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Line 32"/>
          <p:cNvSpPr/>
          <p:nvPr/>
        </p:nvSpPr>
        <p:spPr>
          <a:xfrm flipH="1">
            <a:off x="6876720" y="3551400"/>
            <a:ext cx="35892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Line 33"/>
          <p:cNvSpPr/>
          <p:nvPr/>
        </p:nvSpPr>
        <p:spPr>
          <a:xfrm>
            <a:off x="7451640" y="3551400"/>
            <a:ext cx="3603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Text Box 34"/>
          <p:cNvSpPr/>
          <p:nvPr/>
        </p:nvSpPr>
        <p:spPr>
          <a:xfrm>
            <a:off x="0" y="260280"/>
            <a:ext cx="9325080" cy="12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Contrôle de l’entraînement Rugby (Cellule évaluation  du XV de France) Prélèvements sanguins et enregistrement de la fréquence  cardiaque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3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au cours des tests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766194-1523-4CE4-8B42-D9D1830D85AE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6" name="Picture 2" descr=""/>
          <p:cNvPicPr/>
          <p:nvPr/>
        </p:nvPicPr>
        <p:blipFill>
          <a:blip r:embed="rId1"/>
          <a:stretch/>
        </p:blipFill>
        <p:spPr>
          <a:xfrm>
            <a:off x="0" y="-27000"/>
            <a:ext cx="9144000" cy="6885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Text Box 3"/>
          <p:cNvSpPr/>
          <p:nvPr/>
        </p:nvSpPr>
        <p:spPr>
          <a:xfrm>
            <a:off x="1193400" y="115920"/>
            <a:ext cx="6445800" cy="734040"/>
          </a:xfrm>
          <a:prstGeom prst="rect">
            <a:avLst/>
          </a:prstGeom>
          <a:solidFill>
            <a:srgbClr val="b2b2b2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RECAPITULATIF DES DELTA DU LACTATE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 = 212 joueurs équipe France rugby 2007</a:t>
            </a:r>
            <a:r>
              <a:rPr b="1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Text Box 4"/>
          <p:cNvSpPr/>
          <p:nvPr/>
        </p:nvSpPr>
        <p:spPr>
          <a:xfrm>
            <a:off x="129600" y="1535040"/>
            <a:ext cx="775800" cy="307440"/>
          </a:xfrm>
          <a:prstGeom prst="rect">
            <a:avLst/>
          </a:prstGeom>
          <a:solidFill>
            <a:srgbClr val="b2b2b2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 x 30s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Text Box 5"/>
          <p:cNvSpPr/>
          <p:nvPr/>
        </p:nvSpPr>
        <p:spPr>
          <a:xfrm>
            <a:off x="116280" y="4448160"/>
            <a:ext cx="784800" cy="490680"/>
          </a:xfrm>
          <a:prstGeom prst="rect">
            <a:avLst/>
          </a:prstGeom>
          <a:solidFill>
            <a:srgbClr val="b2b2b2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Récup </a:t>
            </a:r>
            <a:endParaRPr b="0" lang="en-US" sz="1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active 1</a:t>
            </a:r>
            <a:endParaRPr b="0" lang="en-US" sz="1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Text Box 6"/>
          <p:cNvSpPr/>
          <p:nvPr/>
        </p:nvSpPr>
        <p:spPr>
          <a:xfrm>
            <a:off x="116280" y="2421000"/>
            <a:ext cx="784800" cy="490680"/>
          </a:xfrm>
          <a:prstGeom prst="rect">
            <a:avLst/>
          </a:prstGeom>
          <a:solidFill>
            <a:srgbClr val="b2b2b2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Récup </a:t>
            </a:r>
            <a:endParaRPr b="0" lang="en-US" sz="1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active 2</a:t>
            </a:r>
            <a:endParaRPr b="0" lang="en-US" sz="1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Text Box 7"/>
          <p:cNvSpPr/>
          <p:nvPr/>
        </p:nvSpPr>
        <p:spPr>
          <a:xfrm>
            <a:off x="108000" y="5589720"/>
            <a:ext cx="792000" cy="490680"/>
          </a:xfrm>
          <a:prstGeom prst="rect">
            <a:avLst/>
          </a:prstGeom>
          <a:solidFill>
            <a:srgbClr val="b2b2b2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Série </a:t>
            </a:r>
            <a:endParaRPr b="0" lang="en-US" sz="1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sprints</a:t>
            </a:r>
            <a:endParaRPr b="0" lang="en-US" sz="13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Text Box 8"/>
          <p:cNvSpPr/>
          <p:nvPr/>
        </p:nvSpPr>
        <p:spPr>
          <a:xfrm>
            <a:off x="108000" y="3429000"/>
            <a:ext cx="792000" cy="520920"/>
          </a:xfrm>
          <a:prstGeom prst="rect">
            <a:avLst/>
          </a:prstGeom>
          <a:solidFill>
            <a:srgbClr val="b2b2b2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12 x 20m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Espace réservé du numéro de diapositive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230E208-C5DB-449D-9ED4-CF43CEDFB422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4" name="Picture 2" descr=""/>
          <p:cNvPicPr/>
          <p:nvPr/>
        </p:nvPicPr>
        <p:blipFill>
          <a:blip r:embed="rId1"/>
          <a:stretch/>
        </p:blipFill>
        <p:spPr>
          <a:xfrm>
            <a:off x="0" y="620640"/>
            <a:ext cx="4643280" cy="28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Box 3"/>
          <p:cNvSpPr/>
          <p:nvPr/>
        </p:nvSpPr>
        <p:spPr>
          <a:xfrm>
            <a:off x="4716360" y="2852640"/>
            <a:ext cx="37083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* Différence significative p &lt; 0.05 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Rectangle 4"/>
          <p:cNvSpPr/>
          <p:nvPr/>
        </p:nvSpPr>
        <p:spPr>
          <a:xfrm>
            <a:off x="0" y="44280"/>
            <a:ext cx="9144000" cy="581760"/>
          </a:xfrm>
          <a:prstGeom prst="rect">
            <a:avLst/>
          </a:prstGeom>
          <a:gradFill rotWithShape="0">
            <a:gsLst>
              <a:gs pos="0">
                <a:srgbClr val="969a17"/>
              </a:gs>
              <a:gs pos="50000">
                <a:srgbClr val="e3e822"/>
              </a:gs>
              <a:gs pos="100000">
                <a:srgbClr val="969a17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Arial"/>
              </a:rPr>
              <a:t>Évolution du </a:t>
            </a: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Arial"/>
              </a:rPr>
              <a:t> </a:t>
            </a: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Symbol"/>
                <a:ea typeface="Symbol"/>
              </a:rPr>
              <a:t></a:t>
            </a: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Arial"/>
              </a:rPr>
              <a:t> lactate </a:t>
            </a: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Symbol"/>
                <a:ea typeface="Symbol"/>
              </a:rPr>
              <a:t></a:t>
            </a:r>
            <a:r>
              <a:rPr b="1" lang="fr-FR" sz="3200" strike="noStrike" u="none">
                <a:solidFill>
                  <a:srgbClr val="282828"/>
                </a:solidFill>
                <a:effectLst/>
                <a:uFillTx/>
                <a:latin typeface="Arial"/>
              </a:rPr>
              <a:t>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Rectangle 5"/>
          <p:cNvSpPr/>
          <p:nvPr/>
        </p:nvSpPr>
        <p:spPr>
          <a:xfrm>
            <a:off x="250920" y="3153960"/>
            <a:ext cx="8893080" cy="40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 Unicode MS"/>
              </a:rPr>
              <a:t>A l’exercice: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90000"/>
              </a:lnSpc>
              <a:buClr>
                <a:srgbClr val="ffff00"/>
              </a:buClr>
              <a:buFont typeface="Arial Unicode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Les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-lactate les plus élevés </a:t>
            </a:r>
            <a:r>
              <a:rPr b="0" lang="fr-FR" sz="2800" strike="noStrike" u="none">
                <a:solidFill>
                  <a:srgbClr val="00ffff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l’exercice 6 x 30s et par la série de sprints.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90000"/>
              </a:lnSpc>
              <a:buClr>
                <a:srgbClr val="ffff00"/>
              </a:buClr>
              <a:buFont typeface="Arial Unicode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seulement 2.7±1.8 mM.L</a:t>
            </a:r>
            <a:r>
              <a:rPr b="0" lang="fr-FR" sz="2000" strike="noStrike" u="none" baseline="30000">
                <a:solidFill>
                  <a:srgbClr val="ffff00"/>
                </a:solidFill>
                <a:effectLst/>
                <a:uFillTx/>
                <a:latin typeface="Arial Unicode MS"/>
              </a:rPr>
              <a:t>-1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 </a:t>
            </a:r>
            <a:r>
              <a:rPr b="0" lang="fr-FR" sz="2800" strike="noStrike" u="none">
                <a:solidFill>
                  <a:srgbClr val="00ffff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par le 12 x 20m </a:t>
            </a:r>
            <a:r>
              <a:rPr b="0" lang="fr-FR" sz="2800" strike="noStrike" u="none">
                <a:solidFill>
                  <a:srgbClr val="00ffff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exercices supra max mais intermittents</a:t>
            </a:r>
            <a:r>
              <a:rPr b="1" lang="fr-FR" sz="28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</a:t>
            </a:r>
            <a:r>
              <a:rPr b="0" lang="fr-FR" sz="2800" strike="noStrike" u="none">
                <a:solidFill>
                  <a:srgbClr val="00ffff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0" lang="fr-FR" sz="2800" strike="noStrike" u="none">
                <a:solidFill>
                  <a:srgbClr val="00ffff"/>
                </a:solidFill>
                <a:effectLst/>
                <a:uFillTx/>
                <a:latin typeface="Arial Unicode MS"/>
              </a:rPr>
              <a:t>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composante aérobie importante.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00ffff"/>
                </a:solidFill>
                <a:effectLst/>
                <a:uFillTx/>
                <a:latin typeface="Arial Unicode MS"/>
              </a:rPr>
              <a:t>A la récupération active: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Les 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Symbol"/>
                <a:ea typeface="Symbol"/>
              </a:rPr>
              <a:t>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-lactate s’inversent au cours de la récupération active </a:t>
            </a:r>
            <a:r>
              <a:rPr b="0" lang="fr-FR" sz="2800" strike="noStrike" u="none">
                <a:solidFill>
                  <a:srgbClr val="00ffff"/>
                </a:solidFill>
                <a:effectLst/>
                <a:uFillTx/>
                <a:latin typeface="Wingdings 3"/>
                <a:ea typeface="Wingdings 3"/>
              </a:rPr>
              <a:t></a:t>
            </a: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Entre 85 et 95% du lactate produit sont métabolisés au cours des 10 min de  récupération active.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just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L’importance de ce métabolisme, témoigne indirectement de l’efficacité du  pouvoir oxydatif musculaire du sportif.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</a:t>
            </a:r>
            <a:r>
              <a:rPr b="1" i="1" lang="fr-FR" sz="1800" strike="noStrike" u="none">
                <a:solidFill>
                  <a:srgbClr val="ffffff"/>
                </a:solidFill>
                <a:effectLst/>
                <a:uFillTx/>
                <a:latin typeface="Arial Unicode MS"/>
              </a:rPr>
              <a:t>(Denadai B.S;  2004)</a:t>
            </a:r>
            <a:endParaRPr b="0" lang="en-US" sz="1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Text Box 6"/>
          <p:cNvSpPr/>
          <p:nvPr/>
        </p:nvSpPr>
        <p:spPr>
          <a:xfrm>
            <a:off x="3635280" y="2924280"/>
            <a:ext cx="57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282828"/>
                </a:solidFill>
                <a:effectLst/>
                <a:uFillTx/>
                <a:latin typeface="Arial Unicode MS"/>
              </a:rPr>
              <a:t>*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Text Box 7"/>
          <p:cNvSpPr/>
          <p:nvPr/>
        </p:nvSpPr>
        <p:spPr>
          <a:xfrm>
            <a:off x="2050920" y="2492280"/>
            <a:ext cx="57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282828"/>
                </a:solidFill>
                <a:effectLst/>
                <a:uFillTx/>
                <a:latin typeface="Arial Unicode MS"/>
              </a:rPr>
              <a:t>*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Text Box 8"/>
          <p:cNvSpPr/>
          <p:nvPr/>
        </p:nvSpPr>
        <p:spPr>
          <a:xfrm>
            <a:off x="4067280" y="1125360"/>
            <a:ext cx="576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282828"/>
                </a:solidFill>
                <a:effectLst/>
                <a:uFillTx/>
                <a:latin typeface="Arial Unicode MS"/>
              </a:rPr>
              <a:t>*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Text Box 9"/>
          <p:cNvSpPr/>
          <p:nvPr/>
        </p:nvSpPr>
        <p:spPr>
          <a:xfrm>
            <a:off x="2700360" y="1971720"/>
            <a:ext cx="576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282828"/>
                </a:solidFill>
                <a:effectLst/>
                <a:uFillTx/>
                <a:latin typeface="Arial Unicode MS"/>
              </a:rPr>
              <a:t>*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Text Box 10"/>
          <p:cNvSpPr/>
          <p:nvPr/>
        </p:nvSpPr>
        <p:spPr>
          <a:xfrm>
            <a:off x="2195640" y="1557360"/>
            <a:ext cx="576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1400" strike="noStrike" u="none">
                <a:solidFill>
                  <a:srgbClr val="282828"/>
                </a:solidFill>
                <a:effectLst/>
                <a:uFillTx/>
                <a:latin typeface="Arial Unicode MS"/>
              </a:rPr>
              <a:t>*</a:t>
            </a:r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Text Box 11"/>
          <p:cNvSpPr/>
          <p:nvPr/>
        </p:nvSpPr>
        <p:spPr>
          <a:xfrm>
            <a:off x="4678200" y="981000"/>
            <a:ext cx="4465800" cy="171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20000"/>
              </a:lnSpc>
              <a:spcBef>
                <a:spcPts val="1250"/>
              </a:spcBef>
              <a:buClr>
                <a:srgbClr val="e3e822"/>
              </a:buClr>
              <a:buFont typeface="Symbol" charset="2"/>
              <a:buChar char="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FR" sz="2000" strike="noStrike" u="none">
                <a:solidFill>
                  <a:srgbClr val="e3e822"/>
                </a:solidFill>
                <a:effectLst/>
                <a:uFillTx/>
                <a:latin typeface="Arial"/>
                <a:ea typeface="Arial"/>
              </a:rPr>
              <a:t> positif pour la série de sprint, pour le 12 x 20m et pour le 6x 30s.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20000"/>
              </a:lnSpc>
              <a:spcBef>
                <a:spcPts val="1250"/>
              </a:spcBef>
              <a:buClr>
                <a:srgbClr val="ffff00"/>
              </a:buClr>
              <a:buFont typeface="Symbol" charset="2"/>
              <a:buChar char="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Arial Unicode MS"/>
              </a:rPr>
              <a:t> </a:t>
            </a:r>
            <a:r>
              <a:rPr b="0" lang="fr-FR" sz="2000" strike="noStrike" u="none">
                <a:solidFill>
                  <a:srgbClr val="e3e822"/>
                </a:solidFill>
                <a:effectLst/>
                <a:uFillTx/>
                <a:latin typeface="Arial Unicode MS"/>
              </a:rPr>
              <a:t>négatif pour les récupérations actives.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8" dur="indefinite" restart="never" nodeType="tmRoot">
          <p:childTnLst>
            <p:seq>
              <p:cTn id="699" dur="indefinite" nodeType="mainSeq">
                <p:childTnLst>
                  <p:par>
                    <p:cTn id="700" nodeType="clickEffect" fill="hold">
                      <p:stCondLst>
                        <p:cond delay="0"/>
                      </p:stCondLst>
                      <p:childTnLst>
                        <p:par>
                          <p:cTn id="70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2" nodeType="withEffect" fill="hold" presetClass="entr" presetID="7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4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5" dur="5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6" nodeType="clickEffect" fill="hold">
                      <p:stCondLst>
                        <p:cond delay="indefinite"/>
                      </p:stCondLst>
                      <p:childTnLst>
                        <p:par>
                          <p:cTn id="70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0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0" dur="500"/>
                                        <p:tgtEl>
                                          <p:spTgt spid="4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1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12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4" dur="3000"/>
                                        <p:tgtEl>
                                          <p:spTgt spid="4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5" nodeType="clickEffect" fill="hold">
                      <p:stCondLst>
                        <p:cond delay="indefinite"/>
                      </p:stCondLst>
                      <p:childTnLst>
                        <p:par>
                          <p:cTn id="716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17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9" dur="3000"/>
                                        <p:tgtEl>
                                          <p:spTgt spid="4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0" nodeType="clickEffect" fill="hold">
                      <p:stCondLst>
                        <p:cond delay="indefinite"/>
                      </p:stCondLst>
                      <p:childTnLst>
                        <p:par>
                          <p:cTn id="721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22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24" dur="500"/>
                                        <p:tgtEl>
                                          <p:spTgt spid="4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5" nodeType="afterEffect" fill="hold">
                            <p:stCondLst>
                              <p:cond delay="500"/>
                            </p:stCondLst>
                            <p:childTnLst>
                              <p:par>
                                <p:cTn id="726" nodeType="after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28" dur="1000"/>
                                        <p:tgtEl>
                                          <p:spTgt spid="4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9" nodeType="clickEffect" fill="hold">
                      <p:stCondLst>
                        <p:cond delay="indefinite"/>
                      </p:stCondLst>
                      <p:childTnLst>
                        <p:par>
                          <p:cTn id="73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1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33" dur="1000"/>
                                        <p:tgtEl>
                                          <p:spTgt spid="4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6AA64B-3621-477A-933C-5FA9882ABBDB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Rectangle 2"/>
          <p:cNvSpPr/>
          <p:nvPr/>
        </p:nvSpPr>
        <p:spPr>
          <a:xfrm>
            <a:off x="0" y="1404000"/>
            <a:ext cx="9144000" cy="427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 algn="just"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fr-FR" sz="28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Au plan physiologique, la meilleure aptitude du joueur de sport collectif dépend à la fois de ses possibilités de produire beaucoup de lactate (2 molécules de lactate = 3 ATP) au cours d’un exercice court et intense et de ses capacités à l’utiliser pendant les temps de récupération (pouvoir oxydatif musculaire). </a:t>
            </a:r>
            <a:endParaRPr b="0" lang="en-US" sz="28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Rectangle 3"/>
          <p:cNvSpPr/>
          <p:nvPr/>
        </p:nvSpPr>
        <p:spPr>
          <a:xfrm>
            <a:off x="0" y="409680"/>
            <a:ext cx="9144000" cy="581760"/>
          </a:xfrm>
          <a:prstGeom prst="rect">
            <a:avLst/>
          </a:prstGeom>
          <a:gradFill rotWithShape="0">
            <a:gsLst>
              <a:gs pos="0">
                <a:srgbClr val="aeb11a"/>
              </a:gs>
              <a:gs pos="50000">
                <a:srgbClr val="e3e822"/>
              </a:gs>
              <a:gs pos="100000">
                <a:srgbClr val="aeb11a"/>
              </a:gs>
            </a:gsLst>
            <a:lin ang="5400000"/>
          </a:gradFill>
          <a:ln w="9360">
            <a:solidFill>
              <a:srgbClr val="3333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3200" strike="noStrike" u="none">
                <a:solidFill>
                  <a:srgbClr val="000000"/>
                </a:solidFill>
                <a:effectLst/>
                <a:uFillTx/>
                <a:latin typeface="Bookman Old Style"/>
              </a:rPr>
              <a:t>Le lactate </a:t>
            </a:r>
            <a:endParaRPr b="0" lang="en-US" sz="32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EF7A42-08AD-4BF2-9834-F0FB22D78F60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Text Box 4"/>
          <p:cNvSpPr/>
          <p:nvPr/>
        </p:nvSpPr>
        <p:spPr>
          <a:xfrm>
            <a:off x="3187080" y="189000"/>
            <a:ext cx="2314440" cy="459720"/>
          </a:xfrm>
          <a:prstGeom prst="rect">
            <a:avLst/>
          </a:prstGeom>
          <a:noFill/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CONCLUSION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Text Box 5"/>
          <p:cNvSpPr/>
          <p:nvPr/>
        </p:nvSpPr>
        <p:spPr>
          <a:xfrm>
            <a:off x="295200" y="1144440"/>
            <a:ext cx="89222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Malgré les critiques et les limites doser le lactate peut 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4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présenter de l’intérêt pour :</a:t>
            </a:r>
            <a:endParaRPr b="0" lang="en-US" sz="2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Text Box 6"/>
          <p:cNvSpPr/>
          <p:nvPr/>
        </p:nvSpPr>
        <p:spPr>
          <a:xfrm>
            <a:off x="297360" y="2319480"/>
            <a:ext cx="7963560" cy="180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1) Établir des cinétiques lactate-% PAM? VAM ou VO2max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 au cours du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suivi de l’entraînement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afin de rendre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 indirectement compte du développement du pouvoir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 oxydatif musculaire.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Text Box 8"/>
          <p:cNvSpPr/>
          <p:nvPr/>
        </p:nvSpPr>
        <p:spPr>
          <a:xfrm>
            <a:off x="265320" y="4284720"/>
            <a:ext cx="7968600" cy="94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2) Contribuer à détecter le surentraînement (baisse du pic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 lactate post exercice maximal). 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Text Box 9"/>
          <p:cNvSpPr/>
          <p:nvPr/>
        </p:nvSpPr>
        <p:spPr>
          <a:xfrm>
            <a:off x="321120" y="5581800"/>
            <a:ext cx="7744680" cy="94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3) Contribuer à établir un profil métabolique permettant 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4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   un meilleur </a:t>
            </a:r>
            <a:r>
              <a:rPr b="1" lang="fr-FR" sz="2000" strike="noStrike" u="none">
                <a:solidFill>
                  <a:srgbClr val="ffffff"/>
                </a:solidFill>
                <a:effectLst/>
                <a:uFillTx/>
                <a:latin typeface="Bookman Old Style"/>
              </a:rPr>
              <a:t>contrôle biologique</a:t>
            </a:r>
            <a:r>
              <a:rPr b="1" lang="fr-FR" sz="2000" strike="noStrike" u="none">
                <a:solidFill>
                  <a:srgbClr val="ffff00"/>
                </a:solidFill>
                <a:effectLst/>
                <a:uFillTx/>
                <a:latin typeface="Bookman Old Style"/>
              </a:rPr>
              <a:t> de l’entraînement.</a:t>
            </a:r>
            <a:endParaRPr b="0" lang="en-US" sz="20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4" dur="indefinite" restart="never" nodeType="tmRoot">
          <p:childTnLst>
            <p:seq>
              <p:cTn id="735" dur="indefinite" nodeType="mainSeq">
                <p:childTnLst>
                  <p:par>
                    <p:cTn id="736" nodeType="clickEffect" fill="hold">
                      <p:stCondLst>
                        <p:cond delay="indefinite"/>
                      </p:stCondLst>
                      <p:childTnLst>
                        <p:par>
                          <p:cTn id="73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3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40" dur="20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1" nodeType="clickEffect" fill="hold">
                      <p:stCondLst>
                        <p:cond delay="indefinite"/>
                      </p:stCondLst>
                      <p:childTnLst>
                        <p:par>
                          <p:cTn id="74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45" dur="2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6" nodeType="clickEffect" fill="hold">
                      <p:stCondLst>
                        <p:cond delay="indefinite"/>
                      </p:stCondLst>
                      <p:childTnLst>
                        <p:par>
                          <p:cTn id="747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48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0" dur="10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1" nodeType="clickEffect" fill="hold">
                      <p:stCondLst>
                        <p:cond delay="indefinite"/>
                      </p:stCondLst>
                      <p:childTnLst>
                        <p:par>
                          <p:cTn id="75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53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55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Espace réservé du numéro de diapositive 3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6276373-ADDE-44E8-988C-389F3B830BDF}" type="slidenum">
              <a:rPr b="0" lang="fr-FR" sz="1400" strike="noStrike" u="none">
                <a:solidFill>
                  <a:srgbClr val="ffff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Text Box 2"/>
          <p:cNvSpPr/>
          <p:nvPr/>
        </p:nvSpPr>
        <p:spPr>
          <a:xfrm>
            <a:off x="533520" y="1430280"/>
            <a:ext cx="8001000" cy="20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MERCI POUR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  <a:p>
            <a:pPr algn="ctr">
              <a:lnSpc>
                <a:spcPct val="8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s-CL" sz="3600" strike="noStrike" u="none">
                <a:solidFill>
                  <a:srgbClr val="ffff00"/>
                </a:solidFill>
                <a:effectLst/>
                <a:uFillTx/>
                <a:latin typeface="Arial"/>
              </a:rPr>
              <a:t>    VOTRE ATTENTION</a:t>
            </a:r>
            <a:endParaRPr b="0" lang="en-US" sz="3600" strike="noStrike" u="none">
              <a:solidFill>
                <a:srgbClr val="ffff00"/>
              </a:solidFill>
              <a:effectLst/>
              <a:uFillTx/>
              <a:latin typeface="Times New Roman"/>
            </a:endParaRPr>
          </a:p>
        </p:txBody>
      </p:sp>
    </p:spTree>
  </p:cSld>
  <p:transition spd="slow">
    <p:dissolve/>
  </p:transition>
  <p:timing>
    <p:tnLst>
      <p:par>
        <p:cTn id="756" dur="indefinite" restart="never" nodeType="tmRoot">
          <p:childTnLst>
            <p:seq>
              <p:cTn id="757" dur="indefinite" nodeType="mainSeq">
                <p:childTnLst>
                  <p:par>
                    <p:cTn id="758" nodeType="clickEffect" fill="hold">
                      <p:stCondLst>
                        <p:cond delay="0"/>
                      </p:stCondLst>
                      <p:childTnLst>
                        <p:par>
                          <p:cTn id="759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760" nodeType="afterEffect" fill="hold" presetClass="entr" presetID="23" presetSubtype="32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62" dur="3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763" dur="300" fill="hold"/>
                                        <p:tgtEl>
                                          <p:spTgt spid="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4763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1999-06-04T05:54:24Z</dcterms:created>
  <dc:creator>Cazorla</dc:creator>
  <dc:description/>
  <dc:language>en-US</dc:language>
  <cp:lastModifiedBy>Georges Caz</cp:lastModifiedBy>
  <cp:lastPrinted>2000-05-19T08:25:17Z</cp:lastPrinted>
  <dcterms:modified xsi:type="dcterms:W3CDTF">2013-06-18T13:38:21Z</dcterms:modified>
  <cp:revision>78</cp:revision>
  <dc:subject/>
  <dc:title>Aucun titre de diapositive</dc:title>
</cp:coreProperties>
</file>