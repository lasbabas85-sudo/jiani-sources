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8.png" ContentType="image/png"/>
  <Override PartName="/ppt/media/image3.gif" ContentType="image/gif"/>
  <Override PartName="/ppt/media/image27.png" ContentType="image/png"/>
  <Override PartName="/ppt/media/image21.jpeg" ContentType="image/jpeg"/>
  <Override PartName="/ppt/media/image24.gif" ContentType="image/gif"/>
  <Override PartName="/ppt/media/image29.png" ContentType="image/png"/>
  <Override PartName="/ppt/media/image5.wmf" ContentType="image/x-wmf"/>
  <Override PartName="/ppt/media/image31.png" ContentType="image/png"/>
  <Override PartName="/ppt/media/image1.png" ContentType="image/png"/>
  <Override PartName="/ppt/media/image33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30.png" ContentType="image/png"/>
  <Override PartName="/ppt/media/image32.png" ContentType="image/png"/>
  <Override PartName="/ppt/media/image34.wmf" ContentType="image/x-wmf"/>
  <Override PartName="/ppt/media/image14.png" ContentType="image/png"/>
  <Override PartName="/ppt/media/image25.png" ContentType="image/png"/>
  <Override PartName="/ppt/media/image6.wmf" ContentType="image/x-wmf"/>
  <Override PartName="/ppt/media/image4.jpeg" ContentType="image/jpe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2.gif" ContentType="image/gif"/>
  <Override PartName="/ppt/media/image15.png" ContentType="image/png"/>
  <Override PartName="/ppt/media/image17.wmf" ContentType="image/x-wmf"/>
  <Override PartName="/ppt/media/image18.jpeg" ContentType="image/jpeg"/>
  <Override PartName="/ppt/media/image26.png" ContentType="image/png"/>
  <Override PartName="/ppt/media/image19.wmf" ContentType="image/x-wmf"/>
  <Override PartName="/ppt/media/image10.png" ContentType="image/png"/>
  <Override PartName="/ppt/media/image23.jpeg" ContentType="image/jpeg"/>
  <Override PartName="/ppt/embeddings/oleObject1.docx" ContentType="application/vnd.openxmlformats-officedocument.wordprocessingml.document"/>
  <Override PartName="/ppt/slides/_rels/slide119.xml.rels" ContentType="application/vnd.openxmlformats-package.relationships+xml"/>
  <Override PartName="/ppt/slides/_rels/slide118.xml.rels" ContentType="application/vnd.openxmlformats-package.relationships+xml"/>
  <Override PartName="/ppt/slides/_rels/slide128.xml.rels" ContentType="application/vnd.openxmlformats-package.relationships+xml"/>
  <Override PartName="/ppt/slides/_rels/slide37.xml.rels" ContentType="application/vnd.openxmlformats-package.relationships+xml"/>
  <Override PartName="/ppt/slides/_rels/slide115.xml.rels" ContentType="application/vnd.openxmlformats-package.relationships+xml"/>
  <Override PartName="/ppt/slides/_rels/slide51.xml.rels" ContentType="application/vnd.openxmlformats-package.relationships+xml"/>
  <Override PartName="/ppt/slides/_rels/slide108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105.xml.rels" ContentType="application/vnd.openxmlformats-package.relationships+xml"/>
  <Override PartName="/ppt/slides/_rels/slide40.xml.rels" ContentType="application/vnd.openxmlformats-package.relationships+xml"/>
  <Override PartName="/ppt/slides/_rels/slide107.xml.rels" ContentType="application/vnd.openxmlformats-package.relationships+xml"/>
  <Override PartName="/ppt/slides/_rels/slide125.xml.rels" ContentType="application/vnd.openxmlformats-package.relationships+xml"/>
  <Override PartName="/ppt/slides/_rels/slide47.xml.rels" ContentType="application/vnd.openxmlformats-package.relationships+xml"/>
  <Override PartName="/ppt/slides/_rels/slide56.xml.rels" ContentType="application/vnd.openxmlformats-package.relationships+xml"/>
  <Override PartName="/ppt/slides/_rels/slide101.xml.rels" ContentType="application/vnd.openxmlformats-package.relationships+xml"/>
  <Override PartName="/ppt/slides/_rels/slide10.xml.rels" ContentType="application/vnd.openxmlformats-package.relationships+xml"/>
  <Override PartName="/ppt/slides/_rels/slide54.xml.rels" ContentType="application/vnd.openxmlformats-package.relationships+xml"/>
  <Override PartName="/ppt/slides/_rels/slide29.xml.rels" ContentType="application/vnd.openxmlformats-package.relationships+xml"/>
  <Override PartName="/ppt/slides/_rels/slide97.xml.rels" ContentType="application/vnd.openxmlformats-package.relationships+xml"/>
  <Override PartName="/ppt/slides/_rels/slide4.xml.rels" ContentType="application/vnd.openxmlformats-package.relationships+xml"/>
  <Override PartName="/ppt/slides/_rels/slide109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94.xml.rels" ContentType="application/vnd.openxmlformats-package.relationships+xml"/>
  <Override PartName="/ppt/slides/_rels/slide26.xml.rels" ContentType="application/vnd.openxmlformats-package.relationships+xml"/>
  <Override PartName="/ppt/slides/_rels/slide23.xml.rels" ContentType="application/vnd.openxmlformats-package.relationships+xml"/>
  <Override PartName="/ppt/slides/_rels/slide91.xml.rels" ContentType="application/vnd.openxmlformats-package.relationships+xml"/>
  <Override PartName="/ppt/slides/_rels/slide9.xml.rels" ContentType="application/vnd.openxmlformats-package.relationships+xml"/>
  <Override PartName="/ppt/slides/_rels/slide55.xml.rels" ContentType="application/vnd.openxmlformats-package.relationships+xml"/>
  <Override PartName="/ppt/slides/_rels/slide100.xml.rels" ContentType="application/vnd.openxmlformats-package.relationships+xml"/>
  <Override PartName="/ppt/slides/_rels/slide46.xml.rels" ContentType="application/vnd.openxmlformats-package.relationships+xml"/>
  <Override PartName="/ppt/slides/_rels/slide8.xml.rels" ContentType="application/vnd.openxmlformats-package.relationships+xml"/>
  <Override PartName="/ppt/slides/_rels/slide45.xml.rels" ContentType="application/vnd.openxmlformats-package.relationships+xml"/>
  <Override PartName="/ppt/slides/_rels/slide99.xml.rels" ContentType="application/vnd.openxmlformats-package.relationships+xml"/>
  <Override PartName="/ppt/slides/_rels/slide6.xml.rels" ContentType="application/vnd.openxmlformats-package.relationships+xml"/>
  <Override PartName="/ppt/slides/_rels/slide126.xml.rels" ContentType="application/vnd.openxmlformats-package.relationships+xml"/>
  <Override PartName="/ppt/slides/_rels/slide48.xml.rels" ContentType="application/vnd.openxmlformats-package.relationships+xml"/>
  <Override PartName="/ppt/slides/_rels/slide84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57.xml.rels" ContentType="application/vnd.openxmlformats-package.relationships+xml"/>
  <Override PartName="/ppt/slides/_rels/slide102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11.xml.rels" ContentType="application/vnd.openxmlformats-package.relationships+xml"/>
  <Override PartName="/ppt/slides/_rels/slide22.xml.rels" ContentType="application/vnd.openxmlformats-package.relationships+xml"/>
  <Override PartName="/ppt/slides/_rels/slide90.xml.rels" ContentType="application/vnd.openxmlformats-package.relationships+xml"/>
  <Override PartName="/ppt/slides/_rels/slide7.xml.rels" ContentType="application/vnd.openxmlformats-package.relationships+xml"/>
  <Override PartName="/ppt/slides/_rels/slide98.xml.rels" ContentType="application/vnd.openxmlformats-package.relationships+xml"/>
  <Override PartName="/ppt/slides/_rels/slide5.xml.rels" ContentType="application/vnd.openxmlformats-package.relationships+xml"/>
  <Override PartName="/ppt/slides/_rels/slide8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127.xml.rels" ContentType="application/vnd.openxmlformats-package.relationships+xml"/>
  <Override PartName="/ppt/slides/_rels/slide21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36.xml.rels" ContentType="application/vnd.openxmlformats-package.relationships+xml"/>
  <Override PartName="/ppt/slides/_rels/slide31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116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32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117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0.xml.rels" ContentType="application/vnd.openxmlformats-package.relationships+xml"/>
  <Override PartName="/ppt/slides/_rels/slide104.xml.rels" ContentType="application/vnd.openxmlformats-package.relationships+xml"/>
  <Override PartName="/ppt/slides/_rels/slide59.xml.rels" ContentType="application/vnd.openxmlformats-package.relationships+xml"/>
  <Override PartName="/ppt/slides/_rels/slide83.xml.rels" ContentType="application/vnd.openxmlformats-package.relationships+xml"/>
  <Override PartName="/ppt/slides/_rels/slide15.xml.rels" ContentType="application/vnd.openxmlformats-package.relationships+xml"/>
  <Override PartName="/ppt/slides/_rels/slide80.xml.rels" ContentType="application/vnd.openxmlformats-package.relationships+xml"/>
  <Override PartName="/ppt/slides/_rels/slide12.xml.rels" ContentType="application/vnd.openxmlformats-package.relationships+xml"/>
  <Override PartName="/ppt/slides/_rels/slide82.xml.rels" ContentType="application/vnd.openxmlformats-package.relationships+xml"/>
  <Override PartName="/ppt/slides/_rels/slide14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25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111.xml.rels" ContentType="application/vnd.openxmlformats-package.relationships+xml"/>
  <Override PartName="/ppt/slides/_rels/slide66.xml.rels" ContentType="application/vnd.openxmlformats-package.relationships+xml"/>
  <Override PartName="/ppt/slides/_rels/slide112.xml.rels" ContentType="application/vnd.openxmlformats-package.relationships+xml"/>
  <Override PartName="/ppt/slides/_rels/slide67.xml.rels" ContentType="application/vnd.openxmlformats-package.relationships+xml"/>
  <Override PartName="/ppt/slides/_rels/slide113.xml.rels" ContentType="application/vnd.openxmlformats-package.relationships+xml"/>
  <Override PartName="/ppt/slides/_rels/slide68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_rels/slide122.xml.rels" ContentType="application/vnd.openxmlformats-package.relationships+xml"/>
  <Override PartName="/ppt/slides/_rels/slide77.xml.rels" ContentType="application/vnd.openxmlformats-package.relationships+xml"/>
  <Override PartName="/ppt/slides/_rels/slide123.xml.rels" ContentType="application/vnd.openxmlformats-package.relationships+xml"/>
  <Override PartName="/ppt/slides/_rels/slide78.xml.rels" ContentType="application/vnd.openxmlformats-package.relationships+xml"/>
  <Override PartName="/ppt/slides/_rels/slide124.xml.rels" ContentType="application/vnd.openxmlformats-package.relationships+xml"/>
  <Override PartName="/ppt/slides/_rels/slide79.xml.rels" ContentType="application/vnd.openxmlformats-package.relationships+xml"/>
  <Override PartName="/ppt/slides/_rels/slide17.xml.rels" ContentType="application/vnd.openxmlformats-package.relationships+xml"/>
  <Override PartName="/ppt/slides/_rels/slide85.xml.rels" ContentType="application/vnd.openxmlformats-package.relationships+xml"/>
  <Override PartName="/ppt/slides/_rels/slide18.xml.rels" ContentType="application/vnd.openxmlformats-package.relationships+xml"/>
  <Override PartName="/ppt/slides/_rels/slide86.xml.rels" ContentType="application/vnd.openxmlformats-package.relationships+xml"/>
  <Override PartName="/ppt/slides/_rels/slide19.xml.rels" ContentType="application/vnd.openxmlformats-package.relationships+xml"/>
  <Override PartName="/ppt/slides/_rels/slide87.xml.rels" ContentType="application/vnd.openxmlformats-package.relationships+xml"/>
  <Override PartName="/ppt/slides/_rels/slide88.xml.rels" ContentType="application/vnd.openxmlformats-package.relationships+xml"/>
  <Override PartName="/ppt/slides/_rels/slide89.xml.rels" ContentType="application/vnd.openxmlformats-package.relationships+xml"/>
  <Override PartName="/ppt/slides/slide127.xml" ContentType="application/vnd.openxmlformats-officedocument.presentationml.slide+xml"/>
  <Override PartName="/ppt/slides/slide12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98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99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45.xml" ContentType="application/vnd.openxmlformats-officedocument.presentationml.slide+xml"/>
  <Override PartName="/ppt/slides/slide51.xml" ContentType="application/vnd.openxmlformats-officedocument.presentationml.slide+xml"/>
  <Override PartName="/ppt/slides/slide129.xml" ContentType="application/vnd.openxmlformats-officedocument.presentationml.slide+xml"/>
  <Override PartName="/ppt/slides/slide100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0.xml" ContentType="application/vnd.openxmlformats-officedocument.presentationml.slide+xml"/>
  <Override PartName="/ppt/slides/slide128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105.xml" ContentType="application/vnd.openxmlformats-officedocument.presentationml.slide+xml"/>
  <Override PartName="/ppt/slides/slide59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90.xml" ContentType="application/vnd.openxmlformats-officedocument.presentationml.slide+xml"/>
  <Override PartName="/ppt/slides/slide22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93.xml" ContentType="application/vnd.openxmlformats-officedocument.presentationml.slide+xml"/>
  <Override PartName="/ppt/slides/slide97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9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110.xml" ContentType="application/vnd.openxmlformats-officedocument.presentationml.slide+xml"/>
  <Override PartName="/ppt/slides/slide65.xml" ContentType="application/vnd.openxmlformats-officedocument.presentationml.slide+xml"/>
  <Override PartName="/ppt/slides/slide111.xml" ContentType="application/vnd.openxmlformats-officedocument.presentationml.slide+xml"/>
  <Override PartName="/ppt/slides/slide66.xml" ContentType="application/vnd.openxmlformats-officedocument.presentationml.slide+xml"/>
  <Override PartName="/ppt/slides/slide112.xml" ContentType="application/vnd.openxmlformats-officedocument.presentationml.slide+xml"/>
  <Override PartName="/ppt/slides/slide67.xml" ContentType="application/vnd.openxmlformats-officedocument.presentationml.slide+xml"/>
  <Override PartName="/ppt/slides/slide113.xml" ContentType="application/vnd.openxmlformats-officedocument.presentationml.slide+xml"/>
  <Override PartName="/ppt/slides/slide68.xml" ContentType="application/vnd.openxmlformats-officedocument.presentationml.slide+xml"/>
  <Override PartName="/ppt/slides/slide114.xml" ContentType="application/vnd.openxmlformats-officedocument.presentationml.slide+xml"/>
  <Override PartName="/ppt/slides/slide69.xml" ContentType="application/vnd.openxmlformats-officedocument.presentationml.slide+xml"/>
  <Override PartName="/ppt/slides/slide115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120.xml" ContentType="application/vnd.openxmlformats-officedocument.presentationml.slide+xml"/>
  <Override PartName="/ppt/slides/slide75.xml" ContentType="application/vnd.openxmlformats-officedocument.presentationml.slide+xml"/>
  <Override PartName="/ppt/slides/slide121.xml" ContentType="application/vnd.openxmlformats-officedocument.presentationml.slide+xml"/>
  <Override PartName="/ppt/slides/slide76.xml" ContentType="application/vnd.openxmlformats-officedocument.presentationml.slide+xml"/>
  <Override PartName="/ppt/slides/slide122.xml" ContentType="application/vnd.openxmlformats-officedocument.presentationml.slide+xml"/>
  <Override PartName="/ppt/slides/slide77.xml" ContentType="application/vnd.openxmlformats-officedocument.presentationml.slide+xml"/>
  <Override PartName="/ppt/slides/slide123.xml" ContentType="application/vnd.openxmlformats-officedocument.presentationml.slide+xml"/>
  <Override PartName="/ppt/slides/slide78.xml" ContentType="application/vnd.openxmlformats-officedocument.presentationml.slide+xml"/>
  <Override PartName="/ppt/slides/slide124.xml" ContentType="application/vnd.openxmlformats-officedocument.presentationml.slide+xml"/>
  <Override PartName="/ppt/slides/slide79.xml" ContentType="application/vnd.openxmlformats-officedocument.presentationml.slide+xml"/>
  <Override PartName="/ppt/slides/slide125.xml" ContentType="application/vnd.openxmlformats-officedocument.presentationml.slide+xml"/>
  <Override PartName="/ppt/slides/slide17.xml" ContentType="application/vnd.openxmlformats-officedocument.presentationml.slide+xml"/>
  <Override PartName="/ppt/slides/slide85.xml" ContentType="application/vnd.openxmlformats-officedocument.presentationml.slide+xml"/>
  <Override PartName="/ppt/slides/slide18.xml" ContentType="application/vnd.openxmlformats-officedocument.presentationml.slide+xml"/>
  <Override PartName="/ppt/slides/slide86.xml" ContentType="application/vnd.openxmlformats-officedocument.presentationml.slide+xml"/>
  <Override PartName="/ppt/slides/slide19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27.xml" ContentType="application/vnd.openxmlformats-officedocument.presentationml.slide+xml"/>
  <Override PartName="/ppt/slides/slide9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Slides/_rels/notesSlide3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26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7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9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move the slide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0821C2-8C4B-4E93-93B2-8CCCC732180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126.xml.rels><?xml version="1.0" encoding="UTF-8"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
</Relationships>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7E24A6-668B-45BE-A6C9-2CADB078D770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Rectangle 6"/>
          <p:cNvSpPr/>
          <p:nvPr/>
        </p:nvSpPr>
        <p:spPr>
          <a:xfrm>
            <a:off x="388620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Rectangle 7"/>
          <p:cNvSpPr/>
          <p:nvPr/>
        </p:nvSpPr>
        <p:spPr>
          <a:xfrm>
            <a:off x="388620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Rectangle 8"/>
          <p:cNvSpPr/>
          <p:nvPr/>
        </p:nvSpPr>
        <p:spPr>
          <a:xfrm>
            <a:off x="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Rectangle 9"/>
          <p:cNvSpPr/>
          <p:nvPr/>
        </p:nvSpPr>
        <p:spPr>
          <a:xfrm>
            <a:off x="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1943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BE9BCB-CD7B-48A4-8C5F-9C5D6C3AC04D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Rectangle 6"/>
          <p:cNvSpPr/>
          <p:nvPr/>
        </p:nvSpPr>
        <p:spPr>
          <a:xfrm>
            <a:off x="388620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Rectangle 7"/>
          <p:cNvSpPr/>
          <p:nvPr/>
        </p:nvSpPr>
        <p:spPr>
          <a:xfrm>
            <a:off x="388620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Rectangle 8"/>
          <p:cNvSpPr/>
          <p:nvPr/>
        </p:nvSpPr>
        <p:spPr>
          <a:xfrm>
            <a:off x="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Rectangle 9"/>
          <p:cNvSpPr/>
          <p:nvPr/>
        </p:nvSpPr>
        <p:spPr>
          <a:xfrm>
            <a:off x="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1954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34AA67-AE7D-441C-9F11-5B7AF0FA02EA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Rectangle 2"/>
          <p:cNvSpPr/>
          <p:nvPr/>
        </p:nvSpPr>
        <p:spPr>
          <a:xfrm>
            <a:off x="388620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Rectangle 5"/>
          <p:cNvSpPr/>
          <p:nvPr/>
        </p:nvSpPr>
        <p:spPr>
          <a:xfrm>
            <a:off x="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Rectangle 6"/>
          <p:cNvSpPr/>
          <p:nvPr/>
        </p:nvSpPr>
        <p:spPr>
          <a:xfrm>
            <a:off x="3886200" y="324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Rectangle 7"/>
          <p:cNvSpPr/>
          <p:nvPr/>
        </p:nvSpPr>
        <p:spPr>
          <a:xfrm>
            <a:off x="3886200" y="8702640"/>
            <a:ext cx="2971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Rectangle 8"/>
          <p:cNvSpPr/>
          <p:nvPr/>
        </p:nvSpPr>
        <p:spPr>
          <a:xfrm>
            <a:off x="0" y="8702640"/>
            <a:ext cx="2971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Rectangle 9"/>
          <p:cNvSpPr/>
          <p:nvPr/>
        </p:nvSpPr>
        <p:spPr>
          <a:xfrm>
            <a:off x="0" y="324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PlaceHolder 1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  <p:sp>
        <p:nvSpPr>
          <p:cNvPr id="1965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4205BC-EAB7-4773-86B2-D4029C7CC0E4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Rectangle 2"/>
          <p:cNvSpPr/>
          <p:nvPr/>
        </p:nvSpPr>
        <p:spPr>
          <a:xfrm>
            <a:off x="388620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18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Rectangle 5"/>
          <p:cNvSpPr/>
          <p:nvPr/>
        </p:nvSpPr>
        <p:spPr>
          <a:xfrm>
            <a:off x="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2DBA8B-0DBB-472C-86D1-232656D06D4C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16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7A0F74-762B-40F3-B0E9-9866E06A652E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17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F27D78-33AF-48B7-934D-F7CEE340581F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20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4B1A4E-FD64-4831-A5AC-765240CDC927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2000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ECE39B-D4E9-4614-9443-304F28EE9AA9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7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2007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6FDAD4-82DE-43A1-9844-0E77E626A245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6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6FFF01-1AEC-468D-8537-AE3DF480B4C3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8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4073F0-41CD-434E-84D0-CF8415462FBC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Rectangle 2"/>
          <p:cNvSpPr/>
          <p:nvPr/>
        </p:nvSpPr>
        <p:spPr>
          <a:xfrm>
            <a:off x="388620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9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Rectangle 5"/>
          <p:cNvSpPr/>
          <p:nvPr/>
        </p:nvSpPr>
        <p:spPr>
          <a:xfrm>
            <a:off x="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0E3E58-5C72-4F11-8EFA-F4170B470AF0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PlaceHolder 1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  <p:sp>
        <p:nvSpPr>
          <p:cNvPr id="2031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7669C9-560D-442A-A90E-DB7B71FCBA43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ACBF7A-8F93-4FBB-9193-3613EB2C46EA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B6FEC0-EC39-49DF-9A28-7A5A5903519A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3BAB72-F5DB-4599-8AB2-12EF3327684D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29E2D9-930C-4070-BCA7-9A87221D06F1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CDB3EA-9C42-4E43-8AED-2DC6F97A9F4D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PlaceHolder 1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  <p:sp>
        <p:nvSpPr>
          <p:cNvPr id="2049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F37148-D539-47D3-B5D7-67D37657C81A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21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Rectangle 6"/>
          <p:cNvSpPr/>
          <p:nvPr/>
        </p:nvSpPr>
        <p:spPr>
          <a:xfrm>
            <a:off x="388620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Rectangle 7"/>
          <p:cNvSpPr/>
          <p:nvPr/>
        </p:nvSpPr>
        <p:spPr>
          <a:xfrm>
            <a:off x="388620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14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Rectangle 8"/>
          <p:cNvSpPr/>
          <p:nvPr/>
        </p:nvSpPr>
        <p:spPr>
          <a:xfrm>
            <a:off x="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Rectangle 9"/>
          <p:cNvSpPr/>
          <p:nvPr/>
        </p:nvSpPr>
        <p:spPr>
          <a:xfrm>
            <a:off x="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2060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769768-3D97-41C2-AB80-78F319CC4A83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22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Rectangle 6"/>
          <p:cNvSpPr/>
          <p:nvPr/>
        </p:nvSpPr>
        <p:spPr>
          <a:xfrm>
            <a:off x="388620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Rectangle 7"/>
          <p:cNvSpPr/>
          <p:nvPr/>
        </p:nvSpPr>
        <p:spPr>
          <a:xfrm>
            <a:off x="388620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15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Rectangle 8"/>
          <p:cNvSpPr/>
          <p:nvPr/>
        </p:nvSpPr>
        <p:spPr>
          <a:xfrm>
            <a:off x="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Rectangle 9"/>
          <p:cNvSpPr/>
          <p:nvPr/>
        </p:nvSpPr>
        <p:spPr>
          <a:xfrm>
            <a:off x="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2071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CB5170-1D58-49DC-B243-3CF7201166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00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E74D49-CF07-41EC-8F3A-3611366B5B8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areaps33@gmail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image" Target="../media/image17.wmf"/><Relationship Id="rId2" Type="http://schemas.openxmlformats.org/officeDocument/2006/relationships/slideLayout" Target="../slideLayouts/slideLayout1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image" Target="../media/image19.wmf"/><Relationship Id="rId2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image" Target="../media/image22.gif"/><Relationship Id="rId2" Type="http://schemas.openxmlformats.org/officeDocument/2006/relationships/image" Target="../media/image23.jpeg"/><Relationship Id="rId3" Type="http://schemas.openxmlformats.org/officeDocument/2006/relationships/image" Target="../media/image23.jpeg"/><Relationship Id="rId4" Type="http://schemas.openxmlformats.org/officeDocument/2006/relationships/image" Target="../media/image23.jpeg"/><Relationship Id="rId5" Type="http://schemas.openxmlformats.org/officeDocument/2006/relationships/image" Target="../media/image23.jpeg"/><Relationship Id="rId6" Type="http://schemas.openxmlformats.org/officeDocument/2006/relationships/image" Target="../media/image24.gif"/><Relationship Id="rId7" Type="http://schemas.openxmlformats.org/officeDocument/2006/relationships/slideLayout" Target="../slideLayouts/slideLayout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slideLayout" Target="../slideLayouts/slideLayout1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image" Target="../media/image34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C7CC0B-FDF5-4643-B153-9D844CF0208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19040" y="549000"/>
            <a:ext cx="8026560" cy="2087640"/>
          </a:xfrm>
          <a:prstGeom prst="rect">
            <a:avLst/>
          </a:prstGeom>
          <a:noFill/>
          <a:ln w="38160">
            <a:solidFill>
              <a:srgbClr val="ffffff"/>
            </a:solidFill>
            <a:miter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LACTATE ET EXERCICE…</a:t>
            </a:r>
            <a:br>
              <a:rPr sz="3200"/>
            </a:br>
            <a:br>
              <a:rPr sz="3200"/>
            </a:b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Mythes et réalités 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31880" y="2997360"/>
            <a:ext cx="7772400" cy="6444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fontScale="62500" lnSpcReduction="19999"/>
          </a:bodyPr>
          <a:p>
            <a:pPr marL="343080" indent="-34308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Georges CAZORLA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Cours Master 2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Rectangle 1"/>
          <p:cNvSpPr/>
          <p:nvPr/>
        </p:nvSpPr>
        <p:spPr>
          <a:xfrm>
            <a:off x="3647160" y="3959280"/>
            <a:ext cx="1849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343080" indent="-34308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2006…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Image 9" descr=""/>
          <p:cNvPicPr/>
          <p:nvPr/>
        </p:nvPicPr>
        <p:blipFill>
          <a:blip r:embed="rId1"/>
          <a:srcRect l="0" t="19565" r="74963" b="63428"/>
          <a:stretch/>
        </p:blipFill>
        <p:spPr>
          <a:xfrm>
            <a:off x="3156120" y="4992840"/>
            <a:ext cx="2923920" cy="11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10"/>
          <p:cNvSpPr/>
          <p:nvPr/>
        </p:nvSpPr>
        <p:spPr>
          <a:xfrm>
            <a:off x="-171720" y="6139440"/>
            <a:ext cx="920844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Association pour la Recherche et l’Évaluation en Activité Physique et en Sport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sng">
                <a:solidFill>
                  <a:srgbClr val="ccccff"/>
                </a:solidFill>
                <a:effectLst/>
                <a:uFillTx/>
                <a:latin typeface="Calibri"/>
                <a:ea typeface="Times New Roman"/>
                <a:hlinkClick r:id="rId2"/>
              </a:rPr>
              <a:t>areaps33@gmail.com</a:t>
            </a: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    Web : areaps.org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2" presetSubtype="4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50"/>
                            </p:stCondLst>
                            <p:childTnLst>
                              <p:par>
                                <p:cTn id="9" nodeType="afterEffect" fill="hold" presetClass="entr" presetID="22" presetSubtype="4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1" dur="75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856893-B14D-4CB4-913D-C21643E7688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Box 2"/>
          <p:cNvSpPr/>
          <p:nvPr/>
        </p:nvSpPr>
        <p:spPr>
          <a:xfrm>
            <a:off x="3434760" y="152280"/>
            <a:ext cx="176436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HISTORIQUE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0" y="838080"/>
          <a:ext cx="9144000" cy="5935680"/>
        </p:xfrm>
        <a:graphic>
          <a:graphicData uri="http://schemas.openxmlformats.org/drawingml/2006/table">
            <a:tbl>
              <a:tblPr/>
              <a:tblGrid>
                <a:gridCol w="1295280"/>
                <a:gridCol w="6248520"/>
                <a:gridCol w="1600200"/>
              </a:tblGrid>
              <a:tr h="381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Années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Évènements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Auteurs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5544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1907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1909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1909-1910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1911-1912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1912-1914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1914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1927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1930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Augmentation de l’acide lactique lorsque les muscles sont stimulés et dans des conditions d’anaérobiose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Premier essai de mise en relation de l’acide lactique avec l’hyperpnée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Effet de l’exercice sur l’augmentation du lactate chez l’Homme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La contraction musculaire aérobie et anérobie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Le métabolisme musculaire aérobie et anaérobie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Relation entre lactate, bicarbonate et dioxyde de carbone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Relation du lactate et les ions hydrogène avec l’hyperpnée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Le niveau métabolique critique « critical metabolic level » du lactate sanguin ou « Point d’Owles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Fletcher et Hopkins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Douglas et Haldane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Ryffel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Meyerhof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Hill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Christiansen, Douglas et Haldane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Douglas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Owles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nodeType="clickEffect" fill="hold">
                      <p:stCondLst>
                        <p:cond delay="0"/>
                      </p:stCondLst>
                      <p:childTnLst>
                        <p:par>
                          <p:cTn id="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A21844-B0D3-4C00-9C10-BDB8A28EB74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6" name=""/>
          <p:cNvGraphicFramePr/>
          <p:nvPr/>
        </p:nvGraphicFramePr>
        <p:xfrm>
          <a:off x="0" y="838080"/>
          <a:ext cx="9144000" cy="6050160"/>
        </p:xfrm>
        <a:graphic>
          <a:graphicData uri="http://schemas.openxmlformats.org/drawingml/2006/table">
            <a:tbl>
              <a:tblPr/>
              <a:tblGrid>
                <a:gridCol w="1295280"/>
                <a:gridCol w="6172200"/>
                <a:gridCol w="1676520"/>
              </a:tblGrid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Années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Évènements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Auteurs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973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1961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1964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1973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1978-1981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1983-1985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1987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2000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L’accumulation du lactate serait due à l’hypoxie musculaire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Première évocation de la notion de « seuil » du métabolisme anaérobie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Le « seuil » anaérobie peut être détecté par le variables respiratoires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Les « seuils lactiques » sont respectivement fixés à 2 et 4mmol.l</a:t>
                      </a:r>
                      <a:r>
                        <a:rPr b="0" lang="fr-FR" sz="1600" strike="noStrike" u="none" baseline="30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-1 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Critique de la notion de « seuils anaérobies ». Le « seuils anaérobies » n’existerait pas !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L’index de la pente du lactate en remplacement du « seuils anaérobies » est proposé comme un indicateur du niveau de condition physique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Position de la Société Française de Médecine du Sport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Hollmann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Wasserman et Mc Ilroy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Wasserman et al.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Mader et al., Keul et al., Sjodin et Jacobs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Yel et al., Brooks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Hughson et al.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Vallier et al.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 Box 19"/>
          <p:cNvSpPr/>
          <p:nvPr/>
        </p:nvSpPr>
        <p:spPr>
          <a:xfrm>
            <a:off x="3433320" y="152280"/>
            <a:ext cx="25423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HISTORIQUE (suite)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nodeType="clickEffect" fill="hold">
                      <p:stCondLst>
                        <p:cond delay="0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A4FD40-EF01-4D82-B071-851DA4EAEE1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9" name="Object 2"/>
          <p:cNvGraphicFramePr/>
          <p:nvPr/>
        </p:nvGraphicFramePr>
        <p:xfrm>
          <a:off x="1523880" y="0"/>
          <a:ext cx="5943600" cy="685800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30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23880" y="0"/>
                    <a:ext cx="5943600" cy="6858000"/>
                  </a:xfrm>
                  <a:prstGeom prst="rect">
                    <a:avLst/>
                  </a:prstGeom>
                  <a:solidFill>
                    <a:srgbClr val="ffffff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1" name="Text Box 3"/>
          <p:cNvSpPr/>
          <p:nvPr/>
        </p:nvSpPr>
        <p:spPr>
          <a:xfrm>
            <a:off x="4344120" y="6423120"/>
            <a:ext cx="89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(2)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 Box 4"/>
          <p:cNvSpPr/>
          <p:nvPr/>
        </p:nvSpPr>
        <p:spPr>
          <a:xfrm rot="19614000">
            <a:off x="12600" y="699120"/>
            <a:ext cx="11617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RAPPELS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372CA3-5A74-4C50-9FF1-BBAF72B7706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Text Box 2"/>
          <p:cNvSpPr/>
          <p:nvPr/>
        </p:nvSpPr>
        <p:spPr>
          <a:xfrm>
            <a:off x="3510360" y="179280"/>
            <a:ext cx="132012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Line 3"/>
          <p:cNvSpPr/>
          <p:nvPr/>
        </p:nvSpPr>
        <p:spPr>
          <a:xfrm>
            <a:off x="4191120" y="53352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Text Box 4"/>
          <p:cNvSpPr/>
          <p:nvPr/>
        </p:nvSpPr>
        <p:spPr>
          <a:xfrm>
            <a:off x="4260600" y="533520"/>
            <a:ext cx="2410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Glycogène phosphorylase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 Box 5"/>
          <p:cNvSpPr/>
          <p:nvPr/>
        </p:nvSpPr>
        <p:spPr>
          <a:xfrm>
            <a:off x="3962520" y="838080"/>
            <a:ext cx="539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Line 6"/>
          <p:cNvSpPr/>
          <p:nvPr/>
        </p:nvSpPr>
        <p:spPr>
          <a:xfrm>
            <a:off x="4191120" y="106668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Arc 10"/>
          <p:cNvSpPr/>
          <p:nvPr/>
        </p:nvSpPr>
        <p:spPr>
          <a:xfrm>
            <a:off x="3886200" y="588960"/>
            <a:ext cx="304920" cy="708120"/>
          </a:xfrm>
          <a:custGeom>
            <a:avLst/>
            <a:gdLst>
              <a:gd name="GluePoint1X" fmla="*/ 2147483647 w 13791"/>
              <a:gd name="GluePoint1Y" fmla="*/ 0 h 20191"/>
              <a:gd name="GluePoint2X" fmla="*/ 2147483647 w 13791"/>
              <a:gd name="GluePoint2Y" fmla="*/ 2147483647 h 20191"/>
              <a:gd name="GluePoint3X" fmla="*/ 0 w 13791"/>
              <a:gd name="GluePoint3Y" fmla="*/ 2147483647 h 20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</a:path>
              <a:path stroke="0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  <a:lnTo>
                  <a:pt x="0" y="20191"/>
                </a:lnTo>
                <a:lnTo>
                  <a:pt x="7673" y="0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 Box 11"/>
          <p:cNvSpPr/>
          <p:nvPr/>
        </p:nvSpPr>
        <p:spPr>
          <a:xfrm>
            <a:off x="3738600" y="457200"/>
            <a:ext cx="336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Text Box 12"/>
          <p:cNvSpPr/>
          <p:nvPr/>
        </p:nvSpPr>
        <p:spPr>
          <a:xfrm>
            <a:off x="3963240" y="1371600"/>
            <a:ext cx="507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Line 13"/>
          <p:cNvSpPr/>
          <p:nvPr/>
        </p:nvSpPr>
        <p:spPr>
          <a:xfrm>
            <a:off x="4191120" y="160020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14"/>
          <p:cNvSpPr/>
          <p:nvPr/>
        </p:nvSpPr>
        <p:spPr>
          <a:xfrm>
            <a:off x="2052360" y="1523880"/>
            <a:ext cx="205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Phosphofructokynase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Line 15"/>
          <p:cNvSpPr/>
          <p:nvPr/>
        </p:nvSpPr>
        <p:spPr>
          <a:xfrm>
            <a:off x="1676520" y="380880"/>
            <a:ext cx="0" cy="59436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Oval 16"/>
          <p:cNvSpPr/>
          <p:nvPr/>
        </p:nvSpPr>
        <p:spPr>
          <a:xfrm>
            <a:off x="1523880" y="838080"/>
            <a:ext cx="30492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Line 17"/>
          <p:cNvSpPr/>
          <p:nvPr/>
        </p:nvSpPr>
        <p:spPr>
          <a:xfrm>
            <a:off x="1371600" y="990720"/>
            <a:ext cx="25146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 Box 18"/>
          <p:cNvSpPr/>
          <p:nvPr/>
        </p:nvSpPr>
        <p:spPr>
          <a:xfrm>
            <a:off x="141840" y="849240"/>
            <a:ext cx="106236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 Box 19"/>
          <p:cNvSpPr/>
          <p:nvPr/>
        </p:nvSpPr>
        <p:spPr>
          <a:xfrm>
            <a:off x="2055600" y="990720"/>
            <a:ext cx="1221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 Box 20"/>
          <p:cNvSpPr/>
          <p:nvPr/>
        </p:nvSpPr>
        <p:spPr>
          <a:xfrm>
            <a:off x="3886920" y="190512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FbiP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Line 22"/>
          <p:cNvSpPr/>
          <p:nvPr/>
        </p:nvSpPr>
        <p:spPr>
          <a:xfrm flipH="1">
            <a:off x="3580920" y="2133720"/>
            <a:ext cx="38124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Text Box 23"/>
          <p:cNvSpPr/>
          <p:nvPr/>
        </p:nvSpPr>
        <p:spPr>
          <a:xfrm>
            <a:off x="3048840" y="2362320"/>
            <a:ext cx="66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GA3P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Line 24"/>
          <p:cNvSpPr/>
          <p:nvPr/>
        </p:nvSpPr>
        <p:spPr>
          <a:xfrm>
            <a:off x="4343400" y="2133720"/>
            <a:ext cx="38088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 Box 25"/>
          <p:cNvSpPr/>
          <p:nvPr/>
        </p:nvSpPr>
        <p:spPr>
          <a:xfrm>
            <a:off x="4496400" y="236232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DHAP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Line 26"/>
          <p:cNvSpPr/>
          <p:nvPr/>
        </p:nvSpPr>
        <p:spPr>
          <a:xfrm flipH="1">
            <a:off x="3733920" y="251460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Line 27"/>
          <p:cNvSpPr/>
          <p:nvPr/>
        </p:nvSpPr>
        <p:spPr>
          <a:xfrm>
            <a:off x="3352680" y="25909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AutoShape 33"/>
          <p:cNvSpPr/>
          <p:nvPr/>
        </p:nvSpPr>
        <p:spPr>
          <a:xfrm rot="20736600">
            <a:off x="3362040" y="2750760"/>
            <a:ext cx="152280" cy="380880"/>
          </a:xfrm>
          <a:custGeom>
            <a:avLst/>
            <a:gdLst>
              <a:gd name="textAreaLeft" fmla="*/ 20160 w 152280"/>
              <a:gd name="textAreaRight" fmla="*/ 132120 w 152280"/>
              <a:gd name="textAreaTop" fmla="*/ 75960 h 380880"/>
              <a:gd name="textAreaBottom" fmla="*/ 230760 h 3808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 Box 34"/>
          <p:cNvSpPr/>
          <p:nvPr/>
        </p:nvSpPr>
        <p:spPr>
          <a:xfrm>
            <a:off x="3429720" y="25909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 Box 35"/>
          <p:cNvSpPr/>
          <p:nvPr/>
        </p:nvSpPr>
        <p:spPr>
          <a:xfrm>
            <a:off x="3582000" y="29718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Text Box 36"/>
          <p:cNvSpPr/>
          <p:nvPr/>
        </p:nvSpPr>
        <p:spPr>
          <a:xfrm>
            <a:off x="3109320" y="3211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3PG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Line 37"/>
          <p:cNvSpPr/>
          <p:nvPr/>
        </p:nvSpPr>
        <p:spPr>
          <a:xfrm>
            <a:off x="3352680" y="35053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Text Box 38"/>
          <p:cNvSpPr/>
          <p:nvPr/>
        </p:nvSpPr>
        <p:spPr>
          <a:xfrm>
            <a:off x="2825280" y="4191120"/>
            <a:ext cx="115164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Line 39"/>
          <p:cNvSpPr/>
          <p:nvPr/>
        </p:nvSpPr>
        <p:spPr>
          <a:xfrm flipH="1">
            <a:off x="2286000" y="4495680"/>
            <a:ext cx="533520" cy="144792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 Box 40"/>
          <p:cNvSpPr/>
          <p:nvPr/>
        </p:nvSpPr>
        <p:spPr>
          <a:xfrm>
            <a:off x="1985760" y="5943600"/>
            <a:ext cx="10126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Line 41"/>
          <p:cNvSpPr/>
          <p:nvPr/>
        </p:nvSpPr>
        <p:spPr>
          <a:xfrm>
            <a:off x="3962520" y="4495680"/>
            <a:ext cx="685800" cy="1524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 Box 42"/>
          <p:cNvSpPr/>
          <p:nvPr/>
        </p:nvSpPr>
        <p:spPr>
          <a:xfrm>
            <a:off x="2894760" y="4495680"/>
            <a:ext cx="1052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AutoShape 44"/>
          <p:cNvSpPr/>
          <p:nvPr/>
        </p:nvSpPr>
        <p:spPr>
          <a:xfrm>
            <a:off x="3962520" y="4800600"/>
            <a:ext cx="228600" cy="762120"/>
          </a:xfrm>
          <a:custGeom>
            <a:avLst/>
            <a:gdLst>
              <a:gd name="textAreaLeft" fmla="*/ 30600 w 228600"/>
              <a:gd name="textAreaRight" fmla="*/ 198000 w 2286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 Box 45"/>
          <p:cNvSpPr/>
          <p:nvPr/>
        </p:nvSpPr>
        <p:spPr>
          <a:xfrm>
            <a:off x="3123720" y="5486400"/>
            <a:ext cx="824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Alanine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46"/>
          <p:cNvSpPr/>
          <p:nvPr/>
        </p:nvSpPr>
        <p:spPr>
          <a:xfrm>
            <a:off x="2741760" y="4876920"/>
            <a:ext cx="1428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Alanine Amino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Transférase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Line 51"/>
          <p:cNvSpPr/>
          <p:nvPr/>
        </p:nvSpPr>
        <p:spPr>
          <a:xfrm>
            <a:off x="4038480" y="4343400"/>
            <a:ext cx="29718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Oval 52"/>
          <p:cNvSpPr/>
          <p:nvPr/>
        </p:nvSpPr>
        <p:spPr>
          <a:xfrm>
            <a:off x="5257800" y="41911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 Box 57"/>
          <p:cNvSpPr/>
          <p:nvPr/>
        </p:nvSpPr>
        <p:spPr>
          <a:xfrm>
            <a:off x="4644720" y="5943600"/>
            <a:ext cx="156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2-oxologlutarate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Oval 59"/>
          <p:cNvSpPr/>
          <p:nvPr/>
        </p:nvSpPr>
        <p:spPr>
          <a:xfrm>
            <a:off x="6477120" y="5562720"/>
            <a:ext cx="30456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61"/>
          <p:cNvSpPr/>
          <p:nvPr/>
        </p:nvSpPr>
        <p:spPr>
          <a:xfrm>
            <a:off x="5715720" y="380988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 Box 62"/>
          <p:cNvSpPr/>
          <p:nvPr/>
        </p:nvSpPr>
        <p:spPr>
          <a:xfrm>
            <a:off x="5715720" y="472428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Oval 64"/>
          <p:cNvSpPr/>
          <p:nvPr/>
        </p:nvSpPr>
        <p:spPr>
          <a:xfrm>
            <a:off x="6324480" y="2666880"/>
            <a:ext cx="457200" cy="30492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AutoShape 65"/>
          <p:cNvSpPr/>
          <p:nvPr/>
        </p:nvSpPr>
        <p:spPr>
          <a:xfrm rot="16107600">
            <a:off x="6553080" y="2361600"/>
            <a:ext cx="266760" cy="571680"/>
          </a:xfrm>
          <a:custGeom>
            <a:avLst/>
            <a:gdLst>
              <a:gd name="textAreaLeft" fmla="*/ 35640 w 266760"/>
              <a:gd name="textAreaRight" fmla="*/ 231120 w 266760"/>
              <a:gd name="textAreaTop" fmla="*/ 114120 h 571680"/>
              <a:gd name="textAreaBottom" fmla="*/ 346320 h 5716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 Box 66"/>
          <p:cNvSpPr/>
          <p:nvPr/>
        </p:nvSpPr>
        <p:spPr>
          <a:xfrm>
            <a:off x="5868000" y="2286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 Box 67"/>
          <p:cNvSpPr/>
          <p:nvPr/>
        </p:nvSpPr>
        <p:spPr>
          <a:xfrm>
            <a:off x="6705720" y="2286000"/>
            <a:ext cx="5331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AutoShape 68"/>
          <p:cNvSpPr/>
          <p:nvPr/>
        </p:nvSpPr>
        <p:spPr>
          <a:xfrm rot="288000">
            <a:off x="6324120" y="2895480"/>
            <a:ext cx="609840" cy="304920"/>
          </a:xfrm>
          <a:custGeom>
            <a:avLst/>
            <a:gdLst>
              <a:gd name="textAreaLeft" fmla="*/ 122040 w 609840"/>
              <a:gd name="textAreaRight" fmla="*/ 369720 w 609840"/>
              <a:gd name="textAreaTop" fmla="*/ 40680 h 304920"/>
              <a:gd name="textAreaBottom" fmla="*/ 264240 h 30492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8640" hR="21600" stAng="10800000" swAng="5400000"/>
                <a:lnTo>
                  <a:pt x="8768" y="0"/>
                </a:lnTo>
                <a:arcTo wR="8640" hR="21600" stAng="-5400000" swAng="2978155"/>
                <a:lnTo>
                  <a:pt x="21140" y="14647"/>
                </a:lnTo>
                <a:lnTo>
                  <a:pt x="17344" y="21600"/>
                </a:lnTo>
                <a:lnTo>
                  <a:pt x="12628" y="14647"/>
                </a:lnTo>
                <a:lnTo>
                  <a:pt x="16820" y="14647"/>
                </a:lnTo>
                <a:arcTo wR="8640" hR="21600" stAng="-2421845" swAng="-2967969"/>
                <a:lnTo>
                  <a:pt x="8704" y="1"/>
                </a:lnTo>
                <a:arcTo wR="8640" hR="21600" stAng="-5410186" swAng="-5389814"/>
                <a:close/>
              </a:path>
              <a:path fill="darkenLess" w="21600" h="21600">
                <a:moveTo>
                  <a:pt x="0" y="21600"/>
                </a:moveTo>
                <a:arcTo wR="8640" hR="21600" stAng="10800000" swAng="5400000"/>
                <a:lnTo>
                  <a:pt x="8640" y="0"/>
                </a:lnTo>
                <a:arcTo wR="8640" hR="21600" stAng="-5400000" swAng="10186"/>
                <a:lnTo>
                  <a:pt x="8704" y="1"/>
                </a:lnTo>
                <a:arcTo wR="8640" hR="21600" stAng="-5410186" swAng="-5389814"/>
                <a:close/>
              </a:path>
            </a:pathLst>
          </a:custGeom>
          <a:solidFill>
            <a:srgbClr val="ffff00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Box 69"/>
          <p:cNvSpPr/>
          <p:nvPr/>
        </p:nvSpPr>
        <p:spPr>
          <a:xfrm>
            <a:off x="5944320" y="320040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70"/>
          <p:cNvSpPr/>
          <p:nvPr/>
        </p:nvSpPr>
        <p:spPr>
          <a:xfrm>
            <a:off x="6630120" y="32004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AutoShape 72"/>
          <p:cNvSpPr/>
          <p:nvPr/>
        </p:nvSpPr>
        <p:spPr>
          <a:xfrm>
            <a:off x="5334120" y="2743200"/>
            <a:ext cx="2743200" cy="3048120"/>
          </a:xfrm>
          <a:custGeom>
            <a:avLst/>
            <a:gdLst>
              <a:gd name="textAreaLeft" fmla="*/ 133920 w 2743200"/>
              <a:gd name="textAreaRight" fmla="*/ 2609280 w 2743200"/>
              <a:gd name="textAreaTop" fmla="*/ 133920 h 3048120"/>
              <a:gd name="textAreaBottom" fmla="*/ 2914200 h 3048120"/>
            </a:gdLst>
            <a:ahLst/>
            <a:cxnLst/>
            <a:rect l="textAreaLeft" t="textAreaTop" r="textAreaRight" b="textAreaBottom"/>
            <a:pathLst>
              <a:path w="21600" h="24001">
                <a:moveTo>
                  <a:pt x="3600" y="0"/>
                </a:moveTo>
                <a:arcTo wR="3600" hR="3600" stAng="16200000" swAng="-5400000"/>
                <a:lnTo>
                  <a:pt x="0" y="20401"/>
                </a:lnTo>
                <a:arcTo wR="3600" hR="3600" stAng="10800000" swAng="-5400000"/>
                <a:lnTo>
                  <a:pt x="18000" y="240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AutoShape 73"/>
          <p:cNvSpPr/>
          <p:nvPr/>
        </p:nvSpPr>
        <p:spPr>
          <a:xfrm>
            <a:off x="5486400" y="2895480"/>
            <a:ext cx="2438280" cy="2743200"/>
          </a:xfrm>
          <a:custGeom>
            <a:avLst/>
            <a:gdLst>
              <a:gd name="textAreaLeft" fmla="*/ 118800 w 2438280"/>
              <a:gd name="textAreaRight" fmla="*/ 2319480 w 2438280"/>
              <a:gd name="textAreaTop" fmla="*/ 118800 h 2743200"/>
              <a:gd name="textAreaBottom" fmla="*/ 2624400 h 2743200"/>
            </a:gdLst>
            <a:ahLst/>
            <a:cxnLst/>
            <a:rect l="textAreaLeft" t="textAreaTop" r="textAreaRight" b="textAreaBottom"/>
            <a:pathLst>
              <a:path w="21600" h="24301">
                <a:moveTo>
                  <a:pt x="3600" y="0"/>
                </a:moveTo>
                <a:arcTo wR="3600" hR="3600" stAng="16200000" swAng="-5400000"/>
                <a:lnTo>
                  <a:pt x="0" y="20701"/>
                </a:lnTo>
                <a:arcTo wR="3600" hR="3600" stAng="10800000" swAng="-5400000"/>
                <a:lnTo>
                  <a:pt x="18000" y="243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Line 75"/>
          <p:cNvSpPr/>
          <p:nvPr/>
        </p:nvSpPr>
        <p:spPr>
          <a:xfrm flipV="1">
            <a:off x="6172200" y="5791320"/>
            <a:ext cx="4572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Line 76"/>
          <p:cNvSpPr/>
          <p:nvPr/>
        </p:nvSpPr>
        <p:spPr>
          <a:xfrm flipV="1">
            <a:off x="6629400" y="533412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77"/>
          <p:cNvSpPr/>
          <p:nvPr/>
        </p:nvSpPr>
        <p:spPr>
          <a:xfrm>
            <a:off x="5483160" y="4038480"/>
            <a:ext cx="1597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déshydrogénase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reeform 78"/>
          <p:cNvSpPr/>
          <p:nvPr/>
        </p:nvSpPr>
        <p:spPr>
          <a:xfrm>
            <a:off x="5473800" y="3962520"/>
            <a:ext cx="317520" cy="761760"/>
          </a:xfrm>
          <a:custGeom>
            <a:avLst/>
            <a:gdLst>
              <a:gd name="GluePoint1X" fmla="*/ 2147483647 w 200"/>
              <a:gd name="GluePoint1Y" fmla="*/ 2147483647 h 480"/>
              <a:gd name="GluePoint2X" fmla="*/ 2147483647 w 200"/>
              <a:gd name="GluePoint2Y" fmla="*/ 2147483647 h 480"/>
              <a:gd name="GluePoint3X" fmla="*/ 2147483647 w 200"/>
              <a:gd name="GluePoint3Y" fmla="*/ 2147483647 h 480"/>
              <a:gd name="GluePoint4X" fmla="*/ 2147483647 w 200"/>
              <a:gd name="GluePoint4Y" fmla="*/ 2147483647 h 480"/>
              <a:gd name="GluePoint5X" fmla="*/ 2147483647 w 200"/>
              <a:gd name="GluePoint5Y" fmla="*/ 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00" h="480">
                <a:moveTo>
                  <a:pt x="200" y="480"/>
                </a:moveTo>
                <a:cubicBezTo>
                  <a:pt x="168" y="476"/>
                  <a:pt x="136" y="472"/>
                  <a:pt x="104" y="432"/>
                </a:cubicBezTo>
                <a:cubicBezTo>
                  <a:pt x="72" y="392"/>
                  <a:pt x="16" y="304"/>
                  <a:pt x="8" y="240"/>
                </a:cubicBezTo>
                <a:cubicBezTo>
                  <a:pt x="0" y="176"/>
                  <a:pt x="32" y="88"/>
                  <a:pt x="56" y="48"/>
                </a:cubicBezTo>
                <a:cubicBezTo>
                  <a:pt x="80" y="8"/>
                  <a:pt x="136" y="8"/>
                  <a:pt x="152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79"/>
          <p:cNvSpPr/>
          <p:nvPr/>
        </p:nvSpPr>
        <p:spPr>
          <a:xfrm>
            <a:off x="6994800" y="4202280"/>
            <a:ext cx="735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A-CoA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Oval 80"/>
          <p:cNvSpPr/>
          <p:nvPr/>
        </p:nvSpPr>
        <p:spPr>
          <a:xfrm>
            <a:off x="1523880" y="5867280"/>
            <a:ext cx="30492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Line 81"/>
          <p:cNvSpPr/>
          <p:nvPr/>
        </p:nvSpPr>
        <p:spPr>
          <a:xfrm flipH="1">
            <a:off x="1066680" y="6095880"/>
            <a:ext cx="9907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82"/>
          <p:cNvSpPr/>
          <p:nvPr/>
        </p:nvSpPr>
        <p:spPr>
          <a:xfrm>
            <a:off x="5694120" y="1916280"/>
            <a:ext cx="229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Navette aspartate-malate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Line 83"/>
          <p:cNvSpPr/>
          <p:nvPr/>
        </p:nvSpPr>
        <p:spPr>
          <a:xfrm>
            <a:off x="2286000" y="6248520"/>
            <a:ext cx="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Line 84"/>
          <p:cNvSpPr/>
          <p:nvPr/>
        </p:nvSpPr>
        <p:spPr>
          <a:xfrm>
            <a:off x="2286000" y="6553080"/>
            <a:ext cx="48769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Line 85"/>
          <p:cNvSpPr/>
          <p:nvPr/>
        </p:nvSpPr>
        <p:spPr>
          <a:xfrm flipV="1">
            <a:off x="7162920" y="5334120"/>
            <a:ext cx="0" cy="121896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Oval 86"/>
          <p:cNvSpPr/>
          <p:nvPr/>
        </p:nvSpPr>
        <p:spPr>
          <a:xfrm>
            <a:off x="7010280" y="55627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AutoShape 87"/>
          <p:cNvSpPr/>
          <p:nvPr/>
        </p:nvSpPr>
        <p:spPr>
          <a:xfrm>
            <a:off x="2133720" y="4724280"/>
            <a:ext cx="457200" cy="762120"/>
          </a:xfrm>
          <a:custGeom>
            <a:avLst/>
            <a:gdLst>
              <a:gd name="textAreaLeft" fmla="*/ 61200 w 457200"/>
              <a:gd name="textAreaRight" fmla="*/ 396000 w 4572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Box 88"/>
          <p:cNvSpPr/>
          <p:nvPr/>
        </p:nvSpPr>
        <p:spPr>
          <a:xfrm>
            <a:off x="1063440" y="4724280"/>
            <a:ext cx="1597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Lactico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déshydrogénase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Box 89"/>
          <p:cNvSpPr/>
          <p:nvPr/>
        </p:nvSpPr>
        <p:spPr>
          <a:xfrm>
            <a:off x="1600920" y="4572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90"/>
          <p:cNvSpPr/>
          <p:nvPr/>
        </p:nvSpPr>
        <p:spPr>
          <a:xfrm>
            <a:off x="1677240" y="53341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Oval 91"/>
          <p:cNvSpPr/>
          <p:nvPr/>
        </p:nvSpPr>
        <p:spPr>
          <a:xfrm>
            <a:off x="152280" y="3809880"/>
            <a:ext cx="8534520" cy="304812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Oval 92"/>
          <p:cNvSpPr/>
          <p:nvPr/>
        </p:nvSpPr>
        <p:spPr>
          <a:xfrm>
            <a:off x="5257800" y="1371600"/>
            <a:ext cx="3200400" cy="236232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93"/>
          <p:cNvSpPr/>
          <p:nvPr/>
        </p:nvSpPr>
        <p:spPr>
          <a:xfrm>
            <a:off x="1746720" y="447840"/>
            <a:ext cx="75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 4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Line 94"/>
          <p:cNvSpPr/>
          <p:nvPr/>
        </p:nvSpPr>
        <p:spPr>
          <a:xfrm flipH="1">
            <a:off x="1763280" y="692280"/>
            <a:ext cx="144360" cy="21564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95"/>
          <p:cNvSpPr/>
          <p:nvPr/>
        </p:nvSpPr>
        <p:spPr>
          <a:xfrm>
            <a:off x="879840" y="5516640"/>
            <a:ext cx="66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MCT4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Line 96"/>
          <p:cNvSpPr/>
          <p:nvPr/>
        </p:nvSpPr>
        <p:spPr>
          <a:xfrm>
            <a:off x="1403280" y="5805360"/>
            <a:ext cx="144360" cy="14472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 Box 97"/>
          <p:cNvSpPr/>
          <p:nvPr/>
        </p:nvSpPr>
        <p:spPr>
          <a:xfrm rot="19614000">
            <a:off x="7602840" y="549720"/>
            <a:ext cx="11617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RAPPELS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nodeType="clickEffect" fill="hold">
                      <p:stCondLst>
                        <p:cond delay="indefinite"/>
                      </p:stCondLst>
                      <p:childTnLst>
                        <p:par>
                          <p:cTn id="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nodeType="clickEffect" fill="hold">
                      <p:stCondLst>
                        <p:cond delay="indefinite"/>
                      </p:stCondLst>
                      <p:childTnLst>
                        <p:par>
                          <p:cTn id="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" dur="5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5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E494FC-F155-4B5F-807B-2E87B644E53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 Box 2"/>
          <p:cNvSpPr/>
          <p:nvPr/>
        </p:nvSpPr>
        <p:spPr>
          <a:xfrm>
            <a:off x="2484360" y="1844640"/>
            <a:ext cx="1562040" cy="380880"/>
          </a:xfrm>
          <a:prstGeom prst="rect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Glucose-6-P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AutoShape 3"/>
          <p:cNvSpPr/>
          <p:nvPr/>
        </p:nvSpPr>
        <p:spPr>
          <a:xfrm>
            <a:off x="3170160" y="2225520"/>
            <a:ext cx="217440" cy="2286000"/>
          </a:xfrm>
          <a:prstGeom prst="downArrow">
            <a:avLst>
              <a:gd name="adj1" fmla="val 50000"/>
              <a:gd name="adj2" fmla="val 262831"/>
            </a:avLst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 Box 4"/>
          <p:cNvSpPr/>
          <p:nvPr/>
        </p:nvSpPr>
        <p:spPr>
          <a:xfrm>
            <a:off x="2484360" y="4587840"/>
            <a:ext cx="1320840" cy="380880"/>
          </a:xfrm>
          <a:prstGeom prst="rect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 Pyruvate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 Box 5"/>
          <p:cNvSpPr/>
          <p:nvPr/>
        </p:nvSpPr>
        <p:spPr>
          <a:xfrm>
            <a:off x="3855960" y="2378160"/>
            <a:ext cx="72252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Line 6"/>
          <p:cNvSpPr/>
          <p:nvPr/>
        </p:nvSpPr>
        <p:spPr>
          <a:xfrm>
            <a:off x="3398760" y="2530440"/>
            <a:ext cx="482760" cy="1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AutoShape 7"/>
          <p:cNvSpPr/>
          <p:nvPr/>
        </p:nvSpPr>
        <p:spPr>
          <a:xfrm>
            <a:off x="3932280" y="4664160"/>
            <a:ext cx="1201680" cy="144360"/>
          </a:xfrm>
          <a:prstGeom prst="leftRightArrow">
            <a:avLst>
              <a:gd name="adj1" fmla="val 50000"/>
              <a:gd name="adj2" fmla="val 165713"/>
            </a:avLst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5560" bIns="2556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 Box 8"/>
          <p:cNvSpPr/>
          <p:nvPr/>
        </p:nvSpPr>
        <p:spPr>
          <a:xfrm>
            <a:off x="5227560" y="4587840"/>
            <a:ext cx="1789200" cy="380880"/>
          </a:xfrm>
          <a:prstGeom prst="rect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Lactate (+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9"/>
          <p:cNvSpPr/>
          <p:nvPr/>
        </p:nvSpPr>
        <p:spPr>
          <a:xfrm>
            <a:off x="4237200" y="4816440"/>
            <a:ext cx="722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LDH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Line 10"/>
          <p:cNvSpPr/>
          <p:nvPr/>
        </p:nvSpPr>
        <p:spPr>
          <a:xfrm>
            <a:off x="4465800" y="2530440"/>
            <a:ext cx="601560" cy="1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 Box 11"/>
          <p:cNvSpPr/>
          <p:nvPr/>
        </p:nvSpPr>
        <p:spPr>
          <a:xfrm>
            <a:off x="5075280" y="2454120"/>
            <a:ext cx="9604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Line 12"/>
          <p:cNvSpPr/>
          <p:nvPr/>
        </p:nvSpPr>
        <p:spPr>
          <a:xfrm flipH="1" flipV="1">
            <a:off x="4237200" y="4511160"/>
            <a:ext cx="241200" cy="20988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reeform 13"/>
          <p:cNvSpPr/>
          <p:nvPr/>
        </p:nvSpPr>
        <p:spPr>
          <a:xfrm>
            <a:off x="4694400" y="2606760"/>
            <a:ext cx="1606320" cy="2133360"/>
          </a:xfrm>
          <a:custGeom>
            <a:avLst/>
            <a:gdLst>
              <a:gd name="GluePoint1X" fmla="*/ 2147483647 w 1988"/>
              <a:gd name="GluePoint1Y" fmla="*/ 0 h 1467"/>
              <a:gd name="GluePoint2X" fmla="*/ 2147483647 w 1988"/>
              <a:gd name="GluePoint2Y" fmla="*/ 2147483647 h 1467"/>
              <a:gd name="GluePoint3X" fmla="*/ 2147483647 w 1988"/>
              <a:gd name="GluePoint3Y" fmla="*/ 2147483647 h 1467"/>
              <a:gd name="GluePoint4X" fmla="*/ 2147483647 w 1988"/>
              <a:gd name="GluePoint4Y" fmla="*/ 2147483647 h 1467"/>
              <a:gd name="GluePoint5X" fmla="*/ 2147483647 w 1988"/>
              <a:gd name="GluePoint5Y" fmla="*/ 2147483647 h 1467"/>
              <a:gd name="GluePoint6X" fmla="*/ 0 w 1988"/>
              <a:gd name="GluePoint6Y" fmla="*/ 2147483647 h 14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1988" h="1467">
                <a:moveTo>
                  <a:pt x="1562" y="0"/>
                </a:moveTo>
                <a:cubicBezTo>
                  <a:pt x="1680" y="23"/>
                  <a:pt x="1799" y="47"/>
                  <a:pt x="1846" y="142"/>
                </a:cubicBezTo>
                <a:cubicBezTo>
                  <a:pt x="1893" y="237"/>
                  <a:pt x="1988" y="402"/>
                  <a:pt x="1846" y="568"/>
                </a:cubicBezTo>
                <a:cubicBezTo>
                  <a:pt x="1704" y="734"/>
                  <a:pt x="1254" y="994"/>
                  <a:pt x="994" y="1136"/>
                </a:cubicBezTo>
                <a:cubicBezTo>
                  <a:pt x="734" y="1278"/>
                  <a:pt x="450" y="1373"/>
                  <a:pt x="284" y="1420"/>
                </a:cubicBezTo>
                <a:cubicBezTo>
                  <a:pt x="118" y="1467"/>
                  <a:pt x="47" y="1420"/>
                  <a:pt x="0" y="142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14"/>
          <p:cNvSpPr/>
          <p:nvPr/>
        </p:nvSpPr>
        <p:spPr>
          <a:xfrm>
            <a:off x="3703680" y="4206960"/>
            <a:ext cx="7221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Line 15"/>
          <p:cNvSpPr/>
          <p:nvPr/>
        </p:nvSpPr>
        <p:spPr>
          <a:xfrm flipV="1">
            <a:off x="4008600" y="2759040"/>
            <a:ext cx="0" cy="1447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 Box 16"/>
          <p:cNvSpPr/>
          <p:nvPr/>
        </p:nvSpPr>
        <p:spPr>
          <a:xfrm>
            <a:off x="4770360" y="4282920"/>
            <a:ext cx="60192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Line 17"/>
          <p:cNvSpPr/>
          <p:nvPr/>
        </p:nvSpPr>
        <p:spPr>
          <a:xfrm flipH="1">
            <a:off x="4694400" y="4511520"/>
            <a:ext cx="179280" cy="19872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Rectangle 18"/>
          <p:cNvSpPr/>
          <p:nvPr/>
        </p:nvSpPr>
        <p:spPr>
          <a:xfrm>
            <a:off x="1447920" y="762120"/>
            <a:ext cx="6070320" cy="54100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 Box 19"/>
          <p:cNvSpPr/>
          <p:nvPr/>
        </p:nvSpPr>
        <p:spPr>
          <a:xfrm rot="19614000">
            <a:off x="230400" y="549720"/>
            <a:ext cx="11617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RAPPELS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68E6D2-D92A-414D-883B-8811BB82CCE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. DES QUESTIONS QUI SE POSENT...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0" y="1371240"/>
            <a:ext cx="9220320" cy="2971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fontScale="92500" lnSpcReduction="19999"/>
          </a:bodyPr>
          <a:p>
            <a:pPr marL="343080" indent="-343080">
              <a:lnSpc>
                <a:spcPct val="13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1- Acide lactique ou lactate... quelle différence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3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 Le lactate est-il un « déchet »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3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3- Quel est le devenir du lactate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3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4- Quelles significations accorder au(x) seuil(s) anaérobie(s)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4.1 - A quelle puissance le muscle produit-il du lactate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4.2 - Est ce l'absence d'oxygène qui entraîne la  production du lactate musculaire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Rectangle 8"/>
          <p:cNvSpPr/>
          <p:nvPr/>
        </p:nvSpPr>
        <p:spPr>
          <a:xfrm>
            <a:off x="0" y="4861080"/>
            <a:ext cx="8915400" cy="18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spcAft>
                <a:spcPts val="11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4.3 - Quelle validité accorder aux nombreuses techniques de détermination du seuil anaérobie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11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4.4 - Quel est le niveau de reproductibilité intra-technique du seuil anaérobie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40" dur="indefinite" restart="never" nodeType="tmRoot">
          <p:childTnLst>
            <p:seq>
              <p:cTn id="41" dur="indefinite" nodeType="mainSeq">
                <p:childTnLst>
                  <p:par>
                    <p:cTn id="42" nodeType="clickEffect" fill="hold">
                      <p:stCondLst>
                        <p:cond delay="0"/>
                      </p:stCondLst>
                      <p:childTnLst>
                        <p:par>
                          <p:cTn id="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" dur="500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1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2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" dur="500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6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7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58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" dur="500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1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2" nodeType="afterEffect" fill="hold">
                            <p:stCondLst>
                              <p:cond delay="14000"/>
                            </p:stCondLst>
                            <p:childTnLst>
                              <p:par>
                                <p:cTn id="63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" dur="500"/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6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7" nodeType="afterEffect" fill="hold">
                            <p:stCondLst>
                              <p:cond delay="17500"/>
                            </p:stCondLst>
                            <p:childTnLst>
                              <p:par>
                                <p:cTn id="68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" dur="500"/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1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72" nodeType="afterEffect" fill="hold">
                            <p:stCondLst>
                              <p:cond delay="21000"/>
                            </p:stCondLst>
                            <p:childTnLst>
                              <p:par>
                                <p:cTn id="73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" dur="500"/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6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77" nodeType="afterEffect" fill="hold">
                            <p:stCondLst>
                              <p:cond delay="24500"/>
                            </p:stCondLst>
                            <p:childTnLst>
                              <p:par>
                                <p:cTn id="78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0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81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132">
                                      <p:txEl>
                                        <p:pRg st="6" end="6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82" nodeType="afterEffect" fill="hold">
                            <p:stCondLst>
                              <p:cond delay="28000"/>
                            </p:stCondLst>
                            <p:childTnLst>
                              <p:par>
                                <p:cTn id="83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5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2006CE-CC33-4A0E-85C8-55D77CFEC52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0" y="1066680"/>
            <a:ext cx="89917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II. DES QUESTIONS QUI SE POSENT...(suite)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762120" y="2514600"/>
            <a:ext cx="746748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75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glycolyse a-t-elle vraiment un mauvais rendement énergétique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75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Est-ce l’accumulation de lactate qui induit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fatigue musculaire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donne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crampes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courbatures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AutoShape 8"/>
          <p:cNvSpPr/>
          <p:nvPr/>
        </p:nvSpPr>
        <p:spPr>
          <a:xfrm>
            <a:off x="3048120" y="4800600"/>
            <a:ext cx="139680" cy="216000"/>
          </a:xfrm>
          <a:prstGeom prst="diamond">
            <a:avLst/>
          </a:prstGeom>
          <a:solidFill>
            <a:srgbClr val="00cc99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AutoShape 9"/>
          <p:cNvSpPr/>
          <p:nvPr/>
        </p:nvSpPr>
        <p:spPr>
          <a:xfrm>
            <a:off x="3048120" y="5334120"/>
            <a:ext cx="139680" cy="215640"/>
          </a:xfrm>
          <a:prstGeom prst="diamond">
            <a:avLst/>
          </a:prstGeom>
          <a:solidFill>
            <a:srgbClr val="00cc99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AutoShape 10"/>
          <p:cNvSpPr/>
          <p:nvPr/>
        </p:nvSpPr>
        <p:spPr>
          <a:xfrm>
            <a:off x="3048120" y="4343400"/>
            <a:ext cx="139680" cy="216000"/>
          </a:xfrm>
          <a:prstGeom prst="diamond">
            <a:avLst/>
          </a:prstGeom>
          <a:solidFill>
            <a:srgbClr val="00cc99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nodeType="clickEffect" fill="hold">
                      <p:stCondLst>
                        <p:cond delay="indefinite"/>
                      </p:stCondLst>
                      <p:childTnLst>
                        <p:par>
                          <p:cTn id="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nodeType="afterEffect" fill="hold" presetClass="entr" presetID="22" presetSubtype="8" repeatCount="100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6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nodeType="afterEffect" fill="hold" presetClass="entr" presetID="22" presetSubtype="8" repeatCount="100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0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nodeType="afterEffect" fill="hold" presetClass="entr" presetID="22" presetSubtype="8" repeatCount="100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4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106" nodeType="afterEffect" fill="hold" presetClass="entr" presetID="22" presetSubtype="8" repeatCount="100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8" dur="5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E7B288-CAC3-4C79-AC9B-F460E41D86C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1143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afd00"/>
                </a:solidFill>
                <a:effectLst/>
                <a:uFillTx/>
                <a:latin typeface="Arial"/>
              </a:rPr>
              <a:t>2.1 </a:t>
            </a:r>
            <a:r>
              <a:rPr b="1" lang="fr-FR" sz="3200" strike="noStrike" u="none">
                <a:solidFill>
                  <a:srgbClr val="fafd00"/>
                </a:solidFill>
                <a:effectLst/>
                <a:uFillTx/>
                <a:latin typeface="Arial"/>
              </a:rPr>
              <a:t>- ACIDE LACTIQUE OU LACTATE... QUELLE DIFFERENCE ?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0" y="1980720"/>
            <a:ext cx="9144000" cy="48769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1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GLYCOGENE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1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1 mol. de GLUCOSE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        </a:t>
            </a:r>
            <a:endParaRPr b="0" lang="en-US" sz="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2 mol. d'ACIDE LACTIQUE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12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 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+ 197 kJ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Au  pH du muscle (7.05 à 6.1)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  C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H</a:t>
            </a:r>
            <a:r>
              <a:rPr b="1" lang="fr-FR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+     C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0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Proton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Anion :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 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fef9"/>
                </a:solidFill>
                <a:effectLst/>
                <a:uFillTx/>
                <a:latin typeface="Arial"/>
              </a:rPr>
              <a:t>A l'échelle de l'organisme il n'y a que très peu d'acide lacti-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fef9"/>
                </a:solidFill>
                <a:effectLst/>
                <a:uFillTx/>
                <a:latin typeface="Arial"/>
              </a:rPr>
              <a:t>que sous sa forme acide mais surtout des ions lactate.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8"/>
          <p:cNvSpPr/>
          <p:nvPr/>
        </p:nvSpPr>
        <p:spPr>
          <a:xfrm>
            <a:off x="1149480" y="1758960"/>
            <a:ext cx="6540480" cy="1968480"/>
          </a:xfrm>
          <a:prstGeom prst="rect">
            <a:avLst/>
          </a:prstGeom>
          <a:noFill/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Line 9"/>
          <p:cNvSpPr/>
          <p:nvPr/>
        </p:nvSpPr>
        <p:spPr>
          <a:xfrm>
            <a:off x="3124080" y="2286000"/>
            <a:ext cx="0" cy="3049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AutoShape 10"/>
          <p:cNvSpPr/>
          <p:nvPr/>
        </p:nvSpPr>
        <p:spPr>
          <a:xfrm>
            <a:off x="4495680" y="2209680"/>
            <a:ext cx="749520" cy="1206720"/>
          </a:xfrm>
          <a:custGeom>
            <a:avLst/>
            <a:gdLst>
              <a:gd name="textAreaLeft" fmla="*/ 0 w 749520"/>
              <a:gd name="textAreaRight" fmla="*/ 749880 w 749520"/>
              <a:gd name="textAreaTop" fmla="*/ 0 h 1206720"/>
              <a:gd name="textAreaBottom" fmla="*/ 1206720 h 12067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4400" y="0"/>
                </a:lnTo>
                <a:lnTo>
                  <a:pt x="21600" y="10800"/>
                </a:lnTo>
                <a:lnTo>
                  <a:pt x="144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d00"/>
          </a:solidFill>
          <a:ln w="12600">
            <a:solidFill>
              <a:srgbClr val="f766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Line 11"/>
          <p:cNvSpPr/>
          <p:nvPr/>
        </p:nvSpPr>
        <p:spPr>
          <a:xfrm>
            <a:off x="3352680" y="4191120"/>
            <a:ext cx="144792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Line 12"/>
          <p:cNvSpPr/>
          <p:nvPr/>
        </p:nvSpPr>
        <p:spPr>
          <a:xfrm>
            <a:off x="3657600" y="533412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Rectangle 13"/>
          <p:cNvSpPr/>
          <p:nvPr/>
        </p:nvSpPr>
        <p:spPr>
          <a:xfrm>
            <a:off x="6781680" y="1143000"/>
            <a:ext cx="228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Rectangle 14"/>
          <p:cNvSpPr/>
          <p:nvPr/>
        </p:nvSpPr>
        <p:spPr>
          <a:xfrm>
            <a:off x="5486400" y="2666880"/>
            <a:ext cx="220968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= 3 mol. d'ATP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Line 15"/>
          <p:cNvSpPr/>
          <p:nvPr/>
        </p:nvSpPr>
        <p:spPr>
          <a:xfrm>
            <a:off x="2743200" y="2590920"/>
            <a:ext cx="0" cy="45720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Text Box 16"/>
          <p:cNvSpPr/>
          <p:nvPr/>
        </p:nvSpPr>
        <p:spPr>
          <a:xfrm>
            <a:off x="0" y="5105520"/>
            <a:ext cx="25909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Acide lactique :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Rectangle 17"/>
          <p:cNvSpPr/>
          <p:nvPr/>
        </p:nvSpPr>
        <p:spPr>
          <a:xfrm>
            <a:off x="4648320" y="5105520"/>
            <a:ext cx="304560" cy="304560"/>
          </a:xfrm>
          <a:prstGeom prst="rect">
            <a:avLst/>
          </a:prstGeom>
          <a:noFill/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nodeType="clickEffect" fill="hold">
                      <p:stCondLst>
                        <p:cond delay="indefinite"/>
                      </p:stCondLst>
                      <p:childTnLst>
                        <p:par>
                          <p:cTn id="1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0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0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nodeType="clickEffect" fill="hold">
                      <p:stCondLst>
                        <p:cond delay="indefinite"/>
                      </p:stCondLst>
                      <p:childTnLst>
                        <p:par>
                          <p:cTn id="1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5" dur="2000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3" dur="500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nodeType="after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nodeType="after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1" dur="2000"/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66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172" nodeType="afterEffect" fill="hold" presetClass="entr" presetID="53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" dur="1000" fill="hold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1000" fill="hold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6" dur="1000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nodeType="clickEffect" fill="hold">
                      <p:stCondLst>
                        <p:cond delay="indefinite"/>
                      </p:stCondLst>
                      <p:childTnLst>
                        <p:par>
                          <p:cTn id="1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1" dur="2000"/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4" dur="2000"/>
                                        <p:tgtEl>
                                          <p:spTgt spid="1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F911A8-C900-44A9-8ACA-F46A93E6851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154440" y="2789280"/>
            <a:ext cx="889128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2.2 - Le lactate est-il un « déchet » ?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21D2C0-2EC5-4FF0-BB20-970564ACA47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52280" y="228240"/>
            <a:ext cx="8686800" cy="1143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DONC : EST- IL MAUVAIS DE PRODUIRE BEAUCOUP DE LACTATE ?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94920" y="4939920"/>
            <a:ext cx="8381880" cy="158436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3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L’athlète qui réussit dans les disciplines courtes est celui qui produit le plus de lactate par unité de temps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b="0" i="1" lang="fr-FR" sz="2400" strike="noStrike" u="non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(Lacour et Coll. 1991)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Text Box 7"/>
          <p:cNvSpPr/>
          <p:nvPr/>
        </p:nvSpPr>
        <p:spPr>
          <a:xfrm>
            <a:off x="522720" y="1596960"/>
            <a:ext cx="82332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Une molécule de glycogène permet la synthèse de 3 ATP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et s’accompagne de la formation de 2 molécules de lactate.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8"/>
          <p:cNvSpPr/>
          <p:nvPr/>
        </p:nvSpPr>
        <p:spPr>
          <a:xfrm>
            <a:off x="594720" y="2943360"/>
            <a:ext cx="8470080" cy="16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Donc, plus le muscle produit de lactate  par unité de temps,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plus de molécules d’ATP ont été synthétisées et donc plus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important a été le travail musculaire.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185" dur="indefinite" restart="never" nodeType="tmRoot">
          <p:childTnLst>
            <p:seq>
              <p:cTn id="186" dur="indefinite" nodeType="mainSeq">
                <p:childTnLst>
                  <p:par>
                    <p:cTn id="187" nodeType="clickEffect" fill="hold">
                      <p:stCondLst>
                        <p:cond delay="0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91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nodeType="clickEffect" fill="hold">
                      <p:stCondLst>
                        <p:cond delay="indefinite"/>
                      </p:stCondLst>
                      <p:childTnLst>
                        <p:par>
                          <p:cTn id="1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0" dur="20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3747E4-9229-477A-A35B-673BF46C4BD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85800" y="758520"/>
            <a:ext cx="7772400" cy="46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Arial Rounded MT Bold"/>
              </a:rPr>
              <a:t>Sprint et lactatémie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 Box 3"/>
          <p:cNvSpPr/>
          <p:nvPr/>
        </p:nvSpPr>
        <p:spPr>
          <a:xfrm>
            <a:off x="380880" y="1836720"/>
            <a:ext cx="8399520" cy="46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Après des courses de 100 et 400m, des valeurs élevées de [La]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ont été mesurées : 12,5mmol/l et 20,1mmol/l.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Plus les athlètes courent vite, plus ils présentent des [La]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élevées en fin de compétition. [La]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apparaît donc comme un témoin de la performance au sprint (Brett et coll, AEFA n°162, 2001).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>
    <p:dissolve/>
  </p:transition>
  <p:timing>
    <p:tnLst>
      <p:par>
        <p:cTn id="201" dur="indefinite" restart="never" nodeType="tmRoot">
          <p:childTnLst>
            <p:seq>
              <p:cTn id="202" dur="indefinite" nodeType="mainSeq">
                <p:childTnLst>
                  <p:par>
                    <p:cTn id="203" nodeType="clickEffect" fill="hold">
                      <p:stCondLst>
                        <p:cond delay="0"/>
                      </p:stCondLst>
                      <p:childTnLst>
                        <p:par>
                          <p:cTn id="2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afterEffect" fill="hold" presetClass="entr" presetID="4" presetSubtype="16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0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nodeType="clickEffect" fill="hold">
                      <p:stCondLst>
                        <p:cond delay="indefinite"/>
                      </p:stCondLst>
                      <p:childTnLst>
                        <p:par>
                          <p:cTn id="2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2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7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3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99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21" dur="1" fill="hold"/>
                                  <p:tgtEl>
                                    <p:spTgt spid="173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99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30A174-BBD7-47B7-B61E-7445DF5D6FD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28240" y="-360"/>
            <a:ext cx="8915400" cy="152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LACTATE ET EXERCICE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900000" y="2565000"/>
            <a:ext cx="7772400" cy="28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100m sprint……………environ 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-16 mmol/l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200m sprint……………environ 18-20 mmol/l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400,800 et 1500m……environ  22-26 mmol/l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5000m…………………environ  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mmol/l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10000m………………..environ    8 mmol/l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ZoneTexte 1"/>
          <p:cNvSpPr/>
          <p:nvPr/>
        </p:nvSpPr>
        <p:spPr>
          <a:xfrm>
            <a:off x="-1077480" y="5589720"/>
            <a:ext cx="114278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QUESTION :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Comment expliquer  que les concentrations en lactate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sanguin soient sensiblement équivalentes après un 100m et un 5000 m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222" dur="indefinite" restart="never" nodeType="tmRoot">
          <p:childTnLst>
            <p:seq>
              <p:cTn id="223" dur="indefinite" nodeType="mainSeq">
                <p:childTnLst>
                  <p:par>
                    <p:cTn id="224" nodeType="clickEffect" fill="hold">
                      <p:stCondLst>
                        <p:cond delay="indefinite"/>
                      </p:stCondLst>
                      <p:childTnLst>
                        <p:par>
                          <p:cTn id="2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8" dur="10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nodeType="afterEffect" fill="hold" presetClass="entr" presetID="22" presetSubtype="8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2" dur="1000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B4CEAE-2E37-472A-9BD6-E3EA26F86244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Rectangle 2"/>
          <p:cNvSpPr/>
          <p:nvPr/>
        </p:nvSpPr>
        <p:spPr>
          <a:xfrm>
            <a:off x="0" y="2730600"/>
            <a:ext cx="914256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QUEL EST LE DEVENIR DU LACTATE ?</a:t>
            </a:r>
            <a:br>
              <a:rPr sz="3200"/>
            </a:br>
            <a:br>
              <a:rPr sz="3200"/>
            </a:b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ou : Lactate et récupération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2"/>
          <p:cNvSpPr/>
          <p:nvPr/>
        </p:nvSpPr>
        <p:spPr>
          <a:xfrm>
            <a:off x="6095880" y="914400"/>
            <a:ext cx="167328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Rectangle 3"/>
          <p:cNvSpPr/>
          <p:nvPr/>
        </p:nvSpPr>
        <p:spPr>
          <a:xfrm>
            <a:off x="3276720" y="1981080"/>
            <a:ext cx="26953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CELLULE MUSCULAIRE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Oval 4"/>
          <p:cNvSpPr/>
          <p:nvPr/>
        </p:nvSpPr>
        <p:spPr>
          <a:xfrm>
            <a:off x="608040" y="3429000"/>
            <a:ext cx="1322280" cy="1089000"/>
          </a:xfrm>
          <a:prstGeom prst="ellipse">
            <a:avLst/>
          </a:prstGeom>
          <a:solidFill>
            <a:srgbClr val="ffff00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609480" y="3581280"/>
            <a:ext cx="129564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CAPILLAIRE SANGUIN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1600200" y="4419720"/>
            <a:ext cx="4111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7"/>
          <p:cNvSpPr/>
          <p:nvPr/>
        </p:nvSpPr>
        <p:spPr>
          <a:xfrm>
            <a:off x="6934320" y="2895480"/>
            <a:ext cx="144144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Line 8"/>
          <p:cNvSpPr/>
          <p:nvPr/>
        </p:nvSpPr>
        <p:spPr>
          <a:xfrm>
            <a:off x="6858000" y="1295280"/>
            <a:ext cx="609480" cy="1600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Rectangle 9"/>
          <p:cNvSpPr/>
          <p:nvPr/>
        </p:nvSpPr>
        <p:spPr>
          <a:xfrm>
            <a:off x="4800600" y="3809880"/>
            <a:ext cx="129240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6629400" y="5257800"/>
            <a:ext cx="1447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Cycle de Krebs.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3048120" y="4876920"/>
            <a:ext cx="420516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ADP                 ATP  (36)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Line 12"/>
          <p:cNvSpPr/>
          <p:nvPr/>
        </p:nvSpPr>
        <p:spPr>
          <a:xfrm>
            <a:off x="3657600" y="5257800"/>
            <a:ext cx="2887560" cy="0"/>
          </a:xfrm>
          <a:prstGeom prst="line">
            <a:avLst/>
          </a:prstGeom>
          <a:ln w="38160">
            <a:solidFill>
              <a:srgbClr val="ffff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Rectangle 13"/>
          <p:cNvSpPr/>
          <p:nvPr/>
        </p:nvSpPr>
        <p:spPr>
          <a:xfrm>
            <a:off x="3252960" y="4629240"/>
            <a:ext cx="5651280" cy="131436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Arc 14"/>
          <p:cNvSpPr/>
          <p:nvPr/>
        </p:nvSpPr>
        <p:spPr>
          <a:xfrm>
            <a:off x="6500880" y="4832280"/>
            <a:ext cx="1625400" cy="1035000"/>
          </a:xfrm>
          <a:custGeom>
            <a:avLst/>
            <a:gdLst>
              <a:gd name="GluePoint1X" fmla="*/ 2147483647 w 43200"/>
              <a:gd name="GluePoint1Y" fmla="*/ 0 h 42879"/>
              <a:gd name="GluePoint2X" fmla="*/ 2147483647 w 43200"/>
              <a:gd name="GluePoint2Y" fmla="*/ 2147483647 h 42879"/>
              <a:gd name="GluePoint3X" fmla="*/ 2147483647 w 43200"/>
              <a:gd name="GluePoint3Y" fmla="*/ 2147483647 h 428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</a:path>
              <a:path stroke="0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  <a:lnTo>
                  <a:pt x="21600" y="21279"/>
                </a:lnTo>
                <a:lnTo>
                  <a:pt x="25311" y="0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Arc 15"/>
          <p:cNvSpPr/>
          <p:nvPr/>
        </p:nvSpPr>
        <p:spPr>
          <a:xfrm>
            <a:off x="7924680" y="4952880"/>
            <a:ext cx="758880" cy="184320"/>
          </a:xfrm>
          <a:custGeom>
            <a:avLst/>
            <a:gdLst>
              <a:gd name="GluePoint1X" fmla="*/ 2147483647 w 40344"/>
              <a:gd name="GluePoint1Y" fmla="*/ 2147483647 h 37688"/>
              <a:gd name="GluePoint2X" fmla="*/ 2147483647 w 40344"/>
              <a:gd name="GluePoint2Y" fmla="*/ 0 h 37688"/>
              <a:gd name="GluePoint3X" fmla="*/ 2147483647 w 40344"/>
              <a:gd name="GluePoint3Y" fmla="*/ 2147483647 h 376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stroke="0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cap="rnd" w="19080">
            <a:solidFill>
              <a:srgbClr val="ffffff"/>
            </a:solidFill>
            <a:round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Rectangle 16"/>
          <p:cNvSpPr/>
          <p:nvPr/>
        </p:nvSpPr>
        <p:spPr>
          <a:xfrm>
            <a:off x="8305920" y="4800600"/>
            <a:ext cx="6094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Arc 17"/>
          <p:cNvSpPr/>
          <p:nvPr/>
        </p:nvSpPr>
        <p:spPr>
          <a:xfrm rot="19020000">
            <a:off x="1738440" y="1998360"/>
            <a:ext cx="3975120" cy="3832200"/>
          </a:xfrm>
          <a:custGeom>
            <a:avLst/>
            <a:gdLst>
              <a:gd name="GluePoint1X" fmla="*/ 0 w 21889"/>
              <a:gd name="GluePoint1Y" fmla="*/ 2147483647 h 21600"/>
              <a:gd name="GluePoint2X" fmla="*/ 2147483647 w 21889"/>
              <a:gd name="GluePoint2Y" fmla="*/ 2147483647 h 21600"/>
              <a:gd name="GluePoint3X" fmla="*/ 2147483647 w 21889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</a:path>
              <a:path stroke="0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  <a:lnTo>
                  <a:pt x="21518" y="21600"/>
                </a:lnTo>
                <a:lnTo>
                  <a:pt x="0" y="19717"/>
                </a:lnTo>
                <a:close/>
              </a:path>
            </a:pathLst>
          </a:custGeom>
          <a:noFill/>
          <a:ln cap="rnd" w="7632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Rectangle 18"/>
          <p:cNvSpPr/>
          <p:nvPr/>
        </p:nvSpPr>
        <p:spPr>
          <a:xfrm>
            <a:off x="7926840" y="3429000"/>
            <a:ext cx="5101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Arc 19"/>
          <p:cNvSpPr/>
          <p:nvPr/>
        </p:nvSpPr>
        <p:spPr>
          <a:xfrm>
            <a:off x="7467480" y="3657600"/>
            <a:ext cx="701640" cy="209520"/>
          </a:xfrm>
          <a:custGeom>
            <a:avLst/>
            <a:gdLst>
              <a:gd name="GluePoint1X" fmla="*/ 2147483647 w 42590"/>
              <a:gd name="GluePoint1Y" fmla="*/ 2147483647 h 21600"/>
              <a:gd name="GluePoint2X" fmla="*/ 0 w 42590"/>
              <a:gd name="GluePoint2Y" fmla="*/ 2147483647 h 21600"/>
              <a:gd name="GluePoint3X" fmla="*/ 2147483647 w 4259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</a:path>
              <a:path stroke="0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  <a:lnTo>
                  <a:pt x="21589" y="0"/>
                </a:lnTo>
                <a:lnTo>
                  <a:pt x="42590" y="5051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Line 20"/>
          <p:cNvSpPr/>
          <p:nvPr/>
        </p:nvSpPr>
        <p:spPr>
          <a:xfrm>
            <a:off x="4572000" y="5105520"/>
            <a:ext cx="48276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Line 21"/>
          <p:cNvSpPr/>
          <p:nvPr/>
        </p:nvSpPr>
        <p:spPr>
          <a:xfrm>
            <a:off x="1930320" y="4629240"/>
            <a:ext cx="1650960" cy="628560"/>
          </a:xfrm>
          <a:prstGeom prst="line">
            <a:avLst/>
          </a:prstGeom>
          <a:ln w="1260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22"/>
          <p:cNvSpPr/>
          <p:nvPr/>
        </p:nvSpPr>
        <p:spPr>
          <a:xfrm>
            <a:off x="7390800" y="1676520"/>
            <a:ext cx="909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ATP</a:t>
            </a: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(+3)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reeform 23"/>
          <p:cNvSpPr/>
          <p:nvPr/>
        </p:nvSpPr>
        <p:spPr>
          <a:xfrm>
            <a:off x="7010280" y="1600200"/>
            <a:ext cx="304920" cy="244440"/>
          </a:xfrm>
          <a:custGeom>
            <a:avLst/>
            <a:gdLst>
              <a:gd name="GluePoint1X" fmla="*/ 2147483647 w 144"/>
              <a:gd name="GluePoint1Y" fmla="*/ 0 h 224"/>
              <a:gd name="GluePoint2X" fmla="*/ 0 w 144"/>
              <a:gd name="GluePoint2Y" fmla="*/ 2147483647 h 224"/>
              <a:gd name="GluePoint3X" fmla="*/ 2147483647 w 144"/>
              <a:gd name="GluePoint3Y" fmla="*/ 2147483647 h 2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44" h="224">
                <a:moveTo>
                  <a:pt x="144" y="0"/>
                </a:moveTo>
                <a:cubicBezTo>
                  <a:pt x="72" y="80"/>
                  <a:pt x="0" y="160"/>
                  <a:pt x="0" y="192"/>
                </a:cubicBezTo>
                <a:cubicBezTo>
                  <a:pt x="0" y="224"/>
                  <a:pt x="120" y="192"/>
                  <a:pt x="144" y="192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Text Box 24"/>
          <p:cNvSpPr/>
          <p:nvPr/>
        </p:nvSpPr>
        <p:spPr>
          <a:xfrm>
            <a:off x="7392600" y="1336680"/>
            <a:ext cx="656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ADP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Text Box 25"/>
          <p:cNvSpPr/>
          <p:nvPr/>
        </p:nvSpPr>
        <p:spPr>
          <a:xfrm>
            <a:off x="5796000" y="3198960"/>
            <a:ext cx="3700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AutoShape 26"/>
          <p:cNvSpPr/>
          <p:nvPr/>
        </p:nvSpPr>
        <p:spPr>
          <a:xfrm>
            <a:off x="6553080" y="1600200"/>
            <a:ext cx="470160" cy="209520"/>
          </a:xfrm>
          <a:custGeom>
            <a:avLst/>
            <a:gdLst>
              <a:gd name="textAreaLeft" fmla="*/ 63000 w 470160"/>
              <a:gd name="textAreaRight" fmla="*/ 407160 w 470160"/>
              <a:gd name="textAreaTop" fmla="*/ 45000 h 209520"/>
              <a:gd name="textAreaBottom" fmla="*/ 143640 h 2095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288" stAng="-5400000" swAng="5400000"/>
                <a:lnTo>
                  <a:pt x="21600" y="10152"/>
                </a:lnTo>
                <a:arcTo wR="21600" hR="9288" stAng="0" swAng="3355657"/>
                <a:lnTo>
                  <a:pt x="6032" y="21230"/>
                </a:lnTo>
                <a:lnTo>
                  <a:pt x="0" y="19008"/>
                </a:lnTo>
                <a:lnTo>
                  <a:pt x="6032" y="16046"/>
                </a:lnTo>
                <a:lnTo>
                  <a:pt x="6032" y="18206"/>
                </a:lnTo>
                <a:arcTo wR="21600" hR="9288" stAng="3355657" swAng="-3286837"/>
                <a:lnTo>
                  <a:pt x="21577" y="9720"/>
                </a:lnTo>
                <a:arcTo wR="21600" hR="9288" stAng="-68820" swAng="-5331180"/>
                <a:close/>
              </a:path>
              <a:path fill="darkenLess" w="21600" h="21600">
                <a:moveTo>
                  <a:pt x="0" y="0"/>
                </a:moveTo>
                <a:arcTo wR="21600" hR="9288" stAng="-5400000" swAng="5400000"/>
                <a:lnTo>
                  <a:pt x="21600" y="10152"/>
                </a:lnTo>
                <a:arcTo wR="21600" hR="9288" stAng="0" swAng="-68820"/>
                <a:lnTo>
                  <a:pt x="21577" y="9720"/>
                </a:lnTo>
                <a:arcTo wR="21600" hR="9288" stAng="-68820" swAng="-5331180"/>
                <a:close/>
              </a:path>
            </a:pathLst>
          </a:custGeom>
          <a:solidFill>
            <a:srgbClr val="00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 Box 27"/>
          <p:cNvSpPr/>
          <p:nvPr/>
        </p:nvSpPr>
        <p:spPr>
          <a:xfrm>
            <a:off x="6019920" y="1752480"/>
            <a:ext cx="76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NADH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Line 28"/>
          <p:cNvSpPr/>
          <p:nvPr/>
        </p:nvSpPr>
        <p:spPr>
          <a:xfrm flipH="1">
            <a:off x="6019920" y="1981080"/>
            <a:ext cx="309600" cy="129564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Line 29"/>
          <p:cNvSpPr/>
          <p:nvPr/>
        </p:nvSpPr>
        <p:spPr>
          <a:xfrm>
            <a:off x="6095880" y="3429000"/>
            <a:ext cx="50796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Line 30"/>
          <p:cNvSpPr/>
          <p:nvPr/>
        </p:nvSpPr>
        <p:spPr>
          <a:xfrm flipV="1">
            <a:off x="6629400" y="3123720"/>
            <a:ext cx="0" cy="3049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31"/>
          <p:cNvSpPr/>
          <p:nvPr/>
        </p:nvSpPr>
        <p:spPr>
          <a:xfrm>
            <a:off x="6324480" y="2895480"/>
            <a:ext cx="6858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Line 32"/>
          <p:cNvSpPr/>
          <p:nvPr/>
        </p:nvSpPr>
        <p:spPr>
          <a:xfrm flipH="1" flipV="1">
            <a:off x="6476760" y="1600200"/>
            <a:ext cx="152280" cy="129528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Line 33"/>
          <p:cNvSpPr/>
          <p:nvPr/>
        </p:nvSpPr>
        <p:spPr>
          <a:xfrm flipH="1">
            <a:off x="6095880" y="3200400"/>
            <a:ext cx="914400" cy="6094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Line 34"/>
          <p:cNvSpPr/>
          <p:nvPr/>
        </p:nvSpPr>
        <p:spPr>
          <a:xfrm>
            <a:off x="7467480" y="3200400"/>
            <a:ext cx="0" cy="16002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Line 35"/>
          <p:cNvSpPr/>
          <p:nvPr/>
        </p:nvSpPr>
        <p:spPr>
          <a:xfrm>
            <a:off x="1569960" y="4427640"/>
            <a:ext cx="120600" cy="6804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36"/>
          <p:cNvSpPr/>
          <p:nvPr/>
        </p:nvSpPr>
        <p:spPr>
          <a:xfrm>
            <a:off x="2895480" y="5257800"/>
            <a:ext cx="37562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Chaîne des transporteurs d’électrons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Arc 37"/>
          <p:cNvSpPr/>
          <p:nvPr/>
        </p:nvSpPr>
        <p:spPr>
          <a:xfrm rot="10321200">
            <a:off x="5943600" y="5637960"/>
            <a:ext cx="758880" cy="181080"/>
          </a:xfrm>
          <a:custGeom>
            <a:avLst/>
            <a:gdLst>
              <a:gd name="GluePoint1X" fmla="*/ 2147483647 w 40344"/>
              <a:gd name="GluePoint1Y" fmla="*/ 2147483647 h 37688"/>
              <a:gd name="GluePoint2X" fmla="*/ 2147483647 w 40344"/>
              <a:gd name="GluePoint2Y" fmla="*/ 0 h 37688"/>
              <a:gd name="GluePoint3X" fmla="*/ 2147483647 w 40344"/>
              <a:gd name="GluePoint3Y" fmla="*/ 2147483647 h 376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stroke="0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cap="rnd" w="19080">
            <a:solidFill>
              <a:srgbClr val="ffffff"/>
            </a:solidFill>
            <a:round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 Box 38"/>
          <p:cNvSpPr/>
          <p:nvPr/>
        </p:nvSpPr>
        <p:spPr>
          <a:xfrm>
            <a:off x="5638680" y="5562720"/>
            <a:ext cx="5335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Rectangle 39"/>
          <p:cNvSpPr/>
          <p:nvPr/>
        </p:nvSpPr>
        <p:spPr>
          <a:xfrm>
            <a:off x="304920" y="228600"/>
            <a:ext cx="8654760" cy="64008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 Box 40"/>
          <p:cNvSpPr/>
          <p:nvPr/>
        </p:nvSpPr>
        <p:spPr>
          <a:xfrm>
            <a:off x="3373560" y="4629240"/>
            <a:ext cx="54100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MITOCHONDRIE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OXYDATION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Text Box 41"/>
          <p:cNvSpPr/>
          <p:nvPr/>
        </p:nvSpPr>
        <p:spPr>
          <a:xfrm>
            <a:off x="380880" y="1981080"/>
            <a:ext cx="26449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MILIEU INTERSTITIEL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 Box 42"/>
          <p:cNvSpPr/>
          <p:nvPr/>
        </p:nvSpPr>
        <p:spPr>
          <a:xfrm>
            <a:off x="6097320" y="134928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Line 43"/>
          <p:cNvSpPr/>
          <p:nvPr/>
        </p:nvSpPr>
        <p:spPr>
          <a:xfrm flipV="1">
            <a:off x="5791320" y="5486040"/>
            <a:ext cx="0" cy="152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 Box 44"/>
          <p:cNvSpPr/>
          <p:nvPr/>
        </p:nvSpPr>
        <p:spPr>
          <a:xfrm>
            <a:off x="390960" y="685800"/>
            <a:ext cx="3661200" cy="581400"/>
          </a:xfrm>
          <a:prstGeom prst="rect">
            <a:avLst/>
          </a:prstGeom>
          <a:solidFill>
            <a:srgbClr val="cccc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1 - EXERCICE INTENSE ( &gt;PAM ) et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COURTE DUREE (400 m - 800 m)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AutoShape 45"/>
          <p:cNvSpPr/>
          <p:nvPr/>
        </p:nvSpPr>
        <p:spPr>
          <a:xfrm>
            <a:off x="5181480" y="3048120"/>
            <a:ext cx="228600" cy="6858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AutoShape 46"/>
          <p:cNvSpPr/>
          <p:nvPr/>
        </p:nvSpPr>
        <p:spPr>
          <a:xfrm flipV="1">
            <a:off x="1905120" y="3809160"/>
            <a:ext cx="2819160" cy="228600"/>
          </a:xfrm>
          <a:prstGeom prst="leftArrow">
            <a:avLst>
              <a:gd name="adj1" fmla="val 50000"/>
              <a:gd name="adj2" fmla="val 308307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47"/>
          <p:cNvSpPr/>
          <p:nvPr/>
        </p:nvSpPr>
        <p:spPr>
          <a:xfrm>
            <a:off x="609120" y="4038480"/>
            <a:ext cx="1329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LACTATEMIE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48"/>
          <p:cNvSpPr/>
          <p:nvPr/>
        </p:nvSpPr>
        <p:spPr>
          <a:xfrm>
            <a:off x="4651200" y="2362320"/>
            <a:ext cx="15210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Accumulation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intracellulaire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 Box 49"/>
          <p:cNvSpPr/>
          <p:nvPr/>
        </p:nvSpPr>
        <p:spPr>
          <a:xfrm>
            <a:off x="2187360" y="3200400"/>
            <a:ext cx="24559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Transport membranaire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extra 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Oval 52"/>
          <p:cNvSpPr/>
          <p:nvPr/>
        </p:nvSpPr>
        <p:spPr>
          <a:xfrm>
            <a:off x="2411280" y="3789360"/>
            <a:ext cx="287640" cy="289080"/>
          </a:xfrm>
          <a:prstGeom prst="ellipse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 Box 53"/>
          <p:cNvSpPr/>
          <p:nvPr/>
        </p:nvSpPr>
        <p:spPr>
          <a:xfrm>
            <a:off x="1910160" y="4076640"/>
            <a:ext cx="66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MCT4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onnecteur droit 2"/>
          <p:cNvSpPr/>
          <p:nvPr/>
        </p:nvSpPr>
        <p:spPr>
          <a:xfrm>
            <a:off x="2411280" y="3933720"/>
            <a:ext cx="28764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9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48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" dur="3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252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" dur="3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nodeType="afterEffect" fill="hold">
                            <p:stCondLst>
                              <p:cond delay="6200"/>
                            </p:stCondLst>
                            <p:childTnLst>
                              <p:par>
                                <p:cTn id="256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5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nodeType="afterEffect" fill="hold">
                            <p:stCondLst>
                              <p:cond delay="6700"/>
                            </p:stCondLst>
                            <p:childTnLst>
                              <p:par>
                                <p:cTn id="260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2" dur="3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nodeType="afterEffect" fill="hold">
                            <p:stCondLst>
                              <p:cond delay="7300"/>
                            </p:stCondLst>
                            <p:childTnLst>
                              <p:par>
                                <p:cTn id="264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6" dur="3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nodeType="afterEffect" fill="hold">
                            <p:stCondLst>
                              <p:cond delay="9600"/>
                            </p:stCondLst>
                            <p:childTnLst>
                              <p:par>
                                <p:cTn id="2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nodeType="afterEffect" fill="hold">
                            <p:stCondLst>
                              <p:cond delay="10100"/>
                            </p:stCondLst>
                            <p:childTnLst>
                              <p:par>
                                <p:cTn id="272" nodeType="afterEffect" fill="hold" presetClass="entr" presetID="2" presetSubtype="1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75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75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nodeType="afterEffect" fill="hold">
                            <p:stCondLst>
                              <p:cond delay="11325"/>
                            </p:stCondLst>
                            <p:childTnLst>
                              <p:par>
                                <p:cTn id="27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nodeType="afterEffect" fill="hold">
                            <p:stCondLst>
                              <p:cond delay="11825"/>
                            </p:stCondLst>
                            <p:childTnLst>
                              <p:par>
                                <p:cTn id="281" nodeType="afterEffect" fill="hold" presetClass="entr" presetID="2" presetSubtype="2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75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75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nodeType="afterEffect" fill="hold">
                            <p:stCondLst>
                              <p:cond delay="13350"/>
                            </p:stCondLst>
                            <p:childTnLst>
                              <p:par>
                                <p:cTn id="286" nodeType="afterEffect" fill="hold" presetClass="entr" presetID="2" presetSubtype="1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75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75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nodeType="afterEffect" fill="hold">
                            <p:stCondLst>
                              <p:cond delay="15575"/>
                            </p:stCondLst>
                            <p:childTnLst>
                              <p:par>
                                <p:cTn id="29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nodeType="afterEffect" fill="hold">
                            <p:stCondLst>
                              <p:cond delay="16075"/>
                            </p:stCondLst>
                            <p:childTnLst>
                              <p:par>
                                <p:cTn id="295" nodeType="afterEffect" fill="hold" presetClass="entr" presetID="18" presetSubtype="6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297" dur="75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nodeType="afterEffect" fill="hold">
                            <p:stCondLst>
                              <p:cond delay="16375"/>
                            </p:stCondLst>
                            <p:childTnLst>
                              <p:par>
                                <p:cTn id="29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nodeType="afterEffect" fill="hold">
                            <p:stCondLst>
                              <p:cond delay="17875"/>
                            </p:stCondLst>
                            <p:childTnLst>
                              <p:par>
                                <p:cTn id="30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nodeType="afterEffect" fill="hold">
                            <p:stCondLst>
                              <p:cond delay="19375"/>
                            </p:stCondLst>
                            <p:childTnLst>
                              <p:par>
                                <p:cTn id="30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nodeType="afterEffect" fill="hold">
                            <p:stCondLst>
                              <p:cond delay="20875"/>
                            </p:stCondLst>
                            <p:childTnLst>
                              <p:par>
                                <p:cTn id="311" nodeType="afterEffect" fill="hold" presetClass="entr" presetID="23" presetSubtype="27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nodeType="afterEffect" fill="hold">
                            <p:stCondLst>
                              <p:cond delay="22375"/>
                            </p:stCondLst>
                            <p:childTnLst>
                              <p:par>
                                <p:cTn id="316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nodeType="afterEffect" fill="hold">
                            <p:stCondLst>
                              <p:cond delay="24875"/>
                            </p:stCondLst>
                            <p:childTnLst>
                              <p:par>
                                <p:cTn id="320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2" dur="75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nodeType="afterEffect" fill="hold">
                            <p:stCondLst>
                              <p:cond delay="26400"/>
                            </p:stCondLst>
                            <p:childTnLst>
                              <p:par>
                                <p:cTn id="324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nodeType="afterEffect" fill="hold">
                            <p:stCondLst>
                              <p:cond delay="28900"/>
                            </p:stCondLst>
                            <p:childTnLst>
                              <p:par>
                                <p:cTn id="328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0" dur="75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nodeType="afterEffect" fill="hold">
                            <p:stCondLst>
                              <p:cond delay="30125"/>
                            </p:stCondLst>
                            <p:childTnLst>
                              <p:par>
                                <p:cTn id="33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nodeType="afterEffect" fill="hold">
                            <p:stCondLst>
                              <p:cond delay="31625"/>
                            </p:stCondLst>
                            <p:childTnLst>
                              <p:par>
                                <p:cTn id="336" nodeType="afterEffect" fill="hold" presetClass="entr" presetID="17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0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nodeType="afterEffect" fill="hold">
                            <p:stCondLst>
                              <p:cond delay="33125"/>
                            </p:stCondLst>
                            <p:childTnLst>
                              <p:par>
                                <p:cTn id="343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5" dur="75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nodeType="afterEffect" fill="hold">
                            <p:stCondLst>
                              <p:cond delay="36150"/>
                            </p:stCondLst>
                            <p:childTnLst>
                              <p:par>
                                <p:cTn id="347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0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nodeType="afterEffect" fill="hold">
                            <p:stCondLst>
                              <p:cond delay="37650"/>
                            </p:stCondLst>
                            <p:childTnLst>
                              <p:par>
                                <p:cTn id="354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nodeType="afterEffect" fill="hold">
                            <p:stCondLst>
                              <p:cond delay="38150"/>
                            </p:stCondLst>
                            <p:childTnLst>
                              <p:par>
                                <p:cTn id="36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6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6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nodeType="afterEffect" fill="hold">
                            <p:stCondLst>
                              <p:cond delay="38650"/>
                            </p:stCondLst>
                            <p:childTnLst>
                              <p:par>
                                <p:cTn id="36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nodeType="afterEffect" fill="hold">
                            <p:stCondLst>
                              <p:cond delay="40150"/>
                            </p:stCondLst>
                            <p:childTnLst>
                              <p:par>
                                <p:cTn id="373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5" dur="75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nodeType="afterEffect" fill="hold">
                            <p:stCondLst>
                              <p:cond delay="40900"/>
                            </p:stCondLst>
                            <p:childTnLst>
                              <p:par>
                                <p:cTn id="37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nodeType="afterEffect" fill="hold">
                            <p:stCondLst>
                              <p:cond delay="41400"/>
                            </p:stCondLst>
                            <p:childTnLst>
                              <p:par>
                                <p:cTn id="380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2" dur="75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nodeType="afterEffect" fill="hold">
                            <p:stCondLst>
                              <p:cond delay="42975"/>
                            </p:stCondLst>
                            <p:childTnLst>
                              <p:par>
                                <p:cTn id="38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nodeType="afterEffect" fill="hold">
                            <p:stCondLst>
                              <p:cond delay="43475"/>
                            </p:stCondLst>
                            <p:childTnLst>
                              <p:par>
                                <p:cTn id="387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9" dur="75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nodeType="afterEffect" fill="hold">
                            <p:stCondLst>
                              <p:cond delay="43625"/>
                            </p:stCondLst>
                            <p:childTnLst>
                              <p:par>
                                <p:cTn id="391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4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5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nodeType="afterEffect" fill="hold">
                            <p:stCondLst>
                              <p:cond delay="44125"/>
                            </p:stCondLst>
                            <p:childTnLst>
                              <p:par>
                                <p:cTn id="398" nodeType="afterEffect" fill="hold" presetClass="entr" presetID="17" presetSubtype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nodeType="afterEffect" fill="hold">
                            <p:stCondLst>
                              <p:cond delay="46625"/>
                            </p:stCondLst>
                            <p:childTnLst>
                              <p:par>
                                <p:cTn id="405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0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nodeType="afterEffect" fill="hold">
                            <p:stCondLst>
                              <p:cond delay="47125"/>
                            </p:stCondLst>
                            <p:childTnLst>
                              <p:par>
                                <p:cTn id="412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4" dur="75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nodeType="afterEffect" fill="hold">
                            <p:stCondLst>
                              <p:cond delay="47350"/>
                            </p:stCondLst>
                            <p:childTnLst>
                              <p:par>
                                <p:cTn id="416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0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1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nodeType="afterEffect" fill="hold">
                            <p:stCondLst>
                              <p:cond delay="47850"/>
                            </p:stCondLst>
                            <p:childTnLst>
                              <p:par>
                                <p:cTn id="423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5" dur="75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nodeType="afterEffect" fill="hold">
                            <p:stCondLst>
                              <p:cond delay="48825"/>
                            </p:stCondLst>
                            <p:childTnLst>
                              <p:par>
                                <p:cTn id="42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0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nodeType="afterEffect" fill="hold">
                            <p:stCondLst>
                              <p:cond delay="49325"/>
                            </p:stCondLst>
                            <p:childTnLst>
                              <p:par>
                                <p:cTn id="434" nodeType="afterEffect" fill="hold" presetClass="entr" presetID="5" presetSubtype="5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436" dur="75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nodeType="afterEffect" fill="hold">
                            <p:stCondLst>
                              <p:cond delay="49550"/>
                            </p:stCondLst>
                            <p:childTnLst>
                              <p:par>
                                <p:cTn id="438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0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nodeType="afterEffect" fill="hold">
                            <p:stCondLst>
                              <p:cond delay="50050"/>
                            </p:stCondLst>
                            <p:childTnLst>
                              <p:par>
                                <p:cTn id="445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7" dur="75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nodeType="afterEffect" fill="hold">
                            <p:stCondLst>
                              <p:cond delay="50200"/>
                            </p:stCondLst>
                            <p:childTnLst>
                              <p:par>
                                <p:cTn id="449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1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nodeType="afterEffect" fill="hold">
                            <p:stCondLst>
                              <p:cond delay="51700"/>
                            </p:stCondLst>
                            <p:childTnLst>
                              <p:par>
                                <p:cTn id="453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5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7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8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nodeType="afterEffect" fill="hold">
                            <p:stCondLst>
                              <p:cond delay="52200"/>
                            </p:stCondLst>
                            <p:childTnLst>
                              <p:par>
                                <p:cTn id="460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2" dur="75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nodeType="afterEffect" fill="hold">
                            <p:stCondLst>
                              <p:cond delay="52950"/>
                            </p:stCondLst>
                            <p:childTnLst>
                              <p:par>
                                <p:cTn id="464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7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9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nodeType="afterEffect" fill="hold">
                            <p:stCondLst>
                              <p:cond delay="53450"/>
                            </p:stCondLst>
                            <p:childTnLst>
                              <p:par>
                                <p:cTn id="471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3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5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6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nodeType="afterEffect" fill="hold">
                            <p:stCondLst>
                              <p:cond delay="53950"/>
                            </p:stCondLst>
                            <p:childTnLst>
                              <p:par>
                                <p:cTn id="47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nodeType="clickEffect" fill="hold">
                      <p:stCondLst>
                        <p:cond delay="indefinite"/>
                      </p:stCondLst>
                      <p:childTnLst>
                        <p:par>
                          <p:cTn id="4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5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6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7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88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834EB0-68FF-4BA1-935E-E4EAF3D4418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6573960" y="1362240"/>
            <a:ext cx="1674720" cy="33624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4724280" y="380880"/>
            <a:ext cx="3175200" cy="3668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CELLULE MUSCULAIRE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Oval 4"/>
          <p:cNvSpPr/>
          <p:nvPr/>
        </p:nvSpPr>
        <p:spPr>
          <a:xfrm>
            <a:off x="457200" y="3429000"/>
            <a:ext cx="1398600" cy="129528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Rectangle 5"/>
          <p:cNvSpPr/>
          <p:nvPr/>
        </p:nvSpPr>
        <p:spPr>
          <a:xfrm>
            <a:off x="533520" y="3581280"/>
            <a:ext cx="146196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capillaire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Rectangle 6"/>
          <p:cNvSpPr/>
          <p:nvPr/>
        </p:nvSpPr>
        <p:spPr>
          <a:xfrm>
            <a:off x="1828800" y="4419720"/>
            <a:ext cx="716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Rectangle 7"/>
          <p:cNvSpPr/>
          <p:nvPr/>
        </p:nvSpPr>
        <p:spPr>
          <a:xfrm>
            <a:off x="6858000" y="2971800"/>
            <a:ext cx="1441440" cy="33624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Rectangle 8"/>
          <p:cNvSpPr/>
          <p:nvPr/>
        </p:nvSpPr>
        <p:spPr>
          <a:xfrm>
            <a:off x="4419720" y="3659040"/>
            <a:ext cx="1293840" cy="33624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LACTATE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Rectangle 9"/>
          <p:cNvSpPr/>
          <p:nvPr/>
        </p:nvSpPr>
        <p:spPr>
          <a:xfrm>
            <a:off x="2819520" y="4419720"/>
            <a:ext cx="60195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16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MITOCHONDRIE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                      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OXYDATION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Rectangle 10"/>
          <p:cNvSpPr/>
          <p:nvPr/>
        </p:nvSpPr>
        <p:spPr>
          <a:xfrm>
            <a:off x="6313320" y="5168880"/>
            <a:ext cx="19479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Cycle de Krebs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Rectangle 11"/>
          <p:cNvSpPr/>
          <p:nvPr/>
        </p:nvSpPr>
        <p:spPr>
          <a:xfrm>
            <a:off x="2819520" y="4876920"/>
            <a:ext cx="420516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36 ADP + 36 Pi       36 ATP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Rectangle 12"/>
          <p:cNvSpPr/>
          <p:nvPr/>
        </p:nvSpPr>
        <p:spPr>
          <a:xfrm>
            <a:off x="2666880" y="4419720"/>
            <a:ext cx="6077160" cy="190476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Arc 13"/>
          <p:cNvSpPr/>
          <p:nvPr/>
        </p:nvSpPr>
        <p:spPr>
          <a:xfrm>
            <a:off x="6437160" y="4726080"/>
            <a:ext cx="1646280" cy="1446120"/>
          </a:xfrm>
          <a:custGeom>
            <a:avLst/>
            <a:gdLst>
              <a:gd name="GluePoint1X" fmla="*/ 2147483647 w 43200"/>
              <a:gd name="GluePoint1Y" fmla="*/ 0 h 42879"/>
              <a:gd name="GluePoint2X" fmla="*/ 2147483647 w 43200"/>
              <a:gd name="GluePoint2Y" fmla="*/ 2147483647 h 42879"/>
              <a:gd name="GluePoint3X" fmla="*/ 2147483647 w 43200"/>
              <a:gd name="GluePoint3Y" fmla="*/ 2147483647 h 428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</a:path>
              <a:path stroke="0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  <a:lnTo>
                  <a:pt x="21600" y="21279"/>
                </a:lnTo>
                <a:lnTo>
                  <a:pt x="25311" y="0"/>
                </a:lnTo>
                <a:close/>
              </a:path>
            </a:pathLst>
          </a:custGeom>
          <a:noFill/>
          <a:ln cap="rnd" w="381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Arc 14"/>
          <p:cNvSpPr/>
          <p:nvPr/>
        </p:nvSpPr>
        <p:spPr>
          <a:xfrm>
            <a:off x="7894800" y="4925880"/>
            <a:ext cx="607680" cy="281160"/>
          </a:xfrm>
          <a:custGeom>
            <a:avLst/>
            <a:gdLst>
              <a:gd name="GluePoint1X" fmla="*/ 2147483647 w 40344"/>
              <a:gd name="GluePoint1Y" fmla="*/ 2147483647 h 37688"/>
              <a:gd name="GluePoint2X" fmla="*/ 2147483647 w 40344"/>
              <a:gd name="GluePoint2Y" fmla="*/ 0 h 37688"/>
              <a:gd name="GluePoint3X" fmla="*/ 2147483647 w 40344"/>
              <a:gd name="GluePoint3Y" fmla="*/ 2147483647 h 376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stroke="0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Rectangle 15"/>
          <p:cNvSpPr/>
          <p:nvPr/>
        </p:nvSpPr>
        <p:spPr>
          <a:xfrm>
            <a:off x="8153280" y="4800600"/>
            <a:ext cx="719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Arc 16"/>
          <p:cNvSpPr/>
          <p:nvPr/>
        </p:nvSpPr>
        <p:spPr>
          <a:xfrm rot="19020000">
            <a:off x="1208160" y="1631520"/>
            <a:ext cx="5022720" cy="2833920"/>
          </a:xfrm>
          <a:custGeom>
            <a:avLst/>
            <a:gdLst>
              <a:gd name="GluePoint1X" fmla="*/ 0 w 21889"/>
              <a:gd name="GluePoint1Y" fmla="*/ 2147483647 h 21600"/>
              <a:gd name="GluePoint2X" fmla="*/ 2147483647 w 21889"/>
              <a:gd name="GluePoint2Y" fmla="*/ 2147483647 h 21600"/>
              <a:gd name="GluePoint3X" fmla="*/ 2147483647 w 21889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</a:path>
              <a:path stroke="0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  <a:lnTo>
                  <a:pt x="21518" y="21600"/>
                </a:lnTo>
                <a:lnTo>
                  <a:pt x="0" y="19717"/>
                </a:lnTo>
                <a:close/>
              </a:path>
            </a:pathLst>
          </a:custGeom>
          <a:noFill/>
          <a:ln cap="rnd" w="763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Rectangle 17"/>
          <p:cNvSpPr/>
          <p:nvPr/>
        </p:nvSpPr>
        <p:spPr>
          <a:xfrm>
            <a:off x="8001000" y="3962520"/>
            <a:ext cx="5666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Arc 18"/>
          <p:cNvSpPr/>
          <p:nvPr/>
        </p:nvSpPr>
        <p:spPr>
          <a:xfrm>
            <a:off x="7315200" y="4114800"/>
            <a:ext cx="703440" cy="209520"/>
          </a:xfrm>
          <a:custGeom>
            <a:avLst/>
            <a:gdLst>
              <a:gd name="GluePoint1X" fmla="*/ 2147483647 w 42590"/>
              <a:gd name="GluePoint1Y" fmla="*/ 2147483647 h 21600"/>
              <a:gd name="GluePoint2X" fmla="*/ 0 w 42590"/>
              <a:gd name="GluePoint2Y" fmla="*/ 2147483647 h 21600"/>
              <a:gd name="GluePoint3X" fmla="*/ 2147483647 w 4259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</a:path>
              <a:path stroke="0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  <a:lnTo>
                  <a:pt x="21589" y="0"/>
                </a:lnTo>
                <a:lnTo>
                  <a:pt x="42590" y="5051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Line 19"/>
          <p:cNvSpPr/>
          <p:nvPr/>
        </p:nvSpPr>
        <p:spPr>
          <a:xfrm>
            <a:off x="4800600" y="5105520"/>
            <a:ext cx="284040" cy="144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Line 20"/>
          <p:cNvSpPr/>
          <p:nvPr/>
        </p:nvSpPr>
        <p:spPr>
          <a:xfrm>
            <a:off x="2209680" y="4800600"/>
            <a:ext cx="515880" cy="1936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 Box 21"/>
          <p:cNvSpPr/>
          <p:nvPr/>
        </p:nvSpPr>
        <p:spPr>
          <a:xfrm>
            <a:off x="6400800" y="3625920"/>
            <a:ext cx="407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ccccff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Text Box 22"/>
          <p:cNvSpPr/>
          <p:nvPr/>
        </p:nvSpPr>
        <p:spPr>
          <a:xfrm>
            <a:off x="534960" y="380880"/>
            <a:ext cx="2555640" cy="3682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MILIEU INTERSTITIEL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 Box 23"/>
          <p:cNvSpPr/>
          <p:nvPr/>
        </p:nvSpPr>
        <p:spPr>
          <a:xfrm>
            <a:off x="5486400" y="3962520"/>
            <a:ext cx="96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NADH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Line 24"/>
          <p:cNvSpPr/>
          <p:nvPr/>
        </p:nvSpPr>
        <p:spPr>
          <a:xfrm flipH="1">
            <a:off x="1828440" y="3809880"/>
            <a:ext cx="2514600" cy="304920"/>
          </a:xfrm>
          <a:prstGeom prst="line">
            <a:avLst/>
          </a:prstGeom>
          <a:ln w="28440">
            <a:solidFill>
              <a:srgbClr val="ffcc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Line 25"/>
          <p:cNvSpPr/>
          <p:nvPr/>
        </p:nvSpPr>
        <p:spPr>
          <a:xfrm>
            <a:off x="1752480" y="4419720"/>
            <a:ext cx="120600" cy="6984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 Box 26"/>
          <p:cNvSpPr/>
          <p:nvPr/>
        </p:nvSpPr>
        <p:spPr>
          <a:xfrm>
            <a:off x="2666880" y="5410080"/>
            <a:ext cx="4208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Chaîne des transporteurs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d’électrons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 Box 27"/>
          <p:cNvSpPr/>
          <p:nvPr/>
        </p:nvSpPr>
        <p:spPr>
          <a:xfrm>
            <a:off x="5943600" y="5791320"/>
            <a:ext cx="4888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Line 28"/>
          <p:cNvSpPr/>
          <p:nvPr/>
        </p:nvSpPr>
        <p:spPr>
          <a:xfrm>
            <a:off x="6477120" y="3505320"/>
            <a:ext cx="120600" cy="203040"/>
          </a:xfrm>
          <a:prstGeom prst="line">
            <a:avLst/>
          </a:prstGeom>
          <a:ln w="28440">
            <a:solidFill>
              <a:srgbClr val="cccc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Line 29"/>
          <p:cNvSpPr/>
          <p:nvPr/>
        </p:nvSpPr>
        <p:spPr>
          <a:xfrm flipH="1">
            <a:off x="6172200" y="3827520"/>
            <a:ext cx="239760" cy="135000"/>
          </a:xfrm>
          <a:prstGeom prst="line">
            <a:avLst/>
          </a:prstGeom>
          <a:ln w="28440">
            <a:solidFill>
              <a:srgbClr val="cccc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AutoShape 30"/>
          <p:cNvSpPr/>
          <p:nvPr/>
        </p:nvSpPr>
        <p:spPr>
          <a:xfrm>
            <a:off x="6324480" y="4191120"/>
            <a:ext cx="366840" cy="468360"/>
          </a:xfrm>
          <a:custGeom>
            <a:avLst/>
            <a:gdLst>
              <a:gd name="textAreaLeft" fmla="*/ 48960 w 366840"/>
              <a:gd name="textAreaRight" fmla="*/ 317880 w 366840"/>
              <a:gd name="textAreaTop" fmla="*/ 104400 h 468360"/>
              <a:gd name="textAreaBottom" fmla="*/ 318600 h 4683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4354327"/>
                <a:lnTo>
                  <a:pt x="2992" y="21507"/>
                </a:lnTo>
                <a:lnTo>
                  <a:pt x="0" y="19376"/>
                </a:lnTo>
                <a:lnTo>
                  <a:pt x="2992" y="17059"/>
                </a:lnTo>
                <a:lnTo>
                  <a:pt x="2992" y="19155"/>
                </a:lnTo>
                <a:arcTo wR="21600" hR="9624" stAng="4354327" swAng="-4333953"/>
                <a:lnTo>
                  <a:pt x="21598" y="9752"/>
                </a:lnTo>
                <a:arcTo wR="21600" hR="9624" stAng="-20373" swAng="-5379627"/>
                <a:close/>
              </a:path>
              <a:path fill="darkenLess"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-20373"/>
                <a:lnTo>
                  <a:pt x="21598" y="9752"/>
                </a:lnTo>
                <a:arcTo wR="21600" hR="9624" stAng="-20373" swAng="-5379627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AutoShape 31"/>
          <p:cNvSpPr/>
          <p:nvPr/>
        </p:nvSpPr>
        <p:spPr>
          <a:xfrm rot="11318400">
            <a:off x="5104800" y="4114440"/>
            <a:ext cx="361800" cy="566640"/>
          </a:xfrm>
          <a:custGeom>
            <a:avLst/>
            <a:gdLst>
              <a:gd name="textAreaLeft" fmla="*/ 48240 w 361800"/>
              <a:gd name="textAreaRight" fmla="*/ 313560 w 361800"/>
              <a:gd name="textAreaTop" fmla="*/ 126000 h 566640"/>
              <a:gd name="textAreaBottom" fmla="*/ 385560 h 56664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4354327"/>
                <a:lnTo>
                  <a:pt x="2992" y="21507"/>
                </a:lnTo>
                <a:lnTo>
                  <a:pt x="0" y="19376"/>
                </a:lnTo>
                <a:lnTo>
                  <a:pt x="2992" y="17059"/>
                </a:lnTo>
                <a:lnTo>
                  <a:pt x="2992" y="19155"/>
                </a:lnTo>
                <a:arcTo wR="21600" hR="9624" stAng="4354327" swAng="-4333953"/>
                <a:lnTo>
                  <a:pt x="21598" y="9752"/>
                </a:lnTo>
                <a:arcTo wR="21600" hR="9624" stAng="-20373" swAng="-5379627"/>
                <a:close/>
              </a:path>
              <a:path fill="darkenLess"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-20373"/>
                <a:lnTo>
                  <a:pt x="21598" y="9752"/>
                </a:lnTo>
                <a:arcTo wR="21600" hR="9624" stAng="-20373" swAng="-5379627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rot="10800000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Line 32"/>
          <p:cNvSpPr/>
          <p:nvPr/>
        </p:nvSpPr>
        <p:spPr>
          <a:xfrm>
            <a:off x="6172200" y="4800600"/>
            <a:ext cx="0" cy="2635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 Box 33"/>
          <p:cNvSpPr/>
          <p:nvPr/>
        </p:nvSpPr>
        <p:spPr>
          <a:xfrm>
            <a:off x="5867280" y="5029200"/>
            <a:ext cx="489240" cy="4572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Line 34"/>
          <p:cNvSpPr/>
          <p:nvPr/>
        </p:nvSpPr>
        <p:spPr>
          <a:xfrm flipH="1" flipV="1">
            <a:off x="6324480" y="6019920"/>
            <a:ext cx="487440" cy="14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Line 35"/>
          <p:cNvSpPr/>
          <p:nvPr/>
        </p:nvSpPr>
        <p:spPr>
          <a:xfrm flipV="1">
            <a:off x="6095880" y="5486400"/>
            <a:ext cx="180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Text Box 36"/>
          <p:cNvSpPr/>
          <p:nvPr/>
        </p:nvSpPr>
        <p:spPr>
          <a:xfrm>
            <a:off x="5334120" y="4495680"/>
            <a:ext cx="12049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NAD +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Line 37"/>
          <p:cNvSpPr/>
          <p:nvPr/>
        </p:nvSpPr>
        <p:spPr>
          <a:xfrm flipH="1" flipV="1">
            <a:off x="5867280" y="2514600"/>
            <a:ext cx="990720" cy="457200"/>
          </a:xfrm>
          <a:prstGeom prst="line">
            <a:avLst/>
          </a:prstGeom>
          <a:ln w="28440">
            <a:solidFill>
              <a:srgbClr val="ffcc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 Box 38"/>
          <p:cNvSpPr/>
          <p:nvPr/>
        </p:nvSpPr>
        <p:spPr>
          <a:xfrm>
            <a:off x="4649760" y="2241720"/>
            <a:ext cx="1203480" cy="349200"/>
          </a:xfrm>
          <a:prstGeom prst="rect">
            <a:avLst/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ALANINE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Line 39"/>
          <p:cNvSpPr/>
          <p:nvPr/>
        </p:nvSpPr>
        <p:spPr>
          <a:xfrm flipH="1">
            <a:off x="1752480" y="2438280"/>
            <a:ext cx="2895840" cy="1143000"/>
          </a:xfrm>
          <a:prstGeom prst="line">
            <a:avLst/>
          </a:prstGeom>
          <a:ln w="28440">
            <a:solidFill>
              <a:srgbClr val="ffcc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Line 40"/>
          <p:cNvSpPr/>
          <p:nvPr/>
        </p:nvSpPr>
        <p:spPr>
          <a:xfrm flipH="1">
            <a:off x="1828800" y="3048120"/>
            <a:ext cx="5029200" cy="685800"/>
          </a:xfrm>
          <a:prstGeom prst="line">
            <a:avLst/>
          </a:prstGeom>
          <a:ln w="19080">
            <a:solidFill>
              <a:srgbClr val="ffcc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Line 41"/>
          <p:cNvSpPr/>
          <p:nvPr/>
        </p:nvSpPr>
        <p:spPr>
          <a:xfrm flipV="1">
            <a:off x="1143000" y="1828440"/>
            <a:ext cx="0" cy="1631880"/>
          </a:xfrm>
          <a:prstGeom prst="line">
            <a:avLst/>
          </a:prstGeom>
          <a:ln w="38160">
            <a:solidFill>
              <a:srgbClr val="ffcc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Text Box 42"/>
          <p:cNvSpPr/>
          <p:nvPr/>
        </p:nvSpPr>
        <p:spPr>
          <a:xfrm>
            <a:off x="457200" y="1295280"/>
            <a:ext cx="2300400" cy="55728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Néoglycogenèse : 1/4  FOIE </a:t>
            </a:r>
            <a:r>
              <a:rPr b="0" lang="fr-FR" sz="11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 </a:t>
            </a:r>
            <a:endParaRPr b="0" lang="en-US" sz="11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 Box 43"/>
          <p:cNvSpPr/>
          <p:nvPr/>
        </p:nvSpPr>
        <p:spPr>
          <a:xfrm>
            <a:off x="3657600" y="1219320"/>
            <a:ext cx="121932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Glucose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Line 44"/>
          <p:cNvSpPr/>
          <p:nvPr/>
        </p:nvSpPr>
        <p:spPr>
          <a:xfrm>
            <a:off x="1143000" y="4800600"/>
            <a:ext cx="0" cy="9478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 Box 45"/>
          <p:cNvSpPr/>
          <p:nvPr/>
        </p:nvSpPr>
        <p:spPr>
          <a:xfrm>
            <a:off x="152280" y="5791320"/>
            <a:ext cx="2362320" cy="7617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Oxydation : 3/4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CŒUR , REINS, AUTRES MUSCLES NON ACTIFS.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 Box 46"/>
          <p:cNvSpPr/>
          <p:nvPr/>
        </p:nvSpPr>
        <p:spPr>
          <a:xfrm rot="20254200">
            <a:off x="2017440" y="2430360"/>
            <a:ext cx="236196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Cycle de Felig ou de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   l’alanine-glucose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47"/>
          <p:cNvSpPr/>
          <p:nvPr/>
        </p:nvSpPr>
        <p:spPr>
          <a:xfrm rot="21172800">
            <a:off x="2293560" y="3566880"/>
            <a:ext cx="1743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  Cycle de Cori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Oval 48"/>
          <p:cNvSpPr/>
          <p:nvPr/>
        </p:nvSpPr>
        <p:spPr>
          <a:xfrm>
            <a:off x="3048120" y="3962520"/>
            <a:ext cx="480960" cy="42048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Oval 49"/>
          <p:cNvSpPr/>
          <p:nvPr/>
        </p:nvSpPr>
        <p:spPr>
          <a:xfrm>
            <a:off x="5791320" y="3200400"/>
            <a:ext cx="480960" cy="4032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Line 50"/>
          <p:cNvSpPr/>
          <p:nvPr/>
        </p:nvSpPr>
        <p:spPr>
          <a:xfrm flipV="1">
            <a:off x="5715000" y="3352680"/>
            <a:ext cx="1143000" cy="457200"/>
          </a:xfrm>
          <a:prstGeom prst="line">
            <a:avLst/>
          </a:prstGeom>
          <a:ln w="28440">
            <a:solidFill>
              <a:srgbClr val="cccc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Oval 51"/>
          <p:cNvSpPr/>
          <p:nvPr/>
        </p:nvSpPr>
        <p:spPr>
          <a:xfrm>
            <a:off x="6324480" y="2362320"/>
            <a:ext cx="480960" cy="42516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4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Line 52"/>
          <p:cNvSpPr/>
          <p:nvPr/>
        </p:nvSpPr>
        <p:spPr>
          <a:xfrm flipV="1">
            <a:off x="1143000" y="2173320"/>
            <a:ext cx="501480" cy="722160"/>
          </a:xfrm>
          <a:prstGeom prst="line">
            <a:avLst/>
          </a:prstGeom>
          <a:ln w="38160">
            <a:solidFill>
              <a:srgbClr val="ffcc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 Box 53"/>
          <p:cNvSpPr/>
          <p:nvPr/>
        </p:nvSpPr>
        <p:spPr>
          <a:xfrm>
            <a:off x="1600200" y="1981080"/>
            <a:ext cx="14461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Elimination :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Urine, sueur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cc00"/>
                </a:solidFill>
                <a:effectLst/>
                <a:uFillTx/>
                <a:latin typeface="Arial"/>
              </a:rPr>
              <a:t>(négligeable)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Oval 54"/>
          <p:cNvSpPr/>
          <p:nvPr/>
        </p:nvSpPr>
        <p:spPr>
          <a:xfrm>
            <a:off x="7620120" y="3657600"/>
            <a:ext cx="480960" cy="4572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 </a:t>
            </a:r>
            <a:r>
              <a:rPr b="1" lang="fr-FR" sz="16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3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AutoShape 56"/>
          <p:cNvSpPr/>
          <p:nvPr/>
        </p:nvSpPr>
        <p:spPr>
          <a:xfrm>
            <a:off x="3048120" y="5105520"/>
            <a:ext cx="120600" cy="279360"/>
          </a:xfrm>
          <a:custGeom>
            <a:avLst/>
            <a:gdLst>
              <a:gd name="textAreaLeft" fmla="*/ 16200 w 120600"/>
              <a:gd name="textAreaRight" fmla="*/ 104400 w 120600"/>
              <a:gd name="textAreaTop" fmla="*/ 62280 h 279360"/>
              <a:gd name="textAreaBottom" fmla="*/ 190080 h 2793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4354327"/>
                <a:lnTo>
                  <a:pt x="2992" y="21507"/>
                </a:lnTo>
                <a:lnTo>
                  <a:pt x="0" y="19376"/>
                </a:lnTo>
                <a:lnTo>
                  <a:pt x="2992" y="17059"/>
                </a:lnTo>
                <a:lnTo>
                  <a:pt x="2992" y="19155"/>
                </a:lnTo>
                <a:arcTo wR="21600" hR="9624" stAng="4354327" swAng="-4333953"/>
                <a:lnTo>
                  <a:pt x="21598" y="9752"/>
                </a:lnTo>
                <a:arcTo wR="21600" hR="9624" stAng="-20373" swAng="-5379627"/>
                <a:close/>
              </a:path>
              <a:path fill="darkenLess" w="21600" h="21600">
                <a:moveTo>
                  <a:pt x="0" y="0"/>
                </a:moveTo>
                <a:arcTo wR="21600" hR="9624" stAng="-5400000" swAng="5400000"/>
                <a:lnTo>
                  <a:pt x="21600" y="9880"/>
                </a:lnTo>
                <a:arcTo wR="21600" hR="9624" stAng="0" swAng="-20373"/>
                <a:lnTo>
                  <a:pt x="21598" y="9752"/>
                </a:lnTo>
                <a:arcTo wR="21600" hR="9624" stAng="-20373" swAng="-5379627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 Box 57"/>
          <p:cNvSpPr/>
          <p:nvPr/>
        </p:nvSpPr>
        <p:spPr>
          <a:xfrm>
            <a:off x="2666880" y="4800600"/>
            <a:ext cx="48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Text Box 58"/>
          <p:cNvSpPr/>
          <p:nvPr/>
        </p:nvSpPr>
        <p:spPr>
          <a:xfrm>
            <a:off x="2743200" y="5334120"/>
            <a:ext cx="731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Line 59"/>
          <p:cNvSpPr/>
          <p:nvPr/>
        </p:nvSpPr>
        <p:spPr>
          <a:xfrm>
            <a:off x="7315200" y="1752480"/>
            <a:ext cx="0" cy="117648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Line 60"/>
          <p:cNvSpPr/>
          <p:nvPr/>
        </p:nvSpPr>
        <p:spPr>
          <a:xfrm>
            <a:off x="7315200" y="3352680"/>
            <a:ext cx="0" cy="13716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Line 61"/>
          <p:cNvSpPr/>
          <p:nvPr/>
        </p:nvSpPr>
        <p:spPr>
          <a:xfrm flipH="1">
            <a:off x="3200400" y="5257800"/>
            <a:ext cx="266688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Line 62"/>
          <p:cNvSpPr/>
          <p:nvPr/>
        </p:nvSpPr>
        <p:spPr>
          <a:xfrm>
            <a:off x="2743200" y="1523880"/>
            <a:ext cx="3809880" cy="0"/>
          </a:xfrm>
          <a:prstGeom prst="line">
            <a:avLst/>
          </a:prstGeom>
          <a:ln w="38160">
            <a:solidFill>
              <a:srgbClr val="ffcc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Text Box 63"/>
          <p:cNvSpPr/>
          <p:nvPr/>
        </p:nvSpPr>
        <p:spPr>
          <a:xfrm>
            <a:off x="2730600" y="6361200"/>
            <a:ext cx="5794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METABOLISME AU COURS DE LA RECUPERATION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Text Box 64"/>
          <p:cNvSpPr/>
          <p:nvPr/>
        </p:nvSpPr>
        <p:spPr>
          <a:xfrm rot="16233000">
            <a:off x="366840" y="5047920"/>
            <a:ext cx="981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Oval 49"/>
          <p:cNvSpPr/>
          <p:nvPr/>
        </p:nvSpPr>
        <p:spPr>
          <a:xfrm>
            <a:off x="4319640" y="2928960"/>
            <a:ext cx="480960" cy="4032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Oval 52"/>
          <p:cNvSpPr/>
          <p:nvPr/>
        </p:nvSpPr>
        <p:spPr>
          <a:xfrm>
            <a:off x="2265480" y="3894120"/>
            <a:ext cx="287280" cy="289080"/>
          </a:xfrm>
          <a:prstGeom prst="ellipse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Text Box 53"/>
          <p:cNvSpPr/>
          <p:nvPr/>
        </p:nvSpPr>
        <p:spPr>
          <a:xfrm>
            <a:off x="2035440" y="4200480"/>
            <a:ext cx="66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MCT4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onnecteur droit 68"/>
          <p:cNvSpPr/>
          <p:nvPr/>
        </p:nvSpPr>
        <p:spPr>
          <a:xfrm flipV="1">
            <a:off x="2265480" y="4038120"/>
            <a:ext cx="287280" cy="3996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489" dur="indefinite" restart="never" nodeType="tmRoot">
          <p:childTnLst>
            <p:seq>
              <p:cTn id="490" dur="indefinite" nodeType="mainSeq">
                <p:childTnLst>
                  <p:par>
                    <p:cTn id="491" nodeType="clickEffect" fill="hold">
                      <p:stCondLst>
                        <p:cond delay="0"/>
                      </p:stCondLst>
                      <p:childTnLst>
                        <p:par>
                          <p:cTn id="4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97" nodeType="afterEffect" fill="hold" presetClass="entr" presetID="9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9" dur="7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nodeType="afterEffect" fill="hold">
                            <p:stCondLst>
                              <p:cond delay="3025"/>
                            </p:stCondLst>
                            <p:childTnLst>
                              <p:par>
                                <p:cTn id="501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3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4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nodeType="afterEffect" fill="hold">
                            <p:stCondLst>
                              <p:cond delay="3525"/>
                            </p:stCondLst>
                            <p:childTnLst>
                              <p:par>
                                <p:cTn id="506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8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9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0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1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nodeType="clickEffect" fill="hold">
                      <p:stCondLst>
                        <p:cond delay="indefinite"/>
                      </p:stCondLst>
                      <p:childTnLst>
                        <p:par>
                          <p:cTn id="5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18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0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1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2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25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7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9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0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532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4" dur="75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nodeType="afterEffect" fill="hold">
                            <p:stCondLst>
                              <p:cond delay="2650"/>
                            </p:stCondLst>
                            <p:childTnLst>
                              <p:par>
                                <p:cTn id="536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8" dur="75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nodeType="clickEffect" fill="hold">
                      <p:stCondLst>
                        <p:cond delay="indefinite"/>
                      </p:stCondLst>
                      <p:childTnLst>
                        <p:par>
                          <p:cTn id="5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3" dur="75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nodeType="afterEffect" fill="hold">
                            <p:stCondLst>
                              <p:cond delay="75"/>
                            </p:stCondLst>
                            <p:childTnLst>
                              <p:par>
                                <p:cTn id="545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9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nodeType="afterEffect" fill="hold">
                            <p:stCondLst>
                              <p:cond delay="575"/>
                            </p:stCondLst>
                            <p:childTnLst>
                              <p:par>
                                <p:cTn id="552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4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6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7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nodeType="afterEffect" fill="hold">
                            <p:stCondLst>
                              <p:cond delay="1075"/>
                            </p:stCondLst>
                            <p:childTnLst>
                              <p:par>
                                <p:cTn id="559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1" dur="75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nodeType="afterEffect" fill="hold">
                            <p:stCondLst>
                              <p:cond delay="1300"/>
                            </p:stCondLst>
                            <p:childTnLst>
                              <p:par>
                                <p:cTn id="56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nodeType="afterEffect" fill="hold">
                            <p:stCondLst>
                              <p:cond delay="1800"/>
                            </p:stCondLst>
                            <p:childTnLst>
                              <p:par>
                                <p:cTn id="567" nodeType="afterEffect" fill="hold" presetClass="entr" presetID="9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9" dur="7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nodeType="afterEffect" fill="hold">
                            <p:stCondLst>
                              <p:cond delay="5375"/>
                            </p:stCondLst>
                            <p:childTnLst>
                              <p:par>
                                <p:cTn id="571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3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4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5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6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7" nodeType="afterEffect" fill="hold">
                            <p:stCondLst>
                              <p:cond delay="6875"/>
                            </p:stCondLst>
                            <p:childTnLst>
                              <p:par>
                                <p:cTn id="578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0" dur="7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nodeType="afterEffect" fill="hold">
                            <p:stCondLst>
                              <p:cond delay="8775"/>
                            </p:stCondLst>
                            <p:childTnLst>
                              <p:par>
                                <p:cTn id="582" nodeType="afterEffect" fill="hold" presetClass="entr" presetID="17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4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5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6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7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nodeType="afterEffect" fill="hold">
                            <p:stCondLst>
                              <p:cond delay="11275"/>
                            </p:stCondLst>
                            <p:childTnLst>
                              <p:par>
                                <p:cTn id="589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1" dur="75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2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593" nodeType="afterEffect" fill="hold" presetClass="entr" presetID="17" presetSubtype="2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5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6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7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8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nodeType="afterEffect" fill="hold">
                            <p:stCondLst>
                              <p:cond delay="15000"/>
                            </p:stCondLst>
                            <p:childTnLst>
                              <p:par>
                                <p:cTn id="600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2" dur="75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nodeType="clickEffect" fill="hold">
                      <p:stCondLst>
                        <p:cond delay="indefinite"/>
                      </p:stCondLst>
                      <p:childTnLst>
                        <p:par>
                          <p:cTn id="6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7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8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9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12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4" dur="75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nodeType="afterEffect" fill="hold">
                            <p:stCondLst>
                              <p:cond delay="1650"/>
                            </p:stCondLst>
                            <p:childTnLst>
                              <p:par>
                                <p:cTn id="61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8" dur="75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nodeType="afterEffect" fill="hold">
                            <p:stCondLst>
                              <p:cond delay="2025"/>
                            </p:stCondLst>
                            <p:childTnLst>
                              <p:par>
                                <p:cTn id="62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nodeType="afterEffect" fill="hold">
                            <p:stCondLst>
                              <p:cond delay="2525"/>
                            </p:stCondLst>
                            <p:childTnLst>
                              <p:par>
                                <p:cTn id="624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6" dur="75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7" nodeType="afterEffect" fill="hold">
                            <p:stCondLst>
                              <p:cond delay="2975"/>
                            </p:stCondLst>
                            <p:childTnLst>
                              <p:par>
                                <p:cTn id="62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1" nodeType="afterEffect" fill="hold">
                            <p:stCondLst>
                              <p:cond delay="3475"/>
                            </p:stCondLst>
                            <p:childTnLst>
                              <p:par>
                                <p:cTn id="63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nodeType="afterEffect" fill="hold">
                            <p:stCondLst>
                              <p:cond delay="3975"/>
                            </p:stCondLst>
                            <p:childTnLst>
                              <p:par>
                                <p:cTn id="636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8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9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0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1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2" nodeType="afterEffect" fill="hold">
                            <p:stCondLst>
                              <p:cond delay="5475"/>
                            </p:stCondLst>
                            <p:childTnLst>
                              <p:par>
                                <p:cTn id="643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5" dur="75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nodeType="afterEffect" fill="hold">
                            <p:stCondLst>
                              <p:cond delay="8950"/>
                            </p:stCondLst>
                            <p:childTnLst>
                              <p:par>
                                <p:cTn id="647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9" dur="75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0" nodeType="afterEffect" fill="hold">
                            <p:stCondLst>
                              <p:cond delay="9100"/>
                            </p:stCondLst>
                            <p:childTnLst>
                              <p:par>
                                <p:cTn id="651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6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7" nodeType="afterEffect" fill="hold">
                            <p:stCondLst>
                              <p:cond delay="9600"/>
                            </p:stCondLst>
                            <p:childTnLst>
                              <p:par>
                                <p:cTn id="658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0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1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2" nodeType="afterEffect" fill="hold">
                            <p:stCondLst>
                              <p:cond delay="10100"/>
                            </p:stCondLst>
                            <p:childTnLst>
                              <p:par>
                                <p:cTn id="663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5" dur="75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6" dur="75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nodeType="afterEffect" fill="hold">
                            <p:stCondLst>
                              <p:cond delay="10250"/>
                            </p:stCondLst>
                            <p:childTnLst>
                              <p:par>
                                <p:cTn id="668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0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1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2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3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nodeType="afterEffect" fill="hold">
                            <p:stCondLst>
                              <p:cond delay="10750"/>
                            </p:stCondLst>
                            <p:childTnLst>
                              <p:par>
                                <p:cTn id="675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7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0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1" nodeType="afterEffect" fill="hold">
                            <p:stCondLst>
                              <p:cond delay="11250"/>
                            </p:stCondLst>
                            <p:childTnLst>
                              <p:par>
                                <p:cTn id="68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4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nodeType="afterEffect" fill="hold">
                            <p:stCondLst>
                              <p:cond delay="11750"/>
                            </p:stCondLst>
                            <p:childTnLst>
                              <p:par>
                                <p:cTn id="68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8" dur="75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nodeType="afterEffect" fill="hold">
                            <p:stCondLst>
                              <p:cond delay="11975"/>
                            </p:stCondLst>
                            <p:childTnLst>
                              <p:par>
                                <p:cTn id="690" nodeType="afterEffect" fill="hold" presetClass="entr" presetID="23" presetSubtype="272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2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3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nodeType="clickEffect" fill="hold">
                      <p:stCondLst>
                        <p:cond delay="indefinite"/>
                      </p:stCondLst>
                      <p:childTnLst>
                        <p:par>
                          <p:cTn id="6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6" nodeType="clickEffect" fill="hold" presetClass="entr" presetID="23" presetSubtype="272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8" dur="75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9" dur="75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nodeType="afterEffect" fill="hold">
                            <p:stCondLst>
                              <p:cond delay="75"/>
                            </p:stCondLst>
                            <p:childTnLst>
                              <p:par>
                                <p:cTn id="701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3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4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6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7" nodeType="afterEffect" fill="hold">
                            <p:stCondLst>
                              <p:cond delay="575"/>
                            </p:stCondLst>
                            <p:childTnLst>
                              <p:par>
                                <p:cTn id="708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0" dur="75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nodeType="afterEffect" fill="hold">
                            <p:stCondLst>
                              <p:cond delay="1100"/>
                            </p:stCondLst>
                            <p:childTnLst>
                              <p:par>
                                <p:cTn id="712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4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5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8" nodeType="afterEffect" fill="hold">
                            <p:stCondLst>
                              <p:cond delay="1600"/>
                            </p:stCondLst>
                            <p:childTnLst>
                              <p:par>
                                <p:cTn id="719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1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2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5" nodeType="clickEffect" fill="hold">
                      <p:stCondLst>
                        <p:cond delay="indefinite"/>
                      </p:stCondLst>
                      <p:childTnLst>
                        <p:par>
                          <p:cTn id="7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9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0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1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2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3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38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0" dur="75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nodeType="clickEffect" fill="hold">
                      <p:stCondLst>
                        <p:cond delay="indefinite"/>
                      </p:stCondLst>
                      <p:childTnLst>
                        <p:par>
                          <p:cTn id="7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5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6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7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8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50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2" dur="75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nodeType="afterEffect" fill="hold">
                            <p:stCondLst>
                              <p:cond delay="2150"/>
                            </p:stCondLst>
                            <p:childTnLst>
                              <p:par>
                                <p:cTn id="754" nodeType="afterEffect" fill="hold" presetClass="entr" presetID="17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6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7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8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9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0" nodeType="afterEffect" fill="hold">
                            <p:stCondLst>
                              <p:cond delay="5650"/>
                            </p:stCondLst>
                            <p:childTnLst>
                              <p:par>
                                <p:cTn id="761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3" dur="75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nodeType="clickEffect" fill="hold">
                      <p:stCondLst>
                        <p:cond delay="indefinite"/>
                      </p:stCondLst>
                      <p:childTnLst>
                        <p:par>
                          <p:cTn id="7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9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0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1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73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5" dur="75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nodeType="afterEffect" fill="hold">
                            <p:stCondLst>
                              <p:cond delay="1025"/>
                            </p:stCondLst>
                            <p:childTnLst>
                              <p:par>
                                <p:cTn id="777" nodeType="afterEffect" fill="hold" presetClass="entr" presetID="2" presetSubtype="2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9" dur="75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75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1" nodeType="afterEffect" fill="hold">
                            <p:stCondLst>
                              <p:cond delay="1700"/>
                            </p:stCondLst>
                            <p:childTnLst>
                              <p:par>
                                <p:cTn id="782" nodeType="afterEffect" fill="hold" presetClass="entr" presetID="17" presetSubtype="1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4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5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6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7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nodeType="afterEffect" fill="hold">
                            <p:stCondLst>
                              <p:cond delay="5200"/>
                            </p:stCondLst>
                            <p:childTnLst>
                              <p:par>
                                <p:cTn id="789" nodeType="afterEffect" fill="hold" presetClass="entr" presetID="9">
                                  <p:stCondLst>
                                    <p:cond delay="3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1" dur="75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2" nodeType="afterEffect" fill="hold">
                            <p:stCondLst>
                              <p:cond delay="9025"/>
                            </p:stCondLst>
                            <p:childTnLst>
                              <p:par>
                                <p:cTn id="793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5" dur="75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nodeType="clickEffect" fill="hold">
                      <p:stCondLst>
                        <p:cond delay="indefinite"/>
                      </p:stCondLst>
                      <p:childTnLst>
                        <p:par>
                          <p:cTn id="7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0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02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4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5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0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80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1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1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1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nodeType="clickEffect" fill="hold">
                      <p:stCondLst>
                        <p:cond delay="indefinite"/>
                      </p:stCondLst>
                      <p:childTnLst>
                        <p:par>
                          <p:cTn id="8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8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0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1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2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23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74371C-CFD3-4501-801D-F9DB702E175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04560" y="457200"/>
            <a:ext cx="8305560" cy="5335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2.1 QUEL EST LE DEVENIR DU LACTATE 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Rectangle 7"/>
          <p:cNvSpPr/>
          <p:nvPr/>
        </p:nvSpPr>
        <p:spPr>
          <a:xfrm>
            <a:off x="3270240" y="1060560"/>
            <a:ext cx="2679840" cy="519480"/>
          </a:xfrm>
          <a:prstGeom prst="rect">
            <a:avLst/>
          </a:prstGeom>
          <a:solidFill>
            <a:srgbClr val="ffccff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LACTATE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Rectangle 8"/>
          <p:cNvSpPr/>
          <p:nvPr/>
        </p:nvSpPr>
        <p:spPr>
          <a:xfrm>
            <a:off x="727920" y="1440000"/>
            <a:ext cx="1996920" cy="824040"/>
          </a:xfrm>
          <a:prstGeom prst="rect">
            <a:avLst/>
          </a:prstGeom>
          <a:solidFill>
            <a:srgbClr val="ffccff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OXYDATION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3/4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Rectangle 9"/>
          <p:cNvSpPr/>
          <p:nvPr/>
        </p:nvSpPr>
        <p:spPr>
          <a:xfrm>
            <a:off x="3495960" y="2278080"/>
            <a:ext cx="2539080" cy="824040"/>
          </a:xfrm>
          <a:prstGeom prst="rect">
            <a:avLst/>
          </a:prstGeom>
          <a:solidFill>
            <a:srgbClr val="ffccff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GLYCOGENESE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1/4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Rectangle 10"/>
          <p:cNvSpPr/>
          <p:nvPr/>
        </p:nvSpPr>
        <p:spPr>
          <a:xfrm>
            <a:off x="6805080" y="1655640"/>
            <a:ext cx="2166120" cy="824040"/>
          </a:xfrm>
          <a:prstGeom prst="rect">
            <a:avLst/>
          </a:prstGeom>
          <a:solidFill>
            <a:srgbClr val="ffccff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ELIMINATION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négligeable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AutoShape 11"/>
          <p:cNvSpPr/>
          <p:nvPr/>
        </p:nvSpPr>
        <p:spPr>
          <a:xfrm>
            <a:off x="4572000" y="1676520"/>
            <a:ext cx="152280" cy="533160"/>
          </a:xfrm>
          <a:prstGeom prst="downArrow">
            <a:avLst>
              <a:gd name="adj1" fmla="val 50000"/>
              <a:gd name="adj2" fmla="val 175075"/>
            </a:avLst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Line 12"/>
          <p:cNvSpPr/>
          <p:nvPr/>
        </p:nvSpPr>
        <p:spPr>
          <a:xfrm flipH="1">
            <a:off x="2742840" y="1676520"/>
            <a:ext cx="762120" cy="457200"/>
          </a:xfrm>
          <a:prstGeom prst="line">
            <a:avLst/>
          </a:prstGeom>
          <a:ln w="507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Line 13"/>
          <p:cNvSpPr/>
          <p:nvPr/>
        </p:nvSpPr>
        <p:spPr>
          <a:xfrm>
            <a:off x="5715000" y="1676520"/>
            <a:ext cx="990720" cy="609480"/>
          </a:xfrm>
          <a:prstGeom prst="line">
            <a:avLst/>
          </a:prstGeom>
          <a:ln w="507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Rectangle 14"/>
          <p:cNvSpPr/>
          <p:nvPr/>
        </p:nvSpPr>
        <p:spPr>
          <a:xfrm>
            <a:off x="77760" y="2211480"/>
            <a:ext cx="3429000" cy="31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Les muscles squelettiques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fibres musculaires productrices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fibres musculaires environnantes (navette)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fibres musculaires d’autres territoires au repos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Le myocarde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10 %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Les reins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&lt; 10 %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Rectangle 16"/>
          <p:cNvSpPr/>
          <p:nvPr/>
        </p:nvSpPr>
        <p:spPr>
          <a:xfrm>
            <a:off x="3505320" y="3201840"/>
            <a:ext cx="342900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 Le foie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Cycle de Cori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Cycle de l’alanine-glucose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Les muscles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Rectangle 18"/>
          <p:cNvSpPr/>
          <p:nvPr/>
        </p:nvSpPr>
        <p:spPr>
          <a:xfrm>
            <a:off x="6781680" y="2820960"/>
            <a:ext cx="221004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L’urine et la sueur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plit dir="out" orient="vert"/>
  </p:transition>
  <p:timing>
    <p:tnLst>
      <p:par>
        <p:cTn id="824" dur="indefinite" restart="never" nodeType="tmRoot">
          <p:childTnLst>
            <p:seq>
              <p:cTn id="825" dur="indefinite" nodeType="mainSeq">
                <p:childTnLst>
                  <p:par>
                    <p:cTn id="826" nodeType="clickEffect" fill="hold">
                      <p:stCondLst>
                        <p:cond delay="0"/>
                      </p:stCondLst>
                      <p:childTnLst>
                        <p:par>
                          <p:cTn id="8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0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83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836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8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840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2" dur="3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3" dur="3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nodeType="afterEffect" fill="hold">
                            <p:stCondLst>
                              <p:cond delay="16100"/>
                            </p:stCondLst>
                            <p:childTnLst>
                              <p:par>
                                <p:cTn id="845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7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8" nodeType="afterEffect" fill="hold">
                            <p:stCondLst>
                              <p:cond delay="19600"/>
                            </p:stCondLst>
                            <p:childTnLst>
                              <p:par>
                                <p:cTn id="849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1" dur="75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75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3" nodeType="afterEffect" fill="hold">
                            <p:stCondLst>
                              <p:cond delay="21650"/>
                            </p:stCondLst>
                            <p:childTnLst>
                              <p:par>
                                <p:cTn id="854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6" dur="3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7" dur="3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8" nodeType="afterEffect" fill="hold">
                            <p:stCondLst>
                              <p:cond delay="26850"/>
                            </p:stCondLst>
                            <p:childTnLst>
                              <p:par>
                                <p:cTn id="859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6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2" nodeType="afterEffect" fill="hold">
                            <p:stCondLst>
                              <p:cond delay="29350"/>
                            </p:stCondLst>
                            <p:childTnLst>
                              <p:par>
                                <p:cTn id="863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5" dur="75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6" dur="75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7" nodeType="afterEffect" fill="hold">
                            <p:stCondLst>
                              <p:cond delay="33000"/>
                            </p:stCondLst>
                            <p:childTnLst>
                              <p:par>
                                <p:cTn id="868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0" dur="3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1" dur="3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37F2F9-577B-43E9-B52A-382B82A8429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762120" y="7617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2.2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EN CONSEQUENCE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Rectangle 7"/>
          <p:cNvSpPr/>
          <p:nvPr/>
        </p:nvSpPr>
        <p:spPr>
          <a:xfrm>
            <a:off x="228600" y="2362320"/>
            <a:ext cx="891540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just">
              <a:lnSpc>
                <a:spcPct val="15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lactate n’est  donc pas  un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 déchet »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ni surtout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 une toxine qui empoisonne le muscle »</a:t>
            </a:r>
            <a:r>
              <a:rPr b="1" lang="fr-FR" sz="2800" strike="noStrike" u="none">
                <a:solidFill>
                  <a:srgbClr val="fafd00"/>
                </a:solidFill>
                <a:effectLst/>
                <a:uFillTx/>
                <a:latin typeface="Arial"/>
              </a:rPr>
              <a:t> 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mais bien une source énergétique potentielle utilisable après, ou au cours d’une récupération passive ou active.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plit dir="out" orient="horz"/>
  </p:transition>
  <p:timing>
    <p:tnLst>
      <p:par>
        <p:cTn id="872" dur="indefinite" restart="never" nodeType="tmRoot">
          <p:childTnLst>
            <p:seq>
              <p:cTn id="873" dur="indefinite" nodeType="mainSeq">
                <p:childTnLst>
                  <p:par>
                    <p:cTn id="874" nodeType="clickEffect" fill="hold">
                      <p:stCondLst>
                        <p:cond delay="0"/>
                      </p:stCondLst>
                      <p:childTnLst>
                        <p:par>
                          <p:cTn id="8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6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8" dur="3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9" dur="3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56F19F-4AB2-4DAD-92A7-7D513581B35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2560" cy="9144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2.3 QUEL EST LE DEVENIR DU LACTATE ?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Rectangle 7"/>
          <p:cNvSpPr/>
          <p:nvPr/>
        </p:nvSpPr>
        <p:spPr>
          <a:xfrm>
            <a:off x="154080" y="1068480"/>
            <a:ext cx="411480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ENTRANT (LE)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(MUSCLE)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Oval 8"/>
          <p:cNvSpPr/>
          <p:nvPr/>
        </p:nvSpPr>
        <p:spPr>
          <a:xfrm>
            <a:off x="965160" y="3022560"/>
            <a:ext cx="1955880" cy="2032200"/>
          </a:xfrm>
          <a:prstGeom prst="ellipse">
            <a:avLst/>
          </a:prstGeom>
          <a:solidFill>
            <a:srgbClr val="ff0000"/>
          </a:solidFill>
          <a:ln w="10152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Rectangle 9"/>
          <p:cNvSpPr/>
          <p:nvPr/>
        </p:nvSpPr>
        <p:spPr>
          <a:xfrm>
            <a:off x="1143000" y="3657600"/>
            <a:ext cx="1676520" cy="6411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SANG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Rectangle 10"/>
          <p:cNvSpPr/>
          <p:nvPr/>
        </p:nvSpPr>
        <p:spPr>
          <a:xfrm>
            <a:off x="154080" y="5715000"/>
            <a:ext cx="4724280" cy="8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SORTANT (LS)</a:t>
            </a:r>
            <a:endParaRPr b="0" lang="en-US" sz="2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 OXYDATION, GLYCOGENESE 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AutoShape 11"/>
          <p:cNvSpPr/>
          <p:nvPr/>
        </p:nvSpPr>
        <p:spPr>
          <a:xfrm>
            <a:off x="1758960" y="2063880"/>
            <a:ext cx="368280" cy="825480"/>
          </a:xfrm>
          <a:prstGeom prst="downArrow">
            <a:avLst>
              <a:gd name="adj1" fmla="val 75009"/>
              <a:gd name="adj2" fmla="val 112082"/>
            </a:avLst>
          </a:prstGeom>
          <a:solidFill>
            <a:srgbClr val="ffff00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Rectangle 12"/>
          <p:cNvSpPr/>
          <p:nvPr/>
        </p:nvSpPr>
        <p:spPr>
          <a:xfrm>
            <a:off x="2608200" y="2286000"/>
            <a:ext cx="502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LE &gt; LS : (accumulation)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Line 13"/>
          <p:cNvSpPr/>
          <p:nvPr/>
        </p:nvSpPr>
        <p:spPr>
          <a:xfrm>
            <a:off x="7467480" y="1676520"/>
            <a:ext cx="0" cy="121896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Line 14"/>
          <p:cNvSpPr/>
          <p:nvPr/>
        </p:nvSpPr>
        <p:spPr>
          <a:xfrm>
            <a:off x="7467480" y="2895480"/>
            <a:ext cx="152424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Arc 15"/>
          <p:cNvSpPr/>
          <p:nvPr/>
        </p:nvSpPr>
        <p:spPr>
          <a:xfrm>
            <a:off x="7620120" y="1981080"/>
            <a:ext cx="914400" cy="685800"/>
          </a:xfrm>
          <a:custGeom>
            <a:avLst/>
            <a:gdLst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0 w 2160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stroke="0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Line 16"/>
          <p:cNvSpPr/>
          <p:nvPr/>
        </p:nvSpPr>
        <p:spPr>
          <a:xfrm>
            <a:off x="8001000" y="2514600"/>
            <a:ext cx="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Rectangle 17"/>
          <p:cNvSpPr/>
          <p:nvPr/>
        </p:nvSpPr>
        <p:spPr>
          <a:xfrm>
            <a:off x="3200400" y="3429000"/>
            <a:ext cx="40384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LE = LS  :  (Etat stable)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Line 18"/>
          <p:cNvSpPr/>
          <p:nvPr/>
        </p:nvSpPr>
        <p:spPr>
          <a:xfrm>
            <a:off x="7467480" y="3124080"/>
            <a:ext cx="0" cy="121932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Line 19"/>
          <p:cNvSpPr/>
          <p:nvPr/>
        </p:nvSpPr>
        <p:spPr>
          <a:xfrm>
            <a:off x="7467480" y="4343400"/>
            <a:ext cx="152424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Line 20"/>
          <p:cNvSpPr/>
          <p:nvPr/>
        </p:nvSpPr>
        <p:spPr>
          <a:xfrm>
            <a:off x="8077320" y="380988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reeform 21"/>
          <p:cNvSpPr/>
          <p:nvPr/>
        </p:nvSpPr>
        <p:spPr>
          <a:xfrm>
            <a:off x="7772400" y="3809880"/>
            <a:ext cx="306360" cy="459000"/>
          </a:xfrm>
          <a:custGeom>
            <a:avLst/>
            <a:gdLst>
              <a:gd name="GluePoint1X" fmla="*/ 2147483647 w 193"/>
              <a:gd name="GluePoint1Y" fmla="*/ 0 h 289"/>
              <a:gd name="GluePoint2X" fmla="*/ 2147483647 w 193"/>
              <a:gd name="GluePoint2Y" fmla="*/ 2147483647 h 289"/>
              <a:gd name="GluePoint3X" fmla="*/ 2147483647 w 193"/>
              <a:gd name="GluePoint3Y" fmla="*/ 2147483647 h 289"/>
              <a:gd name="GluePoint4X" fmla="*/ 2147483647 w 193"/>
              <a:gd name="GluePoint4Y" fmla="*/ 2147483647 h 289"/>
              <a:gd name="GluePoint5X" fmla="*/ 2147483647 w 193"/>
              <a:gd name="GluePoint5Y" fmla="*/ 2147483647 h 289"/>
              <a:gd name="GluePoint6X" fmla="*/ 2147483647 w 193"/>
              <a:gd name="GluePoint6Y" fmla="*/ 2147483647 h 289"/>
              <a:gd name="GluePoint7X" fmla="*/ 2147483647 w 193"/>
              <a:gd name="GluePoint7Y" fmla="*/ 2147483647 h 289"/>
              <a:gd name="GluePoint8X" fmla="*/ 0 w 193"/>
              <a:gd name="GluePoint8Y" fmla="*/ 2147483647 h 289"/>
              <a:gd name="GluePoint9X" fmla="*/ 2147483647 w 193"/>
              <a:gd name="GluePoint9Y" fmla="*/ 2147483647 h 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193" h="289">
                <a:moveTo>
                  <a:pt x="192" y="0"/>
                </a:moveTo>
                <a:lnTo>
                  <a:pt x="192" y="60"/>
                </a:lnTo>
                <a:lnTo>
                  <a:pt x="176" y="105"/>
                </a:lnTo>
                <a:lnTo>
                  <a:pt x="160" y="150"/>
                </a:lnTo>
                <a:lnTo>
                  <a:pt x="128" y="195"/>
                </a:lnTo>
                <a:lnTo>
                  <a:pt x="96" y="240"/>
                </a:lnTo>
                <a:lnTo>
                  <a:pt x="48" y="255"/>
                </a:lnTo>
                <a:lnTo>
                  <a:pt x="0" y="270"/>
                </a:lnTo>
                <a:lnTo>
                  <a:pt x="38" y="288"/>
                </a:lnTo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Rectangle 22"/>
          <p:cNvSpPr/>
          <p:nvPr/>
        </p:nvSpPr>
        <p:spPr>
          <a:xfrm>
            <a:off x="7842600" y="3427560"/>
            <a:ext cx="11991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6-8 mmol.l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-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Rectangle 23"/>
          <p:cNvSpPr/>
          <p:nvPr/>
        </p:nvSpPr>
        <p:spPr>
          <a:xfrm>
            <a:off x="3124080" y="4724280"/>
            <a:ext cx="4114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LE &lt; LS :  (décroissance)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Line 24"/>
          <p:cNvSpPr/>
          <p:nvPr/>
        </p:nvSpPr>
        <p:spPr>
          <a:xfrm>
            <a:off x="7467480" y="4495680"/>
            <a:ext cx="0" cy="121932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Line 25"/>
          <p:cNvSpPr/>
          <p:nvPr/>
        </p:nvSpPr>
        <p:spPr>
          <a:xfrm>
            <a:off x="7469280" y="5715000"/>
            <a:ext cx="152388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Rectangle 26"/>
          <p:cNvSpPr/>
          <p:nvPr/>
        </p:nvSpPr>
        <p:spPr>
          <a:xfrm>
            <a:off x="7696080" y="5867280"/>
            <a:ext cx="91440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 H 30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Arc 27"/>
          <p:cNvSpPr/>
          <p:nvPr/>
        </p:nvSpPr>
        <p:spPr>
          <a:xfrm>
            <a:off x="7697880" y="4757760"/>
            <a:ext cx="914400" cy="806400"/>
          </a:xfrm>
          <a:custGeom>
            <a:avLst/>
            <a:gdLst>
              <a:gd name="GluePoint1X" fmla="*/ 2147483647 w 21600"/>
              <a:gd name="GluePoint1Y" fmla="*/ 2147483647 h 25380"/>
              <a:gd name="GluePoint2X" fmla="*/ 2147483647 w 21600"/>
              <a:gd name="GluePoint2Y" fmla="*/ 0 h 25380"/>
              <a:gd name="GluePoint3X" fmla="*/ 2147483647 w 21600"/>
              <a:gd name="GluePoint3Y" fmla="*/ 2147483647 h 253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5380">
                <a:moveTo>
                  <a:pt x="20811" y="25379"/>
                </a:moveTo>
                <a:cubicBezTo>
                  <a:pt x="9196" y="24955"/>
                  <a:pt x="0" y="15416"/>
                  <a:pt x="0" y="3794"/>
                </a:cubicBezTo>
                <a:cubicBezTo>
                  <a:pt x="-1" y="2521"/>
                  <a:pt x="112" y="1252"/>
                  <a:pt x="335" y="-1"/>
                </a:cubicBezTo>
              </a:path>
              <a:path stroke="0" w="21600" h="25380">
                <a:moveTo>
                  <a:pt x="20811" y="25379"/>
                </a:moveTo>
                <a:cubicBezTo>
                  <a:pt x="9196" y="24955"/>
                  <a:pt x="0" y="15416"/>
                  <a:pt x="0" y="3794"/>
                </a:cubicBezTo>
                <a:cubicBezTo>
                  <a:pt x="-1" y="2521"/>
                  <a:pt x="112" y="1252"/>
                  <a:pt x="335" y="-1"/>
                </a:cubicBezTo>
                <a:lnTo>
                  <a:pt x="21600" y="3794"/>
                </a:lnTo>
                <a:lnTo>
                  <a:pt x="20811" y="25379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Line 28"/>
          <p:cNvSpPr/>
          <p:nvPr/>
        </p:nvSpPr>
        <p:spPr>
          <a:xfrm flipH="1">
            <a:off x="456840" y="4800600"/>
            <a:ext cx="609480" cy="76212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Line 29"/>
          <p:cNvSpPr/>
          <p:nvPr/>
        </p:nvSpPr>
        <p:spPr>
          <a:xfrm>
            <a:off x="2743200" y="4876920"/>
            <a:ext cx="457200" cy="76176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Line 30"/>
          <p:cNvSpPr/>
          <p:nvPr/>
        </p:nvSpPr>
        <p:spPr>
          <a:xfrm>
            <a:off x="1905120" y="5181480"/>
            <a:ext cx="0" cy="60984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Rectangle 31"/>
          <p:cNvSpPr/>
          <p:nvPr/>
        </p:nvSpPr>
        <p:spPr>
          <a:xfrm>
            <a:off x="4709520" y="1508040"/>
            <a:ext cx="214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LACTATEMIE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hecker dir="horz"/>
  </p:transition>
  <p:timing>
    <p:tnLst>
      <p:par>
        <p:cTn id="880" dur="indefinite" restart="never" nodeType="tmRoot">
          <p:childTnLst>
            <p:seq>
              <p:cTn id="881" dur="indefinite" nodeType="mainSeq">
                <p:childTnLst>
                  <p:par>
                    <p:cTn id="882" nodeType="clickEffect" fill="hold">
                      <p:stCondLst>
                        <p:cond delay="0"/>
                      </p:stCondLst>
                      <p:childTnLst>
                        <p:par>
                          <p:cTn id="8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4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6" dur="3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7" dur="3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8" nodeType="afterEffect" fill="hold">
                            <p:stCondLst>
                              <p:cond delay="3400"/>
                            </p:stCondLst>
                            <p:childTnLst>
                              <p:par>
                                <p:cTn id="88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2" nodeType="afterEffect" fill="hold">
                            <p:stCondLst>
                              <p:cond delay="4900"/>
                            </p:stCondLst>
                            <p:childTnLst>
                              <p:par>
                                <p:cTn id="89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6" nodeType="afterEffect" fill="hold">
                            <p:stCondLst>
                              <p:cond delay="6400"/>
                            </p:stCondLst>
                            <p:childTnLst>
                              <p:par>
                                <p:cTn id="897" nodeType="afterEffect" fill="hold" presetClass="entr" presetID="2" presetSubtype="2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9" dur="75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0" dur="75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1" nodeType="afterEffect" fill="hold">
                            <p:stCondLst>
                              <p:cond delay="6700"/>
                            </p:stCondLst>
                            <p:childTnLst>
                              <p:par>
                                <p:cTn id="90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04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5" nodeType="afterEffect" fill="hold">
                            <p:stCondLst>
                              <p:cond delay="7200"/>
                            </p:stCondLst>
                            <p:childTnLst>
                              <p:par>
                                <p:cTn id="9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0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nodeType="afterEffect" fill="hold">
                            <p:stCondLst>
                              <p:cond delay="7700"/>
                            </p:stCondLst>
                            <p:childTnLst>
                              <p:par>
                                <p:cTn id="9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3" nodeType="afterEffect" fill="hold">
                            <p:stCondLst>
                              <p:cond delay="8200"/>
                            </p:stCondLst>
                            <p:childTnLst>
                              <p:par>
                                <p:cTn id="914" nodeType="afterEffect" fill="hold" presetClass="entr" presetID="2" presetSubtype="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6" dur="3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7" dur="3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8" nodeType="afterEffect" fill="hold">
                            <p:stCondLst>
                              <p:cond delay="11200"/>
                            </p:stCondLst>
                            <p:childTnLst>
                              <p:par>
                                <p:cTn id="919" nodeType="afterEffect" fill="hold" presetClass="entr" presetID="2" presetSubtype="2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1" dur="3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2" dur="3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3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924" nodeType="afterEffect" fill="hold" presetClass="entr" presetID="2" presetSubtype="2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6" dur="3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7" dur="3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8" nodeType="afterEffect" fill="hold">
                            <p:stCondLst>
                              <p:cond delay="15600"/>
                            </p:stCondLst>
                            <p:childTnLst>
                              <p:par>
                                <p:cTn id="92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3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2" nodeType="afterEffect" fill="hold">
                            <p:stCondLst>
                              <p:cond delay="17100"/>
                            </p:stCondLst>
                            <p:childTnLst>
                              <p:par>
                                <p:cTn id="933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5" dur="3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6" dur="3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7" nodeType="afterEffect" fill="hold">
                            <p:stCondLst>
                              <p:cond delay="21500"/>
                            </p:stCondLst>
                            <p:childTnLst>
                              <p:par>
                                <p:cTn id="9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1" nodeType="afterEffect" fill="hold">
                            <p:stCondLst>
                              <p:cond delay="22000"/>
                            </p:stCondLst>
                            <p:childTnLst>
                              <p:par>
                                <p:cTn id="94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5" nodeType="afterEffect" fill="hold">
                            <p:stCondLst>
                              <p:cond delay="22500"/>
                            </p:stCondLst>
                            <p:childTnLst>
                              <p:par>
                                <p:cTn id="946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8" dur="75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9" dur="75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nodeType="afterEffect" fill="hold">
                            <p:stCondLst>
                              <p:cond delay="23325"/>
                            </p:stCondLst>
                            <p:childTnLst>
                              <p:par>
                                <p:cTn id="951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3" dur="3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4" dur="3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5" nodeType="afterEffect" fill="hold">
                            <p:stCondLst>
                              <p:cond delay="27425"/>
                            </p:stCondLst>
                            <p:childTnLst>
                              <p:par>
                                <p:cTn id="95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8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nodeType="afterEffect" fill="hold">
                            <p:stCondLst>
                              <p:cond delay="27925"/>
                            </p:stCondLst>
                            <p:childTnLst>
                              <p:par>
                                <p:cTn id="960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2" dur="75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75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BBD60C-6DBB-4A8B-B0D5-9DCD1196162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Line 2"/>
          <p:cNvSpPr/>
          <p:nvPr/>
        </p:nvSpPr>
        <p:spPr>
          <a:xfrm>
            <a:off x="1454040" y="457200"/>
            <a:ext cx="0" cy="4572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Line 3"/>
          <p:cNvSpPr/>
          <p:nvPr/>
        </p:nvSpPr>
        <p:spPr>
          <a:xfrm>
            <a:off x="1606680" y="5105520"/>
            <a:ext cx="63244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 Box 4"/>
          <p:cNvSpPr/>
          <p:nvPr/>
        </p:nvSpPr>
        <p:spPr>
          <a:xfrm>
            <a:off x="1607040" y="5029200"/>
            <a:ext cx="64058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                   I                              I                              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25                            50                           75                         100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Text Box 5"/>
          <p:cNvSpPr/>
          <p:nvPr/>
        </p:nvSpPr>
        <p:spPr>
          <a:xfrm>
            <a:off x="2749680" y="5638680"/>
            <a:ext cx="4794120" cy="3682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% vam, % PAM, % VO2max, % FCmax,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Line 6"/>
          <p:cNvSpPr/>
          <p:nvPr/>
        </p:nvSpPr>
        <p:spPr>
          <a:xfrm>
            <a:off x="4578480" y="914400"/>
            <a:ext cx="0" cy="41148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Line 7"/>
          <p:cNvSpPr/>
          <p:nvPr/>
        </p:nvSpPr>
        <p:spPr>
          <a:xfrm>
            <a:off x="6407280" y="914400"/>
            <a:ext cx="0" cy="41148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reeform 8"/>
          <p:cNvSpPr/>
          <p:nvPr/>
        </p:nvSpPr>
        <p:spPr>
          <a:xfrm>
            <a:off x="2133720" y="990720"/>
            <a:ext cx="5562360" cy="3619440"/>
          </a:xfrm>
          <a:custGeom>
            <a:avLst/>
            <a:gdLst>
              <a:gd name="GluePoint1X" fmla="*/ 0 w 3288"/>
              <a:gd name="GluePoint1Y" fmla="*/ 2147483647 h 2616"/>
              <a:gd name="GluePoint2X" fmla="*/ 2147483647 w 3288"/>
              <a:gd name="GluePoint2Y" fmla="*/ 2147483647 h 2616"/>
              <a:gd name="GluePoint3X" fmla="*/ 2147483647 w 3288"/>
              <a:gd name="GluePoint3Y" fmla="*/ 2147483647 h 2616"/>
              <a:gd name="GluePoint4X" fmla="*/ 2147483647 w 3288"/>
              <a:gd name="GluePoint4Y" fmla="*/ 2147483647 h 2616"/>
              <a:gd name="GluePoint5X" fmla="*/ 2147483647 w 3288"/>
              <a:gd name="GluePoint5Y" fmla="*/ 2147483647 h 2616"/>
              <a:gd name="GluePoint6X" fmla="*/ 2147483647 w 3288"/>
              <a:gd name="GluePoint6Y" fmla="*/ 0 h 26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288" h="2616">
                <a:moveTo>
                  <a:pt x="0" y="2544"/>
                </a:moveTo>
                <a:cubicBezTo>
                  <a:pt x="496" y="2580"/>
                  <a:pt x="992" y="2616"/>
                  <a:pt x="1392" y="2544"/>
                </a:cubicBezTo>
                <a:cubicBezTo>
                  <a:pt x="1792" y="2472"/>
                  <a:pt x="2160" y="2296"/>
                  <a:pt x="2400" y="2112"/>
                </a:cubicBezTo>
                <a:cubicBezTo>
                  <a:pt x="2640" y="1928"/>
                  <a:pt x="2696" y="1744"/>
                  <a:pt x="2832" y="1440"/>
                </a:cubicBezTo>
                <a:cubicBezTo>
                  <a:pt x="2968" y="1136"/>
                  <a:pt x="3144" y="528"/>
                  <a:pt x="3216" y="288"/>
                </a:cubicBezTo>
                <a:cubicBezTo>
                  <a:pt x="3288" y="48"/>
                  <a:pt x="3276" y="24"/>
                  <a:pt x="3264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 Box 9"/>
          <p:cNvSpPr/>
          <p:nvPr/>
        </p:nvSpPr>
        <p:spPr>
          <a:xfrm>
            <a:off x="6713280" y="2819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 Box 10"/>
          <p:cNvSpPr/>
          <p:nvPr/>
        </p:nvSpPr>
        <p:spPr>
          <a:xfrm>
            <a:off x="6256080" y="3429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Text Box 11"/>
          <p:cNvSpPr/>
          <p:nvPr/>
        </p:nvSpPr>
        <p:spPr>
          <a:xfrm>
            <a:off x="5418000" y="3962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Text Box 12"/>
          <p:cNvSpPr/>
          <p:nvPr/>
        </p:nvSpPr>
        <p:spPr>
          <a:xfrm>
            <a:off x="44272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Text Box 13"/>
          <p:cNvSpPr/>
          <p:nvPr/>
        </p:nvSpPr>
        <p:spPr>
          <a:xfrm>
            <a:off x="38178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Text Box 14"/>
          <p:cNvSpPr/>
          <p:nvPr/>
        </p:nvSpPr>
        <p:spPr>
          <a:xfrm>
            <a:off x="29034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 Box 15"/>
          <p:cNvSpPr/>
          <p:nvPr/>
        </p:nvSpPr>
        <p:spPr>
          <a:xfrm>
            <a:off x="19126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 Box 16"/>
          <p:cNvSpPr/>
          <p:nvPr/>
        </p:nvSpPr>
        <p:spPr>
          <a:xfrm flipV="1">
            <a:off x="7473960" y="83520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Text Box 17"/>
          <p:cNvSpPr/>
          <p:nvPr/>
        </p:nvSpPr>
        <p:spPr>
          <a:xfrm>
            <a:off x="7094520" y="1981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 Box 18"/>
          <p:cNvSpPr/>
          <p:nvPr/>
        </p:nvSpPr>
        <p:spPr>
          <a:xfrm>
            <a:off x="1895400" y="3429000"/>
            <a:ext cx="24800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d’apparition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: SL1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S. Aérobie *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 Box 19"/>
          <p:cNvSpPr/>
          <p:nvPr/>
        </p:nvSpPr>
        <p:spPr>
          <a:xfrm>
            <a:off x="6770520" y="3733920"/>
            <a:ext cx="24670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Seuil d’accumulation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: SL2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S. Anaérobie *,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OBLA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reeform 20"/>
          <p:cNvSpPr/>
          <p:nvPr/>
        </p:nvSpPr>
        <p:spPr>
          <a:xfrm>
            <a:off x="4121280" y="4038480"/>
            <a:ext cx="380880" cy="381240"/>
          </a:xfrm>
          <a:custGeom>
            <a:avLst/>
            <a:gdLst>
              <a:gd name="GluePoint1X" fmla="*/ 0 w 288"/>
              <a:gd name="GluePoint1Y" fmla="*/ 0 h 240"/>
              <a:gd name="GluePoint2X" fmla="*/ 2147483647 w 288"/>
              <a:gd name="GluePoint2Y" fmla="*/ 2147483647 h 240"/>
              <a:gd name="GluePoint3X" fmla="*/ 2147483647 w 288"/>
              <a:gd name="GluePoint3Y" fmla="*/ 2147483647 h 240"/>
              <a:gd name="GluePoint4X" fmla="*/ 2147483647 w 288"/>
              <a:gd name="GluePoint4Y" fmla="*/ 214748364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reeform 21"/>
          <p:cNvSpPr/>
          <p:nvPr/>
        </p:nvSpPr>
        <p:spPr>
          <a:xfrm>
            <a:off x="6483240" y="3733920"/>
            <a:ext cx="381240" cy="164880"/>
          </a:xfrm>
          <a:custGeom>
            <a:avLst/>
            <a:gdLst>
              <a:gd name="GluePoint1X" fmla="*/ 2147483647 w 240"/>
              <a:gd name="GluePoint1Y" fmla="*/ 2147483647 h 104"/>
              <a:gd name="GluePoint2X" fmla="*/ 2147483647 w 240"/>
              <a:gd name="GluePoint2Y" fmla="*/ 0 h 104"/>
              <a:gd name="GluePoint3X" fmla="*/ 2147483647 w 240"/>
              <a:gd name="GluePoint3Y" fmla="*/ 2147483647 h 104"/>
              <a:gd name="GluePoint4X" fmla="*/ 0 w 240"/>
              <a:gd name="GluePoint4Y" fmla="*/ 2147483647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 Box 22"/>
          <p:cNvSpPr/>
          <p:nvPr/>
        </p:nvSpPr>
        <p:spPr>
          <a:xfrm>
            <a:off x="914400" y="0"/>
            <a:ext cx="709560" cy="50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11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 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Text Box 23"/>
          <p:cNvSpPr/>
          <p:nvPr/>
        </p:nvSpPr>
        <p:spPr>
          <a:xfrm rot="16200000">
            <a:off x="-522000" y="1982520"/>
            <a:ext cx="22053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Line 24"/>
          <p:cNvSpPr/>
          <p:nvPr/>
        </p:nvSpPr>
        <p:spPr>
          <a:xfrm>
            <a:off x="4578480" y="4495680"/>
            <a:ext cx="251460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Line 25"/>
          <p:cNvSpPr/>
          <p:nvPr/>
        </p:nvSpPr>
        <p:spPr>
          <a:xfrm>
            <a:off x="6407280" y="3657600"/>
            <a:ext cx="190476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 Box 26"/>
          <p:cNvSpPr/>
          <p:nvPr/>
        </p:nvSpPr>
        <p:spPr>
          <a:xfrm>
            <a:off x="1057320" y="6248520"/>
            <a:ext cx="7523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* Selon la terminologie proposée par Wasserman, (1964 et 1967)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839923-E1DC-4783-A295-4CC9F91B496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-360" y="456840"/>
            <a:ext cx="8991720" cy="11430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QUELLES SIGNIFICATIONS ACCORDER AU(X) SEUIL(S) ANAEROBIE (S.A.)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Rectangle 5"/>
          <p:cNvSpPr/>
          <p:nvPr/>
        </p:nvSpPr>
        <p:spPr>
          <a:xfrm>
            <a:off x="0" y="2514600"/>
            <a:ext cx="9067680" cy="41612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SEUIL</a:t>
            </a: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=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 Limite </a:t>
            </a:r>
            <a:r>
              <a:rPr b="1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au delà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laquelle les conditions sont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changées »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(Larousse).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ANAEROBIE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sans air, donc sans oxygène.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964" dur="indefinite" restart="never" nodeType="tmRoot">
          <p:childTnLst>
            <p:seq>
              <p:cTn id="965" dur="indefinite" nodeType="mainSeq">
                <p:childTnLst>
                  <p:par>
                    <p:cTn id="966" nodeType="clickEffect" fill="hold">
                      <p:stCondLst>
                        <p:cond delay="0"/>
                      </p:stCondLst>
                      <p:childTnLst>
                        <p:par>
                          <p:cTn id="9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8" nodeType="afterEffect" fill="hold" presetClass="entr" presetID="2" presetSubtype="1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0" dur="75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1" dur="75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11B262-9E68-457D-8F86-B6E58E1FBC9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/>
          </p:nvPr>
        </p:nvSpPr>
        <p:spPr>
          <a:xfrm>
            <a:off x="76320" y="228240"/>
            <a:ext cx="8991360" cy="25909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5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Autrement dit, le S.A. devrait délimiter deux zones : l'une  située en deça d'une limite (puissance, vitesse, FC, % VO</a:t>
            </a: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max) à caractéristique essentiellement aérobie et l'autre au delà, à composante essentiellement anaérobie entraînant une accumulation de lactate.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Line 5"/>
          <p:cNvSpPr/>
          <p:nvPr/>
        </p:nvSpPr>
        <p:spPr>
          <a:xfrm>
            <a:off x="228600" y="3200400"/>
            <a:ext cx="0" cy="274320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Line 6"/>
          <p:cNvSpPr/>
          <p:nvPr/>
        </p:nvSpPr>
        <p:spPr>
          <a:xfrm>
            <a:off x="228600" y="5943600"/>
            <a:ext cx="403848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Line 7"/>
          <p:cNvSpPr/>
          <p:nvPr/>
        </p:nvSpPr>
        <p:spPr>
          <a:xfrm>
            <a:off x="2743200" y="5410080"/>
            <a:ext cx="0" cy="53352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Line 8"/>
          <p:cNvSpPr/>
          <p:nvPr/>
        </p:nvSpPr>
        <p:spPr>
          <a:xfrm flipV="1">
            <a:off x="2743200" y="3657240"/>
            <a:ext cx="0" cy="160020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Rectangle 9"/>
          <p:cNvSpPr/>
          <p:nvPr/>
        </p:nvSpPr>
        <p:spPr>
          <a:xfrm>
            <a:off x="5181480" y="2438280"/>
            <a:ext cx="3962520" cy="37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10000"/>
              </a:lnSpc>
              <a:spcBef>
                <a:spcPts val="15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Si cette théorie correspondait à une réalité, l'entraîneur disposerait alors de repères objectifs nécessaires pour planifier individuellement les intensités d'entraînement aérobie ou anaérobie.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Rectangle 10"/>
          <p:cNvSpPr/>
          <p:nvPr/>
        </p:nvSpPr>
        <p:spPr>
          <a:xfrm>
            <a:off x="2285640" y="6035760"/>
            <a:ext cx="2896200" cy="8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Puissance, vitesse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FC ou % VO</a:t>
            </a: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Rectangle 11"/>
          <p:cNvSpPr/>
          <p:nvPr/>
        </p:nvSpPr>
        <p:spPr>
          <a:xfrm>
            <a:off x="306360" y="3581280"/>
            <a:ext cx="1752480" cy="11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AEROBIE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PAS DE LACTATE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Rectangle 12"/>
          <p:cNvSpPr/>
          <p:nvPr/>
        </p:nvSpPr>
        <p:spPr>
          <a:xfrm>
            <a:off x="222120" y="2805120"/>
            <a:ext cx="1103040" cy="7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mmol. l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Rectangle 13"/>
          <p:cNvSpPr/>
          <p:nvPr/>
        </p:nvSpPr>
        <p:spPr>
          <a:xfrm>
            <a:off x="1966680" y="4556160"/>
            <a:ext cx="693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Rectangle 14"/>
          <p:cNvSpPr/>
          <p:nvPr/>
        </p:nvSpPr>
        <p:spPr>
          <a:xfrm>
            <a:off x="2728440" y="3002040"/>
            <a:ext cx="2263320" cy="10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ANAEROBIE :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ACCUMULATION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LACTIQUE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Line 15"/>
          <p:cNvSpPr/>
          <p:nvPr/>
        </p:nvSpPr>
        <p:spPr>
          <a:xfrm>
            <a:off x="380880" y="5486400"/>
            <a:ext cx="190512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Arc 16"/>
          <p:cNvSpPr/>
          <p:nvPr/>
        </p:nvSpPr>
        <p:spPr>
          <a:xfrm>
            <a:off x="2286000" y="3886200"/>
            <a:ext cx="1523880" cy="1600200"/>
          </a:xfrm>
          <a:custGeom>
            <a:avLst/>
            <a:gdLst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0 w 2160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stroke="0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w="12600">
            <a:solidFill>
              <a:srgbClr val="ffff00"/>
            </a:solidFill>
            <a:round/>
          </a:ln>
          <a:effectLst>
            <a:outerShdw dist="36147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972" dur="indefinite" restart="never" nodeType="tmRoot">
          <p:childTnLst>
            <p:seq>
              <p:cTn id="973" dur="indefinite" nodeType="mainSeq">
                <p:childTnLst>
                  <p:par>
                    <p:cTn id="974" nodeType="clickEffect" fill="hold">
                      <p:stCondLst>
                        <p:cond delay="0"/>
                      </p:stCondLst>
                      <p:childTnLst>
                        <p:par>
                          <p:cTn id="9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6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978"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nodeType="afterEffect" fill="hold">
                            <p:stCondLst>
                              <p:cond delay="14100"/>
                            </p:stCondLst>
                            <p:childTnLst>
                              <p:par>
                                <p:cTn id="980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2" dur="3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3" dur="3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nodeType="afterEffect" fill="hold">
                            <p:stCondLst>
                              <p:cond delay="21600"/>
                            </p:stCondLst>
                            <p:childTnLst>
                              <p:par>
                                <p:cTn id="985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7" dur="75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8" dur="75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nodeType="afterEffect" fill="hold">
                            <p:stCondLst>
                              <p:cond delay="24100"/>
                            </p:stCondLst>
                            <p:childTnLst>
                              <p:par>
                                <p:cTn id="990" nodeType="afterEffect" fill="hold" presetClass="entr" presetID="2" presetSubtype="2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2" dur="75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75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A048FB-5152-4194-9922-0BE0E952EC2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Rectangle 2"/>
          <p:cNvSpPr/>
          <p:nvPr/>
        </p:nvSpPr>
        <p:spPr>
          <a:xfrm>
            <a:off x="457200" y="1143000"/>
            <a:ext cx="8458200" cy="52585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EXAMINONS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1" lang="fr-FR" sz="20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validité des théories sous-jacentes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3.1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La non apparition du lactate dans le sang correspond-elle à des conditions strictement aérobies ? Et donc à quelle puissance le muscle commence t-il à produire du lactate.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3.2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L’accumulation du lactate correspond-elle à l’absence d’oxygène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1" lang="fr-FR" sz="20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validité des techniques pour obtenir le S.A.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1" lang="fr-FR" sz="20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reproductibilité intra - technique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r>
              <a:rPr b="1" lang="fr-FR" sz="20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1" lang="fr-FR" sz="20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variations du S.A. en fonction de la spécialité.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994" dur="indefinite" restart="never" nodeType="tmRoot">
          <p:childTnLst>
            <p:seq>
              <p:cTn id="995" dur="indefinite" nodeType="mainSeq">
                <p:childTnLst>
                  <p:par>
                    <p:cTn id="996" nodeType="clickEffect" fill="hold">
                      <p:stCondLst>
                        <p:cond delay="0"/>
                      </p:stCondLst>
                      <p:childTnLst>
                        <p:par>
                          <p:cTn id="9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8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00" dur="3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161D55-BD3E-4EAA-9508-CE6E784E718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Rectangle 4"/>
          <p:cNvSpPr/>
          <p:nvPr/>
        </p:nvSpPr>
        <p:spPr>
          <a:xfrm>
            <a:off x="755640" y="2708280"/>
            <a:ext cx="799308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3.1  A QUELLE PUISSANCE LE MUSCLE PRODUIT-IL DU LACTATE ?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EEB62F-D582-4298-8464-2DA8429CF79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Text Box 2"/>
          <p:cNvSpPr/>
          <p:nvPr/>
        </p:nvSpPr>
        <p:spPr>
          <a:xfrm>
            <a:off x="2273400" y="333360"/>
            <a:ext cx="5432040" cy="45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Activation de la glycolyse anaérobie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 Box 3"/>
          <p:cNvSpPr/>
          <p:nvPr/>
        </p:nvSpPr>
        <p:spPr>
          <a:xfrm>
            <a:off x="3007440" y="1773360"/>
            <a:ext cx="147600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AutoShape 4"/>
          <p:cNvSpPr/>
          <p:nvPr/>
        </p:nvSpPr>
        <p:spPr>
          <a:xfrm>
            <a:off x="3995640" y="2209680"/>
            <a:ext cx="432000" cy="642960"/>
          </a:xfrm>
          <a:custGeom>
            <a:avLst/>
            <a:gdLst>
              <a:gd name="textAreaLeft" fmla="*/ 57600 w 432000"/>
              <a:gd name="textAreaRight" fmla="*/ 374400 w 432000"/>
              <a:gd name="textAreaTop" fmla="*/ 134280 h 642960"/>
              <a:gd name="textAreaBottom" fmla="*/ 444240 h 6429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028" stAng="-5400000" swAng="5400000"/>
                <a:lnTo>
                  <a:pt x="21600" y="10412"/>
                </a:lnTo>
                <a:arcTo wR="21600" hR="9028" stAng="0" swAng="2011510"/>
                <a:lnTo>
                  <a:pt x="11525" y="20208"/>
                </a:lnTo>
                <a:lnTo>
                  <a:pt x="0" y="18748"/>
                </a:lnTo>
                <a:lnTo>
                  <a:pt x="11525" y="14504"/>
                </a:lnTo>
                <a:lnTo>
                  <a:pt x="11525" y="16664"/>
                </a:lnTo>
                <a:arcTo wR="21600" hR="9028" stAng="2011510" swAng="-1901088"/>
                <a:lnTo>
                  <a:pt x="21536" y="9720"/>
                </a:lnTo>
                <a:arcTo wR="21600" hR="9028" stAng="-110422" swAng="-5289578"/>
                <a:close/>
              </a:path>
              <a:path fill="darkenLess" w="21600" h="21600">
                <a:moveTo>
                  <a:pt x="0" y="0"/>
                </a:moveTo>
                <a:arcTo wR="21600" hR="9028" stAng="-5400000" swAng="5400000"/>
                <a:lnTo>
                  <a:pt x="21600" y="10412"/>
                </a:lnTo>
                <a:arcTo wR="21600" hR="9028" stAng="0" swAng="-110422"/>
                <a:lnTo>
                  <a:pt x="21536" y="9720"/>
                </a:lnTo>
                <a:arcTo wR="21600" hR="9028" stAng="-110422" swAng="-5289578"/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Oval 6"/>
          <p:cNvSpPr/>
          <p:nvPr/>
        </p:nvSpPr>
        <p:spPr>
          <a:xfrm>
            <a:off x="4295880" y="2362320"/>
            <a:ext cx="304560" cy="228600"/>
          </a:xfrm>
          <a:prstGeom prst="ellipse">
            <a:avLst/>
          </a:prstGeom>
          <a:solidFill>
            <a:srgbClr val="3333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+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Oval 7"/>
          <p:cNvSpPr/>
          <p:nvPr/>
        </p:nvSpPr>
        <p:spPr>
          <a:xfrm>
            <a:off x="6276960" y="1981080"/>
            <a:ext cx="1905120" cy="762120"/>
          </a:xfrm>
          <a:prstGeom prst="ellipse">
            <a:avLst/>
          </a:prstGeom>
          <a:solidFill>
            <a:srgbClr val="cccc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Adrénaline,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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Ca </a:t>
            </a:r>
            <a:r>
              <a:rPr b="1" lang="fr-FR" sz="16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2+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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ATP</a:t>
            </a:r>
            <a:r>
              <a:rPr b="1" lang="fr-FR" sz="16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Line 8"/>
          <p:cNvSpPr/>
          <p:nvPr/>
        </p:nvSpPr>
        <p:spPr>
          <a:xfrm flipH="1">
            <a:off x="4676760" y="2514600"/>
            <a:ext cx="14479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 Box 9"/>
          <p:cNvSpPr/>
          <p:nvPr/>
        </p:nvSpPr>
        <p:spPr>
          <a:xfrm>
            <a:off x="2775600" y="2819520"/>
            <a:ext cx="22417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 1-phosphate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Line 10"/>
          <p:cNvSpPr/>
          <p:nvPr/>
        </p:nvSpPr>
        <p:spPr>
          <a:xfrm>
            <a:off x="3762360" y="3124080"/>
            <a:ext cx="17640" cy="2105280"/>
          </a:xfrm>
          <a:prstGeom prst="line">
            <a:avLst/>
          </a:prstGeom>
          <a:ln w="572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Text Box 13"/>
          <p:cNvSpPr/>
          <p:nvPr/>
        </p:nvSpPr>
        <p:spPr>
          <a:xfrm>
            <a:off x="4597200" y="2133720"/>
            <a:ext cx="1686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G. phosphorylase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Text Box 32"/>
          <p:cNvSpPr/>
          <p:nvPr/>
        </p:nvSpPr>
        <p:spPr>
          <a:xfrm>
            <a:off x="6135120" y="2743200"/>
            <a:ext cx="203940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Contraction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(travail musculaire)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Text Box 45"/>
          <p:cNvSpPr/>
          <p:nvPr/>
        </p:nvSpPr>
        <p:spPr>
          <a:xfrm rot="19542600">
            <a:off x="401400" y="1558080"/>
            <a:ext cx="10278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RAPPEL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Text Box 47"/>
          <p:cNvSpPr/>
          <p:nvPr/>
        </p:nvSpPr>
        <p:spPr>
          <a:xfrm>
            <a:off x="2351520" y="5392800"/>
            <a:ext cx="3161160" cy="3682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Acide lactique : lactate + H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1001" dur="indefinite" restart="never" nodeType="tmRoot">
          <p:childTnLst>
            <p:seq>
              <p:cTn id="1002" dur="indefinite" nodeType="mainSeq">
                <p:childTnLst>
                  <p:par>
                    <p:cTn id="1003" nodeType="clickEffect" fill="hold">
                      <p:stCondLst>
                        <p:cond delay="0"/>
                      </p:stCondLst>
                      <p:childTnLst>
                        <p:par>
                          <p:cTn id="10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0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8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9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2" nodeType="after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8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9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21" dur="75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2" nodeType="afterEffect" fill="hold">
                            <p:stCondLst>
                              <p:cond delay="3350"/>
                            </p:stCondLst>
                            <p:childTnLst>
                              <p:par>
                                <p:cTn id="1023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25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6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7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8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nodeType="afterEffect" fill="hold">
                            <p:stCondLst>
                              <p:cond delay="4350"/>
                            </p:stCondLst>
                            <p:childTnLst>
                              <p:par>
                                <p:cTn id="1030" nodeType="afterEffect" fill="hold" presetClass="entr" presetID="23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2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3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nodeType="afterEffect" fill="hold">
                            <p:stCondLst>
                              <p:cond delay="4850"/>
                            </p:stCondLst>
                            <p:childTnLst>
                              <p:par>
                                <p:cTn id="1035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7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8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nodeType="afterEffect" fill="hold">
                            <p:stCondLst>
                              <p:cond delay="5350"/>
                            </p:stCondLst>
                            <p:childTnLst>
                              <p:par>
                                <p:cTn id="104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2" dur="1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3" dur="1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4" dur="1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5" dur="1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nodeType="afterEffect" fill="hold">
                            <p:stCondLst>
                              <p:cond delay="6350"/>
                            </p:stCondLst>
                            <p:childTnLst>
                              <p:par>
                                <p:cTn id="1047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049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C215C6-B376-4D16-BAB6-D9DC3AB28ED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Text Box 2"/>
          <p:cNvSpPr/>
          <p:nvPr/>
        </p:nvSpPr>
        <p:spPr>
          <a:xfrm>
            <a:off x="3510360" y="179280"/>
            <a:ext cx="132012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Line 3"/>
          <p:cNvSpPr/>
          <p:nvPr/>
        </p:nvSpPr>
        <p:spPr>
          <a:xfrm>
            <a:off x="4191120" y="53352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Text Box 4"/>
          <p:cNvSpPr/>
          <p:nvPr/>
        </p:nvSpPr>
        <p:spPr>
          <a:xfrm>
            <a:off x="4260600" y="533520"/>
            <a:ext cx="2410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Glycogène phosphorylase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Text Box 5"/>
          <p:cNvSpPr/>
          <p:nvPr/>
        </p:nvSpPr>
        <p:spPr>
          <a:xfrm>
            <a:off x="3962520" y="838080"/>
            <a:ext cx="539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Line 6"/>
          <p:cNvSpPr/>
          <p:nvPr/>
        </p:nvSpPr>
        <p:spPr>
          <a:xfrm>
            <a:off x="4191120" y="106668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Arc 7"/>
          <p:cNvSpPr/>
          <p:nvPr/>
        </p:nvSpPr>
        <p:spPr>
          <a:xfrm>
            <a:off x="3886200" y="588960"/>
            <a:ext cx="304920" cy="708120"/>
          </a:xfrm>
          <a:custGeom>
            <a:avLst/>
            <a:gdLst>
              <a:gd name="GluePoint1X" fmla="*/ 2147483647 w 13791"/>
              <a:gd name="GluePoint1Y" fmla="*/ 0 h 20191"/>
              <a:gd name="GluePoint2X" fmla="*/ 2147483647 w 13791"/>
              <a:gd name="GluePoint2Y" fmla="*/ 2147483647 h 20191"/>
              <a:gd name="GluePoint3X" fmla="*/ 0 w 13791"/>
              <a:gd name="GluePoint3Y" fmla="*/ 2147483647 h 20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</a:path>
              <a:path stroke="0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  <a:lnTo>
                  <a:pt x="0" y="20191"/>
                </a:lnTo>
                <a:lnTo>
                  <a:pt x="7673" y="0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Text Box 8"/>
          <p:cNvSpPr/>
          <p:nvPr/>
        </p:nvSpPr>
        <p:spPr>
          <a:xfrm>
            <a:off x="3738600" y="457200"/>
            <a:ext cx="336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Text Box 9"/>
          <p:cNvSpPr/>
          <p:nvPr/>
        </p:nvSpPr>
        <p:spPr>
          <a:xfrm>
            <a:off x="3963240" y="1371600"/>
            <a:ext cx="507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Line 10"/>
          <p:cNvSpPr/>
          <p:nvPr/>
        </p:nvSpPr>
        <p:spPr>
          <a:xfrm>
            <a:off x="4191120" y="160020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Text Box 11"/>
          <p:cNvSpPr/>
          <p:nvPr/>
        </p:nvSpPr>
        <p:spPr>
          <a:xfrm>
            <a:off x="2052360" y="1523880"/>
            <a:ext cx="205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Phosphofructokynase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Line 12"/>
          <p:cNvSpPr/>
          <p:nvPr/>
        </p:nvSpPr>
        <p:spPr>
          <a:xfrm>
            <a:off x="1143000" y="380880"/>
            <a:ext cx="0" cy="59436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Oval 13"/>
          <p:cNvSpPr/>
          <p:nvPr/>
        </p:nvSpPr>
        <p:spPr>
          <a:xfrm>
            <a:off x="990720" y="838080"/>
            <a:ext cx="30456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Line 14"/>
          <p:cNvSpPr/>
          <p:nvPr/>
        </p:nvSpPr>
        <p:spPr>
          <a:xfrm>
            <a:off x="1143000" y="990720"/>
            <a:ext cx="28195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Text Box 15"/>
          <p:cNvSpPr/>
          <p:nvPr/>
        </p:nvSpPr>
        <p:spPr>
          <a:xfrm>
            <a:off x="720" y="838080"/>
            <a:ext cx="1062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Text Box 16"/>
          <p:cNvSpPr/>
          <p:nvPr/>
        </p:nvSpPr>
        <p:spPr>
          <a:xfrm>
            <a:off x="2055600" y="990720"/>
            <a:ext cx="1221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Text Box 17"/>
          <p:cNvSpPr/>
          <p:nvPr/>
        </p:nvSpPr>
        <p:spPr>
          <a:xfrm>
            <a:off x="3886920" y="190512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FbiP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Line 18"/>
          <p:cNvSpPr/>
          <p:nvPr/>
        </p:nvSpPr>
        <p:spPr>
          <a:xfrm flipH="1">
            <a:off x="3580920" y="2133720"/>
            <a:ext cx="381240" cy="228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Text Box 19"/>
          <p:cNvSpPr/>
          <p:nvPr/>
        </p:nvSpPr>
        <p:spPr>
          <a:xfrm>
            <a:off x="3048840" y="2362320"/>
            <a:ext cx="66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GA3P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Line 20"/>
          <p:cNvSpPr/>
          <p:nvPr/>
        </p:nvSpPr>
        <p:spPr>
          <a:xfrm>
            <a:off x="4343400" y="2133720"/>
            <a:ext cx="38088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Text Box 21"/>
          <p:cNvSpPr/>
          <p:nvPr/>
        </p:nvSpPr>
        <p:spPr>
          <a:xfrm>
            <a:off x="4496400" y="236232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DHAP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Line 22"/>
          <p:cNvSpPr/>
          <p:nvPr/>
        </p:nvSpPr>
        <p:spPr>
          <a:xfrm flipH="1">
            <a:off x="3733920" y="251460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Line 23"/>
          <p:cNvSpPr/>
          <p:nvPr/>
        </p:nvSpPr>
        <p:spPr>
          <a:xfrm>
            <a:off x="3352680" y="25909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AutoShape 24"/>
          <p:cNvSpPr/>
          <p:nvPr/>
        </p:nvSpPr>
        <p:spPr>
          <a:xfrm rot="20736600">
            <a:off x="3362040" y="2750760"/>
            <a:ext cx="152280" cy="380880"/>
          </a:xfrm>
          <a:custGeom>
            <a:avLst/>
            <a:gdLst>
              <a:gd name="textAreaLeft" fmla="*/ 20160 w 152280"/>
              <a:gd name="textAreaRight" fmla="*/ 132120 w 152280"/>
              <a:gd name="textAreaTop" fmla="*/ 75960 h 380880"/>
              <a:gd name="textAreaBottom" fmla="*/ 230760 h 3808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Text Box 25"/>
          <p:cNvSpPr/>
          <p:nvPr/>
        </p:nvSpPr>
        <p:spPr>
          <a:xfrm>
            <a:off x="3429720" y="25909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Text Box 26"/>
          <p:cNvSpPr/>
          <p:nvPr/>
        </p:nvSpPr>
        <p:spPr>
          <a:xfrm>
            <a:off x="3582000" y="29718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Text Box 27"/>
          <p:cNvSpPr/>
          <p:nvPr/>
        </p:nvSpPr>
        <p:spPr>
          <a:xfrm>
            <a:off x="3109320" y="3211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3PG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Line 28"/>
          <p:cNvSpPr/>
          <p:nvPr/>
        </p:nvSpPr>
        <p:spPr>
          <a:xfrm>
            <a:off x="3352680" y="35053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 Box 29"/>
          <p:cNvSpPr/>
          <p:nvPr/>
        </p:nvSpPr>
        <p:spPr>
          <a:xfrm>
            <a:off x="2825280" y="4191120"/>
            <a:ext cx="115164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Line 30"/>
          <p:cNvSpPr/>
          <p:nvPr/>
        </p:nvSpPr>
        <p:spPr>
          <a:xfrm flipH="1">
            <a:off x="2286000" y="4495680"/>
            <a:ext cx="533520" cy="1447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Text Box 31"/>
          <p:cNvSpPr/>
          <p:nvPr/>
        </p:nvSpPr>
        <p:spPr>
          <a:xfrm>
            <a:off x="1985760" y="5943600"/>
            <a:ext cx="10126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Line 32"/>
          <p:cNvSpPr/>
          <p:nvPr/>
        </p:nvSpPr>
        <p:spPr>
          <a:xfrm>
            <a:off x="3962520" y="4495680"/>
            <a:ext cx="685800" cy="1524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Text Box 33"/>
          <p:cNvSpPr/>
          <p:nvPr/>
        </p:nvSpPr>
        <p:spPr>
          <a:xfrm>
            <a:off x="2894760" y="4495680"/>
            <a:ext cx="1052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AutoShape 34"/>
          <p:cNvSpPr/>
          <p:nvPr/>
        </p:nvSpPr>
        <p:spPr>
          <a:xfrm>
            <a:off x="3962520" y="4800600"/>
            <a:ext cx="228600" cy="762120"/>
          </a:xfrm>
          <a:custGeom>
            <a:avLst/>
            <a:gdLst>
              <a:gd name="textAreaLeft" fmla="*/ 30600 w 228600"/>
              <a:gd name="textAreaRight" fmla="*/ 198000 w 2286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Text Box 35"/>
          <p:cNvSpPr/>
          <p:nvPr/>
        </p:nvSpPr>
        <p:spPr>
          <a:xfrm>
            <a:off x="3123720" y="5486400"/>
            <a:ext cx="824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Alanine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Text Box 36"/>
          <p:cNvSpPr/>
          <p:nvPr/>
        </p:nvSpPr>
        <p:spPr>
          <a:xfrm>
            <a:off x="2741760" y="4876920"/>
            <a:ext cx="1428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Alanine Amino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Transférase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Line 37"/>
          <p:cNvSpPr/>
          <p:nvPr/>
        </p:nvSpPr>
        <p:spPr>
          <a:xfrm>
            <a:off x="4038480" y="4343400"/>
            <a:ext cx="29718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Oval 38"/>
          <p:cNvSpPr/>
          <p:nvPr/>
        </p:nvSpPr>
        <p:spPr>
          <a:xfrm>
            <a:off x="5257800" y="41911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Text Box 39"/>
          <p:cNvSpPr/>
          <p:nvPr/>
        </p:nvSpPr>
        <p:spPr>
          <a:xfrm>
            <a:off x="4644720" y="5943600"/>
            <a:ext cx="156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2-oxologlutarate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Oval 40"/>
          <p:cNvSpPr/>
          <p:nvPr/>
        </p:nvSpPr>
        <p:spPr>
          <a:xfrm>
            <a:off x="6477120" y="5562720"/>
            <a:ext cx="30456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Text Box 41"/>
          <p:cNvSpPr/>
          <p:nvPr/>
        </p:nvSpPr>
        <p:spPr>
          <a:xfrm>
            <a:off x="5715720" y="380988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Text Box 42"/>
          <p:cNvSpPr/>
          <p:nvPr/>
        </p:nvSpPr>
        <p:spPr>
          <a:xfrm>
            <a:off x="5715720" y="472428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Oval 43"/>
          <p:cNvSpPr/>
          <p:nvPr/>
        </p:nvSpPr>
        <p:spPr>
          <a:xfrm>
            <a:off x="6324480" y="2666880"/>
            <a:ext cx="457200" cy="30492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AutoShape 44"/>
          <p:cNvSpPr/>
          <p:nvPr/>
        </p:nvSpPr>
        <p:spPr>
          <a:xfrm rot="16107600">
            <a:off x="6553080" y="2361600"/>
            <a:ext cx="266760" cy="571680"/>
          </a:xfrm>
          <a:custGeom>
            <a:avLst/>
            <a:gdLst>
              <a:gd name="textAreaLeft" fmla="*/ 35640 w 266760"/>
              <a:gd name="textAreaRight" fmla="*/ 231120 w 266760"/>
              <a:gd name="textAreaTop" fmla="*/ 114120 h 571680"/>
              <a:gd name="textAreaBottom" fmla="*/ 346320 h 5716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Text Box 45"/>
          <p:cNvSpPr/>
          <p:nvPr/>
        </p:nvSpPr>
        <p:spPr>
          <a:xfrm>
            <a:off x="5868000" y="2286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Text Box 46"/>
          <p:cNvSpPr/>
          <p:nvPr/>
        </p:nvSpPr>
        <p:spPr>
          <a:xfrm>
            <a:off x="6705720" y="2286000"/>
            <a:ext cx="5331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AutoShape 47"/>
          <p:cNvSpPr/>
          <p:nvPr/>
        </p:nvSpPr>
        <p:spPr>
          <a:xfrm rot="288000">
            <a:off x="6324120" y="2895480"/>
            <a:ext cx="609840" cy="304920"/>
          </a:xfrm>
          <a:custGeom>
            <a:avLst/>
            <a:gdLst>
              <a:gd name="textAreaLeft" fmla="*/ 122040 w 609840"/>
              <a:gd name="textAreaRight" fmla="*/ 369720 w 609840"/>
              <a:gd name="textAreaTop" fmla="*/ 40680 h 304920"/>
              <a:gd name="textAreaBottom" fmla="*/ 264240 h 30492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8640" hR="21600" stAng="10800000" swAng="5400000"/>
                <a:lnTo>
                  <a:pt x="8768" y="0"/>
                </a:lnTo>
                <a:arcTo wR="8640" hR="21600" stAng="-5400000" swAng="2978155"/>
                <a:lnTo>
                  <a:pt x="21140" y="14647"/>
                </a:lnTo>
                <a:lnTo>
                  <a:pt x="17344" y="21600"/>
                </a:lnTo>
                <a:lnTo>
                  <a:pt x="12628" y="14647"/>
                </a:lnTo>
                <a:lnTo>
                  <a:pt x="16820" y="14647"/>
                </a:lnTo>
                <a:arcTo wR="8640" hR="21600" stAng="-2421845" swAng="-2967969"/>
                <a:lnTo>
                  <a:pt x="8704" y="1"/>
                </a:lnTo>
                <a:arcTo wR="8640" hR="21600" stAng="-5410186" swAng="-5389814"/>
                <a:close/>
              </a:path>
              <a:path fill="darkenLess" w="21600" h="21600">
                <a:moveTo>
                  <a:pt x="0" y="21600"/>
                </a:moveTo>
                <a:arcTo wR="8640" hR="21600" stAng="10800000" swAng="5400000"/>
                <a:lnTo>
                  <a:pt x="8640" y="0"/>
                </a:lnTo>
                <a:arcTo wR="8640" hR="21600" stAng="-5400000" swAng="10186"/>
                <a:lnTo>
                  <a:pt x="8704" y="1"/>
                </a:lnTo>
                <a:arcTo wR="8640" hR="21600" stAng="-5410186" swAng="-5389814"/>
                <a:close/>
              </a:path>
            </a:pathLst>
          </a:custGeom>
          <a:solidFill>
            <a:srgbClr val="ffff00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Text Box 48"/>
          <p:cNvSpPr/>
          <p:nvPr/>
        </p:nvSpPr>
        <p:spPr>
          <a:xfrm>
            <a:off x="5944320" y="320040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Text Box 49"/>
          <p:cNvSpPr/>
          <p:nvPr/>
        </p:nvSpPr>
        <p:spPr>
          <a:xfrm>
            <a:off x="6630120" y="32004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AutoShape 50"/>
          <p:cNvSpPr/>
          <p:nvPr/>
        </p:nvSpPr>
        <p:spPr>
          <a:xfrm>
            <a:off x="5334120" y="2743200"/>
            <a:ext cx="2743200" cy="3048120"/>
          </a:xfrm>
          <a:custGeom>
            <a:avLst/>
            <a:gdLst>
              <a:gd name="textAreaLeft" fmla="*/ 133920 w 2743200"/>
              <a:gd name="textAreaRight" fmla="*/ 2609280 w 2743200"/>
              <a:gd name="textAreaTop" fmla="*/ 133920 h 3048120"/>
              <a:gd name="textAreaBottom" fmla="*/ 2914200 h 3048120"/>
            </a:gdLst>
            <a:ahLst/>
            <a:cxnLst/>
            <a:rect l="textAreaLeft" t="textAreaTop" r="textAreaRight" b="textAreaBottom"/>
            <a:pathLst>
              <a:path w="21600" h="24001">
                <a:moveTo>
                  <a:pt x="3600" y="0"/>
                </a:moveTo>
                <a:arcTo wR="3600" hR="3600" stAng="16200000" swAng="-5400000"/>
                <a:lnTo>
                  <a:pt x="0" y="20401"/>
                </a:lnTo>
                <a:arcTo wR="3600" hR="3600" stAng="10800000" swAng="-5400000"/>
                <a:lnTo>
                  <a:pt x="18000" y="240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AutoShape 51"/>
          <p:cNvSpPr/>
          <p:nvPr/>
        </p:nvSpPr>
        <p:spPr>
          <a:xfrm>
            <a:off x="5486400" y="2895480"/>
            <a:ext cx="2438280" cy="2743200"/>
          </a:xfrm>
          <a:custGeom>
            <a:avLst/>
            <a:gdLst>
              <a:gd name="textAreaLeft" fmla="*/ 118800 w 2438280"/>
              <a:gd name="textAreaRight" fmla="*/ 2319480 w 2438280"/>
              <a:gd name="textAreaTop" fmla="*/ 118800 h 2743200"/>
              <a:gd name="textAreaBottom" fmla="*/ 2624400 h 2743200"/>
            </a:gdLst>
            <a:ahLst/>
            <a:cxnLst/>
            <a:rect l="textAreaLeft" t="textAreaTop" r="textAreaRight" b="textAreaBottom"/>
            <a:pathLst>
              <a:path w="21600" h="24301">
                <a:moveTo>
                  <a:pt x="3600" y="0"/>
                </a:moveTo>
                <a:arcTo wR="3600" hR="3600" stAng="16200000" swAng="-5400000"/>
                <a:lnTo>
                  <a:pt x="0" y="20701"/>
                </a:lnTo>
                <a:arcTo wR="3600" hR="3600" stAng="10800000" swAng="-5400000"/>
                <a:lnTo>
                  <a:pt x="18000" y="243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Line 52"/>
          <p:cNvSpPr/>
          <p:nvPr/>
        </p:nvSpPr>
        <p:spPr>
          <a:xfrm flipV="1">
            <a:off x="6172200" y="5791320"/>
            <a:ext cx="4572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Line 53"/>
          <p:cNvSpPr/>
          <p:nvPr/>
        </p:nvSpPr>
        <p:spPr>
          <a:xfrm flipV="1">
            <a:off x="6629400" y="533412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Text Box 54"/>
          <p:cNvSpPr/>
          <p:nvPr/>
        </p:nvSpPr>
        <p:spPr>
          <a:xfrm>
            <a:off x="5483160" y="4038480"/>
            <a:ext cx="149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reeform 55"/>
          <p:cNvSpPr/>
          <p:nvPr/>
        </p:nvSpPr>
        <p:spPr>
          <a:xfrm>
            <a:off x="5473800" y="3962520"/>
            <a:ext cx="317520" cy="761760"/>
          </a:xfrm>
          <a:custGeom>
            <a:avLst/>
            <a:gdLst>
              <a:gd name="GluePoint1X" fmla="*/ 2147483647 w 200"/>
              <a:gd name="GluePoint1Y" fmla="*/ 2147483647 h 480"/>
              <a:gd name="GluePoint2X" fmla="*/ 2147483647 w 200"/>
              <a:gd name="GluePoint2Y" fmla="*/ 2147483647 h 480"/>
              <a:gd name="GluePoint3X" fmla="*/ 2147483647 w 200"/>
              <a:gd name="GluePoint3Y" fmla="*/ 2147483647 h 480"/>
              <a:gd name="GluePoint4X" fmla="*/ 2147483647 w 200"/>
              <a:gd name="GluePoint4Y" fmla="*/ 2147483647 h 480"/>
              <a:gd name="GluePoint5X" fmla="*/ 2147483647 w 200"/>
              <a:gd name="GluePoint5Y" fmla="*/ 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00" h="480">
                <a:moveTo>
                  <a:pt x="200" y="480"/>
                </a:moveTo>
                <a:cubicBezTo>
                  <a:pt x="168" y="476"/>
                  <a:pt x="136" y="472"/>
                  <a:pt x="104" y="432"/>
                </a:cubicBezTo>
                <a:cubicBezTo>
                  <a:pt x="72" y="392"/>
                  <a:pt x="16" y="304"/>
                  <a:pt x="8" y="240"/>
                </a:cubicBezTo>
                <a:cubicBezTo>
                  <a:pt x="0" y="176"/>
                  <a:pt x="32" y="88"/>
                  <a:pt x="56" y="48"/>
                </a:cubicBezTo>
                <a:cubicBezTo>
                  <a:pt x="80" y="8"/>
                  <a:pt x="136" y="8"/>
                  <a:pt x="152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Text Box 56"/>
          <p:cNvSpPr/>
          <p:nvPr/>
        </p:nvSpPr>
        <p:spPr>
          <a:xfrm>
            <a:off x="6994800" y="4202280"/>
            <a:ext cx="735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A-CoA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Oval 57"/>
          <p:cNvSpPr/>
          <p:nvPr/>
        </p:nvSpPr>
        <p:spPr>
          <a:xfrm>
            <a:off x="990720" y="5867280"/>
            <a:ext cx="30456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Line 58"/>
          <p:cNvSpPr/>
          <p:nvPr/>
        </p:nvSpPr>
        <p:spPr>
          <a:xfrm flipH="1">
            <a:off x="762120" y="6095880"/>
            <a:ext cx="129528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Text Box 59"/>
          <p:cNvSpPr/>
          <p:nvPr/>
        </p:nvSpPr>
        <p:spPr>
          <a:xfrm>
            <a:off x="5694120" y="1916280"/>
            <a:ext cx="229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Navette aspartate-malate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Line 60"/>
          <p:cNvSpPr/>
          <p:nvPr/>
        </p:nvSpPr>
        <p:spPr>
          <a:xfrm>
            <a:off x="2286000" y="6248520"/>
            <a:ext cx="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Line 61"/>
          <p:cNvSpPr/>
          <p:nvPr/>
        </p:nvSpPr>
        <p:spPr>
          <a:xfrm>
            <a:off x="2286000" y="6553080"/>
            <a:ext cx="48769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Line 62"/>
          <p:cNvSpPr/>
          <p:nvPr/>
        </p:nvSpPr>
        <p:spPr>
          <a:xfrm flipV="1">
            <a:off x="7162920" y="5334120"/>
            <a:ext cx="0" cy="121896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Oval 63"/>
          <p:cNvSpPr/>
          <p:nvPr/>
        </p:nvSpPr>
        <p:spPr>
          <a:xfrm>
            <a:off x="7010280" y="55627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Oval 64"/>
          <p:cNvSpPr/>
          <p:nvPr/>
        </p:nvSpPr>
        <p:spPr>
          <a:xfrm>
            <a:off x="7010280" y="380880"/>
            <a:ext cx="1524240" cy="144792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65% de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1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max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Rectangle 65"/>
          <p:cNvSpPr/>
          <p:nvPr/>
        </p:nvSpPr>
        <p:spPr>
          <a:xfrm>
            <a:off x="4876920" y="838080"/>
            <a:ext cx="533160" cy="3812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3.6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Rectangle 66"/>
          <p:cNvSpPr/>
          <p:nvPr/>
        </p:nvSpPr>
        <p:spPr>
          <a:xfrm>
            <a:off x="2438280" y="533520"/>
            <a:ext cx="53352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0.35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Rectangle 67"/>
          <p:cNvSpPr/>
          <p:nvPr/>
        </p:nvSpPr>
        <p:spPr>
          <a:xfrm>
            <a:off x="2438280" y="1828800"/>
            <a:ext cx="53352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3.95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AutoShape 68"/>
          <p:cNvSpPr/>
          <p:nvPr/>
        </p:nvSpPr>
        <p:spPr>
          <a:xfrm>
            <a:off x="2133720" y="4724280"/>
            <a:ext cx="457200" cy="762120"/>
          </a:xfrm>
          <a:custGeom>
            <a:avLst/>
            <a:gdLst>
              <a:gd name="textAreaLeft" fmla="*/ 61200 w 457200"/>
              <a:gd name="textAreaRight" fmla="*/ 396000 w 4572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Text Box 69"/>
          <p:cNvSpPr/>
          <p:nvPr/>
        </p:nvSpPr>
        <p:spPr>
          <a:xfrm>
            <a:off x="1063440" y="4724280"/>
            <a:ext cx="149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Lactico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Text Box 70"/>
          <p:cNvSpPr/>
          <p:nvPr/>
        </p:nvSpPr>
        <p:spPr>
          <a:xfrm>
            <a:off x="1600920" y="4572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Text Box 71"/>
          <p:cNvSpPr/>
          <p:nvPr/>
        </p:nvSpPr>
        <p:spPr>
          <a:xfrm>
            <a:off x="1753560" y="53341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Rectangle 72"/>
          <p:cNvSpPr/>
          <p:nvPr/>
        </p:nvSpPr>
        <p:spPr>
          <a:xfrm>
            <a:off x="1219320" y="5257800"/>
            <a:ext cx="53316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Rectangle 73"/>
          <p:cNvSpPr/>
          <p:nvPr/>
        </p:nvSpPr>
        <p:spPr>
          <a:xfrm>
            <a:off x="6248520" y="4572000"/>
            <a:ext cx="53316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2.7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Rectangle 74"/>
          <p:cNvSpPr/>
          <p:nvPr/>
        </p:nvSpPr>
        <p:spPr>
          <a:xfrm>
            <a:off x="6248520" y="3429000"/>
            <a:ext cx="53316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2.7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Text Box 75"/>
          <p:cNvSpPr/>
          <p:nvPr/>
        </p:nvSpPr>
        <p:spPr>
          <a:xfrm>
            <a:off x="849960" y="6467400"/>
            <a:ext cx="73738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Flux : mmol de substrat. kg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muscle frais (vaste latéral).min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8B50FC-A468-4281-8C5B-AAAD43A4E0E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Text Box 2"/>
          <p:cNvSpPr/>
          <p:nvPr/>
        </p:nvSpPr>
        <p:spPr>
          <a:xfrm>
            <a:off x="3510360" y="179280"/>
            <a:ext cx="132012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Line 3"/>
          <p:cNvSpPr/>
          <p:nvPr/>
        </p:nvSpPr>
        <p:spPr>
          <a:xfrm>
            <a:off x="4191120" y="53352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Text Box 4"/>
          <p:cNvSpPr/>
          <p:nvPr/>
        </p:nvSpPr>
        <p:spPr>
          <a:xfrm>
            <a:off x="4260600" y="533520"/>
            <a:ext cx="2410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Glycogène phosphorylase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Text Box 5"/>
          <p:cNvSpPr/>
          <p:nvPr/>
        </p:nvSpPr>
        <p:spPr>
          <a:xfrm>
            <a:off x="3962520" y="838080"/>
            <a:ext cx="539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Line 6"/>
          <p:cNvSpPr/>
          <p:nvPr/>
        </p:nvSpPr>
        <p:spPr>
          <a:xfrm>
            <a:off x="4191120" y="106668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Arc 7"/>
          <p:cNvSpPr/>
          <p:nvPr/>
        </p:nvSpPr>
        <p:spPr>
          <a:xfrm>
            <a:off x="3886200" y="588960"/>
            <a:ext cx="304920" cy="708120"/>
          </a:xfrm>
          <a:custGeom>
            <a:avLst/>
            <a:gdLst>
              <a:gd name="GluePoint1X" fmla="*/ 2147483647 w 13791"/>
              <a:gd name="GluePoint1Y" fmla="*/ 0 h 20191"/>
              <a:gd name="GluePoint2X" fmla="*/ 2147483647 w 13791"/>
              <a:gd name="GluePoint2Y" fmla="*/ 2147483647 h 20191"/>
              <a:gd name="GluePoint3X" fmla="*/ 0 w 13791"/>
              <a:gd name="GluePoint3Y" fmla="*/ 2147483647 h 20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</a:path>
              <a:path stroke="0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  <a:lnTo>
                  <a:pt x="0" y="20191"/>
                </a:lnTo>
                <a:lnTo>
                  <a:pt x="7673" y="0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Text Box 8"/>
          <p:cNvSpPr/>
          <p:nvPr/>
        </p:nvSpPr>
        <p:spPr>
          <a:xfrm>
            <a:off x="3738600" y="457200"/>
            <a:ext cx="336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Text Box 9"/>
          <p:cNvSpPr/>
          <p:nvPr/>
        </p:nvSpPr>
        <p:spPr>
          <a:xfrm>
            <a:off x="3963240" y="1371600"/>
            <a:ext cx="507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Line 10"/>
          <p:cNvSpPr/>
          <p:nvPr/>
        </p:nvSpPr>
        <p:spPr>
          <a:xfrm>
            <a:off x="4191120" y="160020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Text Box 11"/>
          <p:cNvSpPr/>
          <p:nvPr/>
        </p:nvSpPr>
        <p:spPr>
          <a:xfrm>
            <a:off x="2052360" y="1523880"/>
            <a:ext cx="205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Phosphofructokynase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Line 12"/>
          <p:cNvSpPr/>
          <p:nvPr/>
        </p:nvSpPr>
        <p:spPr>
          <a:xfrm>
            <a:off x="1143000" y="380880"/>
            <a:ext cx="0" cy="59436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Oval 13"/>
          <p:cNvSpPr/>
          <p:nvPr/>
        </p:nvSpPr>
        <p:spPr>
          <a:xfrm>
            <a:off x="990720" y="838080"/>
            <a:ext cx="30456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Line 14"/>
          <p:cNvSpPr/>
          <p:nvPr/>
        </p:nvSpPr>
        <p:spPr>
          <a:xfrm>
            <a:off x="1143000" y="990720"/>
            <a:ext cx="28195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Text Box 15"/>
          <p:cNvSpPr/>
          <p:nvPr/>
        </p:nvSpPr>
        <p:spPr>
          <a:xfrm>
            <a:off x="720" y="838080"/>
            <a:ext cx="1062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Text Box 16"/>
          <p:cNvSpPr/>
          <p:nvPr/>
        </p:nvSpPr>
        <p:spPr>
          <a:xfrm>
            <a:off x="2055600" y="990720"/>
            <a:ext cx="1221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 Box 17"/>
          <p:cNvSpPr/>
          <p:nvPr/>
        </p:nvSpPr>
        <p:spPr>
          <a:xfrm>
            <a:off x="3886920" y="190512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FbiP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Line 18"/>
          <p:cNvSpPr/>
          <p:nvPr/>
        </p:nvSpPr>
        <p:spPr>
          <a:xfrm flipH="1">
            <a:off x="3580920" y="2133720"/>
            <a:ext cx="38124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Text Box 19"/>
          <p:cNvSpPr/>
          <p:nvPr/>
        </p:nvSpPr>
        <p:spPr>
          <a:xfrm>
            <a:off x="3048840" y="2362320"/>
            <a:ext cx="66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GA3P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Line 20"/>
          <p:cNvSpPr/>
          <p:nvPr/>
        </p:nvSpPr>
        <p:spPr>
          <a:xfrm>
            <a:off x="4343400" y="2133720"/>
            <a:ext cx="38088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 Box 21"/>
          <p:cNvSpPr/>
          <p:nvPr/>
        </p:nvSpPr>
        <p:spPr>
          <a:xfrm>
            <a:off x="4496400" y="236232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DHAP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Line 22"/>
          <p:cNvSpPr/>
          <p:nvPr/>
        </p:nvSpPr>
        <p:spPr>
          <a:xfrm flipH="1">
            <a:off x="3733920" y="251460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Line 23"/>
          <p:cNvSpPr/>
          <p:nvPr/>
        </p:nvSpPr>
        <p:spPr>
          <a:xfrm>
            <a:off x="3352680" y="25909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AutoShape 24"/>
          <p:cNvSpPr/>
          <p:nvPr/>
        </p:nvSpPr>
        <p:spPr>
          <a:xfrm rot="20736600">
            <a:off x="3362040" y="2750760"/>
            <a:ext cx="152280" cy="380880"/>
          </a:xfrm>
          <a:custGeom>
            <a:avLst/>
            <a:gdLst>
              <a:gd name="textAreaLeft" fmla="*/ 20160 w 152280"/>
              <a:gd name="textAreaRight" fmla="*/ 132120 w 152280"/>
              <a:gd name="textAreaTop" fmla="*/ 75960 h 380880"/>
              <a:gd name="textAreaBottom" fmla="*/ 230760 h 3808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Text Box 25"/>
          <p:cNvSpPr/>
          <p:nvPr/>
        </p:nvSpPr>
        <p:spPr>
          <a:xfrm>
            <a:off x="3429720" y="25909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Text Box 26"/>
          <p:cNvSpPr/>
          <p:nvPr/>
        </p:nvSpPr>
        <p:spPr>
          <a:xfrm>
            <a:off x="3582000" y="29718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Text Box 27"/>
          <p:cNvSpPr/>
          <p:nvPr/>
        </p:nvSpPr>
        <p:spPr>
          <a:xfrm>
            <a:off x="3109320" y="3211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3PG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Line 28"/>
          <p:cNvSpPr/>
          <p:nvPr/>
        </p:nvSpPr>
        <p:spPr>
          <a:xfrm>
            <a:off x="3352680" y="35053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Text Box 29"/>
          <p:cNvSpPr/>
          <p:nvPr/>
        </p:nvSpPr>
        <p:spPr>
          <a:xfrm>
            <a:off x="2825280" y="4191120"/>
            <a:ext cx="115164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Line 30"/>
          <p:cNvSpPr/>
          <p:nvPr/>
        </p:nvSpPr>
        <p:spPr>
          <a:xfrm flipH="1">
            <a:off x="2286000" y="4495680"/>
            <a:ext cx="533520" cy="1447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Text Box 31"/>
          <p:cNvSpPr/>
          <p:nvPr/>
        </p:nvSpPr>
        <p:spPr>
          <a:xfrm>
            <a:off x="1985760" y="5943600"/>
            <a:ext cx="10126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Line 32"/>
          <p:cNvSpPr/>
          <p:nvPr/>
        </p:nvSpPr>
        <p:spPr>
          <a:xfrm>
            <a:off x="3962520" y="4495680"/>
            <a:ext cx="685800" cy="1524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Text Box 33"/>
          <p:cNvSpPr/>
          <p:nvPr/>
        </p:nvSpPr>
        <p:spPr>
          <a:xfrm>
            <a:off x="2894760" y="4495680"/>
            <a:ext cx="1052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AutoShape 34"/>
          <p:cNvSpPr/>
          <p:nvPr/>
        </p:nvSpPr>
        <p:spPr>
          <a:xfrm>
            <a:off x="3962520" y="4800600"/>
            <a:ext cx="228600" cy="762120"/>
          </a:xfrm>
          <a:custGeom>
            <a:avLst/>
            <a:gdLst>
              <a:gd name="textAreaLeft" fmla="*/ 30600 w 228600"/>
              <a:gd name="textAreaRight" fmla="*/ 198000 w 2286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Text Box 35"/>
          <p:cNvSpPr/>
          <p:nvPr/>
        </p:nvSpPr>
        <p:spPr>
          <a:xfrm>
            <a:off x="3123720" y="5486400"/>
            <a:ext cx="824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Alanine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Text Box 36"/>
          <p:cNvSpPr/>
          <p:nvPr/>
        </p:nvSpPr>
        <p:spPr>
          <a:xfrm>
            <a:off x="2741760" y="4876920"/>
            <a:ext cx="1428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Alanine Amino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Transférase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Line 37"/>
          <p:cNvSpPr/>
          <p:nvPr/>
        </p:nvSpPr>
        <p:spPr>
          <a:xfrm>
            <a:off x="4038480" y="4343400"/>
            <a:ext cx="29718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Oval 38"/>
          <p:cNvSpPr/>
          <p:nvPr/>
        </p:nvSpPr>
        <p:spPr>
          <a:xfrm>
            <a:off x="5257800" y="41911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Text Box 39"/>
          <p:cNvSpPr/>
          <p:nvPr/>
        </p:nvSpPr>
        <p:spPr>
          <a:xfrm>
            <a:off x="4644720" y="5943600"/>
            <a:ext cx="156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2-oxologlutarate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Oval 40"/>
          <p:cNvSpPr/>
          <p:nvPr/>
        </p:nvSpPr>
        <p:spPr>
          <a:xfrm>
            <a:off x="6477120" y="5562720"/>
            <a:ext cx="30456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Text Box 41"/>
          <p:cNvSpPr/>
          <p:nvPr/>
        </p:nvSpPr>
        <p:spPr>
          <a:xfrm>
            <a:off x="5715720" y="380988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Text Box 42"/>
          <p:cNvSpPr/>
          <p:nvPr/>
        </p:nvSpPr>
        <p:spPr>
          <a:xfrm>
            <a:off x="5715720" y="472428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Oval 43"/>
          <p:cNvSpPr/>
          <p:nvPr/>
        </p:nvSpPr>
        <p:spPr>
          <a:xfrm>
            <a:off x="6324480" y="2666880"/>
            <a:ext cx="457200" cy="30492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AutoShape 44"/>
          <p:cNvSpPr/>
          <p:nvPr/>
        </p:nvSpPr>
        <p:spPr>
          <a:xfrm rot="16107600">
            <a:off x="6553080" y="2361600"/>
            <a:ext cx="266760" cy="571680"/>
          </a:xfrm>
          <a:custGeom>
            <a:avLst/>
            <a:gdLst>
              <a:gd name="textAreaLeft" fmla="*/ 35640 w 266760"/>
              <a:gd name="textAreaRight" fmla="*/ 231120 w 266760"/>
              <a:gd name="textAreaTop" fmla="*/ 114120 h 571680"/>
              <a:gd name="textAreaBottom" fmla="*/ 346320 h 5716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Text Box 45"/>
          <p:cNvSpPr/>
          <p:nvPr/>
        </p:nvSpPr>
        <p:spPr>
          <a:xfrm>
            <a:off x="5868000" y="2286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Text Box 46"/>
          <p:cNvSpPr/>
          <p:nvPr/>
        </p:nvSpPr>
        <p:spPr>
          <a:xfrm>
            <a:off x="6705720" y="2286000"/>
            <a:ext cx="5331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AutoShape 47"/>
          <p:cNvSpPr/>
          <p:nvPr/>
        </p:nvSpPr>
        <p:spPr>
          <a:xfrm rot="288000">
            <a:off x="6324120" y="2895480"/>
            <a:ext cx="609840" cy="304920"/>
          </a:xfrm>
          <a:custGeom>
            <a:avLst/>
            <a:gdLst>
              <a:gd name="textAreaLeft" fmla="*/ 122040 w 609840"/>
              <a:gd name="textAreaRight" fmla="*/ 369720 w 609840"/>
              <a:gd name="textAreaTop" fmla="*/ 40680 h 304920"/>
              <a:gd name="textAreaBottom" fmla="*/ 264240 h 30492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8640" hR="21600" stAng="10800000" swAng="5400000"/>
                <a:lnTo>
                  <a:pt x="8768" y="0"/>
                </a:lnTo>
                <a:arcTo wR="8640" hR="21600" stAng="-5400000" swAng="2978155"/>
                <a:lnTo>
                  <a:pt x="21140" y="14647"/>
                </a:lnTo>
                <a:lnTo>
                  <a:pt x="17344" y="21600"/>
                </a:lnTo>
                <a:lnTo>
                  <a:pt x="12628" y="14647"/>
                </a:lnTo>
                <a:lnTo>
                  <a:pt x="16820" y="14647"/>
                </a:lnTo>
                <a:arcTo wR="8640" hR="21600" stAng="-2421845" swAng="-2967969"/>
                <a:lnTo>
                  <a:pt x="8704" y="1"/>
                </a:lnTo>
                <a:arcTo wR="8640" hR="21600" stAng="-5410186" swAng="-5389814"/>
                <a:close/>
              </a:path>
              <a:path fill="darkenLess" w="21600" h="21600">
                <a:moveTo>
                  <a:pt x="0" y="21600"/>
                </a:moveTo>
                <a:arcTo wR="8640" hR="21600" stAng="10800000" swAng="5400000"/>
                <a:lnTo>
                  <a:pt x="8640" y="0"/>
                </a:lnTo>
                <a:arcTo wR="8640" hR="21600" stAng="-5400000" swAng="10186"/>
                <a:lnTo>
                  <a:pt x="8704" y="1"/>
                </a:lnTo>
                <a:arcTo wR="8640" hR="21600" stAng="-5410186" swAng="-5389814"/>
                <a:close/>
              </a:path>
            </a:pathLst>
          </a:custGeom>
          <a:solidFill>
            <a:srgbClr val="ffff00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Text Box 48"/>
          <p:cNvSpPr/>
          <p:nvPr/>
        </p:nvSpPr>
        <p:spPr>
          <a:xfrm>
            <a:off x="5944320" y="320040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Text Box 49"/>
          <p:cNvSpPr/>
          <p:nvPr/>
        </p:nvSpPr>
        <p:spPr>
          <a:xfrm>
            <a:off x="6630120" y="32004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AutoShape 50"/>
          <p:cNvSpPr/>
          <p:nvPr/>
        </p:nvSpPr>
        <p:spPr>
          <a:xfrm>
            <a:off x="5334120" y="2743200"/>
            <a:ext cx="2743200" cy="3048120"/>
          </a:xfrm>
          <a:custGeom>
            <a:avLst/>
            <a:gdLst>
              <a:gd name="textAreaLeft" fmla="*/ 133920 w 2743200"/>
              <a:gd name="textAreaRight" fmla="*/ 2609280 w 2743200"/>
              <a:gd name="textAreaTop" fmla="*/ 133920 h 3048120"/>
              <a:gd name="textAreaBottom" fmla="*/ 2914200 h 3048120"/>
            </a:gdLst>
            <a:ahLst/>
            <a:cxnLst/>
            <a:rect l="textAreaLeft" t="textAreaTop" r="textAreaRight" b="textAreaBottom"/>
            <a:pathLst>
              <a:path w="21600" h="24001">
                <a:moveTo>
                  <a:pt x="3600" y="0"/>
                </a:moveTo>
                <a:arcTo wR="3600" hR="3600" stAng="16200000" swAng="-5400000"/>
                <a:lnTo>
                  <a:pt x="0" y="20401"/>
                </a:lnTo>
                <a:arcTo wR="3600" hR="3600" stAng="10800000" swAng="-5400000"/>
                <a:lnTo>
                  <a:pt x="18000" y="240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AutoShape 51"/>
          <p:cNvSpPr/>
          <p:nvPr/>
        </p:nvSpPr>
        <p:spPr>
          <a:xfrm>
            <a:off x="5486400" y="2895480"/>
            <a:ext cx="2438280" cy="2743200"/>
          </a:xfrm>
          <a:custGeom>
            <a:avLst/>
            <a:gdLst>
              <a:gd name="textAreaLeft" fmla="*/ 118800 w 2438280"/>
              <a:gd name="textAreaRight" fmla="*/ 2319480 w 2438280"/>
              <a:gd name="textAreaTop" fmla="*/ 118800 h 2743200"/>
              <a:gd name="textAreaBottom" fmla="*/ 2624400 h 2743200"/>
            </a:gdLst>
            <a:ahLst/>
            <a:cxnLst/>
            <a:rect l="textAreaLeft" t="textAreaTop" r="textAreaRight" b="textAreaBottom"/>
            <a:pathLst>
              <a:path w="21600" h="24301">
                <a:moveTo>
                  <a:pt x="3600" y="0"/>
                </a:moveTo>
                <a:arcTo wR="3600" hR="3600" stAng="16200000" swAng="-5400000"/>
                <a:lnTo>
                  <a:pt x="0" y="20701"/>
                </a:lnTo>
                <a:arcTo wR="3600" hR="3600" stAng="10800000" swAng="-5400000"/>
                <a:lnTo>
                  <a:pt x="18000" y="243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Line 52"/>
          <p:cNvSpPr/>
          <p:nvPr/>
        </p:nvSpPr>
        <p:spPr>
          <a:xfrm flipV="1">
            <a:off x="6172200" y="5791320"/>
            <a:ext cx="4572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Line 53"/>
          <p:cNvSpPr/>
          <p:nvPr/>
        </p:nvSpPr>
        <p:spPr>
          <a:xfrm flipV="1">
            <a:off x="6629400" y="533412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Text Box 54"/>
          <p:cNvSpPr/>
          <p:nvPr/>
        </p:nvSpPr>
        <p:spPr>
          <a:xfrm>
            <a:off x="5483160" y="4038480"/>
            <a:ext cx="149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reeform 55"/>
          <p:cNvSpPr/>
          <p:nvPr/>
        </p:nvSpPr>
        <p:spPr>
          <a:xfrm>
            <a:off x="5473800" y="3962520"/>
            <a:ext cx="317520" cy="761760"/>
          </a:xfrm>
          <a:custGeom>
            <a:avLst/>
            <a:gdLst>
              <a:gd name="GluePoint1X" fmla="*/ 2147483647 w 200"/>
              <a:gd name="GluePoint1Y" fmla="*/ 2147483647 h 480"/>
              <a:gd name="GluePoint2X" fmla="*/ 2147483647 w 200"/>
              <a:gd name="GluePoint2Y" fmla="*/ 2147483647 h 480"/>
              <a:gd name="GluePoint3X" fmla="*/ 2147483647 w 200"/>
              <a:gd name="GluePoint3Y" fmla="*/ 2147483647 h 480"/>
              <a:gd name="GluePoint4X" fmla="*/ 2147483647 w 200"/>
              <a:gd name="GluePoint4Y" fmla="*/ 2147483647 h 480"/>
              <a:gd name="GluePoint5X" fmla="*/ 2147483647 w 200"/>
              <a:gd name="GluePoint5Y" fmla="*/ 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00" h="480">
                <a:moveTo>
                  <a:pt x="200" y="480"/>
                </a:moveTo>
                <a:cubicBezTo>
                  <a:pt x="168" y="476"/>
                  <a:pt x="136" y="472"/>
                  <a:pt x="104" y="432"/>
                </a:cubicBezTo>
                <a:cubicBezTo>
                  <a:pt x="72" y="392"/>
                  <a:pt x="16" y="304"/>
                  <a:pt x="8" y="240"/>
                </a:cubicBezTo>
                <a:cubicBezTo>
                  <a:pt x="0" y="176"/>
                  <a:pt x="32" y="88"/>
                  <a:pt x="56" y="48"/>
                </a:cubicBezTo>
                <a:cubicBezTo>
                  <a:pt x="80" y="8"/>
                  <a:pt x="136" y="8"/>
                  <a:pt x="152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Text Box 56"/>
          <p:cNvSpPr/>
          <p:nvPr/>
        </p:nvSpPr>
        <p:spPr>
          <a:xfrm>
            <a:off x="6994800" y="4202280"/>
            <a:ext cx="735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A-CoA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Oval 57"/>
          <p:cNvSpPr/>
          <p:nvPr/>
        </p:nvSpPr>
        <p:spPr>
          <a:xfrm>
            <a:off x="990720" y="5867280"/>
            <a:ext cx="30456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Line 58"/>
          <p:cNvSpPr/>
          <p:nvPr/>
        </p:nvSpPr>
        <p:spPr>
          <a:xfrm flipH="1">
            <a:off x="762120" y="6095880"/>
            <a:ext cx="129528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Text Box 59"/>
          <p:cNvSpPr/>
          <p:nvPr/>
        </p:nvSpPr>
        <p:spPr>
          <a:xfrm>
            <a:off x="5694120" y="1916280"/>
            <a:ext cx="229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Navette aspartate-malate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Line 60"/>
          <p:cNvSpPr/>
          <p:nvPr/>
        </p:nvSpPr>
        <p:spPr>
          <a:xfrm>
            <a:off x="2286000" y="6248520"/>
            <a:ext cx="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Line 61"/>
          <p:cNvSpPr/>
          <p:nvPr/>
        </p:nvSpPr>
        <p:spPr>
          <a:xfrm>
            <a:off x="2286000" y="6553080"/>
            <a:ext cx="48769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Line 62"/>
          <p:cNvSpPr/>
          <p:nvPr/>
        </p:nvSpPr>
        <p:spPr>
          <a:xfrm flipV="1">
            <a:off x="7162920" y="5334120"/>
            <a:ext cx="0" cy="121896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Oval 63"/>
          <p:cNvSpPr/>
          <p:nvPr/>
        </p:nvSpPr>
        <p:spPr>
          <a:xfrm>
            <a:off x="7010280" y="55627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Oval 64"/>
          <p:cNvSpPr/>
          <p:nvPr/>
        </p:nvSpPr>
        <p:spPr>
          <a:xfrm>
            <a:off x="7010280" y="380880"/>
            <a:ext cx="1447920" cy="144792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250% de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1" lang="fr-FR" sz="2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max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Rectangle 65"/>
          <p:cNvSpPr/>
          <p:nvPr/>
        </p:nvSpPr>
        <p:spPr>
          <a:xfrm>
            <a:off x="4952880" y="838080"/>
            <a:ext cx="762120" cy="5335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35.5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(3.6)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Rectangle 66"/>
          <p:cNvSpPr/>
          <p:nvPr/>
        </p:nvSpPr>
        <p:spPr>
          <a:xfrm>
            <a:off x="2438280" y="380880"/>
            <a:ext cx="609840" cy="5335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(0.35)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Rectangle 67"/>
          <p:cNvSpPr/>
          <p:nvPr/>
        </p:nvSpPr>
        <p:spPr>
          <a:xfrm>
            <a:off x="2362320" y="1828800"/>
            <a:ext cx="685800" cy="4572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32.25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(3.95)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AutoShape 68"/>
          <p:cNvSpPr/>
          <p:nvPr/>
        </p:nvSpPr>
        <p:spPr>
          <a:xfrm>
            <a:off x="2133720" y="4724280"/>
            <a:ext cx="457200" cy="762120"/>
          </a:xfrm>
          <a:custGeom>
            <a:avLst/>
            <a:gdLst>
              <a:gd name="textAreaLeft" fmla="*/ 61200 w 457200"/>
              <a:gd name="textAreaRight" fmla="*/ 396000 w 4572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Text Box 69"/>
          <p:cNvSpPr/>
          <p:nvPr/>
        </p:nvSpPr>
        <p:spPr>
          <a:xfrm>
            <a:off x="1063440" y="4724280"/>
            <a:ext cx="149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Lactico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Text Box 70"/>
          <p:cNvSpPr/>
          <p:nvPr/>
        </p:nvSpPr>
        <p:spPr>
          <a:xfrm>
            <a:off x="1600920" y="4572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Text Box 71"/>
          <p:cNvSpPr/>
          <p:nvPr/>
        </p:nvSpPr>
        <p:spPr>
          <a:xfrm>
            <a:off x="1753560" y="53341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Rectangle 72"/>
          <p:cNvSpPr/>
          <p:nvPr/>
        </p:nvSpPr>
        <p:spPr>
          <a:xfrm>
            <a:off x="1219320" y="5257800"/>
            <a:ext cx="533160" cy="5335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60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(5.2)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Rectangle 73"/>
          <p:cNvSpPr/>
          <p:nvPr/>
        </p:nvSpPr>
        <p:spPr>
          <a:xfrm>
            <a:off x="6248520" y="4572000"/>
            <a:ext cx="533160" cy="6094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buClr>
                <a:srgbClr val="ffffff"/>
              </a:buClr>
              <a:buFont typeface="Symbol" charset="2"/>
              <a:buChar char="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(2.7)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Rectangle 74"/>
          <p:cNvSpPr/>
          <p:nvPr/>
        </p:nvSpPr>
        <p:spPr>
          <a:xfrm>
            <a:off x="6248520" y="3429000"/>
            <a:ext cx="533160" cy="4572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~ 4.5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(2.7)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Text Box 75"/>
          <p:cNvSpPr/>
          <p:nvPr/>
        </p:nvSpPr>
        <p:spPr>
          <a:xfrm>
            <a:off x="246600" y="6492960"/>
            <a:ext cx="6640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Flux : mmol de substrat. kg</a:t>
            </a:r>
            <a:r>
              <a:rPr b="0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muscle frais (vaste latéral).min</a:t>
            </a:r>
            <a:r>
              <a:rPr b="0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603E8F-5BC6-4AF1-B044-8B43FC40BB7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65" name=""/>
          <p:cNvGraphicFramePr/>
          <p:nvPr/>
        </p:nvGraphicFramePr>
        <p:xfrm>
          <a:off x="152280" y="1720800"/>
          <a:ext cx="8763120" cy="4832280"/>
        </p:xfrm>
        <a:graphic>
          <a:graphicData uri="http://schemas.openxmlformats.org/drawingml/2006/table">
            <a:tbl>
              <a:tblPr/>
              <a:tblGrid>
                <a:gridCol w="8763120"/>
              </a:tblGrid>
              <a:tr h="10587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                                               Puissance développée : % VO</a:t>
                      </a:r>
                      <a:r>
                        <a:rPr b="1" lang="fr-FR" sz="1600" strike="noStrike" u="none" baseline="-25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2max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MAX</a:t>
                      </a:r>
                      <a:r>
                        <a:rPr b="1" i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in Vitro        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35%</a:t>
                      </a:r>
                      <a:r>
                        <a:rPr b="1" i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(58 W)         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65%</a:t>
                      </a:r>
                      <a:r>
                        <a:rPr b="1" i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(164 W)       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90%</a:t>
                      </a:r>
                      <a:r>
                        <a:rPr b="1" i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(229 W)     250% (625 W)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3773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PHOS         40 – 45                   0.55                         3.6                         7.0                   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35.5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HK                  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~ 3                       0.2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 0.35                       0.5                   0.5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PFK             40 – 60                   0.75                        3.95                       6.5                   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32.25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SS                 </a:t>
                      </a: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~ 27                      1.5                           2.7                        3.4                    4.5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PDH                4.5                      1.5                           2.7                         3.4                   4.5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LDH              ~ 350                     0                             5.2                         9.6                    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60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6" name="Text Box 10"/>
          <p:cNvSpPr/>
          <p:nvPr/>
        </p:nvSpPr>
        <p:spPr>
          <a:xfrm>
            <a:off x="595440" y="193680"/>
            <a:ext cx="18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Line 11"/>
          <p:cNvSpPr/>
          <p:nvPr/>
        </p:nvSpPr>
        <p:spPr>
          <a:xfrm>
            <a:off x="2895480" y="2133720"/>
            <a:ext cx="53341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Text Box 12"/>
          <p:cNvSpPr/>
          <p:nvPr/>
        </p:nvSpPr>
        <p:spPr>
          <a:xfrm>
            <a:off x="235440" y="152280"/>
            <a:ext cx="865404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Estimation des flux à travers les enzymes clés amenant à la production de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musculaire durant un exercice réalisé à différentes intensités sur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ergocycle. Flux : mmol de substrat. kg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muscle frais (vaste latéral).min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            </a:t>
            </a: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D’après Lawrence et al. Med.  Sci. Sports Exerc. 32; 4: 756-63. 2000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373EC2-15B8-4B2D-B685-695B7FDA91F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Line 2"/>
          <p:cNvSpPr/>
          <p:nvPr/>
        </p:nvSpPr>
        <p:spPr>
          <a:xfrm>
            <a:off x="2835360" y="979560"/>
            <a:ext cx="0" cy="487656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Line 3"/>
          <p:cNvSpPr/>
          <p:nvPr/>
        </p:nvSpPr>
        <p:spPr>
          <a:xfrm>
            <a:off x="2987640" y="979560"/>
            <a:ext cx="0" cy="487656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Oval 4"/>
          <p:cNvSpPr/>
          <p:nvPr/>
        </p:nvSpPr>
        <p:spPr>
          <a:xfrm>
            <a:off x="2682720" y="1589040"/>
            <a:ext cx="45720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GT</a:t>
            </a:r>
            <a:r>
              <a:rPr b="1" i="1" lang="fr-FR" sz="1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Oval 5"/>
          <p:cNvSpPr/>
          <p:nvPr/>
        </p:nvSpPr>
        <p:spPr>
          <a:xfrm>
            <a:off x="2682720" y="2960640"/>
            <a:ext cx="45720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LT</a:t>
            </a:r>
            <a:r>
              <a:rPr b="1" i="1" lang="fr-FR" sz="1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Text Box 6"/>
          <p:cNvSpPr/>
          <p:nvPr/>
        </p:nvSpPr>
        <p:spPr>
          <a:xfrm>
            <a:off x="2225520" y="674640"/>
            <a:ext cx="1468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SARCOLEMME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Text Box 7"/>
          <p:cNvSpPr/>
          <p:nvPr/>
        </p:nvSpPr>
        <p:spPr>
          <a:xfrm>
            <a:off x="4646880" y="685800"/>
            <a:ext cx="1092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Glycogène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Line 8"/>
          <p:cNvSpPr/>
          <p:nvPr/>
        </p:nvSpPr>
        <p:spPr>
          <a:xfrm>
            <a:off x="5121360" y="979560"/>
            <a:ext cx="0" cy="76176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Text Box 9"/>
          <p:cNvSpPr/>
          <p:nvPr/>
        </p:nvSpPr>
        <p:spPr>
          <a:xfrm>
            <a:off x="4817160" y="1741320"/>
            <a:ext cx="596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G6-P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Line 10"/>
          <p:cNvSpPr/>
          <p:nvPr/>
        </p:nvSpPr>
        <p:spPr>
          <a:xfrm>
            <a:off x="2301840" y="1893960"/>
            <a:ext cx="25909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Text Box 11"/>
          <p:cNvSpPr/>
          <p:nvPr/>
        </p:nvSpPr>
        <p:spPr>
          <a:xfrm>
            <a:off x="1386720" y="1741320"/>
            <a:ext cx="8841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Line 12"/>
          <p:cNvSpPr/>
          <p:nvPr/>
        </p:nvSpPr>
        <p:spPr>
          <a:xfrm>
            <a:off x="5121360" y="204624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Line 13"/>
          <p:cNvSpPr/>
          <p:nvPr/>
        </p:nvSpPr>
        <p:spPr>
          <a:xfrm>
            <a:off x="5273640" y="219852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Line 14"/>
          <p:cNvSpPr/>
          <p:nvPr/>
        </p:nvSpPr>
        <p:spPr>
          <a:xfrm>
            <a:off x="4968720" y="219852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Text Box 15"/>
          <p:cNvSpPr/>
          <p:nvPr/>
        </p:nvSpPr>
        <p:spPr>
          <a:xfrm>
            <a:off x="4664160" y="2427120"/>
            <a:ext cx="933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Line 16"/>
          <p:cNvSpPr/>
          <p:nvPr/>
        </p:nvSpPr>
        <p:spPr>
          <a:xfrm>
            <a:off x="5121360" y="2732040"/>
            <a:ext cx="0" cy="45720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Text Box 17"/>
          <p:cNvSpPr/>
          <p:nvPr/>
        </p:nvSpPr>
        <p:spPr>
          <a:xfrm>
            <a:off x="4742640" y="3112920"/>
            <a:ext cx="890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Line 18"/>
          <p:cNvSpPr/>
          <p:nvPr/>
        </p:nvSpPr>
        <p:spPr>
          <a:xfrm>
            <a:off x="2301840" y="3265560"/>
            <a:ext cx="2438280" cy="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Text Box 19"/>
          <p:cNvSpPr/>
          <p:nvPr/>
        </p:nvSpPr>
        <p:spPr>
          <a:xfrm>
            <a:off x="1463040" y="3112920"/>
            <a:ext cx="804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reeform 21"/>
          <p:cNvSpPr/>
          <p:nvPr/>
        </p:nvSpPr>
        <p:spPr>
          <a:xfrm>
            <a:off x="2987640" y="2655720"/>
            <a:ext cx="1790640" cy="482760"/>
          </a:xfrm>
          <a:custGeom>
            <a:avLst/>
            <a:gdLst>
              <a:gd name="GluePoint1X" fmla="*/ 2147483647 w 1128"/>
              <a:gd name="GluePoint1Y" fmla="*/ 0 h 304"/>
              <a:gd name="GluePoint2X" fmla="*/ 2147483647 w 1128"/>
              <a:gd name="GluePoint2Y" fmla="*/ 2147483647 h 304"/>
              <a:gd name="GluePoint3X" fmla="*/ 2147483647 w 1128"/>
              <a:gd name="GluePoint3Y" fmla="*/ 2147483647 h 304"/>
              <a:gd name="GluePoint4X" fmla="*/ 2147483647 w 1128"/>
              <a:gd name="GluePoint4Y" fmla="*/ 2147483647 h 304"/>
              <a:gd name="GluePoint5X" fmla="*/ 2147483647 w 1128"/>
              <a:gd name="GluePoint5Y" fmla="*/ 2147483647 h 3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128" h="304">
                <a:moveTo>
                  <a:pt x="1104" y="0"/>
                </a:moveTo>
                <a:cubicBezTo>
                  <a:pt x="1116" y="72"/>
                  <a:pt x="1128" y="144"/>
                  <a:pt x="1008" y="192"/>
                </a:cubicBezTo>
                <a:cubicBezTo>
                  <a:pt x="888" y="240"/>
                  <a:pt x="544" y="272"/>
                  <a:pt x="384" y="288"/>
                </a:cubicBezTo>
                <a:cubicBezTo>
                  <a:pt x="224" y="304"/>
                  <a:pt x="96" y="288"/>
                  <a:pt x="48" y="288"/>
                </a:cubicBezTo>
                <a:cubicBezTo>
                  <a:pt x="0" y="288"/>
                  <a:pt x="48" y="288"/>
                  <a:pt x="96" y="288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reeform 22"/>
          <p:cNvSpPr/>
          <p:nvPr/>
        </p:nvSpPr>
        <p:spPr>
          <a:xfrm>
            <a:off x="1920960" y="2732040"/>
            <a:ext cx="761760" cy="304920"/>
          </a:xfrm>
          <a:custGeom>
            <a:avLst/>
            <a:gdLst>
              <a:gd name="GluePoint1X" fmla="*/ 2147483647 w 480"/>
              <a:gd name="GluePoint1Y" fmla="*/ 2147483647 h 192"/>
              <a:gd name="GluePoint2X" fmla="*/ 2147483647 w 480"/>
              <a:gd name="GluePoint2Y" fmla="*/ 2147483647 h 192"/>
              <a:gd name="GluePoint3X" fmla="*/ 0 w 480"/>
              <a:gd name="GluePoint3Y" fmla="*/ 0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480" h="192">
                <a:moveTo>
                  <a:pt x="480" y="192"/>
                </a:moveTo>
                <a:cubicBezTo>
                  <a:pt x="376" y="184"/>
                  <a:pt x="272" y="176"/>
                  <a:pt x="192" y="144"/>
                </a:cubicBezTo>
                <a:cubicBezTo>
                  <a:pt x="112" y="112"/>
                  <a:pt x="32" y="24"/>
                  <a:pt x="0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Text Box 23"/>
          <p:cNvSpPr/>
          <p:nvPr/>
        </p:nvSpPr>
        <p:spPr>
          <a:xfrm>
            <a:off x="1447920" y="2438280"/>
            <a:ext cx="933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Oval 24"/>
          <p:cNvSpPr/>
          <p:nvPr/>
        </p:nvSpPr>
        <p:spPr>
          <a:xfrm>
            <a:off x="3139920" y="3798720"/>
            <a:ext cx="3962520" cy="205740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Oval 25"/>
          <p:cNvSpPr/>
          <p:nvPr/>
        </p:nvSpPr>
        <p:spPr>
          <a:xfrm>
            <a:off x="3749760" y="4255920"/>
            <a:ext cx="2819160" cy="121932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Oval 26"/>
          <p:cNvSpPr/>
          <p:nvPr/>
        </p:nvSpPr>
        <p:spPr>
          <a:xfrm>
            <a:off x="5730840" y="4560840"/>
            <a:ext cx="762120" cy="533520"/>
          </a:xfrm>
          <a:prstGeom prst="ellipse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 de K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Oval 27"/>
          <p:cNvSpPr/>
          <p:nvPr/>
        </p:nvSpPr>
        <p:spPr>
          <a:xfrm>
            <a:off x="4892760" y="3570120"/>
            <a:ext cx="457200" cy="3812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LT</a:t>
            </a:r>
            <a:r>
              <a:rPr b="1" i="1" lang="fr-FR" sz="1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Oval 28"/>
          <p:cNvSpPr/>
          <p:nvPr/>
        </p:nvSpPr>
        <p:spPr>
          <a:xfrm>
            <a:off x="4892760" y="4179960"/>
            <a:ext cx="45720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LT</a:t>
            </a:r>
            <a:r>
              <a:rPr b="1" i="1" lang="fr-FR" sz="1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Oval 29"/>
          <p:cNvSpPr/>
          <p:nvPr/>
        </p:nvSpPr>
        <p:spPr>
          <a:xfrm>
            <a:off x="5715000" y="4191120"/>
            <a:ext cx="45720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LT</a:t>
            </a:r>
            <a:r>
              <a:rPr b="1" i="1" lang="fr-FR" sz="1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Line 30"/>
          <p:cNvSpPr/>
          <p:nvPr/>
        </p:nvSpPr>
        <p:spPr>
          <a:xfrm>
            <a:off x="5121360" y="3341520"/>
            <a:ext cx="0" cy="2286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Line 31"/>
          <p:cNvSpPr/>
          <p:nvPr/>
        </p:nvSpPr>
        <p:spPr>
          <a:xfrm>
            <a:off x="5121360" y="3951360"/>
            <a:ext cx="0" cy="2286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Line 32"/>
          <p:cNvSpPr/>
          <p:nvPr/>
        </p:nvSpPr>
        <p:spPr>
          <a:xfrm>
            <a:off x="5121360" y="4560840"/>
            <a:ext cx="0" cy="2286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Text Box 33"/>
          <p:cNvSpPr/>
          <p:nvPr/>
        </p:nvSpPr>
        <p:spPr>
          <a:xfrm>
            <a:off x="4511520" y="4713120"/>
            <a:ext cx="933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Line 34"/>
          <p:cNvSpPr/>
          <p:nvPr/>
        </p:nvSpPr>
        <p:spPr>
          <a:xfrm>
            <a:off x="5425920" y="4865760"/>
            <a:ext cx="30492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Line 35"/>
          <p:cNvSpPr/>
          <p:nvPr/>
        </p:nvSpPr>
        <p:spPr>
          <a:xfrm flipH="1">
            <a:off x="5349600" y="4495680"/>
            <a:ext cx="517320" cy="2174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Line 36"/>
          <p:cNvSpPr/>
          <p:nvPr/>
        </p:nvSpPr>
        <p:spPr>
          <a:xfrm>
            <a:off x="6340320" y="4637160"/>
            <a:ext cx="1219320" cy="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Line 37"/>
          <p:cNvSpPr/>
          <p:nvPr/>
        </p:nvSpPr>
        <p:spPr>
          <a:xfrm>
            <a:off x="6492960" y="4941720"/>
            <a:ext cx="1066680" cy="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Line 38"/>
          <p:cNvSpPr/>
          <p:nvPr/>
        </p:nvSpPr>
        <p:spPr>
          <a:xfrm>
            <a:off x="5502240" y="5246640"/>
            <a:ext cx="2057400" cy="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Line 39"/>
          <p:cNvSpPr/>
          <p:nvPr/>
        </p:nvSpPr>
        <p:spPr>
          <a:xfrm>
            <a:off x="5502240" y="4865760"/>
            <a:ext cx="0" cy="38088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Text Box 40"/>
          <p:cNvSpPr/>
          <p:nvPr/>
        </p:nvSpPr>
        <p:spPr>
          <a:xfrm>
            <a:off x="7559640" y="4484520"/>
            <a:ext cx="5288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Text Box 41"/>
          <p:cNvSpPr/>
          <p:nvPr/>
        </p:nvSpPr>
        <p:spPr>
          <a:xfrm>
            <a:off x="7559640" y="4789440"/>
            <a:ext cx="5288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Text Box 42"/>
          <p:cNvSpPr/>
          <p:nvPr/>
        </p:nvSpPr>
        <p:spPr>
          <a:xfrm>
            <a:off x="7559640" y="5094360"/>
            <a:ext cx="5288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Line 43"/>
          <p:cNvSpPr/>
          <p:nvPr/>
        </p:nvSpPr>
        <p:spPr>
          <a:xfrm>
            <a:off x="5578560" y="2579760"/>
            <a:ext cx="365040" cy="111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Line 44"/>
          <p:cNvSpPr/>
          <p:nvPr/>
        </p:nvSpPr>
        <p:spPr>
          <a:xfrm>
            <a:off x="5943600" y="2590920"/>
            <a:ext cx="0" cy="167616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Text Box 45"/>
          <p:cNvSpPr/>
          <p:nvPr/>
        </p:nvSpPr>
        <p:spPr>
          <a:xfrm>
            <a:off x="4358880" y="5475240"/>
            <a:ext cx="1577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MITOCHONDRIE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Text Box 46"/>
          <p:cNvSpPr/>
          <p:nvPr/>
        </p:nvSpPr>
        <p:spPr>
          <a:xfrm>
            <a:off x="5198400" y="3875040"/>
            <a:ext cx="54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LDH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Text Box 47"/>
          <p:cNvSpPr/>
          <p:nvPr/>
        </p:nvSpPr>
        <p:spPr>
          <a:xfrm>
            <a:off x="5274720" y="2732040"/>
            <a:ext cx="54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LDH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Text Box 48"/>
          <p:cNvSpPr/>
          <p:nvPr/>
        </p:nvSpPr>
        <p:spPr>
          <a:xfrm>
            <a:off x="454680" y="6400800"/>
            <a:ext cx="79394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Brooks, 1998 : Comp.Biochem. Physiol. 120:89-107, et 2000 : Med. Sci. Sports Exerc. 32; 4: 790-799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4C4954-8092-475E-80C2-D8FF0F7ED62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Line 2"/>
          <p:cNvSpPr/>
          <p:nvPr/>
        </p:nvSpPr>
        <p:spPr>
          <a:xfrm>
            <a:off x="762120" y="2133720"/>
            <a:ext cx="77040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Oval 3"/>
          <p:cNvSpPr/>
          <p:nvPr/>
        </p:nvSpPr>
        <p:spPr>
          <a:xfrm>
            <a:off x="6400800" y="3505320"/>
            <a:ext cx="93600" cy="45720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Oval 4"/>
          <p:cNvSpPr/>
          <p:nvPr/>
        </p:nvSpPr>
        <p:spPr>
          <a:xfrm>
            <a:off x="6629400" y="3505320"/>
            <a:ext cx="93600" cy="45720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 Box 5"/>
          <p:cNvSpPr/>
          <p:nvPr/>
        </p:nvSpPr>
        <p:spPr>
          <a:xfrm>
            <a:off x="6095880" y="1143000"/>
            <a:ext cx="106704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lactate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Text Box 6"/>
          <p:cNvSpPr/>
          <p:nvPr/>
        </p:nvSpPr>
        <p:spPr>
          <a:xfrm>
            <a:off x="6095880" y="2819520"/>
            <a:ext cx="106704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lactat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Text Box 7"/>
          <p:cNvSpPr/>
          <p:nvPr/>
        </p:nvSpPr>
        <p:spPr>
          <a:xfrm>
            <a:off x="6019920" y="4724280"/>
            <a:ext cx="1519200" cy="3938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lactate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Text Box 8"/>
          <p:cNvSpPr/>
          <p:nvPr/>
        </p:nvSpPr>
        <p:spPr>
          <a:xfrm>
            <a:off x="1676520" y="4724280"/>
            <a:ext cx="1295280" cy="3938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pyruvate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Line 9"/>
          <p:cNvSpPr/>
          <p:nvPr/>
        </p:nvSpPr>
        <p:spPr>
          <a:xfrm>
            <a:off x="6553080" y="1523880"/>
            <a:ext cx="0" cy="12193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reeform 10"/>
          <p:cNvSpPr/>
          <p:nvPr/>
        </p:nvSpPr>
        <p:spPr>
          <a:xfrm>
            <a:off x="3886200" y="4648320"/>
            <a:ext cx="1066680" cy="258480"/>
          </a:xfrm>
          <a:custGeom>
            <a:avLst/>
            <a:gdLst>
              <a:gd name="GluePoint1X" fmla="*/ 2147483647 w 1440"/>
              <a:gd name="GluePoint1Y" fmla="*/ 0 h 288"/>
              <a:gd name="GluePoint2X" fmla="*/ 2147483647 w 1440"/>
              <a:gd name="GluePoint2Y" fmla="*/ 2147483647 h 288"/>
              <a:gd name="GluePoint3X" fmla="*/ 0 w 1440"/>
              <a:gd name="GluePoint3Y" fmla="*/ 0 h 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440" h="288">
                <a:moveTo>
                  <a:pt x="1440" y="0"/>
                </a:moveTo>
                <a:cubicBezTo>
                  <a:pt x="1200" y="144"/>
                  <a:pt x="960" y="288"/>
                  <a:pt x="720" y="288"/>
                </a:cubicBezTo>
                <a:cubicBezTo>
                  <a:pt x="480" y="288"/>
                  <a:pt x="119" y="47"/>
                  <a:pt x="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Text Box 11"/>
          <p:cNvSpPr/>
          <p:nvPr/>
        </p:nvSpPr>
        <p:spPr>
          <a:xfrm>
            <a:off x="4648320" y="4267080"/>
            <a:ext cx="8366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NAD</a:t>
            </a:r>
            <a:r>
              <a:rPr b="0" lang="es-CL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+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Text Box 12"/>
          <p:cNvSpPr/>
          <p:nvPr/>
        </p:nvSpPr>
        <p:spPr>
          <a:xfrm>
            <a:off x="3429000" y="4267080"/>
            <a:ext cx="9907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NADH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Freeform 13"/>
          <p:cNvSpPr/>
          <p:nvPr/>
        </p:nvSpPr>
        <p:spPr>
          <a:xfrm flipV="1">
            <a:off x="3809880" y="3886200"/>
            <a:ext cx="1111320" cy="380880"/>
          </a:xfrm>
          <a:custGeom>
            <a:avLst/>
            <a:gdLst>
              <a:gd name="GluePoint1X" fmla="*/ 2147483647 w 1440"/>
              <a:gd name="GluePoint1Y" fmla="*/ 0 h 288"/>
              <a:gd name="GluePoint2X" fmla="*/ 2147483647 w 1440"/>
              <a:gd name="GluePoint2Y" fmla="*/ 2147483647 h 288"/>
              <a:gd name="GluePoint3X" fmla="*/ 0 w 1440"/>
              <a:gd name="GluePoint3Y" fmla="*/ 0 h 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440" h="288">
                <a:moveTo>
                  <a:pt x="1440" y="0"/>
                </a:moveTo>
                <a:cubicBezTo>
                  <a:pt x="1200" y="144"/>
                  <a:pt x="960" y="288"/>
                  <a:pt x="720" y="288"/>
                </a:cubicBezTo>
                <a:cubicBezTo>
                  <a:pt x="480" y="288"/>
                  <a:pt x="119" y="47"/>
                  <a:pt x="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Text Box 14"/>
          <p:cNvSpPr/>
          <p:nvPr/>
        </p:nvSpPr>
        <p:spPr>
          <a:xfrm>
            <a:off x="4038480" y="3581280"/>
            <a:ext cx="819360" cy="314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C 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Text Box 15"/>
          <p:cNvSpPr/>
          <p:nvPr/>
        </p:nvSpPr>
        <p:spPr>
          <a:xfrm>
            <a:off x="304920" y="1523880"/>
            <a:ext cx="13795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cytosol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Text Box 16"/>
          <p:cNvSpPr/>
          <p:nvPr/>
        </p:nvSpPr>
        <p:spPr>
          <a:xfrm>
            <a:off x="0" y="4114800"/>
            <a:ext cx="238752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mitochondrie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Text Box 17"/>
          <p:cNvSpPr/>
          <p:nvPr/>
        </p:nvSpPr>
        <p:spPr>
          <a:xfrm>
            <a:off x="7620120" y="2133720"/>
            <a:ext cx="8110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m.ext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Text Box 18"/>
          <p:cNvSpPr/>
          <p:nvPr/>
        </p:nvSpPr>
        <p:spPr>
          <a:xfrm>
            <a:off x="7696080" y="3581280"/>
            <a:ext cx="874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m.int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Text Box 19"/>
          <p:cNvSpPr/>
          <p:nvPr/>
        </p:nvSpPr>
        <p:spPr>
          <a:xfrm>
            <a:off x="4038480" y="5029200"/>
            <a:ext cx="9097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LDHm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Text Box 20"/>
          <p:cNvSpPr/>
          <p:nvPr/>
        </p:nvSpPr>
        <p:spPr>
          <a:xfrm>
            <a:off x="1828800" y="1143000"/>
            <a:ext cx="137160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pyruvate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Text Box 21"/>
          <p:cNvSpPr/>
          <p:nvPr/>
        </p:nvSpPr>
        <p:spPr>
          <a:xfrm>
            <a:off x="1905120" y="2819520"/>
            <a:ext cx="1295280" cy="380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pyruvate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Rectangle 22"/>
          <p:cNvSpPr/>
          <p:nvPr/>
        </p:nvSpPr>
        <p:spPr>
          <a:xfrm>
            <a:off x="0" y="228600"/>
            <a:ext cx="9144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26100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0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 Transfert et oxydation du lactate cytoplasmique dans la mitochondrie.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D'après [Brooks, 1999 ], modifié.</a:t>
            </a: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Rectangle 23"/>
          <p:cNvSpPr/>
          <p:nvPr/>
        </p:nvSpPr>
        <p:spPr>
          <a:xfrm>
            <a:off x="0" y="6521400"/>
            <a:ext cx="9524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C R = chaîne respiratoire.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Line 24"/>
          <p:cNvSpPr/>
          <p:nvPr/>
        </p:nvSpPr>
        <p:spPr>
          <a:xfrm>
            <a:off x="762120" y="2438280"/>
            <a:ext cx="77724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Line 25"/>
          <p:cNvSpPr/>
          <p:nvPr/>
        </p:nvSpPr>
        <p:spPr>
          <a:xfrm>
            <a:off x="2438280" y="1523880"/>
            <a:ext cx="0" cy="12193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Line 26"/>
          <p:cNvSpPr/>
          <p:nvPr/>
        </p:nvSpPr>
        <p:spPr>
          <a:xfrm flipV="1">
            <a:off x="685800" y="3581280"/>
            <a:ext cx="7780320" cy="79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Line 27"/>
          <p:cNvSpPr/>
          <p:nvPr/>
        </p:nvSpPr>
        <p:spPr>
          <a:xfrm flipV="1">
            <a:off x="685800" y="3886200"/>
            <a:ext cx="7780320" cy="79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Line 28"/>
          <p:cNvSpPr/>
          <p:nvPr/>
        </p:nvSpPr>
        <p:spPr>
          <a:xfrm>
            <a:off x="6553080" y="3276720"/>
            <a:ext cx="0" cy="1371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Line 29"/>
          <p:cNvSpPr/>
          <p:nvPr/>
        </p:nvSpPr>
        <p:spPr>
          <a:xfrm flipH="1">
            <a:off x="3124080" y="4952880"/>
            <a:ext cx="289584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Oval 30"/>
          <p:cNvSpPr/>
          <p:nvPr/>
        </p:nvSpPr>
        <p:spPr>
          <a:xfrm>
            <a:off x="2286000" y="3505320"/>
            <a:ext cx="93600" cy="45720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Oval 31"/>
          <p:cNvSpPr/>
          <p:nvPr/>
        </p:nvSpPr>
        <p:spPr>
          <a:xfrm>
            <a:off x="2514600" y="3505320"/>
            <a:ext cx="93600" cy="457200"/>
          </a:xfrm>
          <a:prstGeom prst="ellipse">
            <a:avLst/>
          </a:prstGeom>
          <a:solidFill>
            <a:srgbClr val="ccccff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Line 32"/>
          <p:cNvSpPr/>
          <p:nvPr/>
        </p:nvSpPr>
        <p:spPr>
          <a:xfrm>
            <a:off x="2438280" y="3276720"/>
            <a:ext cx="0" cy="1371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Text Box 33"/>
          <p:cNvSpPr/>
          <p:nvPr/>
        </p:nvSpPr>
        <p:spPr>
          <a:xfrm>
            <a:off x="-45360" y="6019920"/>
            <a:ext cx="9169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m. ext = membrane externe de la mitochondrie; m. int.= membrane interne de la mitochondrie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Line 34"/>
          <p:cNvSpPr/>
          <p:nvPr/>
        </p:nvSpPr>
        <p:spPr>
          <a:xfrm>
            <a:off x="3276720" y="1371600"/>
            <a:ext cx="28191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Text Box 35"/>
          <p:cNvSpPr/>
          <p:nvPr/>
        </p:nvSpPr>
        <p:spPr>
          <a:xfrm>
            <a:off x="4038480" y="1447920"/>
            <a:ext cx="9097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LDH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c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0" dur="indefinite" restart="never" nodeType="tmRoot">
          <p:childTnLst>
            <p:seq>
              <p:cTn id="1051" dur="indefinite" nodeType="mainSeq">
                <p:childTnLst>
                  <p:par>
                    <p:cTn id="1052" nodeType="clickEffect" fill="hold">
                      <p:stCondLst>
                        <p:cond delay="0"/>
                      </p:stCondLst>
                      <p:childTnLst>
                        <p:par>
                          <p:cTn id="10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56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58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0" dur="75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1" nodeType="afterEffect" fill="hold">
                            <p:stCondLst>
                              <p:cond delay="2025"/>
                            </p:stCondLst>
                            <p:childTnLst>
                              <p:par>
                                <p:cTn id="1062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4" dur="75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5" nodeType="afterEffect" fill="hold">
                            <p:stCondLst>
                              <p:cond delay="3925"/>
                            </p:stCondLst>
                            <p:childTnLst>
                              <p:par>
                                <p:cTn id="1066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8" dur="75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nodeType="afterEffect" fill="hold">
                            <p:stCondLst>
                              <p:cond delay="5300"/>
                            </p:stCondLst>
                            <p:childTnLst>
                              <p:par>
                                <p:cTn id="1070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2" dur="75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3" nodeType="afterEffect" fill="hold">
                            <p:stCondLst>
                              <p:cond delay="6675"/>
                            </p:stCondLst>
                            <p:childTnLst>
                              <p:par>
                                <p:cTn id="107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6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7" nodeType="clickEffect" fill="hold">
                      <p:stCondLst>
                        <p:cond delay="indefinite"/>
                      </p:stCondLst>
                      <p:childTnLst>
                        <p:par>
                          <p:cTn id="10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nodeType="click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81" dur="75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2" nodeType="afterEffect" fill="hold">
                            <p:stCondLst>
                              <p:cond delay="600"/>
                            </p:stCondLst>
                            <p:childTnLst>
                              <p:par>
                                <p:cTn id="108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85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6" nodeType="afterEffect" fill="hold">
                            <p:stCondLst>
                              <p:cond delay="1100"/>
                            </p:stCondLst>
                            <p:childTnLst>
                              <p:par>
                                <p:cTn id="1087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89" dur="75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" nodeType="afterEffect" fill="hold">
                            <p:stCondLst>
                              <p:cond delay="1400"/>
                            </p:stCondLst>
                            <p:childTnLst>
                              <p:par>
                                <p:cTn id="1091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93" dur="75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nodeType="afterEffect" fill="hold">
                            <p:stCondLst>
                              <p:cond delay="1925"/>
                            </p:stCondLst>
                            <p:childTnLst>
                              <p:par>
                                <p:cTn id="1095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7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8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9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0" dur="500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1" nodeType="afterEffect" fill="hold">
                            <p:stCondLst>
                              <p:cond delay="2425"/>
                            </p:stCondLst>
                            <p:childTnLst>
                              <p:par>
                                <p:cTn id="1102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4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5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6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7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8" nodeType="afterEffect" fill="hold">
                            <p:stCondLst>
                              <p:cond delay="2925"/>
                            </p:stCondLst>
                            <p:childTnLst>
                              <p:par>
                                <p:cTn id="110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1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2" nodeType="afterEffect" fill="hold">
                            <p:stCondLst>
                              <p:cond delay="3425"/>
                            </p:stCondLst>
                            <p:childTnLst>
                              <p:par>
                                <p:cTn id="111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6" nodeType="clickEffect" fill="hold">
                      <p:stCondLst>
                        <p:cond delay="indefinite"/>
                      </p:stCondLst>
                      <p:childTnLst>
                        <p:par>
                          <p:cTn id="11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0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12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4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8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9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0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1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35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6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39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0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14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3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1145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7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8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9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0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1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15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54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5" nodeType="clickEffect" fill="hold">
                      <p:stCondLst>
                        <p:cond delay="indefinite"/>
                      </p:stCondLst>
                      <p:childTnLst>
                        <p:par>
                          <p:cTn id="11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nodeType="click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9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0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1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2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164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66" dur="75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7" nodeType="afterEffect" fill="hold">
                            <p:stCondLst>
                              <p:cond delay="800"/>
                            </p:stCondLst>
                            <p:childTnLst>
                              <p:par>
                                <p:cTn id="1168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0" dur="75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1" dur="75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2" nodeType="afterEffect" fill="hold">
                            <p:stCondLst>
                              <p:cond delay="950"/>
                            </p:stCondLst>
                            <p:childTnLst>
                              <p:par>
                                <p:cTn id="1173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75" dur="3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6" nodeType="afterEffect" fill="hold">
                            <p:stCondLst>
                              <p:cond delay="3050"/>
                            </p:stCondLst>
                            <p:childTnLst>
                              <p:par>
                                <p:cTn id="1177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79" dur="75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nodeType="afterEffect" fill="hold">
                            <p:stCondLst>
                              <p:cond delay="4350"/>
                            </p:stCondLst>
                            <p:childTnLst>
                              <p:par>
                                <p:cTn id="1181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83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4" nodeType="afterEffect" fill="hold">
                            <p:stCondLst>
                              <p:cond delay="4850"/>
                            </p:stCondLst>
                            <p:childTnLst>
                              <p:par>
                                <p:cTn id="1185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87" dur="75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8" nodeType="afterEffect" fill="hold">
                            <p:stCondLst>
                              <p:cond delay="5150"/>
                            </p:stCondLst>
                            <p:childTnLst>
                              <p:par>
                                <p:cTn id="118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91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A44672-4E99-4EE3-B64A-723D3C46F9F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3.1  A QUELLE PUISSANCE LE MUSCLE PRODUIT-IL DU LACTATE ?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685800" y="21337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Travaux de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GREEN et Coll. 1983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montrent qu'à une puissance correspondant à 50% de VO2 max (&lt; au "S.A."), la concentration du lactate musculaire atteint 4,5 mmol/l alors que la lactatémie n'augmente pas (1,3 à 1,5 mmol/l)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Travaux de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CONNETT et Coll. 1984, CHIRTEL</a:t>
            </a: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Coll. 1984 et FUKUBA et Coll. (1989)</a:t>
            </a: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montrent que..</a:t>
            </a:r>
            <a:r>
              <a:rPr b="1" lang="fr-FR" sz="24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192" dur="indefinite" restart="never" nodeType="tmRoot">
          <p:childTnLst>
            <p:seq>
              <p:cTn id="1193" dur="indefinite" nodeType="mainSeq">
                <p:childTnLst>
                  <p:par>
                    <p:cTn id="1194" nodeType="clickEffect" fill="hold">
                      <p:stCondLst>
                        <p:cond delay="0"/>
                      </p:stCondLst>
                      <p:childTnLst>
                        <p:par>
                          <p:cTn id="11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198" dur="500"/>
                                        <p:tgtEl>
                                          <p:spTgt spid="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20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02" dur="500"/>
                                        <p:tgtEl>
                                          <p:spTgt spid="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9A61C8-BEA1-4E41-930D-FD5DDED5EF6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Rectangle 6"/>
          <p:cNvSpPr/>
          <p:nvPr/>
        </p:nvSpPr>
        <p:spPr>
          <a:xfrm>
            <a:off x="609480" y="609480"/>
            <a:ext cx="7925040" cy="21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1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…dans un exercice à intensité progressive, le muscle produit du lactate dès les premières puissances de travail et ensuite la concentration intramusculaire augmente linéairement avec les puissances successives.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Line 7"/>
          <p:cNvSpPr/>
          <p:nvPr/>
        </p:nvSpPr>
        <p:spPr>
          <a:xfrm>
            <a:off x="838080" y="3886200"/>
            <a:ext cx="0" cy="20574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Line 8"/>
          <p:cNvSpPr/>
          <p:nvPr/>
        </p:nvSpPr>
        <p:spPr>
          <a:xfrm>
            <a:off x="838080" y="5943600"/>
            <a:ext cx="2438640" cy="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Line 9"/>
          <p:cNvSpPr/>
          <p:nvPr/>
        </p:nvSpPr>
        <p:spPr>
          <a:xfrm>
            <a:off x="5257800" y="3886200"/>
            <a:ext cx="0" cy="20574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Line 10"/>
          <p:cNvSpPr/>
          <p:nvPr/>
        </p:nvSpPr>
        <p:spPr>
          <a:xfrm>
            <a:off x="5257800" y="5943600"/>
            <a:ext cx="2438280" cy="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Line 11"/>
          <p:cNvSpPr/>
          <p:nvPr/>
        </p:nvSpPr>
        <p:spPr>
          <a:xfrm flipV="1">
            <a:off x="990720" y="4038480"/>
            <a:ext cx="2361960" cy="18288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Line 12"/>
          <p:cNvSpPr/>
          <p:nvPr/>
        </p:nvSpPr>
        <p:spPr>
          <a:xfrm>
            <a:off x="1981080" y="5105520"/>
            <a:ext cx="0" cy="8380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Line 13"/>
          <p:cNvSpPr/>
          <p:nvPr/>
        </p:nvSpPr>
        <p:spPr>
          <a:xfrm flipH="1">
            <a:off x="837720" y="5105520"/>
            <a:ext cx="1143000" cy="0"/>
          </a:xfrm>
          <a:prstGeom prst="line">
            <a:avLst/>
          </a:prstGeom>
          <a:ln w="38160">
            <a:solidFill>
              <a:srgbClr val="ffff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Rectangle 14"/>
          <p:cNvSpPr/>
          <p:nvPr/>
        </p:nvSpPr>
        <p:spPr>
          <a:xfrm>
            <a:off x="154080" y="4952880"/>
            <a:ext cx="685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4.5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Rectangle 15"/>
          <p:cNvSpPr/>
          <p:nvPr/>
        </p:nvSpPr>
        <p:spPr>
          <a:xfrm>
            <a:off x="306360" y="3506760"/>
            <a:ext cx="17524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[ La 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m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] mmol / 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Rectangle 16"/>
          <p:cNvSpPr/>
          <p:nvPr/>
        </p:nvSpPr>
        <p:spPr>
          <a:xfrm>
            <a:off x="839880" y="6019920"/>
            <a:ext cx="32004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50 % VO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2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max     puissance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Rectangle 17"/>
          <p:cNvSpPr/>
          <p:nvPr/>
        </p:nvSpPr>
        <p:spPr>
          <a:xfrm>
            <a:off x="1297080" y="6402240"/>
            <a:ext cx="2209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MUSCLE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Rectangle 18"/>
          <p:cNvSpPr/>
          <p:nvPr/>
        </p:nvSpPr>
        <p:spPr>
          <a:xfrm>
            <a:off x="4495680" y="3505320"/>
            <a:ext cx="167652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[ La 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] mmol / 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Rectangle 19"/>
          <p:cNvSpPr/>
          <p:nvPr/>
        </p:nvSpPr>
        <p:spPr>
          <a:xfrm>
            <a:off x="5321880" y="6049800"/>
            <a:ext cx="31453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50 % VO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2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max     puissance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Rectangle 20"/>
          <p:cNvSpPr/>
          <p:nvPr/>
        </p:nvSpPr>
        <p:spPr>
          <a:xfrm>
            <a:off x="6005880" y="6384960"/>
            <a:ext cx="10656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SANG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Arc 21"/>
          <p:cNvSpPr/>
          <p:nvPr/>
        </p:nvSpPr>
        <p:spPr>
          <a:xfrm>
            <a:off x="5257800" y="4038480"/>
            <a:ext cx="2362320" cy="1600200"/>
          </a:xfrm>
          <a:custGeom>
            <a:avLst/>
            <a:gdLst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0 w 2160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stroke="0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Rectangle 22"/>
          <p:cNvSpPr/>
          <p:nvPr/>
        </p:nvSpPr>
        <p:spPr>
          <a:xfrm>
            <a:off x="4634280" y="5394240"/>
            <a:ext cx="6087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1.5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Line 23"/>
          <p:cNvSpPr/>
          <p:nvPr/>
        </p:nvSpPr>
        <p:spPr>
          <a:xfrm>
            <a:off x="6324480" y="5486400"/>
            <a:ext cx="0" cy="4572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203" dur="indefinite" restart="never" nodeType="tmRoot">
          <p:childTnLst>
            <p:seq>
              <p:cTn id="1204" dur="indefinite" nodeType="mainSeq">
                <p:childTnLst>
                  <p:par>
                    <p:cTn id="1205" nodeType="clickEffect" fill="hold">
                      <p:stCondLst>
                        <p:cond delay="indefinite"/>
                      </p:stCondLst>
                      <p:childTnLst>
                        <p:par>
                          <p:cTn id="1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09" dur="5000"/>
                                        <p:tgtEl>
                                          <p:spTgt spid="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Rectangle 6"/>
          <p:cNvSpPr/>
          <p:nvPr/>
        </p:nvSpPr>
        <p:spPr>
          <a:xfrm>
            <a:off x="228600" y="914400"/>
            <a:ext cx="8915400" cy="51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45000"/>
              </a:lnSpc>
              <a:spcBef>
                <a:spcPts val="1650"/>
              </a:spcBef>
              <a:buClr>
                <a:srgbClr val="ffff00"/>
              </a:buClr>
              <a:buFont typeface="Arial"/>
              <a:buChar char="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PREMIERE CONCLUSION :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5000"/>
              </a:lnSpc>
              <a:spcBef>
                <a:spcPts val="16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ne peut conclure à une absence de production de lactate par le muscle à partir de l’absence de modification de la lactatémie en début d’exercice triangulaire.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5000"/>
              </a:lnSpc>
              <a:spcBef>
                <a:spcPts val="16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n’existe donc pas de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puissance «SEUIL» en deçà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laquelle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5000"/>
              </a:lnSpc>
              <a:spcBef>
                <a:spcPts val="16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muscle ne produit pas de lactate et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delà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laquelle il en produit.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5000"/>
              </a:lnSpc>
              <a:spcBef>
                <a:spcPts val="16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210" dur="indefinite" restart="never" nodeType="tmRoot">
          <p:childTnLst>
            <p:seq>
              <p:cTn id="1211" dur="indefinite" nodeType="mainSeq">
                <p:childTnLst>
                  <p:par>
                    <p:cTn id="1212" nodeType="clickEffect" fill="hold">
                      <p:stCondLst>
                        <p:cond delay="indefinite"/>
                      </p:stCondLst>
                      <p:childTnLst>
                        <p:par>
                          <p:cTn id="12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16" dur="5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B931C9-1822-46E2-8220-075EDCA11B2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Rectangle 2"/>
          <p:cNvSpPr/>
          <p:nvPr/>
        </p:nvSpPr>
        <p:spPr>
          <a:xfrm>
            <a:off x="108000" y="230040"/>
            <a:ext cx="8610480" cy="59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3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HYPOTHESES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L’absence de modification de la </a:t>
            </a:r>
            <a:r>
              <a:rPr b="0" i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lactatémie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en début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d’exercice triangulaire résulte probablement de l’interaction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3 composantes physiologiques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– d’une accumulation intra musculaire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2 - des transporteurs membranaires insuffisamment activés.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3 - de la dilution du lactate dans un vaste espace extra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musculaire (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Zouloumian et Freund, 1981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17" dur="indefinite" restart="never" nodeType="tmRoot">
          <p:childTnLst>
            <p:seq>
              <p:cTn id="1218" dur="indefinite" nodeType="mainSeq">
                <p:childTnLst>
                  <p:par>
                    <p:cTn id="1219" nodeType="clickEffect" fill="hold">
                      <p:stCondLst>
                        <p:cond delay="0"/>
                      </p:stCondLst>
                      <p:childTnLst>
                        <p:par>
                          <p:cTn id="12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1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3" dur="3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4" dur="3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Rectangle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Rectangle 4"/>
          <p:cNvSpPr/>
          <p:nvPr/>
        </p:nvSpPr>
        <p:spPr>
          <a:xfrm>
            <a:off x="77760" y="0"/>
            <a:ext cx="906624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TRANSPORT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MEMBRANAIRE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 LACTATE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Rectangle 5"/>
          <p:cNvSpPr/>
          <p:nvPr/>
        </p:nvSpPr>
        <p:spPr>
          <a:xfrm>
            <a:off x="380880" y="2286000"/>
            <a:ext cx="838224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existe des protéines qui permettent le transport du lactate à travers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le sarcolemme : monocarboxylate tansporter : MCT1 et MCT4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D'elles dépend la vitesse du passage du lactate musculaire :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25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25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milieu intracellulaire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milieu extracellulaire &lt;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–&gt;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sang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250"/>
              </a:spcBef>
              <a:spcAft>
                <a:spcPts val="1250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vitesse du passage membranaire dépend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50000"/>
              </a:lnSpc>
              <a:spcBef>
                <a:spcPts val="125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1. du niveau de stimulation des transporteurs.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50000"/>
              </a:lnSpc>
              <a:spcBef>
                <a:spcPts val="125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2. du nombre de transporteurs mis en jeu.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Line 6"/>
          <p:cNvSpPr/>
          <p:nvPr/>
        </p:nvSpPr>
        <p:spPr>
          <a:xfrm>
            <a:off x="3200400" y="4648320"/>
            <a:ext cx="7621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Line 7"/>
          <p:cNvSpPr/>
          <p:nvPr/>
        </p:nvSpPr>
        <p:spPr>
          <a:xfrm flipH="1" flipV="1">
            <a:off x="3197880" y="4528800"/>
            <a:ext cx="690120" cy="86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8160" bIns="-3816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Text Box 8"/>
          <p:cNvSpPr/>
          <p:nvPr/>
        </p:nvSpPr>
        <p:spPr>
          <a:xfrm>
            <a:off x="3125520" y="4038480"/>
            <a:ext cx="873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MCT1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Text Box 9"/>
          <p:cNvSpPr/>
          <p:nvPr/>
        </p:nvSpPr>
        <p:spPr>
          <a:xfrm>
            <a:off x="3125520" y="4648320"/>
            <a:ext cx="873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MCT4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Text Box 10"/>
          <p:cNvSpPr/>
          <p:nvPr/>
        </p:nvSpPr>
        <p:spPr>
          <a:xfrm>
            <a:off x="0" y="838080"/>
            <a:ext cx="9144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(Juel et al.,1991; Dermott et Bonen,1993; Pilegaard et al.,1993; Roth et Brooks,1993)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225" dur="indefinite" restart="never" nodeType="tmRoot">
          <p:childTnLst>
            <p:seq>
              <p:cTn id="1226" dur="indefinite" nodeType="mainSeq">
                <p:childTnLst>
                  <p:par>
                    <p:cTn id="1227" nodeType="clickEffect" fill="hold">
                      <p:stCondLst>
                        <p:cond delay="0"/>
                      </p:stCondLst>
                      <p:childTnLst>
                        <p:par>
                          <p:cTn id="12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31" dur="500"/>
                                        <p:tgtEl>
                                          <p:spTgt spid="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35" dur="500"/>
                                        <p:tgtEl>
                                          <p:spTgt spid="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36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37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40" dur="500"/>
                                        <p:tgtEl>
                                          <p:spTgt spid="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41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42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45" dur="500"/>
                                        <p:tgtEl>
                                          <p:spTgt spid="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46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47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124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50" dur="500"/>
                                        <p:tgtEl>
                                          <p:spTgt spid="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51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52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25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55" dur="500"/>
                                        <p:tgtEl>
                                          <p:spTgt spid="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56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57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125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0" dur="500"/>
                                        <p:tgtEl>
                                          <p:spTgt spid="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61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6" end="6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62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6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5" dur="500"/>
                                        <p:tgtEl>
                                          <p:spTgt spid="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66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7" end="7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67" nodeType="afterEffect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70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1">
                                      <p:txEl>
                                        <p:pRg st="8" end="8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72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73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275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6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7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79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8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83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4DEA6F-913E-4782-9DE1-5A27C270EB1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/>
          </p:nvPr>
        </p:nvSpPr>
        <p:spPr>
          <a:xfrm>
            <a:off x="0" y="3200400"/>
            <a:ext cx="91440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>
              <a:lnSpc>
                <a:spcPct val="12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2- Le nombre des transporteurs recrutés dépend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2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- du niveau d ’entraînement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2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- de la nature des fibres activées : les fibres rapides présentent plus de MTC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pratiquement pas de MTC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2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- de l’âge des sujets (le nombre de transporteurs sollicités diminue avec le   vieillissement).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Text Box 3"/>
          <p:cNvSpPr/>
          <p:nvPr/>
        </p:nvSpPr>
        <p:spPr>
          <a:xfrm>
            <a:off x="-14040" y="760320"/>
            <a:ext cx="8697600" cy="21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1- Le niveau de stimulation dépend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-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gradient pH entre les milieux intra et extra cellulaires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-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type d ’entraînement (l ’entraînement en intensité augmente la vitesse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du passage membranaire par rapport à l ’entraînement de longue durée)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Text Box 4"/>
          <p:cNvSpPr/>
          <p:nvPr/>
        </p:nvSpPr>
        <p:spPr>
          <a:xfrm>
            <a:off x="914040" y="5886360"/>
            <a:ext cx="70304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(Juel et al.,1991;Dermott et Bonen,1993; Pilegaard et al.,1993;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Roth et Brooks,1993; Brooks, 1999; Pilegaard, 1999; Bonen, 2000)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284" dur="indefinite" restart="never" nodeType="tmRoot">
          <p:childTnLst>
            <p:seq>
              <p:cTn id="1285" dur="indefinite" nodeType="mainSeq">
                <p:childTnLst>
                  <p:par>
                    <p:cTn id="1286" nodeType="clickEffect" fill="hold">
                      <p:stCondLst>
                        <p:cond delay="0"/>
                      </p:stCondLst>
                      <p:childTnLst>
                        <p:par>
                          <p:cTn id="12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8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0" dur="500"/>
                                        <p:tgtEl>
                                          <p:spTgt spid="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292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4" dur="500"/>
                                        <p:tgtEl>
                                          <p:spTgt spid="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95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699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296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7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9" dur="500"/>
                                        <p:tgtEl>
                                          <p:spTgt spid="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00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699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301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302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04" dur="500"/>
                                        <p:tgtEl>
                                          <p:spTgt spid="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05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699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06" nodeType="clickEffect" fill="hold">
                      <p:stCondLst>
                        <p:cond delay="indefinite"/>
                      </p:stCondLst>
                      <p:childTnLst>
                        <p:par>
                          <p:cTn id="13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10" dur="500"/>
                                        <p:tgtEl>
                                          <p:spTgt spid="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9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12" nodeType="clickEffect" fill="hold">
                      <p:stCondLst>
                        <p:cond delay="indefinite"/>
                      </p:stCondLst>
                      <p:childTnLst>
                        <p:par>
                          <p:cTn id="13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16" dur="500"/>
                                        <p:tgtEl>
                                          <p:spTgt spid="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8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18" nodeType="clickEffect" fill="hold">
                      <p:stCondLst>
                        <p:cond delay="indefinite"/>
                      </p:stCondLst>
                      <p:childTnLst>
                        <p:par>
                          <p:cTn id="13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22" dur="500"/>
                                        <p:tgtEl>
                                          <p:spTgt spid="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8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24" nodeType="clickEffect" fill="hold">
                      <p:stCondLst>
                        <p:cond delay="indefinite"/>
                      </p:stCondLst>
                      <p:childTnLst>
                        <p:par>
                          <p:cTn id="13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28" dur="500"/>
                                        <p:tgtEl>
                                          <p:spTgt spid="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8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30" nodeType="clickEffect" fill="hold">
                      <p:stCondLst>
                        <p:cond delay="indefinite"/>
                      </p:stCondLst>
                      <p:childTnLst>
                        <p:par>
                          <p:cTn id="13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34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8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354193-CF97-4464-906C-C537EED84B34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Text Box 2"/>
          <p:cNvSpPr/>
          <p:nvPr/>
        </p:nvSpPr>
        <p:spPr>
          <a:xfrm>
            <a:off x="1977480" y="2362320"/>
            <a:ext cx="525852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L’accumulation du lactate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correspond-elle à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l’absence d’oxygène ?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Rectangle 2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76320" y="228240"/>
            <a:ext cx="9066240" cy="121932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3.2 EST-CE L’ABSENCE D’OXYGENE QUI ENTRAINE LA FORMATION ET L’ACCUMULATION DU LACTATE DANS LE MUSCLE ?</a:t>
            </a:r>
            <a:r>
              <a:rPr b="0" lang="fr-FR" sz="4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Rectangle 4"/>
          <p:cNvSpPr/>
          <p:nvPr/>
        </p:nvSpPr>
        <p:spPr>
          <a:xfrm>
            <a:off x="154080" y="4508640"/>
            <a:ext cx="8989920" cy="24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3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00cc99"/>
              </a:buClr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Localement dans la cellule musculaire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travaux de </a:t>
            </a:r>
            <a:r>
              <a:rPr b="0" lang="fr-FR" sz="20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Connet et Coll. (1984)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montrent aucun gradient de PO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inférieur à 2 mm Hg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alors que la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</a:t>
            </a:r>
            <a:r>
              <a:rPr b="0" lang="fr-FR" sz="20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minimale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nécessaire pour assurer une activité maximale de la phosphorylation oxydative est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inférieure à 0.5, voire 0.1 mm Hg.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(Chance et Quirstorff,1978)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Text Box 5"/>
          <p:cNvSpPr/>
          <p:nvPr/>
        </p:nvSpPr>
        <p:spPr>
          <a:xfrm>
            <a:off x="152280" y="1600200"/>
            <a:ext cx="8991720" cy="12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buClr>
                <a:srgbClr val="00cc99"/>
              </a:buClr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Il est fréquent de lire qu’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« il y a formation de lactate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en absence</a:t>
            </a:r>
            <a:r>
              <a:rPr b="1" lang="fr-FR" sz="2000" strike="noStrike" u="sng">
                <a:solidFill>
                  <a:srgbClr val="3333ff"/>
                </a:solidFill>
                <a:effectLst/>
                <a:uFillTx/>
                <a:latin typeface="Arial"/>
              </a:rPr>
              <a:t>      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d’oxygène »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Ceci est exact mais ... dans un tube à essai !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Text Box 6"/>
          <p:cNvSpPr/>
          <p:nvPr/>
        </p:nvSpPr>
        <p:spPr>
          <a:xfrm>
            <a:off x="227880" y="2895480"/>
            <a:ext cx="8528400" cy="19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buClr>
                <a:srgbClr val="00cc99"/>
              </a:buClr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Globalement au niveau des muscles actifs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travaux de </a:t>
            </a:r>
            <a:r>
              <a:rPr b="0" lang="fr-FR" sz="20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Pirnay et Coll. (1972)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montrent qu’au cours d’un exercice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maximal (= à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max), la PO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sang veineux effluent ne s’abaisse pas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dessous de 20 mm Hg.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336" dur="indefinite" restart="never" nodeType="tmRoot">
          <p:childTnLst>
            <p:seq>
              <p:cTn id="1337" dur="indefinite" nodeType="mainSeq">
                <p:childTnLst>
                  <p:par>
                    <p:cTn id="1338" nodeType="clickEffect" fill="hold">
                      <p:stCondLst>
                        <p:cond delay="0"/>
                      </p:stCondLst>
                      <p:childTnLst>
                        <p:par>
                          <p:cTn id="13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42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3" nodeType="clickEffect" fill="hold">
                      <p:stCondLst>
                        <p:cond delay="indefinite"/>
                      </p:stCondLst>
                      <p:childTnLst>
                        <p:par>
                          <p:cTn id="13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47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8" nodeType="clickEffect" fill="hold">
                      <p:stCondLst>
                        <p:cond delay="indefinite"/>
                      </p:stCondLst>
                      <p:childTnLst>
                        <p:par>
                          <p:cTn id="13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52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54" nodeType="clickEffect" fill="hold">
                      <p:stCondLst>
                        <p:cond delay="indefinite"/>
                      </p:stCondLst>
                      <p:childTnLst>
                        <p:par>
                          <p:cTn id="1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358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Rectangle 4"/>
          <p:cNvSpPr/>
          <p:nvPr/>
        </p:nvSpPr>
        <p:spPr>
          <a:xfrm>
            <a:off x="74520" y="304920"/>
            <a:ext cx="8991720" cy="66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spcBef>
                <a:spcPts val="22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 CONSEQUENCE :</a:t>
            </a: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20000"/>
              </a:lnSpc>
              <a:spcBef>
                <a:spcPts val="22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276"/>
              </a:spcBef>
              <a:buClr>
                <a:srgbClr val="ffff00"/>
              </a:buClr>
              <a:buFont typeface="Monotype Sorts" charset="2"/>
              <a:buChar char="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Malgré sa production et son accumulation du lactate, le muscle squelettique qui travaille (même à puissance maximale = à VO</a:t>
            </a:r>
            <a:r>
              <a:rPr b="0" lang="fr-FR" sz="2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 </a:t>
            </a:r>
            <a:r>
              <a:rPr b="1" lang="fr-F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N’EST EN HYPOXIE</a:t>
            </a:r>
            <a:r>
              <a:rPr b="0" lang="fr-F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ni globale-</a:t>
            </a: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2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ment, ni localement, ni transitoirement, ni à l’état stable.</a:t>
            </a: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ts val="0"/>
              </a:lnSpc>
              <a:spcBef>
                <a:spcPts val="22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276"/>
              </a:spcBef>
              <a:buClr>
                <a:srgbClr val="ffff00"/>
              </a:buClr>
              <a:buFont typeface="Monotype Sorts" charset="2"/>
              <a:buChar char="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Il y a toujours plus d’oxygène que la quantité maximale susceptible d’être utilisée par le muscle.</a:t>
            </a: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"/>
              </a:lnSpc>
              <a:spcBef>
                <a:spcPts val="22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buClr>
                <a:srgbClr val="ffff00"/>
              </a:buClr>
              <a:buFont typeface="Monotype Sorts" charset="2"/>
              <a:buChar char="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Ainsi l’hypothèse sous-jacente à la théorie du  « Seuil anaérobie » selon laquelle le muscle produit du lactate car il est en hypoxie </a:t>
            </a:r>
            <a:r>
              <a:rPr b="0" lang="fr-FR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delà d’une certaine puissance « seuil »</a:t>
            </a:r>
            <a:r>
              <a:rPr b="0" lang="fr-FR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n’est pas confirmée.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360" dur="indefinite" restart="never" nodeType="tmRoot">
          <p:childTnLst>
            <p:seq>
              <p:cTn id="1361" dur="indefinite" nodeType="mainSeq">
                <p:childTnLst>
                  <p:par>
                    <p:cTn id="1362" nodeType="clickEffect" fill="hold">
                      <p:stCondLst>
                        <p:cond delay="0"/>
                      </p:stCondLst>
                      <p:childTnLst>
                        <p:par>
                          <p:cTn id="13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4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66" dur="500"/>
                                        <p:tgtEl>
                                          <p:spTgt spid="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7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368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70" dur="500"/>
                                        <p:tgtEl>
                                          <p:spTgt spid="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7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710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372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373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75" dur="500"/>
                                        <p:tgtEl>
                                          <p:spTgt spid="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7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710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377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378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80" dur="500"/>
                                        <p:tgtEl>
                                          <p:spTgt spid="7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8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710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382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83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85" dur="500"/>
                                        <p:tgtEl>
                                          <p:spTgt spid="7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8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710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87" fill="hold">
                      <p:stCondLst>
                        <p:cond delay="indefinite"/>
                      </p:stCondLst>
                      <p:childTnLst>
                        <p:par>
                          <p:cTn id="1388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389" dur="1" fill="hold"/>
                                  <p:tgtEl>
                                    <p:spTgt spid="710">
                                      <p:txEl>
                                        <p:pRg st="7" end="7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0" y="75960"/>
            <a:ext cx="9142560" cy="144756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HYPOTHÈSES...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/>
          </p:nvPr>
        </p:nvSpPr>
        <p:spPr>
          <a:xfrm>
            <a:off x="76320" y="1371240"/>
            <a:ext cx="9066240" cy="30481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L’accumulation du lactate pourrait être due :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2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Font typeface="Monotype Sorts" charset="2"/>
              <a:buChar char="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la différence entre l’activité enzymatique maximale de 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lactate déshydrogénase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(en amont) et celle de 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céto-glutarate déhydrogénase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(en aval) qui sont deux des enzymes limitant le flux métabolique respectivement : de la glycolyse et de l’oxydation mitochondriale.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2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Text Box 6"/>
          <p:cNvSpPr/>
          <p:nvPr/>
        </p:nvSpPr>
        <p:spPr>
          <a:xfrm>
            <a:off x="61920" y="4611600"/>
            <a:ext cx="8553240" cy="10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A la saturation de la navette aspartate - malate qui permet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le transfert membranaire mitochondrial des protons H</a:t>
            </a:r>
            <a:r>
              <a:rPr b="0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3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Text Box 7"/>
          <p:cNvSpPr/>
          <p:nvPr/>
        </p:nvSpPr>
        <p:spPr>
          <a:xfrm>
            <a:off x="2160" y="5791320"/>
            <a:ext cx="865512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 niveau d’activation des protéines permettant le transport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transmembranaire du lactate vers le milieu extracellulaire.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390" dur="indefinite" restart="never" nodeType="tmRoot">
          <p:childTnLst>
            <p:seq>
              <p:cTn id="1391" dur="indefinite" nodeType="mainSeq">
                <p:childTnLst>
                  <p:par>
                    <p:cTn id="1392" nodeType="clickEffect" fill="hold">
                      <p:stCondLst>
                        <p:cond delay="indefinite"/>
                      </p:stCondLst>
                      <p:childTnLst>
                        <p:par>
                          <p:cTn id="13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96" dur="500"/>
                                        <p:tgtEl>
                                          <p:spTgt spid="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nodeType="clickEffect" fill="hold">
                      <p:stCondLst>
                        <p:cond delay="indefinite"/>
                      </p:stCondLst>
                      <p:childTnLst>
                        <p:par>
                          <p:cTn id="13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01" dur="500"/>
                                        <p:tgtEl>
                                          <p:spTgt spid="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4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03" nodeType="clickEffect" fill="hold">
                      <p:stCondLst>
                        <p:cond delay="indefinite"/>
                      </p:stCondLst>
                      <p:childTnLst>
                        <p:par>
                          <p:cTn id="14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07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4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09" nodeType="clickEffect" fill="hold">
                      <p:stCondLst>
                        <p:cond delay="indefinite"/>
                      </p:stCondLst>
                      <p:childTnLst>
                        <p:par>
                          <p:cTn id="14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3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9B95A4-1353-4757-8103-E1FAEF33E28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Text Box 2"/>
          <p:cNvSpPr/>
          <p:nvPr/>
        </p:nvSpPr>
        <p:spPr>
          <a:xfrm>
            <a:off x="3510360" y="179280"/>
            <a:ext cx="132012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Line 3"/>
          <p:cNvSpPr/>
          <p:nvPr/>
        </p:nvSpPr>
        <p:spPr>
          <a:xfrm>
            <a:off x="4191120" y="53352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Text Box 4"/>
          <p:cNvSpPr/>
          <p:nvPr/>
        </p:nvSpPr>
        <p:spPr>
          <a:xfrm>
            <a:off x="4260600" y="533520"/>
            <a:ext cx="2410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Glycogène phosphorylase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Text Box 5"/>
          <p:cNvSpPr/>
          <p:nvPr/>
        </p:nvSpPr>
        <p:spPr>
          <a:xfrm>
            <a:off x="3962520" y="838080"/>
            <a:ext cx="539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Line 6"/>
          <p:cNvSpPr/>
          <p:nvPr/>
        </p:nvSpPr>
        <p:spPr>
          <a:xfrm>
            <a:off x="4191120" y="106668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Arc 7"/>
          <p:cNvSpPr/>
          <p:nvPr/>
        </p:nvSpPr>
        <p:spPr>
          <a:xfrm>
            <a:off x="3886200" y="588960"/>
            <a:ext cx="304920" cy="708120"/>
          </a:xfrm>
          <a:custGeom>
            <a:avLst/>
            <a:gdLst>
              <a:gd name="GluePoint1X" fmla="*/ 2147483647 w 13791"/>
              <a:gd name="GluePoint1Y" fmla="*/ 0 h 20191"/>
              <a:gd name="GluePoint2X" fmla="*/ 2147483647 w 13791"/>
              <a:gd name="GluePoint2Y" fmla="*/ 2147483647 h 20191"/>
              <a:gd name="GluePoint3X" fmla="*/ 0 w 13791"/>
              <a:gd name="GluePoint3Y" fmla="*/ 2147483647 h 20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</a:path>
              <a:path stroke="0" w="13791" h="20191">
                <a:moveTo>
                  <a:pt x="7673" y="0"/>
                </a:moveTo>
                <a:cubicBezTo>
                  <a:pt x="9895" y="844"/>
                  <a:pt x="11961" y="2049"/>
                  <a:pt x="13790" y="3566"/>
                </a:cubicBezTo>
                <a:lnTo>
                  <a:pt x="0" y="20191"/>
                </a:lnTo>
                <a:lnTo>
                  <a:pt x="7673" y="0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Text Box 8"/>
          <p:cNvSpPr/>
          <p:nvPr/>
        </p:nvSpPr>
        <p:spPr>
          <a:xfrm>
            <a:off x="3738600" y="457200"/>
            <a:ext cx="336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Text Box 9"/>
          <p:cNvSpPr/>
          <p:nvPr/>
        </p:nvSpPr>
        <p:spPr>
          <a:xfrm>
            <a:off x="3963240" y="1371600"/>
            <a:ext cx="507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F6P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Line 10"/>
          <p:cNvSpPr/>
          <p:nvPr/>
        </p:nvSpPr>
        <p:spPr>
          <a:xfrm>
            <a:off x="4191120" y="1600200"/>
            <a:ext cx="0" cy="380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Text Box 11"/>
          <p:cNvSpPr/>
          <p:nvPr/>
        </p:nvSpPr>
        <p:spPr>
          <a:xfrm>
            <a:off x="2052360" y="1523880"/>
            <a:ext cx="205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Phosphofructokynase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Line 12"/>
          <p:cNvSpPr/>
          <p:nvPr/>
        </p:nvSpPr>
        <p:spPr>
          <a:xfrm>
            <a:off x="1676520" y="380880"/>
            <a:ext cx="0" cy="59436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Oval 13"/>
          <p:cNvSpPr/>
          <p:nvPr/>
        </p:nvSpPr>
        <p:spPr>
          <a:xfrm>
            <a:off x="1523880" y="838080"/>
            <a:ext cx="30492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Line 14"/>
          <p:cNvSpPr/>
          <p:nvPr/>
        </p:nvSpPr>
        <p:spPr>
          <a:xfrm>
            <a:off x="1371600" y="990720"/>
            <a:ext cx="25146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Text Box 15"/>
          <p:cNvSpPr/>
          <p:nvPr/>
        </p:nvSpPr>
        <p:spPr>
          <a:xfrm>
            <a:off x="141840" y="849240"/>
            <a:ext cx="106236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GLUCOSE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 Box 16"/>
          <p:cNvSpPr/>
          <p:nvPr/>
        </p:nvSpPr>
        <p:spPr>
          <a:xfrm>
            <a:off x="2055600" y="990720"/>
            <a:ext cx="1221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Hexokynase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Text Box 17"/>
          <p:cNvSpPr/>
          <p:nvPr/>
        </p:nvSpPr>
        <p:spPr>
          <a:xfrm>
            <a:off x="3886920" y="190512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FbiP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Line 18"/>
          <p:cNvSpPr/>
          <p:nvPr/>
        </p:nvSpPr>
        <p:spPr>
          <a:xfrm flipH="1">
            <a:off x="3580920" y="2133720"/>
            <a:ext cx="38124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Text Box 19"/>
          <p:cNvSpPr/>
          <p:nvPr/>
        </p:nvSpPr>
        <p:spPr>
          <a:xfrm>
            <a:off x="3048840" y="2362320"/>
            <a:ext cx="66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GA3P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Line 20"/>
          <p:cNvSpPr/>
          <p:nvPr/>
        </p:nvSpPr>
        <p:spPr>
          <a:xfrm>
            <a:off x="4343400" y="2133720"/>
            <a:ext cx="38088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Text Box 21"/>
          <p:cNvSpPr/>
          <p:nvPr/>
        </p:nvSpPr>
        <p:spPr>
          <a:xfrm>
            <a:off x="4496400" y="236232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DHAP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Line 22"/>
          <p:cNvSpPr/>
          <p:nvPr/>
        </p:nvSpPr>
        <p:spPr>
          <a:xfrm flipH="1">
            <a:off x="3733920" y="251460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Line 23"/>
          <p:cNvSpPr/>
          <p:nvPr/>
        </p:nvSpPr>
        <p:spPr>
          <a:xfrm>
            <a:off x="3352680" y="25909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AutoShape 24"/>
          <p:cNvSpPr/>
          <p:nvPr/>
        </p:nvSpPr>
        <p:spPr>
          <a:xfrm rot="20736600">
            <a:off x="3362040" y="2750760"/>
            <a:ext cx="152280" cy="380880"/>
          </a:xfrm>
          <a:custGeom>
            <a:avLst/>
            <a:gdLst>
              <a:gd name="textAreaLeft" fmla="*/ 20160 w 152280"/>
              <a:gd name="textAreaRight" fmla="*/ 132120 w 152280"/>
              <a:gd name="textAreaTop" fmla="*/ 75960 h 380880"/>
              <a:gd name="textAreaBottom" fmla="*/ 230760 h 3808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Text Box 25"/>
          <p:cNvSpPr/>
          <p:nvPr/>
        </p:nvSpPr>
        <p:spPr>
          <a:xfrm>
            <a:off x="3429720" y="25909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Text Box 26"/>
          <p:cNvSpPr/>
          <p:nvPr/>
        </p:nvSpPr>
        <p:spPr>
          <a:xfrm>
            <a:off x="3582000" y="29718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Text Box 27"/>
          <p:cNvSpPr/>
          <p:nvPr/>
        </p:nvSpPr>
        <p:spPr>
          <a:xfrm>
            <a:off x="3109320" y="3211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3PG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Line 28"/>
          <p:cNvSpPr/>
          <p:nvPr/>
        </p:nvSpPr>
        <p:spPr>
          <a:xfrm>
            <a:off x="3352680" y="3505320"/>
            <a:ext cx="0" cy="6858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Text Box 29"/>
          <p:cNvSpPr/>
          <p:nvPr/>
        </p:nvSpPr>
        <p:spPr>
          <a:xfrm>
            <a:off x="2825280" y="4191120"/>
            <a:ext cx="115164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Line 30"/>
          <p:cNvSpPr/>
          <p:nvPr/>
        </p:nvSpPr>
        <p:spPr>
          <a:xfrm flipH="1">
            <a:off x="2286000" y="4495680"/>
            <a:ext cx="533520" cy="144792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Text Box 31"/>
          <p:cNvSpPr/>
          <p:nvPr/>
        </p:nvSpPr>
        <p:spPr>
          <a:xfrm>
            <a:off x="1985760" y="5943600"/>
            <a:ext cx="10126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Line 32"/>
          <p:cNvSpPr/>
          <p:nvPr/>
        </p:nvSpPr>
        <p:spPr>
          <a:xfrm>
            <a:off x="3962520" y="4495680"/>
            <a:ext cx="685800" cy="15242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Text Box 33"/>
          <p:cNvSpPr/>
          <p:nvPr/>
        </p:nvSpPr>
        <p:spPr>
          <a:xfrm>
            <a:off x="2894760" y="4495680"/>
            <a:ext cx="1052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AutoShape 34"/>
          <p:cNvSpPr/>
          <p:nvPr/>
        </p:nvSpPr>
        <p:spPr>
          <a:xfrm>
            <a:off x="3962520" y="4800600"/>
            <a:ext cx="228600" cy="762120"/>
          </a:xfrm>
          <a:custGeom>
            <a:avLst/>
            <a:gdLst>
              <a:gd name="textAreaLeft" fmla="*/ 30600 w 228600"/>
              <a:gd name="textAreaRight" fmla="*/ 198000 w 2286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Text Box 35"/>
          <p:cNvSpPr/>
          <p:nvPr/>
        </p:nvSpPr>
        <p:spPr>
          <a:xfrm>
            <a:off x="3123720" y="5486400"/>
            <a:ext cx="824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Alanine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Text Box 36"/>
          <p:cNvSpPr/>
          <p:nvPr/>
        </p:nvSpPr>
        <p:spPr>
          <a:xfrm>
            <a:off x="2741760" y="4876920"/>
            <a:ext cx="1428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Alanine Amino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Transférase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Line 37"/>
          <p:cNvSpPr/>
          <p:nvPr/>
        </p:nvSpPr>
        <p:spPr>
          <a:xfrm>
            <a:off x="4038480" y="4343400"/>
            <a:ext cx="29718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Oval 38"/>
          <p:cNvSpPr/>
          <p:nvPr/>
        </p:nvSpPr>
        <p:spPr>
          <a:xfrm>
            <a:off x="5257800" y="41911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Text Box 39"/>
          <p:cNvSpPr/>
          <p:nvPr/>
        </p:nvSpPr>
        <p:spPr>
          <a:xfrm>
            <a:off x="4644720" y="5943600"/>
            <a:ext cx="156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2-oxologlutarate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Oval 40"/>
          <p:cNvSpPr/>
          <p:nvPr/>
        </p:nvSpPr>
        <p:spPr>
          <a:xfrm>
            <a:off x="6477120" y="5562720"/>
            <a:ext cx="30456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Text Box 41"/>
          <p:cNvSpPr/>
          <p:nvPr/>
        </p:nvSpPr>
        <p:spPr>
          <a:xfrm>
            <a:off x="5715720" y="380988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Text Box 42"/>
          <p:cNvSpPr/>
          <p:nvPr/>
        </p:nvSpPr>
        <p:spPr>
          <a:xfrm>
            <a:off x="5715720" y="472428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Oval 43"/>
          <p:cNvSpPr/>
          <p:nvPr/>
        </p:nvSpPr>
        <p:spPr>
          <a:xfrm>
            <a:off x="6324480" y="2666880"/>
            <a:ext cx="457200" cy="30492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AutoShape 44"/>
          <p:cNvSpPr/>
          <p:nvPr/>
        </p:nvSpPr>
        <p:spPr>
          <a:xfrm rot="16107600">
            <a:off x="6553080" y="2361600"/>
            <a:ext cx="266760" cy="571680"/>
          </a:xfrm>
          <a:custGeom>
            <a:avLst/>
            <a:gdLst>
              <a:gd name="textAreaLeft" fmla="*/ 35640 w 266760"/>
              <a:gd name="textAreaRight" fmla="*/ 231120 w 266760"/>
              <a:gd name="textAreaTop" fmla="*/ 114120 h 571680"/>
              <a:gd name="textAreaBottom" fmla="*/ 346320 h 5716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8640" stAng="-5400000" swAng="-5400000"/>
                <a:lnTo>
                  <a:pt x="0" y="8768"/>
                </a:lnTo>
                <a:arcTo wR="21600" hR="8640" stAng="10800000" swAng="-2911624"/>
                <a:lnTo>
                  <a:pt x="14400" y="21106"/>
                </a:lnTo>
                <a:lnTo>
                  <a:pt x="21600" y="17344"/>
                </a:lnTo>
                <a:lnTo>
                  <a:pt x="14400" y="12594"/>
                </a:lnTo>
                <a:lnTo>
                  <a:pt x="14400" y="16786"/>
                </a:lnTo>
                <a:arcTo wR="21600" hR="8640" stAng="7888376" swAng="2901438"/>
                <a:lnTo>
                  <a:pt x="1" y="8704"/>
                </a:lnTo>
                <a:arcTo wR="21600" hR="8640" stAng="-10789814" swAng="5389814"/>
                <a:close/>
              </a:path>
              <a:path fill="darkenLess" w="21600" h="21600">
                <a:moveTo>
                  <a:pt x="21600" y="0"/>
                </a:moveTo>
                <a:arcTo wR="21600" hR="8640" stAng="-5400000" swAng="-5400000"/>
                <a:lnTo>
                  <a:pt x="0" y="8640"/>
                </a:lnTo>
                <a:arcTo wR="21600" hR="8640" stAng="10800000" swAng="-10186"/>
                <a:lnTo>
                  <a:pt x="1" y="8704"/>
                </a:lnTo>
                <a:arcTo wR="21600" hR="8640" stAng="-10789814" swAng="5389814"/>
                <a:close/>
              </a:path>
            </a:pathLst>
          </a:custGeom>
          <a:solidFill>
            <a:srgbClr val="ffffff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Text Box 45"/>
          <p:cNvSpPr/>
          <p:nvPr/>
        </p:nvSpPr>
        <p:spPr>
          <a:xfrm>
            <a:off x="5868000" y="2286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Text Box 46"/>
          <p:cNvSpPr/>
          <p:nvPr/>
        </p:nvSpPr>
        <p:spPr>
          <a:xfrm>
            <a:off x="6705720" y="2286000"/>
            <a:ext cx="5331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AutoShape 47"/>
          <p:cNvSpPr/>
          <p:nvPr/>
        </p:nvSpPr>
        <p:spPr>
          <a:xfrm rot="288000">
            <a:off x="6324120" y="2895480"/>
            <a:ext cx="609840" cy="304920"/>
          </a:xfrm>
          <a:custGeom>
            <a:avLst/>
            <a:gdLst>
              <a:gd name="textAreaLeft" fmla="*/ 122040 w 609840"/>
              <a:gd name="textAreaRight" fmla="*/ 369720 w 609840"/>
              <a:gd name="textAreaTop" fmla="*/ 40680 h 304920"/>
              <a:gd name="textAreaBottom" fmla="*/ 264240 h 30492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8640" hR="21600" stAng="10800000" swAng="5400000"/>
                <a:lnTo>
                  <a:pt x="8768" y="0"/>
                </a:lnTo>
                <a:arcTo wR="8640" hR="21600" stAng="-5400000" swAng="2978155"/>
                <a:lnTo>
                  <a:pt x="21140" y="14647"/>
                </a:lnTo>
                <a:lnTo>
                  <a:pt x="17344" y="21600"/>
                </a:lnTo>
                <a:lnTo>
                  <a:pt x="12628" y="14647"/>
                </a:lnTo>
                <a:lnTo>
                  <a:pt x="16820" y="14647"/>
                </a:lnTo>
                <a:arcTo wR="8640" hR="21600" stAng="-2421845" swAng="-2967969"/>
                <a:lnTo>
                  <a:pt x="8704" y="1"/>
                </a:lnTo>
                <a:arcTo wR="8640" hR="21600" stAng="-5410186" swAng="-5389814"/>
                <a:close/>
              </a:path>
              <a:path fill="darkenLess" w="21600" h="21600">
                <a:moveTo>
                  <a:pt x="0" y="21600"/>
                </a:moveTo>
                <a:arcTo wR="8640" hR="21600" stAng="10800000" swAng="5400000"/>
                <a:lnTo>
                  <a:pt x="8640" y="0"/>
                </a:lnTo>
                <a:arcTo wR="8640" hR="21600" stAng="-5400000" swAng="10186"/>
                <a:lnTo>
                  <a:pt x="8704" y="1"/>
                </a:lnTo>
                <a:arcTo wR="8640" hR="21600" stAng="-5410186" swAng="-5389814"/>
                <a:close/>
              </a:path>
            </a:pathLst>
          </a:custGeom>
          <a:solidFill>
            <a:srgbClr val="ffff00"/>
          </a:solidFill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Text Box 48"/>
          <p:cNvSpPr/>
          <p:nvPr/>
        </p:nvSpPr>
        <p:spPr>
          <a:xfrm>
            <a:off x="5944320" y="320040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Text Box 49"/>
          <p:cNvSpPr/>
          <p:nvPr/>
        </p:nvSpPr>
        <p:spPr>
          <a:xfrm>
            <a:off x="6630120" y="32004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AutoShape 50"/>
          <p:cNvSpPr/>
          <p:nvPr/>
        </p:nvSpPr>
        <p:spPr>
          <a:xfrm>
            <a:off x="5334120" y="2743200"/>
            <a:ext cx="2743200" cy="3048120"/>
          </a:xfrm>
          <a:custGeom>
            <a:avLst/>
            <a:gdLst>
              <a:gd name="textAreaLeft" fmla="*/ 133920 w 2743200"/>
              <a:gd name="textAreaRight" fmla="*/ 2609280 w 2743200"/>
              <a:gd name="textAreaTop" fmla="*/ 133920 h 3048120"/>
              <a:gd name="textAreaBottom" fmla="*/ 2914200 h 3048120"/>
            </a:gdLst>
            <a:ahLst/>
            <a:cxnLst/>
            <a:rect l="textAreaLeft" t="textAreaTop" r="textAreaRight" b="textAreaBottom"/>
            <a:pathLst>
              <a:path w="21600" h="24001">
                <a:moveTo>
                  <a:pt x="3600" y="0"/>
                </a:moveTo>
                <a:arcTo wR="3600" hR="3600" stAng="16200000" swAng="-5400000"/>
                <a:lnTo>
                  <a:pt x="0" y="20401"/>
                </a:lnTo>
                <a:arcTo wR="3600" hR="3600" stAng="10800000" swAng="-5400000"/>
                <a:lnTo>
                  <a:pt x="18000" y="240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AutoShape 51"/>
          <p:cNvSpPr/>
          <p:nvPr/>
        </p:nvSpPr>
        <p:spPr>
          <a:xfrm>
            <a:off x="5486400" y="2895480"/>
            <a:ext cx="2438280" cy="2743200"/>
          </a:xfrm>
          <a:custGeom>
            <a:avLst/>
            <a:gdLst>
              <a:gd name="textAreaLeft" fmla="*/ 118800 w 2438280"/>
              <a:gd name="textAreaRight" fmla="*/ 2319480 w 2438280"/>
              <a:gd name="textAreaTop" fmla="*/ 118800 h 2743200"/>
              <a:gd name="textAreaBottom" fmla="*/ 2624400 h 2743200"/>
            </a:gdLst>
            <a:ahLst/>
            <a:cxnLst/>
            <a:rect l="textAreaLeft" t="textAreaTop" r="textAreaRight" b="textAreaBottom"/>
            <a:pathLst>
              <a:path w="21600" h="24301">
                <a:moveTo>
                  <a:pt x="3600" y="0"/>
                </a:moveTo>
                <a:arcTo wR="3600" hR="3600" stAng="16200000" swAng="-5400000"/>
                <a:lnTo>
                  <a:pt x="0" y="20701"/>
                </a:lnTo>
                <a:arcTo wR="3600" hR="3600" stAng="10800000" swAng="-5400000"/>
                <a:lnTo>
                  <a:pt x="18000" y="2430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Line 52"/>
          <p:cNvSpPr/>
          <p:nvPr/>
        </p:nvSpPr>
        <p:spPr>
          <a:xfrm flipV="1">
            <a:off x="6172200" y="5791320"/>
            <a:ext cx="4572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Line 53"/>
          <p:cNvSpPr/>
          <p:nvPr/>
        </p:nvSpPr>
        <p:spPr>
          <a:xfrm flipV="1">
            <a:off x="6629400" y="533412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Text Box 54"/>
          <p:cNvSpPr/>
          <p:nvPr/>
        </p:nvSpPr>
        <p:spPr>
          <a:xfrm>
            <a:off x="5483160" y="4038480"/>
            <a:ext cx="1597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déshydrogénase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Freeform 55"/>
          <p:cNvSpPr/>
          <p:nvPr/>
        </p:nvSpPr>
        <p:spPr>
          <a:xfrm>
            <a:off x="5473800" y="3962520"/>
            <a:ext cx="317520" cy="761760"/>
          </a:xfrm>
          <a:custGeom>
            <a:avLst/>
            <a:gdLst>
              <a:gd name="GluePoint1X" fmla="*/ 2147483647 w 200"/>
              <a:gd name="GluePoint1Y" fmla="*/ 2147483647 h 480"/>
              <a:gd name="GluePoint2X" fmla="*/ 2147483647 w 200"/>
              <a:gd name="GluePoint2Y" fmla="*/ 2147483647 h 480"/>
              <a:gd name="GluePoint3X" fmla="*/ 2147483647 w 200"/>
              <a:gd name="GluePoint3Y" fmla="*/ 2147483647 h 480"/>
              <a:gd name="GluePoint4X" fmla="*/ 2147483647 w 200"/>
              <a:gd name="GluePoint4Y" fmla="*/ 2147483647 h 480"/>
              <a:gd name="GluePoint5X" fmla="*/ 2147483647 w 200"/>
              <a:gd name="GluePoint5Y" fmla="*/ 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00" h="480">
                <a:moveTo>
                  <a:pt x="200" y="480"/>
                </a:moveTo>
                <a:cubicBezTo>
                  <a:pt x="168" y="476"/>
                  <a:pt x="136" y="472"/>
                  <a:pt x="104" y="432"/>
                </a:cubicBezTo>
                <a:cubicBezTo>
                  <a:pt x="72" y="392"/>
                  <a:pt x="16" y="304"/>
                  <a:pt x="8" y="240"/>
                </a:cubicBezTo>
                <a:cubicBezTo>
                  <a:pt x="0" y="176"/>
                  <a:pt x="32" y="88"/>
                  <a:pt x="56" y="48"/>
                </a:cubicBezTo>
                <a:cubicBezTo>
                  <a:pt x="80" y="8"/>
                  <a:pt x="136" y="8"/>
                  <a:pt x="152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Text Box 56"/>
          <p:cNvSpPr/>
          <p:nvPr/>
        </p:nvSpPr>
        <p:spPr>
          <a:xfrm>
            <a:off x="6994800" y="4202280"/>
            <a:ext cx="735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A-CoA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Oval 57"/>
          <p:cNvSpPr/>
          <p:nvPr/>
        </p:nvSpPr>
        <p:spPr>
          <a:xfrm>
            <a:off x="1523880" y="5867280"/>
            <a:ext cx="304920" cy="38124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Line 58"/>
          <p:cNvSpPr/>
          <p:nvPr/>
        </p:nvSpPr>
        <p:spPr>
          <a:xfrm flipH="1">
            <a:off x="1066680" y="6095880"/>
            <a:ext cx="99072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Text Box 59"/>
          <p:cNvSpPr/>
          <p:nvPr/>
        </p:nvSpPr>
        <p:spPr>
          <a:xfrm>
            <a:off x="5742720" y="1773360"/>
            <a:ext cx="17859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Saturation navette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aspartate-malate ?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Line 60"/>
          <p:cNvSpPr/>
          <p:nvPr/>
        </p:nvSpPr>
        <p:spPr>
          <a:xfrm>
            <a:off x="2286000" y="6248520"/>
            <a:ext cx="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Line 61"/>
          <p:cNvSpPr/>
          <p:nvPr/>
        </p:nvSpPr>
        <p:spPr>
          <a:xfrm>
            <a:off x="2286000" y="6553080"/>
            <a:ext cx="48769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Line 62"/>
          <p:cNvSpPr/>
          <p:nvPr/>
        </p:nvSpPr>
        <p:spPr>
          <a:xfrm flipV="1">
            <a:off x="7162920" y="5334120"/>
            <a:ext cx="0" cy="121896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Oval 63"/>
          <p:cNvSpPr/>
          <p:nvPr/>
        </p:nvSpPr>
        <p:spPr>
          <a:xfrm>
            <a:off x="7010280" y="5562720"/>
            <a:ext cx="304920" cy="304560"/>
          </a:xfrm>
          <a:prstGeom prst="ellipse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AutoShape 64"/>
          <p:cNvSpPr/>
          <p:nvPr/>
        </p:nvSpPr>
        <p:spPr>
          <a:xfrm>
            <a:off x="2133720" y="4724280"/>
            <a:ext cx="457200" cy="762120"/>
          </a:xfrm>
          <a:custGeom>
            <a:avLst/>
            <a:gdLst>
              <a:gd name="textAreaLeft" fmla="*/ 61200 w 457200"/>
              <a:gd name="textAreaRight" fmla="*/ 396000 w 457200"/>
              <a:gd name="textAreaTop" fmla="*/ 165600 h 762120"/>
              <a:gd name="textAreaBottom" fmla="*/ 506160 h 7621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3053638"/>
                <a:lnTo>
                  <a:pt x="7200" y="21063"/>
                </a:lnTo>
                <a:lnTo>
                  <a:pt x="0" y="18918"/>
                </a:lnTo>
                <a:lnTo>
                  <a:pt x="7200" y="15698"/>
                </a:lnTo>
                <a:lnTo>
                  <a:pt x="7200" y="18253"/>
                </a:lnTo>
                <a:arcTo wR="21600" hR="9395" stAng="3053638" swAng="-3033344"/>
                <a:lnTo>
                  <a:pt x="21598" y="9523"/>
                </a:lnTo>
                <a:arcTo wR="21600" hR="9395" stAng="-20294" swAng="-5379706"/>
                <a:close/>
              </a:path>
              <a:path fill="darkenLess" w="21600" h="21600">
                <a:moveTo>
                  <a:pt x="0" y="0"/>
                </a:moveTo>
                <a:arcTo wR="21600" hR="9395" stAng="-5400000" swAng="5400000"/>
                <a:lnTo>
                  <a:pt x="21600" y="9650"/>
                </a:lnTo>
                <a:arcTo wR="21600" hR="9395" stAng="0" swAng="-20294"/>
                <a:lnTo>
                  <a:pt x="21598" y="9523"/>
                </a:lnTo>
                <a:arcTo wR="21600" hR="9395" stAng="-20294" swAng="-5379706"/>
                <a:close/>
              </a:path>
            </a:pathLst>
          </a:custGeom>
          <a:solidFill>
            <a:srgbClr val="ffffff"/>
          </a:solidFill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Text Box 65"/>
          <p:cNvSpPr/>
          <p:nvPr/>
        </p:nvSpPr>
        <p:spPr>
          <a:xfrm>
            <a:off x="1063440" y="4724280"/>
            <a:ext cx="1597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Lactico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déshydrogénase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Text Box 66"/>
          <p:cNvSpPr/>
          <p:nvPr/>
        </p:nvSpPr>
        <p:spPr>
          <a:xfrm>
            <a:off x="1600920" y="4572000"/>
            <a:ext cx="621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Text Box 67"/>
          <p:cNvSpPr/>
          <p:nvPr/>
        </p:nvSpPr>
        <p:spPr>
          <a:xfrm>
            <a:off x="1677240" y="5334120"/>
            <a:ext cx="510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Oval 69"/>
          <p:cNvSpPr/>
          <p:nvPr/>
        </p:nvSpPr>
        <p:spPr>
          <a:xfrm>
            <a:off x="5257800" y="1371600"/>
            <a:ext cx="3200400" cy="2362320"/>
          </a:xfrm>
          <a:prstGeom prst="ellipse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Text Box 70"/>
          <p:cNvSpPr/>
          <p:nvPr/>
        </p:nvSpPr>
        <p:spPr>
          <a:xfrm>
            <a:off x="1746720" y="447840"/>
            <a:ext cx="75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 4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Line 71"/>
          <p:cNvSpPr/>
          <p:nvPr/>
        </p:nvSpPr>
        <p:spPr>
          <a:xfrm flipH="1">
            <a:off x="1763280" y="692280"/>
            <a:ext cx="144360" cy="21564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Text Box 72"/>
          <p:cNvSpPr/>
          <p:nvPr/>
        </p:nvSpPr>
        <p:spPr>
          <a:xfrm>
            <a:off x="879840" y="5516640"/>
            <a:ext cx="66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MCT4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Line 73"/>
          <p:cNvSpPr/>
          <p:nvPr/>
        </p:nvSpPr>
        <p:spPr>
          <a:xfrm>
            <a:off x="1403280" y="5805360"/>
            <a:ext cx="144360" cy="14472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5" dur="indefinite" restart="never" nodeType="tmRoot">
          <p:childTnLst>
            <p:seq>
              <p:cTn id="1416" dur="indefinite" nodeType="mainSeq">
                <p:childTnLst>
                  <p:par>
                    <p:cTn id="1417" nodeType="clickEffect" fill="hold">
                      <p:stCondLst>
                        <p:cond delay="indefinite"/>
                      </p:stCondLst>
                      <p:childTnLst>
                        <p:par>
                          <p:cTn id="14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9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21" dur="5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2" dur="5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3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42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26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7" dur="1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28"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09F7C3-4C23-43E4-8DA8-F06CBCC64DC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Text Box 2"/>
          <p:cNvSpPr/>
          <p:nvPr/>
        </p:nvSpPr>
        <p:spPr>
          <a:xfrm>
            <a:off x="990720" y="152280"/>
            <a:ext cx="8153280" cy="703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Vitesses d’activités enzymatiques maximales (V.A.E.max) au sein du quadriceps humain (micromoles.min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g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à 25°)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Text Box 3"/>
          <p:cNvSpPr/>
          <p:nvPr/>
        </p:nvSpPr>
        <p:spPr>
          <a:xfrm>
            <a:off x="1138320" y="1295280"/>
            <a:ext cx="4778640" cy="31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Glycolyse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Phosphofructokinase *…………….…..57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déshydrogénase…………… 121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Oxydation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Céto-glutarate déshydrogénase*….…1.2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Text Box 4"/>
          <p:cNvSpPr/>
          <p:nvPr/>
        </p:nvSpPr>
        <p:spPr>
          <a:xfrm>
            <a:off x="1220040" y="4876920"/>
            <a:ext cx="403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* Enzymes limitant le flux métabolique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Text Box 5"/>
          <p:cNvSpPr/>
          <p:nvPr/>
        </p:nvSpPr>
        <p:spPr>
          <a:xfrm>
            <a:off x="1596960" y="6248520"/>
            <a:ext cx="585324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Jorfeld et al. (1978) et Poortmans (1988),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Oval 6"/>
          <p:cNvSpPr/>
          <p:nvPr/>
        </p:nvSpPr>
        <p:spPr>
          <a:xfrm>
            <a:off x="5105520" y="2362320"/>
            <a:ext cx="1218960" cy="228600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Text Box 7"/>
          <p:cNvSpPr/>
          <p:nvPr/>
        </p:nvSpPr>
        <p:spPr>
          <a:xfrm>
            <a:off x="6401880" y="3352680"/>
            <a:ext cx="21247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V.A.E.max 100 fois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supérieure !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29" dur="indefinite" restart="never" nodeType="tmRoot">
          <p:childTnLst>
            <p:seq>
              <p:cTn id="1430" dur="indefinite" nodeType="mainSeq">
                <p:childTnLst>
                  <p:par>
                    <p:cTn id="1431" nodeType="clickEffect" fill="hold">
                      <p:stCondLst>
                        <p:cond delay="0"/>
                      </p:stCondLst>
                      <p:childTnLst>
                        <p:par>
                          <p:cTn id="14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35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6" nodeType="clickEffect" fill="hold">
                      <p:stCondLst>
                        <p:cond delay="indefinite"/>
                      </p:stCondLst>
                      <p:childTnLst>
                        <p:par>
                          <p:cTn id="14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40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4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44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44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48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9" nodeType="clickEffect" fill="hold">
                      <p:stCondLst>
                        <p:cond delay="indefinite"/>
                      </p:stCondLst>
                      <p:childTnLst>
                        <p:par>
                          <p:cTn id="14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53" dur="5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4" dur="5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5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45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58" dur="75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BE4DC1-044F-44E2-9B3B-5C2A095C8DE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Text Box 2"/>
          <p:cNvSpPr/>
          <p:nvPr/>
        </p:nvSpPr>
        <p:spPr>
          <a:xfrm>
            <a:off x="533520" y="5257800"/>
            <a:ext cx="838188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Chez l’athlète entraîné, la même quantité d’O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autorise une oxydation plus importante de lactate grâce à une concentration plus élevée de la CGDH expliquant le déplacement vers la droite de la courbe lactate-intensité et par conséquent du ou des « seuils ».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Text Box 3"/>
          <p:cNvSpPr/>
          <p:nvPr/>
        </p:nvSpPr>
        <p:spPr>
          <a:xfrm>
            <a:off x="433440" y="163440"/>
            <a:ext cx="84567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plan biochimique, dans certains cas, les effets de l’entraînement se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traduisent essentiellement par l’augmentation de la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quantité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d’une ou de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plusieurs enzymes en présence.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Text Box 4"/>
          <p:cNvSpPr/>
          <p:nvPr/>
        </p:nvSpPr>
        <p:spPr>
          <a:xfrm>
            <a:off x="450360" y="1447920"/>
            <a:ext cx="81396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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or nous savons que, plus la concentration d’une enzyme est élevée,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plus grande est la quantité de substrat susceptible d’être dégradée.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Text Box 5"/>
          <p:cNvSpPr/>
          <p:nvPr/>
        </p:nvSpPr>
        <p:spPr>
          <a:xfrm>
            <a:off x="521640" y="2362320"/>
            <a:ext cx="86266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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c’est précisément ce qui se passe chez l’athlète entraîné en endurance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dont l’entraînement augmente le nombre, la taille des mitochondries et par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conséquent la concentration en enzymes oxydatives.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Text Box 6"/>
          <p:cNvSpPr/>
          <p:nvPr/>
        </p:nvSpPr>
        <p:spPr>
          <a:xfrm>
            <a:off x="523440" y="3654360"/>
            <a:ext cx="864864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c’est le cas de l’enzyme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cétoglutarate déshydrogénase (CGDH)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dont le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niveau faible de l’activité maximale limitait,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avant entraînement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le flux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substrat du cycle de Krebs expliquant en partie l’accumulation précoce du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en amont.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1459" dur="indefinite" restart="never" nodeType="tmRoot">
          <p:childTnLst>
            <p:seq>
              <p:cTn id="1460" dur="indefinite" nodeType="mainSeq">
                <p:childTnLst>
                  <p:par>
                    <p:cTn id="1461" nodeType="clickEffect" fill="hold">
                      <p:stCondLst>
                        <p:cond delay="0"/>
                      </p:stCondLst>
                      <p:childTnLst>
                        <p:par>
                          <p:cTn id="14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65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6" nodeType="clickEffect" fill="hold">
                      <p:stCondLst>
                        <p:cond delay="indefinite"/>
                      </p:stCondLst>
                      <p:childTnLst>
                        <p:par>
                          <p:cTn id="14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70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72" nodeType="clickEffect" fill="hold">
                      <p:stCondLst>
                        <p:cond delay="indefinite"/>
                      </p:stCondLst>
                      <p:childTnLst>
                        <p:par>
                          <p:cTn id="14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76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78" nodeType="clickEffect" fill="hold">
                      <p:stCondLst>
                        <p:cond delay="indefinite"/>
                      </p:stCondLst>
                      <p:childTnLst>
                        <p:par>
                          <p:cTn id="14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82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84" nodeType="clickEffect" fill="hold">
                      <p:stCondLst>
                        <p:cond delay="indefinite"/>
                      </p:stCondLst>
                      <p:childTnLst>
                        <p:par>
                          <p:cTn id="14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88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88CE48-6718-4D1D-B544-42B1F0A7456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Line 2"/>
          <p:cNvSpPr/>
          <p:nvPr/>
        </p:nvSpPr>
        <p:spPr>
          <a:xfrm>
            <a:off x="1066680" y="914400"/>
            <a:ext cx="0" cy="48769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Arc 4"/>
          <p:cNvSpPr/>
          <p:nvPr/>
        </p:nvSpPr>
        <p:spPr>
          <a:xfrm rot="5548800">
            <a:off x="2241360" y="1344600"/>
            <a:ext cx="3563640" cy="4211640"/>
          </a:xfrm>
          <a:custGeom>
            <a:avLst/>
            <a:gdLst>
              <a:gd name="GluePoint1X" fmla="*/ 0 w 21600"/>
              <a:gd name="GluePoint1Y" fmla="*/ 0 h 24520"/>
              <a:gd name="GluePoint2X" fmla="*/ 2147483647 w 21600"/>
              <a:gd name="GluePoint2Y" fmla="*/ 2147483647 h 24520"/>
              <a:gd name="GluePoint3X" fmla="*/ 0 w 21600"/>
              <a:gd name="GluePoint3Y" fmla="*/ 2147483647 h 245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</a:path>
              <a:path stroke="0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Arc 5"/>
          <p:cNvSpPr/>
          <p:nvPr/>
        </p:nvSpPr>
        <p:spPr>
          <a:xfrm rot="5548800">
            <a:off x="2481840" y="641880"/>
            <a:ext cx="4179960" cy="5029200"/>
          </a:xfrm>
          <a:custGeom>
            <a:avLst/>
            <a:gdLst>
              <a:gd name="GluePoint1X" fmla="*/ 2147483647 w 21600"/>
              <a:gd name="GluePoint1Y" fmla="*/ 0 h 23698"/>
              <a:gd name="GluePoint2X" fmla="*/ 2147483647 w 21600"/>
              <a:gd name="GluePoint2Y" fmla="*/ 2147483647 h 23698"/>
              <a:gd name="GluePoint3X" fmla="*/ 0 w 21600"/>
              <a:gd name="GluePoint3Y" fmla="*/ 2147483647 h 236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</a:path>
              <a:path stroke="0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  <a:lnTo>
                  <a:pt x="0" y="21597"/>
                </a:lnTo>
                <a:lnTo>
                  <a:pt x="333" y="-1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Line 6"/>
          <p:cNvSpPr/>
          <p:nvPr/>
        </p:nvSpPr>
        <p:spPr>
          <a:xfrm>
            <a:off x="4800600" y="441972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Line 7"/>
          <p:cNvSpPr/>
          <p:nvPr/>
        </p:nvSpPr>
        <p:spPr>
          <a:xfrm>
            <a:off x="5181480" y="441972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Line 8"/>
          <p:cNvSpPr/>
          <p:nvPr/>
        </p:nvSpPr>
        <p:spPr>
          <a:xfrm flipH="1">
            <a:off x="1066680" y="4419720"/>
            <a:ext cx="419112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AutoShape 9"/>
          <p:cNvSpPr/>
          <p:nvPr/>
        </p:nvSpPr>
        <p:spPr>
          <a:xfrm>
            <a:off x="5638680" y="3505320"/>
            <a:ext cx="457200" cy="15228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280"/>
              <a:gd name="textAreaBottom" fmla="*/ 114480 h 1522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Text Box 10"/>
          <p:cNvSpPr/>
          <p:nvPr/>
        </p:nvSpPr>
        <p:spPr>
          <a:xfrm>
            <a:off x="1357200" y="65088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Text Box 11"/>
          <p:cNvSpPr/>
          <p:nvPr/>
        </p:nvSpPr>
        <p:spPr>
          <a:xfrm>
            <a:off x="1482480" y="1036800"/>
            <a:ext cx="760680" cy="1008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[LAs]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Text Box 12"/>
          <p:cNvSpPr/>
          <p:nvPr/>
        </p:nvSpPr>
        <p:spPr>
          <a:xfrm>
            <a:off x="5799240" y="5943600"/>
            <a:ext cx="2879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Puissance, vitesse,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AutoShape 13"/>
          <p:cNvSpPr/>
          <p:nvPr/>
        </p:nvSpPr>
        <p:spPr>
          <a:xfrm>
            <a:off x="4800600" y="5943600"/>
            <a:ext cx="457200" cy="15228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280"/>
              <a:gd name="textAreaBottom" fmla="*/ 114480 h 1522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Text Box 14"/>
          <p:cNvSpPr/>
          <p:nvPr/>
        </p:nvSpPr>
        <p:spPr>
          <a:xfrm>
            <a:off x="4711680" y="6208560"/>
            <a:ext cx="61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Text Box 15"/>
          <p:cNvSpPr/>
          <p:nvPr/>
        </p:nvSpPr>
        <p:spPr>
          <a:xfrm>
            <a:off x="3504600" y="808200"/>
            <a:ext cx="1609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 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Line 16"/>
          <p:cNvSpPr/>
          <p:nvPr/>
        </p:nvSpPr>
        <p:spPr>
          <a:xfrm>
            <a:off x="2971800" y="106668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Line 17"/>
          <p:cNvSpPr/>
          <p:nvPr/>
        </p:nvSpPr>
        <p:spPr>
          <a:xfrm>
            <a:off x="2971800" y="160020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Text Box 18"/>
          <p:cNvSpPr/>
          <p:nvPr/>
        </p:nvSpPr>
        <p:spPr>
          <a:xfrm>
            <a:off x="3506040" y="1341360"/>
            <a:ext cx="111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6FB3A9-ED7B-4DB6-8471-26B621E5A0D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Text Box 4"/>
          <p:cNvSpPr/>
          <p:nvPr/>
        </p:nvSpPr>
        <p:spPr>
          <a:xfrm>
            <a:off x="1985400" y="2465280"/>
            <a:ext cx="539352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« SEUILS » VENTILATOIRES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« SEUILS » LACTIQUES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76AF59-7592-4D8A-B4D5-9A41962862C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Line 2"/>
          <p:cNvSpPr/>
          <p:nvPr/>
        </p:nvSpPr>
        <p:spPr>
          <a:xfrm>
            <a:off x="1066680" y="762120"/>
            <a:ext cx="0" cy="4572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Line 3"/>
          <p:cNvSpPr/>
          <p:nvPr/>
        </p:nvSpPr>
        <p:spPr>
          <a:xfrm>
            <a:off x="1219320" y="5410080"/>
            <a:ext cx="67816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Text Box 4"/>
          <p:cNvSpPr/>
          <p:nvPr/>
        </p:nvSpPr>
        <p:spPr>
          <a:xfrm>
            <a:off x="1220400" y="5334120"/>
            <a:ext cx="6278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                   I                              I                              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Text Box 5"/>
          <p:cNvSpPr/>
          <p:nvPr/>
        </p:nvSpPr>
        <p:spPr>
          <a:xfrm>
            <a:off x="2362320" y="5715000"/>
            <a:ext cx="3733560" cy="405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vitesse, Puissance, VO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FC,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Line 6"/>
          <p:cNvSpPr/>
          <p:nvPr/>
        </p:nvSpPr>
        <p:spPr>
          <a:xfrm>
            <a:off x="4191120" y="3048120"/>
            <a:ext cx="0" cy="22860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Line 7"/>
          <p:cNvSpPr/>
          <p:nvPr/>
        </p:nvSpPr>
        <p:spPr>
          <a:xfrm>
            <a:off x="6019920" y="2362320"/>
            <a:ext cx="0" cy="29718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Text Box 8"/>
          <p:cNvSpPr/>
          <p:nvPr/>
        </p:nvSpPr>
        <p:spPr>
          <a:xfrm>
            <a:off x="6478560" y="2819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Text Box 9"/>
          <p:cNvSpPr/>
          <p:nvPr/>
        </p:nvSpPr>
        <p:spPr>
          <a:xfrm>
            <a:off x="5868720" y="37339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Text Box 10"/>
          <p:cNvSpPr/>
          <p:nvPr/>
        </p:nvSpPr>
        <p:spPr>
          <a:xfrm>
            <a:off x="503064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Text Box 11"/>
          <p:cNvSpPr/>
          <p:nvPr/>
        </p:nvSpPr>
        <p:spPr>
          <a:xfrm>
            <a:off x="4039920" y="4572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Text Box 12"/>
          <p:cNvSpPr/>
          <p:nvPr/>
        </p:nvSpPr>
        <p:spPr>
          <a:xfrm>
            <a:off x="3430440" y="4648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Text Box 13"/>
          <p:cNvSpPr/>
          <p:nvPr/>
        </p:nvSpPr>
        <p:spPr>
          <a:xfrm>
            <a:off x="2516040" y="47242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Text Box 14"/>
          <p:cNvSpPr/>
          <p:nvPr/>
        </p:nvSpPr>
        <p:spPr>
          <a:xfrm>
            <a:off x="1525320" y="48006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Text Box 15"/>
          <p:cNvSpPr/>
          <p:nvPr/>
        </p:nvSpPr>
        <p:spPr>
          <a:xfrm>
            <a:off x="6858000" y="182880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Text Box 16"/>
          <p:cNvSpPr/>
          <p:nvPr/>
        </p:nvSpPr>
        <p:spPr>
          <a:xfrm>
            <a:off x="2058840" y="3352680"/>
            <a:ext cx="17920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Seuil d’adaptation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Ventilatoire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SV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Text Box 17"/>
          <p:cNvSpPr/>
          <p:nvPr/>
        </p:nvSpPr>
        <p:spPr>
          <a:xfrm>
            <a:off x="3126600" y="1600200"/>
            <a:ext cx="24570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Seuil d’inadaptation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Ventilatoire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SV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Seuil de décompensation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l’acidose métabolique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Freeform 18"/>
          <p:cNvSpPr/>
          <p:nvPr/>
        </p:nvSpPr>
        <p:spPr>
          <a:xfrm>
            <a:off x="3733920" y="3886200"/>
            <a:ext cx="380880" cy="380880"/>
          </a:xfrm>
          <a:custGeom>
            <a:avLst/>
            <a:gdLst>
              <a:gd name="GluePoint1X" fmla="*/ 0 w 288"/>
              <a:gd name="GluePoint1Y" fmla="*/ 0 h 240"/>
              <a:gd name="GluePoint2X" fmla="*/ 2147483647 w 288"/>
              <a:gd name="GluePoint2Y" fmla="*/ 2147483647 h 240"/>
              <a:gd name="GluePoint3X" fmla="*/ 2147483647 w 288"/>
              <a:gd name="GluePoint3Y" fmla="*/ 2147483647 h 240"/>
              <a:gd name="GluePoint4X" fmla="*/ 2147483647 w 288"/>
              <a:gd name="GluePoint4Y" fmla="*/ 214748364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Freeform 19"/>
          <p:cNvSpPr/>
          <p:nvPr/>
        </p:nvSpPr>
        <p:spPr>
          <a:xfrm>
            <a:off x="6095880" y="4038480"/>
            <a:ext cx="381240" cy="165240"/>
          </a:xfrm>
          <a:custGeom>
            <a:avLst/>
            <a:gdLst>
              <a:gd name="GluePoint1X" fmla="*/ 2147483647 w 240"/>
              <a:gd name="GluePoint1Y" fmla="*/ 2147483647 h 104"/>
              <a:gd name="GluePoint2X" fmla="*/ 2147483647 w 240"/>
              <a:gd name="GluePoint2Y" fmla="*/ 0 h 104"/>
              <a:gd name="GluePoint3X" fmla="*/ 2147483647 w 240"/>
              <a:gd name="GluePoint3Y" fmla="*/ 2147483647 h 104"/>
              <a:gd name="GluePoint4X" fmla="*/ 0 w 240"/>
              <a:gd name="GluePoint4Y" fmla="*/ 2147483647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Line 20"/>
          <p:cNvSpPr/>
          <p:nvPr/>
        </p:nvSpPr>
        <p:spPr>
          <a:xfrm>
            <a:off x="4191120" y="4800600"/>
            <a:ext cx="380988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Line 21"/>
          <p:cNvSpPr/>
          <p:nvPr/>
        </p:nvSpPr>
        <p:spPr>
          <a:xfrm>
            <a:off x="6019920" y="3962520"/>
            <a:ext cx="190476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Line 22"/>
          <p:cNvSpPr/>
          <p:nvPr/>
        </p:nvSpPr>
        <p:spPr>
          <a:xfrm flipV="1">
            <a:off x="1676520" y="4800240"/>
            <a:ext cx="251460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Freeform 23"/>
          <p:cNvSpPr/>
          <p:nvPr/>
        </p:nvSpPr>
        <p:spPr>
          <a:xfrm>
            <a:off x="4191120" y="3962520"/>
            <a:ext cx="1828800" cy="838080"/>
          </a:xfrm>
          <a:custGeom>
            <a:avLst/>
            <a:gdLst>
              <a:gd name="GluePoint1X" fmla="*/ 0 w 1152"/>
              <a:gd name="GluePoint1Y" fmla="*/ 2147483647 h 528"/>
              <a:gd name="GluePoint2X" fmla="*/ 2147483647 w 1152"/>
              <a:gd name="GluePoint2Y" fmla="*/ 2147483647 h 528"/>
              <a:gd name="GluePoint3X" fmla="*/ 2147483647 w 1152"/>
              <a:gd name="GluePoint3Y" fmla="*/ 0 h 5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152" h="528">
                <a:moveTo>
                  <a:pt x="0" y="528"/>
                </a:moveTo>
                <a:cubicBezTo>
                  <a:pt x="168" y="500"/>
                  <a:pt x="336" y="472"/>
                  <a:pt x="528" y="384"/>
                </a:cubicBezTo>
                <a:cubicBezTo>
                  <a:pt x="720" y="296"/>
                  <a:pt x="1048" y="64"/>
                  <a:pt x="1152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Freeform 24"/>
          <p:cNvSpPr/>
          <p:nvPr/>
        </p:nvSpPr>
        <p:spPr>
          <a:xfrm>
            <a:off x="6019920" y="2057400"/>
            <a:ext cx="990360" cy="1905120"/>
          </a:xfrm>
          <a:custGeom>
            <a:avLst/>
            <a:gdLst>
              <a:gd name="GluePoint1X" fmla="*/ 0 w 768"/>
              <a:gd name="GluePoint1Y" fmla="*/ 2147483647 h 1728"/>
              <a:gd name="GluePoint2X" fmla="*/ 2147483647 w 768"/>
              <a:gd name="GluePoint2Y" fmla="*/ 2147483647 h 1728"/>
              <a:gd name="GluePoint3X" fmla="*/ 2147483647 w 768"/>
              <a:gd name="GluePoint3Y" fmla="*/ 2147483647 h 1728"/>
              <a:gd name="GluePoint4X" fmla="*/ 2147483647 w 768"/>
              <a:gd name="GluePoint4Y" fmla="*/ 0 h 17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768" h="1728">
                <a:moveTo>
                  <a:pt x="0" y="1728"/>
                </a:moveTo>
                <a:cubicBezTo>
                  <a:pt x="96" y="1620"/>
                  <a:pt x="192" y="1512"/>
                  <a:pt x="288" y="1344"/>
                </a:cubicBezTo>
                <a:cubicBezTo>
                  <a:pt x="384" y="1176"/>
                  <a:pt x="496" y="944"/>
                  <a:pt x="576" y="720"/>
                </a:cubicBezTo>
                <a:cubicBezTo>
                  <a:pt x="656" y="496"/>
                  <a:pt x="736" y="120"/>
                  <a:pt x="768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Line 25"/>
          <p:cNvSpPr/>
          <p:nvPr/>
        </p:nvSpPr>
        <p:spPr>
          <a:xfrm flipV="1">
            <a:off x="8001000" y="1066320"/>
            <a:ext cx="0" cy="43434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Text Box 26"/>
          <p:cNvSpPr/>
          <p:nvPr/>
        </p:nvSpPr>
        <p:spPr>
          <a:xfrm rot="16200000">
            <a:off x="7326360" y="2744640"/>
            <a:ext cx="22053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Text Box 27"/>
          <p:cNvSpPr/>
          <p:nvPr/>
        </p:nvSpPr>
        <p:spPr>
          <a:xfrm>
            <a:off x="380880" y="609480"/>
            <a:ext cx="709560" cy="50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150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130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120  –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1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1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100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Line 28"/>
          <p:cNvSpPr/>
          <p:nvPr/>
        </p:nvSpPr>
        <p:spPr>
          <a:xfrm flipV="1">
            <a:off x="1676520" y="4266720"/>
            <a:ext cx="2514600" cy="6858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Freeform 29"/>
          <p:cNvSpPr/>
          <p:nvPr/>
        </p:nvSpPr>
        <p:spPr>
          <a:xfrm>
            <a:off x="4191120" y="685800"/>
            <a:ext cx="2832120" cy="3556080"/>
          </a:xfrm>
          <a:custGeom>
            <a:avLst/>
            <a:gdLst>
              <a:gd name="GluePoint1X" fmla="*/ 0 w 1784"/>
              <a:gd name="GluePoint1Y" fmla="*/ 2147483647 h 2240"/>
              <a:gd name="GluePoint2X" fmla="*/ 2147483647 w 1784"/>
              <a:gd name="GluePoint2Y" fmla="*/ 2147483647 h 2240"/>
              <a:gd name="GluePoint3X" fmla="*/ 2147483647 w 1784"/>
              <a:gd name="GluePoint3Y" fmla="*/ 2147483647 h 2240"/>
              <a:gd name="GluePoint4X" fmla="*/ 2147483647 w 1784"/>
              <a:gd name="GluePoint4Y" fmla="*/ 2147483647 h 2240"/>
              <a:gd name="GluePoint5X" fmla="*/ 2147483647 w 1784"/>
              <a:gd name="GluePoint5Y" fmla="*/ 2147483647 h 2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784" h="2240">
                <a:moveTo>
                  <a:pt x="0" y="2240"/>
                </a:moveTo>
                <a:cubicBezTo>
                  <a:pt x="192" y="2164"/>
                  <a:pt x="384" y="2088"/>
                  <a:pt x="576" y="1952"/>
                </a:cubicBezTo>
                <a:cubicBezTo>
                  <a:pt x="768" y="1816"/>
                  <a:pt x="968" y="1712"/>
                  <a:pt x="1152" y="1424"/>
                </a:cubicBezTo>
                <a:cubicBezTo>
                  <a:pt x="1336" y="1136"/>
                  <a:pt x="1576" y="448"/>
                  <a:pt x="1680" y="224"/>
                </a:cubicBezTo>
                <a:cubicBezTo>
                  <a:pt x="1784" y="0"/>
                  <a:pt x="1780" y="40"/>
                  <a:pt x="1776" y="8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Text Box 30"/>
          <p:cNvSpPr/>
          <p:nvPr/>
        </p:nvSpPr>
        <p:spPr>
          <a:xfrm>
            <a:off x="6462720" y="4075200"/>
            <a:ext cx="546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Text Box 31"/>
          <p:cNvSpPr/>
          <p:nvPr/>
        </p:nvSpPr>
        <p:spPr>
          <a:xfrm>
            <a:off x="4731120" y="4876920"/>
            <a:ext cx="534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Freeform 32"/>
          <p:cNvSpPr/>
          <p:nvPr/>
        </p:nvSpPr>
        <p:spPr>
          <a:xfrm>
            <a:off x="5562720" y="2514600"/>
            <a:ext cx="380880" cy="380880"/>
          </a:xfrm>
          <a:custGeom>
            <a:avLst/>
            <a:gdLst>
              <a:gd name="GluePoint1X" fmla="*/ 0 w 288"/>
              <a:gd name="GluePoint1Y" fmla="*/ 0 h 240"/>
              <a:gd name="GluePoint2X" fmla="*/ 2147483647 w 288"/>
              <a:gd name="GluePoint2Y" fmla="*/ 2147483647 h 240"/>
              <a:gd name="GluePoint3X" fmla="*/ 2147483647 w 288"/>
              <a:gd name="GluePoint3Y" fmla="*/ 2147483647 h 240"/>
              <a:gd name="GluePoint4X" fmla="*/ 2147483647 w 288"/>
              <a:gd name="GluePoint4Y" fmla="*/ 214748364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Freeform 33"/>
          <p:cNvSpPr/>
          <p:nvPr/>
        </p:nvSpPr>
        <p:spPr>
          <a:xfrm>
            <a:off x="4343400" y="4876920"/>
            <a:ext cx="380880" cy="164880"/>
          </a:xfrm>
          <a:custGeom>
            <a:avLst/>
            <a:gdLst>
              <a:gd name="GluePoint1X" fmla="*/ 2147483647 w 240"/>
              <a:gd name="GluePoint1Y" fmla="*/ 2147483647 h 104"/>
              <a:gd name="GluePoint2X" fmla="*/ 2147483647 w 240"/>
              <a:gd name="GluePoint2Y" fmla="*/ 0 h 104"/>
              <a:gd name="GluePoint3X" fmla="*/ 2147483647 w 240"/>
              <a:gd name="GluePoint3Y" fmla="*/ 2147483647 h 104"/>
              <a:gd name="GluePoint4X" fmla="*/ 0 w 240"/>
              <a:gd name="GluePoint4Y" fmla="*/ 2147483647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Text Box 34"/>
          <p:cNvSpPr/>
          <p:nvPr/>
        </p:nvSpPr>
        <p:spPr>
          <a:xfrm>
            <a:off x="1281240" y="498600"/>
            <a:ext cx="167148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 (l.min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Text Box 35"/>
          <p:cNvSpPr/>
          <p:nvPr/>
        </p:nvSpPr>
        <p:spPr>
          <a:xfrm>
            <a:off x="1295280" y="380880"/>
            <a:ext cx="322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s-CL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Text Box 36"/>
          <p:cNvSpPr/>
          <p:nvPr/>
        </p:nvSpPr>
        <p:spPr>
          <a:xfrm>
            <a:off x="3339720" y="115920"/>
            <a:ext cx="3942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Coïncidence entre SL et SV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0" dur="indefinite" restart="never" nodeType="tmRoot">
          <p:childTnLst>
            <p:seq>
              <p:cTn id="1491" dur="indefinite" nodeType="mainSeq">
                <p:childTnLst>
                  <p:par>
                    <p:cTn id="1492" nodeType="clickEffect" fill="hold">
                      <p:stCondLst>
                        <p:cond delay="indefinite"/>
                      </p:stCondLst>
                      <p:childTnLst>
                        <p:par>
                          <p:cTn id="14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96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98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00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1" nodeType="clickEffect" fill="hold">
                      <p:stCondLst>
                        <p:cond delay="indefinite"/>
                      </p:stCondLst>
                      <p:childTnLst>
                        <p:par>
                          <p:cTn id="15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0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05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507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509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13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4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51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517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B29240-2502-4946-A817-88FDBB16F18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Text Box 2"/>
          <p:cNvSpPr/>
          <p:nvPr/>
        </p:nvSpPr>
        <p:spPr>
          <a:xfrm>
            <a:off x="381240" y="2720880"/>
            <a:ext cx="8233560" cy="14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« SEUILS » VENTILATOIRES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HYPOTHESES DE WASSERMAN ET AL. 1964, 1973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21E99E-9634-470E-94EF-7F00832ABC1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Line 2"/>
          <p:cNvSpPr/>
          <p:nvPr/>
        </p:nvSpPr>
        <p:spPr>
          <a:xfrm>
            <a:off x="2819520" y="1371600"/>
            <a:ext cx="0" cy="525780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Line 3"/>
          <p:cNvSpPr/>
          <p:nvPr/>
        </p:nvSpPr>
        <p:spPr>
          <a:xfrm>
            <a:off x="5715000" y="1295280"/>
            <a:ext cx="0" cy="525780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Text Box 4"/>
          <p:cNvSpPr/>
          <p:nvPr/>
        </p:nvSpPr>
        <p:spPr>
          <a:xfrm>
            <a:off x="7705080" y="2133720"/>
            <a:ext cx="1404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 = 0.8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 = VCO2/VO2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Text Box 5"/>
          <p:cNvSpPr/>
          <p:nvPr/>
        </p:nvSpPr>
        <p:spPr>
          <a:xfrm>
            <a:off x="8132040" y="4950000"/>
            <a:ext cx="798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 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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1.0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Text Box 6"/>
          <p:cNvSpPr/>
          <p:nvPr/>
        </p:nvSpPr>
        <p:spPr>
          <a:xfrm>
            <a:off x="6095880" y="2438280"/>
            <a:ext cx="17528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VCO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800 ml.min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Line 7"/>
          <p:cNvSpPr/>
          <p:nvPr/>
        </p:nvSpPr>
        <p:spPr>
          <a:xfrm flipH="1">
            <a:off x="7772040" y="2362320"/>
            <a:ext cx="22860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Line 8"/>
          <p:cNvSpPr/>
          <p:nvPr/>
        </p:nvSpPr>
        <p:spPr>
          <a:xfrm flipH="1" flipV="1">
            <a:off x="7695720" y="2133360"/>
            <a:ext cx="30492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Text Box 9"/>
          <p:cNvSpPr/>
          <p:nvPr/>
        </p:nvSpPr>
        <p:spPr>
          <a:xfrm>
            <a:off x="6019920" y="1905120"/>
            <a:ext cx="17524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1000 ml.min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Line 10"/>
          <p:cNvSpPr/>
          <p:nvPr/>
        </p:nvSpPr>
        <p:spPr>
          <a:xfrm flipH="1">
            <a:off x="4571640" y="2057400"/>
            <a:ext cx="1523880" cy="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Text Box 11"/>
          <p:cNvSpPr/>
          <p:nvPr/>
        </p:nvSpPr>
        <p:spPr>
          <a:xfrm>
            <a:off x="4123440" y="1905120"/>
            <a:ext cx="403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Line 12"/>
          <p:cNvSpPr/>
          <p:nvPr/>
        </p:nvSpPr>
        <p:spPr>
          <a:xfrm flipH="1">
            <a:off x="2590560" y="2057400"/>
            <a:ext cx="1523880" cy="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Text Box 13"/>
          <p:cNvSpPr/>
          <p:nvPr/>
        </p:nvSpPr>
        <p:spPr>
          <a:xfrm>
            <a:off x="2218320" y="1905120"/>
            <a:ext cx="403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Line 14"/>
          <p:cNvSpPr/>
          <p:nvPr/>
        </p:nvSpPr>
        <p:spPr>
          <a:xfrm flipH="1">
            <a:off x="1980720" y="2057400"/>
            <a:ext cx="228600" cy="1522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Text Box 15"/>
          <p:cNvSpPr/>
          <p:nvPr/>
        </p:nvSpPr>
        <p:spPr>
          <a:xfrm>
            <a:off x="1220760" y="2057400"/>
            <a:ext cx="884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CYCLE 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KREBS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Line 16"/>
          <p:cNvSpPr/>
          <p:nvPr/>
        </p:nvSpPr>
        <p:spPr>
          <a:xfrm>
            <a:off x="1981080" y="2438280"/>
            <a:ext cx="304920" cy="15264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Text Box 17"/>
          <p:cNvSpPr/>
          <p:nvPr/>
        </p:nvSpPr>
        <p:spPr>
          <a:xfrm>
            <a:off x="2217960" y="2438280"/>
            <a:ext cx="550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Line 18"/>
          <p:cNvSpPr/>
          <p:nvPr/>
        </p:nvSpPr>
        <p:spPr>
          <a:xfrm>
            <a:off x="2743200" y="2590920"/>
            <a:ext cx="137160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Text Box 19"/>
          <p:cNvSpPr/>
          <p:nvPr/>
        </p:nvSpPr>
        <p:spPr>
          <a:xfrm>
            <a:off x="4123080" y="2438280"/>
            <a:ext cx="550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Line 20"/>
          <p:cNvSpPr/>
          <p:nvPr/>
        </p:nvSpPr>
        <p:spPr>
          <a:xfrm>
            <a:off x="4724280" y="2590920"/>
            <a:ext cx="137160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Text Box 21"/>
          <p:cNvSpPr/>
          <p:nvPr/>
        </p:nvSpPr>
        <p:spPr>
          <a:xfrm>
            <a:off x="229680" y="1622520"/>
            <a:ext cx="11041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GLYCOLYSE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Line 22"/>
          <p:cNvSpPr/>
          <p:nvPr/>
        </p:nvSpPr>
        <p:spPr>
          <a:xfrm>
            <a:off x="762120" y="1905120"/>
            <a:ext cx="0" cy="60948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Text Box 23"/>
          <p:cNvSpPr/>
          <p:nvPr/>
        </p:nvSpPr>
        <p:spPr>
          <a:xfrm>
            <a:off x="229680" y="2612880"/>
            <a:ext cx="10022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Line 24"/>
          <p:cNvSpPr/>
          <p:nvPr/>
        </p:nvSpPr>
        <p:spPr>
          <a:xfrm flipV="1">
            <a:off x="990720" y="2361960"/>
            <a:ext cx="228600" cy="22860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Line 25"/>
          <p:cNvSpPr/>
          <p:nvPr/>
        </p:nvSpPr>
        <p:spPr>
          <a:xfrm>
            <a:off x="990720" y="2819520"/>
            <a:ext cx="304560" cy="228600"/>
          </a:xfrm>
          <a:prstGeom prst="line">
            <a:avLst/>
          </a:prstGeom>
          <a:ln w="1908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Text Box 26"/>
          <p:cNvSpPr/>
          <p:nvPr/>
        </p:nvSpPr>
        <p:spPr>
          <a:xfrm>
            <a:off x="1297080" y="2917800"/>
            <a:ext cx="11505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 +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Line 27"/>
          <p:cNvSpPr/>
          <p:nvPr/>
        </p:nvSpPr>
        <p:spPr>
          <a:xfrm>
            <a:off x="2666880" y="3048120"/>
            <a:ext cx="914400" cy="0"/>
          </a:xfrm>
          <a:prstGeom prst="line">
            <a:avLst/>
          </a:prstGeom>
          <a:ln w="1908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Text Box 28"/>
          <p:cNvSpPr/>
          <p:nvPr/>
        </p:nvSpPr>
        <p:spPr>
          <a:xfrm>
            <a:off x="3735720" y="2917800"/>
            <a:ext cx="1150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 +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(oxydation)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Text Box 29"/>
          <p:cNvSpPr/>
          <p:nvPr/>
        </p:nvSpPr>
        <p:spPr>
          <a:xfrm>
            <a:off x="1449000" y="1371600"/>
            <a:ext cx="785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ACIDE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Line 30"/>
          <p:cNvSpPr/>
          <p:nvPr/>
        </p:nvSpPr>
        <p:spPr>
          <a:xfrm>
            <a:off x="1752480" y="1828800"/>
            <a:ext cx="0" cy="30492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Line 31"/>
          <p:cNvSpPr/>
          <p:nvPr/>
        </p:nvSpPr>
        <p:spPr>
          <a:xfrm>
            <a:off x="380880" y="3581280"/>
            <a:ext cx="8382240" cy="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Text Box 32"/>
          <p:cNvSpPr/>
          <p:nvPr/>
        </p:nvSpPr>
        <p:spPr>
          <a:xfrm>
            <a:off x="6172200" y="5257800"/>
            <a:ext cx="19051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VCO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1600 ml.min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Line 33"/>
          <p:cNvSpPr/>
          <p:nvPr/>
        </p:nvSpPr>
        <p:spPr>
          <a:xfrm flipH="1">
            <a:off x="7924320" y="5181480"/>
            <a:ext cx="22860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Line 34"/>
          <p:cNvSpPr/>
          <p:nvPr/>
        </p:nvSpPr>
        <p:spPr>
          <a:xfrm flipH="1" flipV="1">
            <a:off x="7848720" y="4952880"/>
            <a:ext cx="30456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Text Box 35"/>
          <p:cNvSpPr/>
          <p:nvPr/>
        </p:nvSpPr>
        <p:spPr>
          <a:xfrm>
            <a:off x="6172200" y="4724280"/>
            <a:ext cx="17524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2000 ml.min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Text Box 36"/>
          <p:cNvSpPr/>
          <p:nvPr/>
        </p:nvSpPr>
        <p:spPr>
          <a:xfrm>
            <a:off x="231840" y="1066680"/>
            <a:ext cx="23158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APPORT O2 = DEMANDE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Text Box 37"/>
          <p:cNvSpPr/>
          <p:nvPr/>
        </p:nvSpPr>
        <p:spPr>
          <a:xfrm>
            <a:off x="2370600" y="4648320"/>
            <a:ext cx="403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Line 38"/>
          <p:cNvSpPr/>
          <p:nvPr/>
        </p:nvSpPr>
        <p:spPr>
          <a:xfrm flipH="1">
            <a:off x="2057040" y="4800600"/>
            <a:ext cx="304920" cy="20628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Text Box 39"/>
          <p:cNvSpPr/>
          <p:nvPr/>
        </p:nvSpPr>
        <p:spPr>
          <a:xfrm>
            <a:off x="1296720" y="4854600"/>
            <a:ext cx="884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CYCLE 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KREBS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Line 40"/>
          <p:cNvSpPr/>
          <p:nvPr/>
        </p:nvSpPr>
        <p:spPr>
          <a:xfrm>
            <a:off x="2057400" y="5235480"/>
            <a:ext cx="304920" cy="15264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Text Box 41"/>
          <p:cNvSpPr/>
          <p:nvPr/>
        </p:nvSpPr>
        <p:spPr>
          <a:xfrm>
            <a:off x="2294280" y="5235480"/>
            <a:ext cx="550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Text Box 42"/>
          <p:cNvSpPr/>
          <p:nvPr/>
        </p:nvSpPr>
        <p:spPr>
          <a:xfrm>
            <a:off x="304920" y="4397400"/>
            <a:ext cx="1280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GLYCOLYSE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Line 43"/>
          <p:cNvSpPr/>
          <p:nvPr/>
        </p:nvSpPr>
        <p:spPr>
          <a:xfrm>
            <a:off x="838080" y="4702320"/>
            <a:ext cx="0" cy="60948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Text Box 44"/>
          <p:cNvSpPr/>
          <p:nvPr/>
        </p:nvSpPr>
        <p:spPr>
          <a:xfrm>
            <a:off x="306720" y="5410080"/>
            <a:ext cx="1010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PYRUVATE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Line 45"/>
          <p:cNvSpPr/>
          <p:nvPr/>
        </p:nvSpPr>
        <p:spPr>
          <a:xfrm flipV="1">
            <a:off x="1066680" y="5159160"/>
            <a:ext cx="228600" cy="22860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Line 46"/>
          <p:cNvSpPr/>
          <p:nvPr/>
        </p:nvSpPr>
        <p:spPr>
          <a:xfrm>
            <a:off x="1066680" y="5616720"/>
            <a:ext cx="304920" cy="25056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Text Box 47"/>
          <p:cNvSpPr/>
          <p:nvPr/>
        </p:nvSpPr>
        <p:spPr>
          <a:xfrm>
            <a:off x="1373400" y="5715000"/>
            <a:ext cx="11754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 +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Text Box 48"/>
          <p:cNvSpPr/>
          <p:nvPr/>
        </p:nvSpPr>
        <p:spPr>
          <a:xfrm>
            <a:off x="307800" y="3787920"/>
            <a:ext cx="2414880" cy="307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APPORT O2  &lt;  DEMANDE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Line 49"/>
          <p:cNvSpPr/>
          <p:nvPr/>
        </p:nvSpPr>
        <p:spPr>
          <a:xfrm flipH="1">
            <a:off x="4647960" y="4854600"/>
            <a:ext cx="1523880" cy="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Text Box 50"/>
          <p:cNvSpPr/>
          <p:nvPr/>
        </p:nvSpPr>
        <p:spPr>
          <a:xfrm>
            <a:off x="4275720" y="4724280"/>
            <a:ext cx="403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Line 51"/>
          <p:cNvSpPr/>
          <p:nvPr/>
        </p:nvSpPr>
        <p:spPr>
          <a:xfrm>
            <a:off x="2819520" y="5388120"/>
            <a:ext cx="1371600" cy="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Text Box 52"/>
          <p:cNvSpPr/>
          <p:nvPr/>
        </p:nvSpPr>
        <p:spPr>
          <a:xfrm>
            <a:off x="4199400" y="5235480"/>
            <a:ext cx="550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Line 53"/>
          <p:cNvSpPr/>
          <p:nvPr/>
        </p:nvSpPr>
        <p:spPr>
          <a:xfrm>
            <a:off x="4800600" y="5388120"/>
            <a:ext cx="1371600" cy="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Text Box 54"/>
          <p:cNvSpPr/>
          <p:nvPr/>
        </p:nvSpPr>
        <p:spPr>
          <a:xfrm>
            <a:off x="2973600" y="5715000"/>
            <a:ext cx="11754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 +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Line 55"/>
          <p:cNvSpPr/>
          <p:nvPr/>
        </p:nvSpPr>
        <p:spPr>
          <a:xfrm>
            <a:off x="2514600" y="5867280"/>
            <a:ext cx="45720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Text Box 56"/>
          <p:cNvSpPr/>
          <p:nvPr/>
        </p:nvSpPr>
        <p:spPr>
          <a:xfrm>
            <a:off x="3125880" y="6172200"/>
            <a:ext cx="9342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LACTATE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Text Box 57"/>
          <p:cNvSpPr/>
          <p:nvPr/>
        </p:nvSpPr>
        <p:spPr>
          <a:xfrm>
            <a:off x="4657680" y="5715000"/>
            <a:ext cx="664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2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3 </a:t>
            </a: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 </a:t>
            </a:r>
            <a:r>
              <a:rPr b="1" lang="fr-FR" sz="12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Text Box 58"/>
          <p:cNvSpPr/>
          <p:nvPr/>
        </p:nvSpPr>
        <p:spPr>
          <a:xfrm>
            <a:off x="4659480" y="6172200"/>
            <a:ext cx="642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2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3 </a:t>
            </a: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1" lang="fr-FR" sz="12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Line 59"/>
          <p:cNvSpPr/>
          <p:nvPr/>
        </p:nvSpPr>
        <p:spPr>
          <a:xfrm>
            <a:off x="5029200" y="6477120"/>
            <a:ext cx="228600" cy="15228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Text Box 60"/>
          <p:cNvSpPr/>
          <p:nvPr/>
        </p:nvSpPr>
        <p:spPr>
          <a:xfrm>
            <a:off x="5257800" y="6553080"/>
            <a:ext cx="10288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+ H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Line 61"/>
          <p:cNvSpPr/>
          <p:nvPr/>
        </p:nvSpPr>
        <p:spPr>
          <a:xfrm flipV="1">
            <a:off x="5562720" y="5866920"/>
            <a:ext cx="609480" cy="68580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Text Box 62"/>
          <p:cNvSpPr/>
          <p:nvPr/>
        </p:nvSpPr>
        <p:spPr>
          <a:xfrm>
            <a:off x="6248520" y="5791320"/>
            <a:ext cx="19047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VCO</a:t>
            </a:r>
            <a:r>
              <a:rPr b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400 ml.min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Line 63"/>
          <p:cNvSpPr/>
          <p:nvPr/>
        </p:nvSpPr>
        <p:spPr>
          <a:xfrm flipV="1">
            <a:off x="8001000" y="5257440"/>
            <a:ext cx="152280" cy="60948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Line 64"/>
          <p:cNvSpPr/>
          <p:nvPr/>
        </p:nvSpPr>
        <p:spPr>
          <a:xfrm flipH="1">
            <a:off x="2742840" y="4876920"/>
            <a:ext cx="1523880" cy="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AutoShape 65"/>
          <p:cNvSpPr/>
          <p:nvPr/>
        </p:nvSpPr>
        <p:spPr>
          <a:xfrm>
            <a:off x="4191120" y="5867280"/>
            <a:ext cx="201600" cy="457200"/>
          </a:xfrm>
          <a:custGeom>
            <a:avLst/>
            <a:gdLst>
              <a:gd name="textAreaLeft" fmla="*/ 27000 w 201600"/>
              <a:gd name="textAreaRight" fmla="*/ 174600 w 201600"/>
              <a:gd name="textAreaTop" fmla="*/ 99720 h 457200"/>
              <a:gd name="textAreaBottom" fmla="*/ 311760 h 45720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433" stAng="-5400000" swAng="5400000"/>
                <a:lnTo>
                  <a:pt x="21600" y="10007"/>
                </a:lnTo>
                <a:arcTo wR="21600" hR="9433" stAng="0" swAng="3060427"/>
                <a:lnTo>
                  <a:pt x="7200" y="21061"/>
                </a:lnTo>
                <a:lnTo>
                  <a:pt x="0" y="19153"/>
                </a:lnTo>
                <a:lnTo>
                  <a:pt x="7200" y="16167"/>
                </a:lnTo>
                <a:lnTo>
                  <a:pt x="7200" y="18327"/>
                </a:lnTo>
                <a:arcTo wR="21600" hR="9433" stAng="3060427" swAng="-3014731"/>
                <a:lnTo>
                  <a:pt x="21590" y="9720"/>
                </a:lnTo>
                <a:arcTo wR="21600" hR="9433" stAng="-45696" swAng="-5354304"/>
                <a:close/>
              </a:path>
              <a:path fill="darkenLess" w="21600" h="21600">
                <a:moveTo>
                  <a:pt x="0" y="0"/>
                </a:moveTo>
                <a:arcTo wR="21600" hR="9433" stAng="-5400000" swAng="5400000"/>
                <a:lnTo>
                  <a:pt x="21600" y="10007"/>
                </a:lnTo>
                <a:arcTo wR="21600" hR="9433" stAng="0" swAng="-45696"/>
                <a:lnTo>
                  <a:pt x="21590" y="9720"/>
                </a:lnTo>
                <a:arcTo wR="21600" hR="9433" stAng="-45696" swAng="-5354304"/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AutoShape 66"/>
          <p:cNvSpPr/>
          <p:nvPr/>
        </p:nvSpPr>
        <p:spPr>
          <a:xfrm flipH="1" rot="474000">
            <a:off x="4424040" y="5867280"/>
            <a:ext cx="228600" cy="457200"/>
          </a:xfrm>
          <a:custGeom>
            <a:avLst/>
            <a:gdLst>
              <a:gd name="textAreaLeft" fmla="*/ 30600 w 228600"/>
              <a:gd name="textAreaRight" fmla="*/ 198000 w 228600"/>
              <a:gd name="textAreaTop" fmla="*/ 99720 h 457200"/>
              <a:gd name="textAreaBottom" fmla="*/ 311760 h 45720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433" stAng="-5400000" swAng="5400000"/>
                <a:lnTo>
                  <a:pt x="21600" y="10007"/>
                </a:lnTo>
                <a:arcTo wR="21600" hR="9433" stAng="0" swAng="3060427"/>
                <a:lnTo>
                  <a:pt x="7200" y="21061"/>
                </a:lnTo>
                <a:lnTo>
                  <a:pt x="0" y="19153"/>
                </a:lnTo>
                <a:lnTo>
                  <a:pt x="7200" y="16167"/>
                </a:lnTo>
                <a:lnTo>
                  <a:pt x="7200" y="18327"/>
                </a:lnTo>
                <a:arcTo wR="21600" hR="9433" stAng="3060427" swAng="-3014731"/>
                <a:lnTo>
                  <a:pt x="21590" y="9720"/>
                </a:lnTo>
                <a:arcTo wR="21600" hR="9433" stAng="-45696" swAng="-5354304"/>
                <a:close/>
              </a:path>
              <a:path fill="darkenLess" w="21600" h="21600">
                <a:moveTo>
                  <a:pt x="0" y="0"/>
                </a:moveTo>
                <a:arcTo wR="21600" hR="9433" stAng="-5400000" swAng="5400000"/>
                <a:lnTo>
                  <a:pt x="21600" y="10007"/>
                </a:lnTo>
                <a:arcTo wR="21600" hR="9433" stAng="0" swAng="-45696"/>
                <a:lnTo>
                  <a:pt x="21590" y="9720"/>
                </a:lnTo>
                <a:arcTo wR="21600" hR="9433" stAng="-45696" swAng="-5354304"/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Text Box 67"/>
          <p:cNvSpPr/>
          <p:nvPr/>
        </p:nvSpPr>
        <p:spPr>
          <a:xfrm>
            <a:off x="9360" y="6521400"/>
            <a:ext cx="4732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 ’après Naimark, Wasserman et McIlroy (1964)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7" name="Picture 68" descr="Circulation"/>
          <p:cNvPicPr/>
          <p:nvPr/>
        </p:nvPicPr>
        <p:blipFill>
          <a:blip r:embed="rId1"/>
          <a:stretch/>
        </p:blipFill>
        <p:spPr>
          <a:xfrm>
            <a:off x="3352680" y="762120"/>
            <a:ext cx="1447920" cy="10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Text Box 69"/>
          <p:cNvSpPr/>
          <p:nvPr/>
        </p:nvSpPr>
        <p:spPr>
          <a:xfrm>
            <a:off x="510480" y="457200"/>
            <a:ext cx="132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MUSCLE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Text Box 70"/>
          <p:cNvSpPr/>
          <p:nvPr/>
        </p:nvSpPr>
        <p:spPr>
          <a:xfrm>
            <a:off x="6557400" y="457200"/>
            <a:ext cx="1406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POUMON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Text Box 71"/>
          <p:cNvSpPr/>
          <p:nvPr/>
        </p:nvSpPr>
        <p:spPr>
          <a:xfrm>
            <a:off x="3583080" y="228600"/>
            <a:ext cx="912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SANG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Oval 72"/>
          <p:cNvSpPr/>
          <p:nvPr/>
        </p:nvSpPr>
        <p:spPr>
          <a:xfrm>
            <a:off x="7772400" y="1773360"/>
            <a:ext cx="1371600" cy="388620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Oval 73"/>
          <p:cNvSpPr/>
          <p:nvPr/>
        </p:nvSpPr>
        <p:spPr>
          <a:xfrm>
            <a:off x="6095880" y="5029200"/>
            <a:ext cx="914400" cy="129528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Line 74"/>
          <p:cNvSpPr/>
          <p:nvPr/>
        </p:nvSpPr>
        <p:spPr>
          <a:xfrm>
            <a:off x="6705720" y="6095880"/>
            <a:ext cx="609480" cy="2286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Text Box 75"/>
          <p:cNvSpPr/>
          <p:nvPr/>
        </p:nvSpPr>
        <p:spPr>
          <a:xfrm>
            <a:off x="7122600" y="6276960"/>
            <a:ext cx="20170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Stimulation des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centres respiratoires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8" dur="indefinite" restart="never" nodeType="tmRoot">
          <p:childTnLst>
            <p:seq>
              <p:cTn id="1519" dur="indefinite" nodeType="mainSeq">
                <p:childTnLst>
                  <p:par>
                    <p:cTn id="1520" nodeType="clickEffect" fill="hold">
                      <p:stCondLst>
                        <p:cond delay="indefinite"/>
                      </p:stCondLst>
                      <p:childTnLst>
                        <p:par>
                          <p:cTn id="15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24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52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28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9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0" nodeType="after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532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3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4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36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7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8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9"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1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43" dur="5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4" dur="5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546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48" dur="5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9" dur="5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0" dur="5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1" dur="5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2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1553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55" dur="5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6" dur="5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7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1558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60" dur="5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1" dur="5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2" dur="5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3" dur="5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4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56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7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8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1569" nodeType="afterEffect" fill="hold" presetClass="entr" presetID="23" presetSubtype="28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71" dur="5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2" dur="5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3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1574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76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7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8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9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158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83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4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85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87" dur="5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8" dur="5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9" dur="5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90" dur="5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1" nodeType="afterEffect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9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4"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5" nodeType="afterEffect" fill="hold">
                            <p:stCondLst>
                              <p:cond delay="12000"/>
                            </p:stCondLst>
                            <p:childTnLst>
                              <p:par>
                                <p:cTn id="1596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98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99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0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1" dur="50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2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03" nodeType="afterEffect" fill="hold" presetClass="entr" presetID="17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5" dur="5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6" dur="5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7" dur="5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8" dur="5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9" nodeType="afterEffect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12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3" nodeType="afterEffect" fill="hold">
                            <p:stCondLst>
                              <p:cond delay="16500"/>
                            </p:stCondLst>
                            <p:childTnLst>
                              <p:par>
                                <p:cTn id="1614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16" dur="5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7" dur="5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8" dur="5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9" dur="5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nodeType="afterEffect" fill="hold">
                            <p:stCondLst>
                              <p:cond delay="18000"/>
                            </p:stCondLst>
                            <p:childTnLst>
                              <p:par>
                                <p:cTn id="162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23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4" nodeType="afterEffect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5" nodeType="afterEffect" fill="hold" presetClass="entr" presetID="17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27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8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9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0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1" nodeType="afterEffect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32" nodeType="afterEffect" fill="hold" presetClass="entr" presetID="23" presetSubtype="28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34" dur="50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5" dur="50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6" nodeType="afterEffect" fill="hold">
                            <p:stCondLst>
                              <p:cond delay="22500"/>
                            </p:stCondLst>
                            <p:childTnLst>
                              <p:par>
                                <p:cTn id="163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39" dur="50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0" dur="50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1" dur="50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2" dur="50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3" nodeType="afterEffect" fill="hold">
                            <p:stCondLst>
                              <p:cond delay="23000"/>
                            </p:stCondLst>
                            <p:childTnLst>
                              <p:par>
                                <p:cTn id="164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46" dur="5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7" dur="5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8" nodeType="afterEffect" fill="hold">
                            <p:stCondLst>
                              <p:cond delay="23500"/>
                            </p:stCondLst>
                            <p:childTnLst>
                              <p:par>
                                <p:cTn id="1649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51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2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3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4" dur="50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5" nodeType="afterEffect" fill="hold">
                            <p:stCondLst>
                              <p:cond delay="24000"/>
                            </p:stCondLst>
                            <p:childTnLst>
                              <p:par>
                                <p:cTn id="1656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58" dur="3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9" nodeType="afterEffect" fill="hold">
                            <p:stCondLst>
                              <p:cond delay="25900"/>
                            </p:stCondLst>
                            <p:childTnLst>
                              <p:par>
                                <p:cTn id="1660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62" dur="5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3" dur="5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4" dur="5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5" dur="5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6" nodeType="afterEffect" fill="hold">
                            <p:stCondLst>
                              <p:cond delay="26400"/>
                            </p:stCondLst>
                            <p:childTnLst>
                              <p:par>
                                <p:cTn id="166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69" dur="5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0" dur="5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1" dur="5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2" dur="5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3" nodeType="afterEffect" fill="hold">
                            <p:stCondLst>
                              <p:cond delay="26900"/>
                            </p:stCondLst>
                            <p:childTnLst>
                              <p:par>
                                <p:cTn id="1674" nodeType="afterEffect" fill="hold" presetClass="entr" presetID="23" presetSubtype="28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6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7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8" nodeType="clickEffect" fill="hold">
                      <p:stCondLst>
                        <p:cond delay="indefinite"/>
                      </p:stCondLst>
                      <p:childTnLst>
                        <p:par>
                          <p:cTn id="16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2"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84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6" dur="3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7" nodeType="afterEffect" fill="hold">
                            <p:stCondLst>
                              <p:cond delay="2400"/>
                            </p:stCondLst>
                            <p:childTnLst>
                              <p:par>
                                <p:cTn id="1688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90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1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2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3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4" nodeType="afterEffect" fill="hold">
                            <p:stCondLst>
                              <p:cond delay="2900"/>
                            </p:stCondLst>
                            <p:childTnLst>
                              <p:par>
                                <p:cTn id="1695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97" dur="5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8" dur="5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9" nodeType="afterEffect" fill="hold">
                            <p:stCondLst>
                              <p:cond delay="3400"/>
                            </p:stCondLst>
                            <p:childTnLst>
                              <p:par>
                                <p:cTn id="1700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02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3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4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5" dur="5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nodeType="afterEffect" fill="hold">
                            <p:stCondLst>
                              <p:cond delay="3900"/>
                            </p:stCondLst>
                            <p:childTnLst>
                              <p:par>
                                <p:cTn id="1707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09" dur="5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0" dur="5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1" nodeType="afterEffect" fill="hold">
                            <p:stCondLst>
                              <p:cond delay="4400"/>
                            </p:stCondLst>
                            <p:childTnLst>
                              <p:par>
                                <p:cTn id="171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14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5" nodeType="afterEffect" fill="hold">
                            <p:stCondLst>
                              <p:cond delay="4900"/>
                            </p:stCondLst>
                            <p:childTnLst>
                              <p:par>
                                <p:cTn id="171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18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9" nodeType="afterEffect" fill="hold">
                            <p:stCondLst>
                              <p:cond delay="5400"/>
                            </p:stCondLst>
                            <p:childTnLst>
                              <p:par>
                                <p:cTn id="172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22"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3" nodeType="afterEffect" fill="hold">
                            <p:stCondLst>
                              <p:cond delay="6900"/>
                            </p:stCondLst>
                            <p:childTnLst>
                              <p:par>
                                <p:cTn id="1724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26" dur="5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7" dur="5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8" dur="5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9" dur="5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nodeType="afterEffect" fill="hold">
                            <p:stCondLst>
                              <p:cond delay="7400"/>
                            </p:stCondLst>
                            <p:childTnLst>
                              <p:par>
                                <p:cTn id="173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3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4" nodeType="afterEffect" fill="hold">
                            <p:stCondLst>
                              <p:cond delay="7900"/>
                            </p:stCondLst>
                            <p:childTnLst>
                              <p:par>
                                <p:cTn id="173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7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8" nodeType="afterEffect" fill="hold">
                            <p:stCondLst>
                              <p:cond delay="8400"/>
                            </p:stCondLst>
                            <p:childTnLst>
                              <p:par>
                                <p:cTn id="1739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1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2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3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4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5" nodeType="afterEffect" fill="hold">
                            <p:stCondLst>
                              <p:cond delay="9900"/>
                            </p:stCondLst>
                            <p:childTnLst>
                              <p:par>
                                <p:cTn id="174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48"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9" nodeType="afterEffect" fill="hold">
                            <p:stCondLst>
                              <p:cond delay="10400"/>
                            </p:stCondLst>
                            <p:childTnLst>
                              <p:par>
                                <p:cTn id="1750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52" dur="5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3" dur="5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4" dur="5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5" dur="5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6" nodeType="afterEffect" fill="hold">
                            <p:stCondLst>
                              <p:cond delay="10900"/>
                            </p:stCondLst>
                            <p:childTnLst>
                              <p:par>
                                <p:cTn id="175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59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0" nodeType="afterEffect" fill="hold">
                            <p:stCondLst>
                              <p:cond delay="11400"/>
                            </p:stCondLst>
                            <p:childTnLst>
                              <p:par>
                                <p:cTn id="176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63"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4" nodeType="afterEffect" fill="hold">
                            <p:stCondLst>
                              <p:cond delay="12900"/>
                            </p:stCondLst>
                            <p:childTnLst>
                              <p:par>
                                <p:cTn id="176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67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8" nodeType="afterEffect" fill="hold">
                            <p:stCondLst>
                              <p:cond delay="13400"/>
                            </p:stCondLst>
                            <p:childTnLst>
                              <p:par>
                                <p:cTn id="176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71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2" nodeType="afterEffect" fill="hold">
                            <p:stCondLst>
                              <p:cond delay="13900"/>
                            </p:stCondLst>
                            <p:childTnLst>
                              <p:par>
                                <p:cTn id="1773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75" dur="3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6" nodeType="afterEffect" fill="hold">
                            <p:stCondLst>
                              <p:cond delay="14200"/>
                            </p:stCondLst>
                            <p:childTnLst>
                              <p:par>
                                <p:cTn id="177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79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0" nodeType="afterEffect" fill="hold">
                            <p:stCondLst>
                              <p:cond delay="14700"/>
                            </p:stCondLst>
                            <p:childTnLst>
                              <p:par>
                                <p:cTn id="1781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83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4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5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6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7" nodeType="afterEffect" fill="hold">
                            <p:stCondLst>
                              <p:cond delay="16200"/>
                            </p:stCondLst>
                            <p:childTnLst>
                              <p:par>
                                <p:cTn id="1788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0" dur="5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1" dur="5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2" nodeType="clickEffect" fill="hold">
                      <p:stCondLst>
                        <p:cond delay="indefinite"/>
                      </p:stCondLst>
                      <p:childTnLst>
                        <p:par>
                          <p:cTn id="17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4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6" dur="5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7" dur="5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8" dur="5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9" dur="5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01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03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4" dur="5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806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08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9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0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1" dur="5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813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5" dur="5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6" dur="5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818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20" dur="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1" dur="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2" dur="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3" dur="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4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82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27" dur="3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8" nodeType="afterEffect" fill="hold">
                            <p:stCondLst>
                              <p:cond delay="3400"/>
                            </p:stCondLst>
                            <p:childTnLst>
                              <p:par>
                                <p:cTn id="1829" nodeType="afterEffect" fill="hold" presetClass="entr" presetID="17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31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32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33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34" dur="5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5" nodeType="afterEffect" fill="hold">
                            <p:stCondLst>
                              <p:cond delay="4900"/>
                            </p:stCondLst>
                            <p:childTnLst>
                              <p:par>
                                <p:cTn id="1836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38" dur="3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9" nodeType="afterEffect" fill="hold">
                            <p:stCondLst>
                              <p:cond delay="5800"/>
                            </p:stCondLst>
                            <p:childTnLst>
                              <p:par>
                                <p:cTn id="184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42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3" nodeType="afterEffect" fill="hold">
                            <p:stCondLst>
                              <p:cond delay="7300"/>
                            </p:stCondLst>
                            <p:childTnLst>
                              <p:par>
                                <p:cTn id="184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46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7" nodeType="afterEffect" fill="hold">
                            <p:stCondLst>
                              <p:cond delay="7800"/>
                            </p:stCondLst>
                            <p:childTnLst>
                              <p:par>
                                <p:cTn id="184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50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1" nodeType="clickEffect" fill="hold">
                      <p:stCondLst>
                        <p:cond delay="indefinite"/>
                      </p:stCondLst>
                      <p:childTnLst>
                        <p:par>
                          <p:cTn id="18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5" dur="5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6" dur="5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7" nodeType="clickEffect" fill="hold">
                      <p:stCondLst>
                        <p:cond delay="indefinite"/>
                      </p:stCondLst>
                      <p:childTnLst>
                        <p:par>
                          <p:cTn id="18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61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6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65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6" nodeType="clickEffect" fill="hold">
                      <p:stCondLst>
                        <p:cond delay="indefinite"/>
                      </p:stCondLst>
                      <p:childTnLst>
                        <p:par>
                          <p:cTn id="18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6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70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7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74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AF8EEF-D5DD-4B20-BA56-05DAAB5E655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Text Box 4"/>
          <p:cNvSpPr/>
          <p:nvPr/>
        </p:nvSpPr>
        <p:spPr>
          <a:xfrm>
            <a:off x="1625400" y="2852640"/>
            <a:ext cx="60184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PROTOCOLES ET TECHNIQUES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0B9406-08E7-4594-8A1A-490E2801E3A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Text Box 2"/>
          <p:cNvSpPr/>
          <p:nvPr/>
        </p:nvSpPr>
        <p:spPr>
          <a:xfrm>
            <a:off x="3512520" y="152280"/>
            <a:ext cx="3539520" cy="45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1- LES PROTOCOLES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9" name="Picture 3" descr="TUB2 rameurs"/>
          <p:cNvPicPr/>
          <p:nvPr/>
        </p:nvPicPr>
        <p:blipFill>
          <a:blip r:embed="rId1"/>
          <a:stretch/>
        </p:blipFill>
        <p:spPr>
          <a:xfrm>
            <a:off x="2133720" y="3600360"/>
            <a:ext cx="4343400" cy="32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Text Box 4"/>
          <p:cNvSpPr/>
          <p:nvPr/>
        </p:nvSpPr>
        <p:spPr>
          <a:xfrm>
            <a:off x="217440" y="1749600"/>
            <a:ext cx="87156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« Seuils » ventilatoires : incrémentation rapide toute les minutes avec une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durée maximale de l’épreuve de 10 à 12 min.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Text Box 5"/>
          <p:cNvSpPr/>
          <p:nvPr/>
        </p:nvSpPr>
        <p:spPr>
          <a:xfrm>
            <a:off x="188280" y="838080"/>
            <a:ext cx="87991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Analyseur gaz expirés cycle à cycle recommandé, sinon avec au minimum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possibilité de moyenner les résultats toutes les 20 à 30 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Text Box 6"/>
          <p:cNvSpPr/>
          <p:nvPr/>
        </p:nvSpPr>
        <p:spPr>
          <a:xfrm>
            <a:off x="294120" y="2637000"/>
            <a:ext cx="8532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« Seuils » lactiques : durée plus longue des paliers (état stable) de 3 min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avec des arrêts intermédiaires de 1 min (pour prélèvements)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Text Box 7"/>
          <p:cNvSpPr/>
          <p:nvPr/>
        </p:nvSpPr>
        <p:spPr>
          <a:xfrm>
            <a:off x="6120" y="152280"/>
            <a:ext cx="2765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Les techniques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75" dur="indefinite" restart="never" nodeType="tmRoot">
          <p:childTnLst>
            <p:seq>
              <p:cTn id="1876" dur="indefinite" nodeType="mainSeq">
                <p:childTnLst>
                  <p:par>
                    <p:cTn id="1877" nodeType="clickEffect" fill="hold">
                      <p:stCondLst>
                        <p:cond delay="0"/>
                      </p:stCondLst>
                      <p:childTnLst>
                        <p:par>
                          <p:cTn id="18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81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2" nodeType="clickEffect" fill="hold">
                      <p:stCondLst>
                        <p:cond delay="indefinite"/>
                      </p:stCondLst>
                      <p:childTnLst>
                        <p:par>
                          <p:cTn id="18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86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4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88" nodeType="clickEffect" fill="hold">
                      <p:stCondLst>
                        <p:cond delay="indefinite"/>
                      </p:stCondLst>
                      <p:childTnLst>
                        <p:par>
                          <p:cTn id="18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92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4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18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9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97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BCE412-D715-4149-82BE-D2854637AAA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45" name="Picture 2" descr=""/>
          <p:cNvPicPr/>
          <p:nvPr/>
        </p:nvPicPr>
        <p:blipFill>
          <a:blip r:embed="rId1"/>
          <a:stretch/>
        </p:blipFill>
        <p:spPr>
          <a:xfrm>
            <a:off x="2743200" y="152280"/>
            <a:ext cx="4165560" cy="62485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946" name="Text Box 3"/>
          <p:cNvSpPr/>
          <p:nvPr/>
        </p:nvSpPr>
        <p:spPr>
          <a:xfrm>
            <a:off x="1440" y="1676520"/>
            <a:ext cx="285768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S.A » déterminés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partir de la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course sur tapis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roulant…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8" dur="indefinite" restart="never" nodeType="tmRoot">
          <p:childTnLst>
            <p:seq>
              <p:cTn id="1899" dur="indefinite" nodeType="mainSeq">
                <p:childTnLst>
                  <p:par>
                    <p:cTn id="1900" nodeType="clickEffect" fill="hold">
                      <p:stCondLst>
                        <p:cond delay="0"/>
                      </p:stCondLst>
                      <p:childTnLst>
                        <p:par>
                          <p:cTn id="19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02" nodeType="afterEffect" fill="hold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1904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08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AA585C-7CF2-4DF4-9978-056BF87DBC2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48" name="Picture 2" descr=""/>
          <p:cNvPicPr/>
          <p:nvPr/>
        </p:nvPicPr>
        <p:blipFill>
          <a:blip r:embed="rId1"/>
          <a:stretch/>
        </p:blipFill>
        <p:spPr>
          <a:xfrm>
            <a:off x="3886200" y="685800"/>
            <a:ext cx="3860640" cy="57913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949" name="Text Box 3"/>
          <p:cNvSpPr/>
          <p:nvPr/>
        </p:nvSpPr>
        <p:spPr>
          <a:xfrm>
            <a:off x="231480" y="2133720"/>
            <a:ext cx="3434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partir du pédalage sur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son propre vélo…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09" dur="indefinite" restart="never" nodeType="tmRoot">
          <p:childTnLst>
            <p:seq>
              <p:cTn id="1910" dur="indefinite" nodeType="mainSeq">
                <p:childTnLst>
                  <p:par>
                    <p:cTn id="1911" nodeType="clickEffect" fill="hold">
                      <p:stCondLst>
                        <p:cond delay="0"/>
                      </p:stCondLst>
                      <p:childTnLst>
                        <p:par>
                          <p:cTn id="19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13" nodeType="afterEffect" fill="hold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1915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8DDA30-8CA6-49A2-B908-86D1954494F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1" name="sp_00.avi" descr=""/>
          <p:cNvPicPr/>
          <p:nvPr/>
        </p:nvPicPr>
        <p:blipFill>
          <a:blip r:embed="rId1"/>
          <a:stretch/>
        </p:blipFill>
        <p:spPr>
          <a:xfrm>
            <a:off x="0" y="38160"/>
            <a:ext cx="4572000" cy="342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2" name="sp_01.avi" descr=""/>
          <p:cNvPicPr/>
          <p:nvPr/>
        </p:nvPicPr>
        <p:blipFill>
          <a:blip r:embed="rId2"/>
          <a:stretch/>
        </p:blipFill>
        <p:spPr>
          <a:xfrm>
            <a:off x="4572000" y="3429000"/>
            <a:ext cx="457200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3" name="Text Box 4"/>
          <p:cNvSpPr/>
          <p:nvPr/>
        </p:nvSpPr>
        <p:spPr>
          <a:xfrm>
            <a:off x="5344200" y="425520"/>
            <a:ext cx="31496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SUR LE TERRAIN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Test TUB2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1916" dur="indefinite" restart="never" nodeType="tmRoot">
          <p:childTnLst>
            <p:seq>
              <p:cTn id="1917" restart="whenNotActive" nodeType="interactiveSeq" fill="hold">
                <p:stCondLst>
                  <p:cond evt="onClick">
                    <p:tgtEl>
                      <p:spTgt spid="951"/>
                    </p:tgtEl>
                  </p:cond>
                </p:stCondLst>
                <p:childTnLst>
                  <p:par>
                    <p:cTn id="1918" nodeType="clickEffect" fill="hold">
                      <p:stCondLst>
                        <p:cond evt="onClick">
                          <p:tgtEl>
                            <p:spTgt spid="951"/>
                          </p:tgtEl>
                        </p:cond>
                      </p:stCondLst>
                      <p:childTnLst>
                        <p:par>
                          <p:cTn id="19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20" nodeType="clickEffect" fill="hold" presetClass="mediacall" presetID="2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21" dur="1" fill="hold"/>
                                        <p:tgtEl>
                                          <p:spTgt spid="9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922" restart="whenNotActive" nodeType="interactiveSeq" fill="hold">
                <p:stCondLst>
                  <p:cond evt="onClick">
                    <p:tgtEl>
                      <p:spTgt spid="952"/>
                    </p:tgtEl>
                  </p:cond>
                </p:stCondLst>
                <p:childTnLst>
                  <p:par>
                    <p:cTn id="1923" nodeType="clickEffect" fill="hold">
                      <p:stCondLst>
                        <p:cond evt="onClick">
                          <p:tgtEl>
                            <p:spTgt spid="952"/>
                          </p:tgtEl>
                        </p:cond>
                      </p:stCondLst>
                      <p:childTnLst>
                        <p:par>
                          <p:cTn id="19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25" nodeType="clickEffect" fill="hold" presetClass="mediacall" presetID="2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26" dur="1" fill="hold"/>
                                        <p:tgtEl>
                                          <p:spTgt spid="9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BCCE42-ED37-49C4-9DD9-15D36227FC5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5" name="Picture 2" descr=""/>
          <p:cNvPicPr/>
          <p:nvPr/>
        </p:nvPicPr>
        <p:blipFill>
          <a:blip r:embed="rId1"/>
          <a:srcRect l="0" t="7476" r="0" b="16511"/>
          <a:stretch/>
        </p:blipFill>
        <p:spPr>
          <a:xfrm>
            <a:off x="2590920" y="2057400"/>
            <a:ext cx="3970080" cy="464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685800" y="304560"/>
            <a:ext cx="7772400" cy="11430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LACTATEMIE AU COURS D’UN TEST  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zoom dir="out"/>
  </p:transition>
  <p:timing>
    <p:tnLst>
      <p:par>
        <p:cTn id="1927" dur="indefinite" restart="never" nodeType="tmRoot">
          <p:childTnLst>
            <p:seq>
              <p:cTn id="1928" dur="indefinite" nodeType="mainSeq">
                <p:childTnLst>
                  <p:par>
                    <p:cTn id="1929" nodeType="clickEffect" fill="hold">
                      <p:stCondLst>
                        <p:cond delay="0"/>
                      </p:stCondLst>
                      <p:childTnLst>
                        <p:par>
                          <p:cTn id="19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31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33" dur="30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4" dur="30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5" dur="30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6" dur="30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2CBA54-3AC4-42A1-AA99-3A25C141B4A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8" name="Picture 2" descr=""/>
          <p:cNvPicPr/>
          <p:nvPr/>
        </p:nvPicPr>
        <p:blipFill>
          <a:blip r:embed="rId1"/>
          <a:stretch/>
        </p:blipFill>
        <p:spPr>
          <a:xfrm>
            <a:off x="457200" y="542880"/>
            <a:ext cx="8229600" cy="61628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dissolv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2B5920-AC91-4160-BEFA-C37095430B8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Rectangle 2"/>
          <p:cNvSpPr/>
          <p:nvPr/>
        </p:nvSpPr>
        <p:spPr>
          <a:xfrm>
            <a:off x="179280" y="692280"/>
            <a:ext cx="8964720" cy="51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plus… le « seuil » peut se déplacer en fonction :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spcBef>
                <a:spcPts val="1500"/>
              </a:spcBef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 niveau d’entraînement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spcBef>
                <a:spcPts val="1500"/>
              </a:spcBef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  protocole des épreuves utilisées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Triangulaires ou rectangulaires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Durée des paliers et de la récupération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Fréquence de pédalage</a:t>
            </a:r>
            <a:r>
              <a:rPr b="1" lang="fr-FR" sz="20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(Hugues et Coll, 1982)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spécialité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l’âge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 sexe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428C0D-8B0F-4D0F-8153-59972F873BC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Text Box 4"/>
          <p:cNvSpPr/>
          <p:nvPr/>
        </p:nvSpPr>
        <p:spPr>
          <a:xfrm>
            <a:off x="1186200" y="3213000"/>
            <a:ext cx="6892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« SEUIL » ANAEROBIE ET ENTRAÎNEMENT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FE9198-9DF6-4CF1-9F1F-61F589D5E37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Line 2"/>
          <p:cNvSpPr/>
          <p:nvPr/>
        </p:nvSpPr>
        <p:spPr>
          <a:xfrm>
            <a:off x="1066680" y="914400"/>
            <a:ext cx="0" cy="48769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Arc 4"/>
          <p:cNvSpPr/>
          <p:nvPr/>
        </p:nvSpPr>
        <p:spPr>
          <a:xfrm rot="5548800">
            <a:off x="2241360" y="1344600"/>
            <a:ext cx="3563640" cy="4211640"/>
          </a:xfrm>
          <a:custGeom>
            <a:avLst/>
            <a:gdLst>
              <a:gd name="GluePoint1X" fmla="*/ 0 w 21600"/>
              <a:gd name="GluePoint1Y" fmla="*/ 0 h 24520"/>
              <a:gd name="GluePoint2X" fmla="*/ 2147483647 w 21600"/>
              <a:gd name="GluePoint2Y" fmla="*/ 2147483647 h 24520"/>
              <a:gd name="GluePoint3X" fmla="*/ 0 w 21600"/>
              <a:gd name="GluePoint3Y" fmla="*/ 2147483647 h 245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</a:path>
              <a:path stroke="0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Arc 5"/>
          <p:cNvSpPr/>
          <p:nvPr/>
        </p:nvSpPr>
        <p:spPr>
          <a:xfrm rot="5548800">
            <a:off x="2481840" y="641880"/>
            <a:ext cx="4179960" cy="5029200"/>
          </a:xfrm>
          <a:custGeom>
            <a:avLst/>
            <a:gdLst>
              <a:gd name="GluePoint1X" fmla="*/ 2147483647 w 21600"/>
              <a:gd name="GluePoint1Y" fmla="*/ 0 h 23698"/>
              <a:gd name="GluePoint2X" fmla="*/ 2147483647 w 21600"/>
              <a:gd name="GluePoint2Y" fmla="*/ 2147483647 h 23698"/>
              <a:gd name="GluePoint3X" fmla="*/ 0 w 21600"/>
              <a:gd name="GluePoint3Y" fmla="*/ 2147483647 h 236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</a:path>
              <a:path stroke="0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  <a:lnTo>
                  <a:pt x="0" y="21597"/>
                </a:lnTo>
                <a:lnTo>
                  <a:pt x="333" y="-1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Line 6"/>
          <p:cNvSpPr/>
          <p:nvPr/>
        </p:nvSpPr>
        <p:spPr>
          <a:xfrm>
            <a:off x="4800600" y="441972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Line 7"/>
          <p:cNvSpPr/>
          <p:nvPr/>
        </p:nvSpPr>
        <p:spPr>
          <a:xfrm>
            <a:off x="5181480" y="441972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Line 8"/>
          <p:cNvSpPr/>
          <p:nvPr/>
        </p:nvSpPr>
        <p:spPr>
          <a:xfrm flipH="1">
            <a:off x="1066680" y="4419720"/>
            <a:ext cx="419112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AutoShape 9"/>
          <p:cNvSpPr/>
          <p:nvPr/>
        </p:nvSpPr>
        <p:spPr>
          <a:xfrm>
            <a:off x="5638680" y="3505320"/>
            <a:ext cx="457200" cy="15228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280"/>
              <a:gd name="textAreaBottom" fmla="*/ 114480 h 1522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Text Box 10"/>
          <p:cNvSpPr/>
          <p:nvPr/>
        </p:nvSpPr>
        <p:spPr>
          <a:xfrm>
            <a:off x="1357200" y="65088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Text Box 11"/>
          <p:cNvSpPr/>
          <p:nvPr/>
        </p:nvSpPr>
        <p:spPr>
          <a:xfrm>
            <a:off x="1482480" y="1036800"/>
            <a:ext cx="760680" cy="1008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[LAs]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Text Box 12"/>
          <p:cNvSpPr/>
          <p:nvPr/>
        </p:nvSpPr>
        <p:spPr>
          <a:xfrm>
            <a:off x="5799240" y="5943600"/>
            <a:ext cx="2879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Puissance, vitesse,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AutoShape 13"/>
          <p:cNvSpPr/>
          <p:nvPr/>
        </p:nvSpPr>
        <p:spPr>
          <a:xfrm>
            <a:off x="4800600" y="5943600"/>
            <a:ext cx="457200" cy="15228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280"/>
              <a:gd name="textAreaBottom" fmla="*/ 114480 h 1522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Text Box 14"/>
          <p:cNvSpPr/>
          <p:nvPr/>
        </p:nvSpPr>
        <p:spPr>
          <a:xfrm>
            <a:off x="4711680" y="6208560"/>
            <a:ext cx="61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Text Box 15"/>
          <p:cNvSpPr/>
          <p:nvPr/>
        </p:nvSpPr>
        <p:spPr>
          <a:xfrm>
            <a:off x="3504600" y="808200"/>
            <a:ext cx="1609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 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Line 16"/>
          <p:cNvSpPr/>
          <p:nvPr/>
        </p:nvSpPr>
        <p:spPr>
          <a:xfrm>
            <a:off x="2971800" y="106668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Line 17"/>
          <p:cNvSpPr/>
          <p:nvPr/>
        </p:nvSpPr>
        <p:spPr>
          <a:xfrm>
            <a:off x="2971800" y="160020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Text Box 18"/>
          <p:cNvSpPr/>
          <p:nvPr/>
        </p:nvSpPr>
        <p:spPr>
          <a:xfrm>
            <a:off x="3506040" y="1341360"/>
            <a:ext cx="111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419084-2CF2-4631-8332-AB160487BFE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82" name=""/>
          <p:cNvGraphicFramePr/>
          <p:nvPr/>
        </p:nvGraphicFramePr>
        <p:xfrm>
          <a:off x="380880" y="3048120"/>
          <a:ext cx="8534520" cy="3124080"/>
        </p:xfrm>
        <a:graphic>
          <a:graphicData uri="http://schemas.openxmlformats.org/drawingml/2006/table">
            <a:tbl>
              <a:tblPr/>
              <a:tblGrid>
                <a:gridCol w="2133720"/>
                <a:gridCol w="2057400"/>
                <a:gridCol w="2209680"/>
                <a:gridCol w="2133720"/>
              </a:tblGrid>
              <a:tr h="4143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45 – 60 %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65 – 70 %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70 – 85 %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80 – 92 %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3557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3539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Sédentaires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Sprinters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Sportifs entraînés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(sport co)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Sportifs d’endurance 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3" name="Text Box 24"/>
          <p:cNvSpPr/>
          <p:nvPr/>
        </p:nvSpPr>
        <p:spPr>
          <a:xfrm>
            <a:off x="228600" y="1676520"/>
            <a:ext cx="853452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Pourcentages limites de VO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ou de VAM entre lesquels se situent les S.A. en fonction des spécialités et du niveau d’entraînement des sujets concernés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AutoShape 25"/>
          <p:cNvSpPr/>
          <p:nvPr/>
        </p:nvSpPr>
        <p:spPr>
          <a:xfrm>
            <a:off x="2514600" y="3505320"/>
            <a:ext cx="2057400" cy="485640"/>
          </a:xfrm>
          <a:prstGeom prst="rightArrow">
            <a:avLst>
              <a:gd name="adj1" fmla="val 50000"/>
              <a:gd name="adj2" fmla="val 105912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AutoShape 26"/>
          <p:cNvSpPr/>
          <p:nvPr/>
        </p:nvSpPr>
        <p:spPr>
          <a:xfrm>
            <a:off x="4648320" y="3505320"/>
            <a:ext cx="2057400" cy="485640"/>
          </a:xfrm>
          <a:prstGeom prst="rightArrow">
            <a:avLst>
              <a:gd name="adj1" fmla="val 50000"/>
              <a:gd name="adj2" fmla="val 105912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AutoShape 27"/>
          <p:cNvSpPr/>
          <p:nvPr/>
        </p:nvSpPr>
        <p:spPr>
          <a:xfrm>
            <a:off x="6781680" y="3505320"/>
            <a:ext cx="2057400" cy="485640"/>
          </a:xfrm>
          <a:prstGeom prst="rightArrow">
            <a:avLst>
              <a:gd name="adj1" fmla="val 50000"/>
              <a:gd name="adj2" fmla="val 105912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AutoShape 28"/>
          <p:cNvSpPr/>
          <p:nvPr/>
        </p:nvSpPr>
        <p:spPr>
          <a:xfrm>
            <a:off x="380880" y="3505320"/>
            <a:ext cx="2057400" cy="485640"/>
          </a:xfrm>
          <a:prstGeom prst="rightArrow">
            <a:avLst>
              <a:gd name="adj1" fmla="val 50000"/>
              <a:gd name="adj2" fmla="val 105912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Text Box 29"/>
          <p:cNvSpPr/>
          <p:nvPr/>
        </p:nvSpPr>
        <p:spPr>
          <a:xfrm>
            <a:off x="3581280" y="1447920"/>
            <a:ext cx="685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Rectangle 30"/>
          <p:cNvSpPr/>
          <p:nvPr/>
        </p:nvSpPr>
        <p:spPr>
          <a:xfrm>
            <a:off x="0" y="152280"/>
            <a:ext cx="9142560" cy="1143000"/>
          </a:xfrm>
          <a:prstGeom prst="rect">
            <a:avLst/>
          </a:prstGeom>
          <a:noFill/>
          <a:ln w="0">
            <a:noFill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VARIATION DU «SEUIL ANAEROBIE» EN FONCTION DE LA SPECIALITE ET DU NIVEAU D’ENTRAÎNEMENT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Text Box 31"/>
          <p:cNvSpPr/>
          <p:nvPr/>
        </p:nvSpPr>
        <p:spPr>
          <a:xfrm>
            <a:off x="533160" y="6324480"/>
            <a:ext cx="826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Costill, 1970, McDougal, 1977, Smith et al., 1984, Jousselin et al., 1984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7" dur="indefinite" restart="never" nodeType="tmRoot">
          <p:childTnLst>
            <p:seq>
              <p:cTn id="1938" dur="indefinite" nodeType="mainSeq">
                <p:childTnLst>
                  <p:par>
                    <p:cTn id="1939" nodeType="clickEffect" fill="hold">
                      <p:stCondLst>
                        <p:cond delay="0"/>
                      </p:stCondLst>
                      <p:childTnLst>
                        <p:par>
                          <p:cTn id="19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4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3" dur="50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4" dur="50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4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48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52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3" nodeType="clickEffect" fill="hold">
                      <p:stCondLst>
                        <p:cond delay="indefinite"/>
                      </p:stCondLst>
                      <p:childTnLst>
                        <p:par>
                          <p:cTn id="19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57"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5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61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65"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6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96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69"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73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DD8ED0-9F10-4CD2-934D-4AEDB1AA915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Text Box 2"/>
          <p:cNvSpPr/>
          <p:nvPr/>
        </p:nvSpPr>
        <p:spPr>
          <a:xfrm>
            <a:off x="1879200" y="2467080"/>
            <a:ext cx="513792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validité des techniques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pour obtenir le S.A.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DE06E5-7353-4063-BA24-17747A7B3AB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76320" y="-360"/>
            <a:ext cx="9066240" cy="10666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3.3 VALIDITE DU SEUIL ANAEROBIE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Rectangle 5"/>
          <p:cNvSpPr/>
          <p:nvPr/>
        </p:nvSpPr>
        <p:spPr>
          <a:xfrm>
            <a:off x="468360" y="1557360"/>
            <a:ext cx="8396280" cy="44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validité du S.A. peut être remise en question non seulement par l’aspect erroné des théories qui le sous-tendent mais aussi par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ffffff"/>
              </a:buClr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Le nombre des techniques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susceptibles de le déterminer : </a:t>
            </a:r>
            <a:r>
              <a:rPr b="1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au total 34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répertoriées par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Tokmakidis et Léger (1988)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19 invasives et 15 non invasives.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1974" dur="indefinite" restart="never" nodeType="tmRoot">
          <p:childTnLst>
            <p:seq>
              <p:cTn id="1975" dur="indefinite" nodeType="mainSeq">
                <p:childTnLst>
                  <p:par>
                    <p:cTn id="1976" nodeType="clickEffect" fill="hold">
                      <p:stCondLst>
                        <p:cond delay="0"/>
                      </p:stCondLst>
                      <p:childTnLst>
                        <p:par>
                          <p:cTn id="19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8" nodeType="afterEffect" fill="hold" presetClass="entr" presetID="2" presetSubtype="1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0" dur="30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1" dur="30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983" nodeType="afterEffect" fill="hold" presetClass="entr" presetID="4" presetSubtype="3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985" dur="3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5B7E78-5F55-4EE4-91BC-510C25B6BAE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Text Box 2"/>
          <p:cNvSpPr/>
          <p:nvPr/>
        </p:nvSpPr>
        <p:spPr>
          <a:xfrm>
            <a:off x="1520640" y="990720"/>
            <a:ext cx="5964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ACIDOSE METABOLIQUE (ACIDOSE LACTIQUE)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Line 3"/>
          <p:cNvSpPr/>
          <p:nvPr/>
        </p:nvSpPr>
        <p:spPr>
          <a:xfrm>
            <a:off x="4495680" y="1447920"/>
            <a:ext cx="0" cy="60948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Line 4"/>
          <p:cNvSpPr/>
          <p:nvPr/>
        </p:nvSpPr>
        <p:spPr>
          <a:xfrm>
            <a:off x="1828800" y="2057400"/>
            <a:ext cx="53341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Line 5"/>
          <p:cNvSpPr/>
          <p:nvPr/>
        </p:nvSpPr>
        <p:spPr>
          <a:xfrm>
            <a:off x="1828800" y="205740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Line 6"/>
          <p:cNvSpPr/>
          <p:nvPr/>
        </p:nvSpPr>
        <p:spPr>
          <a:xfrm>
            <a:off x="7162920" y="205740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Text Box 7"/>
          <p:cNvSpPr/>
          <p:nvPr/>
        </p:nvSpPr>
        <p:spPr>
          <a:xfrm>
            <a:off x="610560" y="2286000"/>
            <a:ext cx="254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Techniques invasives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Text Box 8"/>
          <p:cNvSpPr/>
          <p:nvPr/>
        </p:nvSpPr>
        <p:spPr>
          <a:xfrm>
            <a:off x="5639760" y="2286000"/>
            <a:ext cx="3026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Techniques non invasives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Line 9"/>
          <p:cNvSpPr/>
          <p:nvPr/>
        </p:nvSpPr>
        <p:spPr>
          <a:xfrm>
            <a:off x="1828800" y="266688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Line 10"/>
          <p:cNvSpPr/>
          <p:nvPr/>
        </p:nvSpPr>
        <p:spPr>
          <a:xfrm>
            <a:off x="7162920" y="266688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Text Box 11"/>
          <p:cNvSpPr/>
          <p:nvPr/>
        </p:nvSpPr>
        <p:spPr>
          <a:xfrm>
            <a:off x="382680" y="3124080"/>
            <a:ext cx="510804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anaérobie (S.A. ou A.T.)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lactique (S.L. ou L.T.)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Début d’accumulation du lactate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plasmatique (DALP ou OPLA)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Début d’accumulation du lactate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sanguin DALS ou OBLA)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Etat stable maximal (ESM ou MSS)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Seuil bicarbonate (SB ou BT)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Seuil pyruvate (SP ou PT)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Seuil de l’ammonium sanguin (SAS ou BAT)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Seuil de l’adrénaline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…..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Text Box 12"/>
          <p:cNvSpPr/>
          <p:nvPr/>
        </p:nvSpPr>
        <p:spPr>
          <a:xfrm>
            <a:off x="5778000" y="3084480"/>
            <a:ext cx="328068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anaérobie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ventilatoire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des échanges gazeux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de déflexion de la FC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Seuil EMG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39FE73-FAA2-4E30-AB71-F2BAD502D01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Rectangle 4"/>
          <p:cNvSpPr/>
          <p:nvPr/>
        </p:nvSpPr>
        <p:spPr>
          <a:xfrm>
            <a:off x="684360" y="1197000"/>
            <a:ext cx="8064360" cy="39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Leur variété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Valeurs fixes du lactate : 2 - 4 mmol-l-1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Etat stable de la lactatémie limite,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Points d’inflexion de la courbe lactique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Points de tangence par rapport à cette courbe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Valeurs fixes individuelles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64E08B-3554-4A53-8F8B-A4A9EE86ABD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Line 2"/>
          <p:cNvSpPr/>
          <p:nvPr/>
        </p:nvSpPr>
        <p:spPr>
          <a:xfrm>
            <a:off x="2590920" y="5338800"/>
            <a:ext cx="4800600" cy="46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Line 3"/>
          <p:cNvSpPr/>
          <p:nvPr/>
        </p:nvSpPr>
        <p:spPr>
          <a:xfrm flipV="1">
            <a:off x="2590920" y="1528560"/>
            <a:ext cx="0" cy="3809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Line 4"/>
          <p:cNvSpPr/>
          <p:nvPr/>
        </p:nvSpPr>
        <p:spPr>
          <a:xfrm>
            <a:off x="2590920" y="4805280"/>
            <a:ext cx="236196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Line 5"/>
          <p:cNvSpPr/>
          <p:nvPr/>
        </p:nvSpPr>
        <p:spPr>
          <a:xfrm>
            <a:off x="2590920" y="4272120"/>
            <a:ext cx="335268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Line 6"/>
          <p:cNvSpPr/>
          <p:nvPr/>
        </p:nvSpPr>
        <p:spPr>
          <a:xfrm>
            <a:off x="4876920" y="4805280"/>
            <a:ext cx="0" cy="5335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Line 7"/>
          <p:cNvSpPr/>
          <p:nvPr/>
        </p:nvSpPr>
        <p:spPr>
          <a:xfrm>
            <a:off x="5867280" y="4272120"/>
            <a:ext cx="0" cy="106668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Text Box 8"/>
          <p:cNvSpPr/>
          <p:nvPr/>
        </p:nvSpPr>
        <p:spPr>
          <a:xfrm rot="16200000">
            <a:off x="344160" y="3400920"/>
            <a:ext cx="2584800" cy="36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 ou OBLA (mmol.l</a:t>
            </a:r>
            <a:r>
              <a:rPr b="0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Text Box 9"/>
          <p:cNvSpPr/>
          <p:nvPr/>
        </p:nvSpPr>
        <p:spPr>
          <a:xfrm>
            <a:off x="1905120" y="5943600"/>
            <a:ext cx="6476760" cy="642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Intensité : vitesse, % vam, puissance, % PAM, % VO2max,         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FC, % Fcmax,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Text Box 10"/>
          <p:cNvSpPr/>
          <p:nvPr/>
        </p:nvSpPr>
        <p:spPr>
          <a:xfrm>
            <a:off x="4025160" y="5375160"/>
            <a:ext cx="276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 Aérobie    S.Anaérobie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Text Box 11"/>
          <p:cNvSpPr/>
          <p:nvPr/>
        </p:nvSpPr>
        <p:spPr>
          <a:xfrm>
            <a:off x="6859800" y="21337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Text Box 12"/>
          <p:cNvSpPr/>
          <p:nvPr/>
        </p:nvSpPr>
        <p:spPr>
          <a:xfrm>
            <a:off x="6631200" y="26668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Text Box 13"/>
          <p:cNvSpPr/>
          <p:nvPr/>
        </p:nvSpPr>
        <p:spPr>
          <a:xfrm>
            <a:off x="6324480" y="3200400"/>
            <a:ext cx="33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Text Box 14"/>
          <p:cNvSpPr/>
          <p:nvPr/>
        </p:nvSpPr>
        <p:spPr>
          <a:xfrm>
            <a:off x="6019920" y="3657600"/>
            <a:ext cx="33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Text Box 15"/>
          <p:cNvSpPr/>
          <p:nvPr/>
        </p:nvSpPr>
        <p:spPr>
          <a:xfrm>
            <a:off x="5488200" y="42670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Text Box 16"/>
          <p:cNvSpPr/>
          <p:nvPr/>
        </p:nvSpPr>
        <p:spPr>
          <a:xfrm>
            <a:off x="5183280" y="43434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Text Box 17"/>
          <p:cNvSpPr/>
          <p:nvPr/>
        </p:nvSpPr>
        <p:spPr>
          <a:xfrm>
            <a:off x="4878720" y="45720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Text Box 18"/>
          <p:cNvSpPr/>
          <p:nvPr/>
        </p:nvSpPr>
        <p:spPr>
          <a:xfrm>
            <a:off x="4573800" y="47242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Text Box 19"/>
          <p:cNvSpPr/>
          <p:nvPr/>
        </p:nvSpPr>
        <p:spPr>
          <a:xfrm>
            <a:off x="4192920" y="47242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Text Box 20"/>
          <p:cNvSpPr/>
          <p:nvPr/>
        </p:nvSpPr>
        <p:spPr>
          <a:xfrm>
            <a:off x="3659400" y="47242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Text Box 21"/>
          <p:cNvSpPr/>
          <p:nvPr/>
        </p:nvSpPr>
        <p:spPr>
          <a:xfrm>
            <a:off x="3125880" y="4800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Line 22"/>
          <p:cNvSpPr/>
          <p:nvPr/>
        </p:nvSpPr>
        <p:spPr>
          <a:xfrm flipV="1">
            <a:off x="4800600" y="4190760"/>
            <a:ext cx="1295280" cy="6858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Line 23"/>
          <p:cNvSpPr/>
          <p:nvPr/>
        </p:nvSpPr>
        <p:spPr>
          <a:xfrm flipH="1">
            <a:off x="5714640" y="1981080"/>
            <a:ext cx="1600200" cy="259092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Line 24"/>
          <p:cNvSpPr/>
          <p:nvPr/>
        </p:nvSpPr>
        <p:spPr>
          <a:xfrm flipV="1">
            <a:off x="3276720" y="4876560"/>
            <a:ext cx="1828800" cy="15228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Freeform 25"/>
          <p:cNvSpPr/>
          <p:nvPr/>
        </p:nvSpPr>
        <p:spPr>
          <a:xfrm>
            <a:off x="3124080" y="2057400"/>
            <a:ext cx="4114800" cy="2895480"/>
          </a:xfrm>
          <a:custGeom>
            <a:avLst/>
            <a:gdLst>
              <a:gd name="GluePoint1X" fmla="*/ 0 w 2592"/>
              <a:gd name="GluePoint1Y" fmla="*/ 2147483647 h 1824"/>
              <a:gd name="GluePoint2X" fmla="*/ 2147483647 w 2592"/>
              <a:gd name="GluePoint2Y" fmla="*/ 2147483647 h 1824"/>
              <a:gd name="GluePoint3X" fmla="*/ 2147483647 w 2592"/>
              <a:gd name="GluePoint3Y" fmla="*/ 2147483647 h 1824"/>
              <a:gd name="GluePoint4X" fmla="*/ 2147483647 w 2592"/>
              <a:gd name="GluePoint4Y" fmla="*/ 2147483647 h 1824"/>
              <a:gd name="GluePoint5X" fmla="*/ 2147483647 w 2592"/>
              <a:gd name="GluePoint5Y" fmla="*/ 2147483647 h 1824"/>
              <a:gd name="GluePoint6X" fmla="*/ 2147483647 w 2592"/>
              <a:gd name="GluePoint6Y" fmla="*/ 0 h 18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592" h="1824">
                <a:moveTo>
                  <a:pt x="0" y="1824"/>
                </a:moveTo>
                <a:cubicBezTo>
                  <a:pt x="364" y="1820"/>
                  <a:pt x="728" y="1816"/>
                  <a:pt x="960" y="1776"/>
                </a:cubicBezTo>
                <a:cubicBezTo>
                  <a:pt x="1192" y="1736"/>
                  <a:pt x="1264" y="1640"/>
                  <a:pt x="1392" y="1584"/>
                </a:cubicBezTo>
                <a:cubicBezTo>
                  <a:pt x="1520" y="1528"/>
                  <a:pt x="1608" y="1552"/>
                  <a:pt x="1728" y="1440"/>
                </a:cubicBezTo>
                <a:cubicBezTo>
                  <a:pt x="1848" y="1328"/>
                  <a:pt x="1968" y="1152"/>
                  <a:pt x="2112" y="912"/>
                </a:cubicBezTo>
                <a:cubicBezTo>
                  <a:pt x="2256" y="672"/>
                  <a:pt x="2512" y="152"/>
                  <a:pt x="2592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Rectangle 26"/>
          <p:cNvSpPr/>
          <p:nvPr/>
        </p:nvSpPr>
        <p:spPr>
          <a:xfrm>
            <a:off x="2366640" y="685800"/>
            <a:ext cx="5704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Points d’inflexions de la courbe lactique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86" dur="indefinite" restart="never" nodeType="tmRoot">
          <p:childTnLst>
            <p:seq>
              <p:cTn id="1987" dur="indefinite" nodeType="mainSeq">
                <p:childTnLst>
                  <p:par>
                    <p:cTn id="1988" nodeType="clickEffect" fill="hold">
                      <p:stCondLst>
                        <p:cond delay="0"/>
                      </p:stCondLst>
                      <p:childTnLst>
                        <p:par>
                          <p:cTn id="19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9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9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9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96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0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00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0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0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0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3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01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01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20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1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02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24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5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02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28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9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03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32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3" nodeType="clickEffect" fill="hold">
                      <p:stCondLst>
                        <p:cond delay="indefinite"/>
                      </p:stCondLst>
                      <p:childTnLst>
                        <p:par>
                          <p:cTn id="20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3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3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3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41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04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6" nodeType="clickEffect" fill="hold">
                      <p:stCondLst>
                        <p:cond delay="indefinite"/>
                      </p:stCondLst>
                      <p:childTnLst>
                        <p:par>
                          <p:cTn id="20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5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1" nodeType="clickEffect" fill="hold">
                      <p:stCondLst>
                        <p:cond delay="indefinite"/>
                      </p:stCondLst>
                      <p:childTnLst>
                        <p:par>
                          <p:cTn id="20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53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055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5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059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1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063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4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06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067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77DD64-CCA4-4255-BB6E-C21D0E47E6F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Line 2"/>
          <p:cNvSpPr/>
          <p:nvPr/>
        </p:nvSpPr>
        <p:spPr>
          <a:xfrm>
            <a:off x="2590920" y="5338800"/>
            <a:ext cx="4800600" cy="46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Arc 3"/>
          <p:cNvSpPr/>
          <p:nvPr/>
        </p:nvSpPr>
        <p:spPr>
          <a:xfrm>
            <a:off x="2941560" y="2519280"/>
            <a:ext cx="4070520" cy="2590920"/>
          </a:xfrm>
          <a:custGeom>
            <a:avLst/>
            <a:gdLst>
              <a:gd name="GluePoint1X" fmla="*/ 2147483647 w 21766"/>
              <a:gd name="GluePoint1Y" fmla="*/ 2147483647 h 21600"/>
              <a:gd name="GluePoint2X" fmla="*/ 0 w 21766"/>
              <a:gd name="GluePoint2Y" fmla="*/ 2147483647 h 21600"/>
              <a:gd name="GluePoint3X" fmla="*/ 2147483647 w 21766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766" h="21600">
                <a:moveTo>
                  <a:pt x="21765" y="35"/>
                </a:moveTo>
                <a:cubicBezTo>
                  <a:pt x="21746" y="11951"/>
                  <a:pt x="12081" y="21599"/>
                  <a:pt x="166" y="21600"/>
                </a:cubicBezTo>
                <a:cubicBezTo>
                  <a:pt x="110" y="21600"/>
                  <a:pt x="55" y="21599"/>
                  <a:pt x="-1" y="21599"/>
                </a:cubicBezTo>
              </a:path>
              <a:path stroke="0" w="21766" h="21600">
                <a:moveTo>
                  <a:pt x="21765" y="35"/>
                </a:moveTo>
                <a:cubicBezTo>
                  <a:pt x="21746" y="11951"/>
                  <a:pt x="12081" y="21599"/>
                  <a:pt x="166" y="21600"/>
                </a:cubicBezTo>
                <a:cubicBezTo>
                  <a:pt x="110" y="21600"/>
                  <a:pt x="55" y="21599"/>
                  <a:pt x="-1" y="21599"/>
                </a:cubicBezTo>
                <a:lnTo>
                  <a:pt x="166" y="0"/>
                </a:lnTo>
                <a:lnTo>
                  <a:pt x="21765" y="35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Line 4"/>
          <p:cNvSpPr/>
          <p:nvPr/>
        </p:nvSpPr>
        <p:spPr>
          <a:xfrm flipV="1">
            <a:off x="2590920" y="1528560"/>
            <a:ext cx="0" cy="38098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Line 5"/>
          <p:cNvSpPr/>
          <p:nvPr/>
        </p:nvSpPr>
        <p:spPr>
          <a:xfrm>
            <a:off x="2590920" y="4805280"/>
            <a:ext cx="236196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Line 6"/>
          <p:cNvSpPr/>
          <p:nvPr/>
        </p:nvSpPr>
        <p:spPr>
          <a:xfrm>
            <a:off x="2590920" y="4272120"/>
            <a:ext cx="335268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Text Box 7"/>
          <p:cNvSpPr/>
          <p:nvPr/>
        </p:nvSpPr>
        <p:spPr>
          <a:xfrm>
            <a:off x="2133720" y="3967200"/>
            <a:ext cx="32544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Line 8"/>
          <p:cNvSpPr/>
          <p:nvPr/>
        </p:nvSpPr>
        <p:spPr>
          <a:xfrm>
            <a:off x="4876920" y="4805280"/>
            <a:ext cx="0" cy="5335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Line 9"/>
          <p:cNvSpPr/>
          <p:nvPr/>
        </p:nvSpPr>
        <p:spPr>
          <a:xfrm>
            <a:off x="5867280" y="4272120"/>
            <a:ext cx="0" cy="106668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Text Box 10"/>
          <p:cNvSpPr/>
          <p:nvPr/>
        </p:nvSpPr>
        <p:spPr>
          <a:xfrm rot="16200000">
            <a:off x="344160" y="3400920"/>
            <a:ext cx="2584800" cy="36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 ou OBLA (mmol.l</a:t>
            </a:r>
            <a:r>
              <a:rPr b="0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Text Box 11"/>
          <p:cNvSpPr/>
          <p:nvPr/>
        </p:nvSpPr>
        <p:spPr>
          <a:xfrm>
            <a:off x="1143000" y="5867280"/>
            <a:ext cx="6858000" cy="642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Intensité : vitesse, % vam, puissance, % PAM, % VO2max, FC, % Fcmax,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Text Box 12"/>
          <p:cNvSpPr/>
          <p:nvPr/>
        </p:nvSpPr>
        <p:spPr>
          <a:xfrm>
            <a:off x="4025160" y="5375160"/>
            <a:ext cx="276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 Aérobie    S.Anaérobie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Text Box 13"/>
          <p:cNvSpPr/>
          <p:nvPr/>
        </p:nvSpPr>
        <p:spPr>
          <a:xfrm>
            <a:off x="214200" y="264960"/>
            <a:ext cx="8929800" cy="9918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361332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Limite aérobie » à 2 mmol.l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début de l’accumulation du lactate plasmatique à 4mmol.l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(DALP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ou onset of plasma lactate accumulation : OPLA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ou du lactate sanguin (DALS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onset of blood lactate accumulation (OBLA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Rectangle 14"/>
          <p:cNvSpPr/>
          <p:nvPr/>
        </p:nvSpPr>
        <p:spPr>
          <a:xfrm>
            <a:off x="3061440" y="1752480"/>
            <a:ext cx="5521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Valeurs fixes du lactate : 2 - 4 mmol.l</a:t>
            </a:r>
            <a:r>
              <a:rPr b="0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68" dur="indefinite" restart="never" nodeType="tmRoot">
          <p:childTnLst>
            <p:seq>
              <p:cTn id="2069" dur="indefinite" nodeType="mainSeq">
                <p:childTnLst>
                  <p:par>
                    <p:cTn id="2070" nodeType="clickEffect" fill="hold">
                      <p:stCondLst>
                        <p:cond delay="0"/>
                      </p:stCondLst>
                      <p:childTnLst>
                        <p:par>
                          <p:cTn id="20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74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02AC5B-41F9-4669-927C-7A9A8EAB592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Line 2"/>
          <p:cNvSpPr/>
          <p:nvPr/>
        </p:nvSpPr>
        <p:spPr>
          <a:xfrm>
            <a:off x="762120" y="914400"/>
            <a:ext cx="0" cy="54864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Line 3"/>
          <p:cNvSpPr/>
          <p:nvPr/>
        </p:nvSpPr>
        <p:spPr>
          <a:xfrm>
            <a:off x="762120" y="6400800"/>
            <a:ext cx="53337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Line 4"/>
          <p:cNvSpPr/>
          <p:nvPr/>
        </p:nvSpPr>
        <p:spPr>
          <a:xfrm flipV="1">
            <a:off x="6095880" y="685440"/>
            <a:ext cx="0" cy="5715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Text Box 5"/>
          <p:cNvSpPr/>
          <p:nvPr/>
        </p:nvSpPr>
        <p:spPr>
          <a:xfrm>
            <a:off x="-225720" y="914400"/>
            <a:ext cx="1560960" cy="53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Text Box 6"/>
          <p:cNvSpPr/>
          <p:nvPr/>
        </p:nvSpPr>
        <p:spPr>
          <a:xfrm>
            <a:off x="5623560" y="990720"/>
            <a:ext cx="1434240" cy="53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10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9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8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7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6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5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4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3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2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1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Text Box 7"/>
          <p:cNvSpPr/>
          <p:nvPr/>
        </p:nvSpPr>
        <p:spPr>
          <a:xfrm>
            <a:off x="596520" y="6324480"/>
            <a:ext cx="4838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                           I                             I                              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0                           4                             8                            12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Line 8"/>
          <p:cNvSpPr/>
          <p:nvPr/>
        </p:nvSpPr>
        <p:spPr>
          <a:xfrm flipV="1">
            <a:off x="5181480" y="517320"/>
            <a:ext cx="0" cy="60948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Line 9"/>
          <p:cNvSpPr/>
          <p:nvPr/>
        </p:nvSpPr>
        <p:spPr>
          <a:xfrm flipV="1">
            <a:off x="762120" y="2133360"/>
            <a:ext cx="1447560" cy="388620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Line 10"/>
          <p:cNvSpPr/>
          <p:nvPr/>
        </p:nvSpPr>
        <p:spPr>
          <a:xfrm flipV="1">
            <a:off x="762120" y="2819520"/>
            <a:ext cx="1447560" cy="3200400"/>
          </a:xfrm>
          <a:prstGeom prst="line">
            <a:avLst/>
          </a:prstGeom>
          <a:ln w="381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Line 11"/>
          <p:cNvSpPr/>
          <p:nvPr/>
        </p:nvSpPr>
        <p:spPr>
          <a:xfrm flipV="1">
            <a:off x="762120" y="4266720"/>
            <a:ext cx="1447560" cy="17528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Line 12"/>
          <p:cNvSpPr/>
          <p:nvPr/>
        </p:nvSpPr>
        <p:spPr>
          <a:xfrm flipV="1">
            <a:off x="762120" y="5181120"/>
            <a:ext cx="1447560" cy="83844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Line 13"/>
          <p:cNvSpPr/>
          <p:nvPr/>
        </p:nvSpPr>
        <p:spPr>
          <a:xfrm flipV="1">
            <a:off x="838080" y="5486400"/>
            <a:ext cx="1371600" cy="53352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Line 14"/>
          <p:cNvSpPr/>
          <p:nvPr/>
        </p:nvSpPr>
        <p:spPr>
          <a:xfrm flipV="1">
            <a:off x="762120" y="5790960"/>
            <a:ext cx="1447560" cy="2286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Line 15"/>
          <p:cNvSpPr/>
          <p:nvPr/>
        </p:nvSpPr>
        <p:spPr>
          <a:xfrm>
            <a:off x="2209680" y="5791320"/>
            <a:ext cx="29718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Line 16"/>
          <p:cNvSpPr/>
          <p:nvPr/>
        </p:nvSpPr>
        <p:spPr>
          <a:xfrm>
            <a:off x="2209680" y="5486400"/>
            <a:ext cx="2971800" cy="22860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Line 17"/>
          <p:cNvSpPr/>
          <p:nvPr/>
        </p:nvSpPr>
        <p:spPr>
          <a:xfrm>
            <a:off x="2209680" y="5181480"/>
            <a:ext cx="2971800" cy="7632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Line 18"/>
          <p:cNvSpPr/>
          <p:nvPr/>
        </p:nvSpPr>
        <p:spPr>
          <a:xfrm>
            <a:off x="2209680" y="4267080"/>
            <a:ext cx="297180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Line 19"/>
          <p:cNvSpPr/>
          <p:nvPr/>
        </p:nvSpPr>
        <p:spPr>
          <a:xfrm>
            <a:off x="2209680" y="2819520"/>
            <a:ext cx="2971800" cy="0"/>
          </a:xfrm>
          <a:prstGeom prst="line">
            <a:avLst/>
          </a:prstGeom>
          <a:ln w="381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Line 20"/>
          <p:cNvSpPr/>
          <p:nvPr/>
        </p:nvSpPr>
        <p:spPr>
          <a:xfrm flipV="1">
            <a:off x="2209680" y="1143000"/>
            <a:ext cx="2971800" cy="99072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Line 21"/>
          <p:cNvSpPr/>
          <p:nvPr/>
        </p:nvSpPr>
        <p:spPr>
          <a:xfrm flipV="1">
            <a:off x="2209680" y="1752120"/>
            <a:ext cx="0" cy="38124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Line 22"/>
          <p:cNvSpPr/>
          <p:nvPr/>
        </p:nvSpPr>
        <p:spPr>
          <a:xfrm>
            <a:off x="2133720" y="175248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Line 23"/>
          <p:cNvSpPr/>
          <p:nvPr/>
        </p:nvSpPr>
        <p:spPr>
          <a:xfrm>
            <a:off x="5105520" y="51768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Text Box 24"/>
          <p:cNvSpPr/>
          <p:nvPr/>
        </p:nvSpPr>
        <p:spPr>
          <a:xfrm>
            <a:off x="5259240" y="83808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94%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Line 25"/>
          <p:cNvSpPr/>
          <p:nvPr/>
        </p:nvSpPr>
        <p:spPr>
          <a:xfrm flipV="1">
            <a:off x="5181480" y="2514240"/>
            <a:ext cx="0" cy="30492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Line 26"/>
          <p:cNvSpPr/>
          <p:nvPr/>
        </p:nvSpPr>
        <p:spPr>
          <a:xfrm>
            <a:off x="5105520" y="2514600"/>
            <a:ext cx="152280" cy="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Line 27"/>
          <p:cNvSpPr/>
          <p:nvPr/>
        </p:nvSpPr>
        <p:spPr>
          <a:xfrm flipV="1">
            <a:off x="2209680" y="2590560"/>
            <a:ext cx="0" cy="22860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Line 28"/>
          <p:cNvSpPr/>
          <p:nvPr/>
        </p:nvSpPr>
        <p:spPr>
          <a:xfrm>
            <a:off x="2133720" y="2590920"/>
            <a:ext cx="152280" cy="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Line 29"/>
          <p:cNvSpPr/>
          <p:nvPr/>
        </p:nvSpPr>
        <p:spPr>
          <a:xfrm flipV="1">
            <a:off x="838080" y="4419360"/>
            <a:ext cx="1371600" cy="16002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Line 30"/>
          <p:cNvSpPr/>
          <p:nvPr/>
        </p:nvSpPr>
        <p:spPr>
          <a:xfrm>
            <a:off x="2209680" y="4419720"/>
            <a:ext cx="297180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Line 31"/>
          <p:cNvSpPr/>
          <p:nvPr/>
        </p:nvSpPr>
        <p:spPr>
          <a:xfrm flipV="1">
            <a:off x="2209680" y="411444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Line 32"/>
          <p:cNvSpPr/>
          <p:nvPr/>
        </p:nvSpPr>
        <p:spPr>
          <a:xfrm>
            <a:off x="2133720" y="411480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Line 33"/>
          <p:cNvSpPr/>
          <p:nvPr/>
        </p:nvSpPr>
        <p:spPr>
          <a:xfrm flipV="1">
            <a:off x="2209680" y="419076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Line 34"/>
          <p:cNvSpPr/>
          <p:nvPr/>
        </p:nvSpPr>
        <p:spPr>
          <a:xfrm>
            <a:off x="2133720" y="419112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Line 35"/>
          <p:cNvSpPr/>
          <p:nvPr/>
        </p:nvSpPr>
        <p:spPr>
          <a:xfrm flipV="1">
            <a:off x="5181480" y="426672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Line 36"/>
          <p:cNvSpPr/>
          <p:nvPr/>
        </p:nvSpPr>
        <p:spPr>
          <a:xfrm>
            <a:off x="5105520" y="426708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Line 37"/>
          <p:cNvSpPr/>
          <p:nvPr/>
        </p:nvSpPr>
        <p:spPr>
          <a:xfrm flipV="1">
            <a:off x="5181480" y="419076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Line 38"/>
          <p:cNvSpPr/>
          <p:nvPr/>
        </p:nvSpPr>
        <p:spPr>
          <a:xfrm>
            <a:off x="5105520" y="419112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Line 39"/>
          <p:cNvSpPr/>
          <p:nvPr/>
        </p:nvSpPr>
        <p:spPr>
          <a:xfrm flipV="1">
            <a:off x="2209680" y="4952520"/>
            <a:ext cx="0" cy="22860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Line 40"/>
          <p:cNvSpPr/>
          <p:nvPr/>
        </p:nvSpPr>
        <p:spPr>
          <a:xfrm>
            <a:off x="2133720" y="495288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Line 41"/>
          <p:cNvSpPr/>
          <p:nvPr/>
        </p:nvSpPr>
        <p:spPr>
          <a:xfrm flipV="1">
            <a:off x="5181480" y="5028840"/>
            <a:ext cx="0" cy="22860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Line 42"/>
          <p:cNvSpPr/>
          <p:nvPr/>
        </p:nvSpPr>
        <p:spPr>
          <a:xfrm>
            <a:off x="5105520" y="502920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Line 43"/>
          <p:cNvSpPr/>
          <p:nvPr/>
        </p:nvSpPr>
        <p:spPr>
          <a:xfrm flipV="1">
            <a:off x="2209680" y="5333760"/>
            <a:ext cx="0" cy="15228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Line 44"/>
          <p:cNvSpPr/>
          <p:nvPr/>
        </p:nvSpPr>
        <p:spPr>
          <a:xfrm>
            <a:off x="2133720" y="5334120"/>
            <a:ext cx="152280" cy="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Line 45"/>
          <p:cNvSpPr/>
          <p:nvPr/>
        </p:nvSpPr>
        <p:spPr>
          <a:xfrm flipV="1">
            <a:off x="5181480" y="5562360"/>
            <a:ext cx="0" cy="15228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Line 46"/>
          <p:cNvSpPr/>
          <p:nvPr/>
        </p:nvSpPr>
        <p:spPr>
          <a:xfrm>
            <a:off x="5105520" y="5562720"/>
            <a:ext cx="152280" cy="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Line 47"/>
          <p:cNvSpPr/>
          <p:nvPr/>
        </p:nvSpPr>
        <p:spPr>
          <a:xfrm flipV="1">
            <a:off x="2209680" y="5638680"/>
            <a:ext cx="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Line 48"/>
          <p:cNvSpPr/>
          <p:nvPr/>
        </p:nvSpPr>
        <p:spPr>
          <a:xfrm>
            <a:off x="2133720" y="563868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Line 49"/>
          <p:cNvSpPr/>
          <p:nvPr/>
        </p:nvSpPr>
        <p:spPr>
          <a:xfrm flipV="1">
            <a:off x="5181480" y="594324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Line 50"/>
          <p:cNvSpPr/>
          <p:nvPr/>
        </p:nvSpPr>
        <p:spPr>
          <a:xfrm>
            <a:off x="5105520" y="594360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Text Box 51"/>
          <p:cNvSpPr/>
          <p:nvPr/>
        </p:nvSpPr>
        <p:spPr>
          <a:xfrm>
            <a:off x="5259240" y="25146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Text Box 52"/>
          <p:cNvSpPr/>
          <p:nvPr/>
        </p:nvSpPr>
        <p:spPr>
          <a:xfrm>
            <a:off x="5259240" y="41148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77%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Text Box 53"/>
          <p:cNvSpPr/>
          <p:nvPr/>
        </p:nvSpPr>
        <p:spPr>
          <a:xfrm>
            <a:off x="5259240" y="441972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Text Box 54"/>
          <p:cNvSpPr/>
          <p:nvPr/>
        </p:nvSpPr>
        <p:spPr>
          <a:xfrm>
            <a:off x="5259240" y="50292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67%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Text Box 55"/>
          <p:cNvSpPr/>
          <p:nvPr/>
        </p:nvSpPr>
        <p:spPr>
          <a:xfrm>
            <a:off x="5259240" y="54864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54%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Text Box 56"/>
          <p:cNvSpPr/>
          <p:nvPr/>
        </p:nvSpPr>
        <p:spPr>
          <a:xfrm>
            <a:off x="5259240" y="586728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Text Box 57"/>
          <p:cNvSpPr/>
          <p:nvPr/>
        </p:nvSpPr>
        <p:spPr>
          <a:xfrm>
            <a:off x="5699520" y="6411960"/>
            <a:ext cx="160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(min)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Text Box 58"/>
          <p:cNvSpPr/>
          <p:nvPr/>
        </p:nvSpPr>
        <p:spPr>
          <a:xfrm>
            <a:off x="976320" y="955800"/>
            <a:ext cx="19875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] mmol.l 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Text Box 59"/>
          <p:cNvSpPr/>
          <p:nvPr/>
        </p:nvSpPr>
        <p:spPr>
          <a:xfrm>
            <a:off x="0" y="0"/>
            <a:ext cx="921384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Lactatémie au cours d’un exercice rectangulaire de 12min réalisé à différents % de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sur ergo cycle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(d’après Jorfeld et al., 1978)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Rectangle 60"/>
          <p:cNvSpPr/>
          <p:nvPr/>
        </p:nvSpPr>
        <p:spPr>
          <a:xfrm>
            <a:off x="6784920" y="2971800"/>
            <a:ext cx="2160720" cy="86256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État stable de la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lactatémie limite,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CA6402-C7BB-481D-B73F-C98AA5F84E7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Line 2"/>
          <p:cNvSpPr/>
          <p:nvPr/>
        </p:nvSpPr>
        <p:spPr>
          <a:xfrm>
            <a:off x="1066680" y="1600200"/>
            <a:ext cx="0" cy="41911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Arc 4"/>
          <p:cNvSpPr/>
          <p:nvPr/>
        </p:nvSpPr>
        <p:spPr>
          <a:xfrm>
            <a:off x="1676520" y="2819520"/>
            <a:ext cx="4343400" cy="2666880"/>
          </a:xfrm>
          <a:custGeom>
            <a:avLst/>
            <a:gdLst>
              <a:gd name="GluePoint1X" fmla="*/ 2147483647 w 21595"/>
              <a:gd name="GluePoint1Y" fmla="*/ 2147483647 h 21600"/>
              <a:gd name="GluePoint2X" fmla="*/ 0 w 21595"/>
              <a:gd name="GluePoint2Y" fmla="*/ 2147483647 h 21600"/>
              <a:gd name="GluePoint3X" fmla="*/ 0 w 21595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595" h="21600">
                <a:moveTo>
                  <a:pt x="21595" y="443"/>
                </a:moveTo>
                <a:cubicBezTo>
                  <a:pt x="21354" y="12197"/>
                  <a:pt x="11756" y="21599"/>
                  <a:pt x="0" y="21600"/>
                </a:cubicBezTo>
              </a:path>
              <a:path stroke="0" w="21595" h="21600">
                <a:moveTo>
                  <a:pt x="21595" y="443"/>
                </a:moveTo>
                <a:cubicBezTo>
                  <a:pt x="21354" y="12197"/>
                  <a:pt x="11756" y="21599"/>
                  <a:pt x="0" y="21600"/>
                </a:cubicBezTo>
                <a:lnTo>
                  <a:pt x="0" y="0"/>
                </a:lnTo>
                <a:lnTo>
                  <a:pt x="21595" y="443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Text Box 5"/>
          <p:cNvSpPr/>
          <p:nvPr/>
        </p:nvSpPr>
        <p:spPr>
          <a:xfrm>
            <a:off x="1303200" y="1600200"/>
            <a:ext cx="1754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 (mmol.l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Text Box 6"/>
          <p:cNvSpPr/>
          <p:nvPr/>
        </p:nvSpPr>
        <p:spPr>
          <a:xfrm>
            <a:off x="1905120" y="6324480"/>
            <a:ext cx="622764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Text Box 7"/>
          <p:cNvSpPr/>
          <p:nvPr/>
        </p:nvSpPr>
        <p:spPr>
          <a:xfrm>
            <a:off x="4188960" y="5867280"/>
            <a:ext cx="1580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S.A.I (I.A.T.)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Freeform 8"/>
          <p:cNvSpPr/>
          <p:nvPr/>
        </p:nvSpPr>
        <p:spPr>
          <a:xfrm>
            <a:off x="6019920" y="2413080"/>
            <a:ext cx="1752480" cy="1778040"/>
          </a:xfrm>
          <a:custGeom>
            <a:avLst/>
            <a:gdLst>
              <a:gd name="GluePoint1X" fmla="*/ 0 w 1104"/>
              <a:gd name="GluePoint1Y" fmla="*/ 2147483647 h 1120"/>
              <a:gd name="GluePoint2X" fmla="*/ 2147483647 w 1104"/>
              <a:gd name="GluePoint2Y" fmla="*/ 2147483647 h 1120"/>
              <a:gd name="GluePoint3X" fmla="*/ 2147483647 w 1104"/>
              <a:gd name="GluePoint3Y" fmla="*/ 2147483647 h 1120"/>
              <a:gd name="GluePoint4X" fmla="*/ 2147483647 w 1104"/>
              <a:gd name="GluePoint4Y" fmla="*/ 2147483647 h 1120"/>
              <a:gd name="GluePoint5X" fmla="*/ 2147483647 w 1104"/>
              <a:gd name="GluePoint5Y" fmla="*/ 2147483647 h 11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104" h="1120">
                <a:moveTo>
                  <a:pt x="0" y="304"/>
                </a:moveTo>
                <a:cubicBezTo>
                  <a:pt x="28" y="228"/>
                  <a:pt x="56" y="152"/>
                  <a:pt x="144" y="112"/>
                </a:cubicBezTo>
                <a:cubicBezTo>
                  <a:pt x="232" y="72"/>
                  <a:pt x="408" y="0"/>
                  <a:pt x="528" y="64"/>
                </a:cubicBezTo>
                <a:cubicBezTo>
                  <a:pt x="648" y="128"/>
                  <a:pt x="768" y="320"/>
                  <a:pt x="864" y="496"/>
                </a:cubicBezTo>
                <a:cubicBezTo>
                  <a:pt x="960" y="672"/>
                  <a:pt x="1032" y="896"/>
                  <a:pt x="1104" y="112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Line 9"/>
          <p:cNvSpPr/>
          <p:nvPr/>
        </p:nvSpPr>
        <p:spPr>
          <a:xfrm>
            <a:off x="6019920" y="2819520"/>
            <a:ext cx="11430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Line 10"/>
          <p:cNvSpPr/>
          <p:nvPr/>
        </p:nvSpPr>
        <p:spPr>
          <a:xfrm flipH="1">
            <a:off x="4038120" y="2819520"/>
            <a:ext cx="3124440" cy="25146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Line 11"/>
          <p:cNvSpPr/>
          <p:nvPr/>
        </p:nvSpPr>
        <p:spPr>
          <a:xfrm>
            <a:off x="5181480" y="4419720"/>
            <a:ext cx="0" cy="1371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Line 12"/>
          <p:cNvSpPr/>
          <p:nvPr/>
        </p:nvSpPr>
        <p:spPr>
          <a:xfrm>
            <a:off x="6019920" y="2819520"/>
            <a:ext cx="0" cy="29718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Text Box 13"/>
          <p:cNvSpPr/>
          <p:nvPr/>
        </p:nvSpPr>
        <p:spPr>
          <a:xfrm>
            <a:off x="5625360" y="2525760"/>
            <a:ext cx="3506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Text Box 14"/>
          <p:cNvSpPr/>
          <p:nvPr/>
        </p:nvSpPr>
        <p:spPr>
          <a:xfrm>
            <a:off x="7240680" y="2514600"/>
            <a:ext cx="3506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Text Box 15"/>
          <p:cNvSpPr/>
          <p:nvPr/>
        </p:nvSpPr>
        <p:spPr>
          <a:xfrm>
            <a:off x="6097320" y="5334120"/>
            <a:ext cx="1552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PAM ou VAM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Text Box 16"/>
          <p:cNvSpPr/>
          <p:nvPr/>
        </p:nvSpPr>
        <p:spPr>
          <a:xfrm>
            <a:off x="142200" y="127080"/>
            <a:ext cx="8740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Seuil anaérobie individuel (S.A.I.) ou individual anaérobic Treshold (I.A.T.)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déterminé selon la technique de Stegmann, Kindermann et Schnabel, 1981)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Rectangle 17"/>
          <p:cNvSpPr/>
          <p:nvPr/>
        </p:nvSpPr>
        <p:spPr>
          <a:xfrm>
            <a:off x="1226520" y="990720"/>
            <a:ext cx="6568560" cy="45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Points de tangence par rapport à cette courbe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75" dur="indefinite" restart="never" nodeType="tmRoot">
          <p:childTnLst>
            <p:seq>
              <p:cTn id="2076" dur="indefinite" nodeType="mainSeq">
                <p:childTnLst>
                  <p:par>
                    <p:cTn id="2077" nodeType="clickEffect" fill="hold">
                      <p:stCondLst>
                        <p:cond delay="0"/>
                      </p:stCondLst>
                      <p:childTnLst>
                        <p:par>
                          <p:cTn id="20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9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81"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85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6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7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89" dur="5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0" dur="5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1" dur="5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2" dur="5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3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09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96"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7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09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00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1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2102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04" dur="5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5" dur="5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6" dur="5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7" dur="5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8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2109" nodeType="afterEffect" fill="hold" presetClass="entr" presetID="22" presetSubtype="2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111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2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13" nodeType="afterEffect" fill="hold" presetClass="entr" presetID="17" presetSubtype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15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6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7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8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9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2120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22" dur="75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E60A15-EE03-4F45-89E3-D426C1AE568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Line 2"/>
          <p:cNvSpPr/>
          <p:nvPr/>
        </p:nvSpPr>
        <p:spPr>
          <a:xfrm>
            <a:off x="1523880" y="1600200"/>
            <a:ext cx="0" cy="41148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Line 3"/>
          <p:cNvSpPr/>
          <p:nvPr/>
        </p:nvSpPr>
        <p:spPr>
          <a:xfrm>
            <a:off x="1523880" y="5715000"/>
            <a:ext cx="70866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Arc 4"/>
          <p:cNvSpPr/>
          <p:nvPr/>
        </p:nvSpPr>
        <p:spPr>
          <a:xfrm rot="16570800">
            <a:off x="4819320" y="423720"/>
            <a:ext cx="3006720" cy="8407440"/>
          </a:xfrm>
          <a:custGeom>
            <a:avLst/>
            <a:gdLst>
              <a:gd name="GluePoint1X" fmla="*/ 2147483647 w 20422"/>
              <a:gd name="GluePoint1Y" fmla="*/ 0 h 21448"/>
              <a:gd name="GluePoint2X" fmla="*/ 2147483647 w 20422"/>
              <a:gd name="GluePoint2Y" fmla="*/ 2147483647 h 21448"/>
              <a:gd name="GluePoint3X" fmla="*/ 0 w 20422"/>
              <a:gd name="GluePoint3Y" fmla="*/ 2147483647 h 214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0422" h="21448">
                <a:moveTo>
                  <a:pt x="2556" y="-1"/>
                </a:moveTo>
                <a:cubicBezTo>
                  <a:pt x="10782" y="980"/>
                  <a:pt x="17723" y="6579"/>
                  <a:pt x="20421" y="14412"/>
                </a:cubicBezTo>
              </a:path>
              <a:path stroke="0" w="20422" h="21448">
                <a:moveTo>
                  <a:pt x="2556" y="-1"/>
                </a:moveTo>
                <a:cubicBezTo>
                  <a:pt x="10782" y="980"/>
                  <a:pt x="17723" y="6579"/>
                  <a:pt x="20421" y="14412"/>
                </a:cubicBezTo>
                <a:lnTo>
                  <a:pt x="0" y="21448"/>
                </a:lnTo>
                <a:lnTo>
                  <a:pt x="2556" y="-1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Arc 5"/>
          <p:cNvSpPr/>
          <p:nvPr/>
        </p:nvSpPr>
        <p:spPr>
          <a:xfrm rot="16570800">
            <a:off x="5836320" y="800280"/>
            <a:ext cx="1452600" cy="8842320"/>
          </a:xfrm>
          <a:custGeom>
            <a:avLst/>
            <a:gdLst>
              <a:gd name="GluePoint1X" fmla="*/ 2147483647 w 20186"/>
              <a:gd name="GluePoint1Y" fmla="*/ 0 h 21448"/>
              <a:gd name="GluePoint2X" fmla="*/ 2147483647 w 20186"/>
              <a:gd name="GluePoint2Y" fmla="*/ 2147483647 h 21448"/>
              <a:gd name="GluePoint3X" fmla="*/ 0 w 20186"/>
              <a:gd name="GluePoint3Y" fmla="*/ 2147483647 h 214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0186" h="21448">
                <a:moveTo>
                  <a:pt x="2556" y="-1"/>
                </a:moveTo>
                <a:cubicBezTo>
                  <a:pt x="10535" y="950"/>
                  <a:pt x="17326" y="6252"/>
                  <a:pt x="20186" y="13761"/>
                </a:cubicBezTo>
              </a:path>
              <a:path stroke="0" w="20186" h="21448">
                <a:moveTo>
                  <a:pt x="2556" y="-1"/>
                </a:moveTo>
                <a:cubicBezTo>
                  <a:pt x="10535" y="950"/>
                  <a:pt x="17326" y="6252"/>
                  <a:pt x="20186" y="13761"/>
                </a:cubicBezTo>
                <a:lnTo>
                  <a:pt x="0" y="21448"/>
                </a:lnTo>
                <a:lnTo>
                  <a:pt x="2556" y="-1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Text Box 6"/>
          <p:cNvSpPr/>
          <p:nvPr/>
        </p:nvSpPr>
        <p:spPr>
          <a:xfrm>
            <a:off x="990720" y="1219320"/>
            <a:ext cx="104760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7 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4 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1 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Text Box 7"/>
          <p:cNvSpPr/>
          <p:nvPr/>
        </p:nvSpPr>
        <p:spPr>
          <a:xfrm>
            <a:off x="7011720" y="2819520"/>
            <a:ext cx="1247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 4 mM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Text Box 8"/>
          <p:cNvSpPr/>
          <p:nvPr/>
        </p:nvSpPr>
        <p:spPr>
          <a:xfrm>
            <a:off x="7088040" y="4186080"/>
            <a:ext cx="739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S.A.I.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Text Box 9"/>
          <p:cNvSpPr/>
          <p:nvPr/>
        </p:nvSpPr>
        <p:spPr>
          <a:xfrm>
            <a:off x="4038480" y="5943600"/>
            <a:ext cx="1707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(min)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Line 10"/>
          <p:cNvSpPr/>
          <p:nvPr/>
        </p:nvSpPr>
        <p:spPr>
          <a:xfrm>
            <a:off x="7924680" y="3352680"/>
            <a:ext cx="0" cy="236232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Text Box 11"/>
          <p:cNvSpPr/>
          <p:nvPr/>
        </p:nvSpPr>
        <p:spPr>
          <a:xfrm>
            <a:off x="7697520" y="5786280"/>
            <a:ext cx="866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56 min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Text Box 12"/>
          <p:cNvSpPr/>
          <p:nvPr/>
        </p:nvSpPr>
        <p:spPr>
          <a:xfrm>
            <a:off x="369720" y="380880"/>
            <a:ext cx="8612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Evolution de la lactatémie à une intensité correspondant au S.A 4mM et au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S.A.I. (adapté de Stegmann et Kindermann, 1982)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Text Box 13"/>
          <p:cNvSpPr/>
          <p:nvPr/>
        </p:nvSpPr>
        <p:spPr>
          <a:xfrm>
            <a:off x="1913040" y="1981080"/>
            <a:ext cx="1754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 (mmol.l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3" dur="indefinite" restart="never" nodeType="tmRoot">
          <p:childTnLst>
            <p:seq>
              <p:cTn id="2124" dur="indefinite" nodeType="mainSeq">
                <p:childTnLst>
                  <p:par>
                    <p:cTn id="2125" nodeType="clickEffect" fill="hold">
                      <p:stCondLst>
                        <p:cond delay="0"/>
                      </p:stCondLst>
                      <p:childTnLst>
                        <p:par>
                          <p:cTn id="2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27" nodeType="afterEffect" fill="hold" presetClass="entr" presetID="22" presetSubtype="8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29"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0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131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33" dur="5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4" dur="5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5" dur="5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6" dur="5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7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13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40"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1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214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44"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5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2146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48"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9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215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52"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3ED519-63CA-484D-BA1D-42584837977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Line 2"/>
          <p:cNvSpPr/>
          <p:nvPr/>
        </p:nvSpPr>
        <p:spPr>
          <a:xfrm>
            <a:off x="1066680" y="1676520"/>
            <a:ext cx="0" cy="41907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Line 3"/>
          <p:cNvSpPr/>
          <p:nvPr/>
        </p:nvSpPr>
        <p:spPr>
          <a:xfrm>
            <a:off x="1066680" y="586728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Arc 4"/>
          <p:cNvSpPr/>
          <p:nvPr/>
        </p:nvSpPr>
        <p:spPr>
          <a:xfrm>
            <a:off x="1676520" y="1981080"/>
            <a:ext cx="5105160" cy="3581640"/>
          </a:xfrm>
          <a:custGeom>
            <a:avLst/>
            <a:gdLst>
              <a:gd name="GluePoint1X" fmla="*/ 2147483647 w 21595"/>
              <a:gd name="GluePoint1Y" fmla="*/ 2147483647 h 21600"/>
              <a:gd name="GluePoint2X" fmla="*/ 0 w 21595"/>
              <a:gd name="GluePoint2Y" fmla="*/ 2147483647 h 21600"/>
              <a:gd name="GluePoint3X" fmla="*/ 0 w 21595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595" h="21600">
                <a:moveTo>
                  <a:pt x="21595" y="443"/>
                </a:moveTo>
                <a:cubicBezTo>
                  <a:pt x="21354" y="12197"/>
                  <a:pt x="11756" y="21599"/>
                  <a:pt x="0" y="21600"/>
                </a:cubicBezTo>
              </a:path>
              <a:path stroke="0" w="21595" h="21600">
                <a:moveTo>
                  <a:pt x="21595" y="443"/>
                </a:moveTo>
                <a:cubicBezTo>
                  <a:pt x="21354" y="12197"/>
                  <a:pt x="11756" y="21599"/>
                  <a:pt x="0" y="21600"/>
                </a:cubicBezTo>
                <a:lnTo>
                  <a:pt x="0" y="0"/>
                </a:lnTo>
                <a:lnTo>
                  <a:pt x="21595" y="443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Line 5"/>
          <p:cNvSpPr/>
          <p:nvPr/>
        </p:nvSpPr>
        <p:spPr>
          <a:xfrm>
            <a:off x="1447920" y="5562720"/>
            <a:ext cx="502920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Line 6"/>
          <p:cNvSpPr/>
          <p:nvPr/>
        </p:nvSpPr>
        <p:spPr>
          <a:xfrm flipH="1">
            <a:off x="6400800" y="2057400"/>
            <a:ext cx="380880" cy="358128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Line 7"/>
          <p:cNvSpPr/>
          <p:nvPr/>
        </p:nvSpPr>
        <p:spPr>
          <a:xfrm flipH="1" flipV="1">
            <a:off x="3885840" y="2971440"/>
            <a:ext cx="2514600" cy="25909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Line 8"/>
          <p:cNvSpPr/>
          <p:nvPr/>
        </p:nvSpPr>
        <p:spPr>
          <a:xfrm>
            <a:off x="5334120" y="4495680"/>
            <a:ext cx="0" cy="1447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Text Box 9"/>
          <p:cNvSpPr/>
          <p:nvPr/>
        </p:nvSpPr>
        <p:spPr>
          <a:xfrm rot="16200000">
            <a:off x="-296640" y="3351240"/>
            <a:ext cx="1754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[LA] (mmol.l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Text Box 10"/>
          <p:cNvSpPr/>
          <p:nvPr/>
        </p:nvSpPr>
        <p:spPr>
          <a:xfrm>
            <a:off x="152280" y="228600"/>
            <a:ext cx="8991720" cy="1008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Estimation du seuil anaérobie individuel à partir de la bissectrice de l’angle défini par l’intersection des deux tangentes aux points minimum et maximum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la courbe de la lactatémie !!   (Bunc et al. 1985)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Text Box 11"/>
          <p:cNvSpPr/>
          <p:nvPr/>
        </p:nvSpPr>
        <p:spPr>
          <a:xfrm>
            <a:off x="1295280" y="6248520"/>
            <a:ext cx="6228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Text Box 12"/>
          <p:cNvSpPr/>
          <p:nvPr/>
        </p:nvSpPr>
        <p:spPr>
          <a:xfrm>
            <a:off x="5031000" y="586728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Rectangle 13"/>
          <p:cNvSpPr/>
          <p:nvPr/>
        </p:nvSpPr>
        <p:spPr>
          <a:xfrm>
            <a:off x="2517480" y="1447920"/>
            <a:ext cx="3942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Autre Point de tangence…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53" dur="indefinite" restart="never" nodeType="tmRoot">
          <p:childTnLst>
            <p:seq>
              <p:cTn id="2154" dur="indefinite" nodeType="mainSeq">
                <p:childTnLst>
                  <p:par>
                    <p:cTn id="2155" nodeType="clickEffect" fill="hold">
                      <p:stCondLst>
                        <p:cond delay="0"/>
                      </p:stCondLst>
                      <p:childTnLst>
                        <p:par>
                          <p:cTn id="21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59"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FE4E7F-5099-4FB9-89AB-B4C149FBC86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6" name="Picture 2" descr="7"/>
          <p:cNvPicPr/>
          <p:nvPr/>
        </p:nvPicPr>
        <p:blipFill>
          <a:blip r:embed="rId1"/>
          <a:srcRect l="1667" t="5753" r="1667" b="2868"/>
          <a:stretch/>
        </p:blipFill>
        <p:spPr>
          <a:xfrm>
            <a:off x="1828800" y="3487680"/>
            <a:ext cx="5257800" cy="33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7" name="Picture 3" descr="8"/>
          <p:cNvPicPr/>
          <p:nvPr/>
        </p:nvPicPr>
        <p:blipFill>
          <a:blip r:embed="rId2"/>
          <a:srcRect l="0" t="2292" r="2942" b="0"/>
          <a:stretch/>
        </p:blipFill>
        <p:spPr>
          <a:xfrm>
            <a:off x="1828800" y="81000"/>
            <a:ext cx="5257800" cy="33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8" name="Rectangle 4"/>
          <p:cNvSpPr/>
          <p:nvPr/>
        </p:nvSpPr>
        <p:spPr>
          <a:xfrm>
            <a:off x="2593080" y="304920"/>
            <a:ext cx="3908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autre Point de tangence…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8E6770-0912-4454-9829-86AB725EFAD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Line 2"/>
          <p:cNvSpPr/>
          <p:nvPr/>
        </p:nvSpPr>
        <p:spPr>
          <a:xfrm>
            <a:off x="1600200" y="1600200"/>
            <a:ext cx="0" cy="37339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Line 3"/>
          <p:cNvSpPr/>
          <p:nvPr/>
        </p:nvSpPr>
        <p:spPr>
          <a:xfrm>
            <a:off x="1600200" y="5334120"/>
            <a:ext cx="60958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Line 4"/>
          <p:cNvSpPr/>
          <p:nvPr/>
        </p:nvSpPr>
        <p:spPr>
          <a:xfrm>
            <a:off x="1828800" y="5029200"/>
            <a:ext cx="380988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Line 5"/>
          <p:cNvSpPr/>
          <p:nvPr/>
        </p:nvSpPr>
        <p:spPr>
          <a:xfrm flipV="1">
            <a:off x="5410080" y="2133360"/>
            <a:ext cx="1524240" cy="29718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Line 6"/>
          <p:cNvSpPr/>
          <p:nvPr/>
        </p:nvSpPr>
        <p:spPr>
          <a:xfrm flipV="1">
            <a:off x="1905120" y="4267080"/>
            <a:ext cx="3276360" cy="60984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Line 7"/>
          <p:cNvSpPr/>
          <p:nvPr/>
        </p:nvSpPr>
        <p:spPr>
          <a:xfrm flipV="1">
            <a:off x="4952880" y="2133720"/>
            <a:ext cx="1905120" cy="22860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Line 8"/>
          <p:cNvSpPr/>
          <p:nvPr/>
        </p:nvSpPr>
        <p:spPr>
          <a:xfrm flipV="1">
            <a:off x="1905120" y="4114440"/>
            <a:ext cx="3047760" cy="6858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Line 9"/>
          <p:cNvSpPr/>
          <p:nvPr/>
        </p:nvSpPr>
        <p:spPr>
          <a:xfrm flipV="1">
            <a:off x="4800600" y="1981080"/>
            <a:ext cx="2057400" cy="22860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Text Box 10"/>
          <p:cNvSpPr/>
          <p:nvPr/>
        </p:nvSpPr>
        <p:spPr>
          <a:xfrm>
            <a:off x="4114800" y="419112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Text Box 11"/>
          <p:cNvSpPr/>
          <p:nvPr/>
        </p:nvSpPr>
        <p:spPr>
          <a:xfrm>
            <a:off x="3200400" y="441972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Text Box 12"/>
          <p:cNvSpPr/>
          <p:nvPr/>
        </p:nvSpPr>
        <p:spPr>
          <a:xfrm>
            <a:off x="1752480" y="4648320"/>
            <a:ext cx="322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Text Box 13"/>
          <p:cNvSpPr/>
          <p:nvPr/>
        </p:nvSpPr>
        <p:spPr>
          <a:xfrm>
            <a:off x="6477120" y="220968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Text Box 14"/>
          <p:cNvSpPr/>
          <p:nvPr/>
        </p:nvSpPr>
        <p:spPr>
          <a:xfrm>
            <a:off x="6019920" y="274320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Text Box 15"/>
          <p:cNvSpPr/>
          <p:nvPr/>
        </p:nvSpPr>
        <p:spPr>
          <a:xfrm>
            <a:off x="5562720" y="320040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Text Box 16"/>
          <p:cNvSpPr/>
          <p:nvPr/>
        </p:nvSpPr>
        <p:spPr>
          <a:xfrm>
            <a:off x="5181480" y="3733920"/>
            <a:ext cx="322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Text Box 17"/>
          <p:cNvSpPr/>
          <p:nvPr/>
        </p:nvSpPr>
        <p:spPr>
          <a:xfrm>
            <a:off x="4724280" y="4114800"/>
            <a:ext cx="322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Text Box 18"/>
          <p:cNvSpPr/>
          <p:nvPr/>
        </p:nvSpPr>
        <p:spPr>
          <a:xfrm>
            <a:off x="3740400" y="5486400"/>
            <a:ext cx="2963520" cy="3682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Log de la puissance (watts)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Text Box 19"/>
          <p:cNvSpPr/>
          <p:nvPr/>
        </p:nvSpPr>
        <p:spPr>
          <a:xfrm rot="16200000">
            <a:off x="-261720" y="3154320"/>
            <a:ext cx="2911320" cy="405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Log [La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] (mmol.l</a:t>
            </a:r>
            <a:r>
              <a:rPr b="0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Text Box 20"/>
          <p:cNvSpPr/>
          <p:nvPr/>
        </p:nvSpPr>
        <p:spPr>
          <a:xfrm>
            <a:off x="510480" y="239760"/>
            <a:ext cx="8513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Technique de la transformation log-log de la relation lactatémie-puissance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cours d’un exercice triangulaire (d’après Mac Lellan et Gass, 1989)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Text Box 21"/>
          <p:cNvSpPr/>
          <p:nvPr/>
        </p:nvSpPr>
        <p:spPr>
          <a:xfrm>
            <a:off x="1886400" y="1623960"/>
            <a:ext cx="285012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riche en glucides (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normal ( 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•)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régime pauvre  (   )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chez un même sujet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Text Box 22"/>
          <p:cNvSpPr/>
          <p:nvPr/>
        </p:nvSpPr>
        <p:spPr>
          <a:xfrm>
            <a:off x="6324480" y="213372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Text Box 23"/>
          <p:cNvSpPr/>
          <p:nvPr/>
        </p:nvSpPr>
        <p:spPr>
          <a:xfrm>
            <a:off x="5867280" y="259092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Text Box 24"/>
          <p:cNvSpPr/>
          <p:nvPr/>
        </p:nvSpPr>
        <p:spPr>
          <a:xfrm>
            <a:off x="5410080" y="312408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Text Box 25"/>
          <p:cNvSpPr/>
          <p:nvPr/>
        </p:nvSpPr>
        <p:spPr>
          <a:xfrm>
            <a:off x="5029200" y="350532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Text Box 26"/>
          <p:cNvSpPr/>
          <p:nvPr/>
        </p:nvSpPr>
        <p:spPr>
          <a:xfrm>
            <a:off x="4572000" y="388620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Text Box 27"/>
          <p:cNvSpPr/>
          <p:nvPr/>
        </p:nvSpPr>
        <p:spPr>
          <a:xfrm>
            <a:off x="4038480" y="403848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Text Box 28"/>
          <p:cNvSpPr/>
          <p:nvPr/>
        </p:nvSpPr>
        <p:spPr>
          <a:xfrm>
            <a:off x="3124080" y="426708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Text Box 29"/>
          <p:cNvSpPr/>
          <p:nvPr/>
        </p:nvSpPr>
        <p:spPr>
          <a:xfrm>
            <a:off x="1676520" y="4572000"/>
            <a:ext cx="45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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Text Box 30"/>
          <p:cNvSpPr/>
          <p:nvPr/>
        </p:nvSpPr>
        <p:spPr>
          <a:xfrm>
            <a:off x="6478920" y="25909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Text Box 31"/>
          <p:cNvSpPr/>
          <p:nvPr/>
        </p:nvSpPr>
        <p:spPr>
          <a:xfrm>
            <a:off x="6021720" y="34290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Text Box 32"/>
          <p:cNvSpPr/>
          <p:nvPr/>
        </p:nvSpPr>
        <p:spPr>
          <a:xfrm>
            <a:off x="5640480" y="41148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Text Box 33"/>
          <p:cNvSpPr/>
          <p:nvPr/>
        </p:nvSpPr>
        <p:spPr>
          <a:xfrm>
            <a:off x="5411880" y="45720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Text Box 34"/>
          <p:cNvSpPr/>
          <p:nvPr/>
        </p:nvSpPr>
        <p:spPr>
          <a:xfrm>
            <a:off x="5183280" y="4800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Text Box 35"/>
          <p:cNvSpPr/>
          <p:nvPr/>
        </p:nvSpPr>
        <p:spPr>
          <a:xfrm>
            <a:off x="4726080" y="4800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Text Box 36"/>
          <p:cNvSpPr/>
          <p:nvPr/>
        </p:nvSpPr>
        <p:spPr>
          <a:xfrm>
            <a:off x="3202200" y="4800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Text Box 37"/>
          <p:cNvSpPr/>
          <p:nvPr/>
        </p:nvSpPr>
        <p:spPr>
          <a:xfrm>
            <a:off x="1754280" y="4800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Text Box 38"/>
          <p:cNvSpPr/>
          <p:nvPr/>
        </p:nvSpPr>
        <p:spPr>
          <a:xfrm>
            <a:off x="371880" y="6248520"/>
            <a:ext cx="8400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L’intersection des lignes de régression définit le « seuil » lactique respectif.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Line 39"/>
          <p:cNvSpPr/>
          <p:nvPr/>
        </p:nvSpPr>
        <p:spPr>
          <a:xfrm>
            <a:off x="4876920" y="4114800"/>
            <a:ext cx="0" cy="121932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Line 40"/>
          <p:cNvSpPr/>
          <p:nvPr/>
        </p:nvSpPr>
        <p:spPr>
          <a:xfrm>
            <a:off x="5029200" y="4343400"/>
            <a:ext cx="0" cy="9907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Line 41"/>
          <p:cNvSpPr/>
          <p:nvPr/>
        </p:nvSpPr>
        <p:spPr>
          <a:xfrm>
            <a:off x="5486400" y="5029200"/>
            <a:ext cx="0" cy="3049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Rectangle 42"/>
          <p:cNvSpPr/>
          <p:nvPr/>
        </p:nvSpPr>
        <p:spPr>
          <a:xfrm>
            <a:off x="4804920" y="1219320"/>
            <a:ext cx="2790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Technique log-log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Text Box 43"/>
          <p:cNvSpPr/>
          <p:nvPr/>
        </p:nvSpPr>
        <p:spPr>
          <a:xfrm>
            <a:off x="3429000" y="2133720"/>
            <a:ext cx="33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C684FD-B976-46E4-A7F5-7DEDCE06B0E1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Text Box 2"/>
          <p:cNvSpPr/>
          <p:nvPr/>
        </p:nvSpPr>
        <p:spPr>
          <a:xfrm>
            <a:off x="1058040" y="2895480"/>
            <a:ext cx="703440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Quelques exemples de détermination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« seuil(s) » ventilatoires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179884-E42B-4DBE-9B44-570DA069A2E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5" name="Picture 2" descr="16"/>
          <p:cNvPicPr/>
          <p:nvPr/>
        </p:nvPicPr>
        <p:blipFill>
          <a:blip r:embed="rId1"/>
          <a:srcRect l="0" t="2223" r="0" b="2223"/>
          <a:stretch/>
        </p:blipFill>
        <p:spPr>
          <a:xfrm>
            <a:off x="2286000" y="0"/>
            <a:ext cx="424008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B0CD03-E1D9-484A-8A6B-45C4718FAE9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7" name="Picture 2" descr="15"/>
          <p:cNvPicPr/>
          <p:nvPr/>
        </p:nvPicPr>
        <p:blipFill>
          <a:blip r:embed="rId1"/>
          <a:srcRect l="0" t="2223" r="0" b="4446"/>
          <a:stretch/>
        </p:blipFill>
        <p:spPr>
          <a:xfrm>
            <a:off x="1447920" y="152280"/>
            <a:ext cx="5359320" cy="670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10252B-863E-4639-8A86-D11B67DDDF2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Text Box 4"/>
          <p:cNvSpPr/>
          <p:nvPr/>
        </p:nvSpPr>
        <p:spPr>
          <a:xfrm>
            <a:off x="190512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Text Box 5"/>
          <p:cNvSpPr/>
          <p:nvPr/>
        </p:nvSpPr>
        <p:spPr>
          <a:xfrm>
            <a:off x="38116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Line 6"/>
          <p:cNvSpPr/>
          <p:nvPr/>
        </p:nvSpPr>
        <p:spPr>
          <a:xfrm>
            <a:off x="4114800" y="4038480"/>
            <a:ext cx="0" cy="5335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Freeform 7"/>
          <p:cNvSpPr/>
          <p:nvPr/>
        </p:nvSpPr>
        <p:spPr>
          <a:xfrm rot="21195600">
            <a:off x="1599840" y="3200040"/>
            <a:ext cx="4572000" cy="838080"/>
          </a:xfrm>
          <a:custGeom>
            <a:avLst/>
            <a:gdLst>
              <a:gd name="GluePoint1X" fmla="*/ 0 w 3120"/>
              <a:gd name="GluePoint1Y" fmla="*/ 2147483647 h 888"/>
              <a:gd name="GluePoint2X" fmla="*/ 2147483647 w 3120"/>
              <a:gd name="GluePoint2Y" fmla="*/ 2147483647 h 888"/>
              <a:gd name="GluePoint3X" fmla="*/ 2147483647 w 3120"/>
              <a:gd name="GluePoint3Y" fmla="*/ 2147483647 h 888"/>
              <a:gd name="GluePoint4X" fmla="*/ 2147483647 w 3120"/>
              <a:gd name="GluePoint4Y" fmla="*/ 0 h 8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120" h="888">
                <a:moveTo>
                  <a:pt x="0" y="720"/>
                </a:moveTo>
                <a:cubicBezTo>
                  <a:pt x="632" y="804"/>
                  <a:pt x="1264" y="888"/>
                  <a:pt x="1680" y="864"/>
                </a:cubicBezTo>
                <a:cubicBezTo>
                  <a:pt x="2096" y="840"/>
                  <a:pt x="2256" y="720"/>
                  <a:pt x="2496" y="576"/>
                </a:cubicBezTo>
                <a:cubicBezTo>
                  <a:pt x="2736" y="432"/>
                  <a:pt x="3016" y="96"/>
                  <a:pt x="31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Text Box 8"/>
          <p:cNvSpPr/>
          <p:nvPr/>
        </p:nvSpPr>
        <p:spPr>
          <a:xfrm>
            <a:off x="990720" y="990720"/>
            <a:ext cx="1974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 (l.min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Text Box 11"/>
          <p:cNvSpPr/>
          <p:nvPr/>
        </p:nvSpPr>
        <p:spPr>
          <a:xfrm>
            <a:off x="5867280" y="2666880"/>
            <a:ext cx="1262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Line 13"/>
          <p:cNvSpPr/>
          <p:nvPr/>
        </p:nvSpPr>
        <p:spPr>
          <a:xfrm>
            <a:off x="4114800" y="4038480"/>
            <a:ext cx="190512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Rectangle 14"/>
          <p:cNvSpPr/>
          <p:nvPr/>
        </p:nvSpPr>
        <p:spPr>
          <a:xfrm>
            <a:off x="1219320" y="838080"/>
            <a:ext cx="1752480" cy="609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Text Box 15"/>
          <p:cNvSpPr/>
          <p:nvPr/>
        </p:nvSpPr>
        <p:spPr>
          <a:xfrm>
            <a:off x="1060560" y="5791320"/>
            <a:ext cx="6490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non linéaire de VE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(adapté de Ivy et al., 1981)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5D59A1-C484-4441-9836-6D62A824239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Text Box 4"/>
          <p:cNvSpPr/>
          <p:nvPr/>
        </p:nvSpPr>
        <p:spPr>
          <a:xfrm>
            <a:off x="190512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Text Box 5"/>
          <p:cNvSpPr/>
          <p:nvPr/>
        </p:nvSpPr>
        <p:spPr>
          <a:xfrm>
            <a:off x="47260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Line 6"/>
          <p:cNvSpPr/>
          <p:nvPr/>
        </p:nvSpPr>
        <p:spPr>
          <a:xfrm>
            <a:off x="5029200" y="3200400"/>
            <a:ext cx="0" cy="1371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Freeform 7"/>
          <p:cNvSpPr/>
          <p:nvPr/>
        </p:nvSpPr>
        <p:spPr>
          <a:xfrm>
            <a:off x="2209680" y="3073320"/>
            <a:ext cx="4648320" cy="889200"/>
          </a:xfrm>
          <a:custGeom>
            <a:avLst/>
            <a:gdLst>
              <a:gd name="GluePoint1X" fmla="*/ 0 w 2928"/>
              <a:gd name="GluePoint1Y" fmla="*/ 2147483647 h 560"/>
              <a:gd name="GluePoint2X" fmla="*/ 2147483647 w 2928"/>
              <a:gd name="GluePoint2Y" fmla="*/ 2147483647 h 560"/>
              <a:gd name="GluePoint3X" fmla="*/ 2147483647 w 2928"/>
              <a:gd name="GluePoint3Y" fmla="*/ 2147483647 h 5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928" h="560">
                <a:moveTo>
                  <a:pt x="0" y="368"/>
                </a:moveTo>
                <a:cubicBezTo>
                  <a:pt x="620" y="184"/>
                  <a:pt x="1240" y="0"/>
                  <a:pt x="1728" y="32"/>
                </a:cubicBezTo>
                <a:cubicBezTo>
                  <a:pt x="2216" y="64"/>
                  <a:pt x="2728" y="472"/>
                  <a:pt x="2928" y="56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Text Box 8"/>
          <p:cNvSpPr/>
          <p:nvPr/>
        </p:nvSpPr>
        <p:spPr>
          <a:xfrm>
            <a:off x="1219320" y="1219320"/>
            <a:ext cx="1465200" cy="4280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FECO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(%)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Text Box 9"/>
          <p:cNvSpPr/>
          <p:nvPr/>
        </p:nvSpPr>
        <p:spPr>
          <a:xfrm>
            <a:off x="1297800" y="5791320"/>
            <a:ext cx="6146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de diminution rapide de FECO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(adapté de Dawson et al., 1984)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EE58B4-84F5-435E-BB5A-C70AB247BCB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Text Box 4"/>
          <p:cNvSpPr/>
          <p:nvPr/>
        </p:nvSpPr>
        <p:spPr>
          <a:xfrm>
            <a:off x="190512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Text Box 5"/>
          <p:cNvSpPr/>
          <p:nvPr/>
        </p:nvSpPr>
        <p:spPr>
          <a:xfrm>
            <a:off x="47260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Line 6"/>
          <p:cNvSpPr/>
          <p:nvPr/>
        </p:nvSpPr>
        <p:spPr>
          <a:xfrm>
            <a:off x="5029200" y="3581280"/>
            <a:ext cx="0" cy="990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Text Box 7"/>
          <p:cNvSpPr/>
          <p:nvPr/>
        </p:nvSpPr>
        <p:spPr>
          <a:xfrm>
            <a:off x="1219320" y="1219320"/>
            <a:ext cx="1465200" cy="579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FE</a:t>
            </a:r>
            <a:r>
              <a:rPr b="0" lang="fr-FR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(%)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Freeform 8"/>
          <p:cNvSpPr/>
          <p:nvPr/>
        </p:nvSpPr>
        <p:spPr>
          <a:xfrm rot="20956800">
            <a:off x="2819160" y="2895120"/>
            <a:ext cx="4343400" cy="762120"/>
          </a:xfrm>
          <a:custGeom>
            <a:avLst/>
            <a:gdLst>
              <a:gd name="GluePoint1X" fmla="*/ 0 w 2880"/>
              <a:gd name="GluePoint1Y" fmla="*/ 2147483647 h 568"/>
              <a:gd name="GluePoint2X" fmla="*/ 2147483647 w 2880"/>
              <a:gd name="GluePoint2Y" fmla="*/ 2147483647 h 568"/>
              <a:gd name="GluePoint3X" fmla="*/ 2147483647 w 2880"/>
              <a:gd name="GluePoint3Y" fmla="*/ 0 h 5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880" h="568">
                <a:moveTo>
                  <a:pt x="0" y="240"/>
                </a:moveTo>
                <a:cubicBezTo>
                  <a:pt x="576" y="404"/>
                  <a:pt x="1152" y="568"/>
                  <a:pt x="1632" y="528"/>
                </a:cubicBezTo>
                <a:cubicBezTo>
                  <a:pt x="2112" y="488"/>
                  <a:pt x="2672" y="88"/>
                  <a:pt x="2880" y="0"/>
                </a:cubicBezTo>
              </a:path>
            </a:pathLst>
          </a:custGeom>
          <a:noFill/>
          <a:ln w="190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Text Box 9"/>
          <p:cNvSpPr/>
          <p:nvPr/>
        </p:nvSpPr>
        <p:spPr>
          <a:xfrm>
            <a:off x="226800" y="6019920"/>
            <a:ext cx="840960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de FEO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2 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(adapté de Ivy et al., 1981)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C7C2B5-A071-48F3-BACC-E9BFC50B245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Text Box 4"/>
          <p:cNvSpPr/>
          <p:nvPr/>
        </p:nvSpPr>
        <p:spPr>
          <a:xfrm>
            <a:off x="190512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Text Box 5"/>
          <p:cNvSpPr/>
          <p:nvPr/>
        </p:nvSpPr>
        <p:spPr>
          <a:xfrm>
            <a:off x="47260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Line 6"/>
          <p:cNvSpPr/>
          <p:nvPr/>
        </p:nvSpPr>
        <p:spPr>
          <a:xfrm>
            <a:off x="5029200" y="3581280"/>
            <a:ext cx="0" cy="990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Text Box 7"/>
          <p:cNvSpPr/>
          <p:nvPr/>
        </p:nvSpPr>
        <p:spPr>
          <a:xfrm>
            <a:off x="1219320" y="1219320"/>
            <a:ext cx="1981080" cy="4280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VECO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(l.min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Line 8"/>
          <p:cNvSpPr/>
          <p:nvPr/>
        </p:nvSpPr>
        <p:spPr>
          <a:xfrm flipV="1">
            <a:off x="2438280" y="3352680"/>
            <a:ext cx="4572000" cy="457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Text Box 9"/>
          <p:cNvSpPr/>
          <p:nvPr/>
        </p:nvSpPr>
        <p:spPr>
          <a:xfrm>
            <a:off x="268920" y="5867280"/>
            <a:ext cx="887760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continue de VECO</a:t>
            </a:r>
            <a:r>
              <a:rPr b="0" lang="fr-FR" sz="2000" strike="noStrike" u="none" baseline="-20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correspondant avec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point d’inflexion des autres paramètres (adapté de Dawson et al., 1984)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6D2D93-140A-40AB-863D-93C0BB5E01C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Text Box 4"/>
          <p:cNvSpPr/>
          <p:nvPr/>
        </p:nvSpPr>
        <p:spPr>
          <a:xfrm>
            <a:off x="190512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Text Box 5"/>
          <p:cNvSpPr/>
          <p:nvPr/>
        </p:nvSpPr>
        <p:spPr>
          <a:xfrm>
            <a:off x="472536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Line 6"/>
          <p:cNvSpPr/>
          <p:nvPr/>
        </p:nvSpPr>
        <p:spPr>
          <a:xfrm>
            <a:off x="5029200" y="4038480"/>
            <a:ext cx="0" cy="6098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Freeform 7"/>
          <p:cNvSpPr/>
          <p:nvPr/>
        </p:nvSpPr>
        <p:spPr>
          <a:xfrm>
            <a:off x="2057400" y="2743200"/>
            <a:ext cx="4724280" cy="1371600"/>
          </a:xfrm>
          <a:custGeom>
            <a:avLst/>
            <a:gdLst>
              <a:gd name="GluePoint1X" fmla="*/ 0 w 3024"/>
              <a:gd name="GluePoint1Y" fmla="*/ 0 h 736"/>
              <a:gd name="GluePoint2X" fmla="*/ 2147483647 w 3024"/>
              <a:gd name="GluePoint2Y" fmla="*/ 2147483647 h 736"/>
              <a:gd name="GluePoint3X" fmla="*/ 2147483647 w 3024"/>
              <a:gd name="GluePoint3Y" fmla="*/ 2147483647 h 7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3024" h="736">
                <a:moveTo>
                  <a:pt x="0" y="0"/>
                </a:moveTo>
                <a:cubicBezTo>
                  <a:pt x="612" y="256"/>
                  <a:pt x="1224" y="512"/>
                  <a:pt x="1728" y="624"/>
                </a:cubicBezTo>
                <a:cubicBezTo>
                  <a:pt x="2232" y="736"/>
                  <a:pt x="2808" y="664"/>
                  <a:pt x="3024" y="672"/>
                </a:cubicBezTo>
              </a:path>
            </a:pathLst>
          </a:custGeom>
          <a:noFill/>
          <a:ln w="3816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Freeform 8"/>
          <p:cNvSpPr/>
          <p:nvPr/>
        </p:nvSpPr>
        <p:spPr>
          <a:xfrm>
            <a:off x="2133720" y="2971800"/>
            <a:ext cx="4647960" cy="1104840"/>
          </a:xfrm>
          <a:custGeom>
            <a:avLst/>
            <a:gdLst>
              <a:gd name="GluePoint1X" fmla="*/ 0 w 3120"/>
              <a:gd name="GluePoint1Y" fmla="*/ 2147483647 h 888"/>
              <a:gd name="GluePoint2X" fmla="*/ 2147483647 w 3120"/>
              <a:gd name="GluePoint2Y" fmla="*/ 2147483647 h 888"/>
              <a:gd name="GluePoint3X" fmla="*/ 2147483647 w 3120"/>
              <a:gd name="GluePoint3Y" fmla="*/ 2147483647 h 888"/>
              <a:gd name="GluePoint4X" fmla="*/ 2147483647 w 3120"/>
              <a:gd name="GluePoint4Y" fmla="*/ 0 h 8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120" h="888">
                <a:moveTo>
                  <a:pt x="0" y="720"/>
                </a:moveTo>
                <a:cubicBezTo>
                  <a:pt x="632" y="804"/>
                  <a:pt x="1264" y="888"/>
                  <a:pt x="1680" y="864"/>
                </a:cubicBezTo>
                <a:cubicBezTo>
                  <a:pt x="2096" y="840"/>
                  <a:pt x="2256" y="720"/>
                  <a:pt x="2496" y="576"/>
                </a:cubicBezTo>
                <a:cubicBezTo>
                  <a:pt x="2736" y="432"/>
                  <a:pt x="3016" y="96"/>
                  <a:pt x="31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Text Box 9"/>
          <p:cNvSpPr/>
          <p:nvPr/>
        </p:nvSpPr>
        <p:spPr>
          <a:xfrm>
            <a:off x="1143360" y="1066680"/>
            <a:ext cx="1312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/ VO2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Text Box 10"/>
          <p:cNvSpPr/>
          <p:nvPr/>
        </p:nvSpPr>
        <p:spPr>
          <a:xfrm>
            <a:off x="1061280" y="1523880"/>
            <a:ext cx="14256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 / VCO2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Text Box 16"/>
          <p:cNvSpPr/>
          <p:nvPr/>
        </p:nvSpPr>
        <p:spPr>
          <a:xfrm>
            <a:off x="7116840" y="2666880"/>
            <a:ext cx="12636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/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Text Box 17"/>
          <p:cNvSpPr/>
          <p:nvPr/>
        </p:nvSpPr>
        <p:spPr>
          <a:xfrm>
            <a:off x="7086600" y="3200400"/>
            <a:ext cx="137628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 / VCO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Text Box 22"/>
          <p:cNvSpPr/>
          <p:nvPr/>
        </p:nvSpPr>
        <p:spPr>
          <a:xfrm>
            <a:off x="347760" y="5726160"/>
            <a:ext cx="8612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non linéaire de                   ainsi 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début de la stabilisation de                     (adapté de Gaesser et al., 1984)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Text Box 23"/>
          <p:cNvSpPr/>
          <p:nvPr/>
        </p:nvSpPr>
        <p:spPr>
          <a:xfrm>
            <a:off x="6248880" y="5715000"/>
            <a:ext cx="1312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/ VO2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Text Box 26"/>
          <p:cNvSpPr/>
          <p:nvPr/>
        </p:nvSpPr>
        <p:spPr>
          <a:xfrm>
            <a:off x="3657600" y="6019920"/>
            <a:ext cx="16002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 / VCO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Text Box 29"/>
          <p:cNvSpPr/>
          <p:nvPr/>
        </p:nvSpPr>
        <p:spPr>
          <a:xfrm>
            <a:off x="914400" y="-1440"/>
            <a:ext cx="78534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Technique des équivalents respiratoires en O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en CO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(actuellement la plus utilisée)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5C9AD5-5829-4034-96BA-500F519B0E1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Text Box 4"/>
          <p:cNvSpPr/>
          <p:nvPr/>
        </p:nvSpPr>
        <p:spPr>
          <a:xfrm>
            <a:off x="114300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(km.h-1)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Text Box 5"/>
          <p:cNvSpPr/>
          <p:nvPr/>
        </p:nvSpPr>
        <p:spPr>
          <a:xfrm>
            <a:off x="38116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Line 6"/>
          <p:cNvSpPr/>
          <p:nvPr/>
        </p:nvSpPr>
        <p:spPr>
          <a:xfrm>
            <a:off x="4114800" y="4038480"/>
            <a:ext cx="0" cy="5335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Freeform 7"/>
          <p:cNvSpPr/>
          <p:nvPr/>
        </p:nvSpPr>
        <p:spPr>
          <a:xfrm rot="21195600">
            <a:off x="1599840" y="3200040"/>
            <a:ext cx="4572000" cy="838080"/>
          </a:xfrm>
          <a:custGeom>
            <a:avLst/>
            <a:gdLst>
              <a:gd name="GluePoint1X" fmla="*/ 0 w 3120"/>
              <a:gd name="GluePoint1Y" fmla="*/ 2147483647 h 888"/>
              <a:gd name="GluePoint2X" fmla="*/ 2147483647 w 3120"/>
              <a:gd name="GluePoint2Y" fmla="*/ 2147483647 h 888"/>
              <a:gd name="GluePoint3X" fmla="*/ 2147483647 w 3120"/>
              <a:gd name="GluePoint3Y" fmla="*/ 2147483647 h 888"/>
              <a:gd name="GluePoint4X" fmla="*/ 2147483647 w 3120"/>
              <a:gd name="GluePoint4Y" fmla="*/ 0 h 8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120" h="888">
                <a:moveTo>
                  <a:pt x="0" y="720"/>
                </a:moveTo>
                <a:cubicBezTo>
                  <a:pt x="632" y="804"/>
                  <a:pt x="1264" y="888"/>
                  <a:pt x="1680" y="864"/>
                </a:cubicBezTo>
                <a:cubicBezTo>
                  <a:pt x="2096" y="840"/>
                  <a:pt x="2256" y="720"/>
                  <a:pt x="2496" y="576"/>
                </a:cubicBezTo>
                <a:cubicBezTo>
                  <a:pt x="2736" y="432"/>
                  <a:pt x="3016" y="96"/>
                  <a:pt x="31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Text Box 8"/>
          <p:cNvSpPr/>
          <p:nvPr/>
        </p:nvSpPr>
        <p:spPr>
          <a:xfrm>
            <a:off x="990720" y="990720"/>
            <a:ext cx="19746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VCO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(l.min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Text Box 11"/>
          <p:cNvSpPr/>
          <p:nvPr/>
        </p:nvSpPr>
        <p:spPr>
          <a:xfrm>
            <a:off x="5867280" y="2666880"/>
            <a:ext cx="12621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VCO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Line 13"/>
          <p:cNvSpPr/>
          <p:nvPr/>
        </p:nvSpPr>
        <p:spPr>
          <a:xfrm>
            <a:off x="4114800" y="4038480"/>
            <a:ext cx="190512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Rectangle 14"/>
          <p:cNvSpPr/>
          <p:nvPr/>
        </p:nvSpPr>
        <p:spPr>
          <a:xfrm>
            <a:off x="1143000" y="838080"/>
            <a:ext cx="1828800" cy="609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Text Box 15"/>
          <p:cNvSpPr/>
          <p:nvPr/>
        </p:nvSpPr>
        <p:spPr>
          <a:xfrm>
            <a:off x="914400" y="5791320"/>
            <a:ext cx="6781680" cy="7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non linéaire de VCO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(adapté de Michelson et al.,et al., 1982)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0BA9E9-123E-45A7-8ABD-7C6CA8A3363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Line 2"/>
          <p:cNvSpPr/>
          <p:nvPr/>
        </p:nvSpPr>
        <p:spPr>
          <a:xfrm>
            <a:off x="1066680" y="1143000"/>
            <a:ext cx="0" cy="3429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Line 3"/>
          <p:cNvSpPr/>
          <p:nvPr/>
        </p:nvSpPr>
        <p:spPr>
          <a:xfrm>
            <a:off x="1066680" y="4572000"/>
            <a:ext cx="6248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Text Box 4"/>
          <p:cNvSpPr/>
          <p:nvPr/>
        </p:nvSpPr>
        <p:spPr>
          <a:xfrm>
            <a:off x="1143000" y="510552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Text Box 5"/>
          <p:cNvSpPr/>
          <p:nvPr/>
        </p:nvSpPr>
        <p:spPr>
          <a:xfrm>
            <a:off x="3811680" y="4648320"/>
            <a:ext cx="6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S.A.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Line 6"/>
          <p:cNvSpPr/>
          <p:nvPr/>
        </p:nvSpPr>
        <p:spPr>
          <a:xfrm>
            <a:off x="4114800" y="4038480"/>
            <a:ext cx="0" cy="5335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Freeform 7"/>
          <p:cNvSpPr/>
          <p:nvPr/>
        </p:nvSpPr>
        <p:spPr>
          <a:xfrm rot="21195600">
            <a:off x="1599840" y="3200040"/>
            <a:ext cx="4572000" cy="838080"/>
          </a:xfrm>
          <a:custGeom>
            <a:avLst/>
            <a:gdLst>
              <a:gd name="GluePoint1X" fmla="*/ 0 w 3120"/>
              <a:gd name="GluePoint1Y" fmla="*/ 2147483647 h 888"/>
              <a:gd name="GluePoint2X" fmla="*/ 2147483647 w 3120"/>
              <a:gd name="GluePoint2Y" fmla="*/ 2147483647 h 888"/>
              <a:gd name="GluePoint3X" fmla="*/ 2147483647 w 3120"/>
              <a:gd name="GluePoint3Y" fmla="*/ 2147483647 h 888"/>
              <a:gd name="GluePoint4X" fmla="*/ 2147483647 w 3120"/>
              <a:gd name="GluePoint4Y" fmla="*/ 0 h 8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120" h="888">
                <a:moveTo>
                  <a:pt x="0" y="720"/>
                </a:moveTo>
                <a:cubicBezTo>
                  <a:pt x="632" y="804"/>
                  <a:pt x="1264" y="888"/>
                  <a:pt x="1680" y="864"/>
                </a:cubicBezTo>
                <a:cubicBezTo>
                  <a:pt x="2096" y="840"/>
                  <a:pt x="2256" y="720"/>
                  <a:pt x="2496" y="576"/>
                </a:cubicBezTo>
                <a:cubicBezTo>
                  <a:pt x="2736" y="432"/>
                  <a:pt x="3016" y="96"/>
                  <a:pt x="31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Text Box 8"/>
          <p:cNvSpPr/>
          <p:nvPr/>
        </p:nvSpPr>
        <p:spPr>
          <a:xfrm>
            <a:off x="1143000" y="990720"/>
            <a:ext cx="19749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V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(l.min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Text Box 11"/>
          <p:cNvSpPr/>
          <p:nvPr/>
        </p:nvSpPr>
        <p:spPr>
          <a:xfrm>
            <a:off x="5638680" y="2666880"/>
            <a:ext cx="14907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V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   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Line 13"/>
          <p:cNvSpPr/>
          <p:nvPr/>
        </p:nvSpPr>
        <p:spPr>
          <a:xfrm>
            <a:off x="4114800" y="4038480"/>
            <a:ext cx="190512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Rectangle 14"/>
          <p:cNvSpPr/>
          <p:nvPr/>
        </p:nvSpPr>
        <p:spPr>
          <a:xfrm>
            <a:off x="1447920" y="838080"/>
            <a:ext cx="1447560" cy="609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Text Box 15"/>
          <p:cNvSpPr/>
          <p:nvPr/>
        </p:nvSpPr>
        <p:spPr>
          <a:xfrm>
            <a:off x="914400" y="5791320"/>
            <a:ext cx="6781680" cy="7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SA serait le point d’augmentation non linéaire de V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(adapté de Michelson et al., 1982)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5201F3-136E-4312-A94C-900C9146794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8" name="Picture 2" descr="15"/>
          <p:cNvPicPr/>
          <p:nvPr/>
        </p:nvPicPr>
        <p:blipFill>
          <a:blip r:embed="rId1"/>
          <a:srcRect l="0" t="2223" r="0" b="4446"/>
          <a:stretch/>
        </p:blipFill>
        <p:spPr>
          <a:xfrm>
            <a:off x="1447920" y="152280"/>
            <a:ext cx="5359320" cy="670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295D52-77BA-4057-99D2-820453318E24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Line 2"/>
          <p:cNvSpPr/>
          <p:nvPr/>
        </p:nvSpPr>
        <p:spPr>
          <a:xfrm>
            <a:off x="2133720" y="304920"/>
            <a:ext cx="0" cy="1447560"/>
          </a:xfrm>
          <a:prstGeom prst="line">
            <a:avLst/>
          </a:prstGeom>
          <a:ln w="19080">
            <a:solidFill>
              <a:srgbClr val="ffff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Line 3"/>
          <p:cNvSpPr/>
          <p:nvPr/>
        </p:nvSpPr>
        <p:spPr>
          <a:xfrm flipV="1">
            <a:off x="2133720" y="5105520"/>
            <a:ext cx="0" cy="121896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Line 4"/>
          <p:cNvSpPr/>
          <p:nvPr/>
        </p:nvSpPr>
        <p:spPr>
          <a:xfrm flipV="1">
            <a:off x="2133720" y="3429000"/>
            <a:ext cx="0" cy="144792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Line 5"/>
          <p:cNvSpPr/>
          <p:nvPr/>
        </p:nvSpPr>
        <p:spPr>
          <a:xfrm flipV="1">
            <a:off x="2133720" y="1828800"/>
            <a:ext cx="0" cy="137160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Line 6"/>
          <p:cNvSpPr/>
          <p:nvPr/>
        </p:nvSpPr>
        <p:spPr>
          <a:xfrm>
            <a:off x="2133720" y="6324480"/>
            <a:ext cx="5486400" cy="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Line 7"/>
          <p:cNvSpPr/>
          <p:nvPr/>
        </p:nvSpPr>
        <p:spPr>
          <a:xfrm flipV="1">
            <a:off x="2438280" y="5791320"/>
            <a:ext cx="5029200" cy="38088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Line 8"/>
          <p:cNvSpPr/>
          <p:nvPr/>
        </p:nvSpPr>
        <p:spPr>
          <a:xfrm flipV="1">
            <a:off x="2362320" y="4114440"/>
            <a:ext cx="5029200" cy="60948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Freeform 9"/>
          <p:cNvSpPr/>
          <p:nvPr/>
        </p:nvSpPr>
        <p:spPr>
          <a:xfrm>
            <a:off x="5029200" y="4800600"/>
            <a:ext cx="2209680" cy="1143000"/>
          </a:xfrm>
          <a:custGeom>
            <a:avLst/>
            <a:gdLst>
              <a:gd name="GluePoint1X" fmla="*/ 0 w 1576"/>
              <a:gd name="GluePoint1Y" fmla="*/ 2147483647 h 528"/>
              <a:gd name="GluePoint2X" fmla="*/ 2147483647 w 1576"/>
              <a:gd name="GluePoint2Y" fmla="*/ 2147483647 h 528"/>
              <a:gd name="GluePoint3X" fmla="*/ 2147483647 w 1576"/>
              <a:gd name="GluePoint3Y" fmla="*/ 2147483647 h 528"/>
              <a:gd name="GluePoint4X" fmla="*/ 2147483647 w 1576"/>
              <a:gd name="GluePoint4Y" fmla="*/ 0 h 5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576" h="528">
                <a:moveTo>
                  <a:pt x="0" y="528"/>
                </a:moveTo>
                <a:cubicBezTo>
                  <a:pt x="380" y="448"/>
                  <a:pt x="760" y="368"/>
                  <a:pt x="1008" y="288"/>
                </a:cubicBezTo>
                <a:cubicBezTo>
                  <a:pt x="1256" y="208"/>
                  <a:pt x="1400" y="96"/>
                  <a:pt x="1488" y="48"/>
                </a:cubicBezTo>
                <a:cubicBezTo>
                  <a:pt x="1576" y="0"/>
                  <a:pt x="1556" y="0"/>
                  <a:pt x="1536" y="0"/>
                </a:cubicBezTo>
              </a:path>
            </a:pathLst>
          </a:custGeom>
          <a:noFill/>
          <a:ln w="190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Freeform 10"/>
          <p:cNvSpPr/>
          <p:nvPr/>
        </p:nvSpPr>
        <p:spPr>
          <a:xfrm>
            <a:off x="5029200" y="3124080"/>
            <a:ext cx="2133720" cy="1295640"/>
          </a:xfrm>
          <a:custGeom>
            <a:avLst/>
            <a:gdLst>
              <a:gd name="GluePoint1X" fmla="*/ 0 w 1576"/>
              <a:gd name="GluePoint1Y" fmla="*/ 2147483647 h 528"/>
              <a:gd name="GluePoint2X" fmla="*/ 2147483647 w 1576"/>
              <a:gd name="GluePoint2Y" fmla="*/ 2147483647 h 528"/>
              <a:gd name="GluePoint3X" fmla="*/ 2147483647 w 1576"/>
              <a:gd name="GluePoint3Y" fmla="*/ 2147483647 h 528"/>
              <a:gd name="GluePoint4X" fmla="*/ 2147483647 w 1576"/>
              <a:gd name="GluePoint4Y" fmla="*/ 0 h 5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576" h="528">
                <a:moveTo>
                  <a:pt x="0" y="528"/>
                </a:moveTo>
                <a:cubicBezTo>
                  <a:pt x="380" y="448"/>
                  <a:pt x="760" y="368"/>
                  <a:pt x="1008" y="288"/>
                </a:cubicBezTo>
                <a:cubicBezTo>
                  <a:pt x="1256" y="208"/>
                  <a:pt x="1400" y="96"/>
                  <a:pt x="1488" y="48"/>
                </a:cubicBezTo>
                <a:cubicBezTo>
                  <a:pt x="1576" y="0"/>
                  <a:pt x="1556" y="0"/>
                  <a:pt x="1536" y="0"/>
                </a:cubicBezTo>
              </a:path>
            </a:pathLst>
          </a:custGeom>
          <a:noFill/>
          <a:ln w="190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Line 11"/>
          <p:cNvSpPr/>
          <p:nvPr/>
        </p:nvSpPr>
        <p:spPr>
          <a:xfrm flipV="1">
            <a:off x="5029200" y="228240"/>
            <a:ext cx="0" cy="57150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Line 12"/>
          <p:cNvSpPr/>
          <p:nvPr/>
        </p:nvSpPr>
        <p:spPr>
          <a:xfrm flipV="1">
            <a:off x="2590920" y="2057400"/>
            <a:ext cx="4724280" cy="99072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Line 13"/>
          <p:cNvSpPr/>
          <p:nvPr/>
        </p:nvSpPr>
        <p:spPr>
          <a:xfrm flipV="1">
            <a:off x="5029200" y="1600200"/>
            <a:ext cx="2209680" cy="91440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Line 14"/>
          <p:cNvSpPr/>
          <p:nvPr/>
        </p:nvSpPr>
        <p:spPr>
          <a:xfrm flipV="1">
            <a:off x="2590920" y="304920"/>
            <a:ext cx="4876560" cy="121896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Text Box 15"/>
          <p:cNvSpPr/>
          <p:nvPr/>
        </p:nvSpPr>
        <p:spPr>
          <a:xfrm>
            <a:off x="1128600" y="49860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Text Box 16"/>
          <p:cNvSpPr/>
          <p:nvPr/>
        </p:nvSpPr>
        <p:spPr>
          <a:xfrm>
            <a:off x="1122480" y="506520"/>
            <a:ext cx="8730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VO</a:t>
            </a:r>
            <a:r>
              <a:rPr b="0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(l.min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Text Box 18"/>
          <p:cNvSpPr/>
          <p:nvPr/>
        </p:nvSpPr>
        <p:spPr>
          <a:xfrm>
            <a:off x="1066680" y="2133720"/>
            <a:ext cx="11430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VCO</a:t>
            </a:r>
            <a:r>
              <a:rPr b="0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(l.min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Text Box 20"/>
          <p:cNvSpPr/>
          <p:nvPr/>
        </p:nvSpPr>
        <p:spPr>
          <a:xfrm>
            <a:off x="838080" y="3733920"/>
            <a:ext cx="15242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(l.min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Text Box 22"/>
          <p:cNvSpPr/>
          <p:nvPr/>
        </p:nvSpPr>
        <p:spPr>
          <a:xfrm>
            <a:off x="851400" y="5486400"/>
            <a:ext cx="10731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[LAs]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(mmol.l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Text Box 23"/>
          <p:cNvSpPr/>
          <p:nvPr/>
        </p:nvSpPr>
        <p:spPr>
          <a:xfrm>
            <a:off x="6628320" y="6384960"/>
            <a:ext cx="1780200" cy="337680"/>
          </a:xfrm>
          <a:prstGeom prst="rect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Puissance (watts)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60" dur="indefinite" restart="never" nodeType="tmRoot">
          <p:childTnLst>
            <p:seq>
              <p:cTn id="2161" dur="indefinite" nodeType="mainSeq">
                <p:childTnLst>
                  <p:par>
                    <p:cTn id="2162" nodeType="clickEffect" fill="hold">
                      <p:stCondLst>
                        <p:cond delay="indefinite"/>
                      </p:stCondLst>
                      <p:childTnLst>
                        <p:par>
                          <p:cTn id="21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64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66" dur="50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7" dur="50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8" dur="50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9" dur="50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295985-26F8-4C49-9EFF-350C03E1609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Line 2"/>
          <p:cNvSpPr/>
          <p:nvPr/>
        </p:nvSpPr>
        <p:spPr>
          <a:xfrm>
            <a:off x="1066680" y="1600200"/>
            <a:ext cx="0" cy="41911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Text Box 4"/>
          <p:cNvSpPr/>
          <p:nvPr/>
        </p:nvSpPr>
        <p:spPr>
          <a:xfrm rot="16201200">
            <a:off x="-546480" y="3168720"/>
            <a:ext cx="24037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Text Box 5"/>
          <p:cNvSpPr/>
          <p:nvPr/>
        </p:nvSpPr>
        <p:spPr>
          <a:xfrm>
            <a:off x="6781680" y="6019920"/>
            <a:ext cx="167652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Freeform 6"/>
          <p:cNvSpPr/>
          <p:nvPr/>
        </p:nvSpPr>
        <p:spPr>
          <a:xfrm>
            <a:off x="1752480" y="5308560"/>
            <a:ext cx="5639040" cy="203400"/>
          </a:xfrm>
          <a:custGeom>
            <a:avLst/>
            <a:gdLst>
              <a:gd name="GluePoint1X" fmla="*/ 0 w 3552"/>
              <a:gd name="GluePoint1Y" fmla="*/ 2147483647 h 128"/>
              <a:gd name="GluePoint2X" fmla="*/ 2147483647 w 3552"/>
              <a:gd name="GluePoint2Y" fmla="*/ 2147483647 h 128"/>
              <a:gd name="GluePoint3X" fmla="*/ 2147483647 w 3552"/>
              <a:gd name="GluePoint3Y" fmla="*/ 2147483647 h 128"/>
              <a:gd name="GluePoint4X" fmla="*/ 2147483647 w 3552"/>
              <a:gd name="GluePoint4Y" fmla="*/ 2147483647 h 128"/>
              <a:gd name="GluePoint5X" fmla="*/ 2147483647 w 3552"/>
              <a:gd name="GluePoint5Y" fmla="*/ 2147483647 h 128"/>
              <a:gd name="GluePoint6X" fmla="*/ 2147483647 w 3552"/>
              <a:gd name="GluePoint6Y" fmla="*/ 2147483647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552" h="128">
                <a:moveTo>
                  <a:pt x="0" y="112"/>
                </a:moveTo>
                <a:cubicBezTo>
                  <a:pt x="416" y="120"/>
                  <a:pt x="832" y="128"/>
                  <a:pt x="1200" y="112"/>
                </a:cubicBezTo>
                <a:cubicBezTo>
                  <a:pt x="1568" y="96"/>
                  <a:pt x="1888" y="32"/>
                  <a:pt x="2208" y="16"/>
                </a:cubicBezTo>
                <a:cubicBezTo>
                  <a:pt x="2528" y="0"/>
                  <a:pt x="2928" y="16"/>
                  <a:pt x="3120" y="16"/>
                </a:cubicBezTo>
                <a:cubicBezTo>
                  <a:pt x="3312" y="16"/>
                  <a:pt x="3288" y="16"/>
                  <a:pt x="3360" y="16"/>
                </a:cubicBezTo>
                <a:cubicBezTo>
                  <a:pt x="3432" y="16"/>
                  <a:pt x="3492" y="16"/>
                  <a:pt x="3552" y="16"/>
                </a:cubicBezTo>
              </a:path>
            </a:pathLst>
          </a:cu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Text Box 7"/>
          <p:cNvSpPr/>
          <p:nvPr/>
        </p:nvSpPr>
        <p:spPr>
          <a:xfrm>
            <a:off x="6707160" y="2362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Text Box 8"/>
          <p:cNvSpPr/>
          <p:nvPr/>
        </p:nvSpPr>
        <p:spPr>
          <a:xfrm>
            <a:off x="6402240" y="29718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Text Box 9"/>
          <p:cNvSpPr/>
          <p:nvPr/>
        </p:nvSpPr>
        <p:spPr>
          <a:xfrm>
            <a:off x="5945040" y="35812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Text Box 10"/>
          <p:cNvSpPr/>
          <p:nvPr/>
        </p:nvSpPr>
        <p:spPr>
          <a:xfrm>
            <a:off x="5411520" y="41148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Text Box 11"/>
          <p:cNvSpPr/>
          <p:nvPr/>
        </p:nvSpPr>
        <p:spPr>
          <a:xfrm>
            <a:off x="4878360" y="44956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Text Box 12"/>
          <p:cNvSpPr/>
          <p:nvPr/>
        </p:nvSpPr>
        <p:spPr>
          <a:xfrm>
            <a:off x="4039920" y="49528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Text Box 13"/>
          <p:cNvSpPr/>
          <p:nvPr/>
        </p:nvSpPr>
        <p:spPr>
          <a:xfrm>
            <a:off x="2973240" y="5105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Text Box 14"/>
          <p:cNvSpPr/>
          <p:nvPr/>
        </p:nvSpPr>
        <p:spPr>
          <a:xfrm>
            <a:off x="1601640" y="5181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Freeform 15"/>
          <p:cNvSpPr/>
          <p:nvPr/>
        </p:nvSpPr>
        <p:spPr>
          <a:xfrm>
            <a:off x="1828800" y="2514600"/>
            <a:ext cx="5029200" cy="2895480"/>
          </a:xfrm>
          <a:custGeom>
            <a:avLst/>
            <a:gdLst>
              <a:gd name="GluePoint1X" fmla="*/ 0 w 3168"/>
              <a:gd name="GluePoint1Y" fmla="*/ 2147483647 h 1824"/>
              <a:gd name="GluePoint2X" fmla="*/ 2147483647 w 3168"/>
              <a:gd name="GluePoint2Y" fmla="*/ 2147483647 h 1824"/>
              <a:gd name="GluePoint3X" fmla="*/ 2147483647 w 3168"/>
              <a:gd name="GluePoint3Y" fmla="*/ 2147483647 h 1824"/>
              <a:gd name="GluePoint4X" fmla="*/ 2147483647 w 3168"/>
              <a:gd name="GluePoint4Y" fmla="*/ 2147483647 h 1824"/>
              <a:gd name="GluePoint5X" fmla="*/ 2147483647 w 3168"/>
              <a:gd name="GluePoint5Y" fmla="*/ 2147483647 h 1824"/>
              <a:gd name="GluePoint6X" fmla="*/ 2147483647 w 3168"/>
              <a:gd name="GluePoint6Y" fmla="*/ 2147483647 h 1824"/>
              <a:gd name="GluePoint7X" fmla="*/ 2147483647 w 3168"/>
              <a:gd name="GluePoint7Y" fmla="*/ 2147483647 h 1824"/>
              <a:gd name="GluePoint8X" fmla="*/ 2147483647 w 3168"/>
              <a:gd name="GluePoint8Y" fmla="*/ 0 h 18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3168" h="1824">
                <a:moveTo>
                  <a:pt x="0" y="1824"/>
                </a:moveTo>
                <a:cubicBezTo>
                  <a:pt x="352" y="1804"/>
                  <a:pt x="704" y="1784"/>
                  <a:pt x="864" y="1776"/>
                </a:cubicBezTo>
                <a:cubicBezTo>
                  <a:pt x="1024" y="1768"/>
                  <a:pt x="848" y="1792"/>
                  <a:pt x="960" y="1776"/>
                </a:cubicBezTo>
                <a:cubicBezTo>
                  <a:pt x="1072" y="1760"/>
                  <a:pt x="1368" y="1736"/>
                  <a:pt x="1536" y="1680"/>
                </a:cubicBezTo>
                <a:cubicBezTo>
                  <a:pt x="1704" y="1624"/>
                  <a:pt x="1808" y="1552"/>
                  <a:pt x="1968" y="1440"/>
                </a:cubicBezTo>
                <a:cubicBezTo>
                  <a:pt x="2128" y="1328"/>
                  <a:pt x="2328" y="1176"/>
                  <a:pt x="2496" y="1008"/>
                </a:cubicBezTo>
                <a:cubicBezTo>
                  <a:pt x="2664" y="840"/>
                  <a:pt x="2864" y="600"/>
                  <a:pt x="2976" y="432"/>
                </a:cubicBezTo>
                <a:cubicBezTo>
                  <a:pt x="3088" y="264"/>
                  <a:pt x="3136" y="72"/>
                  <a:pt x="3168" y="0"/>
                </a:cubicBezTo>
              </a:path>
            </a:pathLst>
          </a:custGeom>
          <a:noFill/>
          <a:ln w="190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Text Box 16"/>
          <p:cNvSpPr/>
          <p:nvPr/>
        </p:nvSpPr>
        <p:spPr>
          <a:xfrm>
            <a:off x="1602000" y="53341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Text Box 17"/>
          <p:cNvSpPr/>
          <p:nvPr/>
        </p:nvSpPr>
        <p:spPr>
          <a:xfrm>
            <a:off x="724068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Text Box 18"/>
          <p:cNvSpPr/>
          <p:nvPr/>
        </p:nvSpPr>
        <p:spPr>
          <a:xfrm>
            <a:off x="6705720" y="5105520"/>
            <a:ext cx="380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Text Box 19"/>
          <p:cNvSpPr/>
          <p:nvPr/>
        </p:nvSpPr>
        <p:spPr>
          <a:xfrm>
            <a:off x="617400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Text Box 20"/>
          <p:cNvSpPr/>
          <p:nvPr/>
        </p:nvSpPr>
        <p:spPr>
          <a:xfrm>
            <a:off x="548820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Text Box 21"/>
          <p:cNvSpPr/>
          <p:nvPr/>
        </p:nvSpPr>
        <p:spPr>
          <a:xfrm>
            <a:off x="487872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Text Box 22"/>
          <p:cNvSpPr/>
          <p:nvPr/>
        </p:nvSpPr>
        <p:spPr>
          <a:xfrm>
            <a:off x="4040280" y="51814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Text Box 23"/>
          <p:cNvSpPr/>
          <p:nvPr/>
        </p:nvSpPr>
        <p:spPr>
          <a:xfrm>
            <a:off x="2973600" y="53341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Text Box 24"/>
          <p:cNvSpPr/>
          <p:nvPr/>
        </p:nvSpPr>
        <p:spPr>
          <a:xfrm>
            <a:off x="7087680" y="2362320"/>
            <a:ext cx="1807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Sujets contrôles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Text Box 25"/>
          <p:cNvSpPr/>
          <p:nvPr/>
        </p:nvSpPr>
        <p:spPr>
          <a:xfrm>
            <a:off x="7011720" y="5334120"/>
            <a:ext cx="1908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Patients McArdle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Text Box 26"/>
          <p:cNvSpPr/>
          <p:nvPr/>
        </p:nvSpPr>
        <p:spPr>
          <a:xfrm rot="21534000">
            <a:off x="5251320" y="4830480"/>
            <a:ext cx="23806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Pas de  « seuil »  lactique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Text Box 27"/>
          <p:cNvSpPr/>
          <p:nvPr/>
        </p:nvSpPr>
        <p:spPr>
          <a:xfrm>
            <a:off x="934920" y="239760"/>
            <a:ext cx="8209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sanguin et réponse ventilatoire chez des individus normaux et chez des patients présentant le syndrome de McArdle.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(d’après Hagberg et al., 1984)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Text Box 28"/>
          <p:cNvSpPr/>
          <p:nvPr/>
        </p:nvSpPr>
        <p:spPr>
          <a:xfrm>
            <a:off x="3739680" y="1752480"/>
            <a:ext cx="114264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Figure A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Line 29"/>
          <p:cNvSpPr/>
          <p:nvPr/>
        </p:nvSpPr>
        <p:spPr>
          <a:xfrm>
            <a:off x="4267080" y="4267080"/>
            <a:ext cx="457200" cy="60984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Text Box 30"/>
          <p:cNvSpPr/>
          <p:nvPr/>
        </p:nvSpPr>
        <p:spPr>
          <a:xfrm>
            <a:off x="3120480" y="3962520"/>
            <a:ext cx="1677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 lactique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70" dur="indefinite" restart="never" nodeType="tmRoot">
          <p:childTnLst>
            <p:seq>
              <p:cTn id="2171" dur="indefinite" nodeType="mainSeq">
                <p:childTnLst>
                  <p:par>
                    <p:cTn id="2172" nodeType="clickEffect" fill="hold">
                      <p:stCondLst>
                        <p:cond delay="0"/>
                      </p:stCondLst>
                      <p:childTnLst>
                        <p:par>
                          <p:cTn id="2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6" nodeType="clickEffect" fill="hold">
                      <p:stCondLst>
                        <p:cond delay="indefinite"/>
                      </p:stCondLst>
                      <p:childTnLst>
                        <p:par>
                          <p:cTn id="21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8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4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18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8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9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19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92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19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96"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7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19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00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1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20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04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2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08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9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2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12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3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21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16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7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218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20" dur="3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1" nodeType="afterEffect" fill="hold">
                            <p:stCondLst>
                              <p:cond delay="8200"/>
                            </p:stCondLst>
                            <p:childTnLst>
                              <p:par>
                                <p:cTn id="2222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24" dur="5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5" dur="5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6" dur="5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7" dur="5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8" nodeType="clickEffect" fill="hold">
                      <p:stCondLst>
                        <p:cond delay="indefinite"/>
                      </p:stCondLst>
                      <p:childTnLst>
                        <p:par>
                          <p:cTn id="22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32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3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36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40"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24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44"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48" dur="500"/>
                                        <p:tgtEl>
                                          <p:spTgt spid="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25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2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3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25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6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25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60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1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26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64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5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26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68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9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27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72"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2D891C-DA5D-42F1-9FFF-6C72E4B5243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Line 2"/>
          <p:cNvSpPr/>
          <p:nvPr/>
        </p:nvSpPr>
        <p:spPr>
          <a:xfrm>
            <a:off x="1905120" y="762120"/>
            <a:ext cx="0" cy="26668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Line 3"/>
          <p:cNvSpPr/>
          <p:nvPr/>
        </p:nvSpPr>
        <p:spPr>
          <a:xfrm>
            <a:off x="1905120" y="3657600"/>
            <a:ext cx="0" cy="26668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Line 4"/>
          <p:cNvSpPr/>
          <p:nvPr/>
        </p:nvSpPr>
        <p:spPr>
          <a:xfrm>
            <a:off x="1905120" y="3429000"/>
            <a:ext cx="50292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Line 5"/>
          <p:cNvSpPr/>
          <p:nvPr/>
        </p:nvSpPr>
        <p:spPr>
          <a:xfrm>
            <a:off x="1905120" y="6324480"/>
            <a:ext cx="50292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Freeform 6"/>
          <p:cNvSpPr/>
          <p:nvPr/>
        </p:nvSpPr>
        <p:spPr>
          <a:xfrm>
            <a:off x="2514600" y="1219320"/>
            <a:ext cx="3962520" cy="1904760"/>
          </a:xfrm>
          <a:custGeom>
            <a:avLst/>
            <a:gdLst>
              <a:gd name="GluePoint1X" fmla="*/ 0 w 2496"/>
              <a:gd name="GluePoint1Y" fmla="*/ 2147483647 h 1200"/>
              <a:gd name="GluePoint2X" fmla="*/ 2147483647 w 2496"/>
              <a:gd name="GluePoint2Y" fmla="*/ 2147483647 h 1200"/>
              <a:gd name="GluePoint3X" fmla="*/ 2147483647 w 2496"/>
              <a:gd name="GluePoint3Y" fmla="*/ 2147483647 h 1200"/>
              <a:gd name="GluePoint4X" fmla="*/ 2147483647 w 2496"/>
              <a:gd name="GluePoint4Y" fmla="*/ 2147483647 h 1200"/>
              <a:gd name="GluePoint5X" fmla="*/ 2147483647 w 2496"/>
              <a:gd name="GluePoint5Y" fmla="*/ 0 h 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496" h="1200">
                <a:moveTo>
                  <a:pt x="0" y="1200"/>
                </a:moveTo>
                <a:cubicBezTo>
                  <a:pt x="604" y="1120"/>
                  <a:pt x="1208" y="1040"/>
                  <a:pt x="1536" y="912"/>
                </a:cubicBezTo>
                <a:cubicBezTo>
                  <a:pt x="1864" y="784"/>
                  <a:pt x="1864" y="560"/>
                  <a:pt x="1968" y="432"/>
                </a:cubicBezTo>
                <a:cubicBezTo>
                  <a:pt x="2072" y="304"/>
                  <a:pt x="2072" y="216"/>
                  <a:pt x="2160" y="144"/>
                </a:cubicBezTo>
                <a:cubicBezTo>
                  <a:pt x="2248" y="72"/>
                  <a:pt x="2440" y="24"/>
                  <a:pt x="2496" y="0"/>
                </a:cubicBezTo>
              </a:path>
            </a:pathLst>
          </a:custGeom>
          <a:noFill/>
          <a:ln w="190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Text Box 7"/>
          <p:cNvSpPr/>
          <p:nvPr/>
        </p:nvSpPr>
        <p:spPr>
          <a:xfrm>
            <a:off x="5869080" y="12193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Text Box 8"/>
          <p:cNvSpPr/>
          <p:nvPr/>
        </p:nvSpPr>
        <p:spPr>
          <a:xfrm>
            <a:off x="5564520" y="15238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Text Box 9"/>
          <p:cNvSpPr/>
          <p:nvPr/>
        </p:nvSpPr>
        <p:spPr>
          <a:xfrm>
            <a:off x="5335920" y="20574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Text Box 10"/>
          <p:cNvSpPr/>
          <p:nvPr/>
        </p:nvSpPr>
        <p:spPr>
          <a:xfrm>
            <a:off x="4878720" y="23623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Text Box 11"/>
          <p:cNvSpPr/>
          <p:nvPr/>
        </p:nvSpPr>
        <p:spPr>
          <a:xfrm>
            <a:off x="4268880" y="25909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Text Box 12"/>
          <p:cNvSpPr/>
          <p:nvPr/>
        </p:nvSpPr>
        <p:spPr>
          <a:xfrm>
            <a:off x="3583080" y="27432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Text Box 13"/>
          <p:cNvSpPr/>
          <p:nvPr/>
        </p:nvSpPr>
        <p:spPr>
          <a:xfrm>
            <a:off x="2973600" y="2819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Text Box 14"/>
          <p:cNvSpPr/>
          <p:nvPr/>
        </p:nvSpPr>
        <p:spPr>
          <a:xfrm flipH="1">
            <a:off x="2362320" y="2895480"/>
            <a:ext cx="380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Text Box 15"/>
          <p:cNvSpPr/>
          <p:nvPr/>
        </p:nvSpPr>
        <p:spPr>
          <a:xfrm>
            <a:off x="6326280" y="9907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Text Box 16"/>
          <p:cNvSpPr/>
          <p:nvPr/>
        </p:nvSpPr>
        <p:spPr>
          <a:xfrm>
            <a:off x="6784920" y="990720"/>
            <a:ext cx="1712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Patients McArdle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Freeform 17"/>
          <p:cNvSpPr/>
          <p:nvPr/>
        </p:nvSpPr>
        <p:spPr>
          <a:xfrm>
            <a:off x="2514600" y="3886200"/>
            <a:ext cx="3962520" cy="2057400"/>
          </a:xfrm>
          <a:custGeom>
            <a:avLst/>
            <a:gdLst>
              <a:gd name="GluePoint1X" fmla="*/ 0 w 2752"/>
              <a:gd name="GluePoint1Y" fmla="*/ 2147483647 h 1432"/>
              <a:gd name="GluePoint2X" fmla="*/ 2147483647 w 2752"/>
              <a:gd name="GluePoint2Y" fmla="*/ 2147483647 h 1432"/>
              <a:gd name="GluePoint3X" fmla="*/ 2147483647 w 2752"/>
              <a:gd name="GluePoint3Y" fmla="*/ 2147483647 h 1432"/>
              <a:gd name="GluePoint4X" fmla="*/ 2147483647 w 2752"/>
              <a:gd name="GluePoint4Y" fmla="*/ 2147483647 h 1432"/>
              <a:gd name="GluePoint5X" fmla="*/ 2147483647 w 2752"/>
              <a:gd name="GluePoint5Y" fmla="*/ 2147483647 h 14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752" h="1432">
                <a:moveTo>
                  <a:pt x="0" y="1432"/>
                </a:moveTo>
                <a:cubicBezTo>
                  <a:pt x="628" y="1240"/>
                  <a:pt x="1256" y="1048"/>
                  <a:pt x="1632" y="856"/>
                </a:cubicBezTo>
                <a:cubicBezTo>
                  <a:pt x="2008" y="664"/>
                  <a:pt x="2080" y="416"/>
                  <a:pt x="2256" y="280"/>
                </a:cubicBezTo>
                <a:cubicBezTo>
                  <a:pt x="2432" y="144"/>
                  <a:pt x="2624" y="80"/>
                  <a:pt x="2688" y="40"/>
                </a:cubicBezTo>
                <a:cubicBezTo>
                  <a:pt x="2752" y="0"/>
                  <a:pt x="2696" y="20"/>
                  <a:pt x="2640" y="40"/>
                </a:cubicBezTo>
              </a:path>
            </a:pathLst>
          </a:custGeom>
          <a:noFill/>
          <a:ln w="190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Text Box 18"/>
          <p:cNvSpPr/>
          <p:nvPr/>
        </p:nvSpPr>
        <p:spPr>
          <a:xfrm>
            <a:off x="6249960" y="36576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Text Box 19"/>
          <p:cNvSpPr/>
          <p:nvPr/>
        </p:nvSpPr>
        <p:spPr>
          <a:xfrm>
            <a:off x="5943600" y="3886200"/>
            <a:ext cx="32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Text Box 20"/>
          <p:cNvSpPr/>
          <p:nvPr/>
        </p:nvSpPr>
        <p:spPr>
          <a:xfrm>
            <a:off x="5640120" y="4038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Text Box 21"/>
          <p:cNvSpPr/>
          <p:nvPr/>
        </p:nvSpPr>
        <p:spPr>
          <a:xfrm>
            <a:off x="5335560" y="44197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Text Box 22"/>
          <p:cNvSpPr/>
          <p:nvPr/>
        </p:nvSpPr>
        <p:spPr>
          <a:xfrm>
            <a:off x="4878360" y="48006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Text Box 23"/>
          <p:cNvSpPr/>
          <p:nvPr/>
        </p:nvSpPr>
        <p:spPr>
          <a:xfrm>
            <a:off x="4344840" y="50292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Text Box 24"/>
          <p:cNvSpPr/>
          <p:nvPr/>
        </p:nvSpPr>
        <p:spPr>
          <a:xfrm>
            <a:off x="3582720" y="5410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Text Box 25"/>
          <p:cNvSpPr/>
          <p:nvPr/>
        </p:nvSpPr>
        <p:spPr>
          <a:xfrm>
            <a:off x="2973240" y="55627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Text Box 26"/>
          <p:cNvSpPr/>
          <p:nvPr/>
        </p:nvSpPr>
        <p:spPr>
          <a:xfrm>
            <a:off x="2363760" y="5715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Text Box 27"/>
          <p:cNvSpPr/>
          <p:nvPr/>
        </p:nvSpPr>
        <p:spPr>
          <a:xfrm>
            <a:off x="6633000" y="3757680"/>
            <a:ext cx="1622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Sujets contrôles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Text Box 28"/>
          <p:cNvSpPr/>
          <p:nvPr/>
        </p:nvSpPr>
        <p:spPr>
          <a:xfrm rot="16200000">
            <a:off x="151200" y="3125160"/>
            <a:ext cx="2541600" cy="4057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V</a:t>
            </a:r>
            <a:r>
              <a:rPr b="1" lang="fr-FR" sz="1800" strike="noStrike" u="none" baseline="-12000">
                <a:solidFill>
                  <a:srgbClr val="ffff00"/>
                </a:solidFill>
                <a:effectLst/>
                <a:uFillTx/>
                <a:latin typeface="Arial"/>
              </a:rPr>
              <a:t>E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atteint à VO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Line 29"/>
          <p:cNvSpPr/>
          <p:nvPr/>
        </p:nvSpPr>
        <p:spPr>
          <a:xfrm>
            <a:off x="4876920" y="1828800"/>
            <a:ext cx="304560" cy="60948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Line 30"/>
          <p:cNvSpPr/>
          <p:nvPr/>
        </p:nvSpPr>
        <p:spPr>
          <a:xfrm>
            <a:off x="4876920" y="1752480"/>
            <a:ext cx="380880" cy="6858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Line 31"/>
          <p:cNvSpPr/>
          <p:nvPr/>
        </p:nvSpPr>
        <p:spPr>
          <a:xfrm>
            <a:off x="4800600" y="4343400"/>
            <a:ext cx="304920" cy="6094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Text Box 32"/>
          <p:cNvSpPr/>
          <p:nvPr/>
        </p:nvSpPr>
        <p:spPr>
          <a:xfrm>
            <a:off x="3196440" y="1474920"/>
            <a:ext cx="1905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 Seuil » ventilatoire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Text Box 33"/>
          <p:cNvSpPr/>
          <p:nvPr/>
        </p:nvSpPr>
        <p:spPr>
          <a:xfrm>
            <a:off x="3425040" y="3989520"/>
            <a:ext cx="1905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ventilatoire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Text Box 34"/>
          <p:cNvSpPr/>
          <p:nvPr/>
        </p:nvSpPr>
        <p:spPr>
          <a:xfrm>
            <a:off x="2291760" y="762120"/>
            <a:ext cx="114264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B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Text Box 35"/>
          <p:cNvSpPr/>
          <p:nvPr/>
        </p:nvSpPr>
        <p:spPr>
          <a:xfrm>
            <a:off x="2215440" y="3657600"/>
            <a:ext cx="115668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Figure C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Text Box 36"/>
          <p:cNvSpPr/>
          <p:nvPr/>
        </p:nvSpPr>
        <p:spPr>
          <a:xfrm>
            <a:off x="2347920" y="628956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Text Box 37"/>
          <p:cNvSpPr/>
          <p:nvPr/>
        </p:nvSpPr>
        <p:spPr>
          <a:xfrm>
            <a:off x="3886200" y="6451560"/>
            <a:ext cx="1676520" cy="405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VO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73" dur="indefinite" restart="never" nodeType="tmRoot">
          <p:childTnLst>
            <p:seq>
              <p:cTn id="2274" dur="indefinite" nodeType="mainSeq">
                <p:childTnLst>
                  <p:par>
                    <p:cTn id="2275" nodeType="clickEffect" fill="hold">
                      <p:stCondLst>
                        <p:cond delay="0"/>
                      </p:stCondLst>
                      <p:childTnLst>
                        <p:par>
                          <p:cTn id="22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79"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28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83" dur="500"/>
                                        <p:tgtEl>
                                          <p:spTgt spid="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28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87"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8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289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91" dur="5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2" dur="5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3" dur="5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4" dur="5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5" nodeType="clickEffect" fill="hold">
                      <p:stCondLst>
                        <p:cond delay="indefinite"/>
                      </p:stCondLst>
                      <p:childTnLst>
                        <p:par>
                          <p:cTn id="22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99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0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03"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30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07"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8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309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11" dur="500" fill="hold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2" dur="500" fill="hold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3" dur="500" fill="hold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4" dur="500" fill="hold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Line 2"/>
          <p:cNvSpPr/>
          <p:nvPr/>
        </p:nvSpPr>
        <p:spPr>
          <a:xfrm>
            <a:off x="1066680" y="762120"/>
            <a:ext cx="0" cy="4572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Line 3"/>
          <p:cNvSpPr/>
          <p:nvPr/>
        </p:nvSpPr>
        <p:spPr>
          <a:xfrm>
            <a:off x="1219320" y="5410080"/>
            <a:ext cx="67816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Text Box 4"/>
          <p:cNvSpPr/>
          <p:nvPr/>
        </p:nvSpPr>
        <p:spPr>
          <a:xfrm>
            <a:off x="1220400" y="5334120"/>
            <a:ext cx="6278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                   I                              I                              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Text Box 5"/>
          <p:cNvSpPr/>
          <p:nvPr/>
        </p:nvSpPr>
        <p:spPr>
          <a:xfrm>
            <a:off x="2362320" y="5715000"/>
            <a:ext cx="3733560" cy="405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vitesse, Puissance, VO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FC,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Line 6"/>
          <p:cNvSpPr/>
          <p:nvPr/>
        </p:nvSpPr>
        <p:spPr>
          <a:xfrm>
            <a:off x="4191120" y="3048120"/>
            <a:ext cx="0" cy="22860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Line 7"/>
          <p:cNvSpPr/>
          <p:nvPr/>
        </p:nvSpPr>
        <p:spPr>
          <a:xfrm>
            <a:off x="6019920" y="2362320"/>
            <a:ext cx="0" cy="29718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Text Box 8"/>
          <p:cNvSpPr/>
          <p:nvPr/>
        </p:nvSpPr>
        <p:spPr>
          <a:xfrm>
            <a:off x="6478560" y="2819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Text Box 9"/>
          <p:cNvSpPr/>
          <p:nvPr/>
        </p:nvSpPr>
        <p:spPr>
          <a:xfrm>
            <a:off x="5868720" y="37339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Text Box 10"/>
          <p:cNvSpPr/>
          <p:nvPr/>
        </p:nvSpPr>
        <p:spPr>
          <a:xfrm>
            <a:off x="503064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Text Box 11"/>
          <p:cNvSpPr/>
          <p:nvPr/>
        </p:nvSpPr>
        <p:spPr>
          <a:xfrm>
            <a:off x="4039920" y="4572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Text Box 12"/>
          <p:cNvSpPr/>
          <p:nvPr/>
        </p:nvSpPr>
        <p:spPr>
          <a:xfrm>
            <a:off x="3430440" y="4648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Text Box 13"/>
          <p:cNvSpPr/>
          <p:nvPr/>
        </p:nvSpPr>
        <p:spPr>
          <a:xfrm>
            <a:off x="2516040" y="47242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Text Box 14"/>
          <p:cNvSpPr/>
          <p:nvPr/>
        </p:nvSpPr>
        <p:spPr>
          <a:xfrm>
            <a:off x="1525320" y="48006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Text Box 15"/>
          <p:cNvSpPr/>
          <p:nvPr/>
        </p:nvSpPr>
        <p:spPr>
          <a:xfrm>
            <a:off x="6858000" y="182880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Text Box 16"/>
          <p:cNvSpPr/>
          <p:nvPr/>
        </p:nvSpPr>
        <p:spPr>
          <a:xfrm>
            <a:off x="2058840" y="3352680"/>
            <a:ext cx="17920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Seuil d’adaptation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Ventilatoire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SV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Text Box 17"/>
          <p:cNvSpPr/>
          <p:nvPr/>
        </p:nvSpPr>
        <p:spPr>
          <a:xfrm>
            <a:off x="3126600" y="1600200"/>
            <a:ext cx="24570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Seuil d’inadaptation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Ventilatoire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SV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ou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Seuil de décompensation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l’acidose métabolique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Freeform 18"/>
          <p:cNvSpPr/>
          <p:nvPr/>
        </p:nvSpPr>
        <p:spPr>
          <a:xfrm>
            <a:off x="3733920" y="3886200"/>
            <a:ext cx="380880" cy="380880"/>
          </a:xfrm>
          <a:custGeom>
            <a:avLst/>
            <a:gdLst>
              <a:gd name="GluePoint1X" fmla="*/ 0 w 288"/>
              <a:gd name="GluePoint1Y" fmla="*/ 0 h 240"/>
              <a:gd name="GluePoint2X" fmla="*/ 2147483647 w 288"/>
              <a:gd name="GluePoint2Y" fmla="*/ 2147483647 h 240"/>
              <a:gd name="GluePoint3X" fmla="*/ 2147483647 w 288"/>
              <a:gd name="GluePoint3Y" fmla="*/ 2147483647 h 240"/>
              <a:gd name="GluePoint4X" fmla="*/ 2147483647 w 288"/>
              <a:gd name="GluePoint4Y" fmla="*/ 214748364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Freeform 19"/>
          <p:cNvSpPr/>
          <p:nvPr/>
        </p:nvSpPr>
        <p:spPr>
          <a:xfrm>
            <a:off x="6095880" y="4038480"/>
            <a:ext cx="381240" cy="165240"/>
          </a:xfrm>
          <a:custGeom>
            <a:avLst/>
            <a:gdLst>
              <a:gd name="GluePoint1X" fmla="*/ 2147483647 w 240"/>
              <a:gd name="GluePoint1Y" fmla="*/ 2147483647 h 104"/>
              <a:gd name="GluePoint2X" fmla="*/ 2147483647 w 240"/>
              <a:gd name="GluePoint2Y" fmla="*/ 0 h 104"/>
              <a:gd name="GluePoint3X" fmla="*/ 2147483647 w 240"/>
              <a:gd name="GluePoint3Y" fmla="*/ 2147483647 h 104"/>
              <a:gd name="GluePoint4X" fmla="*/ 0 w 240"/>
              <a:gd name="GluePoint4Y" fmla="*/ 2147483647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Line 20"/>
          <p:cNvSpPr/>
          <p:nvPr/>
        </p:nvSpPr>
        <p:spPr>
          <a:xfrm>
            <a:off x="4191120" y="4800600"/>
            <a:ext cx="380988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Line 21"/>
          <p:cNvSpPr/>
          <p:nvPr/>
        </p:nvSpPr>
        <p:spPr>
          <a:xfrm>
            <a:off x="6019920" y="3962520"/>
            <a:ext cx="190476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Line 22"/>
          <p:cNvSpPr/>
          <p:nvPr/>
        </p:nvSpPr>
        <p:spPr>
          <a:xfrm flipV="1">
            <a:off x="1676520" y="4800240"/>
            <a:ext cx="251460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Freeform 23"/>
          <p:cNvSpPr/>
          <p:nvPr/>
        </p:nvSpPr>
        <p:spPr>
          <a:xfrm>
            <a:off x="4191120" y="3962520"/>
            <a:ext cx="1828800" cy="838080"/>
          </a:xfrm>
          <a:custGeom>
            <a:avLst/>
            <a:gdLst>
              <a:gd name="GluePoint1X" fmla="*/ 0 w 1152"/>
              <a:gd name="GluePoint1Y" fmla="*/ 2147483647 h 528"/>
              <a:gd name="GluePoint2X" fmla="*/ 2147483647 w 1152"/>
              <a:gd name="GluePoint2Y" fmla="*/ 2147483647 h 528"/>
              <a:gd name="GluePoint3X" fmla="*/ 2147483647 w 1152"/>
              <a:gd name="GluePoint3Y" fmla="*/ 0 h 5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152" h="528">
                <a:moveTo>
                  <a:pt x="0" y="528"/>
                </a:moveTo>
                <a:cubicBezTo>
                  <a:pt x="168" y="500"/>
                  <a:pt x="336" y="472"/>
                  <a:pt x="528" y="384"/>
                </a:cubicBezTo>
                <a:cubicBezTo>
                  <a:pt x="720" y="296"/>
                  <a:pt x="1048" y="64"/>
                  <a:pt x="1152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Freeform 24"/>
          <p:cNvSpPr/>
          <p:nvPr/>
        </p:nvSpPr>
        <p:spPr>
          <a:xfrm>
            <a:off x="6019920" y="2057400"/>
            <a:ext cx="990360" cy="1905120"/>
          </a:xfrm>
          <a:custGeom>
            <a:avLst/>
            <a:gdLst>
              <a:gd name="GluePoint1X" fmla="*/ 0 w 768"/>
              <a:gd name="GluePoint1Y" fmla="*/ 2147483647 h 1728"/>
              <a:gd name="GluePoint2X" fmla="*/ 2147483647 w 768"/>
              <a:gd name="GluePoint2Y" fmla="*/ 2147483647 h 1728"/>
              <a:gd name="GluePoint3X" fmla="*/ 2147483647 w 768"/>
              <a:gd name="GluePoint3Y" fmla="*/ 2147483647 h 1728"/>
              <a:gd name="GluePoint4X" fmla="*/ 2147483647 w 768"/>
              <a:gd name="GluePoint4Y" fmla="*/ 0 h 17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768" h="1728">
                <a:moveTo>
                  <a:pt x="0" y="1728"/>
                </a:moveTo>
                <a:cubicBezTo>
                  <a:pt x="96" y="1620"/>
                  <a:pt x="192" y="1512"/>
                  <a:pt x="288" y="1344"/>
                </a:cubicBezTo>
                <a:cubicBezTo>
                  <a:pt x="384" y="1176"/>
                  <a:pt x="496" y="944"/>
                  <a:pt x="576" y="720"/>
                </a:cubicBezTo>
                <a:cubicBezTo>
                  <a:pt x="656" y="496"/>
                  <a:pt x="736" y="120"/>
                  <a:pt x="768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Line 25"/>
          <p:cNvSpPr/>
          <p:nvPr/>
        </p:nvSpPr>
        <p:spPr>
          <a:xfrm flipV="1">
            <a:off x="8001000" y="1066320"/>
            <a:ext cx="0" cy="43434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Text Box 26"/>
          <p:cNvSpPr/>
          <p:nvPr/>
        </p:nvSpPr>
        <p:spPr>
          <a:xfrm rot="16200000">
            <a:off x="7326360" y="2744640"/>
            <a:ext cx="22053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Text Box 27"/>
          <p:cNvSpPr/>
          <p:nvPr/>
        </p:nvSpPr>
        <p:spPr>
          <a:xfrm>
            <a:off x="457200" y="609480"/>
            <a:ext cx="709560" cy="50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150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140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130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120  –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AutoNum type="arabicPlain" startAt="1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AutoNum type="arabicPlain" startAt="1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100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    -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Line 28"/>
          <p:cNvSpPr/>
          <p:nvPr/>
        </p:nvSpPr>
        <p:spPr>
          <a:xfrm flipV="1">
            <a:off x="1676520" y="4266720"/>
            <a:ext cx="2514600" cy="6858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Freeform 29"/>
          <p:cNvSpPr/>
          <p:nvPr/>
        </p:nvSpPr>
        <p:spPr>
          <a:xfrm>
            <a:off x="4191120" y="685800"/>
            <a:ext cx="2832120" cy="3556080"/>
          </a:xfrm>
          <a:custGeom>
            <a:avLst/>
            <a:gdLst>
              <a:gd name="GluePoint1X" fmla="*/ 0 w 1784"/>
              <a:gd name="GluePoint1Y" fmla="*/ 2147483647 h 2240"/>
              <a:gd name="GluePoint2X" fmla="*/ 2147483647 w 1784"/>
              <a:gd name="GluePoint2Y" fmla="*/ 2147483647 h 2240"/>
              <a:gd name="GluePoint3X" fmla="*/ 2147483647 w 1784"/>
              <a:gd name="GluePoint3Y" fmla="*/ 2147483647 h 2240"/>
              <a:gd name="GluePoint4X" fmla="*/ 2147483647 w 1784"/>
              <a:gd name="GluePoint4Y" fmla="*/ 2147483647 h 2240"/>
              <a:gd name="GluePoint5X" fmla="*/ 2147483647 w 1784"/>
              <a:gd name="GluePoint5Y" fmla="*/ 2147483647 h 2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784" h="2240">
                <a:moveTo>
                  <a:pt x="0" y="2240"/>
                </a:moveTo>
                <a:cubicBezTo>
                  <a:pt x="192" y="2164"/>
                  <a:pt x="384" y="2088"/>
                  <a:pt x="576" y="1952"/>
                </a:cubicBezTo>
                <a:cubicBezTo>
                  <a:pt x="768" y="1816"/>
                  <a:pt x="968" y="1712"/>
                  <a:pt x="1152" y="1424"/>
                </a:cubicBezTo>
                <a:cubicBezTo>
                  <a:pt x="1336" y="1136"/>
                  <a:pt x="1576" y="448"/>
                  <a:pt x="1680" y="224"/>
                </a:cubicBezTo>
                <a:cubicBezTo>
                  <a:pt x="1784" y="0"/>
                  <a:pt x="1780" y="40"/>
                  <a:pt x="1776" y="8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Text Box 30"/>
          <p:cNvSpPr/>
          <p:nvPr/>
        </p:nvSpPr>
        <p:spPr>
          <a:xfrm>
            <a:off x="6462720" y="4075200"/>
            <a:ext cx="546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Text Box 31"/>
          <p:cNvSpPr/>
          <p:nvPr/>
        </p:nvSpPr>
        <p:spPr>
          <a:xfrm>
            <a:off x="4731120" y="4876920"/>
            <a:ext cx="534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Freeform 32"/>
          <p:cNvSpPr/>
          <p:nvPr/>
        </p:nvSpPr>
        <p:spPr>
          <a:xfrm>
            <a:off x="5562720" y="2514600"/>
            <a:ext cx="380880" cy="380880"/>
          </a:xfrm>
          <a:custGeom>
            <a:avLst/>
            <a:gdLst>
              <a:gd name="GluePoint1X" fmla="*/ 0 w 288"/>
              <a:gd name="GluePoint1Y" fmla="*/ 0 h 240"/>
              <a:gd name="GluePoint2X" fmla="*/ 2147483647 w 288"/>
              <a:gd name="GluePoint2Y" fmla="*/ 2147483647 h 240"/>
              <a:gd name="GluePoint3X" fmla="*/ 2147483647 w 288"/>
              <a:gd name="GluePoint3Y" fmla="*/ 2147483647 h 240"/>
              <a:gd name="GluePoint4X" fmla="*/ 2147483647 w 288"/>
              <a:gd name="GluePoint4Y" fmla="*/ 214748364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Freeform 33"/>
          <p:cNvSpPr/>
          <p:nvPr/>
        </p:nvSpPr>
        <p:spPr>
          <a:xfrm>
            <a:off x="4343400" y="4876920"/>
            <a:ext cx="380880" cy="164880"/>
          </a:xfrm>
          <a:custGeom>
            <a:avLst/>
            <a:gdLst>
              <a:gd name="GluePoint1X" fmla="*/ 2147483647 w 240"/>
              <a:gd name="GluePoint1Y" fmla="*/ 2147483647 h 104"/>
              <a:gd name="GluePoint2X" fmla="*/ 2147483647 w 240"/>
              <a:gd name="GluePoint2Y" fmla="*/ 0 h 104"/>
              <a:gd name="GluePoint3X" fmla="*/ 2147483647 w 240"/>
              <a:gd name="GluePoint3Y" fmla="*/ 2147483647 h 104"/>
              <a:gd name="GluePoint4X" fmla="*/ 0 w 240"/>
              <a:gd name="GluePoint4Y" fmla="*/ 2147483647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Text Box 34"/>
          <p:cNvSpPr/>
          <p:nvPr/>
        </p:nvSpPr>
        <p:spPr>
          <a:xfrm>
            <a:off x="1281240" y="498600"/>
            <a:ext cx="1671480" cy="440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 (l.min</a:t>
            </a:r>
            <a:r>
              <a:rPr b="0" lang="fr-FR" sz="20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Text Box 35"/>
          <p:cNvSpPr/>
          <p:nvPr/>
        </p:nvSpPr>
        <p:spPr>
          <a:xfrm>
            <a:off x="1295280" y="380880"/>
            <a:ext cx="322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s-CL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Text Box 36"/>
          <p:cNvSpPr/>
          <p:nvPr/>
        </p:nvSpPr>
        <p:spPr>
          <a:xfrm>
            <a:off x="3339720" y="115920"/>
            <a:ext cx="3942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Coïncidence entre SL et SV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Connecteur droit 2"/>
          <p:cNvSpPr/>
          <p:nvPr/>
        </p:nvSpPr>
        <p:spPr>
          <a:xfrm>
            <a:off x="1814400" y="1484280"/>
            <a:ext cx="5926320" cy="3759120"/>
          </a:xfrm>
          <a:prstGeom prst="line">
            <a:avLst/>
          </a:prstGeom>
          <a:ln w="7632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Connecteur droit 38"/>
          <p:cNvSpPr/>
          <p:nvPr/>
        </p:nvSpPr>
        <p:spPr>
          <a:xfrm flipV="1">
            <a:off x="1219320" y="1268280"/>
            <a:ext cx="6161040" cy="4386240"/>
          </a:xfrm>
          <a:prstGeom prst="line">
            <a:avLst/>
          </a:prstGeom>
          <a:ln w="7632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5" dur="indefinite" restart="never" nodeType="tmRoot">
          <p:childTnLst>
            <p:seq>
              <p:cTn id="2316" dur="indefinite" nodeType="mainSeq">
                <p:childTnLst>
                  <p:par>
                    <p:cTn id="2317" nodeType="clickEffect" fill="hold">
                      <p:stCondLst>
                        <p:cond delay="indefinite"/>
                      </p:stCondLst>
                      <p:childTnLst>
                        <p:par>
                          <p:cTn id="23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21"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2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325"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6" nodeType="clickEffect" fill="hold">
                      <p:stCondLst>
                        <p:cond delay="indefinite"/>
                      </p:stCondLst>
                      <p:childTnLst>
                        <p:par>
                          <p:cTn id="23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30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3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334"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38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34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342"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3" nodeType="clickEffect" fill="hold">
                      <p:stCondLst>
                        <p:cond delay="indefinite"/>
                      </p:stCondLst>
                      <p:childTnLst>
                        <p:par>
                          <p:cTn id="23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4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347"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49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351"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DC55D2-11F3-461E-BE9A-57ABDB177C3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Text Box 2"/>
          <p:cNvSpPr/>
          <p:nvPr/>
        </p:nvSpPr>
        <p:spPr>
          <a:xfrm>
            <a:off x="990720" y="4114800"/>
            <a:ext cx="830412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pH cellulaire l’acide lactique (CH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3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CHOCOOH) est dissocié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un anion lactate (CH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3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CHOCOO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et un proton : l’hydrogène (H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Text Box 3"/>
          <p:cNvSpPr/>
          <p:nvPr/>
        </p:nvSpPr>
        <p:spPr>
          <a:xfrm>
            <a:off x="2463120" y="5486400"/>
            <a:ext cx="3423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Acide lactique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lactate + H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Text Box 4"/>
          <p:cNvSpPr/>
          <p:nvPr/>
        </p:nvSpPr>
        <p:spPr>
          <a:xfrm>
            <a:off x="1066680" y="762120"/>
            <a:ext cx="7323120" cy="25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Mg ATP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4-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0" lang="en-US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    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ATPase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ADP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3-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MgHPO4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2-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baisse du rapport ATP/ADP active l’augmentation rapide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flux métabolique de la glycolyse qui peut passer :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de 0.05 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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mol.g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.min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 repos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à 50 - 60 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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mol.g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.min</a:t>
            </a:r>
            <a:r>
              <a:rPr b="0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lors de l’exercice intense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Text Box 5"/>
          <p:cNvSpPr/>
          <p:nvPr/>
        </p:nvSpPr>
        <p:spPr>
          <a:xfrm>
            <a:off x="982440" y="3429000"/>
            <a:ext cx="6377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…entraînant une importante formation d’acide lactique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Oval 6"/>
          <p:cNvSpPr/>
          <p:nvPr/>
        </p:nvSpPr>
        <p:spPr>
          <a:xfrm>
            <a:off x="5257800" y="5257800"/>
            <a:ext cx="914400" cy="91440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Oval 7"/>
          <p:cNvSpPr/>
          <p:nvPr/>
        </p:nvSpPr>
        <p:spPr>
          <a:xfrm>
            <a:off x="6248520" y="609480"/>
            <a:ext cx="914400" cy="91440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52" dur="indefinite" restart="never" nodeType="tmRoot">
          <p:childTnLst>
            <p:seq>
              <p:cTn id="2353" dur="indefinite" nodeType="mainSeq">
                <p:childTnLst>
                  <p:par>
                    <p:cTn id="2354" nodeType="clickEffect" fill="hold">
                      <p:stCondLst>
                        <p:cond delay="0"/>
                      </p:stCondLst>
                      <p:childTnLst>
                        <p:par>
                          <p:cTn id="2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58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60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62" dur="3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3" nodeType="clickEffect" fill="hold">
                      <p:stCondLst>
                        <p:cond delay="indefinite"/>
                      </p:stCondLst>
                      <p:childTnLst>
                        <p:par>
                          <p:cTn id="23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67" dur="500"/>
                                        <p:tgtEl>
                                          <p:spTgt spid="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6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71" dur="500"/>
                                        <p:tgtEl>
                                          <p:spTgt spid="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2" nodeType="clickEffect" fill="hold">
                      <p:stCondLst>
                        <p:cond delay="indefinite"/>
                      </p:stCondLst>
                      <p:childTnLst>
                        <p:par>
                          <p:cTn id="2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76" dur="500"/>
                                        <p:tgtEl>
                                          <p:spTgt spid="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7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80" dur="50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1465DC-B8D9-4A31-914A-F025F3D206F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Text Box 2"/>
          <p:cNvSpPr/>
          <p:nvPr/>
        </p:nvSpPr>
        <p:spPr>
          <a:xfrm>
            <a:off x="-14040" y="838080"/>
            <a:ext cx="8951760" cy="19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L’hyperventilation d’exercice est un phénomène encore mal compris,contrôlé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 des boucles de régulation diverses, redondantes ou complémentaires et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 s’avèrent très complexes,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 qui a fait dire à Jones et Ehrsam (1982) dans une revue très complète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mécanismes sous jacents à la réponse ventilatoire à l’exercice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Text Box 3"/>
          <p:cNvSpPr/>
          <p:nvPr/>
        </p:nvSpPr>
        <p:spPr>
          <a:xfrm>
            <a:off x="0" y="3505320"/>
            <a:ext cx="91440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 …a simplistic interpretation of the rise of ventilation would be a serious error »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Text Box 4"/>
          <p:cNvSpPr/>
          <p:nvPr/>
        </p:nvSpPr>
        <p:spPr>
          <a:xfrm>
            <a:off x="138240" y="4800600"/>
            <a:ext cx="90057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est donc sans doute imprudent de chercher à tirer des conclusions relatives au régime métabolique du muscle à partir de la réponse ventilatoire.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81" dur="indefinite" restart="never" nodeType="tmRoot">
          <p:childTnLst>
            <p:seq>
              <p:cTn id="2382" dur="indefinite" nodeType="mainSeq">
                <p:childTnLst>
                  <p:par>
                    <p:cTn id="2383" nodeType="clickEffect" fill="hold">
                      <p:stCondLst>
                        <p:cond delay="indefinite"/>
                      </p:stCondLst>
                      <p:childTnLst>
                        <p:par>
                          <p:cTn id="2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8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87" dur="2000"/>
                                        <p:tgtEl>
                                          <p:spTgt spid="1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8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38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1" dur="2000"/>
                                        <p:tgtEl>
                                          <p:spTgt spid="1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2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39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5" dur="2000"/>
                                        <p:tgtEl>
                                          <p:spTgt spid="1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6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239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9" dur="2000"/>
                                        <p:tgtEl>
                                          <p:spTgt spid="1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0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240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03" dur="2000"/>
                                        <p:tgtEl>
                                          <p:spTgt spid="1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4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240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07" dur="3000"/>
                                        <p:tgtEl>
                                          <p:spTgt spid="1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8" nodeType="clickEffect" fill="hold">
                      <p:stCondLst>
                        <p:cond delay="indefinite"/>
                      </p:stCondLst>
                      <p:childTnLst>
                        <p:par>
                          <p:cTn id="24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C43665-D2FB-4E0B-A071-AD428B69274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Text Box 2"/>
          <p:cNvSpPr/>
          <p:nvPr/>
        </p:nvSpPr>
        <p:spPr>
          <a:xfrm>
            <a:off x="1526040" y="3124080"/>
            <a:ext cx="6390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D’autres techniques encore…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EC9290-E88D-46F7-8AC5-68DCDC0B564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Line 2"/>
          <p:cNvSpPr/>
          <p:nvPr/>
        </p:nvSpPr>
        <p:spPr>
          <a:xfrm>
            <a:off x="1066680" y="1600200"/>
            <a:ext cx="0" cy="41911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Line 3"/>
          <p:cNvSpPr/>
          <p:nvPr/>
        </p:nvSpPr>
        <p:spPr>
          <a:xfrm>
            <a:off x="1066680" y="5791320"/>
            <a:ext cx="67057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Text Box 4"/>
          <p:cNvSpPr/>
          <p:nvPr/>
        </p:nvSpPr>
        <p:spPr>
          <a:xfrm rot="16201200">
            <a:off x="7074720" y="3668760"/>
            <a:ext cx="24037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Text Box 5"/>
          <p:cNvSpPr/>
          <p:nvPr/>
        </p:nvSpPr>
        <p:spPr>
          <a:xfrm>
            <a:off x="6707160" y="2362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Text Box 6"/>
          <p:cNvSpPr/>
          <p:nvPr/>
        </p:nvSpPr>
        <p:spPr>
          <a:xfrm>
            <a:off x="6402240" y="27432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Text Box 7"/>
          <p:cNvSpPr/>
          <p:nvPr/>
        </p:nvSpPr>
        <p:spPr>
          <a:xfrm>
            <a:off x="5945040" y="3429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Text Box 8"/>
          <p:cNvSpPr/>
          <p:nvPr/>
        </p:nvSpPr>
        <p:spPr>
          <a:xfrm>
            <a:off x="5411520" y="4038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Text Box 9"/>
          <p:cNvSpPr/>
          <p:nvPr/>
        </p:nvSpPr>
        <p:spPr>
          <a:xfrm>
            <a:off x="4039920" y="49528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Text Box 10"/>
          <p:cNvSpPr/>
          <p:nvPr/>
        </p:nvSpPr>
        <p:spPr>
          <a:xfrm>
            <a:off x="2973240" y="5105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Text Box 11"/>
          <p:cNvSpPr/>
          <p:nvPr/>
        </p:nvSpPr>
        <p:spPr>
          <a:xfrm>
            <a:off x="1601640" y="5181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Line 12"/>
          <p:cNvSpPr/>
          <p:nvPr/>
        </p:nvSpPr>
        <p:spPr>
          <a:xfrm>
            <a:off x="3962520" y="4495680"/>
            <a:ext cx="761760" cy="5335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Text Box 13"/>
          <p:cNvSpPr/>
          <p:nvPr/>
        </p:nvSpPr>
        <p:spPr>
          <a:xfrm>
            <a:off x="2815920" y="4191120"/>
            <a:ext cx="1677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 lactique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Freeform 14"/>
          <p:cNvSpPr/>
          <p:nvPr/>
        </p:nvSpPr>
        <p:spPr>
          <a:xfrm>
            <a:off x="1447920" y="1752480"/>
            <a:ext cx="4800600" cy="3353040"/>
          </a:xfrm>
          <a:custGeom>
            <a:avLst/>
            <a:gdLst>
              <a:gd name="GluePoint1X" fmla="*/ 0 w 2784"/>
              <a:gd name="GluePoint1Y" fmla="*/ 2147483647 h 2072"/>
              <a:gd name="GluePoint2X" fmla="*/ 2147483647 w 2784"/>
              <a:gd name="GluePoint2Y" fmla="*/ 2147483647 h 2072"/>
              <a:gd name="GluePoint3X" fmla="*/ 2147483647 w 2784"/>
              <a:gd name="GluePoint3Y" fmla="*/ 2147483647 h 20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784" h="2072">
                <a:moveTo>
                  <a:pt x="0" y="2072"/>
                </a:moveTo>
                <a:cubicBezTo>
                  <a:pt x="608" y="1380"/>
                  <a:pt x="1216" y="688"/>
                  <a:pt x="1680" y="344"/>
                </a:cubicBezTo>
                <a:cubicBezTo>
                  <a:pt x="2144" y="0"/>
                  <a:pt x="2600" y="64"/>
                  <a:pt x="2784" y="8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Line 15"/>
          <p:cNvSpPr/>
          <p:nvPr/>
        </p:nvSpPr>
        <p:spPr>
          <a:xfrm flipV="1">
            <a:off x="1676520" y="5029200"/>
            <a:ext cx="3733560" cy="4572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Line 16"/>
          <p:cNvSpPr/>
          <p:nvPr/>
        </p:nvSpPr>
        <p:spPr>
          <a:xfrm flipH="1">
            <a:off x="4647960" y="2514600"/>
            <a:ext cx="2361960" cy="274320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Line 17"/>
          <p:cNvSpPr/>
          <p:nvPr/>
        </p:nvSpPr>
        <p:spPr>
          <a:xfrm>
            <a:off x="4800600" y="1523880"/>
            <a:ext cx="0" cy="426744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Text Box 18"/>
          <p:cNvSpPr/>
          <p:nvPr/>
        </p:nvSpPr>
        <p:spPr>
          <a:xfrm>
            <a:off x="1371600" y="6172200"/>
            <a:ext cx="6227640" cy="440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(km.h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ou puissance (w ou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Text Box 19"/>
          <p:cNvSpPr/>
          <p:nvPr/>
        </p:nvSpPr>
        <p:spPr>
          <a:xfrm>
            <a:off x="859680" y="228600"/>
            <a:ext cx="72964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Détermination du S.A. à partir du point de déflexion de la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courbe FC-puissance ou vitesse. (d’après Conconi et al., 1982)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Line 20"/>
          <p:cNvSpPr/>
          <p:nvPr/>
        </p:nvSpPr>
        <p:spPr>
          <a:xfrm flipV="1">
            <a:off x="7772400" y="1523880"/>
            <a:ext cx="0" cy="42674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Text Box 21"/>
          <p:cNvSpPr/>
          <p:nvPr/>
        </p:nvSpPr>
        <p:spPr>
          <a:xfrm rot="16200600">
            <a:off x="-1269720" y="3649320"/>
            <a:ext cx="379224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Fréquence cardiaque (bat.min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12" dur="indefinite" restart="never" nodeType="tmRoot">
          <p:childTnLst>
            <p:seq>
              <p:cTn id="2413" dur="indefinite" nodeType="mainSeq">
                <p:childTnLst>
                  <p:par>
                    <p:cTn id="2414" nodeType="clickEffect" fill="hold">
                      <p:stCondLst>
                        <p:cond delay="0"/>
                      </p:stCondLst>
                      <p:childTnLst>
                        <p:par>
                          <p:cTn id="24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18" dur="500" fill="hold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19" dur="500" fill="hold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0" dur="500" fill="hold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1" dur="500" fill="hold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23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25" dur="500" fill="hold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6" dur="500" fill="hold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7" dur="500" fill="hold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8" dur="500" fill="hold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43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32" dur="500"/>
                                        <p:tgtEl>
                                          <p:spTgt spid="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43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36" dur="5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4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0"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44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4" dur="5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44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8" dur="5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9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45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2"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3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45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6" dur="5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7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45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0" dur="5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1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462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4" dur="3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5" nodeType="afterEffect" fill="hold">
                            <p:stCondLst>
                              <p:cond delay="8200"/>
                            </p:stCondLst>
                            <p:childTnLst>
                              <p:par>
                                <p:cTn id="2466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68" dur="500" fill="hold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69" dur="500" fill="hold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0" dur="500" fill="hold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1" dur="500" fill="hold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7D8755-4C3C-4415-9478-BAFD73022D1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8" name="Picture 2" descr="19"/>
          <p:cNvPicPr/>
          <p:nvPr/>
        </p:nvPicPr>
        <p:blipFill>
          <a:blip r:embed="rId1"/>
          <a:stretch/>
        </p:blipFill>
        <p:spPr>
          <a:xfrm>
            <a:off x="0" y="1600200"/>
            <a:ext cx="9144000" cy="456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9" name="Line 3"/>
          <p:cNvSpPr/>
          <p:nvPr/>
        </p:nvSpPr>
        <p:spPr>
          <a:xfrm>
            <a:off x="5867280" y="4191120"/>
            <a:ext cx="0" cy="99036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Line 4"/>
          <p:cNvSpPr/>
          <p:nvPr/>
        </p:nvSpPr>
        <p:spPr>
          <a:xfrm>
            <a:off x="5410080" y="3809880"/>
            <a:ext cx="0" cy="137160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Line 5"/>
          <p:cNvSpPr/>
          <p:nvPr/>
        </p:nvSpPr>
        <p:spPr>
          <a:xfrm>
            <a:off x="5410080" y="3124080"/>
            <a:ext cx="0" cy="68580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Text Box 6"/>
          <p:cNvSpPr/>
          <p:nvPr/>
        </p:nvSpPr>
        <p:spPr>
          <a:xfrm>
            <a:off x="143280" y="344520"/>
            <a:ext cx="8940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Détermination des seuils à partir de la technique des log-log des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concentrations sanguines de pyruvate et de lactate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72" dur="indefinite" restart="never" nodeType="tmRoot">
          <p:childTnLst>
            <p:seq>
              <p:cTn id="2473" dur="indefinite" nodeType="mainSeq">
                <p:childTnLst>
                  <p:par>
                    <p:cTn id="2474" nodeType="clickEffect" fill="hold">
                      <p:stCondLst>
                        <p:cond delay="indefinite"/>
                      </p:stCondLst>
                      <p:childTnLst>
                        <p:par>
                          <p:cTn id="24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6" nodeType="click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8" dur="500" fill="hold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9" dur="500" fill="hold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0" dur="500" fill="hold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1" dur="500" fill="hold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83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85" dur="5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6" dur="5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7" dur="5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8" dur="5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49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92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3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4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5" dur="500" fill="hold"/>
                                        <p:tgtEl>
                                          <p:spTgt spid="1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C1DBBB-70CA-4DEA-8E31-6773554CCE9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Rectangle 2"/>
          <p:cNvSpPr/>
          <p:nvPr/>
        </p:nvSpPr>
        <p:spPr>
          <a:xfrm>
            <a:off x="532080" y="2673360"/>
            <a:ext cx="80690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Ainsi, sur la même courbe lactique il est possible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définir plus de 10 S.A. différents !!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PlaceHolder 1"/>
          <p:cNvSpPr>
            <a:spLocks noGrp="1"/>
          </p:cNvSpPr>
          <p:nvPr>
            <p:ph type="title"/>
          </p:nvPr>
        </p:nvSpPr>
        <p:spPr>
          <a:xfrm>
            <a:off x="-360" y="151920"/>
            <a:ext cx="8991720" cy="1143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AINSI...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Rectangle 5"/>
          <p:cNvSpPr/>
          <p:nvPr/>
        </p:nvSpPr>
        <p:spPr>
          <a:xfrm>
            <a:off x="152280" y="1219320"/>
            <a:ext cx="8839440" cy="38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562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5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 Lorsque beaucoup d’efforts et de trésors d’imagination ont été dépensés pour débusquer le seuil anaérobie, l’échec à le trouver peut sans doute aussi être considéré comme une évidence que, peut-être...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Text Box 6"/>
          <p:cNvSpPr/>
          <p:nvPr/>
        </p:nvSpPr>
        <p:spPr>
          <a:xfrm>
            <a:off x="4874760" y="4343400"/>
            <a:ext cx="2963520" cy="21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n’existe pas »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Péronnet, 1995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2496" dur="indefinite" restart="never" nodeType="tmRoot">
          <p:childTnLst>
            <p:seq>
              <p:cTn id="2497" dur="indefinite" nodeType="mainSeq">
                <p:childTnLst>
                  <p:par>
                    <p:cTn id="2498" nodeType="clickEffect" fill="hold">
                      <p:stCondLst>
                        <p:cond delay="0"/>
                      </p:stCondLst>
                      <p:childTnLst>
                        <p:par>
                          <p:cTn id="24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0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2" dur="3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3" nodeType="clickEffect" fill="hold">
                      <p:stCondLst>
                        <p:cond delay="indefinite"/>
                      </p:stCondLst>
                      <p:childTnLst>
                        <p:par>
                          <p:cTn id="25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5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7" dur="3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75960" y="151920"/>
            <a:ext cx="8915400" cy="838440"/>
          </a:xfrm>
          <a:prstGeom prst="rect">
            <a:avLst/>
          </a:prstGeom>
          <a:noFill/>
          <a:ln w="0">
            <a:noFill/>
          </a:ln>
          <a:effectLst>
            <a:outerShdw dist="36147" dir="2700000" blurRad="0" rotWithShape="0">
              <a:srgbClr val="808080"/>
            </a:outerShdw>
          </a:effectLst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3.4 REPRODUCTIBILITE INTRA-TECHNIQUE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Rectangle 3"/>
          <p:cNvSpPr/>
          <p:nvPr/>
        </p:nvSpPr>
        <p:spPr>
          <a:xfrm>
            <a:off x="0" y="762120"/>
            <a:ext cx="8686800" cy="59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Même en sélectionnant (arbitrairement) une des techniques pour déterminer "un"  S.A. Celui-ci peut varier en fonction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5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Des manipulations expérimentales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Du régime riche ou pauvre en glucide 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(Maassen et 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Busse, 1989)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De la déplétion ou réplétion des réserves en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glycogène 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(Ivy et Coll., 1981; Hugues et coll., 1982, 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Yoshida et coll., 1984)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Des modèles mathématiques utilisés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8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 protocole des épreuves utilisées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Triangulaires ou rectangulaires,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Durée des paliers et de la récupération,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Fréquence de pédalage</a:t>
            </a:r>
            <a:r>
              <a:rPr b="0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(Hugues et coll., 1982)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2508" dur="indefinite" restart="never" nodeType="tmRoot">
          <p:childTnLst>
            <p:seq>
              <p:cTn id="2509" dur="indefinite" nodeType="mainSeq">
                <p:childTnLst>
                  <p:par>
                    <p:cTn id="2510" nodeType="clickEffect" fill="hold">
                      <p:stCondLst>
                        <p:cond delay="indefinite"/>
                      </p:stCondLst>
                      <p:childTnLst>
                        <p:par>
                          <p:cTn id="25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1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4" dur="500"/>
                                        <p:tgtEl>
                                          <p:spTgt spid="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5" nodeType="clickEffect" fill="hold">
                      <p:stCondLst>
                        <p:cond delay="indefinite"/>
                      </p:stCondLst>
                      <p:childTnLst>
                        <p:par>
                          <p:cTn id="2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9" dur="500"/>
                                        <p:tgtEl>
                                          <p:spTgt spid="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21" nodeType="clickEffect" fill="hold">
                      <p:stCondLst>
                        <p:cond delay="indefinite"/>
                      </p:stCondLst>
                      <p:childTnLst>
                        <p:par>
                          <p:cTn id="25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25" dur="500"/>
                                        <p:tgtEl>
                                          <p:spTgt spid="1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27" nodeType="clickEffect" fill="hold">
                      <p:stCondLst>
                        <p:cond delay="indefinite"/>
                      </p:stCondLst>
                      <p:childTnLst>
                        <p:par>
                          <p:cTn id="25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31" dur="500"/>
                                        <p:tgtEl>
                                          <p:spTgt spid="1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33" nodeType="clickEffect" fill="hold">
                      <p:stCondLst>
                        <p:cond delay="indefinite"/>
                      </p:stCondLst>
                      <p:childTnLst>
                        <p:par>
                          <p:cTn id="25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37" dur="500"/>
                                        <p:tgtEl>
                                          <p:spTgt spid="1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39" nodeType="clickEffect" fill="hold">
                      <p:stCondLst>
                        <p:cond delay="indefinite"/>
                      </p:stCondLst>
                      <p:childTnLst>
                        <p:par>
                          <p:cTn id="25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3" dur="500"/>
                                        <p:tgtEl>
                                          <p:spTgt spid="1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6" end="6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45" nodeType="clickEffect" fill="hold">
                      <p:stCondLst>
                        <p:cond delay="indefinite"/>
                      </p:stCondLst>
                      <p:childTnLst>
                        <p:par>
                          <p:cTn id="25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9" dur="500"/>
                                        <p:tgtEl>
                                          <p:spTgt spid="1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8" end="8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51" nodeType="clickEffect" fill="hold">
                      <p:stCondLst>
                        <p:cond delay="indefinite"/>
                      </p:stCondLst>
                      <p:childTnLst>
                        <p:par>
                          <p:cTn id="25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55" dur="500"/>
                                        <p:tgtEl>
                                          <p:spTgt spid="1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9" end="9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57" nodeType="clickEffect" fill="hold">
                      <p:stCondLst>
                        <p:cond delay="indefinite"/>
                      </p:stCondLst>
                      <p:childTnLst>
                        <p:par>
                          <p:cTn id="25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5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61" dur="500"/>
                                        <p:tgtEl>
                                          <p:spTgt spid="1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61">
                                      <p:txEl>
                                        <p:pRg st="10" end="1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563" fill="hold">
                      <p:stCondLst>
                        <p:cond delay="indefinite"/>
                      </p:stCondLst>
                      <p:childTnLst>
                        <p:par>
                          <p:cTn id="2564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565" dur="1" fill="hold"/>
                                  <p:tgtEl>
                                    <p:spTgt spid="1461">
                                      <p:txEl>
                                        <p:pRg st="11" end="1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A7E721-64E5-4B17-BC55-D1CE7436670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Line 2"/>
          <p:cNvSpPr/>
          <p:nvPr/>
        </p:nvSpPr>
        <p:spPr>
          <a:xfrm>
            <a:off x="1066680" y="1600200"/>
            <a:ext cx="0" cy="41911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Text Box 4"/>
          <p:cNvSpPr/>
          <p:nvPr/>
        </p:nvSpPr>
        <p:spPr>
          <a:xfrm rot="16201200">
            <a:off x="-546480" y="3168720"/>
            <a:ext cx="24037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Text Box 5"/>
          <p:cNvSpPr/>
          <p:nvPr/>
        </p:nvSpPr>
        <p:spPr>
          <a:xfrm>
            <a:off x="1449360" y="12952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Text Box 6"/>
          <p:cNvSpPr/>
          <p:nvPr/>
        </p:nvSpPr>
        <p:spPr>
          <a:xfrm>
            <a:off x="6402240" y="29718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Text Box 7"/>
          <p:cNvSpPr/>
          <p:nvPr/>
        </p:nvSpPr>
        <p:spPr>
          <a:xfrm>
            <a:off x="5945040" y="3505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Text Box 8"/>
          <p:cNvSpPr/>
          <p:nvPr/>
        </p:nvSpPr>
        <p:spPr>
          <a:xfrm>
            <a:off x="5410080" y="403848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Text Box 9"/>
          <p:cNvSpPr/>
          <p:nvPr/>
        </p:nvSpPr>
        <p:spPr>
          <a:xfrm>
            <a:off x="4878360" y="44956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Text Box 10"/>
          <p:cNvSpPr/>
          <p:nvPr/>
        </p:nvSpPr>
        <p:spPr>
          <a:xfrm>
            <a:off x="4116240" y="48769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Text Box 11"/>
          <p:cNvSpPr/>
          <p:nvPr/>
        </p:nvSpPr>
        <p:spPr>
          <a:xfrm>
            <a:off x="3049560" y="50292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Text Box 12"/>
          <p:cNvSpPr/>
          <p:nvPr/>
        </p:nvSpPr>
        <p:spPr>
          <a:xfrm>
            <a:off x="1601640" y="5181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Freeform 13"/>
          <p:cNvSpPr/>
          <p:nvPr/>
        </p:nvSpPr>
        <p:spPr>
          <a:xfrm>
            <a:off x="1676520" y="2209680"/>
            <a:ext cx="5257800" cy="3200400"/>
          </a:xfrm>
          <a:custGeom>
            <a:avLst/>
            <a:gdLst>
              <a:gd name="GluePoint1X" fmla="*/ 0 w 3168"/>
              <a:gd name="GluePoint1Y" fmla="*/ 2147483647 h 1824"/>
              <a:gd name="GluePoint2X" fmla="*/ 2147483647 w 3168"/>
              <a:gd name="GluePoint2Y" fmla="*/ 2147483647 h 1824"/>
              <a:gd name="GluePoint3X" fmla="*/ 2147483647 w 3168"/>
              <a:gd name="GluePoint3Y" fmla="*/ 2147483647 h 1824"/>
              <a:gd name="GluePoint4X" fmla="*/ 2147483647 w 3168"/>
              <a:gd name="GluePoint4Y" fmla="*/ 2147483647 h 1824"/>
              <a:gd name="GluePoint5X" fmla="*/ 2147483647 w 3168"/>
              <a:gd name="GluePoint5Y" fmla="*/ 2147483647 h 1824"/>
              <a:gd name="GluePoint6X" fmla="*/ 2147483647 w 3168"/>
              <a:gd name="GluePoint6Y" fmla="*/ 2147483647 h 1824"/>
              <a:gd name="GluePoint7X" fmla="*/ 2147483647 w 3168"/>
              <a:gd name="GluePoint7Y" fmla="*/ 2147483647 h 1824"/>
              <a:gd name="GluePoint8X" fmla="*/ 2147483647 w 3168"/>
              <a:gd name="GluePoint8Y" fmla="*/ 0 h 18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3168" h="1824">
                <a:moveTo>
                  <a:pt x="0" y="1824"/>
                </a:moveTo>
                <a:cubicBezTo>
                  <a:pt x="352" y="1804"/>
                  <a:pt x="704" y="1784"/>
                  <a:pt x="864" y="1776"/>
                </a:cubicBezTo>
                <a:cubicBezTo>
                  <a:pt x="1024" y="1768"/>
                  <a:pt x="848" y="1792"/>
                  <a:pt x="960" y="1776"/>
                </a:cubicBezTo>
                <a:cubicBezTo>
                  <a:pt x="1072" y="1760"/>
                  <a:pt x="1368" y="1736"/>
                  <a:pt x="1536" y="1680"/>
                </a:cubicBezTo>
                <a:cubicBezTo>
                  <a:pt x="1704" y="1624"/>
                  <a:pt x="1808" y="1552"/>
                  <a:pt x="1968" y="1440"/>
                </a:cubicBezTo>
                <a:cubicBezTo>
                  <a:pt x="2128" y="1328"/>
                  <a:pt x="2328" y="1176"/>
                  <a:pt x="2496" y="1008"/>
                </a:cubicBezTo>
                <a:cubicBezTo>
                  <a:pt x="2664" y="840"/>
                  <a:pt x="2864" y="600"/>
                  <a:pt x="2976" y="432"/>
                </a:cubicBezTo>
                <a:cubicBezTo>
                  <a:pt x="3088" y="264"/>
                  <a:pt x="3136" y="72"/>
                  <a:pt x="3168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Text Box 14"/>
          <p:cNvSpPr/>
          <p:nvPr/>
        </p:nvSpPr>
        <p:spPr>
          <a:xfrm>
            <a:off x="1602000" y="53341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Line 15"/>
          <p:cNvSpPr/>
          <p:nvPr/>
        </p:nvSpPr>
        <p:spPr>
          <a:xfrm>
            <a:off x="4267080" y="5181480"/>
            <a:ext cx="0" cy="5335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Text Box 16"/>
          <p:cNvSpPr/>
          <p:nvPr/>
        </p:nvSpPr>
        <p:spPr>
          <a:xfrm>
            <a:off x="4111920" y="6019920"/>
            <a:ext cx="177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s»  lactique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Line 17"/>
          <p:cNvSpPr/>
          <p:nvPr/>
        </p:nvSpPr>
        <p:spPr>
          <a:xfrm flipV="1">
            <a:off x="1828800" y="5333760"/>
            <a:ext cx="2362320" cy="1522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Freeform 18"/>
          <p:cNvSpPr/>
          <p:nvPr/>
        </p:nvSpPr>
        <p:spPr>
          <a:xfrm>
            <a:off x="4191120" y="3352680"/>
            <a:ext cx="2666880" cy="1981440"/>
          </a:xfrm>
          <a:custGeom>
            <a:avLst/>
            <a:gdLst>
              <a:gd name="GluePoint1X" fmla="*/ 0 w 1920"/>
              <a:gd name="GluePoint1Y" fmla="*/ 2147483647 h 2016"/>
              <a:gd name="GluePoint2X" fmla="*/ 2147483647 w 1920"/>
              <a:gd name="GluePoint2Y" fmla="*/ 2147483647 h 2016"/>
              <a:gd name="GluePoint3X" fmla="*/ 2147483647 w 1920"/>
              <a:gd name="GluePoint3Y" fmla="*/ 2147483647 h 2016"/>
              <a:gd name="GluePoint4X" fmla="*/ 2147483647 w 1920"/>
              <a:gd name="GluePoint4Y" fmla="*/ 2147483647 h 2016"/>
              <a:gd name="GluePoint5X" fmla="*/ 2147483647 w 1920"/>
              <a:gd name="GluePoint5Y" fmla="*/ 0 h 20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920" h="2016">
                <a:moveTo>
                  <a:pt x="0" y="2016"/>
                </a:moveTo>
                <a:cubicBezTo>
                  <a:pt x="276" y="1908"/>
                  <a:pt x="552" y="1800"/>
                  <a:pt x="768" y="1680"/>
                </a:cubicBezTo>
                <a:cubicBezTo>
                  <a:pt x="984" y="1560"/>
                  <a:pt x="1144" y="1440"/>
                  <a:pt x="1296" y="1296"/>
                </a:cubicBezTo>
                <a:cubicBezTo>
                  <a:pt x="1448" y="1152"/>
                  <a:pt x="1576" y="1032"/>
                  <a:pt x="1680" y="816"/>
                </a:cubicBezTo>
                <a:cubicBezTo>
                  <a:pt x="1784" y="600"/>
                  <a:pt x="1880" y="136"/>
                  <a:pt x="19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Freeform 19"/>
          <p:cNvSpPr/>
          <p:nvPr/>
        </p:nvSpPr>
        <p:spPr>
          <a:xfrm>
            <a:off x="1905120" y="4267080"/>
            <a:ext cx="5029200" cy="1143000"/>
          </a:xfrm>
          <a:custGeom>
            <a:avLst/>
            <a:gdLst>
              <a:gd name="GluePoint1X" fmla="*/ 0 w 3456"/>
              <a:gd name="GluePoint1Y" fmla="*/ 2147483647 h 1296"/>
              <a:gd name="GluePoint2X" fmla="*/ 2147483647 w 3456"/>
              <a:gd name="GluePoint2Y" fmla="*/ 2147483647 h 1296"/>
              <a:gd name="GluePoint3X" fmla="*/ 2147483647 w 3456"/>
              <a:gd name="GluePoint3Y" fmla="*/ 2147483647 h 1296"/>
              <a:gd name="GluePoint4X" fmla="*/ 2147483647 w 3456"/>
              <a:gd name="GluePoint4Y" fmla="*/ 2147483647 h 1296"/>
              <a:gd name="GluePoint5X" fmla="*/ 2147483647 w 3456"/>
              <a:gd name="GluePoint5Y" fmla="*/ 2147483647 h 1296"/>
              <a:gd name="GluePoint6X" fmla="*/ 2147483647 w 3456"/>
              <a:gd name="GluePoint6Y" fmla="*/ 0 h 12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456" h="1296">
                <a:moveTo>
                  <a:pt x="0" y="1296"/>
                </a:moveTo>
                <a:cubicBezTo>
                  <a:pt x="624" y="1292"/>
                  <a:pt x="1248" y="1288"/>
                  <a:pt x="1632" y="1248"/>
                </a:cubicBezTo>
                <a:cubicBezTo>
                  <a:pt x="2016" y="1208"/>
                  <a:pt x="2088" y="1144"/>
                  <a:pt x="2304" y="1056"/>
                </a:cubicBezTo>
                <a:cubicBezTo>
                  <a:pt x="2520" y="968"/>
                  <a:pt x="2752" y="872"/>
                  <a:pt x="2928" y="720"/>
                </a:cubicBezTo>
                <a:cubicBezTo>
                  <a:pt x="3104" y="568"/>
                  <a:pt x="3272" y="264"/>
                  <a:pt x="3360" y="144"/>
                </a:cubicBezTo>
                <a:cubicBezTo>
                  <a:pt x="3448" y="24"/>
                  <a:pt x="3452" y="12"/>
                  <a:pt x="3456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dash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Text Box 20"/>
          <p:cNvSpPr/>
          <p:nvPr/>
        </p:nvSpPr>
        <p:spPr>
          <a:xfrm>
            <a:off x="6707520" y="31240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Text Box 21"/>
          <p:cNvSpPr/>
          <p:nvPr/>
        </p:nvSpPr>
        <p:spPr>
          <a:xfrm>
            <a:off x="6478920" y="3657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Text Box 22"/>
          <p:cNvSpPr/>
          <p:nvPr/>
        </p:nvSpPr>
        <p:spPr>
          <a:xfrm>
            <a:off x="5945400" y="42670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Text Box 23"/>
          <p:cNvSpPr/>
          <p:nvPr/>
        </p:nvSpPr>
        <p:spPr>
          <a:xfrm>
            <a:off x="5488200" y="46483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Text Box 24"/>
          <p:cNvSpPr/>
          <p:nvPr/>
        </p:nvSpPr>
        <p:spPr>
          <a:xfrm>
            <a:off x="4954680" y="48769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Text Box 25"/>
          <p:cNvSpPr/>
          <p:nvPr/>
        </p:nvSpPr>
        <p:spPr>
          <a:xfrm>
            <a:off x="411660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3333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Text Box 26"/>
          <p:cNvSpPr/>
          <p:nvPr/>
        </p:nvSpPr>
        <p:spPr>
          <a:xfrm>
            <a:off x="3049920" y="51814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3333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Line 36"/>
          <p:cNvSpPr/>
          <p:nvPr/>
        </p:nvSpPr>
        <p:spPr>
          <a:xfrm>
            <a:off x="1770120" y="222552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prstDash val="dash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Text Box 37"/>
          <p:cNvSpPr/>
          <p:nvPr/>
        </p:nvSpPr>
        <p:spPr>
          <a:xfrm>
            <a:off x="2288520" y="2057400"/>
            <a:ext cx="1555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pauvre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Text Box 38"/>
          <p:cNvSpPr/>
          <p:nvPr/>
        </p:nvSpPr>
        <p:spPr>
          <a:xfrm>
            <a:off x="1447920" y="1676520"/>
            <a:ext cx="33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Line 39"/>
          <p:cNvSpPr/>
          <p:nvPr/>
        </p:nvSpPr>
        <p:spPr>
          <a:xfrm>
            <a:off x="1752480" y="190512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Text Box 40"/>
          <p:cNvSpPr/>
          <p:nvPr/>
        </p:nvSpPr>
        <p:spPr>
          <a:xfrm>
            <a:off x="2273760" y="1736640"/>
            <a:ext cx="14198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mixte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Text Box 41"/>
          <p:cNvSpPr/>
          <p:nvPr/>
        </p:nvSpPr>
        <p:spPr>
          <a:xfrm>
            <a:off x="6783120" y="2057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Line 42"/>
          <p:cNvSpPr/>
          <p:nvPr/>
        </p:nvSpPr>
        <p:spPr>
          <a:xfrm>
            <a:off x="1676520" y="1523880"/>
            <a:ext cx="60948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Text Box 43"/>
          <p:cNvSpPr/>
          <p:nvPr/>
        </p:nvSpPr>
        <p:spPr>
          <a:xfrm>
            <a:off x="2286000" y="1371600"/>
            <a:ext cx="2590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riche en glucides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Line 44"/>
          <p:cNvSpPr/>
          <p:nvPr/>
        </p:nvSpPr>
        <p:spPr>
          <a:xfrm>
            <a:off x="4952880" y="5105520"/>
            <a:ext cx="0" cy="609480"/>
          </a:xfrm>
          <a:prstGeom prst="line">
            <a:avLst/>
          </a:prstGeom>
          <a:ln w="28440">
            <a:solidFill>
              <a:srgbClr val="3333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Line 45"/>
          <p:cNvSpPr/>
          <p:nvPr/>
        </p:nvSpPr>
        <p:spPr>
          <a:xfrm>
            <a:off x="5791320" y="5105520"/>
            <a:ext cx="0" cy="609480"/>
          </a:xfrm>
          <a:prstGeom prst="line">
            <a:avLst/>
          </a:prstGeom>
          <a:ln w="28440">
            <a:solidFill>
              <a:srgbClr val="ffff00"/>
            </a:solidFill>
            <a:prstDash val="dash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Line 46"/>
          <p:cNvSpPr/>
          <p:nvPr/>
        </p:nvSpPr>
        <p:spPr>
          <a:xfrm>
            <a:off x="1066680" y="5105520"/>
            <a:ext cx="609624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Text Box 47"/>
          <p:cNvSpPr/>
          <p:nvPr/>
        </p:nvSpPr>
        <p:spPr>
          <a:xfrm>
            <a:off x="7158960" y="4842000"/>
            <a:ext cx="1331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Text Box 48"/>
          <p:cNvSpPr/>
          <p:nvPr/>
        </p:nvSpPr>
        <p:spPr>
          <a:xfrm>
            <a:off x="7010640" y="5837400"/>
            <a:ext cx="703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Watt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Text Box 49"/>
          <p:cNvSpPr/>
          <p:nvPr/>
        </p:nvSpPr>
        <p:spPr>
          <a:xfrm>
            <a:off x="1132560" y="152280"/>
            <a:ext cx="7749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régimes riche, mixte et pauvre en glucide sur la cinétique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sanguin (d’après Maassen et Busse, 1989)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66" dur="indefinite" restart="never" nodeType="tmRoot">
          <p:childTnLst>
            <p:seq>
              <p:cTn id="2567" dur="indefinite" nodeType="mainSeq">
                <p:childTnLst>
                  <p:par>
                    <p:cTn id="2568" nodeType="clickEffect" fill="hold">
                      <p:stCondLst>
                        <p:cond delay="0"/>
                      </p:stCondLst>
                      <p:childTnLst>
                        <p:par>
                          <p:cTn id="25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7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72" dur="500" fill="hold"/>
                                        <p:tgtEl>
                                          <p:spTgt spid="1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3" dur="500" fill="hold"/>
                                        <p:tgtEl>
                                          <p:spTgt spid="1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4" dur="500" fill="hold"/>
                                        <p:tgtEl>
                                          <p:spTgt spid="1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5" dur="500" fill="hold"/>
                                        <p:tgtEl>
                                          <p:spTgt spid="1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7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79" dur="500" fill="hold"/>
                                        <p:tgtEl>
                                          <p:spTgt spid="1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0" dur="500" fill="hold"/>
                                        <p:tgtEl>
                                          <p:spTgt spid="1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1" dur="500" fill="hold"/>
                                        <p:tgtEl>
                                          <p:spTgt spid="1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2" dur="500" fill="hold"/>
                                        <p:tgtEl>
                                          <p:spTgt spid="1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58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86" dur="5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7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58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90"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1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59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94" dur="5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5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59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98" dur="5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9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60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02" dur="5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3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60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06"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7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608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10" dur="300"/>
                                        <p:tgtEl>
                                          <p:spTgt spid="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1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2612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14" dur="500" fill="hold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5" dur="500" fill="hold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6" dur="500" fill="hold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7" dur="500" fill="hold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F5A53D-00D9-462A-A0D8-24922713534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3" name="Picture 2" descr="21"/>
          <p:cNvPicPr/>
          <p:nvPr/>
        </p:nvPicPr>
        <p:blipFill>
          <a:blip r:embed="rId1"/>
          <a:srcRect l="0" t="0" r="50837" b="0"/>
          <a:stretch/>
        </p:blipFill>
        <p:spPr>
          <a:xfrm>
            <a:off x="2057400" y="914400"/>
            <a:ext cx="5859360" cy="59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4" name="Text Box 3"/>
          <p:cNvSpPr/>
          <p:nvPr/>
        </p:nvSpPr>
        <p:spPr>
          <a:xfrm>
            <a:off x="869040" y="0"/>
            <a:ext cx="7523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la déplétion des réserves en glycogène sur la cinétique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plasmatique (d’après Yoshida et al., 1984)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9E4538-05F7-4307-955C-D5B11D7592D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6" name="Picture 2" descr="21"/>
          <p:cNvPicPr/>
          <p:nvPr/>
        </p:nvPicPr>
        <p:blipFill>
          <a:blip r:embed="rId1"/>
          <a:srcRect l="50003" t="0" r="0" b="0"/>
          <a:stretch/>
        </p:blipFill>
        <p:spPr>
          <a:xfrm>
            <a:off x="1828800" y="1068480"/>
            <a:ext cx="5791320" cy="577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7" name="Text Box 3"/>
          <p:cNvSpPr/>
          <p:nvPr/>
        </p:nvSpPr>
        <p:spPr>
          <a:xfrm>
            <a:off x="981720" y="228600"/>
            <a:ext cx="7282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la déplétion des réserves en glycogène sur la courbe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ventilation-puissance (d’après Yoshida et al., 1984)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9D7D27-F584-42C3-9F86-1722007F17D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Text Box 2"/>
          <p:cNvSpPr/>
          <p:nvPr/>
        </p:nvSpPr>
        <p:spPr>
          <a:xfrm>
            <a:off x="1269720" y="2693880"/>
            <a:ext cx="7083720" cy="520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« SEUILS » ANEROBIES AGE ET SEXE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5BF70E-7586-4A66-AC69-9CAAE5B3F56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511" name=""/>
          <p:cNvGraphicFramePr/>
          <p:nvPr/>
        </p:nvGraphicFramePr>
        <p:xfrm>
          <a:off x="304920" y="1371600"/>
          <a:ext cx="8686800" cy="4089240"/>
        </p:xfrm>
        <a:graphic>
          <a:graphicData uri="http://schemas.openxmlformats.org/drawingml/2006/table">
            <a:tbl>
              <a:tblPr/>
              <a:tblGrid>
                <a:gridCol w="1573200"/>
                <a:gridCol w="2320920"/>
                <a:gridCol w="2171520"/>
                <a:gridCol w="2621160"/>
              </a:tblGrid>
              <a:tr h="1379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Enfant prépubère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 à 6 ans *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G.         F.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Adolescent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15 à 16 ans *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G.          F.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Adulte sédentaire **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3557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SV1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74          69   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61         54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50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3539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SV2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70</a:t>
                      </a:r>
                      <a:endParaRPr b="0" lang="en-US" sz="20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12" name="Text Box 24"/>
          <p:cNvSpPr/>
          <p:nvPr/>
        </p:nvSpPr>
        <p:spPr>
          <a:xfrm>
            <a:off x="1229760" y="304920"/>
            <a:ext cx="703836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Seuils ventilatoires »  exprimés en % de VO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Text Box 25"/>
          <p:cNvSpPr/>
          <p:nvPr/>
        </p:nvSpPr>
        <p:spPr>
          <a:xfrm>
            <a:off x="597960" y="5867280"/>
            <a:ext cx="8018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les données de (*) Reybrouck, 1985 et de (**) Lecomte, 2001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D3C452-4EBB-44AE-8DB7-02024709B6E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Text Box 2"/>
          <p:cNvSpPr/>
          <p:nvPr/>
        </p:nvSpPr>
        <p:spPr>
          <a:xfrm>
            <a:off x="2161080" y="2417760"/>
            <a:ext cx="4667400" cy="11912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« SEUILS » ANAEROBIES ET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SPECIALITES SPORTIVES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7B9D5F-9034-4D70-A236-596105DB730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17" name="Picture 2" descr=""/>
          <p:cNvPicPr/>
          <p:nvPr/>
        </p:nvPicPr>
        <p:blipFill>
          <a:blip r:embed="rId1"/>
          <a:stretch/>
        </p:blipFill>
        <p:spPr>
          <a:xfrm>
            <a:off x="2616120" y="228600"/>
            <a:ext cx="4165560" cy="62485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1518" name="Text Box 3"/>
          <p:cNvSpPr/>
          <p:nvPr/>
        </p:nvSpPr>
        <p:spPr>
          <a:xfrm>
            <a:off x="86040" y="1639800"/>
            <a:ext cx="2349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 déterminés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partir de la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course sur tapis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roulant…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Text Box 4"/>
          <p:cNvSpPr/>
          <p:nvPr/>
        </p:nvSpPr>
        <p:spPr>
          <a:xfrm>
            <a:off x="-11160" y="3745080"/>
            <a:ext cx="2670480" cy="16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 atteint à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valeurs de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plus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élevées en course sur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tapis roulant que sur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cyclo ergomètre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18" dur="indefinite" restart="never" nodeType="tmRoot">
          <p:childTnLst>
            <p:seq>
              <p:cTn id="2619" dur="indefinite" nodeType="mainSeq">
                <p:childTnLst>
                  <p:par>
                    <p:cTn id="2620" nodeType="clickEffect" fill="hold">
                      <p:stCondLst>
                        <p:cond delay="0"/>
                      </p:stCondLst>
                      <p:childTnLst>
                        <p:par>
                          <p:cTn id="26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22" nodeType="afterEffect" fill="hold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2624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2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28" dur="5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5AE922-AB20-4516-8AEA-773F279542B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1" name="Picture 2" descr=""/>
          <p:cNvPicPr/>
          <p:nvPr/>
        </p:nvPicPr>
        <p:blipFill>
          <a:blip r:embed="rId1"/>
          <a:stretch/>
        </p:blipFill>
        <p:spPr>
          <a:xfrm>
            <a:off x="3886200" y="685800"/>
            <a:ext cx="3860640" cy="57913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1522" name="Text Box 3"/>
          <p:cNvSpPr/>
          <p:nvPr/>
        </p:nvSpPr>
        <p:spPr>
          <a:xfrm>
            <a:off x="231480" y="2133720"/>
            <a:ext cx="3434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partir du pédalage sur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son propre vélo…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Text Box 4"/>
          <p:cNvSpPr/>
          <p:nvPr/>
        </p:nvSpPr>
        <p:spPr>
          <a:xfrm>
            <a:off x="190080" y="3541680"/>
            <a:ext cx="37504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 plus précoce pour une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cadence de pédalage de 90 rpm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 pour une cadence de 60 rpm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(Hughes et al., 1982)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29" dur="indefinite" restart="never" nodeType="tmRoot">
          <p:childTnLst>
            <p:seq>
              <p:cTn id="2630" dur="indefinite" nodeType="mainSeq">
                <p:childTnLst>
                  <p:par>
                    <p:cTn id="2631" nodeType="clickEffect" fill="hold">
                      <p:stCondLst>
                        <p:cond delay="0"/>
                      </p:stCondLst>
                      <p:childTnLst>
                        <p:par>
                          <p:cTn id="26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33" nodeType="afterEffect" fill="hold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2635"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28552A-65FE-4D9C-9CE7-BF1DFB7718F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5" name="Picture 2" descr=""/>
          <p:cNvPicPr/>
          <p:nvPr/>
        </p:nvPicPr>
        <p:blipFill>
          <a:blip r:embed="rId1"/>
          <a:stretch/>
        </p:blipFill>
        <p:spPr>
          <a:xfrm>
            <a:off x="1447920" y="1981080"/>
            <a:ext cx="6629400" cy="441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1526" name="Text Box 3"/>
          <p:cNvSpPr/>
          <p:nvPr/>
        </p:nvSpPr>
        <p:spPr>
          <a:xfrm>
            <a:off x="369000" y="380880"/>
            <a:ext cx="85172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partir d’une épreuve de rame sur un ergo-rame adapté…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« seuil anaérobie » apparaît plus précocement lorsque les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membres supérieurs sont sollicités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36" dur="indefinite" restart="never" nodeType="tmRoot">
          <p:childTnLst>
            <p:seq>
              <p:cTn id="2637" dur="indefinite" nodeType="mainSeq">
                <p:childTnLst>
                  <p:par>
                    <p:cTn id="2638" nodeType="clickEffect" fill="hold">
                      <p:stCondLst>
                        <p:cond delay="0"/>
                      </p:stCondLst>
                      <p:childTnLst>
                        <p:par>
                          <p:cTn id="26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0" nodeType="afterEffect" fill="hold" presetClass="entr" presetID="16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Horizontal)" transition="in">
                                      <p:cBhvr additive="repl">
                                        <p:cTn id="2642" dur="500"/>
                                        <p:tgtEl>
                                          <p:spTgt spid="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9FE410-F5C4-48AA-B043-A336158858C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8" name="Picture 2" descr="DSC00029"/>
          <p:cNvPicPr/>
          <p:nvPr/>
        </p:nvPicPr>
        <p:blipFill>
          <a:blip r:embed="rId1"/>
          <a:srcRect l="0" t="0" r="0" b="17142"/>
          <a:stretch/>
        </p:blipFill>
        <p:spPr>
          <a:xfrm>
            <a:off x="23760" y="1295280"/>
            <a:ext cx="9120240" cy="54104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1529" name="Text Box 3"/>
          <p:cNvSpPr/>
          <p:nvPr/>
        </p:nvSpPr>
        <p:spPr>
          <a:xfrm>
            <a:off x="304920" y="0"/>
            <a:ext cx="861048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Directement au cours de la nage…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natation le « S.A. » est toujours très nettement plus tardif que dans les autres disciplines sportives (85 à 95 % de VAM-nage)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D4AF0A-EBE2-472E-AC3E-4B12E7C1913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1" name="Picture 2" descr=""/>
          <p:cNvPicPr/>
          <p:nvPr/>
        </p:nvPicPr>
        <p:blipFill>
          <a:blip r:embed="rId1"/>
          <a:stretch/>
        </p:blipFill>
        <p:spPr>
          <a:xfrm>
            <a:off x="762120" y="1295280"/>
            <a:ext cx="8001000" cy="53341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1532" name="Text Box 3"/>
          <p:cNvSpPr/>
          <p:nvPr/>
        </p:nvSpPr>
        <p:spPr>
          <a:xfrm>
            <a:off x="1362600" y="228600"/>
            <a:ext cx="6773040" cy="7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…et de la nage sur une planche de surf !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S.A. plus précoce en rame sur planche 65 –75 % VO2max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43" dur="indefinite" restart="never" nodeType="tmRoot">
          <p:childTnLst>
            <p:seq>
              <p:cTn id="2644" dur="indefinite" nodeType="mainSeq">
                <p:childTnLst>
                  <p:par>
                    <p:cTn id="2645" nodeType="clickEffect" fill="hold">
                      <p:stCondLst>
                        <p:cond delay="0"/>
                      </p:stCondLst>
                      <p:childTnLst>
                        <p:par>
                          <p:cTn id="26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7" nodeType="afterEffect" fill="hold" presetClass="entr" presetID="4" presetSubtype="16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649" dur="500"/>
                                        <p:tgtEl>
                                          <p:spTgt spid="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Rectangle 2"/>
          <p:cNvSpPr/>
          <p:nvPr/>
        </p:nvSpPr>
        <p:spPr>
          <a:xfrm>
            <a:off x="228600" y="2209680"/>
            <a:ext cx="8704440" cy="29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existe tellement de techniques pour déterminer le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 S.A.» et leurs résultats varient tellement d’un sujet à l’autre et d’une condition expérimentale à l’autre...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 qu’en matière d’entraînement, on s’entraîne toujours sur la base d’un S.A. ou d’un autre... sans le savoir »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i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!!</a:t>
            </a:r>
            <a:r>
              <a:rPr b="0" i="1" lang="fr-FR" sz="2800" strike="noStrike" u="none">
                <a:solidFill>
                  <a:srgbClr val="3333cc"/>
                </a:solidFill>
                <a:effectLst/>
                <a:uFillTx/>
                <a:latin typeface="Arial"/>
              </a:rPr>
              <a:t>  </a:t>
            </a:r>
            <a:r>
              <a:rPr b="0" i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Peronnet 1995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2650" dur="indefinite" restart="never" nodeType="tmRoot">
          <p:childTnLst>
            <p:seq>
              <p:cTn id="2651" dur="indefinite" nodeType="mainSeq">
                <p:childTnLst>
                  <p:par>
                    <p:cTn id="2652" nodeType="clickEffect" fill="hold">
                      <p:stCondLst>
                        <p:cond delay="indefinite"/>
                      </p:stCondLst>
                      <p:childTnLst>
                        <p:par>
                          <p:cTn id="26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54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56" dur="300"/>
                                        <p:tgtEl>
                                          <p:spTgt spid="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F7D84E-E704-4563-8607-FFC362DC302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Text Box 2"/>
          <p:cNvSpPr/>
          <p:nvPr/>
        </p:nvSpPr>
        <p:spPr>
          <a:xfrm>
            <a:off x="324000" y="189000"/>
            <a:ext cx="779796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 penser en 2007 de l’utilisation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« seuils » ? :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3 questions que l’on doit se poser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Text Box 3"/>
          <p:cNvSpPr/>
          <p:nvPr/>
        </p:nvSpPr>
        <p:spPr>
          <a:xfrm>
            <a:off x="185040" y="1835280"/>
            <a:ext cx="8107200" cy="8614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Première question :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quel seuil s’agit-il ? puisqu’à notre connaissance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existe 34 techniques pour déterminer un « seuil » !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(Tokmakidis Thèse 1989)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Text Box 4"/>
          <p:cNvSpPr/>
          <p:nvPr/>
        </p:nvSpPr>
        <p:spPr>
          <a:xfrm>
            <a:off x="241920" y="3062160"/>
            <a:ext cx="8462880" cy="20556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Deuxième question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Sur quels fondements scientifiques s’adosse la notion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« seuil » et plus particulièrement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le</a:t>
            </a: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choisi 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Cazorla et al. (2001).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STAPS, 54, 63-76.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Robergs et al. (2004</a:t>
            </a:r>
            <a:r>
              <a:rPr b="0" i="1" lang="fr-FR" sz="18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).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Am. J Physiol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Regul Integr Comp Physiol, 287 : 502-516.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Péronnet et Aguilaniu (2005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). </a:t>
            </a:r>
            <a:r>
              <a:rPr b="1" i="1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Resp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iratory physiol end neurobio.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Text Box 5"/>
          <p:cNvSpPr/>
          <p:nvPr/>
        </p:nvSpPr>
        <p:spPr>
          <a:xfrm>
            <a:off x="236520" y="5559480"/>
            <a:ext cx="8375400" cy="12452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Troisième question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A-t-on prouvé que des coureurs s’entraînant à des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vitesses correspondant  à des « seuils » choisis obtiendraient de meilleurs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résultats que ceux s’entraînant à d’autres vitesses &lt; ou &gt; ?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57" dur="indefinite" restart="never" nodeType="tmRoot">
          <p:childTnLst>
            <p:seq>
              <p:cTn id="2658" dur="indefinite" nodeType="mainSeq">
                <p:childTnLst>
                  <p:par>
                    <p:cTn id="2659" nodeType="clickEffect" fill="hold">
                      <p:stCondLst>
                        <p:cond delay="indefinite"/>
                      </p:stCondLst>
                      <p:childTnLst>
                        <p:par>
                          <p:cTn id="26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6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63" dur="100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4" nodeType="clickEffect" fill="hold">
                      <p:stCondLst>
                        <p:cond delay="indefinite"/>
                      </p:stCondLst>
                      <p:childTnLst>
                        <p:par>
                          <p:cTn id="26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6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68" dur="10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9" nodeType="clickEffect" fill="hold">
                      <p:stCondLst>
                        <p:cond delay="indefinite"/>
                      </p:stCondLst>
                      <p:childTnLst>
                        <p:par>
                          <p:cTn id="26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1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73" dur="10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0F2872-7FBD-4CFA-B35E-8E07506C3EB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0" name="Picture 2" descr=""/>
          <p:cNvPicPr/>
          <p:nvPr/>
        </p:nvPicPr>
        <p:blipFill>
          <a:blip r:embed="rId1"/>
          <a:srcRect l="61539" t="34748" r="34750" b="58238"/>
          <a:stretch/>
        </p:blipFill>
        <p:spPr>
          <a:xfrm>
            <a:off x="3132000" y="3357720"/>
            <a:ext cx="2379960" cy="28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1" name="Text Box 3"/>
          <p:cNvSpPr/>
          <p:nvPr/>
        </p:nvSpPr>
        <p:spPr>
          <a:xfrm>
            <a:off x="2051640" y="1341360"/>
            <a:ext cx="5313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S’ENTRAÎNER AUX « SEUILS »….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Text Box 4"/>
          <p:cNvSpPr/>
          <p:nvPr/>
        </p:nvSpPr>
        <p:spPr>
          <a:xfrm>
            <a:off x="3638520" y="461880"/>
            <a:ext cx="1622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DONC…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AutoShape 5"/>
          <p:cNvSpPr/>
          <p:nvPr/>
        </p:nvSpPr>
        <p:spPr>
          <a:xfrm rot="5400000">
            <a:off x="3821400" y="2266200"/>
            <a:ext cx="976320" cy="485640"/>
          </a:xfrm>
          <a:custGeom>
            <a:avLst/>
            <a:gdLst>
              <a:gd name="textAreaLeft" fmla="*/ 122040 w 976320"/>
              <a:gd name="textAreaRight" fmla="*/ 854280 w 976320"/>
              <a:gd name="textAreaTop" fmla="*/ 121320 h 485640"/>
              <a:gd name="textAreaBottom" fmla="*/ 364320 h 485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4" dur="indefinite" restart="never" nodeType="tmRoot">
          <p:childTnLst>
            <p:seq>
              <p:cTn id="2675" dur="indefinite" nodeType="mainSeq">
                <p:childTnLst>
                  <p:par>
                    <p:cTn id="2676" nodeType="clickEffect" fill="hold">
                      <p:stCondLst>
                        <p:cond delay="0"/>
                      </p:stCondLst>
                      <p:childTnLst>
                        <p:par>
                          <p:cTn id="26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0" nodeType="clickEffect" fill="hold">
                      <p:stCondLst>
                        <p:cond delay="indefinite"/>
                      </p:stCondLst>
                      <p:childTnLst>
                        <p:par>
                          <p:cTn id="26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8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84" dur="20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68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88" dur="10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9" nodeType="clickEffect" fill="hold">
                      <p:stCondLst>
                        <p:cond delay="indefinite"/>
                      </p:stCondLst>
                      <p:childTnLst>
                        <p:par>
                          <p:cTn id="26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91" nodeType="clickEffect" fill="hold" presetClass="entr" presetID="5" presetSubtype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2693" dur="10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3F2F56-1C4F-466E-9717-3DA3AED3C60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Rectangle 2"/>
          <p:cNvSpPr/>
          <p:nvPr/>
        </p:nvSpPr>
        <p:spPr>
          <a:xfrm>
            <a:off x="1440" y="2438280"/>
            <a:ext cx="91425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GLYCOLYSE A-T-ELLE VRAIMENT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MAUVAIS RENDEMENT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AC62F6-DDF8-468A-A098-CC671385470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2560" cy="8384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 LA GLYCOLYSE A-T-ELLE VRAIMENT UN MAUVAIS RENDEMENT ?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Rectangle 3"/>
          <p:cNvSpPr/>
          <p:nvPr/>
        </p:nvSpPr>
        <p:spPr>
          <a:xfrm>
            <a:off x="152280" y="1219320"/>
            <a:ext cx="8839440" cy="458280"/>
          </a:xfrm>
          <a:prstGeom prst="rect">
            <a:avLst/>
          </a:prstGeom>
          <a:solidFill>
            <a:srgbClr val="00ff00"/>
          </a:solidFill>
          <a:ln w="0">
            <a:noFill/>
          </a:ln>
          <a:effectLst>
            <a:outerShdw dist="107932" dir="189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 NIVEAU BIOENERGETIQUE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Rectangle 4"/>
          <p:cNvSpPr/>
          <p:nvPr/>
        </p:nvSpPr>
        <p:spPr>
          <a:xfrm>
            <a:off x="152280" y="1752480"/>
            <a:ext cx="899028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mole de Glucose                 : énergie disponible :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2880 kJ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Rectangle 5"/>
          <p:cNvSpPr/>
          <p:nvPr/>
        </p:nvSpPr>
        <p:spPr>
          <a:xfrm>
            <a:off x="152280" y="3276720"/>
            <a:ext cx="891396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moles de lactate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: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énergie fournie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: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                       197 kJ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Rectangle 6"/>
          <p:cNvSpPr/>
          <p:nvPr/>
        </p:nvSpPr>
        <p:spPr>
          <a:xfrm>
            <a:off x="0" y="2743200"/>
            <a:ext cx="24382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CYTOPLASME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Rectangle 7"/>
          <p:cNvSpPr/>
          <p:nvPr/>
        </p:nvSpPr>
        <p:spPr>
          <a:xfrm>
            <a:off x="2438280" y="2286000"/>
            <a:ext cx="236232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1- 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GLYCOLYSE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Rectangle 8"/>
          <p:cNvSpPr/>
          <p:nvPr/>
        </p:nvSpPr>
        <p:spPr>
          <a:xfrm>
            <a:off x="2666880" y="2743200"/>
            <a:ext cx="647568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ccccff"/>
                </a:solidFill>
                <a:effectLst/>
                <a:uFillTx/>
                <a:latin typeface="Times New Roman"/>
              </a:rPr>
              <a:t>               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: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énergie utilisée : 50 x 3 =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             150 kJ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Rectangle 9"/>
          <p:cNvSpPr/>
          <p:nvPr/>
        </p:nvSpPr>
        <p:spPr>
          <a:xfrm>
            <a:off x="3583080" y="3581280"/>
            <a:ext cx="5560920" cy="97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: Rendement  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150 x 100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197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Line 10"/>
          <p:cNvSpPr/>
          <p:nvPr/>
        </p:nvSpPr>
        <p:spPr>
          <a:xfrm>
            <a:off x="5715000" y="4191120"/>
            <a:ext cx="10666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Rectangle 11"/>
          <p:cNvSpPr/>
          <p:nvPr/>
        </p:nvSpPr>
        <p:spPr>
          <a:xfrm>
            <a:off x="3657600" y="4267080"/>
            <a:ext cx="548496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: Energie disponible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                 2683 kJ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Rectangle 12"/>
          <p:cNvSpPr/>
          <p:nvPr/>
        </p:nvSpPr>
        <p:spPr>
          <a:xfrm>
            <a:off x="2651760" y="4708440"/>
            <a:ext cx="23360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2- </a:t>
            </a:r>
            <a:r>
              <a:rPr b="0" lang="fr-FR" sz="2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OXYDATION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Rectangle 13"/>
          <p:cNvSpPr/>
          <p:nvPr/>
        </p:nvSpPr>
        <p:spPr>
          <a:xfrm>
            <a:off x="3429000" y="5181480"/>
            <a:ext cx="571356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: énergie utilisée : 36 x 50 =                       1800 kJ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Rectangle 14"/>
          <p:cNvSpPr/>
          <p:nvPr/>
        </p:nvSpPr>
        <p:spPr>
          <a:xfrm>
            <a:off x="152280" y="5638680"/>
            <a:ext cx="883944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 H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 + 6 CO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  </a:t>
            </a:r>
            <a:r>
              <a:rPr b="0" lang="fr-FR" sz="24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: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énergie fournie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                2683kJ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Rectangle 15"/>
          <p:cNvSpPr/>
          <p:nvPr/>
        </p:nvSpPr>
        <p:spPr>
          <a:xfrm>
            <a:off x="3886200" y="6173640"/>
            <a:ext cx="380988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: Rendement       1800 x 100             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2683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Line 16"/>
          <p:cNvSpPr/>
          <p:nvPr/>
        </p:nvSpPr>
        <p:spPr>
          <a:xfrm>
            <a:off x="5562720" y="6477120"/>
            <a:ext cx="1295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Rectangle 17"/>
          <p:cNvSpPr/>
          <p:nvPr/>
        </p:nvSpPr>
        <p:spPr>
          <a:xfrm>
            <a:off x="-360" y="4800600"/>
            <a:ext cx="1975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MITOCHONDRIE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Line 18"/>
          <p:cNvSpPr/>
          <p:nvPr/>
        </p:nvSpPr>
        <p:spPr>
          <a:xfrm>
            <a:off x="2057400" y="2133720"/>
            <a:ext cx="0" cy="121896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Line 19"/>
          <p:cNvSpPr/>
          <p:nvPr/>
        </p:nvSpPr>
        <p:spPr>
          <a:xfrm>
            <a:off x="2057400" y="3886200"/>
            <a:ext cx="0" cy="182880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Rectangle 20"/>
          <p:cNvSpPr/>
          <p:nvPr/>
        </p:nvSpPr>
        <p:spPr>
          <a:xfrm>
            <a:off x="2597040" y="2749680"/>
            <a:ext cx="1054080" cy="444240"/>
          </a:xfrm>
          <a:prstGeom prst="rect">
            <a:avLst/>
          </a:prstGeom>
          <a:solidFill>
            <a:srgbClr val="3333cc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= 3 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Rectangle 21"/>
          <p:cNvSpPr/>
          <p:nvPr/>
        </p:nvSpPr>
        <p:spPr>
          <a:xfrm>
            <a:off x="2590560" y="5205240"/>
            <a:ext cx="1267200" cy="397440"/>
          </a:xfrm>
          <a:prstGeom prst="rect">
            <a:avLst/>
          </a:prstGeom>
          <a:solidFill>
            <a:srgbClr val="3333cc"/>
          </a:solidFill>
          <a:ln w="12600">
            <a:solidFill>
              <a:srgbClr val="80808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= 36 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Rectangle 22"/>
          <p:cNvSpPr/>
          <p:nvPr/>
        </p:nvSpPr>
        <p:spPr>
          <a:xfrm>
            <a:off x="8159760" y="3892680"/>
            <a:ext cx="901800" cy="368280"/>
          </a:xfrm>
          <a:prstGeom prst="rect">
            <a:avLst/>
          </a:prstGeom>
          <a:solidFill>
            <a:srgbClr val="ccccff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Rectangle 23"/>
          <p:cNvSpPr/>
          <p:nvPr/>
        </p:nvSpPr>
        <p:spPr>
          <a:xfrm>
            <a:off x="8215200" y="3870360"/>
            <a:ext cx="879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76 %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Rectangle 24"/>
          <p:cNvSpPr/>
          <p:nvPr/>
        </p:nvSpPr>
        <p:spPr>
          <a:xfrm>
            <a:off x="8158320" y="6254640"/>
            <a:ext cx="901440" cy="368280"/>
          </a:xfrm>
          <a:prstGeom prst="rect">
            <a:avLst/>
          </a:prstGeom>
          <a:solidFill>
            <a:srgbClr val="ccccff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Rectangle 25"/>
          <p:cNvSpPr/>
          <p:nvPr/>
        </p:nvSpPr>
        <p:spPr>
          <a:xfrm>
            <a:off x="8215200" y="6232680"/>
            <a:ext cx="879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67 %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Line 26"/>
          <p:cNvSpPr/>
          <p:nvPr/>
        </p:nvSpPr>
        <p:spPr>
          <a:xfrm>
            <a:off x="6629400" y="2895480"/>
            <a:ext cx="114300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Line 27"/>
          <p:cNvSpPr/>
          <p:nvPr/>
        </p:nvSpPr>
        <p:spPr>
          <a:xfrm>
            <a:off x="5867280" y="3581280"/>
            <a:ext cx="213372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Line 28"/>
          <p:cNvSpPr/>
          <p:nvPr/>
        </p:nvSpPr>
        <p:spPr>
          <a:xfrm>
            <a:off x="6858000" y="1981080"/>
            <a:ext cx="106668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Line 29"/>
          <p:cNvSpPr/>
          <p:nvPr/>
        </p:nvSpPr>
        <p:spPr>
          <a:xfrm>
            <a:off x="6172200" y="4495680"/>
            <a:ext cx="182880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Line 30"/>
          <p:cNvSpPr/>
          <p:nvPr/>
        </p:nvSpPr>
        <p:spPr>
          <a:xfrm>
            <a:off x="5943600" y="5943600"/>
            <a:ext cx="175248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Line 31"/>
          <p:cNvSpPr/>
          <p:nvPr/>
        </p:nvSpPr>
        <p:spPr>
          <a:xfrm>
            <a:off x="6781680" y="5410080"/>
            <a:ext cx="1295640" cy="0"/>
          </a:xfrm>
          <a:prstGeom prst="line">
            <a:avLst/>
          </a:prstGeom>
          <a:ln w="1260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Line 32"/>
          <p:cNvSpPr/>
          <p:nvPr/>
        </p:nvSpPr>
        <p:spPr>
          <a:xfrm>
            <a:off x="7543800" y="4191120"/>
            <a:ext cx="304920" cy="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Line 33"/>
          <p:cNvSpPr/>
          <p:nvPr/>
        </p:nvSpPr>
        <p:spPr>
          <a:xfrm>
            <a:off x="7391520" y="6477120"/>
            <a:ext cx="304560" cy="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Line 34"/>
          <p:cNvSpPr/>
          <p:nvPr/>
        </p:nvSpPr>
        <p:spPr>
          <a:xfrm>
            <a:off x="0" y="4724280"/>
            <a:ext cx="9144000" cy="0"/>
          </a:xfrm>
          <a:prstGeom prst="line">
            <a:avLst/>
          </a:prstGeom>
          <a:ln w="38160">
            <a:solidFill>
              <a:srgbClr val="ffff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2694" dur="indefinite" restart="never" nodeType="tmRoot">
          <p:childTnLst>
            <p:seq>
              <p:cTn id="2695" dur="indefinite" nodeType="mainSeq">
                <p:childTnLst>
                  <p:par>
                    <p:cTn id="2696" nodeType="clickEffect" fill="hold">
                      <p:stCondLst>
                        <p:cond delay="0"/>
                      </p:stCondLst>
                      <p:childTnLst>
                        <p:par>
                          <p:cTn id="26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98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0" dur="500" fill="hold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1" dur="500" fill="hold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703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5" dur="300" fill="hold"/>
                                        <p:tgtEl>
                                          <p:spTgt spid="1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6" dur="300" fill="hold"/>
                                        <p:tgtEl>
                                          <p:spTgt spid="1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7" nodeType="clickEffect" fill="hold">
                      <p:stCondLst>
                        <p:cond delay="indefinite"/>
                      </p:stCondLst>
                      <p:childTnLst>
                        <p:par>
                          <p:cTn id="27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9" nodeType="click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1" dur="75" fill="hold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2" dur="75" fill="hold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3" nodeType="clickEffect" fill="hold">
                      <p:stCondLst>
                        <p:cond delay="indefinite"/>
                      </p:stCondLst>
                      <p:childTnLst>
                        <p:par>
                          <p:cTn id="27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15" nodeType="click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7" dur="300" fill="hold"/>
                                        <p:tgtEl>
                                          <p:spTgt spid="1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8" dur="300" fill="hold"/>
                                        <p:tgtEl>
                                          <p:spTgt spid="1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9" nodeType="afterEffect" fill="hold">
                            <p:stCondLst>
                              <p:cond delay="300"/>
                            </p:stCondLst>
                            <p:childTnLst>
                              <p:par>
                                <p:cTn id="272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2" dur="500" fill="hold"/>
                                        <p:tgtEl>
                                          <p:spTgt spid="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3" dur="500" fill="hold"/>
                                        <p:tgtEl>
                                          <p:spTgt spid="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4" nodeType="afterEffect" fill="hold">
                            <p:stCondLst>
                              <p:cond delay="800"/>
                            </p:stCondLst>
                            <p:childTnLst>
                              <p:par>
                                <p:cTn id="2725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7" dur="3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8" dur="300" fill="hold"/>
                                        <p:tgtEl>
                                          <p:spTgt spid="1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9" nodeType="clickEffect" fill="hold">
                      <p:stCondLst>
                        <p:cond delay="indefinite"/>
                      </p:stCondLst>
                      <p:childTnLst>
                        <p:par>
                          <p:cTn id="27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31" nodeType="click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3" dur="3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4" dur="3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736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8" dur="3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9" dur="300" fill="hold"/>
                                        <p:tgtEl>
                                          <p:spTgt spid="1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0" nodeType="afterEffect" fill="hold">
                            <p:stCondLst>
                              <p:cond delay="5100"/>
                            </p:stCondLst>
                            <p:childTnLst>
                              <p:par>
                                <p:cTn id="2741" nodeType="afterEffect" fill="hold" presetClass="entr" presetID="4" presetSubtype="16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743" dur="75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4" nodeType="afterEffect" fill="hold">
                            <p:stCondLst>
                              <p:cond delay="5325"/>
                            </p:stCondLst>
                            <p:childTnLst>
                              <p:par>
                                <p:cTn id="2745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7" dur="300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8" dur="300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9" nodeType="clickEffect" fill="hold">
                      <p:stCondLst>
                        <p:cond delay="indefinite"/>
                      </p:stCondLst>
                      <p:childTnLst>
                        <p:par>
                          <p:cTn id="27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51" nodeType="clickEffect" fill="hold" presetClass="entr" presetID="2" presetSubtype="1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3" dur="3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4" dur="300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5" nodeType="afterEffect" fill="hold">
                            <p:stCondLst>
                              <p:cond delay="300"/>
                            </p:stCondLst>
                            <p:childTnLst>
                              <p:par>
                                <p:cTn id="2756" nodeType="afterEffect" fill="hold" presetClass="entr" presetID="2" presetSubtype="6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8" dur="3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9" dur="3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0" nodeType="afterEffect" fill="hold">
                            <p:stCondLst>
                              <p:cond delay="900"/>
                            </p:stCondLst>
                            <p:childTnLst>
                              <p:par>
                                <p:cTn id="2761" nodeType="afterEffect" fill="hold" presetClass="entr" presetID="2" presetSubtype="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3" dur="300" fill="hold"/>
                                        <p:tgtEl>
                                          <p:spTgt spid="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4" dur="300" fill="hold"/>
                                        <p:tgtEl>
                                          <p:spTgt spid="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5" nodeType="afterEffect" fill="hold">
                            <p:stCondLst>
                              <p:cond delay="1800"/>
                            </p:stCondLst>
                            <p:childTnLst>
                              <p:par>
                                <p:cTn id="2766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8" dur="75" fill="hold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9" dur="75" fill="hold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0" nodeType="afterEffect" fill="hold">
                            <p:stCondLst>
                              <p:cond delay="3975"/>
                            </p:stCondLst>
                            <p:childTnLst>
                              <p:par>
                                <p:cTn id="2771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3" dur="75" fill="hold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4" dur="75" fill="hold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5" nodeType="afterEffect" fill="hold">
                            <p:stCondLst>
                              <p:cond delay="6225"/>
                            </p:stCondLst>
                            <p:childTnLst>
                              <p:par>
                                <p:cTn id="2776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8" dur="75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9" dur="75" fill="hold"/>
                                        <p:tgtEl>
                                          <p:spTgt spid="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0" nodeType="afterEffect" fill="hold">
                            <p:stCondLst>
                              <p:cond delay="7875"/>
                            </p:stCondLst>
                            <p:childTnLst>
                              <p:par>
                                <p:cTn id="2781" nodeType="afterEffect" fill="hold" presetClass="entr" presetID="4" presetSubtype="16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783" dur="75"/>
                                        <p:tgtEl>
                                          <p:spTgt spid="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F7DB19-7C99-4EC9-90D7-D6828016BD9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PlaceHolder 1"/>
          <p:cNvSpPr>
            <a:spLocks noGrp="1"/>
          </p:cNvSpPr>
          <p:nvPr>
            <p:ph type="title"/>
          </p:nvPr>
        </p:nvSpPr>
        <p:spPr>
          <a:xfrm>
            <a:off x="0" y="990360"/>
            <a:ext cx="914256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5.1 UNE FORTE ACCUMULATION DE LACTATE PEUT-ELLE INDUIRE LA FATIGUE 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Rectangle 3"/>
          <p:cNvSpPr/>
          <p:nvPr/>
        </p:nvSpPr>
        <p:spPr>
          <a:xfrm>
            <a:off x="228600" y="1752480"/>
            <a:ext cx="8763120" cy="28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se peut qu’à forte accumulation, le lactate contribue à induire une baisse du pH musculaire à l’origine d’une fatigue musculaire et d’une incapacité fonction-nelle transitoires... mais ceci n’est encore qu’une hypothèse!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03DE17-9FFD-43FB-96D7-9E95C7F9833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Rectangle 2"/>
          <p:cNvSpPr/>
          <p:nvPr/>
        </p:nvSpPr>
        <p:spPr>
          <a:xfrm>
            <a:off x="-11880" y="2514600"/>
            <a:ext cx="922644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Mécanismes susceptibles d’intervenir pour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expliquer la diminution de la  capacité de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prestation à la fin d’un exercice supramaximal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(400 - 800 m)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A35DC7-7AB8-42D1-8E79-F351782DC31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Rectangle 2"/>
          <p:cNvSpPr/>
          <p:nvPr/>
        </p:nvSpPr>
        <p:spPr>
          <a:xfrm>
            <a:off x="2971800" y="304920"/>
            <a:ext cx="38606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MUSCULAIRE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Rectangle 3"/>
          <p:cNvSpPr/>
          <p:nvPr/>
        </p:nvSpPr>
        <p:spPr>
          <a:xfrm>
            <a:off x="61920" y="762120"/>
            <a:ext cx="45100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AUGMENTATION DE LA GLYCOLYSE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Rectangle 4"/>
          <p:cNvSpPr/>
          <p:nvPr/>
        </p:nvSpPr>
        <p:spPr>
          <a:xfrm>
            <a:off x="61920" y="1447920"/>
            <a:ext cx="908208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AUGMENTATION DE LA PRODUCTION D’ACIDE LACTIQUE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Rectangle 5"/>
          <p:cNvSpPr/>
          <p:nvPr/>
        </p:nvSpPr>
        <p:spPr>
          <a:xfrm>
            <a:off x="0" y="2362320"/>
            <a:ext cx="908208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AUGMENTATION DE LA CONCENTRATION DES PROTONS H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Rectangle 6"/>
          <p:cNvSpPr/>
          <p:nvPr/>
        </p:nvSpPr>
        <p:spPr>
          <a:xfrm>
            <a:off x="2513880" y="2666880"/>
            <a:ext cx="53164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BAISSE DU pH CELLULAIRE  ( 7          6.3 - 6.4 )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Rectangle 7"/>
          <p:cNvSpPr/>
          <p:nvPr/>
        </p:nvSpPr>
        <p:spPr>
          <a:xfrm>
            <a:off x="457200" y="3124080"/>
            <a:ext cx="368316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Diminution de l’activité de la G.phosphorylase et de la P.F.K.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Rectangle 8"/>
          <p:cNvSpPr/>
          <p:nvPr/>
        </p:nvSpPr>
        <p:spPr>
          <a:xfrm>
            <a:off x="4876920" y="3124080"/>
            <a:ext cx="426564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l’interaction actine - myosine activée par Ca²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Rectangle 9"/>
          <p:cNvSpPr/>
          <p:nvPr/>
        </p:nvSpPr>
        <p:spPr>
          <a:xfrm>
            <a:off x="0" y="3886200"/>
            <a:ext cx="464832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Diminution de la production d’ATP.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Rectangle 10"/>
          <p:cNvSpPr/>
          <p:nvPr/>
        </p:nvSpPr>
        <p:spPr>
          <a:xfrm>
            <a:off x="4875120" y="3886200"/>
            <a:ext cx="41166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la tension mécanique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Rectangle 11"/>
          <p:cNvSpPr/>
          <p:nvPr/>
        </p:nvSpPr>
        <p:spPr>
          <a:xfrm>
            <a:off x="2575440" y="4602240"/>
            <a:ext cx="397440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INCAPACITE FONCTIONNELLE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Line 12"/>
          <p:cNvSpPr/>
          <p:nvPr/>
        </p:nvSpPr>
        <p:spPr>
          <a:xfrm flipH="1">
            <a:off x="3429000" y="762120"/>
            <a:ext cx="533520" cy="304560"/>
          </a:xfrm>
          <a:prstGeom prst="line">
            <a:avLst/>
          </a:prstGeom>
          <a:ln w="507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Line 13"/>
          <p:cNvSpPr/>
          <p:nvPr/>
        </p:nvSpPr>
        <p:spPr>
          <a:xfrm>
            <a:off x="5029200" y="762120"/>
            <a:ext cx="533520" cy="304560"/>
          </a:xfrm>
          <a:prstGeom prst="line">
            <a:avLst/>
          </a:prstGeom>
          <a:ln w="507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Line 14"/>
          <p:cNvSpPr/>
          <p:nvPr/>
        </p:nvSpPr>
        <p:spPr>
          <a:xfrm>
            <a:off x="4648320" y="2057400"/>
            <a:ext cx="3200400" cy="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Line 15"/>
          <p:cNvSpPr/>
          <p:nvPr/>
        </p:nvSpPr>
        <p:spPr>
          <a:xfrm flipV="1">
            <a:off x="7848720" y="1294920"/>
            <a:ext cx="0" cy="76212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Line 16"/>
          <p:cNvSpPr/>
          <p:nvPr/>
        </p:nvSpPr>
        <p:spPr>
          <a:xfrm>
            <a:off x="4648320" y="205740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Line 17"/>
          <p:cNvSpPr/>
          <p:nvPr/>
        </p:nvSpPr>
        <p:spPr>
          <a:xfrm>
            <a:off x="3352680" y="1295280"/>
            <a:ext cx="0" cy="15264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Line 18"/>
          <p:cNvSpPr/>
          <p:nvPr/>
        </p:nvSpPr>
        <p:spPr>
          <a:xfrm>
            <a:off x="3352680" y="1447920"/>
            <a:ext cx="533520" cy="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Line 19"/>
          <p:cNvSpPr/>
          <p:nvPr/>
        </p:nvSpPr>
        <p:spPr>
          <a:xfrm>
            <a:off x="3886200" y="1447920"/>
            <a:ext cx="0" cy="30456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Line 20"/>
          <p:cNvSpPr/>
          <p:nvPr/>
        </p:nvSpPr>
        <p:spPr>
          <a:xfrm>
            <a:off x="4419720" y="2057400"/>
            <a:ext cx="0" cy="30492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Line 21"/>
          <p:cNvSpPr/>
          <p:nvPr/>
        </p:nvSpPr>
        <p:spPr>
          <a:xfrm>
            <a:off x="4572000" y="2666880"/>
            <a:ext cx="0" cy="304920"/>
          </a:xfrm>
          <a:prstGeom prst="line">
            <a:avLst/>
          </a:prstGeom>
          <a:ln w="38160">
            <a:solidFill>
              <a:srgbClr val="3333cc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Line 22"/>
          <p:cNvSpPr/>
          <p:nvPr/>
        </p:nvSpPr>
        <p:spPr>
          <a:xfrm>
            <a:off x="4724280" y="3124080"/>
            <a:ext cx="0" cy="15264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Line 23"/>
          <p:cNvSpPr/>
          <p:nvPr/>
        </p:nvSpPr>
        <p:spPr>
          <a:xfrm>
            <a:off x="4724280" y="3276720"/>
            <a:ext cx="1524240" cy="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Line 24"/>
          <p:cNvSpPr/>
          <p:nvPr/>
        </p:nvSpPr>
        <p:spPr>
          <a:xfrm>
            <a:off x="6248520" y="3276720"/>
            <a:ext cx="0" cy="22860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Line 25"/>
          <p:cNvSpPr/>
          <p:nvPr/>
        </p:nvSpPr>
        <p:spPr>
          <a:xfrm>
            <a:off x="6324480" y="4114800"/>
            <a:ext cx="0" cy="30492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Line 26"/>
          <p:cNvSpPr/>
          <p:nvPr/>
        </p:nvSpPr>
        <p:spPr>
          <a:xfrm>
            <a:off x="4495680" y="3124080"/>
            <a:ext cx="0" cy="15264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Line 27"/>
          <p:cNvSpPr/>
          <p:nvPr/>
        </p:nvSpPr>
        <p:spPr>
          <a:xfrm flipH="1">
            <a:off x="2437920" y="3276720"/>
            <a:ext cx="2057400" cy="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Line 28"/>
          <p:cNvSpPr/>
          <p:nvPr/>
        </p:nvSpPr>
        <p:spPr>
          <a:xfrm>
            <a:off x="2438280" y="3276720"/>
            <a:ext cx="0" cy="22860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Line 29"/>
          <p:cNvSpPr/>
          <p:nvPr/>
        </p:nvSpPr>
        <p:spPr>
          <a:xfrm>
            <a:off x="2438280" y="4114800"/>
            <a:ext cx="0" cy="22860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Line 30"/>
          <p:cNvSpPr/>
          <p:nvPr/>
        </p:nvSpPr>
        <p:spPr>
          <a:xfrm>
            <a:off x="2666880" y="4572000"/>
            <a:ext cx="1371600" cy="304920"/>
          </a:xfrm>
          <a:prstGeom prst="line">
            <a:avLst/>
          </a:prstGeom>
          <a:ln w="255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Line 31"/>
          <p:cNvSpPr/>
          <p:nvPr/>
        </p:nvSpPr>
        <p:spPr>
          <a:xfrm flipV="1">
            <a:off x="5105520" y="4571640"/>
            <a:ext cx="990360" cy="304920"/>
          </a:xfrm>
          <a:prstGeom prst="line">
            <a:avLst/>
          </a:prstGeom>
          <a:ln w="25560">
            <a:solidFill>
              <a:srgbClr val="ffff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Line 32"/>
          <p:cNvSpPr/>
          <p:nvPr/>
        </p:nvSpPr>
        <p:spPr>
          <a:xfrm>
            <a:off x="6248520" y="3048120"/>
            <a:ext cx="304560" cy="1522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Text Box 34"/>
          <p:cNvSpPr/>
          <p:nvPr/>
        </p:nvSpPr>
        <p:spPr>
          <a:xfrm>
            <a:off x="5176800" y="990720"/>
            <a:ext cx="3965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...ET DE L ’HYDROLYSE DE L ’ATP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Rectangle 35"/>
          <p:cNvSpPr/>
          <p:nvPr/>
        </p:nvSpPr>
        <p:spPr>
          <a:xfrm>
            <a:off x="229680" y="6095880"/>
            <a:ext cx="7956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le modèle modifié (1996) d ’Hermansen 1977.</a:t>
            </a:r>
            <a:r>
              <a:rPr b="0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2784" dur="indefinite" restart="never" nodeType="tmRoot">
          <p:childTnLst>
            <p:seq>
              <p:cTn id="2785" dur="indefinite" nodeType="mainSeq">
                <p:childTnLst>
                  <p:par>
                    <p:cTn id="2786" nodeType="clickEffect" fill="hold">
                      <p:stCondLst>
                        <p:cond delay="0"/>
                      </p:stCondLst>
                      <p:childTnLst>
                        <p:par>
                          <p:cTn id="27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88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90" dur="3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1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2792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4" dur="300" fill="hold"/>
                                        <p:tgtEl>
                                          <p:spTgt spid="1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5" dur="300" fill="hold"/>
                                        <p:tgtEl>
                                          <p:spTgt spid="1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6" nodeType="afterEffect" fill="hold">
                            <p:stCondLst>
                              <p:cond delay="5200"/>
                            </p:stCondLst>
                            <p:childTnLst>
                              <p:par>
                                <p:cTn id="279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99" dur="5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0" nodeType="afterEffect" fill="hold">
                            <p:stCondLst>
                              <p:cond delay="6700"/>
                            </p:stCondLst>
                            <p:childTnLst>
                              <p:par>
                                <p:cTn id="2801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3" dur="75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4" dur="75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5" nodeType="afterEffect" fill="hold">
                            <p:stCondLst>
                              <p:cond delay="10575"/>
                            </p:stCondLst>
                            <p:childTnLst>
                              <p:par>
                                <p:cTn id="28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08" dur="5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9" nodeType="afterEffect" fill="hold">
                            <p:stCondLst>
                              <p:cond delay="11075"/>
                            </p:stCondLst>
                            <p:childTnLst>
                              <p:par>
                                <p:cTn id="28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12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3" nodeType="afterEffect" fill="hold">
                            <p:stCondLst>
                              <p:cond delay="11575"/>
                            </p:stCondLst>
                            <p:childTnLst>
                              <p:par>
                                <p:cTn id="281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16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7" nodeType="afterEffect" fill="hold">
                            <p:stCondLst>
                              <p:cond delay="12075"/>
                            </p:stCondLst>
                            <p:childTnLst>
                              <p:par>
                                <p:cTn id="2818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0" dur="75" fill="hold"/>
                                        <p:tgtEl>
                                          <p:spTgt spid="1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1" dur="75" fill="hold"/>
                                        <p:tgtEl>
                                          <p:spTgt spid="1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2" nodeType="afterEffect" fill="hold">
                            <p:stCondLst>
                              <p:cond delay="17150"/>
                            </p:stCondLst>
                            <p:childTnLst>
                              <p:par>
                                <p:cTn id="282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25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6" nodeType="afterEffect" fill="hold">
                            <p:stCondLst>
                              <p:cond delay="18650"/>
                            </p:stCondLst>
                            <p:childTnLst>
                              <p:par>
                                <p:cTn id="2827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9" dur="75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0" dur="75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1" nodeType="afterEffect" fill="hold">
                            <p:stCondLst>
                              <p:cond delay="23725"/>
                            </p:stCondLst>
                            <p:childTnLst>
                              <p:par>
                                <p:cTn id="283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34"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5" nodeType="afterEffect" fill="hold">
                            <p:stCondLst>
                              <p:cond delay="25225"/>
                            </p:stCondLst>
                            <p:childTnLst>
                              <p:par>
                                <p:cTn id="2836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8" dur="75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9" dur="75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0" nodeType="afterEffect" fill="hold">
                            <p:stCondLst>
                              <p:cond delay="29475"/>
                            </p:stCondLst>
                            <p:childTnLst>
                              <p:par>
                                <p:cTn id="284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43"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4" nodeType="afterEffect" fill="hold">
                            <p:stCondLst>
                              <p:cond delay="29975"/>
                            </p:stCondLst>
                            <p:childTnLst>
                              <p:par>
                                <p:cTn id="284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47" dur="5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8" nodeType="afterEffect" fill="hold">
                            <p:stCondLst>
                              <p:cond delay="31475"/>
                            </p:stCondLst>
                            <p:childTnLst>
                              <p:par>
                                <p:cTn id="284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51" dur="500"/>
                                        <p:tgtEl>
                                          <p:spTgt spid="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2" nodeType="afterEffect" fill="hold">
                            <p:stCondLst>
                              <p:cond delay="31975"/>
                            </p:stCondLst>
                            <p:childTnLst>
                              <p:par>
                                <p:cTn id="285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55" dur="500"/>
                                        <p:tgtEl>
                                          <p:spTgt spid="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6" nodeType="clickEffect" fill="hold">
                      <p:stCondLst>
                        <p:cond delay="indefinite"/>
                      </p:stCondLst>
                      <p:childTnLst>
                        <p:par>
                          <p:cTn id="28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58" nodeType="click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0" dur="300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1" dur="300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2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286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65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6" nodeType="afterEffect" fill="hold">
                            <p:stCondLst>
                              <p:cond delay="5100"/>
                            </p:stCondLst>
                            <p:childTnLst>
                              <p:par>
                                <p:cTn id="2867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9" dur="75" fill="hold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0" dur="75" fill="hold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1" nodeType="afterEffect" fill="hold">
                            <p:stCondLst>
                              <p:cond delay="9350"/>
                            </p:stCondLst>
                            <p:childTnLst>
                              <p:par>
                                <p:cTn id="287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74" dur="5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5" nodeType="afterEffect" fill="hold">
                            <p:stCondLst>
                              <p:cond delay="10850"/>
                            </p:stCondLst>
                            <p:childTnLst>
                              <p:par>
                                <p:cTn id="2876" nodeType="afterEffect" fill="hold" presetClass="entr" presetID="2" presetSubtype="1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8" dur="75" fill="hold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9" dur="75" fill="hold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0" nodeType="afterEffect" fill="hold">
                            <p:stCondLst>
                              <p:cond delay="14575"/>
                            </p:stCondLst>
                            <p:childTnLst>
                              <p:par>
                                <p:cTn id="288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83"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4" nodeType="clickEffect" fill="hold">
                      <p:stCondLst>
                        <p:cond delay="indefinite"/>
                      </p:stCondLst>
                      <p:childTnLst>
                        <p:par>
                          <p:cTn id="28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88" dur="5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89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92" dur="500"/>
                                        <p:tgtEl>
                                          <p:spTgt spid="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894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6" dur="75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7" dur="75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8" nodeType="afterEffect" fill="hold">
                            <p:stCondLst>
                              <p:cond delay="6900"/>
                            </p:stCondLst>
                            <p:childTnLst>
                              <p:par>
                                <p:cTn id="2899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01" dur="500"/>
                                        <p:tgtEl>
                                          <p:spTgt spid="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2" nodeType="afterEffect" fill="hold">
                            <p:stCondLst>
                              <p:cond delay="11400"/>
                            </p:stCondLst>
                            <p:childTnLst>
                              <p:par>
                                <p:cTn id="2903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5" dur="75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6" dur="75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7" nodeType="afterEffect" fill="hold">
                            <p:stCondLst>
                              <p:cond delay="14575"/>
                            </p:stCondLst>
                            <p:childTnLst>
                              <p:par>
                                <p:cTn id="290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10" dur="5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1" nodeType="clickEffect" fill="hold">
                      <p:stCondLst>
                        <p:cond delay="indefinite"/>
                      </p:stCondLst>
                      <p:childTnLst>
                        <p:par>
                          <p:cTn id="29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1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15" dur="5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17" nodeType="afterEffect" fill="hold" presetClass="entr" presetID="2" presetSubtype="1">
                                  <p:stCondLst>
                                    <p:cond delay="3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9" dur="75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0" dur="75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1" nodeType="afterEffect" fill="hold">
                            <p:stCondLst>
                              <p:cond delay="5375"/>
                            </p:stCondLst>
                            <p:childTnLst>
                              <p:par>
                                <p:cTn id="2922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24" dur="500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5" nodeType="afterEffect" fill="hold">
                            <p:stCondLst>
                              <p:cond delay="9875"/>
                            </p:stCondLst>
                            <p:childTnLst>
                              <p:par>
                                <p:cTn id="292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28" dur="500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9" nodeType="afterEffect" fill="hold">
                            <p:stCondLst>
                              <p:cond delay="10375"/>
                            </p:stCondLst>
                            <p:childTnLst>
                              <p:par>
                                <p:cTn id="293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2" dur="5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228742-88F7-409D-B882-905119968F2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PlaceHolder 1"/>
          <p:cNvSpPr>
            <a:spLocks noGrp="1"/>
          </p:cNvSpPr>
          <p:nvPr>
            <p:ph type="title"/>
          </p:nvPr>
        </p:nvSpPr>
        <p:spPr>
          <a:xfrm>
            <a:off x="228240" y="228240"/>
            <a:ext cx="8915400" cy="662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2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BAISSE DU pH ET INHIBITION DE LA PFK</a:t>
            </a:r>
            <a:br>
              <a:rPr sz="2400"/>
            </a:b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Dans un tube à essai la baisse du pH inhibe effectivement        l’activité de la PFK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Cependant, si on ajoute un certain nombre de composés    présents dans le muscle, cette activité peut remonter à prés de 70 % de son maximum: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2933" dur="indefinite" restart="never" nodeType="tmRoot">
          <p:childTnLst>
            <p:seq>
              <p:cTn id="2934" dur="indefinite" nodeType="mainSeq">
                <p:childTnLst>
                  <p:par>
                    <p:cTn id="2935" nodeType="clickEffect" fill="hold">
                      <p:stCondLst>
                        <p:cond delay="0"/>
                      </p:stCondLst>
                      <p:childTnLst>
                        <p:par>
                          <p:cTn id="29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37" nodeType="afterEffect" fill="hold" presetClass="entr" presetID="2" presetSubtype="1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9" dur="300" fill="hold"/>
                                        <p:tgtEl>
                                          <p:spTgt spid="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0" dur="300" fill="hold"/>
                                        <p:tgtEl>
                                          <p:spTgt spid="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4998D3-AB7D-4E69-82D7-294694AB3AE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Rectangle 2"/>
          <p:cNvSpPr/>
          <p:nvPr/>
        </p:nvSpPr>
        <p:spPr>
          <a:xfrm>
            <a:off x="250920" y="743040"/>
            <a:ext cx="8637480" cy="571536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Expérience de Dobson et al. 1986 :</a:t>
            </a:r>
            <a:br>
              <a:rPr sz="2000"/>
            </a:b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pH 6.63 l ’activité de la PFK est complètement inhibée dans un tube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essai.</a:t>
            </a:r>
            <a:br>
              <a:rPr sz="2000"/>
            </a:b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Si on ajoute du phosphate inorganique (HPO</a:t>
            </a:r>
            <a:r>
              <a:rPr b="1" lang="fr-FR" sz="20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1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2-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une concentration de 20 mmol/l l’activité de la PFK remonte à 40 %</a:t>
            </a:r>
            <a:br>
              <a:rPr sz="2000"/>
            </a:b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Si on rajoute un peu d ’ADP (0.5 mmol/l) elle remonte à 55 %</a:t>
            </a:r>
            <a:br>
              <a:rPr sz="2000"/>
            </a:br>
            <a:br>
              <a:rPr sz="2000"/>
            </a:b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Si on rajoute encore de très faibles concentrations de fructose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1,2 diphosphate ou de glucose 1,6 diphosphate deux composés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présents dans le cytoplasme de la fibre musculaire qui se contracte,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elle remonte à plus de 70%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Text Box 3"/>
          <p:cNvSpPr/>
          <p:nvPr/>
        </p:nvSpPr>
        <p:spPr>
          <a:xfrm>
            <a:off x="103320" y="2362320"/>
            <a:ext cx="1807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41" dur="indefinite" restart="never" nodeType="tmRoot">
          <p:childTnLst>
            <p:seq>
              <p:cTn id="2942" dur="indefinite" nodeType="mainSeq">
                <p:childTnLst>
                  <p:par>
                    <p:cTn id="2943" nodeType="clickEffect" fill="hold">
                      <p:stCondLst>
                        <p:cond delay="indefinite"/>
                      </p:stCondLst>
                      <p:childTnLst>
                        <p:par>
                          <p:cTn id="29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9" nodeType="clickEffect" fill="hold">
                      <p:stCondLst>
                        <p:cond delay="indefinite"/>
                      </p:stCondLst>
                      <p:childTnLst>
                        <p:par>
                          <p:cTn id="29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5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53" dur="1000"/>
                                        <p:tgtEl>
                                          <p:spTgt spid="1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4" nodeType="clickEffect" fill="hold">
                      <p:stCondLst>
                        <p:cond delay="indefinite"/>
                      </p:stCondLst>
                      <p:childTnLst>
                        <p:par>
                          <p:cTn id="29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5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58" dur="1000"/>
                                        <p:tgtEl>
                                          <p:spTgt spid="1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9" nodeType="clickEffect" fill="hold">
                      <p:stCondLst>
                        <p:cond delay="indefinite"/>
                      </p:stCondLst>
                      <p:childTnLst>
                        <p:par>
                          <p:cTn id="29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6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63" dur="1000"/>
                                        <p:tgtEl>
                                          <p:spTgt spid="1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4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66" dur="1000"/>
                                        <p:tgtEl>
                                          <p:spTgt spid="1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7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69" dur="1000"/>
                                        <p:tgtEl>
                                          <p:spTgt spid="1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03D309-2F1B-4119-BC51-26E3C308ABC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Text Box 2"/>
          <p:cNvSpPr/>
          <p:nvPr/>
        </p:nvSpPr>
        <p:spPr>
          <a:xfrm>
            <a:off x="2702160" y="942840"/>
            <a:ext cx="29408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supramaximal unique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Line 3"/>
          <p:cNvSpPr/>
          <p:nvPr/>
        </p:nvSpPr>
        <p:spPr>
          <a:xfrm flipH="1">
            <a:off x="2280960" y="1125360"/>
            <a:ext cx="36036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Line 4"/>
          <p:cNvSpPr/>
          <p:nvPr/>
        </p:nvSpPr>
        <p:spPr>
          <a:xfrm flipH="1">
            <a:off x="2268360" y="1125360"/>
            <a:ext cx="12960" cy="4320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Text Box 5"/>
          <p:cNvSpPr/>
          <p:nvPr/>
        </p:nvSpPr>
        <p:spPr>
          <a:xfrm>
            <a:off x="1265760" y="1577880"/>
            <a:ext cx="19040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l’ATP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Text Box 6"/>
          <p:cNvSpPr/>
          <p:nvPr/>
        </p:nvSpPr>
        <p:spPr>
          <a:xfrm>
            <a:off x="5685480" y="2087640"/>
            <a:ext cx="19022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Réserves de PCr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Text Box 7"/>
          <p:cNvSpPr/>
          <p:nvPr/>
        </p:nvSpPr>
        <p:spPr>
          <a:xfrm>
            <a:off x="3874680" y="1585800"/>
            <a:ext cx="17690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PCr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Line 8"/>
          <p:cNvSpPr/>
          <p:nvPr/>
        </p:nvSpPr>
        <p:spPr>
          <a:xfrm>
            <a:off x="5651640" y="1773360"/>
            <a:ext cx="361800" cy="28728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Line 9"/>
          <p:cNvSpPr/>
          <p:nvPr/>
        </p:nvSpPr>
        <p:spPr>
          <a:xfrm>
            <a:off x="1849320" y="1973160"/>
            <a:ext cx="0" cy="43344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Text Box 10"/>
          <p:cNvSpPr/>
          <p:nvPr/>
        </p:nvSpPr>
        <p:spPr>
          <a:xfrm>
            <a:off x="1498680" y="2425680"/>
            <a:ext cx="77580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ADP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Line 11"/>
          <p:cNvSpPr/>
          <p:nvPr/>
        </p:nvSpPr>
        <p:spPr>
          <a:xfrm>
            <a:off x="2786040" y="1974960"/>
            <a:ext cx="0" cy="43344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Text Box 12"/>
          <p:cNvSpPr/>
          <p:nvPr/>
        </p:nvSpPr>
        <p:spPr>
          <a:xfrm>
            <a:off x="2425680" y="2452680"/>
            <a:ext cx="79236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Pi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Line 13"/>
          <p:cNvSpPr/>
          <p:nvPr/>
        </p:nvSpPr>
        <p:spPr>
          <a:xfrm flipH="1">
            <a:off x="2857680" y="1844640"/>
            <a:ext cx="993600" cy="56196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Text Box 14"/>
          <p:cNvSpPr/>
          <p:nvPr/>
        </p:nvSpPr>
        <p:spPr>
          <a:xfrm>
            <a:off x="3835800" y="2451240"/>
            <a:ext cx="573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Line 15"/>
          <p:cNvSpPr/>
          <p:nvPr/>
        </p:nvSpPr>
        <p:spPr>
          <a:xfrm>
            <a:off x="4081320" y="1973160"/>
            <a:ext cx="0" cy="50508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Line 16"/>
          <p:cNvSpPr/>
          <p:nvPr/>
        </p:nvSpPr>
        <p:spPr>
          <a:xfrm>
            <a:off x="3218040" y="1830240"/>
            <a:ext cx="647640" cy="57636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Line 17"/>
          <p:cNvSpPr/>
          <p:nvPr/>
        </p:nvSpPr>
        <p:spPr>
          <a:xfrm>
            <a:off x="4081320" y="2852640"/>
            <a:ext cx="0" cy="7207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Text Box 18"/>
          <p:cNvSpPr/>
          <p:nvPr/>
        </p:nvSpPr>
        <p:spPr>
          <a:xfrm>
            <a:off x="2482200" y="3016080"/>
            <a:ext cx="967680" cy="3711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1" lang="fr-FR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Line 19"/>
          <p:cNvSpPr/>
          <p:nvPr/>
        </p:nvSpPr>
        <p:spPr>
          <a:xfrm>
            <a:off x="2786040" y="2781360"/>
            <a:ext cx="0" cy="2160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Line 20"/>
          <p:cNvSpPr/>
          <p:nvPr/>
        </p:nvSpPr>
        <p:spPr>
          <a:xfrm flipH="1">
            <a:off x="2786040" y="3573360"/>
            <a:ext cx="1295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Line 21"/>
          <p:cNvSpPr/>
          <p:nvPr/>
        </p:nvSpPr>
        <p:spPr>
          <a:xfrm>
            <a:off x="2786040" y="3357720"/>
            <a:ext cx="0" cy="215640"/>
          </a:xfrm>
          <a:prstGeom prst="line">
            <a:avLst/>
          </a:prstGeom>
          <a:ln w="2844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Line 22"/>
          <p:cNvSpPr/>
          <p:nvPr/>
        </p:nvSpPr>
        <p:spPr>
          <a:xfrm>
            <a:off x="3492360" y="3645000"/>
            <a:ext cx="792360" cy="936360"/>
          </a:xfrm>
          <a:prstGeom prst="line">
            <a:avLst/>
          </a:prstGeom>
          <a:ln w="1908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Text Box 23"/>
          <p:cNvSpPr/>
          <p:nvPr/>
        </p:nvSpPr>
        <p:spPr>
          <a:xfrm>
            <a:off x="5333040" y="3814920"/>
            <a:ext cx="25448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Phosporylation de l’ADP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Line 24"/>
          <p:cNvSpPr/>
          <p:nvPr/>
        </p:nvSpPr>
        <p:spPr>
          <a:xfrm>
            <a:off x="6588000" y="2478240"/>
            <a:ext cx="0" cy="129672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Line 25"/>
          <p:cNvSpPr/>
          <p:nvPr/>
        </p:nvSpPr>
        <p:spPr>
          <a:xfrm>
            <a:off x="1849320" y="2766960"/>
            <a:ext cx="0" cy="10080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Text Box 26"/>
          <p:cNvSpPr/>
          <p:nvPr/>
        </p:nvSpPr>
        <p:spPr>
          <a:xfrm>
            <a:off x="10080" y="3817800"/>
            <a:ext cx="26816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Activation cycle des purines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Line 27"/>
          <p:cNvSpPr/>
          <p:nvPr/>
        </p:nvSpPr>
        <p:spPr>
          <a:xfrm>
            <a:off x="2700360" y="4005360"/>
            <a:ext cx="259236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Text Box 28"/>
          <p:cNvSpPr/>
          <p:nvPr/>
        </p:nvSpPr>
        <p:spPr>
          <a:xfrm>
            <a:off x="2982960" y="4589640"/>
            <a:ext cx="351288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Libération de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Sensibilité de la troponine aux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Line 29"/>
          <p:cNvSpPr/>
          <p:nvPr/>
        </p:nvSpPr>
        <p:spPr>
          <a:xfrm>
            <a:off x="6588000" y="4206960"/>
            <a:ext cx="0" cy="123804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Text Box 30"/>
          <p:cNvSpPr/>
          <p:nvPr/>
        </p:nvSpPr>
        <p:spPr>
          <a:xfrm>
            <a:off x="2135520" y="5546880"/>
            <a:ext cx="329976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formation ponts acto-myosine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Line 31"/>
          <p:cNvSpPr/>
          <p:nvPr/>
        </p:nvSpPr>
        <p:spPr>
          <a:xfrm>
            <a:off x="3360600" y="5230800"/>
            <a:ext cx="0" cy="28728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Text Box 32"/>
          <p:cNvSpPr/>
          <p:nvPr/>
        </p:nvSpPr>
        <p:spPr>
          <a:xfrm>
            <a:off x="5805360" y="5546880"/>
            <a:ext cx="20714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Fatigue musculaire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Line 33"/>
          <p:cNvSpPr/>
          <p:nvPr/>
        </p:nvSpPr>
        <p:spPr>
          <a:xfrm>
            <a:off x="5435640" y="5734080"/>
            <a:ext cx="360360" cy="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Text Box 34"/>
          <p:cNvSpPr/>
          <p:nvPr/>
        </p:nvSpPr>
        <p:spPr>
          <a:xfrm>
            <a:off x="2349720" y="6323040"/>
            <a:ext cx="255564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Performance musculaire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Line 35"/>
          <p:cNvSpPr/>
          <p:nvPr/>
        </p:nvSpPr>
        <p:spPr>
          <a:xfrm flipH="1">
            <a:off x="3347640" y="5878440"/>
            <a:ext cx="12600" cy="35892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Line 36"/>
          <p:cNvSpPr/>
          <p:nvPr/>
        </p:nvSpPr>
        <p:spPr>
          <a:xfrm flipH="1">
            <a:off x="4858920" y="5878440"/>
            <a:ext cx="878040" cy="35892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Text Box 37"/>
          <p:cNvSpPr/>
          <p:nvPr/>
        </p:nvSpPr>
        <p:spPr>
          <a:xfrm>
            <a:off x="453240" y="39600"/>
            <a:ext cx="8342640" cy="703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Facteurs métaboliques limitant la performance d’un exercice musculaire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court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(30s à 2min)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supramaximal. 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D’après Bongbele Science &amp; sport 1990 modifié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Line 38"/>
          <p:cNvSpPr/>
          <p:nvPr/>
        </p:nvSpPr>
        <p:spPr>
          <a:xfrm>
            <a:off x="3203640" y="1773360"/>
            <a:ext cx="647640" cy="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Line 39"/>
          <p:cNvSpPr/>
          <p:nvPr/>
        </p:nvSpPr>
        <p:spPr>
          <a:xfrm>
            <a:off x="2771640" y="3860640"/>
            <a:ext cx="144000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Line 40"/>
          <p:cNvSpPr/>
          <p:nvPr/>
        </p:nvSpPr>
        <p:spPr>
          <a:xfrm flipV="1">
            <a:off x="4211640" y="2781360"/>
            <a:ext cx="0" cy="107928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Text Box 41"/>
          <p:cNvSpPr/>
          <p:nvPr/>
        </p:nvSpPr>
        <p:spPr>
          <a:xfrm>
            <a:off x="6015960" y="6541920"/>
            <a:ext cx="26488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0" i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</a:t>
            </a:r>
            <a:r>
              <a:rPr b="0" i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i="1" lang="fr-FR" sz="1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 forme diprotonée du Pi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Text Box 42"/>
          <p:cNvSpPr/>
          <p:nvPr/>
        </p:nvSpPr>
        <p:spPr>
          <a:xfrm>
            <a:off x="6428880" y="1557360"/>
            <a:ext cx="138312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Glycolyse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Line 43"/>
          <p:cNvSpPr/>
          <p:nvPr/>
        </p:nvSpPr>
        <p:spPr>
          <a:xfrm flipH="1">
            <a:off x="4427640" y="1773360"/>
            <a:ext cx="1944720" cy="6476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Line 44"/>
          <p:cNvSpPr/>
          <p:nvPr/>
        </p:nvSpPr>
        <p:spPr>
          <a:xfrm flipH="1">
            <a:off x="2413080" y="3645000"/>
            <a:ext cx="790560" cy="8636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Text Box 45"/>
          <p:cNvSpPr/>
          <p:nvPr/>
        </p:nvSpPr>
        <p:spPr>
          <a:xfrm>
            <a:off x="252360" y="4581360"/>
            <a:ext cx="2511360" cy="5814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Inhibition ou 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l’activité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G.P et de la PFK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Line 46"/>
          <p:cNvSpPr/>
          <p:nvPr/>
        </p:nvSpPr>
        <p:spPr>
          <a:xfrm>
            <a:off x="1116000" y="5157720"/>
            <a:ext cx="0" cy="358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Text Box 47"/>
          <p:cNvSpPr/>
          <p:nvPr/>
        </p:nvSpPr>
        <p:spPr>
          <a:xfrm>
            <a:off x="23400" y="5557680"/>
            <a:ext cx="19137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production d’ATP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Line 48"/>
          <p:cNvSpPr/>
          <p:nvPr/>
        </p:nvSpPr>
        <p:spPr>
          <a:xfrm>
            <a:off x="1116000" y="5950080"/>
            <a:ext cx="1295280" cy="2872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303573-3583-4C21-A4A4-4207264530B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PlaceHolder 1"/>
          <p:cNvSpPr>
            <a:spLocks noGrp="1"/>
          </p:cNvSpPr>
          <p:nvPr>
            <p:ph type="title"/>
          </p:nvPr>
        </p:nvSpPr>
        <p:spPr>
          <a:xfrm>
            <a:off x="0" y="838080"/>
            <a:ext cx="8763120" cy="6098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5.2 LE LACTATE DONNE-T-IL DES CRAMPES ?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Rectangle 3"/>
          <p:cNvSpPr/>
          <p:nvPr/>
        </p:nvSpPr>
        <p:spPr>
          <a:xfrm>
            <a:off x="0" y="1981080"/>
            <a:ext cx="9142560" cy="47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437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3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crampes peuvent survenir en même temps qu’une forte accumulation de lactate, mais sans qu’il y ait de lien de cause à effet - Ce n’est là que pure coïncidence.</a:t>
            </a:r>
            <a:endParaRPr b="0" lang="en-US" sz="2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437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3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Dans de nombreux cas, l’accumulation de lactate n’est pas associée à des crampes : coureurs de 400 - 800 - 1500 m..</a:t>
            </a:r>
            <a:endParaRPr b="0" lang="en-US" sz="2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437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3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Inversement, dans de nombreux sports à faible accumulation de lactate : courses de longues distances, football... les sportifs peuvent développer des crampes.</a:t>
            </a:r>
            <a:endParaRPr b="0" lang="en-US" sz="2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437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3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On peut développer des crampes pendant le sommeil à un moment ou la lactatémie est la plus basse !</a:t>
            </a:r>
            <a:endParaRPr b="0" lang="en-US" sz="2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2970" dur="indefinite" restart="never" nodeType="tmRoot">
          <p:childTnLst>
            <p:seq>
              <p:cTn id="2971" dur="indefinite" nodeType="mainSeq">
                <p:childTnLst>
                  <p:par>
                    <p:cTn id="2972" nodeType="clickEffect" fill="hold">
                      <p:stCondLst>
                        <p:cond delay="0"/>
                      </p:stCondLst>
                      <p:childTnLst>
                        <p:par>
                          <p:cTn id="29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74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6" dur="300" fill="hold"/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7" dur="300" fill="hold"/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F04174-D2C7-42D1-AF82-9219EE7247B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Rectangle 2"/>
          <p:cNvSpPr/>
          <p:nvPr/>
        </p:nvSpPr>
        <p:spPr>
          <a:xfrm>
            <a:off x="76320" y="2209680"/>
            <a:ext cx="9067680" cy="2725560"/>
          </a:xfrm>
          <a:prstGeom prst="rect">
            <a:avLst/>
          </a:prstGeom>
          <a:solidFill>
            <a:srgbClr val="ff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crampe n’a rien à voir, ni de près ni de loin avec l’accumulation de lactate.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Phénomène mal connu, la crampe résulte probablement d’une hyperexcitabilité neuro-musculaire due elle-même à des déséquilibres hydro-minéraux, soit par déshydratation soit par des carences minérales.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Text Box 3"/>
          <p:cNvSpPr/>
          <p:nvPr/>
        </p:nvSpPr>
        <p:spPr>
          <a:xfrm>
            <a:off x="3889080" y="914400"/>
            <a:ext cx="1364400" cy="520920"/>
          </a:xfrm>
          <a:prstGeom prst="rect">
            <a:avLst/>
          </a:prstGeom>
          <a:solidFill>
            <a:srgbClr val="ff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Donc...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78" dur="indefinite" restart="never" nodeType="tmRoot">
          <p:childTnLst>
            <p:seq>
              <p:cTn id="2979" dur="indefinite" nodeType="mainSeq">
                <p:childTnLst>
                  <p:par>
                    <p:cTn id="2980" nodeType="clickEffect" fill="hold">
                      <p:stCondLst>
                        <p:cond delay="0"/>
                      </p:stCondLst>
                      <p:childTnLst>
                        <p:par>
                          <p:cTn id="29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82" nodeType="afterEffect" fill="hold" presetClass="entr" presetID="23" presetSubtype="272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84" dur="75" fill="hold"/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5" dur="75" fill="hold"/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6" nodeType="afterEffect" fill="hold">
                            <p:stCondLst>
                              <p:cond delay="525"/>
                            </p:stCondLst>
                            <p:childTnLst>
                              <p:par>
                                <p:cTn id="2987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9" dur="300" fill="hold"/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0" dur="300" fill="hold"/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2FD51B-0D5E-4BDF-BECC-6868CF883DB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Rectangle 2"/>
          <p:cNvSpPr/>
          <p:nvPr/>
        </p:nvSpPr>
        <p:spPr>
          <a:xfrm>
            <a:off x="468360" y="5593680"/>
            <a:ext cx="8424720" cy="4903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5) la « théorie de l’acidité du milieu » résultant de la production de lactate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Rectangle 3"/>
          <p:cNvSpPr/>
          <p:nvPr/>
        </p:nvSpPr>
        <p:spPr>
          <a:xfrm>
            <a:off x="506520" y="260280"/>
            <a:ext cx="8386560" cy="886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30000"/>
              </a:lnSpc>
              <a:buClr>
                <a:srgbClr val="ffffff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« théorie environnementale » liée aux conditions extrêmes de chaleur ou de froid,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Rectangle 4"/>
          <p:cNvSpPr/>
          <p:nvPr/>
        </p:nvSpPr>
        <p:spPr>
          <a:xfrm>
            <a:off x="487440" y="1413000"/>
            <a:ext cx="8405640" cy="886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2) la « théorie des électrolytes » résultant des perturbations des concentrations sériques en électrolytes,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Rectangle 5"/>
          <p:cNvSpPr/>
          <p:nvPr/>
        </p:nvSpPr>
        <p:spPr>
          <a:xfrm>
            <a:off x="468360" y="2565360"/>
            <a:ext cx="8424720" cy="12830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3) la « théorie de la déshydratation » lorsqu’un déséquilibre hydrique est créé par une forte perte liquidienne induite par un coups de chaleur et des sueurs profuses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Rectangle 6"/>
          <p:cNvSpPr/>
          <p:nvPr/>
        </p:nvSpPr>
        <p:spPr>
          <a:xfrm>
            <a:off x="490680" y="4076640"/>
            <a:ext cx="8402400" cy="12830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4) la « théorie métabolique » dépendant des fortes déplétions en substrats métaboliques ne permettant plus un turnover suffisant des molécules d’ATP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Text Box 7"/>
          <p:cNvSpPr/>
          <p:nvPr/>
        </p:nvSpPr>
        <p:spPr>
          <a:xfrm>
            <a:off x="468360" y="6237360"/>
            <a:ext cx="8424720" cy="642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6) la théorie neurophysiologique : la plus récente en relation avec le réflexe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myotatique  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Line 8"/>
          <p:cNvSpPr/>
          <p:nvPr/>
        </p:nvSpPr>
        <p:spPr>
          <a:xfrm flipV="1">
            <a:off x="324000" y="5589720"/>
            <a:ext cx="8856360" cy="5760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Line 9"/>
          <p:cNvSpPr/>
          <p:nvPr/>
        </p:nvSpPr>
        <p:spPr>
          <a:xfrm>
            <a:off x="324000" y="5589720"/>
            <a:ext cx="8856360" cy="647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91" dur="indefinite" restart="never" nodeType="tmRoot">
          <p:childTnLst>
            <p:seq>
              <p:cTn id="2992" dur="indefinite" nodeType="mainSeq">
                <p:childTnLst>
                  <p:par>
                    <p:cTn id="2993" nodeType="clickEffect" fill="hold">
                      <p:stCondLst>
                        <p:cond delay="indefinite"/>
                      </p:stCondLst>
                      <p:childTnLst>
                        <p:par>
                          <p:cTn id="29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9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97" dur="1000" fill="hold"/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98" dur="1000" fill="hold"/>
                                        <p:tgtEl>
                                          <p:spTgt spid="1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99" dur="10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0" nodeType="clickEffect" fill="hold">
                      <p:stCondLst>
                        <p:cond delay="indefinite"/>
                      </p:stCondLst>
                      <p:childTnLst>
                        <p:par>
                          <p:cTn id="30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02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04" dur="1000" fill="hold"/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05" dur="1000" fill="hold"/>
                                        <p:tgtEl>
                                          <p:spTgt spid="1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06" dur="10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7" nodeType="clickEffect" fill="hold">
                      <p:stCondLst>
                        <p:cond delay="indefinite"/>
                      </p:stCondLst>
                      <p:childTnLst>
                        <p:par>
                          <p:cTn id="30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0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1" dur="1000" fill="hold"/>
                                        <p:tgtEl>
                                          <p:spTgt spid="1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12" dur="1000" fill="hold"/>
                                        <p:tgtEl>
                                          <p:spTgt spid="1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13" dur="10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4" nodeType="clickEffect" fill="hold">
                      <p:stCondLst>
                        <p:cond delay="indefinite"/>
                      </p:stCondLst>
                      <p:childTnLst>
                        <p:par>
                          <p:cTn id="30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1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8" dur="500" fill="hold"/>
                                        <p:tgtEl>
                                          <p:spTgt spid="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19" dur="500" fill="hold"/>
                                        <p:tgtEl>
                                          <p:spTgt spid="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20"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1" nodeType="clickEffect" fill="hold">
                      <p:stCondLst>
                        <p:cond delay="indefinite"/>
                      </p:stCondLst>
                      <p:childTnLst>
                        <p:par>
                          <p:cTn id="30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23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25" dur="500" fill="hold"/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6" dur="500" fill="hold"/>
                                        <p:tgtEl>
                                          <p:spTgt spid="1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27"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8" nodeType="clickEffect" fill="hold">
                      <p:stCondLst>
                        <p:cond delay="indefinite"/>
                      </p:stCondLst>
                      <p:childTnLst>
                        <p:par>
                          <p:cTn id="30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3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32" dur="1000" fill="hold"/>
                                        <p:tgtEl>
                                          <p:spTgt spid="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3" dur="1000" fill="hold"/>
                                        <p:tgtEl>
                                          <p:spTgt spid="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34" dur="10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5" nodeType="clickEffect" fill="hold">
                      <p:stCondLst>
                        <p:cond delay="indefinite"/>
                      </p:stCondLst>
                      <p:childTnLst>
                        <p:par>
                          <p:cTn id="30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3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39"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041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3043"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D5F9FF-8131-47DB-9E0F-D0E78F70479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8" name="Picture 2" descr="4"/>
          <p:cNvPicPr/>
          <p:nvPr/>
        </p:nvPicPr>
        <p:blipFill>
          <a:blip r:embed="rId1"/>
          <a:stretch/>
        </p:blipFill>
        <p:spPr>
          <a:xfrm>
            <a:off x="33480" y="33480"/>
            <a:ext cx="9144000" cy="678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9" name="Text Box 3"/>
          <p:cNvSpPr/>
          <p:nvPr/>
        </p:nvSpPr>
        <p:spPr>
          <a:xfrm>
            <a:off x="4497120" y="327672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Text Box 4"/>
          <p:cNvSpPr/>
          <p:nvPr/>
        </p:nvSpPr>
        <p:spPr>
          <a:xfrm>
            <a:off x="5792760" y="220968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Text Box 5"/>
          <p:cNvSpPr/>
          <p:nvPr/>
        </p:nvSpPr>
        <p:spPr>
          <a:xfrm>
            <a:off x="8164440" y="419112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Line 6"/>
          <p:cNvSpPr/>
          <p:nvPr/>
        </p:nvSpPr>
        <p:spPr>
          <a:xfrm>
            <a:off x="773892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Line 7"/>
          <p:cNvSpPr/>
          <p:nvPr/>
        </p:nvSpPr>
        <p:spPr>
          <a:xfrm>
            <a:off x="789156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Line 8"/>
          <p:cNvSpPr/>
          <p:nvPr/>
        </p:nvSpPr>
        <p:spPr>
          <a:xfrm>
            <a:off x="804384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Line 9"/>
          <p:cNvSpPr/>
          <p:nvPr/>
        </p:nvSpPr>
        <p:spPr>
          <a:xfrm>
            <a:off x="819612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Line 10"/>
          <p:cNvSpPr/>
          <p:nvPr/>
        </p:nvSpPr>
        <p:spPr>
          <a:xfrm>
            <a:off x="834876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Line 11"/>
          <p:cNvSpPr/>
          <p:nvPr/>
        </p:nvSpPr>
        <p:spPr>
          <a:xfrm flipH="1">
            <a:off x="63244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Line 12"/>
          <p:cNvSpPr/>
          <p:nvPr/>
        </p:nvSpPr>
        <p:spPr>
          <a:xfrm flipH="1">
            <a:off x="64767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Line 13"/>
          <p:cNvSpPr/>
          <p:nvPr/>
        </p:nvSpPr>
        <p:spPr>
          <a:xfrm flipH="1">
            <a:off x="662904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Line 14"/>
          <p:cNvSpPr/>
          <p:nvPr/>
        </p:nvSpPr>
        <p:spPr>
          <a:xfrm flipH="1">
            <a:off x="67816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Line 15"/>
          <p:cNvSpPr/>
          <p:nvPr/>
        </p:nvSpPr>
        <p:spPr>
          <a:xfrm flipH="1">
            <a:off x="69339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Arc 16"/>
          <p:cNvSpPr/>
          <p:nvPr/>
        </p:nvSpPr>
        <p:spPr>
          <a:xfrm flipH="1">
            <a:off x="7162920" y="5410080"/>
            <a:ext cx="457200" cy="212760"/>
          </a:xfrm>
          <a:custGeom>
            <a:avLst/>
            <a:gdLst>
              <a:gd name="GluePoint1X" fmla="*/ 2147483647 w 43200"/>
              <a:gd name="GluePoint1Y" fmla="*/ 2147483647 h 24557"/>
              <a:gd name="GluePoint2X" fmla="*/ 2147483647 w 43200"/>
              <a:gd name="GluePoint2Y" fmla="*/ 2147483647 h 24557"/>
              <a:gd name="GluePoint3X" fmla="*/ 2147483647 w 43200"/>
              <a:gd name="GluePoint3Y" fmla="*/ 2147483647 h 245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03" y="24556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Arc 17"/>
          <p:cNvSpPr/>
          <p:nvPr/>
        </p:nvSpPr>
        <p:spPr>
          <a:xfrm flipH="1" rot="10820400">
            <a:off x="7162560" y="5638320"/>
            <a:ext cx="458640" cy="243000"/>
          </a:xfrm>
          <a:custGeom>
            <a:avLst/>
            <a:gdLst>
              <a:gd name="GluePoint1X" fmla="*/ 2147483647 w 43200"/>
              <a:gd name="GluePoint1Y" fmla="*/ 2147483647 h 29245"/>
              <a:gd name="GluePoint2X" fmla="*/ 2147483647 w 43200"/>
              <a:gd name="GluePoint2Y" fmla="*/ 2147483647 h 29245"/>
              <a:gd name="GluePoint3X" fmla="*/ 2147483647 w 43200"/>
              <a:gd name="GluePoint3Y" fmla="*/ 2147483647 h 292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1398" y="29244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Text Box 18"/>
          <p:cNvSpPr/>
          <p:nvPr/>
        </p:nvSpPr>
        <p:spPr>
          <a:xfrm>
            <a:off x="6477120" y="5486400"/>
            <a:ext cx="761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Text Box 19"/>
          <p:cNvSpPr/>
          <p:nvPr/>
        </p:nvSpPr>
        <p:spPr>
          <a:xfrm>
            <a:off x="7543800" y="5410080"/>
            <a:ext cx="7621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ADP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Arc 20"/>
          <p:cNvSpPr/>
          <p:nvPr/>
        </p:nvSpPr>
        <p:spPr>
          <a:xfrm flipV="1" rot="1093800">
            <a:off x="5867280" y="5562360"/>
            <a:ext cx="762120" cy="304560"/>
          </a:xfrm>
          <a:custGeom>
            <a:avLst/>
            <a:gdLst>
              <a:gd name="GluePoint1X" fmla="*/ 0 w 21600"/>
              <a:gd name="GluePoint1Y" fmla="*/ 0 h 21600"/>
              <a:gd name="GluePoint2X" fmla="*/ 2147483647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Text Box 21"/>
          <p:cNvSpPr/>
          <p:nvPr/>
        </p:nvSpPr>
        <p:spPr>
          <a:xfrm>
            <a:off x="4495680" y="5486400"/>
            <a:ext cx="1905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PCr, Glyc, AGL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Rectangle 22"/>
          <p:cNvSpPr/>
          <p:nvPr/>
        </p:nvSpPr>
        <p:spPr>
          <a:xfrm>
            <a:off x="0" y="5373720"/>
            <a:ext cx="4643280" cy="1295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Différentes hypothèses explicatives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survenue des crampes chez le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marathonien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Rectangle 23"/>
          <p:cNvSpPr/>
          <p:nvPr/>
        </p:nvSpPr>
        <p:spPr>
          <a:xfrm>
            <a:off x="0" y="5181480"/>
            <a:ext cx="1371600" cy="30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Text Box 24"/>
          <p:cNvSpPr/>
          <p:nvPr/>
        </p:nvSpPr>
        <p:spPr>
          <a:xfrm>
            <a:off x="6021360" y="586728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44" dur="indefinite" restart="never" nodeType="tmRoot">
          <p:childTnLst>
            <p:seq>
              <p:cTn id="3045" dur="indefinite" nodeType="mainSeq">
                <p:childTnLst>
                  <p:par>
                    <p:cTn id="3046" nodeType="clickEffect" fill="hold">
                      <p:stCondLst>
                        <p:cond delay="0"/>
                      </p:stCondLst>
                      <p:childTnLst>
                        <p:par>
                          <p:cTn id="30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50" dur="20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1" nodeType="clickEffect" fill="hold">
                      <p:stCondLst>
                        <p:cond delay="indefinite"/>
                      </p:stCondLst>
                      <p:childTnLst>
                        <p:par>
                          <p:cTn id="30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3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55" dur="500" fill="hold"/>
                                        <p:tgtEl>
                                          <p:spTgt spid="1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56" dur="500" fill="hold"/>
                                        <p:tgtEl>
                                          <p:spTgt spid="1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7" nodeType="clickEffect" fill="hold">
                      <p:stCondLst>
                        <p:cond delay="indefinite"/>
                      </p:stCondLst>
                      <p:childTnLst>
                        <p:par>
                          <p:cTn id="30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9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61" dur="500" fill="hold"/>
                                        <p:tgtEl>
                                          <p:spTgt spid="1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2" dur="500" fill="hold"/>
                                        <p:tgtEl>
                                          <p:spTgt spid="1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3" nodeType="clickEffect" fill="hold">
                      <p:stCondLst>
                        <p:cond delay="indefinite"/>
                      </p:stCondLst>
                      <p:childTnLst>
                        <p:par>
                          <p:cTn id="30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65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67" dur="500" fill="hold"/>
                                        <p:tgtEl>
                                          <p:spTgt spid="1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8" dur="500" fill="hold"/>
                                        <p:tgtEl>
                                          <p:spTgt spid="1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9" nodeType="clickEffect" fill="hold">
                      <p:stCondLst>
                        <p:cond delay="indefinite"/>
                      </p:stCondLst>
                      <p:childTnLst>
                        <p:par>
                          <p:cTn id="30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1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3" dur="500" fill="hold"/>
                                        <p:tgtEl>
                                          <p:spTgt spid="1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74" dur="500" fill="hold"/>
                                        <p:tgtEl>
                                          <p:spTgt spid="1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1406F4-D03E-4804-AD53-4450419CF7A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AutoShape 2"/>
          <p:cNvSpPr/>
          <p:nvPr/>
        </p:nvSpPr>
        <p:spPr>
          <a:xfrm rot="234000">
            <a:off x="3211560" y="2425680"/>
            <a:ext cx="998640" cy="2438280"/>
          </a:xfrm>
          <a:custGeom>
            <a:avLst/>
            <a:gdLst>
              <a:gd name="textAreaLeft" fmla="*/ 133560 w 998640"/>
              <a:gd name="textAreaRight" fmla="*/ 865080 w 998640"/>
              <a:gd name="textAreaTop" fmla="*/ 511920 h 2438280"/>
              <a:gd name="textAreaBottom" fmla="*/ 1596240 h 243828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9070" stAng="-5400000" swAng="-5400000"/>
                <a:lnTo>
                  <a:pt x="0" y="9606"/>
                </a:lnTo>
                <a:arcTo wR="21600" hR="9070" stAng="10800000" swAng="-3434762"/>
                <a:lnTo>
                  <a:pt x="15967" y="21286"/>
                </a:lnTo>
                <a:lnTo>
                  <a:pt x="21600" y="18408"/>
                </a:lnTo>
                <a:lnTo>
                  <a:pt x="15967" y="14902"/>
                </a:lnTo>
                <a:lnTo>
                  <a:pt x="15967" y="17826"/>
                </a:lnTo>
                <a:arcTo wR="21600" hR="9070" stAng="7365238" swAng="3392092"/>
                <a:lnTo>
                  <a:pt x="9" y="9338"/>
                </a:lnTo>
                <a:arcTo wR="21600" hR="9070" stAng="-10757330" swAng="5357330"/>
                <a:close/>
              </a:path>
              <a:path fill="darkenLess" w="21600" h="21600">
                <a:moveTo>
                  <a:pt x="21600" y="0"/>
                </a:moveTo>
                <a:arcTo wR="21600" hR="9070" stAng="-5400000" swAng="-5400000"/>
                <a:lnTo>
                  <a:pt x="0" y="9070"/>
                </a:lnTo>
                <a:arcTo wR="21600" hR="9070" stAng="10800000" swAng="-42670"/>
                <a:lnTo>
                  <a:pt x="9" y="9338"/>
                </a:lnTo>
                <a:arcTo wR="21600" hR="9070" stAng="-10757330" swAng="5357330"/>
                <a:close/>
              </a:path>
            </a:pathLst>
          </a:cu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3" name="Picture 3" descr="actin"/>
          <p:cNvPicPr/>
          <p:nvPr/>
        </p:nvPicPr>
        <p:blipFill>
          <a:blip r:embed="rId1"/>
          <a:stretch/>
        </p:blipFill>
        <p:spPr>
          <a:xfrm>
            <a:off x="468360" y="2549520"/>
            <a:ext cx="274320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4" name="Picture 4" descr="players1"/>
          <p:cNvPicPr/>
          <p:nvPr/>
        </p:nvPicPr>
        <p:blipFill>
          <a:blip r:embed="rId2"/>
          <a:srcRect l="75141" t="84228" r="4427" b="874"/>
          <a:stretch/>
        </p:blipFill>
        <p:spPr>
          <a:xfrm>
            <a:off x="2297160" y="1940040"/>
            <a:ext cx="53352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5" name="Picture 5" descr="players1"/>
          <p:cNvPicPr/>
          <p:nvPr/>
        </p:nvPicPr>
        <p:blipFill>
          <a:blip r:embed="rId3"/>
          <a:srcRect l="37175" t="59399" r="48238" b="25714"/>
          <a:stretch/>
        </p:blipFill>
        <p:spPr>
          <a:xfrm>
            <a:off x="1611360" y="1940040"/>
            <a:ext cx="38088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6" name="Picture 6" descr="players1"/>
          <p:cNvPicPr/>
          <p:nvPr/>
        </p:nvPicPr>
        <p:blipFill>
          <a:blip r:embed="rId4"/>
          <a:srcRect l="45930" t="76780" r="27794" b="874"/>
          <a:stretch/>
        </p:blipFill>
        <p:spPr>
          <a:xfrm>
            <a:off x="1382760" y="4759200"/>
            <a:ext cx="685800" cy="6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7" name="Picture 7" descr="players1"/>
          <p:cNvPicPr/>
          <p:nvPr/>
        </p:nvPicPr>
        <p:blipFill>
          <a:blip r:embed="rId5"/>
          <a:srcRect l="72219" t="64365" r="4427" b="20748"/>
          <a:stretch/>
        </p:blipFill>
        <p:spPr>
          <a:xfrm>
            <a:off x="620640" y="1940040"/>
            <a:ext cx="609840" cy="4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8" name="Text Box 8"/>
          <p:cNvSpPr/>
          <p:nvPr/>
        </p:nvSpPr>
        <p:spPr>
          <a:xfrm>
            <a:off x="1992240" y="2016000"/>
            <a:ext cx="331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+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Text Box 9"/>
          <p:cNvSpPr/>
          <p:nvPr/>
        </p:nvSpPr>
        <p:spPr>
          <a:xfrm>
            <a:off x="1230480" y="2016000"/>
            <a:ext cx="331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+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Text Box 10"/>
          <p:cNvSpPr/>
          <p:nvPr/>
        </p:nvSpPr>
        <p:spPr>
          <a:xfrm>
            <a:off x="925560" y="4911840"/>
            <a:ext cx="331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=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AutoShape 11"/>
          <p:cNvSpPr/>
          <p:nvPr/>
        </p:nvSpPr>
        <p:spPr>
          <a:xfrm rot="10351200">
            <a:off x="5508000" y="2053800"/>
            <a:ext cx="1222200" cy="2438640"/>
          </a:xfrm>
          <a:custGeom>
            <a:avLst/>
            <a:gdLst>
              <a:gd name="textAreaLeft" fmla="*/ 163440 w 1222200"/>
              <a:gd name="textAreaRight" fmla="*/ 1058760 w 1222200"/>
              <a:gd name="textAreaTop" fmla="*/ 511920 h 2438640"/>
              <a:gd name="textAreaBottom" fmla="*/ 1596600 h 243864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9070" stAng="-5400000" swAng="-5400000"/>
                <a:lnTo>
                  <a:pt x="0" y="9606"/>
                </a:lnTo>
                <a:arcTo wR="21600" hR="9070" stAng="10800000" swAng="-3434762"/>
                <a:lnTo>
                  <a:pt x="15967" y="21286"/>
                </a:lnTo>
                <a:lnTo>
                  <a:pt x="21600" y="18408"/>
                </a:lnTo>
                <a:lnTo>
                  <a:pt x="15967" y="14902"/>
                </a:lnTo>
                <a:lnTo>
                  <a:pt x="15967" y="17826"/>
                </a:lnTo>
                <a:arcTo wR="21600" hR="9070" stAng="7365238" swAng="3392092"/>
                <a:lnTo>
                  <a:pt x="9" y="9338"/>
                </a:lnTo>
                <a:arcTo wR="21600" hR="9070" stAng="-10757330" swAng="5357330"/>
                <a:close/>
              </a:path>
              <a:path fill="darkenLess" w="21600" h="21600">
                <a:moveTo>
                  <a:pt x="21600" y="0"/>
                </a:moveTo>
                <a:arcTo wR="21600" hR="9070" stAng="-5400000" swAng="-5400000"/>
                <a:lnTo>
                  <a:pt x="0" y="9070"/>
                </a:lnTo>
                <a:arcTo wR="21600" hR="9070" stAng="10800000" swAng="-42670"/>
                <a:lnTo>
                  <a:pt x="9" y="9338"/>
                </a:lnTo>
                <a:arcTo wR="21600" hR="9070" stAng="-10757330" swAng="5357330"/>
                <a:close/>
              </a:path>
            </a:pathLst>
          </a:cu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Rectangle 12"/>
          <p:cNvSpPr/>
          <p:nvPr/>
        </p:nvSpPr>
        <p:spPr>
          <a:xfrm>
            <a:off x="4356000" y="2276640"/>
            <a:ext cx="990720" cy="38088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Rectangle 13"/>
          <p:cNvSpPr/>
          <p:nvPr/>
        </p:nvSpPr>
        <p:spPr>
          <a:xfrm>
            <a:off x="4238640" y="4329000"/>
            <a:ext cx="1447920" cy="53352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ADP + Pi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Text Box 14"/>
          <p:cNvSpPr/>
          <p:nvPr/>
        </p:nvSpPr>
        <p:spPr>
          <a:xfrm>
            <a:off x="7459560" y="2300400"/>
            <a:ext cx="13604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Text Box 15"/>
          <p:cNvSpPr/>
          <p:nvPr/>
        </p:nvSpPr>
        <p:spPr>
          <a:xfrm>
            <a:off x="7335720" y="4149720"/>
            <a:ext cx="177336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Glycogène  + Glucose + AGL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+ AAR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Oxygène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AutoShape 16"/>
          <p:cNvSpPr/>
          <p:nvPr/>
        </p:nvSpPr>
        <p:spPr>
          <a:xfrm rot="15571200">
            <a:off x="6261840" y="2878560"/>
            <a:ext cx="1795320" cy="869760"/>
          </a:xfrm>
          <a:custGeom>
            <a:avLst/>
            <a:gdLst>
              <a:gd name="textAreaLeft" fmla="*/ 378360 w 1795320"/>
              <a:gd name="textAreaRight" fmla="*/ 1237320 w 1795320"/>
              <a:gd name="textAreaTop" fmla="*/ 116280 h 869760"/>
              <a:gd name="textAreaBottom" fmla="*/ 753480 h 86976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9111" hR="21600" stAng="10800000" swAng="5400000"/>
                <a:lnTo>
                  <a:pt x="10330" y="0"/>
                </a:lnTo>
                <a:arcTo wR="9111" hR="21600" stAng="-5400000" swAng="3001742"/>
                <a:lnTo>
                  <a:pt x="21079" y="14400"/>
                </a:lnTo>
                <a:lnTo>
                  <a:pt x="18831" y="21600"/>
                </a:lnTo>
                <a:lnTo>
                  <a:pt x="15540" y="14400"/>
                </a:lnTo>
                <a:lnTo>
                  <a:pt x="17700" y="14400"/>
                </a:lnTo>
                <a:arcTo wR="9111" hR="21600" stAng="-2398258" swAng="-2904545"/>
                <a:lnTo>
                  <a:pt x="9720" y="48"/>
                </a:lnTo>
                <a:arcTo wR="9111" hR="21600" stAng="-5497197" swAng="-5302803"/>
                <a:close/>
              </a:path>
              <a:path fill="darkenLess" w="21600" h="21600">
                <a:moveTo>
                  <a:pt x="0" y="21600"/>
                </a:moveTo>
                <a:arcTo wR="9111" hR="21600" stAng="10800000" swAng="5400000"/>
                <a:lnTo>
                  <a:pt x="9111" y="0"/>
                </a:lnTo>
                <a:arcTo wR="9111" hR="21600" stAng="-5400000" swAng="97197"/>
                <a:lnTo>
                  <a:pt x="9720" y="48"/>
                </a:lnTo>
                <a:arcTo wR="9111" hR="21600" stAng="-5497197" swAng="-5302803"/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7" name="Picture 17" descr="course009"/>
          <p:cNvPicPr/>
          <p:nvPr/>
        </p:nvPicPr>
        <p:blipFill>
          <a:blip r:embed="rId6"/>
          <a:stretch/>
        </p:blipFill>
        <p:spPr>
          <a:xfrm>
            <a:off x="4427640" y="2924280"/>
            <a:ext cx="90468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8" name="Oval 18"/>
          <p:cNvSpPr/>
          <p:nvPr/>
        </p:nvSpPr>
        <p:spPr>
          <a:xfrm>
            <a:off x="468360" y="1684440"/>
            <a:ext cx="936720" cy="93636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Oval 19"/>
          <p:cNvSpPr/>
          <p:nvPr/>
        </p:nvSpPr>
        <p:spPr>
          <a:xfrm>
            <a:off x="1332000" y="1684440"/>
            <a:ext cx="914400" cy="91440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Oval 20"/>
          <p:cNvSpPr/>
          <p:nvPr/>
        </p:nvSpPr>
        <p:spPr>
          <a:xfrm>
            <a:off x="2124000" y="1684440"/>
            <a:ext cx="914400" cy="91440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Oval 21"/>
          <p:cNvSpPr/>
          <p:nvPr/>
        </p:nvSpPr>
        <p:spPr>
          <a:xfrm>
            <a:off x="7236000" y="3933720"/>
            <a:ext cx="1512720" cy="91440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Oval 22"/>
          <p:cNvSpPr/>
          <p:nvPr/>
        </p:nvSpPr>
        <p:spPr>
          <a:xfrm>
            <a:off x="4089240" y="2060640"/>
            <a:ext cx="1562400" cy="914400"/>
          </a:xfrm>
          <a:prstGeom prst="ellipse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Text Box 23"/>
          <p:cNvSpPr/>
          <p:nvPr/>
        </p:nvSpPr>
        <p:spPr>
          <a:xfrm>
            <a:off x="2704320" y="189000"/>
            <a:ext cx="593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1) Hypothèse métabolique : fatigue périphérique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Text Box 24"/>
          <p:cNvSpPr/>
          <p:nvPr/>
        </p:nvSpPr>
        <p:spPr>
          <a:xfrm>
            <a:off x="2702520" y="641520"/>
            <a:ext cx="6458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2) Hypothèse ionique + perte sodique (sueur profuse)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Hypothèse rejetée par Schwellnus (2007)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Line 25"/>
          <p:cNvSpPr/>
          <p:nvPr/>
        </p:nvSpPr>
        <p:spPr>
          <a:xfrm>
            <a:off x="5219640" y="2205000"/>
            <a:ext cx="144360" cy="57636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75" dur="indefinite" restart="never" nodeType="tmRoot">
          <p:childTnLst>
            <p:seq>
              <p:cTn id="3076" dur="indefinite" nodeType="mainSeq">
                <p:childTnLst>
                  <p:par>
                    <p:cTn id="3077" nodeType="clickEffect" fill="hold">
                      <p:stCondLst>
                        <p:cond delay="0"/>
                      </p:stCondLst>
                      <p:childTnLst>
                        <p:par>
                          <p:cTn id="30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9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81" dur="500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2" dur="500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83" dur="500"/>
                                        <p:tgtEl>
                                          <p:spTgt spid="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08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87"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089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91" dur="5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92" dur="5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93" dur="500"/>
                                        <p:tgtEl>
                                          <p:spTgt spid="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4" nodeType="clickEffect" fill="hold">
                      <p:stCondLst>
                        <p:cond delay="indefinite"/>
                      </p:stCondLst>
                      <p:childTnLst>
                        <p:par>
                          <p:cTn id="30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96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98" dur="500" fill="hold"/>
                                        <p:tgtEl>
                                          <p:spTgt spid="1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99" dur="500" fill="hold"/>
                                        <p:tgtEl>
                                          <p:spTgt spid="1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00" dur="5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02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04" dur="5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05" dur="5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06" dur="500"/>
                                        <p:tgtEl>
                                          <p:spTgt spid="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108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10" dur="5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11" dur="5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12" dur="500"/>
                                        <p:tgtEl>
                                          <p:spTgt spid="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311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16" dur="1000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17" dur="1000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18" dur="10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312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22" dur="500" fill="hold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23" dur="500" fill="hold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24" dur="500"/>
                                        <p:tgtEl>
                                          <p:spTgt spid="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3126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28" dur="1000" fill="hold"/>
                                        <p:tgtEl>
                                          <p:spTgt spid="1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29" dur="1000" fill="hold"/>
                                        <p:tgtEl>
                                          <p:spTgt spid="1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30" dur="10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1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3132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4" dur="500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5" dur="500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36"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7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3138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40" dur="1000" fill="hold"/>
                                        <p:tgtEl>
                                          <p:spTgt spid="1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1" dur="1000" fill="hold"/>
                                        <p:tgtEl>
                                          <p:spTgt spid="1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42" dur="1000"/>
                                        <p:tgtEl>
                                          <p:spTgt spid="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3" nodeType="clickEffect" fill="hold">
                      <p:stCondLst>
                        <p:cond delay="indefinite"/>
                      </p:stCondLst>
                      <p:childTnLst>
                        <p:par>
                          <p:cTn id="3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4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47" dur="500" fill="hold"/>
                                        <p:tgtEl>
                                          <p:spTgt spid="1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8" dur="500" fill="hold"/>
                                        <p:tgtEl>
                                          <p:spTgt spid="1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49" dur="500"/>
                                        <p:tgtEl>
                                          <p:spTgt spid="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0" nodeType="clickEffect" fill="hold">
                      <p:stCondLst>
                        <p:cond delay="indefinite"/>
                      </p:stCondLst>
                      <p:childTnLst>
                        <p:par>
                          <p:cTn id="31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5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54" dur="500"/>
                                        <p:tgtEl>
                                          <p:spTgt spid="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56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58"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9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316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62" dur="5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3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316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66" dur="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67" dur="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68" dur="500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9" nodeType="clickEffect" fill="hold">
                      <p:stCondLst>
                        <p:cond delay="indefinite"/>
                      </p:stCondLst>
                      <p:childTnLst>
                        <p:par>
                          <p:cTn id="31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73" dur="5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4" nodeType="clickEffect" fill="hold">
                      <p:stCondLst>
                        <p:cond delay="indefinite"/>
                      </p:stCondLst>
                      <p:childTnLst>
                        <p:par>
                          <p:cTn id="31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78" dur="5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8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182" dur="5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184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86" dur="5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7" nodeType="clickEffect" fill="hold">
                      <p:stCondLst>
                        <p:cond delay="indefinite"/>
                      </p:stCondLst>
                      <p:childTnLst>
                        <p:par>
                          <p:cTn id="3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8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91" dur="5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9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95" dur="10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6" nodeType="clickEffect" fill="hold">
                      <p:stCondLst>
                        <p:cond delay="indefinite"/>
                      </p:stCondLst>
                      <p:childTnLst>
                        <p:par>
                          <p:cTn id="31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9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00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20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04" dur="500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B2FE5E-500F-494D-AACB-2329CF7245D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Rectangle 2"/>
          <p:cNvSpPr/>
          <p:nvPr/>
        </p:nvSpPr>
        <p:spPr>
          <a:xfrm>
            <a:off x="-36360" y="0"/>
            <a:ext cx="9180360" cy="68580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rgbClr val="0000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38" name="Group 3"/>
          <p:cNvGrpSpPr/>
          <p:nvPr/>
        </p:nvGrpSpPr>
        <p:grpSpPr>
          <a:xfrm>
            <a:off x="4067280" y="0"/>
            <a:ext cx="2448000" cy="2592360"/>
            <a:chOff x="4067280" y="0"/>
            <a:chExt cx="2448000" cy="2592360"/>
          </a:xfrm>
        </p:grpSpPr>
        <p:sp>
          <p:nvSpPr>
            <p:cNvPr id="1739" name="Freeform 4"/>
            <p:cNvSpPr/>
            <p:nvPr/>
          </p:nvSpPr>
          <p:spPr>
            <a:xfrm>
              <a:off x="4067280" y="0"/>
              <a:ext cx="2448000" cy="2592360"/>
            </a:xfrm>
            <a:custGeom>
              <a:avLst/>
              <a:gdLst>
                <a:gd name="GluePoint1X" fmla="*/ 4682 w 1313"/>
                <a:gd name="GluePoint1Y" fmla="*/ 540 h 1379"/>
                <a:gd name="GluePoint2X" fmla="*/ 4210 w 1313"/>
                <a:gd name="GluePoint2Y" fmla="*/ 24 h 1379"/>
                <a:gd name="GluePoint3X" fmla="*/ 3642 w 1313"/>
                <a:gd name="GluePoint3Y" fmla="*/ 661 h 1379"/>
                <a:gd name="GluePoint4X" fmla="*/ 2953 w 1313"/>
                <a:gd name="GluePoint4Y" fmla="*/ 258 h 1379"/>
                <a:gd name="GluePoint5X" fmla="*/ 2660 w 1313"/>
                <a:gd name="GluePoint5Y" fmla="*/ 937 h 1379"/>
                <a:gd name="GluePoint6X" fmla="*/ 1833 w 1313"/>
                <a:gd name="GluePoint6Y" fmla="*/ 625 h 1379"/>
                <a:gd name="GluePoint7X" fmla="*/ 1912 w 1313"/>
                <a:gd name="GluePoint7Y" fmla="*/ 1312 h 1379"/>
                <a:gd name="GluePoint8X" fmla="*/ 1039 w 1313"/>
                <a:gd name="GluePoint8Y" fmla="*/ 1133 h 1379"/>
                <a:gd name="GluePoint9X" fmla="*/ 1351 w 1313"/>
                <a:gd name="GluePoint9Y" fmla="*/ 1809 h 1379"/>
                <a:gd name="GluePoint10X" fmla="*/ 370 w 1313"/>
                <a:gd name="GluePoint10Y" fmla="*/ 1788 h 1379"/>
                <a:gd name="GluePoint11X" fmla="*/ 1001 w 1313"/>
                <a:gd name="GluePoint11Y" fmla="*/ 2419 h 1379"/>
                <a:gd name="GluePoint12X" fmla="*/ 17 w 1313"/>
                <a:gd name="GluePoint12Y" fmla="*/ 2537 h 1379"/>
                <a:gd name="GluePoint13X" fmla="*/ 882 w 1313"/>
                <a:gd name="GluePoint13Y" fmla="*/ 3011 h 1379"/>
                <a:gd name="GluePoint14X" fmla="*/ 0 w 1313"/>
                <a:gd name="GluePoint14Y" fmla="*/ 3325 h 1379"/>
                <a:gd name="GluePoint15X" fmla="*/ 1096 w 1313"/>
                <a:gd name="GluePoint15Y" fmla="*/ 3663 h 1379"/>
                <a:gd name="GluePoint16X" fmla="*/ 422 w 1313"/>
                <a:gd name="GluePoint16Y" fmla="*/ 4082 h 1379"/>
                <a:gd name="GluePoint17X" fmla="*/ 1584 w 1313"/>
                <a:gd name="GluePoint17Y" fmla="*/ 4236 h 1379"/>
                <a:gd name="GluePoint18X" fmla="*/ 1063 w 1313"/>
                <a:gd name="GluePoint18Y" fmla="*/ 4768 h 1379"/>
                <a:gd name="GluePoint19X" fmla="*/ 2276 w 1313"/>
                <a:gd name="GluePoint19Y" fmla="*/ 4740 h 1379"/>
                <a:gd name="GluePoint20X" fmla="*/ 1895 w 1313"/>
                <a:gd name="GluePoint20Y" fmla="*/ 5288 h 1379"/>
                <a:gd name="GluePoint21X" fmla="*/ 3114 w 1313"/>
                <a:gd name="GluePoint21Y" fmla="*/ 5065 h 1379"/>
                <a:gd name="GluePoint22X" fmla="*/ 3083 w 1313"/>
                <a:gd name="GluePoint22Y" fmla="*/ 5691 h 1379"/>
                <a:gd name="GluePoint23X" fmla="*/ 4178 w 1313"/>
                <a:gd name="GluePoint23Y" fmla="*/ 5281 h 1379"/>
                <a:gd name="GluePoint24X" fmla="*/ 4399 w 1313"/>
                <a:gd name="GluePoint24Y" fmla="*/ 5881 h 1379"/>
                <a:gd name="GluePoint25X" fmla="*/ 5153 w 1313"/>
                <a:gd name="GluePoint25Y" fmla="*/ 5304 h 1379"/>
                <a:gd name="GluePoint26X" fmla="*/ 5633 w 1313"/>
                <a:gd name="GluePoint26Y" fmla="*/ 5864 h 1379"/>
                <a:gd name="GluePoint27X" fmla="*/ 6185 w 1313"/>
                <a:gd name="GluePoint27Y" fmla="*/ 5180 h 1379"/>
                <a:gd name="GluePoint28X" fmla="*/ 6948 w 1313"/>
                <a:gd name="GluePoint28Y" fmla="*/ 5638 h 1379"/>
                <a:gd name="GluePoint29X" fmla="*/ 7150 w 1313"/>
                <a:gd name="GluePoint29Y" fmla="*/ 4913 h 1379"/>
                <a:gd name="GluePoint30X" fmla="*/ 8042 w 1313"/>
                <a:gd name="GluePoint30Y" fmla="*/ 5244 h 1379"/>
                <a:gd name="GluePoint31X" fmla="*/ 7882 w 1313"/>
                <a:gd name="GluePoint31Y" fmla="*/ 4507 h 1379"/>
                <a:gd name="GluePoint32X" fmla="*/ 8828 w 1313"/>
                <a:gd name="GluePoint32Y" fmla="*/ 4731 h 1379"/>
                <a:gd name="GluePoint33X" fmla="*/ 8482 w 1313"/>
                <a:gd name="GluePoint33Y" fmla="*/ 4020 h 1379"/>
                <a:gd name="GluePoint34X" fmla="*/ 9472 w 1313"/>
                <a:gd name="GluePoint34Y" fmla="*/ 4088 h 1379"/>
                <a:gd name="GluePoint35X" fmla="*/ 8795 w 1313"/>
                <a:gd name="GluePoint35Y" fmla="*/ 3434 h 1379"/>
                <a:gd name="GluePoint36X" fmla="*/ 9812 w 1313"/>
                <a:gd name="GluePoint36Y" fmla="*/ 3332 h 1379"/>
                <a:gd name="GluePoint37X" fmla="*/ 8938 w 1313"/>
                <a:gd name="GluePoint37Y" fmla="*/ 2833 h 1379"/>
                <a:gd name="GluePoint38X" fmla="*/ 9755 w 1313"/>
                <a:gd name="GluePoint38Y" fmla="*/ 2537 h 1379"/>
                <a:gd name="GluePoint39X" fmla="*/ 8719 w 1313"/>
                <a:gd name="GluePoint39Y" fmla="*/ 2181 h 1379"/>
                <a:gd name="GluePoint40X" fmla="*/ 9448 w 1313"/>
                <a:gd name="GluePoint40Y" fmla="*/ 1760 h 1379"/>
                <a:gd name="GluePoint41X" fmla="*/ 8264 w 1313"/>
                <a:gd name="GluePoint41Y" fmla="*/ 1608 h 1379"/>
                <a:gd name="GluePoint42X" fmla="*/ 8749 w 1313"/>
                <a:gd name="GluePoint42Y" fmla="*/ 1099 h 1379"/>
                <a:gd name="GluePoint43X" fmla="*/ 7574 w 1313"/>
                <a:gd name="GluePoint43Y" fmla="*/ 1144 h 1379"/>
                <a:gd name="GluePoint44X" fmla="*/ 7812 w 1313"/>
                <a:gd name="GluePoint44Y" fmla="*/ 583 h 1379"/>
                <a:gd name="GluePoint45X" fmla="*/ 6720 w 1313"/>
                <a:gd name="GluePoint45Y" fmla="*/ 795 h 1379"/>
                <a:gd name="GluePoint46X" fmla="*/ 6735 w 1313"/>
                <a:gd name="GluePoint46Y" fmla="*/ 215 h 1379"/>
                <a:gd name="GluePoint47X" fmla="*/ 5655 w 1313"/>
                <a:gd name="GluePoint47Y" fmla="*/ 583 h 1379"/>
                <a:gd name="GluePoint48X" fmla="*/ 5413 w 1313"/>
                <a:gd name="GluePoint48Y" fmla="*/ 24 h 1379"/>
                <a:gd name="GluePoint49X" fmla="*/ 4789 w 1313"/>
                <a:gd name="GluePoint49Y" fmla="*/ 2 h 13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936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0" name="Freeform 5"/>
            <p:cNvSpPr/>
            <p:nvPr/>
          </p:nvSpPr>
          <p:spPr>
            <a:xfrm>
              <a:off x="4368600" y="302400"/>
              <a:ext cx="1824840" cy="1924560"/>
            </a:xfrm>
            <a:custGeom>
              <a:avLst/>
              <a:gdLst>
                <a:gd name="GluePoint1X" fmla="*/ 7296 w 979"/>
                <a:gd name="GluePoint1Y" fmla="*/ 2418 h 1024"/>
                <a:gd name="GluePoint2X" fmla="*/ 7199 w 979"/>
                <a:gd name="GluePoint2Y" fmla="*/ 2738 h 1024"/>
                <a:gd name="GluePoint3X" fmla="*/ 7019 w 979"/>
                <a:gd name="GluePoint3Y" fmla="*/ 3041 h 1024"/>
                <a:gd name="GluePoint4X" fmla="*/ 6797 w 979"/>
                <a:gd name="GluePoint4Y" fmla="*/ 3328 h 1024"/>
                <a:gd name="GluePoint5X" fmla="*/ 6469 w 979"/>
                <a:gd name="GluePoint5Y" fmla="*/ 3583 h 1024"/>
                <a:gd name="GluePoint6X" fmla="*/ 6118 w 979"/>
                <a:gd name="GluePoint6Y" fmla="*/ 3818 h 1024"/>
                <a:gd name="GluePoint7X" fmla="*/ 5697 w 979"/>
                <a:gd name="GluePoint7Y" fmla="*/ 4011 h 1024"/>
                <a:gd name="GluePoint8X" fmla="*/ 5234 w 979"/>
                <a:gd name="GluePoint8Y" fmla="*/ 4166 h 1024"/>
                <a:gd name="GluePoint9X" fmla="*/ 4735 w 979"/>
                <a:gd name="GluePoint9Y" fmla="*/ 4280 h 1024"/>
                <a:gd name="GluePoint10X" fmla="*/ 4217 w 979"/>
                <a:gd name="GluePoint10Y" fmla="*/ 4356 h 1024"/>
                <a:gd name="GluePoint11X" fmla="*/ 3656 w 979"/>
                <a:gd name="GluePoint11Y" fmla="*/ 4381 h 1024"/>
                <a:gd name="GluePoint12X" fmla="*/ 3095 w 979"/>
                <a:gd name="GluePoint12Y" fmla="*/ 4356 h 1024"/>
                <a:gd name="GluePoint13X" fmla="*/ 2581 w 979"/>
                <a:gd name="GluePoint13Y" fmla="*/ 4280 h 1024"/>
                <a:gd name="GluePoint14X" fmla="*/ 2082 w 979"/>
                <a:gd name="GluePoint14Y" fmla="*/ 4166 h 1024"/>
                <a:gd name="GluePoint15X" fmla="*/ 1619 w 979"/>
                <a:gd name="GluePoint15Y" fmla="*/ 4011 h 1024"/>
                <a:gd name="GluePoint16X" fmla="*/ 1204 w 979"/>
                <a:gd name="GluePoint16Y" fmla="*/ 3818 h 1024"/>
                <a:gd name="GluePoint17X" fmla="*/ 840 w 979"/>
                <a:gd name="GluePoint17Y" fmla="*/ 3583 h 1024"/>
                <a:gd name="GluePoint18X" fmla="*/ 527 w 979"/>
                <a:gd name="GluePoint18Y" fmla="*/ 3328 h 1024"/>
                <a:gd name="GluePoint19X" fmla="*/ 297 w 979"/>
                <a:gd name="GluePoint19Y" fmla="*/ 3041 h 1024"/>
                <a:gd name="GluePoint20X" fmla="*/ 109 w 979"/>
                <a:gd name="GluePoint20Y" fmla="*/ 2738 h 1024"/>
                <a:gd name="GluePoint21X" fmla="*/ 22 w 979"/>
                <a:gd name="GluePoint21Y" fmla="*/ 2418 h 1024"/>
                <a:gd name="GluePoint22X" fmla="*/ 1 w 979"/>
                <a:gd name="GluePoint22Y" fmla="*/ 2078 h 1024"/>
                <a:gd name="GluePoint23X" fmla="*/ 82 w 979"/>
                <a:gd name="GluePoint23Y" fmla="*/ 1756 h 1024"/>
                <a:gd name="GluePoint24X" fmla="*/ 224 w 979"/>
                <a:gd name="GluePoint24Y" fmla="*/ 1439 h 1024"/>
                <a:gd name="GluePoint25X" fmla="*/ 441 w 979"/>
                <a:gd name="GluePoint25Y" fmla="*/ 1150 h 1024"/>
                <a:gd name="GluePoint26X" fmla="*/ 728 w 979"/>
                <a:gd name="GluePoint26Y" fmla="*/ 881 h 1024"/>
                <a:gd name="GluePoint27X" fmla="*/ 1078 w 979"/>
                <a:gd name="GluePoint27Y" fmla="*/ 643 h 1024"/>
                <a:gd name="GluePoint28X" fmla="*/ 1472 w 979"/>
                <a:gd name="GluePoint28Y" fmla="*/ 434 h 1024"/>
                <a:gd name="GluePoint29X" fmla="*/ 1928 w 979"/>
                <a:gd name="GluePoint29Y" fmla="*/ 266 h 1024"/>
                <a:gd name="GluePoint30X" fmla="*/ 2407 w 979"/>
                <a:gd name="GluePoint30Y" fmla="*/ 132 h 1024"/>
                <a:gd name="GluePoint31X" fmla="*/ 2927 w 979"/>
                <a:gd name="GluePoint31Y" fmla="*/ 42 h 1024"/>
                <a:gd name="GluePoint32X" fmla="*/ 3477 w 979"/>
                <a:gd name="GluePoint32Y" fmla="*/ 0 h 1024"/>
                <a:gd name="GluePoint33X" fmla="*/ 4032 w 979"/>
                <a:gd name="GluePoint33Y" fmla="*/ 2 h 1024"/>
                <a:gd name="GluePoint34X" fmla="*/ 4560 w 979"/>
                <a:gd name="GluePoint34Y" fmla="*/ 71 h 1024"/>
                <a:gd name="GluePoint35X" fmla="*/ 5078 w 979"/>
                <a:gd name="GluePoint35Y" fmla="*/ 175 h 1024"/>
                <a:gd name="GluePoint36X" fmla="*/ 5549 w 979"/>
                <a:gd name="GluePoint36Y" fmla="*/ 323 h 1024"/>
                <a:gd name="GluePoint37X" fmla="*/ 5980 w 979"/>
                <a:gd name="GluePoint37Y" fmla="*/ 507 h 1024"/>
                <a:gd name="GluePoint38X" fmla="*/ 6359 w 979"/>
                <a:gd name="GluePoint38Y" fmla="*/ 717 h 1024"/>
                <a:gd name="GluePoint39X" fmla="*/ 6691 w 979"/>
                <a:gd name="GluePoint39Y" fmla="*/ 969 h 1024"/>
                <a:gd name="GluePoint40X" fmla="*/ 6952 w 979"/>
                <a:gd name="GluePoint40Y" fmla="*/ 1241 h 1024"/>
                <a:gd name="GluePoint41X" fmla="*/ 7151 w 979"/>
                <a:gd name="GluePoint41Y" fmla="*/ 1540 h 1024"/>
                <a:gd name="GluePoint42X" fmla="*/ 7279 w 979"/>
                <a:gd name="GluePoint42Y" fmla="*/ 1862 h 1024"/>
                <a:gd name="GluePoint43X" fmla="*/ 7323 w 979"/>
                <a:gd name="GluePoint43Y" fmla="*/ 2187 h 10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l" t="t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936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741" name="Group 6"/>
          <p:cNvGrpSpPr/>
          <p:nvPr/>
        </p:nvGrpSpPr>
        <p:grpSpPr>
          <a:xfrm>
            <a:off x="611280" y="2131920"/>
            <a:ext cx="2665440" cy="2521080"/>
            <a:chOff x="611280" y="2131920"/>
            <a:chExt cx="2665440" cy="2521080"/>
          </a:xfrm>
        </p:grpSpPr>
        <p:sp>
          <p:nvSpPr>
            <p:cNvPr id="1742" name="Freeform 7"/>
            <p:cNvSpPr/>
            <p:nvPr/>
          </p:nvSpPr>
          <p:spPr>
            <a:xfrm>
              <a:off x="611280" y="2131920"/>
              <a:ext cx="2665440" cy="2521080"/>
            </a:xfrm>
            <a:custGeom>
              <a:avLst/>
              <a:gdLst>
                <a:gd name="GluePoint1X" fmla="*/ 4682 w 1313"/>
                <a:gd name="GluePoint1Y" fmla="*/ 540 h 1379"/>
                <a:gd name="GluePoint2X" fmla="*/ 4210 w 1313"/>
                <a:gd name="GluePoint2Y" fmla="*/ 24 h 1379"/>
                <a:gd name="GluePoint3X" fmla="*/ 3642 w 1313"/>
                <a:gd name="GluePoint3Y" fmla="*/ 661 h 1379"/>
                <a:gd name="GluePoint4X" fmla="*/ 2953 w 1313"/>
                <a:gd name="GluePoint4Y" fmla="*/ 258 h 1379"/>
                <a:gd name="GluePoint5X" fmla="*/ 2660 w 1313"/>
                <a:gd name="GluePoint5Y" fmla="*/ 937 h 1379"/>
                <a:gd name="GluePoint6X" fmla="*/ 1833 w 1313"/>
                <a:gd name="GluePoint6Y" fmla="*/ 625 h 1379"/>
                <a:gd name="GluePoint7X" fmla="*/ 1912 w 1313"/>
                <a:gd name="GluePoint7Y" fmla="*/ 1312 h 1379"/>
                <a:gd name="GluePoint8X" fmla="*/ 1039 w 1313"/>
                <a:gd name="GluePoint8Y" fmla="*/ 1133 h 1379"/>
                <a:gd name="GluePoint9X" fmla="*/ 1351 w 1313"/>
                <a:gd name="GluePoint9Y" fmla="*/ 1809 h 1379"/>
                <a:gd name="GluePoint10X" fmla="*/ 370 w 1313"/>
                <a:gd name="GluePoint10Y" fmla="*/ 1788 h 1379"/>
                <a:gd name="GluePoint11X" fmla="*/ 1001 w 1313"/>
                <a:gd name="GluePoint11Y" fmla="*/ 2419 h 1379"/>
                <a:gd name="GluePoint12X" fmla="*/ 17 w 1313"/>
                <a:gd name="GluePoint12Y" fmla="*/ 2537 h 1379"/>
                <a:gd name="GluePoint13X" fmla="*/ 882 w 1313"/>
                <a:gd name="GluePoint13Y" fmla="*/ 3011 h 1379"/>
                <a:gd name="GluePoint14X" fmla="*/ 0 w 1313"/>
                <a:gd name="GluePoint14Y" fmla="*/ 3325 h 1379"/>
                <a:gd name="GluePoint15X" fmla="*/ 1096 w 1313"/>
                <a:gd name="GluePoint15Y" fmla="*/ 3663 h 1379"/>
                <a:gd name="GluePoint16X" fmla="*/ 422 w 1313"/>
                <a:gd name="GluePoint16Y" fmla="*/ 4082 h 1379"/>
                <a:gd name="GluePoint17X" fmla="*/ 1584 w 1313"/>
                <a:gd name="GluePoint17Y" fmla="*/ 4236 h 1379"/>
                <a:gd name="GluePoint18X" fmla="*/ 1063 w 1313"/>
                <a:gd name="GluePoint18Y" fmla="*/ 4768 h 1379"/>
                <a:gd name="GluePoint19X" fmla="*/ 2276 w 1313"/>
                <a:gd name="GluePoint19Y" fmla="*/ 4740 h 1379"/>
                <a:gd name="GluePoint20X" fmla="*/ 1895 w 1313"/>
                <a:gd name="GluePoint20Y" fmla="*/ 5288 h 1379"/>
                <a:gd name="GluePoint21X" fmla="*/ 3114 w 1313"/>
                <a:gd name="GluePoint21Y" fmla="*/ 5065 h 1379"/>
                <a:gd name="GluePoint22X" fmla="*/ 3083 w 1313"/>
                <a:gd name="GluePoint22Y" fmla="*/ 5691 h 1379"/>
                <a:gd name="GluePoint23X" fmla="*/ 4178 w 1313"/>
                <a:gd name="GluePoint23Y" fmla="*/ 5281 h 1379"/>
                <a:gd name="GluePoint24X" fmla="*/ 4399 w 1313"/>
                <a:gd name="GluePoint24Y" fmla="*/ 5881 h 1379"/>
                <a:gd name="GluePoint25X" fmla="*/ 5153 w 1313"/>
                <a:gd name="GluePoint25Y" fmla="*/ 5304 h 1379"/>
                <a:gd name="GluePoint26X" fmla="*/ 5633 w 1313"/>
                <a:gd name="GluePoint26Y" fmla="*/ 5864 h 1379"/>
                <a:gd name="GluePoint27X" fmla="*/ 6185 w 1313"/>
                <a:gd name="GluePoint27Y" fmla="*/ 5180 h 1379"/>
                <a:gd name="GluePoint28X" fmla="*/ 6948 w 1313"/>
                <a:gd name="GluePoint28Y" fmla="*/ 5638 h 1379"/>
                <a:gd name="GluePoint29X" fmla="*/ 7150 w 1313"/>
                <a:gd name="GluePoint29Y" fmla="*/ 4913 h 1379"/>
                <a:gd name="GluePoint30X" fmla="*/ 8042 w 1313"/>
                <a:gd name="GluePoint30Y" fmla="*/ 5244 h 1379"/>
                <a:gd name="GluePoint31X" fmla="*/ 7882 w 1313"/>
                <a:gd name="GluePoint31Y" fmla="*/ 4507 h 1379"/>
                <a:gd name="GluePoint32X" fmla="*/ 8828 w 1313"/>
                <a:gd name="GluePoint32Y" fmla="*/ 4731 h 1379"/>
                <a:gd name="GluePoint33X" fmla="*/ 8482 w 1313"/>
                <a:gd name="GluePoint33Y" fmla="*/ 4020 h 1379"/>
                <a:gd name="GluePoint34X" fmla="*/ 9472 w 1313"/>
                <a:gd name="GluePoint34Y" fmla="*/ 4088 h 1379"/>
                <a:gd name="GluePoint35X" fmla="*/ 8795 w 1313"/>
                <a:gd name="GluePoint35Y" fmla="*/ 3434 h 1379"/>
                <a:gd name="GluePoint36X" fmla="*/ 9812 w 1313"/>
                <a:gd name="GluePoint36Y" fmla="*/ 3332 h 1379"/>
                <a:gd name="GluePoint37X" fmla="*/ 8938 w 1313"/>
                <a:gd name="GluePoint37Y" fmla="*/ 2833 h 1379"/>
                <a:gd name="GluePoint38X" fmla="*/ 9755 w 1313"/>
                <a:gd name="GluePoint38Y" fmla="*/ 2537 h 1379"/>
                <a:gd name="GluePoint39X" fmla="*/ 8719 w 1313"/>
                <a:gd name="GluePoint39Y" fmla="*/ 2181 h 1379"/>
                <a:gd name="GluePoint40X" fmla="*/ 9448 w 1313"/>
                <a:gd name="GluePoint40Y" fmla="*/ 1760 h 1379"/>
                <a:gd name="GluePoint41X" fmla="*/ 8264 w 1313"/>
                <a:gd name="GluePoint41Y" fmla="*/ 1608 h 1379"/>
                <a:gd name="GluePoint42X" fmla="*/ 8749 w 1313"/>
                <a:gd name="GluePoint42Y" fmla="*/ 1099 h 1379"/>
                <a:gd name="GluePoint43X" fmla="*/ 7574 w 1313"/>
                <a:gd name="GluePoint43Y" fmla="*/ 1144 h 1379"/>
                <a:gd name="GluePoint44X" fmla="*/ 7812 w 1313"/>
                <a:gd name="GluePoint44Y" fmla="*/ 583 h 1379"/>
                <a:gd name="GluePoint45X" fmla="*/ 6720 w 1313"/>
                <a:gd name="GluePoint45Y" fmla="*/ 795 h 1379"/>
                <a:gd name="GluePoint46X" fmla="*/ 6735 w 1313"/>
                <a:gd name="GluePoint46Y" fmla="*/ 215 h 1379"/>
                <a:gd name="GluePoint47X" fmla="*/ 5655 w 1313"/>
                <a:gd name="GluePoint47Y" fmla="*/ 583 h 1379"/>
                <a:gd name="GluePoint48X" fmla="*/ 5413 w 1313"/>
                <a:gd name="GluePoint48Y" fmla="*/ 24 h 1379"/>
                <a:gd name="GluePoint49X" fmla="*/ 4789 w 1313"/>
                <a:gd name="GluePoint49Y" fmla="*/ 2 h 13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3" name="Freeform 8"/>
            <p:cNvSpPr/>
            <p:nvPr/>
          </p:nvSpPr>
          <p:spPr>
            <a:xfrm>
              <a:off x="939240" y="2426040"/>
              <a:ext cx="1986840" cy="1871640"/>
            </a:xfrm>
            <a:custGeom>
              <a:avLst/>
              <a:gdLst>
                <a:gd name="GluePoint1X" fmla="*/ 7296 w 979"/>
                <a:gd name="GluePoint1Y" fmla="*/ 2418 h 1024"/>
                <a:gd name="GluePoint2X" fmla="*/ 7199 w 979"/>
                <a:gd name="GluePoint2Y" fmla="*/ 2738 h 1024"/>
                <a:gd name="GluePoint3X" fmla="*/ 7019 w 979"/>
                <a:gd name="GluePoint3Y" fmla="*/ 3041 h 1024"/>
                <a:gd name="GluePoint4X" fmla="*/ 6797 w 979"/>
                <a:gd name="GluePoint4Y" fmla="*/ 3328 h 1024"/>
                <a:gd name="GluePoint5X" fmla="*/ 6469 w 979"/>
                <a:gd name="GluePoint5Y" fmla="*/ 3583 h 1024"/>
                <a:gd name="GluePoint6X" fmla="*/ 6118 w 979"/>
                <a:gd name="GluePoint6Y" fmla="*/ 3818 h 1024"/>
                <a:gd name="GluePoint7X" fmla="*/ 5697 w 979"/>
                <a:gd name="GluePoint7Y" fmla="*/ 4011 h 1024"/>
                <a:gd name="GluePoint8X" fmla="*/ 5234 w 979"/>
                <a:gd name="GluePoint8Y" fmla="*/ 4166 h 1024"/>
                <a:gd name="GluePoint9X" fmla="*/ 4735 w 979"/>
                <a:gd name="GluePoint9Y" fmla="*/ 4280 h 1024"/>
                <a:gd name="GluePoint10X" fmla="*/ 4217 w 979"/>
                <a:gd name="GluePoint10Y" fmla="*/ 4356 h 1024"/>
                <a:gd name="GluePoint11X" fmla="*/ 3656 w 979"/>
                <a:gd name="GluePoint11Y" fmla="*/ 4381 h 1024"/>
                <a:gd name="GluePoint12X" fmla="*/ 3095 w 979"/>
                <a:gd name="GluePoint12Y" fmla="*/ 4356 h 1024"/>
                <a:gd name="GluePoint13X" fmla="*/ 2581 w 979"/>
                <a:gd name="GluePoint13Y" fmla="*/ 4280 h 1024"/>
                <a:gd name="GluePoint14X" fmla="*/ 2082 w 979"/>
                <a:gd name="GluePoint14Y" fmla="*/ 4166 h 1024"/>
                <a:gd name="GluePoint15X" fmla="*/ 1619 w 979"/>
                <a:gd name="GluePoint15Y" fmla="*/ 4011 h 1024"/>
                <a:gd name="GluePoint16X" fmla="*/ 1204 w 979"/>
                <a:gd name="GluePoint16Y" fmla="*/ 3818 h 1024"/>
                <a:gd name="GluePoint17X" fmla="*/ 840 w 979"/>
                <a:gd name="GluePoint17Y" fmla="*/ 3583 h 1024"/>
                <a:gd name="GluePoint18X" fmla="*/ 527 w 979"/>
                <a:gd name="GluePoint18Y" fmla="*/ 3328 h 1024"/>
                <a:gd name="GluePoint19X" fmla="*/ 297 w 979"/>
                <a:gd name="GluePoint19Y" fmla="*/ 3041 h 1024"/>
                <a:gd name="GluePoint20X" fmla="*/ 109 w 979"/>
                <a:gd name="GluePoint20Y" fmla="*/ 2738 h 1024"/>
                <a:gd name="GluePoint21X" fmla="*/ 22 w 979"/>
                <a:gd name="GluePoint21Y" fmla="*/ 2418 h 1024"/>
                <a:gd name="GluePoint22X" fmla="*/ 1 w 979"/>
                <a:gd name="GluePoint22Y" fmla="*/ 2078 h 1024"/>
                <a:gd name="GluePoint23X" fmla="*/ 82 w 979"/>
                <a:gd name="GluePoint23Y" fmla="*/ 1756 h 1024"/>
                <a:gd name="GluePoint24X" fmla="*/ 224 w 979"/>
                <a:gd name="GluePoint24Y" fmla="*/ 1439 h 1024"/>
                <a:gd name="GluePoint25X" fmla="*/ 441 w 979"/>
                <a:gd name="GluePoint25Y" fmla="*/ 1150 h 1024"/>
                <a:gd name="GluePoint26X" fmla="*/ 728 w 979"/>
                <a:gd name="GluePoint26Y" fmla="*/ 881 h 1024"/>
                <a:gd name="GluePoint27X" fmla="*/ 1078 w 979"/>
                <a:gd name="GluePoint27Y" fmla="*/ 643 h 1024"/>
                <a:gd name="GluePoint28X" fmla="*/ 1472 w 979"/>
                <a:gd name="GluePoint28Y" fmla="*/ 434 h 1024"/>
                <a:gd name="GluePoint29X" fmla="*/ 1928 w 979"/>
                <a:gd name="GluePoint29Y" fmla="*/ 266 h 1024"/>
                <a:gd name="GluePoint30X" fmla="*/ 2407 w 979"/>
                <a:gd name="GluePoint30Y" fmla="*/ 132 h 1024"/>
                <a:gd name="GluePoint31X" fmla="*/ 2927 w 979"/>
                <a:gd name="GluePoint31Y" fmla="*/ 42 h 1024"/>
                <a:gd name="GluePoint32X" fmla="*/ 3477 w 979"/>
                <a:gd name="GluePoint32Y" fmla="*/ 0 h 1024"/>
                <a:gd name="GluePoint33X" fmla="*/ 4032 w 979"/>
                <a:gd name="GluePoint33Y" fmla="*/ 2 h 1024"/>
                <a:gd name="GluePoint34X" fmla="*/ 4560 w 979"/>
                <a:gd name="GluePoint34Y" fmla="*/ 71 h 1024"/>
                <a:gd name="GluePoint35X" fmla="*/ 5078 w 979"/>
                <a:gd name="GluePoint35Y" fmla="*/ 175 h 1024"/>
                <a:gd name="GluePoint36X" fmla="*/ 5549 w 979"/>
                <a:gd name="GluePoint36Y" fmla="*/ 323 h 1024"/>
                <a:gd name="GluePoint37X" fmla="*/ 5980 w 979"/>
                <a:gd name="GluePoint37Y" fmla="*/ 507 h 1024"/>
                <a:gd name="GluePoint38X" fmla="*/ 6359 w 979"/>
                <a:gd name="GluePoint38Y" fmla="*/ 717 h 1024"/>
                <a:gd name="GluePoint39X" fmla="*/ 6691 w 979"/>
                <a:gd name="GluePoint39Y" fmla="*/ 969 h 1024"/>
                <a:gd name="GluePoint40X" fmla="*/ 6952 w 979"/>
                <a:gd name="GluePoint40Y" fmla="*/ 1241 h 1024"/>
                <a:gd name="GluePoint41X" fmla="*/ 7151 w 979"/>
                <a:gd name="GluePoint41Y" fmla="*/ 1540 h 1024"/>
                <a:gd name="GluePoint42X" fmla="*/ 7279 w 979"/>
                <a:gd name="GluePoint42Y" fmla="*/ 1862 h 1024"/>
                <a:gd name="GluePoint43X" fmla="*/ 7323 w 979"/>
                <a:gd name="GluePoint43Y" fmla="*/ 2187 h 10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l" t="t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744" name="Group 9"/>
          <p:cNvGrpSpPr/>
          <p:nvPr/>
        </p:nvGrpSpPr>
        <p:grpSpPr>
          <a:xfrm>
            <a:off x="1835280" y="0"/>
            <a:ext cx="2519280" cy="2519280"/>
            <a:chOff x="1835280" y="0"/>
            <a:chExt cx="2519280" cy="2519280"/>
          </a:xfrm>
        </p:grpSpPr>
        <p:sp>
          <p:nvSpPr>
            <p:cNvPr id="1745" name="Freeform 10"/>
            <p:cNvSpPr/>
            <p:nvPr/>
          </p:nvSpPr>
          <p:spPr>
            <a:xfrm>
              <a:off x="1835280" y="0"/>
              <a:ext cx="2519280" cy="2519280"/>
            </a:xfrm>
            <a:custGeom>
              <a:avLst/>
              <a:gdLst>
                <a:gd name="GluePoint1X" fmla="*/ 4682 w 1313"/>
                <a:gd name="GluePoint1Y" fmla="*/ 540 h 1379"/>
                <a:gd name="GluePoint2X" fmla="*/ 4210 w 1313"/>
                <a:gd name="GluePoint2Y" fmla="*/ 24 h 1379"/>
                <a:gd name="GluePoint3X" fmla="*/ 3642 w 1313"/>
                <a:gd name="GluePoint3Y" fmla="*/ 661 h 1379"/>
                <a:gd name="GluePoint4X" fmla="*/ 2953 w 1313"/>
                <a:gd name="GluePoint4Y" fmla="*/ 258 h 1379"/>
                <a:gd name="GluePoint5X" fmla="*/ 2660 w 1313"/>
                <a:gd name="GluePoint5Y" fmla="*/ 937 h 1379"/>
                <a:gd name="GluePoint6X" fmla="*/ 1833 w 1313"/>
                <a:gd name="GluePoint6Y" fmla="*/ 625 h 1379"/>
                <a:gd name="GluePoint7X" fmla="*/ 1912 w 1313"/>
                <a:gd name="GluePoint7Y" fmla="*/ 1312 h 1379"/>
                <a:gd name="GluePoint8X" fmla="*/ 1039 w 1313"/>
                <a:gd name="GluePoint8Y" fmla="*/ 1133 h 1379"/>
                <a:gd name="GluePoint9X" fmla="*/ 1351 w 1313"/>
                <a:gd name="GluePoint9Y" fmla="*/ 1809 h 1379"/>
                <a:gd name="GluePoint10X" fmla="*/ 370 w 1313"/>
                <a:gd name="GluePoint10Y" fmla="*/ 1788 h 1379"/>
                <a:gd name="GluePoint11X" fmla="*/ 1001 w 1313"/>
                <a:gd name="GluePoint11Y" fmla="*/ 2419 h 1379"/>
                <a:gd name="GluePoint12X" fmla="*/ 17 w 1313"/>
                <a:gd name="GluePoint12Y" fmla="*/ 2537 h 1379"/>
                <a:gd name="GluePoint13X" fmla="*/ 882 w 1313"/>
                <a:gd name="GluePoint13Y" fmla="*/ 3011 h 1379"/>
                <a:gd name="GluePoint14X" fmla="*/ 0 w 1313"/>
                <a:gd name="GluePoint14Y" fmla="*/ 3325 h 1379"/>
                <a:gd name="GluePoint15X" fmla="*/ 1096 w 1313"/>
                <a:gd name="GluePoint15Y" fmla="*/ 3663 h 1379"/>
                <a:gd name="GluePoint16X" fmla="*/ 422 w 1313"/>
                <a:gd name="GluePoint16Y" fmla="*/ 4082 h 1379"/>
                <a:gd name="GluePoint17X" fmla="*/ 1584 w 1313"/>
                <a:gd name="GluePoint17Y" fmla="*/ 4236 h 1379"/>
                <a:gd name="GluePoint18X" fmla="*/ 1063 w 1313"/>
                <a:gd name="GluePoint18Y" fmla="*/ 4768 h 1379"/>
                <a:gd name="GluePoint19X" fmla="*/ 2276 w 1313"/>
                <a:gd name="GluePoint19Y" fmla="*/ 4740 h 1379"/>
                <a:gd name="GluePoint20X" fmla="*/ 1895 w 1313"/>
                <a:gd name="GluePoint20Y" fmla="*/ 5288 h 1379"/>
                <a:gd name="GluePoint21X" fmla="*/ 3114 w 1313"/>
                <a:gd name="GluePoint21Y" fmla="*/ 5065 h 1379"/>
                <a:gd name="GluePoint22X" fmla="*/ 3083 w 1313"/>
                <a:gd name="GluePoint22Y" fmla="*/ 5691 h 1379"/>
                <a:gd name="GluePoint23X" fmla="*/ 4178 w 1313"/>
                <a:gd name="GluePoint23Y" fmla="*/ 5281 h 1379"/>
                <a:gd name="GluePoint24X" fmla="*/ 4399 w 1313"/>
                <a:gd name="GluePoint24Y" fmla="*/ 5881 h 1379"/>
                <a:gd name="GluePoint25X" fmla="*/ 5153 w 1313"/>
                <a:gd name="GluePoint25Y" fmla="*/ 5304 h 1379"/>
                <a:gd name="GluePoint26X" fmla="*/ 5633 w 1313"/>
                <a:gd name="GluePoint26Y" fmla="*/ 5864 h 1379"/>
                <a:gd name="GluePoint27X" fmla="*/ 6185 w 1313"/>
                <a:gd name="GluePoint27Y" fmla="*/ 5180 h 1379"/>
                <a:gd name="GluePoint28X" fmla="*/ 6948 w 1313"/>
                <a:gd name="GluePoint28Y" fmla="*/ 5638 h 1379"/>
                <a:gd name="GluePoint29X" fmla="*/ 7150 w 1313"/>
                <a:gd name="GluePoint29Y" fmla="*/ 4913 h 1379"/>
                <a:gd name="GluePoint30X" fmla="*/ 8042 w 1313"/>
                <a:gd name="GluePoint30Y" fmla="*/ 5244 h 1379"/>
                <a:gd name="GluePoint31X" fmla="*/ 7882 w 1313"/>
                <a:gd name="GluePoint31Y" fmla="*/ 4507 h 1379"/>
                <a:gd name="GluePoint32X" fmla="*/ 8828 w 1313"/>
                <a:gd name="GluePoint32Y" fmla="*/ 4731 h 1379"/>
                <a:gd name="GluePoint33X" fmla="*/ 8482 w 1313"/>
                <a:gd name="GluePoint33Y" fmla="*/ 4020 h 1379"/>
                <a:gd name="GluePoint34X" fmla="*/ 9472 w 1313"/>
                <a:gd name="GluePoint34Y" fmla="*/ 4088 h 1379"/>
                <a:gd name="GluePoint35X" fmla="*/ 8795 w 1313"/>
                <a:gd name="GluePoint35Y" fmla="*/ 3434 h 1379"/>
                <a:gd name="GluePoint36X" fmla="*/ 9812 w 1313"/>
                <a:gd name="GluePoint36Y" fmla="*/ 3332 h 1379"/>
                <a:gd name="GluePoint37X" fmla="*/ 8938 w 1313"/>
                <a:gd name="GluePoint37Y" fmla="*/ 2833 h 1379"/>
                <a:gd name="GluePoint38X" fmla="*/ 9755 w 1313"/>
                <a:gd name="GluePoint38Y" fmla="*/ 2537 h 1379"/>
                <a:gd name="GluePoint39X" fmla="*/ 8719 w 1313"/>
                <a:gd name="GluePoint39Y" fmla="*/ 2181 h 1379"/>
                <a:gd name="GluePoint40X" fmla="*/ 9448 w 1313"/>
                <a:gd name="GluePoint40Y" fmla="*/ 1760 h 1379"/>
                <a:gd name="GluePoint41X" fmla="*/ 8264 w 1313"/>
                <a:gd name="GluePoint41Y" fmla="*/ 1608 h 1379"/>
                <a:gd name="GluePoint42X" fmla="*/ 8749 w 1313"/>
                <a:gd name="GluePoint42Y" fmla="*/ 1099 h 1379"/>
                <a:gd name="GluePoint43X" fmla="*/ 7574 w 1313"/>
                <a:gd name="GluePoint43Y" fmla="*/ 1144 h 1379"/>
                <a:gd name="GluePoint44X" fmla="*/ 7812 w 1313"/>
                <a:gd name="GluePoint44Y" fmla="*/ 583 h 1379"/>
                <a:gd name="GluePoint45X" fmla="*/ 6720 w 1313"/>
                <a:gd name="GluePoint45Y" fmla="*/ 795 h 1379"/>
                <a:gd name="GluePoint46X" fmla="*/ 6735 w 1313"/>
                <a:gd name="GluePoint46Y" fmla="*/ 215 h 1379"/>
                <a:gd name="GluePoint47X" fmla="*/ 5655 w 1313"/>
                <a:gd name="GluePoint47Y" fmla="*/ 583 h 1379"/>
                <a:gd name="GluePoint48X" fmla="*/ 5413 w 1313"/>
                <a:gd name="GluePoint48Y" fmla="*/ 24 h 1379"/>
                <a:gd name="GluePoint49X" fmla="*/ 4789 w 1313"/>
                <a:gd name="GluePoint49Y" fmla="*/ 2 h 13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6" name="Freeform 11"/>
            <p:cNvSpPr/>
            <p:nvPr/>
          </p:nvSpPr>
          <p:spPr>
            <a:xfrm>
              <a:off x="2145240" y="293760"/>
              <a:ext cx="1877760" cy="1870560"/>
            </a:xfrm>
            <a:custGeom>
              <a:avLst/>
              <a:gdLst>
                <a:gd name="GluePoint1X" fmla="*/ 7296 w 979"/>
                <a:gd name="GluePoint1Y" fmla="*/ 2418 h 1024"/>
                <a:gd name="GluePoint2X" fmla="*/ 7199 w 979"/>
                <a:gd name="GluePoint2Y" fmla="*/ 2738 h 1024"/>
                <a:gd name="GluePoint3X" fmla="*/ 7019 w 979"/>
                <a:gd name="GluePoint3Y" fmla="*/ 3041 h 1024"/>
                <a:gd name="GluePoint4X" fmla="*/ 6797 w 979"/>
                <a:gd name="GluePoint4Y" fmla="*/ 3328 h 1024"/>
                <a:gd name="GluePoint5X" fmla="*/ 6469 w 979"/>
                <a:gd name="GluePoint5Y" fmla="*/ 3583 h 1024"/>
                <a:gd name="GluePoint6X" fmla="*/ 6118 w 979"/>
                <a:gd name="GluePoint6Y" fmla="*/ 3818 h 1024"/>
                <a:gd name="GluePoint7X" fmla="*/ 5697 w 979"/>
                <a:gd name="GluePoint7Y" fmla="*/ 4011 h 1024"/>
                <a:gd name="GluePoint8X" fmla="*/ 5234 w 979"/>
                <a:gd name="GluePoint8Y" fmla="*/ 4166 h 1024"/>
                <a:gd name="GluePoint9X" fmla="*/ 4735 w 979"/>
                <a:gd name="GluePoint9Y" fmla="*/ 4280 h 1024"/>
                <a:gd name="GluePoint10X" fmla="*/ 4217 w 979"/>
                <a:gd name="GluePoint10Y" fmla="*/ 4356 h 1024"/>
                <a:gd name="GluePoint11X" fmla="*/ 3656 w 979"/>
                <a:gd name="GluePoint11Y" fmla="*/ 4381 h 1024"/>
                <a:gd name="GluePoint12X" fmla="*/ 3095 w 979"/>
                <a:gd name="GluePoint12Y" fmla="*/ 4356 h 1024"/>
                <a:gd name="GluePoint13X" fmla="*/ 2581 w 979"/>
                <a:gd name="GluePoint13Y" fmla="*/ 4280 h 1024"/>
                <a:gd name="GluePoint14X" fmla="*/ 2082 w 979"/>
                <a:gd name="GluePoint14Y" fmla="*/ 4166 h 1024"/>
                <a:gd name="GluePoint15X" fmla="*/ 1619 w 979"/>
                <a:gd name="GluePoint15Y" fmla="*/ 4011 h 1024"/>
                <a:gd name="GluePoint16X" fmla="*/ 1204 w 979"/>
                <a:gd name="GluePoint16Y" fmla="*/ 3818 h 1024"/>
                <a:gd name="GluePoint17X" fmla="*/ 840 w 979"/>
                <a:gd name="GluePoint17Y" fmla="*/ 3583 h 1024"/>
                <a:gd name="GluePoint18X" fmla="*/ 527 w 979"/>
                <a:gd name="GluePoint18Y" fmla="*/ 3328 h 1024"/>
                <a:gd name="GluePoint19X" fmla="*/ 297 w 979"/>
                <a:gd name="GluePoint19Y" fmla="*/ 3041 h 1024"/>
                <a:gd name="GluePoint20X" fmla="*/ 109 w 979"/>
                <a:gd name="GluePoint20Y" fmla="*/ 2738 h 1024"/>
                <a:gd name="GluePoint21X" fmla="*/ 22 w 979"/>
                <a:gd name="GluePoint21Y" fmla="*/ 2418 h 1024"/>
                <a:gd name="GluePoint22X" fmla="*/ 1 w 979"/>
                <a:gd name="GluePoint22Y" fmla="*/ 2078 h 1024"/>
                <a:gd name="GluePoint23X" fmla="*/ 82 w 979"/>
                <a:gd name="GluePoint23Y" fmla="*/ 1756 h 1024"/>
                <a:gd name="GluePoint24X" fmla="*/ 224 w 979"/>
                <a:gd name="GluePoint24Y" fmla="*/ 1439 h 1024"/>
                <a:gd name="GluePoint25X" fmla="*/ 441 w 979"/>
                <a:gd name="GluePoint25Y" fmla="*/ 1150 h 1024"/>
                <a:gd name="GluePoint26X" fmla="*/ 728 w 979"/>
                <a:gd name="GluePoint26Y" fmla="*/ 881 h 1024"/>
                <a:gd name="GluePoint27X" fmla="*/ 1078 w 979"/>
                <a:gd name="GluePoint27Y" fmla="*/ 643 h 1024"/>
                <a:gd name="GluePoint28X" fmla="*/ 1472 w 979"/>
                <a:gd name="GluePoint28Y" fmla="*/ 434 h 1024"/>
                <a:gd name="GluePoint29X" fmla="*/ 1928 w 979"/>
                <a:gd name="GluePoint29Y" fmla="*/ 266 h 1024"/>
                <a:gd name="GluePoint30X" fmla="*/ 2407 w 979"/>
                <a:gd name="GluePoint30Y" fmla="*/ 132 h 1024"/>
                <a:gd name="GluePoint31X" fmla="*/ 2927 w 979"/>
                <a:gd name="GluePoint31Y" fmla="*/ 42 h 1024"/>
                <a:gd name="GluePoint32X" fmla="*/ 3477 w 979"/>
                <a:gd name="GluePoint32Y" fmla="*/ 0 h 1024"/>
                <a:gd name="GluePoint33X" fmla="*/ 4032 w 979"/>
                <a:gd name="GluePoint33Y" fmla="*/ 2 h 1024"/>
                <a:gd name="GluePoint34X" fmla="*/ 4560 w 979"/>
                <a:gd name="GluePoint34Y" fmla="*/ 71 h 1024"/>
                <a:gd name="GluePoint35X" fmla="*/ 5078 w 979"/>
                <a:gd name="GluePoint35Y" fmla="*/ 175 h 1024"/>
                <a:gd name="GluePoint36X" fmla="*/ 5549 w 979"/>
                <a:gd name="GluePoint36Y" fmla="*/ 323 h 1024"/>
                <a:gd name="GluePoint37X" fmla="*/ 5980 w 979"/>
                <a:gd name="GluePoint37Y" fmla="*/ 507 h 1024"/>
                <a:gd name="GluePoint38X" fmla="*/ 6359 w 979"/>
                <a:gd name="GluePoint38Y" fmla="*/ 717 h 1024"/>
                <a:gd name="GluePoint39X" fmla="*/ 6691 w 979"/>
                <a:gd name="GluePoint39Y" fmla="*/ 969 h 1024"/>
                <a:gd name="GluePoint40X" fmla="*/ 6952 w 979"/>
                <a:gd name="GluePoint40Y" fmla="*/ 1241 h 1024"/>
                <a:gd name="GluePoint41X" fmla="*/ 7151 w 979"/>
                <a:gd name="GluePoint41Y" fmla="*/ 1540 h 1024"/>
                <a:gd name="GluePoint42X" fmla="*/ 7279 w 979"/>
                <a:gd name="GluePoint42Y" fmla="*/ 1862 h 1024"/>
                <a:gd name="GluePoint43X" fmla="*/ 7323 w 979"/>
                <a:gd name="GluePoint43Y" fmla="*/ 2187 h 10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l" t="t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747" name="Group 12"/>
          <p:cNvGrpSpPr/>
          <p:nvPr/>
        </p:nvGrpSpPr>
        <p:grpSpPr>
          <a:xfrm>
            <a:off x="4788000" y="3933720"/>
            <a:ext cx="2663640" cy="2592360"/>
            <a:chOff x="4788000" y="3933720"/>
            <a:chExt cx="2663640" cy="2592360"/>
          </a:xfrm>
        </p:grpSpPr>
        <p:sp>
          <p:nvSpPr>
            <p:cNvPr id="1748" name="Freeform 13"/>
            <p:cNvSpPr/>
            <p:nvPr/>
          </p:nvSpPr>
          <p:spPr>
            <a:xfrm>
              <a:off x="4788000" y="3933720"/>
              <a:ext cx="2663640" cy="2592360"/>
            </a:xfrm>
            <a:custGeom>
              <a:avLst/>
              <a:gdLst>
                <a:gd name="GluePoint1X" fmla="*/ 4682 w 1313"/>
                <a:gd name="GluePoint1Y" fmla="*/ 540 h 1379"/>
                <a:gd name="GluePoint2X" fmla="*/ 4210 w 1313"/>
                <a:gd name="GluePoint2Y" fmla="*/ 24 h 1379"/>
                <a:gd name="GluePoint3X" fmla="*/ 3642 w 1313"/>
                <a:gd name="GluePoint3Y" fmla="*/ 661 h 1379"/>
                <a:gd name="GluePoint4X" fmla="*/ 2953 w 1313"/>
                <a:gd name="GluePoint4Y" fmla="*/ 258 h 1379"/>
                <a:gd name="GluePoint5X" fmla="*/ 2660 w 1313"/>
                <a:gd name="GluePoint5Y" fmla="*/ 937 h 1379"/>
                <a:gd name="GluePoint6X" fmla="*/ 1833 w 1313"/>
                <a:gd name="GluePoint6Y" fmla="*/ 625 h 1379"/>
                <a:gd name="GluePoint7X" fmla="*/ 1912 w 1313"/>
                <a:gd name="GluePoint7Y" fmla="*/ 1312 h 1379"/>
                <a:gd name="GluePoint8X" fmla="*/ 1039 w 1313"/>
                <a:gd name="GluePoint8Y" fmla="*/ 1133 h 1379"/>
                <a:gd name="GluePoint9X" fmla="*/ 1351 w 1313"/>
                <a:gd name="GluePoint9Y" fmla="*/ 1809 h 1379"/>
                <a:gd name="GluePoint10X" fmla="*/ 370 w 1313"/>
                <a:gd name="GluePoint10Y" fmla="*/ 1788 h 1379"/>
                <a:gd name="GluePoint11X" fmla="*/ 1001 w 1313"/>
                <a:gd name="GluePoint11Y" fmla="*/ 2419 h 1379"/>
                <a:gd name="GluePoint12X" fmla="*/ 17 w 1313"/>
                <a:gd name="GluePoint12Y" fmla="*/ 2537 h 1379"/>
                <a:gd name="GluePoint13X" fmla="*/ 882 w 1313"/>
                <a:gd name="GluePoint13Y" fmla="*/ 3011 h 1379"/>
                <a:gd name="GluePoint14X" fmla="*/ 0 w 1313"/>
                <a:gd name="GluePoint14Y" fmla="*/ 3325 h 1379"/>
                <a:gd name="GluePoint15X" fmla="*/ 1096 w 1313"/>
                <a:gd name="GluePoint15Y" fmla="*/ 3663 h 1379"/>
                <a:gd name="GluePoint16X" fmla="*/ 422 w 1313"/>
                <a:gd name="GluePoint16Y" fmla="*/ 4082 h 1379"/>
                <a:gd name="GluePoint17X" fmla="*/ 1584 w 1313"/>
                <a:gd name="GluePoint17Y" fmla="*/ 4236 h 1379"/>
                <a:gd name="GluePoint18X" fmla="*/ 1063 w 1313"/>
                <a:gd name="GluePoint18Y" fmla="*/ 4768 h 1379"/>
                <a:gd name="GluePoint19X" fmla="*/ 2276 w 1313"/>
                <a:gd name="GluePoint19Y" fmla="*/ 4740 h 1379"/>
                <a:gd name="GluePoint20X" fmla="*/ 1895 w 1313"/>
                <a:gd name="GluePoint20Y" fmla="*/ 5288 h 1379"/>
                <a:gd name="GluePoint21X" fmla="*/ 3114 w 1313"/>
                <a:gd name="GluePoint21Y" fmla="*/ 5065 h 1379"/>
                <a:gd name="GluePoint22X" fmla="*/ 3083 w 1313"/>
                <a:gd name="GluePoint22Y" fmla="*/ 5691 h 1379"/>
                <a:gd name="GluePoint23X" fmla="*/ 4178 w 1313"/>
                <a:gd name="GluePoint23Y" fmla="*/ 5281 h 1379"/>
                <a:gd name="GluePoint24X" fmla="*/ 4399 w 1313"/>
                <a:gd name="GluePoint24Y" fmla="*/ 5881 h 1379"/>
                <a:gd name="GluePoint25X" fmla="*/ 5153 w 1313"/>
                <a:gd name="GluePoint25Y" fmla="*/ 5304 h 1379"/>
                <a:gd name="GluePoint26X" fmla="*/ 5633 w 1313"/>
                <a:gd name="GluePoint26Y" fmla="*/ 5864 h 1379"/>
                <a:gd name="GluePoint27X" fmla="*/ 6185 w 1313"/>
                <a:gd name="GluePoint27Y" fmla="*/ 5180 h 1379"/>
                <a:gd name="GluePoint28X" fmla="*/ 6948 w 1313"/>
                <a:gd name="GluePoint28Y" fmla="*/ 5638 h 1379"/>
                <a:gd name="GluePoint29X" fmla="*/ 7150 w 1313"/>
                <a:gd name="GluePoint29Y" fmla="*/ 4913 h 1379"/>
                <a:gd name="GluePoint30X" fmla="*/ 8042 w 1313"/>
                <a:gd name="GluePoint30Y" fmla="*/ 5244 h 1379"/>
                <a:gd name="GluePoint31X" fmla="*/ 7882 w 1313"/>
                <a:gd name="GluePoint31Y" fmla="*/ 4507 h 1379"/>
                <a:gd name="GluePoint32X" fmla="*/ 8828 w 1313"/>
                <a:gd name="GluePoint32Y" fmla="*/ 4731 h 1379"/>
                <a:gd name="GluePoint33X" fmla="*/ 8482 w 1313"/>
                <a:gd name="GluePoint33Y" fmla="*/ 4020 h 1379"/>
                <a:gd name="GluePoint34X" fmla="*/ 9472 w 1313"/>
                <a:gd name="GluePoint34Y" fmla="*/ 4088 h 1379"/>
                <a:gd name="GluePoint35X" fmla="*/ 8795 w 1313"/>
                <a:gd name="GluePoint35Y" fmla="*/ 3434 h 1379"/>
                <a:gd name="GluePoint36X" fmla="*/ 9812 w 1313"/>
                <a:gd name="GluePoint36Y" fmla="*/ 3332 h 1379"/>
                <a:gd name="GluePoint37X" fmla="*/ 8938 w 1313"/>
                <a:gd name="GluePoint37Y" fmla="*/ 2833 h 1379"/>
                <a:gd name="GluePoint38X" fmla="*/ 9755 w 1313"/>
                <a:gd name="GluePoint38Y" fmla="*/ 2537 h 1379"/>
                <a:gd name="GluePoint39X" fmla="*/ 8719 w 1313"/>
                <a:gd name="GluePoint39Y" fmla="*/ 2181 h 1379"/>
                <a:gd name="GluePoint40X" fmla="*/ 9448 w 1313"/>
                <a:gd name="GluePoint40Y" fmla="*/ 1760 h 1379"/>
                <a:gd name="GluePoint41X" fmla="*/ 8264 w 1313"/>
                <a:gd name="GluePoint41Y" fmla="*/ 1608 h 1379"/>
                <a:gd name="GluePoint42X" fmla="*/ 8749 w 1313"/>
                <a:gd name="GluePoint42Y" fmla="*/ 1099 h 1379"/>
                <a:gd name="GluePoint43X" fmla="*/ 7574 w 1313"/>
                <a:gd name="GluePoint43Y" fmla="*/ 1144 h 1379"/>
                <a:gd name="GluePoint44X" fmla="*/ 7812 w 1313"/>
                <a:gd name="GluePoint44Y" fmla="*/ 583 h 1379"/>
                <a:gd name="GluePoint45X" fmla="*/ 6720 w 1313"/>
                <a:gd name="GluePoint45Y" fmla="*/ 795 h 1379"/>
                <a:gd name="GluePoint46X" fmla="*/ 6735 w 1313"/>
                <a:gd name="GluePoint46Y" fmla="*/ 215 h 1379"/>
                <a:gd name="GluePoint47X" fmla="*/ 5655 w 1313"/>
                <a:gd name="GluePoint47Y" fmla="*/ 583 h 1379"/>
                <a:gd name="GluePoint48X" fmla="*/ 5413 w 1313"/>
                <a:gd name="GluePoint48Y" fmla="*/ 24 h 1379"/>
                <a:gd name="GluePoint49X" fmla="*/ 4789 w 1313"/>
                <a:gd name="GluePoint49Y" fmla="*/ 2 h 13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9" name="Freeform 14"/>
            <p:cNvSpPr/>
            <p:nvPr/>
          </p:nvSpPr>
          <p:spPr>
            <a:xfrm>
              <a:off x="5115600" y="4236120"/>
              <a:ext cx="1974240" cy="1924560"/>
            </a:xfrm>
            <a:custGeom>
              <a:avLst/>
              <a:gdLst>
                <a:gd name="GluePoint1X" fmla="*/ 1247 w 979"/>
                <a:gd name="GluePoint1Y" fmla="*/ 678 h 1024"/>
                <a:gd name="GluePoint2X" fmla="*/ 1232 w 979"/>
                <a:gd name="GluePoint2Y" fmla="*/ 768 h 1024"/>
                <a:gd name="GluePoint3X" fmla="*/ 1200 w 979"/>
                <a:gd name="GluePoint3Y" fmla="*/ 853 h 1024"/>
                <a:gd name="GluePoint4X" fmla="*/ 1161 w 979"/>
                <a:gd name="GluePoint4Y" fmla="*/ 933 h 1024"/>
                <a:gd name="GluePoint5X" fmla="*/ 1106 w 979"/>
                <a:gd name="GluePoint5Y" fmla="*/ 1005 h 1024"/>
                <a:gd name="GluePoint6X" fmla="*/ 1045 w 979"/>
                <a:gd name="GluePoint6Y" fmla="*/ 1070 h 1024"/>
                <a:gd name="GluePoint7X" fmla="*/ 974 w 979"/>
                <a:gd name="GluePoint7Y" fmla="*/ 1125 h 1024"/>
                <a:gd name="GluePoint8X" fmla="*/ 895 w 979"/>
                <a:gd name="GluePoint8Y" fmla="*/ 1168 h 1024"/>
                <a:gd name="GluePoint9X" fmla="*/ 810 w 979"/>
                <a:gd name="GluePoint9Y" fmla="*/ 1200 h 1024"/>
                <a:gd name="GluePoint10X" fmla="*/ 721 w 979"/>
                <a:gd name="GluePoint10Y" fmla="*/ 1221 h 1024"/>
                <a:gd name="GluePoint11X" fmla="*/ 625 w 979"/>
                <a:gd name="GluePoint11Y" fmla="*/ 1228 h 1024"/>
                <a:gd name="GluePoint12X" fmla="*/ 529 w 979"/>
                <a:gd name="GluePoint12Y" fmla="*/ 1221 h 1024"/>
                <a:gd name="GluePoint13X" fmla="*/ 441 w 979"/>
                <a:gd name="GluePoint13Y" fmla="*/ 1200 h 1024"/>
                <a:gd name="GluePoint14X" fmla="*/ 356 w 979"/>
                <a:gd name="GluePoint14Y" fmla="*/ 1168 h 1024"/>
                <a:gd name="GluePoint15X" fmla="*/ 276 w 979"/>
                <a:gd name="GluePoint15Y" fmla="*/ 1125 h 1024"/>
                <a:gd name="GluePoint16X" fmla="*/ 206 w 979"/>
                <a:gd name="GluePoint16Y" fmla="*/ 1070 h 1024"/>
                <a:gd name="GluePoint17X" fmla="*/ 145 w 979"/>
                <a:gd name="GluePoint17Y" fmla="*/ 1005 h 1024"/>
                <a:gd name="GluePoint18X" fmla="*/ 91 w 979"/>
                <a:gd name="GluePoint18Y" fmla="*/ 933 h 1024"/>
                <a:gd name="GluePoint19X" fmla="*/ 51 w 979"/>
                <a:gd name="GluePoint19Y" fmla="*/ 853 h 1024"/>
                <a:gd name="GluePoint20X" fmla="*/ 19 w 979"/>
                <a:gd name="GluePoint20Y" fmla="*/ 768 h 1024"/>
                <a:gd name="GluePoint21X" fmla="*/ 4 w 979"/>
                <a:gd name="GluePoint21Y" fmla="*/ 678 h 1024"/>
                <a:gd name="GluePoint22X" fmla="*/ 1 w 979"/>
                <a:gd name="GluePoint22Y" fmla="*/ 583 h 1024"/>
                <a:gd name="GluePoint23X" fmla="*/ 14 w 979"/>
                <a:gd name="GluePoint23Y" fmla="*/ 492 h 1024"/>
                <a:gd name="GluePoint24X" fmla="*/ 38 w 979"/>
                <a:gd name="GluePoint24Y" fmla="*/ 404 h 1024"/>
                <a:gd name="GluePoint25X" fmla="*/ 75 w 979"/>
                <a:gd name="GluePoint25Y" fmla="*/ 323 h 1024"/>
                <a:gd name="GluePoint26X" fmla="*/ 124 w 979"/>
                <a:gd name="GluePoint26Y" fmla="*/ 247 h 1024"/>
                <a:gd name="GluePoint27X" fmla="*/ 184 w 979"/>
                <a:gd name="GluePoint27Y" fmla="*/ 180 h 1024"/>
                <a:gd name="GluePoint28X" fmla="*/ 252 w 979"/>
                <a:gd name="GluePoint28Y" fmla="*/ 122 h 1024"/>
                <a:gd name="GluePoint29X" fmla="*/ 329 w 979"/>
                <a:gd name="GluePoint29Y" fmla="*/ 74 h 1024"/>
                <a:gd name="GluePoint30X" fmla="*/ 412 w 979"/>
                <a:gd name="GluePoint30Y" fmla="*/ 37 h 1024"/>
                <a:gd name="GluePoint31X" fmla="*/ 500 w 979"/>
                <a:gd name="GluePoint31Y" fmla="*/ 12 h 1024"/>
                <a:gd name="GluePoint32X" fmla="*/ 593 w 979"/>
                <a:gd name="GluePoint32Y" fmla="*/ 0 h 1024"/>
                <a:gd name="GluePoint33X" fmla="*/ 689 w 979"/>
                <a:gd name="GluePoint33Y" fmla="*/ 2 h 1024"/>
                <a:gd name="GluePoint34X" fmla="*/ 780 w 979"/>
                <a:gd name="GluePoint34Y" fmla="*/ 19 h 1024"/>
                <a:gd name="GluePoint35X" fmla="*/ 868 w 979"/>
                <a:gd name="GluePoint35Y" fmla="*/ 49 h 1024"/>
                <a:gd name="GluePoint36X" fmla="*/ 949 w 979"/>
                <a:gd name="GluePoint36Y" fmla="*/ 90 h 1024"/>
                <a:gd name="GluePoint37X" fmla="*/ 1023 w 979"/>
                <a:gd name="GluePoint37Y" fmla="*/ 142 h 1024"/>
                <a:gd name="GluePoint38X" fmla="*/ 1087 w 979"/>
                <a:gd name="GluePoint38Y" fmla="*/ 201 h 1024"/>
                <a:gd name="GluePoint39X" fmla="*/ 1143 w 979"/>
                <a:gd name="GluePoint39Y" fmla="*/ 272 h 1024"/>
                <a:gd name="GluePoint40X" fmla="*/ 1188 w 979"/>
                <a:gd name="GluePoint40Y" fmla="*/ 348 h 1024"/>
                <a:gd name="GluePoint41X" fmla="*/ 1223 w 979"/>
                <a:gd name="GluePoint41Y" fmla="*/ 432 h 1024"/>
                <a:gd name="GluePoint42X" fmla="*/ 1244 w 979"/>
                <a:gd name="GluePoint42Y" fmla="*/ 522 h 1024"/>
                <a:gd name="GluePoint43X" fmla="*/ 1252 w 979"/>
                <a:gd name="GluePoint43Y" fmla="*/ 613 h 10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l" t="t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blipFill rotWithShape="0">
              <a:blip r:embed="rId8">
                <a:alphaModFix amt="67000"/>
              </a:blip>
              <a:srcRect/>
              <a:stretch/>
            </a:blip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pic>
        <p:nvPicPr>
          <p:cNvPr id="1750" name="Picture 15" descr=""/>
          <p:cNvPicPr/>
          <p:nvPr/>
        </p:nvPicPr>
        <p:blipFill>
          <a:blip r:embed="rId9">
            <a:lum contrast="18000"/>
          </a:blip>
          <a:srcRect l="24121" t="45581" r="70419" b="27791"/>
          <a:stretch/>
        </p:blipFill>
        <p:spPr>
          <a:xfrm>
            <a:off x="3454560" y="2637000"/>
            <a:ext cx="1261800" cy="360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1" name="Text Box 16"/>
          <p:cNvSpPr/>
          <p:nvPr/>
        </p:nvSpPr>
        <p:spPr>
          <a:xfrm>
            <a:off x="748080" y="2637000"/>
            <a:ext cx="236304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Chaleur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⇒ sudation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⇒ perte hydrique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⇒ perte sodium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?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Text Box 17"/>
          <p:cNvSpPr/>
          <p:nvPr/>
        </p:nvSpPr>
        <p:spPr>
          <a:xfrm>
            <a:off x="2341440" y="620640"/>
            <a:ext cx="154656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Épuisement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 réserves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 glucides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= baisse ATP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Text Box 18"/>
          <p:cNvSpPr/>
          <p:nvPr/>
        </p:nvSpPr>
        <p:spPr>
          <a:xfrm>
            <a:off x="4573080" y="549360"/>
            <a:ext cx="14389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Disfonction-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nement des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pompes à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calcium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 à sodium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Text Box 19"/>
          <p:cNvSpPr/>
          <p:nvPr/>
        </p:nvSpPr>
        <p:spPr>
          <a:xfrm>
            <a:off x="5293800" y="4600440"/>
            <a:ext cx="18327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Problème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d’élimination de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l’acétylcholine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55" name="Group 20"/>
          <p:cNvGrpSpPr/>
          <p:nvPr/>
        </p:nvGrpSpPr>
        <p:grpSpPr>
          <a:xfrm>
            <a:off x="5796000" y="1700280"/>
            <a:ext cx="2448000" cy="2592360"/>
            <a:chOff x="5796000" y="1700280"/>
            <a:chExt cx="2448000" cy="2592360"/>
          </a:xfrm>
        </p:grpSpPr>
        <p:sp>
          <p:nvSpPr>
            <p:cNvPr id="1756" name="Freeform 21"/>
            <p:cNvSpPr/>
            <p:nvPr/>
          </p:nvSpPr>
          <p:spPr>
            <a:xfrm>
              <a:off x="5796000" y="1700280"/>
              <a:ext cx="2448000" cy="2592360"/>
            </a:xfrm>
            <a:custGeom>
              <a:avLst/>
              <a:gdLst>
                <a:gd name="GluePoint1X" fmla="*/ 4682 w 1313"/>
                <a:gd name="GluePoint1Y" fmla="*/ 540 h 1379"/>
                <a:gd name="GluePoint2X" fmla="*/ 4210 w 1313"/>
                <a:gd name="GluePoint2Y" fmla="*/ 24 h 1379"/>
                <a:gd name="GluePoint3X" fmla="*/ 3642 w 1313"/>
                <a:gd name="GluePoint3Y" fmla="*/ 661 h 1379"/>
                <a:gd name="GluePoint4X" fmla="*/ 2953 w 1313"/>
                <a:gd name="GluePoint4Y" fmla="*/ 258 h 1379"/>
                <a:gd name="GluePoint5X" fmla="*/ 2660 w 1313"/>
                <a:gd name="GluePoint5Y" fmla="*/ 937 h 1379"/>
                <a:gd name="GluePoint6X" fmla="*/ 1833 w 1313"/>
                <a:gd name="GluePoint6Y" fmla="*/ 625 h 1379"/>
                <a:gd name="GluePoint7X" fmla="*/ 1912 w 1313"/>
                <a:gd name="GluePoint7Y" fmla="*/ 1312 h 1379"/>
                <a:gd name="GluePoint8X" fmla="*/ 1039 w 1313"/>
                <a:gd name="GluePoint8Y" fmla="*/ 1133 h 1379"/>
                <a:gd name="GluePoint9X" fmla="*/ 1351 w 1313"/>
                <a:gd name="GluePoint9Y" fmla="*/ 1809 h 1379"/>
                <a:gd name="GluePoint10X" fmla="*/ 370 w 1313"/>
                <a:gd name="GluePoint10Y" fmla="*/ 1788 h 1379"/>
                <a:gd name="GluePoint11X" fmla="*/ 1001 w 1313"/>
                <a:gd name="GluePoint11Y" fmla="*/ 2419 h 1379"/>
                <a:gd name="GluePoint12X" fmla="*/ 17 w 1313"/>
                <a:gd name="GluePoint12Y" fmla="*/ 2537 h 1379"/>
                <a:gd name="GluePoint13X" fmla="*/ 882 w 1313"/>
                <a:gd name="GluePoint13Y" fmla="*/ 3011 h 1379"/>
                <a:gd name="GluePoint14X" fmla="*/ 0 w 1313"/>
                <a:gd name="GluePoint14Y" fmla="*/ 3325 h 1379"/>
                <a:gd name="GluePoint15X" fmla="*/ 1096 w 1313"/>
                <a:gd name="GluePoint15Y" fmla="*/ 3663 h 1379"/>
                <a:gd name="GluePoint16X" fmla="*/ 422 w 1313"/>
                <a:gd name="GluePoint16Y" fmla="*/ 4082 h 1379"/>
                <a:gd name="GluePoint17X" fmla="*/ 1584 w 1313"/>
                <a:gd name="GluePoint17Y" fmla="*/ 4236 h 1379"/>
                <a:gd name="GluePoint18X" fmla="*/ 1063 w 1313"/>
                <a:gd name="GluePoint18Y" fmla="*/ 4768 h 1379"/>
                <a:gd name="GluePoint19X" fmla="*/ 2276 w 1313"/>
                <a:gd name="GluePoint19Y" fmla="*/ 4740 h 1379"/>
                <a:gd name="GluePoint20X" fmla="*/ 1895 w 1313"/>
                <a:gd name="GluePoint20Y" fmla="*/ 5288 h 1379"/>
                <a:gd name="GluePoint21X" fmla="*/ 3114 w 1313"/>
                <a:gd name="GluePoint21Y" fmla="*/ 5065 h 1379"/>
                <a:gd name="GluePoint22X" fmla="*/ 3083 w 1313"/>
                <a:gd name="GluePoint22Y" fmla="*/ 5691 h 1379"/>
                <a:gd name="GluePoint23X" fmla="*/ 4178 w 1313"/>
                <a:gd name="GluePoint23Y" fmla="*/ 5281 h 1379"/>
                <a:gd name="GluePoint24X" fmla="*/ 4399 w 1313"/>
                <a:gd name="GluePoint24Y" fmla="*/ 5881 h 1379"/>
                <a:gd name="GluePoint25X" fmla="*/ 5153 w 1313"/>
                <a:gd name="GluePoint25Y" fmla="*/ 5304 h 1379"/>
                <a:gd name="GluePoint26X" fmla="*/ 5633 w 1313"/>
                <a:gd name="GluePoint26Y" fmla="*/ 5864 h 1379"/>
                <a:gd name="GluePoint27X" fmla="*/ 6185 w 1313"/>
                <a:gd name="GluePoint27Y" fmla="*/ 5180 h 1379"/>
                <a:gd name="GluePoint28X" fmla="*/ 6948 w 1313"/>
                <a:gd name="GluePoint28Y" fmla="*/ 5638 h 1379"/>
                <a:gd name="GluePoint29X" fmla="*/ 7150 w 1313"/>
                <a:gd name="GluePoint29Y" fmla="*/ 4913 h 1379"/>
                <a:gd name="GluePoint30X" fmla="*/ 8042 w 1313"/>
                <a:gd name="GluePoint30Y" fmla="*/ 5244 h 1379"/>
                <a:gd name="GluePoint31X" fmla="*/ 7882 w 1313"/>
                <a:gd name="GluePoint31Y" fmla="*/ 4507 h 1379"/>
                <a:gd name="GluePoint32X" fmla="*/ 8828 w 1313"/>
                <a:gd name="GluePoint32Y" fmla="*/ 4731 h 1379"/>
                <a:gd name="GluePoint33X" fmla="*/ 8482 w 1313"/>
                <a:gd name="GluePoint33Y" fmla="*/ 4020 h 1379"/>
                <a:gd name="GluePoint34X" fmla="*/ 9472 w 1313"/>
                <a:gd name="GluePoint34Y" fmla="*/ 4088 h 1379"/>
                <a:gd name="GluePoint35X" fmla="*/ 8795 w 1313"/>
                <a:gd name="GluePoint35Y" fmla="*/ 3434 h 1379"/>
                <a:gd name="GluePoint36X" fmla="*/ 9812 w 1313"/>
                <a:gd name="GluePoint36Y" fmla="*/ 3332 h 1379"/>
                <a:gd name="GluePoint37X" fmla="*/ 8938 w 1313"/>
                <a:gd name="GluePoint37Y" fmla="*/ 2833 h 1379"/>
                <a:gd name="GluePoint38X" fmla="*/ 9755 w 1313"/>
                <a:gd name="GluePoint38Y" fmla="*/ 2537 h 1379"/>
                <a:gd name="GluePoint39X" fmla="*/ 8719 w 1313"/>
                <a:gd name="GluePoint39Y" fmla="*/ 2181 h 1379"/>
                <a:gd name="GluePoint40X" fmla="*/ 9448 w 1313"/>
                <a:gd name="GluePoint40Y" fmla="*/ 1760 h 1379"/>
                <a:gd name="GluePoint41X" fmla="*/ 8264 w 1313"/>
                <a:gd name="GluePoint41Y" fmla="*/ 1608 h 1379"/>
                <a:gd name="GluePoint42X" fmla="*/ 8749 w 1313"/>
                <a:gd name="GluePoint42Y" fmla="*/ 1099 h 1379"/>
                <a:gd name="GluePoint43X" fmla="*/ 7574 w 1313"/>
                <a:gd name="GluePoint43Y" fmla="*/ 1144 h 1379"/>
                <a:gd name="GluePoint44X" fmla="*/ 7812 w 1313"/>
                <a:gd name="GluePoint44Y" fmla="*/ 583 h 1379"/>
                <a:gd name="GluePoint45X" fmla="*/ 6720 w 1313"/>
                <a:gd name="GluePoint45Y" fmla="*/ 795 h 1379"/>
                <a:gd name="GluePoint46X" fmla="*/ 6735 w 1313"/>
                <a:gd name="GluePoint46Y" fmla="*/ 215 h 1379"/>
                <a:gd name="GluePoint47X" fmla="*/ 5655 w 1313"/>
                <a:gd name="GluePoint47Y" fmla="*/ 583 h 1379"/>
                <a:gd name="GluePoint48X" fmla="*/ 5413 w 1313"/>
                <a:gd name="GluePoint48Y" fmla="*/ 24 h 1379"/>
                <a:gd name="GluePoint49X" fmla="*/ 4789 w 1313"/>
                <a:gd name="GluePoint49Y" fmla="*/ 2 h 13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l" t="t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936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7" name="Freeform 22"/>
            <p:cNvSpPr/>
            <p:nvPr/>
          </p:nvSpPr>
          <p:spPr>
            <a:xfrm>
              <a:off x="6097320" y="2002680"/>
              <a:ext cx="1824840" cy="1924560"/>
            </a:xfrm>
            <a:custGeom>
              <a:avLst/>
              <a:gdLst>
                <a:gd name="GluePoint1X" fmla="*/ 7296 w 979"/>
                <a:gd name="GluePoint1Y" fmla="*/ 2418 h 1024"/>
                <a:gd name="GluePoint2X" fmla="*/ 7199 w 979"/>
                <a:gd name="GluePoint2Y" fmla="*/ 2738 h 1024"/>
                <a:gd name="GluePoint3X" fmla="*/ 7019 w 979"/>
                <a:gd name="GluePoint3Y" fmla="*/ 3041 h 1024"/>
                <a:gd name="GluePoint4X" fmla="*/ 6797 w 979"/>
                <a:gd name="GluePoint4Y" fmla="*/ 3328 h 1024"/>
                <a:gd name="GluePoint5X" fmla="*/ 6469 w 979"/>
                <a:gd name="GluePoint5Y" fmla="*/ 3583 h 1024"/>
                <a:gd name="GluePoint6X" fmla="*/ 6118 w 979"/>
                <a:gd name="GluePoint6Y" fmla="*/ 3818 h 1024"/>
                <a:gd name="GluePoint7X" fmla="*/ 5697 w 979"/>
                <a:gd name="GluePoint7Y" fmla="*/ 4011 h 1024"/>
                <a:gd name="GluePoint8X" fmla="*/ 5234 w 979"/>
                <a:gd name="GluePoint8Y" fmla="*/ 4166 h 1024"/>
                <a:gd name="GluePoint9X" fmla="*/ 4735 w 979"/>
                <a:gd name="GluePoint9Y" fmla="*/ 4280 h 1024"/>
                <a:gd name="GluePoint10X" fmla="*/ 4217 w 979"/>
                <a:gd name="GluePoint10Y" fmla="*/ 4356 h 1024"/>
                <a:gd name="GluePoint11X" fmla="*/ 3656 w 979"/>
                <a:gd name="GluePoint11Y" fmla="*/ 4381 h 1024"/>
                <a:gd name="GluePoint12X" fmla="*/ 3095 w 979"/>
                <a:gd name="GluePoint12Y" fmla="*/ 4356 h 1024"/>
                <a:gd name="GluePoint13X" fmla="*/ 2581 w 979"/>
                <a:gd name="GluePoint13Y" fmla="*/ 4280 h 1024"/>
                <a:gd name="GluePoint14X" fmla="*/ 2082 w 979"/>
                <a:gd name="GluePoint14Y" fmla="*/ 4166 h 1024"/>
                <a:gd name="GluePoint15X" fmla="*/ 1619 w 979"/>
                <a:gd name="GluePoint15Y" fmla="*/ 4011 h 1024"/>
                <a:gd name="GluePoint16X" fmla="*/ 1204 w 979"/>
                <a:gd name="GluePoint16Y" fmla="*/ 3818 h 1024"/>
                <a:gd name="GluePoint17X" fmla="*/ 840 w 979"/>
                <a:gd name="GluePoint17Y" fmla="*/ 3583 h 1024"/>
                <a:gd name="GluePoint18X" fmla="*/ 527 w 979"/>
                <a:gd name="GluePoint18Y" fmla="*/ 3328 h 1024"/>
                <a:gd name="GluePoint19X" fmla="*/ 297 w 979"/>
                <a:gd name="GluePoint19Y" fmla="*/ 3041 h 1024"/>
                <a:gd name="GluePoint20X" fmla="*/ 109 w 979"/>
                <a:gd name="GluePoint20Y" fmla="*/ 2738 h 1024"/>
                <a:gd name="GluePoint21X" fmla="*/ 22 w 979"/>
                <a:gd name="GluePoint21Y" fmla="*/ 2418 h 1024"/>
                <a:gd name="GluePoint22X" fmla="*/ 1 w 979"/>
                <a:gd name="GluePoint22Y" fmla="*/ 2078 h 1024"/>
                <a:gd name="GluePoint23X" fmla="*/ 82 w 979"/>
                <a:gd name="GluePoint23Y" fmla="*/ 1756 h 1024"/>
                <a:gd name="GluePoint24X" fmla="*/ 224 w 979"/>
                <a:gd name="GluePoint24Y" fmla="*/ 1439 h 1024"/>
                <a:gd name="GluePoint25X" fmla="*/ 441 w 979"/>
                <a:gd name="GluePoint25Y" fmla="*/ 1150 h 1024"/>
                <a:gd name="GluePoint26X" fmla="*/ 728 w 979"/>
                <a:gd name="GluePoint26Y" fmla="*/ 881 h 1024"/>
                <a:gd name="GluePoint27X" fmla="*/ 1078 w 979"/>
                <a:gd name="GluePoint27Y" fmla="*/ 643 h 1024"/>
                <a:gd name="GluePoint28X" fmla="*/ 1472 w 979"/>
                <a:gd name="GluePoint28Y" fmla="*/ 434 h 1024"/>
                <a:gd name="GluePoint29X" fmla="*/ 1928 w 979"/>
                <a:gd name="GluePoint29Y" fmla="*/ 266 h 1024"/>
                <a:gd name="GluePoint30X" fmla="*/ 2407 w 979"/>
                <a:gd name="GluePoint30Y" fmla="*/ 132 h 1024"/>
                <a:gd name="GluePoint31X" fmla="*/ 2927 w 979"/>
                <a:gd name="GluePoint31Y" fmla="*/ 42 h 1024"/>
                <a:gd name="GluePoint32X" fmla="*/ 3477 w 979"/>
                <a:gd name="GluePoint32Y" fmla="*/ 0 h 1024"/>
                <a:gd name="GluePoint33X" fmla="*/ 4032 w 979"/>
                <a:gd name="GluePoint33Y" fmla="*/ 2 h 1024"/>
                <a:gd name="GluePoint34X" fmla="*/ 4560 w 979"/>
                <a:gd name="GluePoint34Y" fmla="*/ 71 h 1024"/>
                <a:gd name="GluePoint35X" fmla="*/ 5078 w 979"/>
                <a:gd name="GluePoint35Y" fmla="*/ 175 h 1024"/>
                <a:gd name="GluePoint36X" fmla="*/ 5549 w 979"/>
                <a:gd name="GluePoint36Y" fmla="*/ 323 h 1024"/>
                <a:gd name="GluePoint37X" fmla="*/ 5980 w 979"/>
                <a:gd name="GluePoint37Y" fmla="*/ 507 h 1024"/>
                <a:gd name="GluePoint38X" fmla="*/ 6359 w 979"/>
                <a:gd name="GluePoint38Y" fmla="*/ 717 h 1024"/>
                <a:gd name="GluePoint39X" fmla="*/ 6691 w 979"/>
                <a:gd name="GluePoint39Y" fmla="*/ 969 h 1024"/>
                <a:gd name="GluePoint40X" fmla="*/ 6952 w 979"/>
                <a:gd name="GluePoint40Y" fmla="*/ 1241 h 1024"/>
                <a:gd name="GluePoint41X" fmla="*/ 7151 w 979"/>
                <a:gd name="GluePoint41Y" fmla="*/ 1540 h 1024"/>
                <a:gd name="GluePoint42X" fmla="*/ 7279 w 979"/>
                <a:gd name="GluePoint42Y" fmla="*/ 1862 h 1024"/>
                <a:gd name="GluePoint43X" fmla="*/ 7323 w 979"/>
                <a:gd name="GluePoint43Y" fmla="*/ 2187 h 10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l" t="t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936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58" name="Text Box 23"/>
          <p:cNvSpPr/>
          <p:nvPr/>
        </p:nvSpPr>
        <p:spPr>
          <a:xfrm>
            <a:off x="6076440" y="2276640"/>
            <a:ext cx="2023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Perturbation des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informations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sensitives : appar.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Golgi, réflexe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myotatique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Text Box 24"/>
          <p:cNvSpPr/>
          <p:nvPr/>
        </p:nvSpPr>
        <p:spPr>
          <a:xfrm>
            <a:off x="3483000" y="5032440"/>
            <a:ext cx="1171440" cy="368280"/>
          </a:xfrm>
          <a:prstGeom prst="rect">
            <a:avLst/>
          </a:prstGeom>
          <a:solidFill>
            <a:srgbClr val="333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CRAMPE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05" dur="indefinite" restart="never" nodeType="tmRoot">
          <p:childTnLst>
            <p:seq>
              <p:cTn id="3206" dur="indefinite" nodeType="mainSeq">
                <p:childTnLst>
                  <p:par>
                    <p:cTn id="3207" nodeType="clickEffect" fill="hold">
                      <p:stCondLst>
                        <p:cond delay="indefinite"/>
                      </p:stCondLst>
                      <p:childTnLst>
                        <p:par>
                          <p:cTn id="32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09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10" dur="2000" fill="hold"/>
                                        <p:tgtEl>
                                          <p:spTgt spid="17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1" nodeType="clickEffect" fill="hold">
                      <p:stCondLst>
                        <p:cond delay="indefinite"/>
                      </p:stCondLst>
                      <p:childTnLst>
                        <p:par>
                          <p:cTn id="32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13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14" dur="2000" fill="hold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5" nodeType="clickEffect" fill="hold">
                      <p:stCondLst>
                        <p:cond delay="indefinite"/>
                      </p:stCondLst>
                      <p:childTnLst>
                        <p:par>
                          <p:cTn id="3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17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18" dur="2000" fill="hold"/>
                                        <p:tgtEl>
                                          <p:spTgt spid="17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9" nodeType="clickEffect" fill="hold">
                      <p:stCondLst>
                        <p:cond delay="indefinite"/>
                      </p:stCondLst>
                      <p:childTnLst>
                        <p:par>
                          <p:cTn id="32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1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22" dur="20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3" nodeType="clickEffect" fill="hold">
                      <p:stCondLst>
                        <p:cond delay="indefinite"/>
                      </p:stCondLst>
                      <p:childTnLst>
                        <p:par>
                          <p:cTn id="32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5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26" dur="2000" fill="hold"/>
                                        <p:tgtEl>
                                          <p:spTgt spid="17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C5B439-E644-49BA-8220-DD167E72782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PlaceHolder 1"/>
          <p:cNvSpPr>
            <a:spLocks noGrp="1"/>
          </p:cNvSpPr>
          <p:nvPr>
            <p:ph type="title"/>
          </p:nvPr>
        </p:nvSpPr>
        <p:spPr>
          <a:xfrm>
            <a:off x="1440" y="380520"/>
            <a:ext cx="9142560" cy="8384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5.3 LE LACTATE DONNE-T-IL DES COURBATURE ?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PlaceHolder 2"/>
          <p:cNvSpPr>
            <a:spLocks noGrp="1"/>
          </p:cNvSpPr>
          <p:nvPr>
            <p:ph/>
          </p:nvPr>
        </p:nvSpPr>
        <p:spPr>
          <a:xfrm>
            <a:off x="-360" y="1294920"/>
            <a:ext cx="8839080" cy="44197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Comme pour les crampes, les douleurs musculaires retardées peuvent se développer parfois lorsque l’accumulation de lactate a été importante (nageur entraîné qui court un 400m) sans qu’il y ait de relation cause à effet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Elles peuvent être obtenues sans qu’il y ait eu accumulation de lactate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(travaux de Schwane et Coll., 1983)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bien des cas, elles ne se développent pas même si beaucoup de lactate a été accumulé (coureurs de 400-800m)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3227" dur="indefinite" restart="never" nodeType="tmRoot">
          <p:childTnLst>
            <p:seq>
              <p:cTn id="3228" dur="indefinite" nodeType="mainSeq">
                <p:childTnLst>
                  <p:par>
                    <p:cTn id="3229" nodeType="clickEffect" fill="hold">
                      <p:stCondLst>
                        <p:cond delay="0"/>
                      </p:stCondLst>
                      <p:childTnLst>
                        <p:par>
                          <p:cTn id="32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1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3" dur="3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4" dur="300" fill="hold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5" nodeType="afterEffect" fill="hold">
                            <p:stCondLst>
                              <p:cond delay="2100"/>
                            </p:stCondLst>
                            <p:childTnLst>
                              <p:par>
                                <p:cTn id="3236" nodeType="afterEffect" fill="hold" presetClass="entr" presetID="2" presetSubtype="1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8" dur="300" fill="hold"/>
                                        <p:tgtEl>
                                          <p:spTgt spid="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9" dur="300" fill="hold"/>
                                        <p:tgtEl>
                                          <p:spTgt spid="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0" nodeType="afterEffect" fill="hold">
                            <p:stCondLst>
                              <p:cond delay="13200"/>
                            </p:stCondLst>
                            <p:childTnLst>
                              <p:par>
                                <p:cTn id="3241" nodeType="afterEffect" fill="hold" presetClass="entr" presetID="2" presetSubtype="1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3" dur="300" fill="hold"/>
                                        <p:tgtEl>
                                          <p:spTgt spid="1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4" dur="300" fill="hold"/>
                                        <p:tgtEl>
                                          <p:spTgt spid="1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5" nodeType="afterEffect" fill="hold">
                            <p:stCondLst>
                              <p:cond delay="19500"/>
                            </p:stCondLst>
                            <p:childTnLst>
                              <p:par>
                                <p:cTn id="3246" nodeType="afterEffect" fill="hold" presetClass="entr" presetID="2" presetSubtype="1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8" dur="300" fill="hold"/>
                                        <p:tgtEl>
                                          <p:spTgt spid="1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9" dur="300" fill="hold"/>
                                        <p:tgtEl>
                                          <p:spTgt spid="1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678507-F5EA-4B1E-8C53-8C8F0595D48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Rectangle 2"/>
          <p:cNvSpPr/>
          <p:nvPr/>
        </p:nvSpPr>
        <p:spPr>
          <a:xfrm>
            <a:off x="152280" y="2438280"/>
            <a:ext cx="8610840" cy="2468520"/>
          </a:xfrm>
          <a:prstGeom prst="rect">
            <a:avLst/>
          </a:prstGeom>
          <a:solidFill>
            <a:srgbClr val="ff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3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Les courbatures n’ont rien à voir avec l’accumulation de lactate. Elles se développent presque inévitablement, même chez le sujet entraîné, après un exercice inhabituel. Elles sont sans doute dues à des microtraumatismes et à des lésions du tissu musculaire ou conjonctif.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Text Box 3"/>
          <p:cNvSpPr/>
          <p:nvPr/>
        </p:nvSpPr>
        <p:spPr>
          <a:xfrm>
            <a:off x="3126240" y="1600200"/>
            <a:ext cx="3076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CONSEQUENCE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50" dur="indefinite" restart="never" nodeType="tmRoot">
          <p:childTnLst>
            <p:seq>
              <p:cTn id="3251" dur="indefinite" nodeType="mainSeq">
                <p:childTnLst>
                  <p:par>
                    <p:cTn id="3252" nodeType="clickEffect" fill="hold">
                      <p:stCondLst>
                        <p:cond delay="0"/>
                      </p:stCondLst>
                      <p:childTnLst>
                        <p:par>
                          <p:cTn id="3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5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257" nodeType="afterEffect" fill="hold" presetClass="entr" presetID="2" presetSubtype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9" dur="300" fill="hold"/>
                                        <p:tgtEl>
                                          <p:spTgt spid="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0" dur="300" fill="hold"/>
                                        <p:tgtEl>
                                          <p:spTgt spid="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45D1A6-60D3-411F-AA5E-6C1172ABE93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Oval 2"/>
          <p:cNvSpPr/>
          <p:nvPr/>
        </p:nvSpPr>
        <p:spPr>
          <a:xfrm>
            <a:off x="42670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Freeform 3"/>
          <p:cNvSpPr/>
          <p:nvPr/>
        </p:nvSpPr>
        <p:spPr>
          <a:xfrm>
            <a:off x="42688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Oval 4"/>
          <p:cNvSpPr/>
          <p:nvPr/>
        </p:nvSpPr>
        <p:spPr>
          <a:xfrm>
            <a:off x="44197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Freeform 5"/>
          <p:cNvSpPr/>
          <p:nvPr/>
        </p:nvSpPr>
        <p:spPr>
          <a:xfrm>
            <a:off x="44211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Oval 6"/>
          <p:cNvSpPr/>
          <p:nvPr/>
        </p:nvSpPr>
        <p:spPr>
          <a:xfrm>
            <a:off x="45720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Freeform 7"/>
          <p:cNvSpPr/>
          <p:nvPr/>
        </p:nvSpPr>
        <p:spPr>
          <a:xfrm>
            <a:off x="45734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Oval 8"/>
          <p:cNvSpPr/>
          <p:nvPr/>
        </p:nvSpPr>
        <p:spPr>
          <a:xfrm>
            <a:off x="47242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Freeform 9"/>
          <p:cNvSpPr/>
          <p:nvPr/>
        </p:nvSpPr>
        <p:spPr>
          <a:xfrm>
            <a:off x="47260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Oval 10"/>
          <p:cNvSpPr/>
          <p:nvPr/>
        </p:nvSpPr>
        <p:spPr>
          <a:xfrm>
            <a:off x="48769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Freeform 11"/>
          <p:cNvSpPr/>
          <p:nvPr/>
        </p:nvSpPr>
        <p:spPr>
          <a:xfrm>
            <a:off x="48783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Oval 12"/>
          <p:cNvSpPr/>
          <p:nvPr/>
        </p:nvSpPr>
        <p:spPr>
          <a:xfrm>
            <a:off x="50292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Freeform 13"/>
          <p:cNvSpPr/>
          <p:nvPr/>
        </p:nvSpPr>
        <p:spPr>
          <a:xfrm>
            <a:off x="50306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Oval 14"/>
          <p:cNvSpPr/>
          <p:nvPr/>
        </p:nvSpPr>
        <p:spPr>
          <a:xfrm>
            <a:off x="51814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Freeform 15"/>
          <p:cNvSpPr/>
          <p:nvPr/>
        </p:nvSpPr>
        <p:spPr>
          <a:xfrm>
            <a:off x="51832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Oval 16"/>
          <p:cNvSpPr/>
          <p:nvPr/>
        </p:nvSpPr>
        <p:spPr>
          <a:xfrm>
            <a:off x="53341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Freeform 17"/>
          <p:cNvSpPr/>
          <p:nvPr/>
        </p:nvSpPr>
        <p:spPr>
          <a:xfrm>
            <a:off x="53355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Oval 18"/>
          <p:cNvSpPr/>
          <p:nvPr/>
        </p:nvSpPr>
        <p:spPr>
          <a:xfrm>
            <a:off x="59436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Freeform 19"/>
          <p:cNvSpPr/>
          <p:nvPr/>
        </p:nvSpPr>
        <p:spPr>
          <a:xfrm>
            <a:off x="59450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Oval 20"/>
          <p:cNvSpPr/>
          <p:nvPr/>
        </p:nvSpPr>
        <p:spPr>
          <a:xfrm>
            <a:off x="60958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Freeform 21"/>
          <p:cNvSpPr/>
          <p:nvPr/>
        </p:nvSpPr>
        <p:spPr>
          <a:xfrm>
            <a:off x="60976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Oval 22"/>
          <p:cNvSpPr/>
          <p:nvPr/>
        </p:nvSpPr>
        <p:spPr>
          <a:xfrm>
            <a:off x="62485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Freeform 23"/>
          <p:cNvSpPr/>
          <p:nvPr/>
        </p:nvSpPr>
        <p:spPr>
          <a:xfrm>
            <a:off x="62499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Oval 24"/>
          <p:cNvSpPr/>
          <p:nvPr/>
        </p:nvSpPr>
        <p:spPr>
          <a:xfrm>
            <a:off x="64008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Freeform 25"/>
          <p:cNvSpPr/>
          <p:nvPr/>
        </p:nvSpPr>
        <p:spPr>
          <a:xfrm>
            <a:off x="64022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Oval 26"/>
          <p:cNvSpPr/>
          <p:nvPr/>
        </p:nvSpPr>
        <p:spPr>
          <a:xfrm>
            <a:off x="65530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Freeform 27"/>
          <p:cNvSpPr/>
          <p:nvPr/>
        </p:nvSpPr>
        <p:spPr>
          <a:xfrm>
            <a:off x="65548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Oval 28"/>
          <p:cNvSpPr/>
          <p:nvPr/>
        </p:nvSpPr>
        <p:spPr>
          <a:xfrm>
            <a:off x="67057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Freeform 29"/>
          <p:cNvSpPr/>
          <p:nvPr/>
        </p:nvSpPr>
        <p:spPr>
          <a:xfrm>
            <a:off x="67071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Oval 30"/>
          <p:cNvSpPr/>
          <p:nvPr/>
        </p:nvSpPr>
        <p:spPr>
          <a:xfrm>
            <a:off x="68580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Freeform 31"/>
          <p:cNvSpPr/>
          <p:nvPr/>
        </p:nvSpPr>
        <p:spPr>
          <a:xfrm>
            <a:off x="6858000" y="266544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Oval 32"/>
          <p:cNvSpPr/>
          <p:nvPr/>
        </p:nvSpPr>
        <p:spPr>
          <a:xfrm>
            <a:off x="17524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Freeform 33"/>
          <p:cNvSpPr/>
          <p:nvPr/>
        </p:nvSpPr>
        <p:spPr>
          <a:xfrm>
            <a:off x="17542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Oval 34"/>
          <p:cNvSpPr/>
          <p:nvPr/>
        </p:nvSpPr>
        <p:spPr>
          <a:xfrm>
            <a:off x="19051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Freeform 35"/>
          <p:cNvSpPr/>
          <p:nvPr/>
        </p:nvSpPr>
        <p:spPr>
          <a:xfrm>
            <a:off x="19065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Oval 36"/>
          <p:cNvSpPr/>
          <p:nvPr/>
        </p:nvSpPr>
        <p:spPr>
          <a:xfrm>
            <a:off x="20574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Freeform 37"/>
          <p:cNvSpPr/>
          <p:nvPr/>
        </p:nvSpPr>
        <p:spPr>
          <a:xfrm>
            <a:off x="20588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Oval 38"/>
          <p:cNvSpPr/>
          <p:nvPr/>
        </p:nvSpPr>
        <p:spPr>
          <a:xfrm>
            <a:off x="22096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Freeform 39"/>
          <p:cNvSpPr/>
          <p:nvPr/>
        </p:nvSpPr>
        <p:spPr>
          <a:xfrm>
            <a:off x="22114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Oval 40"/>
          <p:cNvSpPr/>
          <p:nvPr/>
        </p:nvSpPr>
        <p:spPr>
          <a:xfrm>
            <a:off x="23623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Freeform 41"/>
          <p:cNvSpPr/>
          <p:nvPr/>
        </p:nvSpPr>
        <p:spPr>
          <a:xfrm>
            <a:off x="23637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Oval 42"/>
          <p:cNvSpPr/>
          <p:nvPr/>
        </p:nvSpPr>
        <p:spPr>
          <a:xfrm>
            <a:off x="25146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Freeform 43"/>
          <p:cNvSpPr/>
          <p:nvPr/>
        </p:nvSpPr>
        <p:spPr>
          <a:xfrm>
            <a:off x="25160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Oval 44"/>
          <p:cNvSpPr/>
          <p:nvPr/>
        </p:nvSpPr>
        <p:spPr>
          <a:xfrm>
            <a:off x="26668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Freeform 45"/>
          <p:cNvSpPr/>
          <p:nvPr/>
        </p:nvSpPr>
        <p:spPr>
          <a:xfrm>
            <a:off x="2666880" y="266544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Oval 46"/>
          <p:cNvSpPr/>
          <p:nvPr/>
        </p:nvSpPr>
        <p:spPr>
          <a:xfrm>
            <a:off x="42670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Freeform 47"/>
          <p:cNvSpPr/>
          <p:nvPr/>
        </p:nvSpPr>
        <p:spPr>
          <a:xfrm>
            <a:off x="42688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Oval 48"/>
          <p:cNvSpPr/>
          <p:nvPr/>
        </p:nvSpPr>
        <p:spPr>
          <a:xfrm>
            <a:off x="44197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Freeform 49"/>
          <p:cNvSpPr/>
          <p:nvPr/>
        </p:nvSpPr>
        <p:spPr>
          <a:xfrm>
            <a:off x="44211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Oval 50"/>
          <p:cNvSpPr/>
          <p:nvPr/>
        </p:nvSpPr>
        <p:spPr>
          <a:xfrm>
            <a:off x="45720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Freeform 51"/>
          <p:cNvSpPr/>
          <p:nvPr/>
        </p:nvSpPr>
        <p:spPr>
          <a:xfrm>
            <a:off x="45734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Oval 52"/>
          <p:cNvSpPr/>
          <p:nvPr/>
        </p:nvSpPr>
        <p:spPr>
          <a:xfrm>
            <a:off x="47242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Freeform 53"/>
          <p:cNvSpPr/>
          <p:nvPr/>
        </p:nvSpPr>
        <p:spPr>
          <a:xfrm>
            <a:off x="47260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Oval 54"/>
          <p:cNvSpPr/>
          <p:nvPr/>
        </p:nvSpPr>
        <p:spPr>
          <a:xfrm>
            <a:off x="48769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Freeform 55"/>
          <p:cNvSpPr/>
          <p:nvPr/>
        </p:nvSpPr>
        <p:spPr>
          <a:xfrm>
            <a:off x="48783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Oval 56"/>
          <p:cNvSpPr/>
          <p:nvPr/>
        </p:nvSpPr>
        <p:spPr>
          <a:xfrm>
            <a:off x="50292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Freeform 57"/>
          <p:cNvSpPr/>
          <p:nvPr/>
        </p:nvSpPr>
        <p:spPr>
          <a:xfrm>
            <a:off x="50306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Oval 58"/>
          <p:cNvSpPr/>
          <p:nvPr/>
        </p:nvSpPr>
        <p:spPr>
          <a:xfrm>
            <a:off x="51814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Freeform 59"/>
          <p:cNvSpPr/>
          <p:nvPr/>
        </p:nvSpPr>
        <p:spPr>
          <a:xfrm>
            <a:off x="51832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Oval 60"/>
          <p:cNvSpPr/>
          <p:nvPr/>
        </p:nvSpPr>
        <p:spPr>
          <a:xfrm>
            <a:off x="53341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Freeform 61"/>
          <p:cNvSpPr/>
          <p:nvPr/>
        </p:nvSpPr>
        <p:spPr>
          <a:xfrm>
            <a:off x="53355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Oval 62"/>
          <p:cNvSpPr/>
          <p:nvPr/>
        </p:nvSpPr>
        <p:spPr>
          <a:xfrm>
            <a:off x="59436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Freeform 63"/>
          <p:cNvSpPr/>
          <p:nvPr/>
        </p:nvSpPr>
        <p:spPr>
          <a:xfrm>
            <a:off x="59450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Oval 64"/>
          <p:cNvSpPr/>
          <p:nvPr/>
        </p:nvSpPr>
        <p:spPr>
          <a:xfrm>
            <a:off x="60958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Freeform 65"/>
          <p:cNvSpPr/>
          <p:nvPr/>
        </p:nvSpPr>
        <p:spPr>
          <a:xfrm>
            <a:off x="60976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Oval 66"/>
          <p:cNvSpPr/>
          <p:nvPr/>
        </p:nvSpPr>
        <p:spPr>
          <a:xfrm>
            <a:off x="62485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Freeform 67"/>
          <p:cNvSpPr/>
          <p:nvPr/>
        </p:nvSpPr>
        <p:spPr>
          <a:xfrm>
            <a:off x="62499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Oval 68"/>
          <p:cNvSpPr/>
          <p:nvPr/>
        </p:nvSpPr>
        <p:spPr>
          <a:xfrm>
            <a:off x="64008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Freeform 69"/>
          <p:cNvSpPr/>
          <p:nvPr/>
        </p:nvSpPr>
        <p:spPr>
          <a:xfrm>
            <a:off x="64022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Oval 70"/>
          <p:cNvSpPr/>
          <p:nvPr/>
        </p:nvSpPr>
        <p:spPr>
          <a:xfrm>
            <a:off x="65530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Freeform 71"/>
          <p:cNvSpPr/>
          <p:nvPr/>
        </p:nvSpPr>
        <p:spPr>
          <a:xfrm>
            <a:off x="65548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Oval 72"/>
          <p:cNvSpPr/>
          <p:nvPr/>
        </p:nvSpPr>
        <p:spPr>
          <a:xfrm>
            <a:off x="67057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Freeform 73"/>
          <p:cNvSpPr/>
          <p:nvPr/>
        </p:nvSpPr>
        <p:spPr>
          <a:xfrm>
            <a:off x="67071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Oval 74"/>
          <p:cNvSpPr/>
          <p:nvPr/>
        </p:nvSpPr>
        <p:spPr>
          <a:xfrm>
            <a:off x="68580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Freeform 75"/>
          <p:cNvSpPr/>
          <p:nvPr/>
        </p:nvSpPr>
        <p:spPr>
          <a:xfrm>
            <a:off x="6858000" y="312264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Oval 76"/>
          <p:cNvSpPr/>
          <p:nvPr/>
        </p:nvSpPr>
        <p:spPr>
          <a:xfrm>
            <a:off x="17524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Freeform 77"/>
          <p:cNvSpPr/>
          <p:nvPr/>
        </p:nvSpPr>
        <p:spPr>
          <a:xfrm>
            <a:off x="17542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Oval 78"/>
          <p:cNvSpPr/>
          <p:nvPr/>
        </p:nvSpPr>
        <p:spPr>
          <a:xfrm>
            <a:off x="19051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Freeform 79"/>
          <p:cNvSpPr/>
          <p:nvPr/>
        </p:nvSpPr>
        <p:spPr>
          <a:xfrm>
            <a:off x="19065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Oval 80"/>
          <p:cNvSpPr/>
          <p:nvPr/>
        </p:nvSpPr>
        <p:spPr>
          <a:xfrm>
            <a:off x="20574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Freeform 81"/>
          <p:cNvSpPr/>
          <p:nvPr/>
        </p:nvSpPr>
        <p:spPr>
          <a:xfrm>
            <a:off x="20588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Oval 82"/>
          <p:cNvSpPr/>
          <p:nvPr/>
        </p:nvSpPr>
        <p:spPr>
          <a:xfrm>
            <a:off x="22096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Freeform 83"/>
          <p:cNvSpPr/>
          <p:nvPr/>
        </p:nvSpPr>
        <p:spPr>
          <a:xfrm>
            <a:off x="22114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Oval 84"/>
          <p:cNvSpPr/>
          <p:nvPr/>
        </p:nvSpPr>
        <p:spPr>
          <a:xfrm>
            <a:off x="23623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Freeform 85"/>
          <p:cNvSpPr/>
          <p:nvPr/>
        </p:nvSpPr>
        <p:spPr>
          <a:xfrm>
            <a:off x="23637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Oval 86"/>
          <p:cNvSpPr/>
          <p:nvPr/>
        </p:nvSpPr>
        <p:spPr>
          <a:xfrm>
            <a:off x="25146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Freeform 87"/>
          <p:cNvSpPr/>
          <p:nvPr/>
        </p:nvSpPr>
        <p:spPr>
          <a:xfrm>
            <a:off x="25160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Oval 88"/>
          <p:cNvSpPr/>
          <p:nvPr/>
        </p:nvSpPr>
        <p:spPr>
          <a:xfrm>
            <a:off x="26668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Freeform 89"/>
          <p:cNvSpPr/>
          <p:nvPr/>
        </p:nvSpPr>
        <p:spPr>
          <a:xfrm>
            <a:off x="2666880" y="312264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Freeform 90"/>
          <p:cNvSpPr/>
          <p:nvPr/>
        </p:nvSpPr>
        <p:spPr>
          <a:xfrm>
            <a:off x="5410080" y="2284560"/>
            <a:ext cx="596880" cy="1600200"/>
          </a:xfrm>
          <a:custGeom>
            <a:avLst/>
            <a:gdLst>
              <a:gd name="GluePoint1X" fmla="*/ 2147483647 w 560"/>
              <a:gd name="GluePoint1Y" fmla="*/ 2147483647 h 632"/>
              <a:gd name="GluePoint2X" fmla="*/ 2147483647 w 560"/>
              <a:gd name="GluePoint2Y" fmla="*/ 2147483647 h 632"/>
              <a:gd name="GluePoint3X" fmla="*/ 2147483647 w 560"/>
              <a:gd name="GluePoint3Y" fmla="*/ 2147483647 h 632"/>
              <a:gd name="GluePoint4X" fmla="*/ 2147483647 w 560"/>
              <a:gd name="GluePoint4Y" fmla="*/ 2147483647 h 632"/>
              <a:gd name="GluePoint5X" fmla="*/ 2147483647 w 560"/>
              <a:gd name="GluePoint5Y" fmla="*/ 2147483647 h 632"/>
              <a:gd name="GluePoint6X" fmla="*/ 2147483647 w 560"/>
              <a:gd name="GluePoint6Y" fmla="*/ 2147483647 h 632"/>
              <a:gd name="GluePoint7X" fmla="*/ 2147483647 w 560"/>
              <a:gd name="GluePoint7Y" fmla="*/ 2147483647 h 632"/>
              <a:gd name="GluePoint8X" fmla="*/ 2147483647 w 560"/>
              <a:gd name="GluePoint8Y" fmla="*/ 2147483647 h 632"/>
              <a:gd name="GluePoint9X" fmla="*/ 2147483647 w 560"/>
              <a:gd name="GluePoint9Y" fmla="*/ 2147483647 h 632"/>
              <a:gd name="GluePoint10X" fmla="*/ 2147483647 w 560"/>
              <a:gd name="GluePoint10Y" fmla="*/ 2147483647 h 632"/>
              <a:gd name="GluePoint11X" fmla="*/ 2147483647 w 560"/>
              <a:gd name="GluePoint11Y" fmla="*/ 2147483647 h 632"/>
              <a:gd name="GluePoint12X" fmla="*/ 2147483647 w 560"/>
              <a:gd name="GluePoint12Y" fmla="*/ 2147483647 h 632"/>
              <a:gd name="GluePoint13X" fmla="*/ 2147483647 w 560"/>
              <a:gd name="GluePoint13Y" fmla="*/ 2147483647 h 632"/>
              <a:gd name="GluePoint14X" fmla="*/ 2147483647 w 560"/>
              <a:gd name="GluePoint14Y" fmla="*/ 2147483647 h 632"/>
              <a:gd name="GluePoint15X" fmla="*/ 2147483647 w 560"/>
              <a:gd name="GluePoint15Y" fmla="*/ 2147483647 h 632"/>
              <a:gd name="GluePoint16X" fmla="*/ 2147483647 w 560"/>
              <a:gd name="GluePoint16Y" fmla="*/ 2147483647 h 6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560" h="632">
                <a:moveTo>
                  <a:pt x="136" y="8"/>
                </a:moveTo>
                <a:cubicBezTo>
                  <a:pt x="168" y="8"/>
                  <a:pt x="184" y="56"/>
                  <a:pt x="232" y="56"/>
                </a:cubicBezTo>
                <a:cubicBezTo>
                  <a:pt x="280" y="56"/>
                  <a:pt x="376" y="0"/>
                  <a:pt x="424" y="8"/>
                </a:cubicBezTo>
                <a:cubicBezTo>
                  <a:pt x="472" y="16"/>
                  <a:pt x="520" y="64"/>
                  <a:pt x="520" y="104"/>
                </a:cubicBezTo>
                <a:cubicBezTo>
                  <a:pt x="520" y="144"/>
                  <a:pt x="440" y="192"/>
                  <a:pt x="424" y="248"/>
                </a:cubicBezTo>
                <a:cubicBezTo>
                  <a:pt x="408" y="304"/>
                  <a:pt x="408" y="400"/>
                  <a:pt x="424" y="440"/>
                </a:cubicBezTo>
                <a:cubicBezTo>
                  <a:pt x="440" y="480"/>
                  <a:pt x="504" y="464"/>
                  <a:pt x="520" y="488"/>
                </a:cubicBezTo>
                <a:cubicBezTo>
                  <a:pt x="536" y="512"/>
                  <a:pt x="560" y="560"/>
                  <a:pt x="520" y="584"/>
                </a:cubicBezTo>
                <a:cubicBezTo>
                  <a:pt x="480" y="608"/>
                  <a:pt x="360" y="632"/>
                  <a:pt x="280" y="632"/>
                </a:cubicBezTo>
                <a:cubicBezTo>
                  <a:pt x="200" y="632"/>
                  <a:pt x="80" y="608"/>
                  <a:pt x="40" y="584"/>
                </a:cubicBezTo>
                <a:cubicBezTo>
                  <a:pt x="0" y="560"/>
                  <a:pt x="24" y="512"/>
                  <a:pt x="40" y="488"/>
                </a:cubicBezTo>
                <a:cubicBezTo>
                  <a:pt x="56" y="464"/>
                  <a:pt x="120" y="480"/>
                  <a:pt x="136" y="440"/>
                </a:cubicBezTo>
                <a:cubicBezTo>
                  <a:pt x="152" y="400"/>
                  <a:pt x="152" y="296"/>
                  <a:pt x="136" y="248"/>
                </a:cubicBezTo>
                <a:cubicBezTo>
                  <a:pt x="120" y="200"/>
                  <a:pt x="56" y="184"/>
                  <a:pt x="40" y="152"/>
                </a:cubicBezTo>
                <a:cubicBezTo>
                  <a:pt x="24" y="120"/>
                  <a:pt x="24" y="80"/>
                  <a:pt x="40" y="56"/>
                </a:cubicBezTo>
                <a:cubicBezTo>
                  <a:pt x="56" y="32"/>
                  <a:pt x="104" y="8"/>
                  <a:pt x="136" y="8"/>
                </a:cubicBezTo>
                <a:close/>
              </a:path>
            </a:pathLst>
          </a:custGeom>
          <a:solidFill>
            <a:srgbClr val="969696"/>
          </a:solidFill>
          <a:ln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Oval 91"/>
          <p:cNvSpPr/>
          <p:nvPr/>
        </p:nvSpPr>
        <p:spPr>
          <a:xfrm>
            <a:off x="28195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Freeform 92"/>
          <p:cNvSpPr/>
          <p:nvPr/>
        </p:nvSpPr>
        <p:spPr>
          <a:xfrm>
            <a:off x="28209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Oval 93"/>
          <p:cNvSpPr/>
          <p:nvPr/>
        </p:nvSpPr>
        <p:spPr>
          <a:xfrm>
            <a:off x="29718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Freeform 94"/>
          <p:cNvSpPr/>
          <p:nvPr/>
        </p:nvSpPr>
        <p:spPr>
          <a:xfrm>
            <a:off x="29732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Oval 95"/>
          <p:cNvSpPr/>
          <p:nvPr/>
        </p:nvSpPr>
        <p:spPr>
          <a:xfrm>
            <a:off x="31240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Freeform 96"/>
          <p:cNvSpPr/>
          <p:nvPr/>
        </p:nvSpPr>
        <p:spPr>
          <a:xfrm>
            <a:off x="31258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Oval 97"/>
          <p:cNvSpPr/>
          <p:nvPr/>
        </p:nvSpPr>
        <p:spPr>
          <a:xfrm>
            <a:off x="32767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Freeform 98"/>
          <p:cNvSpPr/>
          <p:nvPr/>
        </p:nvSpPr>
        <p:spPr>
          <a:xfrm>
            <a:off x="32781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Oval 99"/>
          <p:cNvSpPr/>
          <p:nvPr/>
        </p:nvSpPr>
        <p:spPr>
          <a:xfrm>
            <a:off x="34290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Freeform 100"/>
          <p:cNvSpPr/>
          <p:nvPr/>
        </p:nvSpPr>
        <p:spPr>
          <a:xfrm>
            <a:off x="34304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Oval 101"/>
          <p:cNvSpPr/>
          <p:nvPr/>
        </p:nvSpPr>
        <p:spPr>
          <a:xfrm>
            <a:off x="35812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Freeform 102"/>
          <p:cNvSpPr/>
          <p:nvPr/>
        </p:nvSpPr>
        <p:spPr>
          <a:xfrm>
            <a:off x="35830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Oval 103"/>
          <p:cNvSpPr/>
          <p:nvPr/>
        </p:nvSpPr>
        <p:spPr>
          <a:xfrm>
            <a:off x="37339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Freeform 104"/>
          <p:cNvSpPr/>
          <p:nvPr/>
        </p:nvSpPr>
        <p:spPr>
          <a:xfrm>
            <a:off x="3733920" y="2665440"/>
            <a:ext cx="7596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Oval 105"/>
          <p:cNvSpPr/>
          <p:nvPr/>
        </p:nvSpPr>
        <p:spPr>
          <a:xfrm>
            <a:off x="28195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Freeform 106"/>
          <p:cNvSpPr/>
          <p:nvPr/>
        </p:nvSpPr>
        <p:spPr>
          <a:xfrm>
            <a:off x="28209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Oval 107"/>
          <p:cNvSpPr/>
          <p:nvPr/>
        </p:nvSpPr>
        <p:spPr>
          <a:xfrm>
            <a:off x="29718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Freeform 108"/>
          <p:cNvSpPr/>
          <p:nvPr/>
        </p:nvSpPr>
        <p:spPr>
          <a:xfrm>
            <a:off x="29732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Oval 109"/>
          <p:cNvSpPr/>
          <p:nvPr/>
        </p:nvSpPr>
        <p:spPr>
          <a:xfrm>
            <a:off x="31240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Freeform 110"/>
          <p:cNvSpPr/>
          <p:nvPr/>
        </p:nvSpPr>
        <p:spPr>
          <a:xfrm>
            <a:off x="31258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Oval 111"/>
          <p:cNvSpPr/>
          <p:nvPr/>
        </p:nvSpPr>
        <p:spPr>
          <a:xfrm>
            <a:off x="32767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Freeform 112"/>
          <p:cNvSpPr/>
          <p:nvPr/>
        </p:nvSpPr>
        <p:spPr>
          <a:xfrm>
            <a:off x="32781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Oval 113"/>
          <p:cNvSpPr/>
          <p:nvPr/>
        </p:nvSpPr>
        <p:spPr>
          <a:xfrm>
            <a:off x="34290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Freeform 114"/>
          <p:cNvSpPr/>
          <p:nvPr/>
        </p:nvSpPr>
        <p:spPr>
          <a:xfrm>
            <a:off x="34304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Oval 115"/>
          <p:cNvSpPr/>
          <p:nvPr/>
        </p:nvSpPr>
        <p:spPr>
          <a:xfrm>
            <a:off x="35812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Freeform 116"/>
          <p:cNvSpPr/>
          <p:nvPr/>
        </p:nvSpPr>
        <p:spPr>
          <a:xfrm>
            <a:off x="35830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Oval 117"/>
          <p:cNvSpPr/>
          <p:nvPr/>
        </p:nvSpPr>
        <p:spPr>
          <a:xfrm>
            <a:off x="37339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Freeform 118"/>
          <p:cNvSpPr/>
          <p:nvPr/>
        </p:nvSpPr>
        <p:spPr>
          <a:xfrm>
            <a:off x="3733920" y="3122640"/>
            <a:ext cx="7596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Freeform 119"/>
          <p:cNvSpPr/>
          <p:nvPr/>
        </p:nvSpPr>
        <p:spPr>
          <a:xfrm>
            <a:off x="3733920" y="2284560"/>
            <a:ext cx="596880" cy="1600200"/>
          </a:xfrm>
          <a:custGeom>
            <a:avLst/>
            <a:gdLst>
              <a:gd name="GluePoint1X" fmla="*/ 2147483647 w 560"/>
              <a:gd name="GluePoint1Y" fmla="*/ 2147483647 h 632"/>
              <a:gd name="GluePoint2X" fmla="*/ 2147483647 w 560"/>
              <a:gd name="GluePoint2Y" fmla="*/ 2147483647 h 632"/>
              <a:gd name="GluePoint3X" fmla="*/ 2147483647 w 560"/>
              <a:gd name="GluePoint3Y" fmla="*/ 2147483647 h 632"/>
              <a:gd name="GluePoint4X" fmla="*/ 2147483647 w 560"/>
              <a:gd name="GluePoint4Y" fmla="*/ 2147483647 h 632"/>
              <a:gd name="GluePoint5X" fmla="*/ 2147483647 w 560"/>
              <a:gd name="GluePoint5Y" fmla="*/ 2147483647 h 632"/>
              <a:gd name="GluePoint6X" fmla="*/ 2147483647 w 560"/>
              <a:gd name="GluePoint6Y" fmla="*/ 2147483647 h 632"/>
              <a:gd name="GluePoint7X" fmla="*/ 2147483647 w 560"/>
              <a:gd name="GluePoint7Y" fmla="*/ 2147483647 h 632"/>
              <a:gd name="GluePoint8X" fmla="*/ 2147483647 w 560"/>
              <a:gd name="GluePoint8Y" fmla="*/ 2147483647 h 632"/>
              <a:gd name="GluePoint9X" fmla="*/ 2147483647 w 560"/>
              <a:gd name="GluePoint9Y" fmla="*/ 2147483647 h 632"/>
              <a:gd name="GluePoint10X" fmla="*/ 2147483647 w 560"/>
              <a:gd name="GluePoint10Y" fmla="*/ 2147483647 h 632"/>
              <a:gd name="GluePoint11X" fmla="*/ 2147483647 w 560"/>
              <a:gd name="GluePoint11Y" fmla="*/ 2147483647 h 632"/>
              <a:gd name="GluePoint12X" fmla="*/ 2147483647 w 560"/>
              <a:gd name="GluePoint12Y" fmla="*/ 2147483647 h 632"/>
              <a:gd name="GluePoint13X" fmla="*/ 2147483647 w 560"/>
              <a:gd name="GluePoint13Y" fmla="*/ 2147483647 h 632"/>
              <a:gd name="GluePoint14X" fmla="*/ 2147483647 w 560"/>
              <a:gd name="GluePoint14Y" fmla="*/ 2147483647 h 632"/>
              <a:gd name="GluePoint15X" fmla="*/ 2147483647 w 560"/>
              <a:gd name="GluePoint15Y" fmla="*/ 2147483647 h 632"/>
              <a:gd name="GluePoint16X" fmla="*/ 2147483647 w 560"/>
              <a:gd name="GluePoint16Y" fmla="*/ 2147483647 h 6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560" h="632">
                <a:moveTo>
                  <a:pt x="136" y="8"/>
                </a:moveTo>
                <a:cubicBezTo>
                  <a:pt x="168" y="8"/>
                  <a:pt x="184" y="56"/>
                  <a:pt x="232" y="56"/>
                </a:cubicBezTo>
                <a:cubicBezTo>
                  <a:pt x="280" y="56"/>
                  <a:pt x="376" y="0"/>
                  <a:pt x="424" y="8"/>
                </a:cubicBezTo>
                <a:cubicBezTo>
                  <a:pt x="472" y="16"/>
                  <a:pt x="520" y="64"/>
                  <a:pt x="520" y="104"/>
                </a:cubicBezTo>
                <a:cubicBezTo>
                  <a:pt x="520" y="144"/>
                  <a:pt x="440" y="192"/>
                  <a:pt x="424" y="248"/>
                </a:cubicBezTo>
                <a:cubicBezTo>
                  <a:pt x="408" y="304"/>
                  <a:pt x="408" y="400"/>
                  <a:pt x="424" y="440"/>
                </a:cubicBezTo>
                <a:cubicBezTo>
                  <a:pt x="440" y="480"/>
                  <a:pt x="504" y="464"/>
                  <a:pt x="520" y="488"/>
                </a:cubicBezTo>
                <a:cubicBezTo>
                  <a:pt x="536" y="512"/>
                  <a:pt x="560" y="560"/>
                  <a:pt x="520" y="584"/>
                </a:cubicBezTo>
                <a:cubicBezTo>
                  <a:pt x="480" y="608"/>
                  <a:pt x="360" y="632"/>
                  <a:pt x="280" y="632"/>
                </a:cubicBezTo>
                <a:cubicBezTo>
                  <a:pt x="200" y="632"/>
                  <a:pt x="80" y="608"/>
                  <a:pt x="40" y="584"/>
                </a:cubicBezTo>
                <a:cubicBezTo>
                  <a:pt x="0" y="560"/>
                  <a:pt x="24" y="512"/>
                  <a:pt x="40" y="488"/>
                </a:cubicBezTo>
                <a:cubicBezTo>
                  <a:pt x="56" y="464"/>
                  <a:pt x="120" y="480"/>
                  <a:pt x="136" y="440"/>
                </a:cubicBezTo>
                <a:cubicBezTo>
                  <a:pt x="152" y="400"/>
                  <a:pt x="152" y="296"/>
                  <a:pt x="136" y="248"/>
                </a:cubicBezTo>
                <a:cubicBezTo>
                  <a:pt x="120" y="200"/>
                  <a:pt x="56" y="184"/>
                  <a:pt x="40" y="152"/>
                </a:cubicBezTo>
                <a:cubicBezTo>
                  <a:pt x="24" y="120"/>
                  <a:pt x="24" y="80"/>
                  <a:pt x="40" y="56"/>
                </a:cubicBezTo>
                <a:cubicBezTo>
                  <a:pt x="56" y="32"/>
                  <a:pt x="104" y="8"/>
                  <a:pt x="136" y="8"/>
                </a:cubicBezTo>
                <a:close/>
              </a:path>
            </a:pathLst>
          </a:custGeom>
          <a:solidFill>
            <a:srgbClr val="969696"/>
          </a:solidFill>
          <a:ln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Oval 120"/>
          <p:cNvSpPr/>
          <p:nvPr/>
        </p:nvSpPr>
        <p:spPr>
          <a:xfrm>
            <a:off x="5335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Freeform 121"/>
          <p:cNvSpPr/>
          <p:nvPr/>
        </p:nvSpPr>
        <p:spPr>
          <a:xfrm>
            <a:off x="5349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Oval 122"/>
          <p:cNvSpPr/>
          <p:nvPr/>
        </p:nvSpPr>
        <p:spPr>
          <a:xfrm>
            <a:off x="6858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Freeform 123"/>
          <p:cNvSpPr/>
          <p:nvPr/>
        </p:nvSpPr>
        <p:spPr>
          <a:xfrm>
            <a:off x="6872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Oval 124"/>
          <p:cNvSpPr/>
          <p:nvPr/>
        </p:nvSpPr>
        <p:spPr>
          <a:xfrm>
            <a:off x="838080" y="251316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Freeform 125"/>
          <p:cNvSpPr/>
          <p:nvPr/>
        </p:nvSpPr>
        <p:spPr>
          <a:xfrm>
            <a:off x="8398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Oval 126"/>
          <p:cNvSpPr/>
          <p:nvPr/>
        </p:nvSpPr>
        <p:spPr>
          <a:xfrm>
            <a:off x="99072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Freeform 127"/>
          <p:cNvSpPr/>
          <p:nvPr/>
        </p:nvSpPr>
        <p:spPr>
          <a:xfrm>
            <a:off x="99216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Oval 128"/>
          <p:cNvSpPr/>
          <p:nvPr/>
        </p:nvSpPr>
        <p:spPr>
          <a:xfrm>
            <a:off x="1143000" y="251316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Freeform 129"/>
          <p:cNvSpPr/>
          <p:nvPr/>
        </p:nvSpPr>
        <p:spPr>
          <a:xfrm>
            <a:off x="11444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Oval 130"/>
          <p:cNvSpPr/>
          <p:nvPr/>
        </p:nvSpPr>
        <p:spPr>
          <a:xfrm>
            <a:off x="1295280" y="2513160"/>
            <a:ext cx="82800" cy="15228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Freeform 131"/>
          <p:cNvSpPr/>
          <p:nvPr/>
        </p:nvSpPr>
        <p:spPr>
          <a:xfrm>
            <a:off x="1297080" y="26654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Oval 132"/>
          <p:cNvSpPr/>
          <p:nvPr/>
        </p:nvSpPr>
        <p:spPr>
          <a:xfrm>
            <a:off x="5335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Freeform 133"/>
          <p:cNvSpPr/>
          <p:nvPr/>
        </p:nvSpPr>
        <p:spPr>
          <a:xfrm>
            <a:off x="5349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Oval 134"/>
          <p:cNvSpPr/>
          <p:nvPr/>
        </p:nvSpPr>
        <p:spPr>
          <a:xfrm>
            <a:off x="6858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Freeform 135"/>
          <p:cNvSpPr/>
          <p:nvPr/>
        </p:nvSpPr>
        <p:spPr>
          <a:xfrm>
            <a:off x="6872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Oval 136"/>
          <p:cNvSpPr/>
          <p:nvPr/>
        </p:nvSpPr>
        <p:spPr>
          <a:xfrm>
            <a:off x="838080" y="350352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Freeform 137"/>
          <p:cNvSpPr/>
          <p:nvPr/>
        </p:nvSpPr>
        <p:spPr>
          <a:xfrm>
            <a:off x="8398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Oval 138"/>
          <p:cNvSpPr/>
          <p:nvPr/>
        </p:nvSpPr>
        <p:spPr>
          <a:xfrm>
            <a:off x="99072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Freeform 139"/>
          <p:cNvSpPr/>
          <p:nvPr/>
        </p:nvSpPr>
        <p:spPr>
          <a:xfrm>
            <a:off x="99216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Oval 140"/>
          <p:cNvSpPr/>
          <p:nvPr/>
        </p:nvSpPr>
        <p:spPr>
          <a:xfrm>
            <a:off x="1143000" y="350352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Freeform 141"/>
          <p:cNvSpPr/>
          <p:nvPr/>
        </p:nvSpPr>
        <p:spPr>
          <a:xfrm>
            <a:off x="11444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Oval 142"/>
          <p:cNvSpPr/>
          <p:nvPr/>
        </p:nvSpPr>
        <p:spPr>
          <a:xfrm>
            <a:off x="1295280" y="3503520"/>
            <a:ext cx="82800" cy="15264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Freeform 143"/>
          <p:cNvSpPr/>
          <p:nvPr/>
        </p:nvSpPr>
        <p:spPr>
          <a:xfrm>
            <a:off x="1297080" y="312264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Oval 144"/>
          <p:cNvSpPr/>
          <p:nvPr/>
        </p:nvSpPr>
        <p:spPr>
          <a:xfrm>
            <a:off x="1600200" y="2513160"/>
            <a:ext cx="76320" cy="152280"/>
          </a:xfrm>
          <a:prstGeom prst="ellipse">
            <a:avLst/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Freeform 145"/>
          <p:cNvSpPr/>
          <p:nvPr/>
        </p:nvSpPr>
        <p:spPr>
          <a:xfrm>
            <a:off x="1601640" y="26654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Oval 146"/>
          <p:cNvSpPr/>
          <p:nvPr/>
        </p:nvSpPr>
        <p:spPr>
          <a:xfrm>
            <a:off x="1600200" y="3503520"/>
            <a:ext cx="82440" cy="15264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Freeform 147"/>
          <p:cNvSpPr/>
          <p:nvPr/>
        </p:nvSpPr>
        <p:spPr>
          <a:xfrm>
            <a:off x="1601640" y="312264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2147483647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Text Box 148"/>
          <p:cNvSpPr/>
          <p:nvPr/>
        </p:nvSpPr>
        <p:spPr>
          <a:xfrm>
            <a:off x="533520" y="1141560"/>
            <a:ext cx="320040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Troponine, CPK, LDH,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myoglobine, hydroxyproline…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Text Box 149"/>
          <p:cNvSpPr/>
          <p:nvPr/>
        </p:nvSpPr>
        <p:spPr>
          <a:xfrm>
            <a:off x="6840" y="333360"/>
            <a:ext cx="289440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MILIEU EXTRACELLULAIRE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Text Box 150"/>
          <p:cNvSpPr/>
          <p:nvPr/>
        </p:nvSpPr>
        <p:spPr>
          <a:xfrm>
            <a:off x="7086600" y="2665440"/>
            <a:ext cx="1905120" cy="8251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MEMBRANE</a:t>
            </a:r>
            <a:br>
              <a:rPr sz="1600"/>
            </a:b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(phospholipides)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Text Box 151"/>
          <p:cNvSpPr/>
          <p:nvPr/>
        </p:nvSpPr>
        <p:spPr>
          <a:xfrm>
            <a:off x="748080" y="5157720"/>
            <a:ext cx="59526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Exercices intenses inhabituels ou/et excentriques,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Importantes activités d’endurance très prolongées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radicaux libres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Rectangle 152"/>
          <p:cNvSpPr/>
          <p:nvPr/>
        </p:nvSpPr>
        <p:spPr>
          <a:xfrm>
            <a:off x="122400" y="1125360"/>
            <a:ext cx="3657600" cy="863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Line 153"/>
          <p:cNvSpPr/>
          <p:nvPr/>
        </p:nvSpPr>
        <p:spPr>
          <a:xfrm flipH="1" flipV="1">
            <a:off x="1476360" y="2060280"/>
            <a:ext cx="1440" cy="20890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Text Box 154"/>
          <p:cNvSpPr/>
          <p:nvPr/>
        </p:nvSpPr>
        <p:spPr>
          <a:xfrm>
            <a:off x="239400" y="4184640"/>
            <a:ext cx="309744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Rupture membranaire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Text Box 155"/>
          <p:cNvSpPr/>
          <p:nvPr/>
        </p:nvSpPr>
        <p:spPr>
          <a:xfrm>
            <a:off x="6092280" y="4437000"/>
            <a:ext cx="282672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MILIEU INTRACELLULAIRE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61" dur="indefinite" restart="never" nodeType="tmRoot">
          <p:childTnLst>
            <p:seq>
              <p:cTn id="3262" dur="indefinite" nodeType="mainSeq">
                <p:childTnLst>
                  <p:par>
                    <p:cTn id="3263" nodeType="clickEffect" fill="hold">
                      <p:stCondLst>
                        <p:cond delay="0"/>
                      </p:stCondLst>
                      <p:childTnLst>
                        <p:par>
                          <p:cTn id="32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6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67" dur="300"/>
                                        <p:tgtEl>
                                          <p:spTgt spid="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8" nodeType="clickEffect" fill="hold">
                      <p:stCondLst>
                        <p:cond delay="indefinite"/>
                      </p:stCondLst>
                      <p:childTnLst>
                        <p:par>
                          <p:cTn id="3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70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72" dur="300"/>
                                        <p:tgtEl>
                                          <p:spTgt spid="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3" nodeType="afterEffect" fill="hold">
                            <p:stCondLst>
                              <p:cond delay="4200"/>
                            </p:stCondLst>
                            <p:childTnLst>
                              <p:par>
                                <p:cTn id="3274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276" dur="10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7" nodeType="afterEffect" fill="hold">
                            <p:stCondLst>
                              <p:cond delay="5200"/>
                            </p:stCondLst>
                            <p:childTnLst>
                              <p:par>
                                <p:cTn id="3278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80" dur="10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1" nodeType="afterEffect" fill="hold">
                            <p:stCondLst>
                              <p:cond delay="6200"/>
                            </p:stCondLst>
                            <p:childTnLst>
                              <p:par>
                                <p:cTn id="3282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84" dur="10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87" dur="500"/>
                                        <p:tgtEl>
                                          <p:spTgt spid="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C54837-55F7-4604-BA95-DBB47F46410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PlaceHolder 1"/>
          <p:cNvSpPr>
            <a:spLocks noGrp="1"/>
          </p:cNvSpPr>
          <p:nvPr>
            <p:ph type="title"/>
          </p:nvPr>
        </p:nvSpPr>
        <p:spPr>
          <a:xfrm>
            <a:off x="609120" y="1049040"/>
            <a:ext cx="813924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 CINETIQUE  DU  LACTATE SANGUIN  DEPEND  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PlaceHolder 2"/>
          <p:cNvSpPr>
            <a:spLocks noGrp="1"/>
          </p:cNvSpPr>
          <p:nvPr>
            <p:ph/>
          </p:nvPr>
        </p:nvSpPr>
        <p:spPr>
          <a:xfrm>
            <a:off x="0" y="2268360"/>
            <a:ext cx="9144000" cy="44006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lnSpcReduction="9999"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la nature et du niveau d'entraînement du sujet évalué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l'intensité et de la durée de l'exercice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l'importance de la masse musculaire engagée dans l'exercice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la constitution des muscles sollicités (% fibres FT et ST)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l'âge de l'évalué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ffff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réserves musculaires en glycogène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60000"/>
              </a:lnSpc>
              <a:spcBef>
                <a:spcPts val="451"/>
              </a:spcBef>
              <a:spcAft>
                <a:spcPts val="4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période d'entraînement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60000"/>
              </a:lnSpc>
              <a:spcBef>
                <a:spcPts val="451"/>
              </a:spcBef>
              <a:spcAft>
                <a:spcPts val="4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régime alimentaire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Text Box 8"/>
          <p:cNvSpPr/>
          <p:nvPr/>
        </p:nvSpPr>
        <p:spPr>
          <a:xfrm>
            <a:off x="2323080" y="157320"/>
            <a:ext cx="3613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CONCLUSION …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EC90F1-BE9D-4C38-838F-491AE98D109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PlaceHolder 1"/>
          <p:cNvSpPr>
            <a:spLocks noGrp="1"/>
          </p:cNvSpPr>
          <p:nvPr>
            <p:ph type="title"/>
          </p:nvPr>
        </p:nvSpPr>
        <p:spPr>
          <a:xfrm>
            <a:off x="837720" y="404640"/>
            <a:ext cx="6705720" cy="106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RECOMMANDATIONS POUR UNE MEILLEURE </a:t>
            </a:r>
            <a:br>
              <a:rPr sz="2000"/>
            </a:b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STANDARDISATION DE LA LACTATEMIE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PlaceHolder 2"/>
          <p:cNvSpPr>
            <a:spLocks noGrp="1"/>
          </p:cNvSpPr>
          <p:nvPr>
            <p:ph/>
          </p:nvPr>
        </p:nvSpPr>
        <p:spPr>
          <a:xfrm>
            <a:off x="-360" y="1676520"/>
            <a:ext cx="8915400" cy="49528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Mettre le sujet évalué au repos au moins 24 heures avant le test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Lui conseiller un régime équilibré (éviter un apport glucidique élevé)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Réaliser le test au même moment de la journée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Rincer et nettoyer l'endroit à prélever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(élimination du lactate dû aux glandes sudoripares)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Prélever toujours au même moment après l'exercice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Conserver le même protocole ergométrique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3288" dur="indefinite" restart="never" nodeType="tmRoot">
          <p:childTnLst>
            <p:seq>
              <p:cTn id="3289" dur="indefinite" nodeType="mainSeq">
                <p:childTnLst>
                  <p:par>
                    <p:cTn id="3290" nodeType="clickEffect" fill="hold">
                      <p:stCondLst>
                        <p:cond delay="0"/>
                      </p:stCondLst>
                      <p:childTnLst>
                        <p:par>
                          <p:cTn id="32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9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29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97" dur="300"/>
                                        <p:tgtEl>
                                          <p:spTgt spid="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8" nodeType="afterEffect" fill="hold">
                            <p:stCondLst>
                              <p:cond delay="4400"/>
                            </p:stCondLst>
                            <p:childTnLst>
                              <p:par>
                                <p:cTn id="3299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01" dur="300"/>
                                        <p:tgtEl>
                                          <p:spTgt spid="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2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3303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05" dur="300"/>
                                        <p:tgtEl>
                                          <p:spTgt spid="19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6" nodeType="afterEffect" fill="hold">
                            <p:stCondLst>
                              <p:cond delay="10700"/>
                            </p:stCondLst>
                            <p:childTnLst>
                              <p:par>
                                <p:cTn id="3307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09" dur="300"/>
                                        <p:tgtEl>
                                          <p:spTgt spid="19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0" nodeType="afterEffect" fill="hold">
                            <p:stCondLst>
                              <p:cond delay="15200"/>
                            </p:stCondLst>
                            <p:childTnLst>
                              <p:par>
                                <p:cTn id="3311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13" dur="300"/>
                                        <p:tgtEl>
                                          <p:spTgt spid="19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4" nodeType="afterEffect" fill="hold">
                            <p:stCondLst>
                              <p:cond delay="17300"/>
                            </p:stCondLst>
                            <p:childTnLst>
                              <p:par>
                                <p:cTn id="331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17" dur="300"/>
                                        <p:tgtEl>
                                          <p:spTgt spid="19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8" nodeType="afterEffect" fill="hold">
                            <p:stCondLst>
                              <p:cond delay="18800"/>
                            </p:stCondLst>
                            <p:childTnLst>
                              <p:par>
                                <p:cTn id="3319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21" dur="300"/>
                                        <p:tgtEl>
                                          <p:spTgt spid="19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E6300D-2C0D-4E1E-9435-EA260C9C6B7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Rectangle 2"/>
          <p:cNvSpPr/>
          <p:nvPr/>
        </p:nvSpPr>
        <p:spPr>
          <a:xfrm>
            <a:off x="826920" y="2608200"/>
            <a:ext cx="7429680" cy="22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ces conditions, à partir de la lactatémie, il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 possible de contribuer au suivi physiologique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biologique des effets de l ’entraînement sur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un individu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mais non de comparer les résultats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deux ou plusieurs individus entre eux !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22" dur="indefinite" restart="never" nodeType="tmRoot">
          <p:childTnLst>
            <p:seq>
              <p:cTn id="3323" dur="indefinite" nodeType="mainSeq">
                <p:childTnLst>
                  <p:par>
                    <p:cTn id="3324" nodeType="clickEffect" fill="hold">
                      <p:stCondLst>
                        <p:cond delay="0"/>
                      </p:stCondLst>
                      <p:childTnLst>
                        <p:par>
                          <p:cTn id="33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2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28" dur="75"/>
                                        <p:tgtEl>
                                          <p:spTgt spid="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DE616C-1508-4B27-96A2-B8CA1630AEE9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Text Box 2"/>
          <p:cNvSpPr/>
          <p:nvPr/>
        </p:nvSpPr>
        <p:spPr>
          <a:xfrm>
            <a:off x="533520" y="838080"/>
            <a:ext cx="8001000" cy="20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MERCI POUR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VOTRE ATTENTION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32" name="Object 3" descr=""/>
          <p:cNvPicPr/>
          <p:nvPr/>
        </p:nvPicPr>
        <p:blipFill>
          <a:blip r:embed="rId1"/>
          <a:stretch/>
        </p:blipFill>
        <p:spPr>
          <a:xfrm>
            <a:off x="2514600" y="4038480"/>
            <a:ext cx="4191120" cy="23749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dissolve/>
  </p:transition>
  <p:timing>
    <p:tnLst>
      <p:par>
        <p:cTn id="3329" dur="indefinite" restart="never" nodeType="tmRoot">
          <p:childTnLst>
            <p:seq>
              <p:cTn id="3330" dur="indefinite" nodeType="mainSeq">
                <p:childTnLst>
                  <p:par>
                    <p:cTn id="3331" nodeType="clickEffect" fill="hold">
                      <p:stCondLst>
                        <p:cond delay="0"/>
                      </p:stCondLst>
                      <p:childTnLst>
                        <p:par>
                          <p:cTn id="3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3" nodeType="afterEffect" fill="hold" presetClass="entr" presetID="23" presetSubtype="3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35" dur="300" fill="hold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36" dur="300" fill="hold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7" nodeType="afterEffect" fill="hold">
                            <p:stCondLst>
                              <p:cond delay="1200"/>
                            </p:stCondLst>
                            <p:childTnLst>
                              <p:par>
                                <p:cTn id="33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40" dur="500"/>
                                        <p:tgtEl>
                                          <p:spTgt spid="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3272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1999-06-04T05:54:24Z</dcterms:created>
  <dc:creator>Cazorla</dc:creator>
  <dc:description/>
  <dc:language>en-US</dc:language>
  <cp:lastModifiedBy>Georges Caz</cp:lastModifiedBy>
  <cp:lastPrinted>2000-05-19T08:25:17Z</cp:lastPrinted>
  <dcterms:modified xsi:type="dcterms:W3CDTF">2017-08-19T21:47:58Z</dcterms:modified>
  <cp:revision>77</cp:revision>
  <dc:subject/>
  <dc:title>Aucun titre de diapositive</dc:title>
</cp:coreProperties>
</file>