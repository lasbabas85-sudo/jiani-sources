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10.png" ContentType="image/png"/>
  <Override PartName="/ppt/media/image1.png" ContentType="image/png"/>
  <Override PartName="/ppt/media/image13.png" ContentType="image/png"/>
  <Override PartName="/ppt/media/image4.png" ContentType="image/png"/>
  <Override PartName="/ppt/media/image9.png" ContentType="image/png"/>
  <Override PartName="/ppt/media/image18.jpeg" ContentType="image/jpeg"/>
  <Override PartName="/ppt/media/image7.wmf" ContentType="image/x-wmf"/>
  <Override PartName="/ppt/media/image16.png" ContentType="image/png"/>
  <Override PartName="/ppt/media/image15.png" ContentType="image/png"/>
  <Override PartName="/ppt/media/image5.jpeg" ContentType="image/jpeg"/>
  <Override PartName="/ppt/media/image14.jpeg" ContentType="image/jpeg"/>
  <Override PartName="/ppt/media/image12.png" ContentType="image/png"/>
  <Override PartName="/ppt/media/image3.png" ContentType="image/png"/>
  <Override PartName="/ppt/media/image2.jpeg" ContentType="image/jpeg"/>
  <Override PartName="/ppt/media/image6.wmf" ContentType="image/x-wmf"/>
  <Override PartName="/ppt/media/image11.png" ContentType="image/png"/>
  <Override PartName="/ppt/media/image8.png" ContentType="image/png"/>
  <Override PartName="/ppt/media/image17.png" ContentType="image/png"/>
  <Override PartName="/ppt/embeddings/oleObject1.bin" ContentType="application/vnd.openxmlformats-officedocument.oleObject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gradFill rotWithShape="0">
          <a:gsLst>
            <a:gs pos="0">
              <a:srgbClr val="3333cc"/>
            </a:gs>
            <a:gs pos="100000">
              <a:srgbClr val="0c0c3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DC10A4-ECA6-4EBA-8D7C-B907A8F1DF7F}" type="slidenum"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4">
    <p:bg>
      <p:bgPr>
        <a:gradFill rotWithShape="0">
          <a:gsLst>
            <a:gs pos="0">
              <a:srgbClr val="3333cc"/>
            </a:gs>
            <a:gs pos="100000">
              <a:srgbClr val="0c0c3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F81C5F-7BB8-4238-9335-D56F1E602C71}" type="slidenum"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7">
    <p:bg>
      <p:bgPr>
        <a:gradFill rotWithShape="0">
          <a:gsLst>
            <a:gs pos="0">
              <a:srgbClr val="3333cc"/>
            </a:gs>
            <a:gs pos="100000">
              <a:srgbClr val="0c0c3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6E4691-B7D3-48C6-9AC3-39966D85F182}" type="slidenum">
              <a:rPr b="0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areaps33@gmail.com" TargetMode="External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image" Target="../media/image6.wmf"/><Relationship Id="rId6" Type="http://schemas.openxmlformats.org/officeDocument/2006/relationships/image" Target="../media/image7.wmf"/><Relationship Id="rId7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/>
          <p:nvPr/>
        </p:nvSpPr>
        <p:spPr>
          <a:xfrm>
            <a:off x="817200" y="1158840"/>
            <a:ext cx="7666560" cy="971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EVALUER LA CAPACITE AEROBIE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LES TESTS DE TERRAIN POUR LE MEDECIN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Text Box 5"/>
          <p:cNvSpPr/>
          <p:nvPr/>
        </p:nvSpPr>
        <p:spPr>
          <a:xfrm>
            <a:off x="2530080" y="2878200"/>
            <a:ext cx="42408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Georges CAZORLA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Laboratoire Évaluation Sport Santé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Faculté des Sciences du Sport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de l’Éducation Physique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Université Victor Segalen Bordeaux 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Box 8"/>
          <p:cNvSpPr/>
          <p:nvPr/>
        </p:nvSpPr>
        <p:spPr>
          <a:xfrm>
            <a:off x="2700360" y="2421000"/>
            <a:ext cx="3759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Marseille 9 juin 2006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 Box 11"/>
          <p:cNvSpPr/>
          <p:nvPr/>
        </p:nvSpPr>
        <p:spPr>
          <a:xfrm>
            <a:off x="668160" y="404640"/>
            <a:ext cx="7566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9</a:t>
            </a:r>
            <a:r>
              <a:rPr b="0" i="1" lang="fr-FR" sz="2000" strike="noStrike" u="none" baseline="30000">
                <a:solidFill>
                  <a:srgbClr val="ffff00"/>
                </a:solidFill>
                <a:effectLst/>
                <a:uFillTx/>
                <a:latin typeface="Bookman Old Style"/>
              </a:rPr>
              <a:t>ème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Congrès Cœur et Sport : Club des Cardiologues du Sport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Image 5" descr=""/>
          <p:cNvPicPr/>
          <p:nvPr/>
        </p:nvPicPr>
        <p:blipFill>
          <a:blip r:embed="rId1"/>
          <a:srcRect l="0" t="19565" r="74963" b="63428"/>
          <a:stretch/>
        </p:blipFill>
        <p:spPr>
          <a:xfrm>
            <a:off x="3127320" y="4811760"/>
            <a:ext cx="2922480" cy="11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ctangle 6"/>
          <p:cNvSpPr/>
          <p:nvPr/>
        </p:nvSpPr>
        <p:spPr>
          <a:xfrm>
            <a:off x="-15480" y="6055920"/>
            <a:ext cx="920844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Association pour la Recherche et l’Évaluation en Activité Physique et en Sport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sng">
                <a:solidFill>
                  <a:srgbClr val="ccccff"/>
                </a:solidFill>
                <a:effectLst/>
                <a:uFillTx/>
                <a:latin typeface="Calibri"/>
                <a:ea typeface="Times New Roman"/>
                <a:hlinkClick r:id="rId2"/>
              </a:rPr>
              <a:t>areaps33@gmail.com</a:t>
            </a: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    Web : areaps.org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4"/>
          <p:cNvSpPr/>
          <p:nvPr/>
        </p:nvSpPr>
        <p:spPr>
          <a:xfrm>
            <a:off x="1541160" y="811080"/>
            <a:ext cx="5776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QUESTIONS QUI SE POSENT :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Text Box 5"/>
          <p:cNvSpPr/>
          <p:nvPr/>
        </p:nvSpPr>
        <p:spPr>
          <a:xfrm>
            <a:off x="324000" y="2946240"/>
            <a:ext cx="8820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Quelle(s) dimension(s) de la capacité aérobie évaluer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Box 6"/>
          <p:cNvSpPr/>
          <p:nvPr/>
        </p:nvSpPr>
        <p:spPr>
          <a:xfrm>
            <a:off x="245520" y="2106720"/>
            <a:ext cx="8184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Pourquoi et qui peut évaluer la capacité aérobie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 Box 7"/>
          <p:cNvSpPr/>
          <p:nvPr/>
        </p:nvSpPr>
        <p:spPr>
          <a:xfrm>
            <a:off x="322920" y="3763800"/>
            <a:ext cx="720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Comment choisir les tests correspondants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Text Box 8"/>
          <p:cNvSpPr/>
          <p:nvPr/>
        </p:nvSpPr>
        <p:spPr>
          <a:xfrm>
            <a:off x="333360" y="4556160"/>
            <a:ext cx="5319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Comment utiliser les résultats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4"/>
          <p:cNvSpPr/>
          <p:nvPr/>
        </p:nvSpPr>
        <p:spPr>
          <a:xfrm>
            <a:off x="527400" y="189000"/>
            <a:ext cx="83098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POURQUOI ET QUI PEUT EVALUER LA CAPACITE AEROBIE ?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Text Box 5"/>
          <p:cNvSpPr/>
          <p:nvPr/>
        </p:nvSpPr>
        <p:spPr>
          <a:xfrm>
            <a:off x="16560" y="907920"/>
            <a:ext cx="9098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1) Pour déceler en cours d’épreuve des anomalies cardiovasculaires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et ventilatoires ?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 Box 6"/>
          <p:cNvSpPr/>
          <p:nvPr/>
        </p:nvSpPr>
        <p:spPr>
          <a:xfrm>
            <a:off x="99720" y="2565360"/>
            <a:ext cx="759204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        Épreuve de laboratoire peut-être…: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        si l’activité sportive le justifie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        et si les analyseurs sont parfaitement calibrés !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            Sinon le test de terrain et plus recommandé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Text Box 7"/>
          <p:cNvSpPr/>
          <p:nvPr/>
        </p:nvSpPr>
        <p:spPr>
          <a:xfrm>
            <a:off x="30960" y="1557360"/>
            <a:ext cx="7861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Épreuve de laboratoire uniquement sous contrôle médical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Text Box 8"/>
          <p:cNvSpPr/>
          <p:nvPr/>
        </p:nvSpPr>
        <p:spPr>
          <a:xfrm>
            <a:off x="-41400" y="2133720"/>
            <a:ext cx="9348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2) Pour connaître le potentiel maximal d’un sportif de haut niveau ?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 Box 9"/>
          <p:cNvSpPr/>
          <p:nvPr/>
        </p:nvSpPr>
        <p:spPr>
          <a:xfrm>
            <a:off x="38880" y="4005360"/>
            <a:ext cx="86457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3) Pour évaluer rapidement le niveau de condition physique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d’enfants, d’adolescents et de jeunes adultes sportifs ou non ?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 Box 10"/>
          <p:cNvSpPr/>
          <p:nvPr/>
        </p:nvSpPr>
        <p:spPr>
          <a:xfrm>
            <a:off x="119520" y="4722840"/>
            <a:ext cx="4960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Le choix du test de terrain s’impose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 Box 11"/>
          <p:cNvSpPr/>
          <p:nvPr/>
        </p:nvSpPr>
        <p:spPr>
          <a:xfrm>
            <a:off x="83160" y="5299200"/>
            <a:ext cx="87066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4) Pour obtenir le vitesse aérobie maximale afin de programmer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l’intensité des exercices d’entraînement ?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Text Box 12"/>
          <p:cNvSpPr/>
          <p:nvPr/>
        </p:nvSpPr>
        <p:spPr>
          <a:xfrm>
            <a:off x="82080" y="5950080"/>
            <a:ext cx="79279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Dans ce cas, seuls les tests de terrain peuvent fournir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références… de terrain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nodeType="clickEffect" fill="hold">
                      <p:stCondLst>
                        <p:cond delay="indefinite"/>
                      </p:stCondLst>
                      <p:childTnLst>
                        <p:par>
                          <p:cTn id="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nodeType="clickEffect" fill="hold">
                      <p:stCondLst>
                        <p:cond delay="indefinite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4"/>
          <p:cNvSpPr/>
          <p:nvPr/>
        </p:nvSpPr>
        <p:spPr>
          <a:xfrm>
            <a:off x="900000" y="4078440"/>
            <a:ext cx="265140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CONSOMMATION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D’OXYGENE: VO</a:t>
            </a:r>
            <a:r>
              <a:rPr b="1" lang="es-CL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Rectangle 23"/>
          <p:cNvSpPr/>
          <p:nvPr/>
        </p:nvSpPr>
        <p:spPr>
          <a:xfrm>
            <a:off x="3708360" y="4078440"/>
            <a:ext cx="273672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ENDURANCE AEROBIE: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% de VO2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Rectangle 24"/>
          <p:cNvSpPr/>
          <p:nvPr/>
        </p:nvSpPr>
        <p:spPr>
          <a:xfrm>
            <a:off x="6659640" y="4078440"/>
            <a:ext cx="187308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ECONOMIE DE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LOCOMOTION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Line 31"/>
          <p:cNvSpPr/>
          <p:nvPr/>
        </p:nvSpPr>
        <p:spPr>
          <a:xfrm>
            <a:off x="1835280" y="3718080"/>
            <a:ext cx="0" cy="3808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Line 32"/>
          <p:cNvSpPr/>
          <p:nvPr/>
        </p:nvSpPr>
        <p:spPr>
          <a:xfrm>
            <a:off x="4572000" y="1989000"/>
            <a:ext cx="0" cy="5050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Line 34"/>
          <p:cNvSpPr/>
          <p:nvPr/>
        </p:nvSpPr>
        <p:spPr>
          <a:xfrm>
            <a:off x="1835280" y="3716280"/>
            <a:ext cx="554508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Line 35"/>
          <p:cNvSpPr/>
          <p:nvPr/>
        </p:nvSpPr>
        <p:spPr>
          <a:xfrm>
            <a:off x="4572000" y="3141720"/>
            <a:ext cx="0" cy="57636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Rectangle 36"/>
          <p:cNvSpPr/>
          <p:nvPr/>
        </p:nvSpPr>
        <p:spPr>
          <a:xfrm>
            <a:off x="2195640" y="2494080"/>
            <a:ext cx="5113080" cy="67284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MOYENNE LA PLUS ELEVEE POSSIBLE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VITESSE AEROBIE MAXIMALE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Rectangle 37"/>
          <p:cNvSpPr/>
          <p:nvPr/>
        </p:nvSpPr>
        <p:spPr>
          <a:xfrm>
            <a:off x="2700360" y="1486080"/>
            <a:ext cx="3959280" cy="45720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PERFORMANCE DE LONGUE DUREE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 Box 39"/>
          <p:cNvSpPr/>
          <p:nvPr/>
        </p:nvSpPr>
        <p:spPr>
          <a:xfrm>
            <a:off x="152280" y="206280"/>
            <a:ext cx="8686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QELLES DIMENSIONS DE LA CAPACITE AEROBIE EVALUER ?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EXEMPLE DE LA PERFORMANCE DE LONGUE DUREE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Line 41"/>
          <p:cNvSpPr/>
          <p:nvPr/>
        </p:nvSpPr>
        <p:spPr>
          <a:xfrm>
            <a:off x="4572000" y="3718080"/>
            <a:ext cx="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Line 42"/>
          <p:cNvSpPr/>
          <p:nvPr/>
        </p:nvSpPr>
        <p:spPr>
          <a:xfrm>
            <a:off x="7380360" y="3718080"/>
            <a:ext cx="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 Box 44"/>
          <p:cNvSpPr/>
          <p:nvPr/>
        </p:nvSpPr>
        <p:spPr>
          <a:xfrm>
            <a:off x="124560" y="5326200"/>
            <a:ext cx="1915920" cy="1312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Mesure directe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laboratoire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…actuellement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accessible aussi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au terrain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 Box 49"/>
          <p:cNvSpPr/>
          <p:nvPr/>
        </p:nvSpPr>
        <p:spPr>
          <a:xfrm>
            <a:off x="7442280" y="2682720"/>
            <a:ext cx="1680480" cy="10688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Uniquement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mesurée à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partir de tests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terrain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Line 50"/>
          <p:cNvSpPr/>
          <p:nvPr/>
        </p:nvSpPr>
        <p:spPr>
          <a:xfrm flipV="1">
            <a:off x="6588000" y="2923920"/>
            <a:ext cx="863640" cy="730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Line 51"/>
          <p:cNvSpPr/>
          <p:nvPr/>
        </p:nvSpPr>
        <p:spPr>
          <a:xfrm flipV="1">
            <a:off x="826920" y="5013360"/>
            <a:ext cx="865440" cy="287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plit dir="out" orient="horz"/>
  </p:transition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nodeType="clickEffect" fill="hold">
                      <p:stCondLst>
                        <p:cond delay="indefinite"/>
                      </p:stCondLst>
                      <p:childTnLst>
                        <p:par>
                          <p:cTn id="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nodeType="clickEffect" fill="hold">
                      <p:stCondLst>
                        <p:cond delay="indefinite"/>
                      </p:stCondLst>
                      <p:childTnLst>
                        <p:par>
                          <p:cTn id="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" descr="K4-course-profil"/>
          <p:cNvPicPr/>
          <p:nvPr/>
        </p:nvPicPr>
        <p:blipFill>
          <a:blip r:embed="rId1"/>
          <a:stretch/>
        </p:blipFill>
        <p:spPr>
          <a:xfrm>
            <a:off x="395280" y="243000"/>
            <a:ext cx="8424720" cy="631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Box 5"/>
          <p:cNvSpPr/>
          <p:nvPr/>
        </p:nvSpPr>
        <p:spPr>
          <a:xfrm>
            <a:off x="551880" y="404640"/>
            <a:ext cx="82782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MESURE DIRECTE DU VO</a:t>
            </a:r>
            <a:r>
              <a:rPr b="1" lang="fr-FR" sz="1800" strike="noStrike" u="none" baseline="-25000">
                <a:solidFill>
                  <a:srgbClr val="000000"/>
                </a:solidFill>
                <a:effectLst/>
                <a:uFillTx/>
                <a:latin typeface="Bookman Old Style"/>
              </a:rPr>
              <a:t>2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 AU COURS DE LA COURSE 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XTERI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EURE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2"/>
          <p:cNvSpPr/>
          <p:nvPr/>
        </p:nvSpPr>
        <p:spPr>
          <a:xfrm>
            <a:off x="900000" y="4078440"/>
            <a:ext cx="265140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CONSOMMATION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D’OXYGENE: VO</a:t>
            </a:r>
            <a:r>
              <a:rPr b="1" lang="es-CL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Rectangle 3"/>
          <p:cNvSpPr/>
          <p:nvPr/>
        </p:nvSpPr>
        <p:spPr>
          <a:xfrm>
            <a:off x="3708360" y="4078440"/>
            <a:ext cx="273672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ENDURANCE AEROBIE: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% de VO2 max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Rectangle 4"/>
          <p:cNvSpPr/>
          <p:nvPr/>
        </p:nvSpPr>
        <p:spPr>
          <a:xfrm>
            <a:off x="6659640" y="4078440"/>
            <a:ext cx="1873080" cy="93492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ECONOMIE DE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LOCOMOTION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Line 5"/>
          <p:cNvSpPr/>
          <p:nvPr/>
        </p:nvSpPr>
        <p:spPr>
          <a:xfrm>
            <a:off x="1835280" y="3718080"/>
            <a:ext cx="0" cy="3808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Line 6"/>
          <p:cNvSpPr/>
          <p:nvPr/>
        </p:nvSpPr>
        <p:spPr>
          <a:xfrm>
            <a:off x="4572000" y="1989000"/>
            <a:ext cx="0" cy="5050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Line 7"/>
          <p:cNvSpPr/>
          <p:nvPr/>
        </p:nvSpPr>
        <p:spPr>
          <a:xfrm>
            <a:off x="1835280" y="3716280"/>
            <a:ext cx="554508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Line 8"/>
          <p:cNvSpPr/>
          <p:nvPr/>
        </p:nvSpPr>
        <p:spPr>
          <a:xfrm>
            <a:off x="4572000" y="3141720"/>
            <a:ext cx="0" cy="57636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9"/>
          <p:cNvSpPr/>
          <p:nvPr/>
        </p:nvSpPr>
        <p:spPr>
          <a:xfrm>
            <a:off x="2195640" y="2494080"/>
            <a:ext cx="5113080" cy="67284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MOYENNE LA PLUS ELEVEE POSSIBLE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DE VITESSE AEROBIE MAXIMALE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Rectangle 10"/>
          <p:cNvSpPr/>
          <p:nvPr/>
        </p:nvSpPr>
        <p:spPr>
          <a:xfrm>
            <a:off x="2700360" y="1486080"/>
            <a:ext cx="3959280" cy="457200"/>
          </a:xfrm>
          <a:prstGeom prst="rect">
            <a:avLst/>
          </a:prstGeom>
          <a:solidFill>
            <a:srgbClr val="0000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PERFORMANCE DE LONGUE DUREE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 Box 11"/>
          <p:cNvSpPr/>
          <p:nvPr/>
        </p:nvSpPr>
        <p:spPr>
          <a:xfrm>
            <a:off x="152280" y="206280"/>
            <a:ext cx="86868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FACTEURS DE LA CAPACITE AEROBIE ET DE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PERFORMANCE DE LONGUE DUREE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Line 12"/>
          <p:cNvSpPr/>
          <p:nvPr/>
        </p:nvSpPr>
        <p:spPr>
          <a:xfrm>
            <a:off x="4572000" y="3718080"/>
            <a:ext cx="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Line 13"/>
          <p:cNvSpPr/>
          <p:nvPr/>
        </p:nvSpPr>
        <p:spPr>
          <a:xfrm>
            <a:off x="7380360" y="3718080"/>
            <a:ext cx="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 Box 14"/>
          <p:cNvSpPr/>
          <p:nvPr/>
        </p:nvSpPr>
        <p:spPr>
          <a:xfrm>
            <a:off x="51840" y="5326200"/>
            <a:ext cx="1846800" cy="1312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Mesure directe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laboratoire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actuellement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accessible au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terrain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Text Box 15"/>
          <p:cNvSpPr/>
          <p:nvPr/>
        </p:nvSpPr>
        <p:spPr>
          <a:xfrm>
            <a:off x="2073600" y="5326200"/>
            <a:ext cx="1696680" cy="1312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Extrapolation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à partir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d’épreuves de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laboratoire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ou de terrain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 Box 16"/>
          <p:cNvSpPr/>
          <p:nvPr/>
        </p:nvSpPr>
        <p:spPr>
          <a:xfrm>
            <a:off x="4208400" y="5348160"/>
            <a:ext cx="1794240" cy="1312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Mesure à partir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d’épreuves de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laboratoire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ou de terrain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17"/>
          <p:cNvSpPr/>
          <p:nvPr/>
        </p:nvSpPr>
        <p:spPr>
          <a:xfrm>
            <a:off x="6443640" y="5340240"/>
            <a:ext cx="2630520" cy="1312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Mesure seulement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à partir d’analyseurs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laboratoire ou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d’analyseurs de terrain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 Box 18"/>
          <p:cNvSpPr/>
          <p:nvPr/>
        </p:nvSpPr>
        <p:spPr>
          <a:xfrm>
            <a:off x="7442280" y="2682720"/>
            <a:ext cx="1680480" cy="10688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Uniquement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mesurée à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partir de tests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terrain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Line 19"/>
          <p:cNvSpPr/>
          <p:nvPr/>
        </p:nvSpPr>
        <p:spPr>
          <a:xfrm flipV="1">
            <a:off x="6588000" y="2923920"/>
            <a:ext cx="863640" cy="730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Line 20"/>
          <p:cNvSpPr/>
          <p:nvPr/>
        </p:nvSpPr>
        <p:spPr>
          <a:xfrm flipV="1">
            <a:off x="826920" y="5013360"/>
            <a:ext cx="865440" cy="287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Line 21"/>
          <p:cNvSpPr/>
          <p:nvPr/>
        </p:nvSpPr>
        <p:spPr>
          <a:xfrm flipH="1" flipV="1">
            <a:off x="2050560" y="5013360"/>
            <a:ext cx="576360" cy="287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Line 22"/>
          <p:cNvSpPr/>
          <p:nvPr/>
        </p:nvSpPr>
        <p:spPr>
          <a:xfrm flipV="1">
            <a:off x="5003640" y="5013360"/>
            <a:ext cx="0" cy="287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Line 23"/>
          <p:cNvSpPr/>
          <p:nvPr/>
        </p:nvSpPr>
        <p:spPr>
          <a:xfrm flipV="1">
            <a:off x="7524720" y="5013000"/>
            <a:ext cx="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plit dir="out" orient="horz"/>
  </p:transition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nodeType="clickEffect" fill="hold">
                      <p:stCondLst>
                        <p:cond delay="indefinite"/>
                      </p:stCondLst>
                      <p:childTnLst>
                        <p:par>
                          <p:cTn id="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8600" y="115920"/>
            <a:ext cx="8305920" cy="1295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Comment choisir un test ?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68360" y="1596600"/>
            <a:ext cx="8424720" cy="4496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Quel que soit le test : de laboratoire ou de terrain, cinq critères sont à vérifier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1 La pertinence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2 L’accessibilité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3 La validité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4 La reproductibilité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5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5 La fonctionnalité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>
    <p:checker dir="vert"/>
  </p:transition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nodeType="clickEffect" fill="hold">
                      <p:stCondLst>
                        <p:cond delay="0"/>
                      </p:stCondLst>
                      <p:childTnLst>
                        <p:par>
                          <p:cTn id="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0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1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8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12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2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Box 4"/>
          <p:cNvSpPr/>
          <p:nvPr/>
        </p:nvSpPr>
        <p:spPr>
          <a:xfrm>
            <a:off x="607320" y="115920"/>
            <a:ext cx="783108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pertinence dépend des sujets à évaluer et de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l’utilisation possible des résultats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Picture 5" descr=""/>
          <p:cNvPicPr/>
          <p:nvPr/>
        </p:nvPicPr>
        <p:blipFill>
          <a:blip r:embed="rId1"/>
          <a:stretch/>
        </p:blipFill>
        <p:spPr>
          <a:xfrm>
            <a:off x="6084720" y="4581360"/>
            <a:ext cx="3059280" cy="2165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graphicFrame>
        <p:nvGraphicFramePr>
          <p:cNvPr id="79" name="Object 6"/>
          <p:cNvGraphicFramePr/>
          <p:nvPr/>
        </p:nvGraphicFramePr>
        <p:xfrm>
          <a:off x="3348000" y="2790720"/>
          <a:ext cx="2664000" cy="248292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80" name="Object 6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348000" y="2790720"/>
                    <a:ext cx="2664000" cy="2482920"/>
                  </a:xfrm>
                  <a:prstGeom prst="rect">
                    <a:avLst/>
                  </a:prstGeom>
                  <a:noFill/>
                  <a:ln w="9360">
                    <a:solidFill>
                      <a:srgbClr val="ffff00"/>
                    </a:solidFill>
                    <a:miter/>
                  </a:ln>
                </p:spPr>
              </p:pic>
            </p:oleObj>
          </a:graphicData>
        </a:graphic>
      </p:graphicFrame>
      <p:pic>
        <p:nvPicPr>
          <p:cNvPr id="81" name="Picture 31" descr="DSC00029"/>
          <p:cNvPicPr/>
          <p:nvPr/>
        </p:nvPicPr>
        <p:blipFill>
          <a:blip r:embed="rId4"/>
          <a:srcRect l="0" t="0" r="0" b="17142"/>
          <a:stretch/>
        </p:blipFill>
        <p:spPr>
          <a:xfrm>
            <a:off x="0" y="1484280"/>
            <a:ext cx="3240000" cy="1922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pic>
        <p:nvPicPr>
          <p:cNvPr id="82" name="Picture 34" descr=""/>
          <p:cNvPicPr/>
          <p:nvPr/>
        </p:nvPicPr>
        <p:blipFill>
          <a:blip r:embed="rId5"/>
          <a:stretch/>
        </p:blipFill>
        <p:spPr>
          <a:xfrm>
            <a:off x="0" y="4365720"/>
            <a:ext cx="3203640" cy="2136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pic>
        <p:nvPicPr>
          <p:cNvPr id="83" name="Picture 35" descr=""/>
          <p:cNvPicPr/>
          <p:nvPr/>
        </p:nvPicPr>
        <p:blipFill>
          <a:blip r:embed="rId6"/>
          <a:stretch/>
        </p:blipFill>
        <p:spPr>
          <a:xfrm>
            <a:off x="6156360" y="1074600"/>
            <a:ext cx="2146320" cy="32180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</p:pic>
      <p:sp>
        <p:nvSpPr>
          <p:cNvPr id="84" name="Text Box 36"/>
          <p:cNvSpPr/>
          <p:nvPr/>
        </p:nvSpPr>
        <p:spPr>
          <a:xfrm>
            <a:off x="-79560" y="3471840"/>
            <a:ext cx="338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Mesure de VO</a:t>
            </a:r>
            <a:r>
              <a:rPr b="0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au cours de la nage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37"/>
          <p:cNvSpPr/>
          <p:nvPr/>
        </p:nvSpPr>
        <p:spPr>
          <a:xfrm>
            <a:off x="3207240" y="5272200"/>
            <a:ext cx="278352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Évaluation de la vitesse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aérobie maximale de la nage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VAMEVAL-NAGE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38"/>
          <p:cNvSpPr/>
          <p:nvPr/>
        </p:nvSpPr>
        <p:spPr>
          <a:xfrm>
            <a:off x="6283800" y="4245120"/>
            <a:ext cx="16992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</a:t>
            </a:r>
            <a:r>
              <a:rPr b="0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tapis roulant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39"/>
          <p:cNvSpPr/>
          <p:nvPr/>
        </p:nvSpPr>
        <p:spPr>
          <a:xfrm>
            <a:off x="892440" y="6524640"/>
            <a:ext cx="9327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</a:t>
            </a:r>
            <a:r>
              <a:rPr b="0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surf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41"/>
          <p:cNvSpPr/>
          <p:nvPr/>
        </p:nvSpPr>
        <p:spPr>
          <a:xfrm>
            <a:off x="6190920" y="6232680"/>
            <a:ext cx="31212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Évaluation de la Vitesse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aérobie maximale de la course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89647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QUELS TYPES DE TESTS POUR EVALUER </a:t>
            </a: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L’ENDURANCE AEROBIE ?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51920" y="1676520"/>
            <a:ext cx="3483000" cy="4114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" name="Group 4"/>
          <p:cNvGrpSpPr/>
          <p:nvPr/>
        </p:nvGrpSpPr>
        <p:grpSpPr>
          <a:xfrm>
            <a:off x="395280" y="2209680"/>
            <a:ext cx="2895480" cy="380880"/>
            <a:chOff x="395280" y="2209680"/>
            <a:chExt cx="2895480" cy="380880"/>
          </a:xfrm>
        </p:grpSpPr>
        <p:sp>
          <p:nvSpPr>
            <p:cNvPr id="92" name="Line 5"/>
            <p:cNvSpPr/>
            <p:nvPr/>
          </p:nvSpPr>
          <p:spPr>
            <a:xfrm>
              <a:off x="395280" y="2590560"/>
              <a:ext cx="4572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" name="Line 6"/>
            <p:cNvSpPr/>
            <p:nvPr/>
          </p:nvSpPr>
          <p:spPr>
            <a:xfrm flipV="1">
              <a:off x="85248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" name="Line 7"/>
            <p:cNvSpPr/>
            <p:nvPr/>
          </p:nvSpPr>
          <p:spPr>
            <a:xfrm>
              <a:off x="852480" y="2209680"/>
              <a:ext cx="17524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" name="Line 8"/>
            <p:cNvSpPr/>
            <p:nvPr/>
          </p:nvSpPr>
          <p:spPr>
            <a:xfrm>
              <a:off x="260496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Line 9"/>
            <p:cNvSpPr/>
            <p:nvPr/>
          </p:nvSpPr>
          <p:spPr>
            <a:xfrm>
              <a:off x="2604960" y="2590560"/>
              <a:ext cx="6858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7" name="Text Box 10"/>
          <p:cNvSpPr/>
          <p:nvPr/>
        </p:nvSpPr>
        <p:spPr>
          <a:xfrm>
            <a:off x="152280" y="2590920"/>
            <a:ext cx="3657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TRIANGULAIRES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Box 11"/>
          <p:cNvSpPr/>
          <p:nvPr/>
        </p:nvSpPr>
        <p:spPr>
          <a:xfrm>
            <a:off x="611280" y="2971800"/>
            <a:ext cx="198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ESCALIER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12"/>
          <p:cNvSpPr/>
          <p:nvPr/>
        </p:nvSpPr>
        <p:spPr>
          <a:xfrm>
            <a:off x="400320" y="3454560"/>
            <a:ext cx="136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CONTINU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0" name="Group 13"/>
          <p:cNvGrpSpPr/>
          <p:nvPr/>
        </p:nvGrpSpPr>
        <p:grpSpPr>
          <a:xfrm>
            <a:off x="2411280" y="3276720"/>
            <a:ext cx="609480" cy="457200"/>
            <a:chOff x="2411280" y="3276720"/>
            <a:chExt cx="609480" cy="457200"/>
          </a:xfrm>
        </p:grpSpPr>
        <p:sp>
          <p:nvSpPr>
            <p:cNvPr id="101" name="Line 14"/>
            <p:cNvSpPr/>
            <p:nvPr/>
          </p:nvSpPr>
          <p:spPr>
            <a:xfrm>
              <a:off x="2411280" y="37339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" name="Line 15"/>
            <p:cNvSpPr/>
            <p:nvPr/>
          </p:nvSpPr>
          <p:spPr>
            <a:xfrm flipV="1">
              <a:off x="2563560" y="358128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3" name="Line 16"/>
            <p:cNvSpPr/>
            <p:nvPr/>
          </p:nvSpPr>
          <p:spPr>
            <a:xfrm>
              <a:off x="2563560" y="3581640"/>
              <a:ext cx="15264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4" name="Line 17"/>
            <p:cNvSpPr/>
            <p:nvPr/>
          </p:nvSpPr>
          <p:spPr>
            <a:xfrm flipV="1">
              <a:off x="2716200" y="342900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" name="Line 18"/>
            <p:cNvSpPr/>
            <p:nvPr/>
          </p:nvSpPr>
          <p:spPr>
            <a:xfrm>
              <a:off x="2716200" y="342936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" name="Line 19"/>
            <p:cNvSpPr/>
            <p:nvPr/>
          </p:nvSpPr>
          <p:spPr>
            <a:xfrm flipV="1">
              <a:off x="2868480" y="3276720"/>
              <a:ext cx="0" cy="1526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" name="Line 20"/>
            <p:cNvSpPr/>
            <p:nvPr/>
          </p:nvSpPr>
          <p:spPr>
            <a:xfrm>
              <a:off x="2868480" y="32767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8" name="Text Box 21"/>
          <p:cNvSpPr/>
          <p:nvPr/>
        </p:nvSpPr>
        <p:spPr>
          <a:xfrm>
            <a:off x="387360" y="3911760"/>
            <a:ext cx="24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PAR INTERVALLES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Rectangle 22"/>
          <p:cNvSpPr/>
          <p:nvPr/>
        </p:nvSpPr>
        <p:spPr>
          <a:xfrm>
            <a:off x="2068560" y="4492800"/>
            <a:ext cx="152280" cy="30456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Line 23"/>
          <p:cNvSpPr/>
          <p:nvPr/>
        </p:nvSpPr>
        <p:spPr>
          <a:xfrm>
            <a:off x="1839960" y="4797360"/>
            <a:ext cx="1752480" cy="0"/>
          </a:xfrm>
          <a:prstGeom prst="line">
            <a:avLst/>
          </a:prstGeom>
          <a:ln w="9360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Rectangle 24"/>
          <p:cNvSpPr/>
          <p:nvPr/>
        </p:nvSpPr>
        <p:spPr>
          <a:xfrm>
            <a:off x="1763640" y="4645080"/>
            <a:ext cx="152640" cy="1522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Rectangle 25"/>
          <p:cNvSpPr/>
          <p:nvPr/>
        </p:nvSpPr>
        <p:spPr>
          <a:xfrm>
            <a:off x="2373480" y="4340160"/>
            <a:ext cx="152280" cy="45720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Rectangle 26"/>
          <p:cNvSpPr/>
          <p:nvPr/>
        </p:nvSpPr>
        <p:spPr>
          <a:xfrm>
            <a:off x="2678040" y="4187880"/>
            <a:ext cx="152640" cy="6094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Rectangle 27"/>
          <p:cNvSpPr/>
          <p:nvPr/>
        </p:nvSpPr>
        <p:spPr>
          <a:xfrm>
            <a:off x="2982960" y="3959280"/>
            <a:ext cx="152280" cy="8380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28"/>
          <p:cNvSpPr/>
          <p:nvPr/>
        </p:nvSpPr>
        <p:spPr>
          <a:xfrm>
            <a:off x="685800" y="4848120"/>
            <a:ext cx="1099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RAMPE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Line 29"/>
          <p:cNvSpPr/>
          <p:nvPr/>
        </p:nvSpPr>
        <p:spPr>
          <a:xfrm flipV="1">
            <a:off x="1692360" y="4952520"/>
            <a:ext cx="990360" cy="685800"/>
          </a:xfrm>
          <a:prstGeom prst="line">
            <a:avLst/>
          </a:prstGeom>
          <a:ln w="572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Line 30"/>
          <p:cNvSpPr/>
          <p:nvPr/>
        </p:nvSpPr>
        <p:spPr>
          <a:xfrm flipV="1">
            <a:off x="3635280" y="1980720"/>
            <a:ext cx="685800" cy="22860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 Box 31"/>
          <p:cNvSpPr/>
          <p:nvPr/>
        </p:nvSpPr>
        <p:spPr>
          <a:xfrm>
            <a:off x="4393440" y="1752480"/>
            <a:ext cx="408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de K. COOPER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Line 32"/>
          <p:cNvSpPr/>
          <p:nvPr/>
        </p:nvSpPr>
        <p:spPr>
          <a:xfrm>
            <a:off x="3635280" y="2209680"/>
            <a:ext cx="685800" cy="15264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33"/>
          <p:cNvSpPr/>
          <p:nvPr/>
        </p:nvSpPr>
        <p:spPr>
          <a:xfrm>
            <a:off x="4395240" y="2133720"/>
            <a:ext cx="3193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limites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2"/>
          <p:cNvSpPr/>
          <p:nvPr/>
        </p:nvSpPr>
        <p:spPr>
          <a:xfrm>
            <a:off x="2185920" y="1285920"/>
            <a:ext cx="5292720" cy="3682800"/>
          </a:xfrm>
          <a:prstGeom prst="rect">
            <a:avLst/>
          </a:prstGeom>
          <a:solidFill>
            <a:srgbClr val="e3e3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2185920" y="1285920"/>
            <a:ext cx="5302440" cy="3695760"/>
          </a:xfrm>
          <a:prstGeom prst="rect">
            <a:avLst/>
          </a:prstGeom>
          <a:noFill/>
          <a:ln w="284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Line 4"/>
          <p:cNvSpPr/>
          <p:nvPr/>
        </p:nvSpPr>
        <p:spPr>
          <a:xfrm flipV="1">
            <a:off x="2185920" y="4861080"/>
            <a:ext cx="3240" cy="241200"/>
          </a:xfrm>
          <a:prstGeom prst="line">
            <a:avLst/>
          </a:prstGeom>
          <a:ln w="14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Line 5"/>
          <p:cNvSpPr/>
          <p:nvPr/>
        </p:nvSpPr>
        <p:spPr>
          <a:xfrm flipV="1">
            <a:off x="3954600" y="4861080"/>
            <a:ext cx="0" cy="241200"/>
          </a:xfrm>
          <a:prstGeom prst="line">
            <a:avLst/>
          </a:prstGeom>
          <a:ln w="14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Line 6"/>
          <p:cNvSpPr/>
          <p:nvPr/>
        </p:nvSpPr>
        <p:spPr>
          <a:xfrm flipV="1">
            <a:off x="5721480" y="4861080"/>
            <a:ext cx="1440" cy="241200"/>
          </a:xfrm>
          <a:prstGeom prst="line">
            <a:avLst/>
          </a:prstGeom>
          <a:ln w="14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Line 7"/>
          <p:cNvSpPr/>
          <p:nvPr/>
        </p:nvSpPr>
        <p:spPr>
          <a:xfrm flipV="1">
            <a:off x="7488360" y="4861080"/>
            <a:ext cx="2880" cy="241200"/>
          </a:xfrm>
          <a:prstGeom prst="line">
            <a:avLst/>
          </a:prstGeom>
          <a:ln w="14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Line 8"/>
          <p:cNvSpPr/>
          <p:nvPr/>
        </p:nvSpPr>
        <p:spPr>
          <a:xfrm>
            <a:off x="2185920" y="1293840"/>
            <a:ext cx="3240" cy="3679920"/>
          </a:xfrm>
          <a:prstGeom prst="line">
            <a:avLst/>
          </a:prstGeom>
          <a:ln w="14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Line 9"/>
          <p:cNvSpPr/>
          <p:nvPr/>
        </p:nvSpPr>
        <p:spPr>
          <a:xfrm>
            <a:off x="2089080" y="4981680"/>
            <a:ext cx="195480" cy="1440"/>
          </a:xfrm>
          <a:prstGeom prst="line">
            <a:avLst/>
          </a:prstGeom>
          <a:ln w="14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Line 10"/>
          <p:cNvSpPr/>
          <p:nvPr/>
        </p:nvSpPr>
        <p:spPr>
          <a:xfrm>
            <a:off x="2089080" y="3736800"/>
            <a:ext cx="195480" cy="180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Line 11"/>
          <p:cNvSpPr/>
          <p:nvPr/>
        </p:nvSpPr>
        <p:spPr>
          <a:xfrm>
            <a:off x="2089080" y="2530440"/>
            <a:ext cx="195480" cy="180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Line 12"/>
          <p:cNvSpPr/>
          <p:nvPr/>
        </p:nvSpPr>
        <p:spPr>
          <a:xfrm>
            <a:off x="2089080" y="1285920"/>
            <a:ext cx="195480" cy="1440"/>
          </a:xfrm>
          <a:prstGeom prst="line">
            <a:avLst/>
          </a:prstGeom>
          <a:ln w="14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Rectangle 13"/>
          <p:cNvSpPr/>
          <p:nvPr/>
        </p:nvSpPr>
        <p:spPr>
          <a:xfrm>
            <a:off x="2844720" y="449280"/>
            <a:ext cx="33703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Rectangle 14"/>
          <p:cNvSpPr/>
          <p:nvPr/>
        </p:nvSpPr>
        <p:spPr>
          <a:xfrm>
            <a:off x="2743200" y="533520"/>
            <a:ext cx="46483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TEMPS LIMITE</a:t>
            </a:r>
            <a:endParaRPr b="0" lang="en-US" sz="39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Rectangle 15"/>
          <p:cNvSpPr/>
          <p:nvPr/>
        </p:nvSpPr>
        <p:spPr>
          <a:xfrm>
            <a:off x="1979640" y="5264280"/>
            <a:ext cx="41904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Rectangle 16"/>
          <p:cNvSpPr/>
          <p:nvPr/>
        </p:nvSpPr>
        <p:spPr>
          <a:xfrm>
            <a:off x="2082960" y="5353200"/>
            <a:ext cx="2336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Rectangle 17"/>
          <p:cNvSpPr/>
          <p:nvPr/>
        </p:nvSpPr>
        <p:spPr>
          <a:xfrm>
            <a:off x="3643200" y="5264280"/>
            <a:ext cx="6303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18"/>
          <p:cNvSpPr/>
          <p:nvPr/>
        </p:nvSpPr>
        <p:spPr>
          <a:xfrm>
            <a:off x="3745080" y="5353200"/>
            <a:ext cx="46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19"/>
          <p:cNvSpPr/>
          <p:nvPr/>
        </p:nvSpPr>
        <p:spPr>
          <a:xfrm>
            <a:off x="5307120" y="5264280"/>
            <a:ext cx="844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Rectangle 20"/>
          <p:cNvSpPr/>
          <p:nvPr/>
        </p:nvSpPr>
        <p:spPr>
          <a:xfrm>
            <a:off x="5410080" y="5353200"/>
            <a:ext cx="6998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Rectangle 21"/>
          <p:cNvSpPr/>
          <p:nvPr/>
        </p:nvSpPr>
        <p:spPr>
          <a:xfrm>
            <a:off x="7072200" y="5264280"/>
            <a:ext cx="844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Rectangle 22"/>
          <p:cNvSpPr/>
          <p:nvPr/>
        </p:nvSpPr>
        <p:spPr>
          <a:xfrm>
            <a:off x="7176960" y="5353200"/>
            <a:ext cx="69984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150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Rectangle 23"/>
          <p:cNvSpPr/>
          <p:nvPr/>
        </p:nvSpPr>
        <p:spPr>
          <a:xfrm>
            <a:off x="1389240" y="4057560"/>
            <a:ext cx="6346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Rectangle 24"/>
          <p:cNvSpPr/>
          <p:nvPr/>
        </p:nvSpPr>
        <p:spPr>
          <a:xfrm>
            <a:off x="1494000" y="4146480"/>
            <a:ext cx="46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Rectangle 25"/>
          <p:cNvSpPr/>
          <p:nvPr/>
        </p:nvSpPr>
        <p:spPr>
          <a:xfrm>
            <a:off x="1389240" y="2813040"/>
            <a:ext cx="63468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Rectangle 26"/>
          <p:cNvSpPr/>
          <p:nvPr/>
        </p:nvSpPr>
        <p:spPr>
          <a:xfrm>
            <a:off x="1494000" y="2901960"/>
            <a:ext cx="46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45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Rectangle 27"/>
          <p:cNvSpPr/>
          <p:nvPr/>
        </p:nvSpPr>
        <p:spPr>
          <a:xfrm>
            <a:off x="1389240" y="1569960"/>
            <a:ext cx="63468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Rectangle 28"/>
          <p:cNvSpPr/>
          <p:nvPr/>
        </p:nvSpPr>
        <p:spPr>
          <a:xfrm>
            <a:off x="1494000" y="1658880"/>
            <a:ext cx="46692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50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Rectangle 29"/>
          <p:cNvSpPr/>
          <p:nvPr/>
        </p:nvSpPr>
        <p:spPr>
          <a:xfrm rot="16200000">
            <a:off x="-557280" y="2884320"/>
            <a:ext cx="352332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</a:t>
            </a:r>
            <a:r>
              <a:rPr b="1" lang="fr-FR" sz="33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1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(ml kg</a:t>
            </a:r>
            <a:r>
              <a:rPr b="1" lang="fr-FR" sz="33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1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min</a:t>
            </a:r>
            <a:r>
              <a:rPr b="1" lang="fr-FR" sz="33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1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Rectangle 30"/>
          <p:cNvSpPr/>
          <p:nvPr/>
        </p:nvSpPr>
        <p:spPr>
          <a:xfrm>
            <a:off x="3398760" y="5842080"/>
            <a:ext cx="256860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Rectangle 31"/>
          <p:cNvSpPr/>
          <p:nvPr/>
        </p:nvSpPr>
        <p:spPr>
          <a:xfrm>
            <a:off x="3503520" y="5916600"/>
            <a:ext cx="260856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DUREE (min)</a:t>
            </a:r>
            <a:endParaRPr b="0" lang="en-US" sz="3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32"/>
          <p:cNvSpPr/>
          <p:nvPr/>
        </p:nvSpPr>
        <p:spPr>
          <a:xfrm>
            <a:off x="2774880" y="1452600"/>
            <a:ext cx="197028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33"/>
          <p:cNvSpPr/>
          <p:nvPr/>
        </p:nvSpPr>
        <p:spPr>
          <a:xfrm>
            <a:off x="2881440" y="1371600"/>
            <a:ext cx="214776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0" lang="fr-FR" sz="39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3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max</a:t>
            </a:r>
            <a:endParaRPr b="0" lang="en-US" sz="39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34"/>
          <p:cNvSpPr/>
          <p:nvPr/>
        </p:nvSpPr>
        <p:spPr>
          <a:xfrm>
            <a:off x="4614840" y="3714840"/>
            <a:ext cx="5079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Rectangle 35"/>
          <p:cNvSpPr/>
          <p:nvPr/>
        </p:nvSpPr>
        <p:spPr>
          <a:xfrm>
            <a:off x="4724280" y="4191120"/>
            <a:ext cx="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Rectangle 36"/>
          <p:cNvSpPr/>
          <p:nvPr/>
        </p:nvSpPr>
        <p:spPr>
          <a:xfrm>
            <a:off x="6477120" y="3962520"/>
            <a:ext cx="509400" cy="7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Rectangle 37"/>
          <p:cNvSpPr/>
          <p:nvPr/>
        </p:nvSpPr>
        <p:spPr>
          <a:xfrm>
            <a:off x="6476760" y="3962520"/>
            <a:ext cx="33120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b="0" lang="en-US" sz="39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Line 38"/>
          <p:cNvSpPr/>
          <p:nvPr/>
        </p:nvSpPr>
        <p:spPr>
          <a:xfrm>
            <a:off x="2209680" y="4343400"/>
            <a:ext cx="4191120" cy="0"/>
          </a:xfrm>
          <a:prstGeom prst="line">
            <a:avLst/>
          </a:prstGeom>
          <a:ln w="76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Line 39"/>
          <p:cNvSpPr/>
          <p:nvPr/>
        </p:nvSpPr>
        <p:spPr>
          <a:xfrm>
            <a:off x="2209680" y="4495680"/>
            <a:ext cx="2146320" cy="12960"/>
          </a:xfrm>
          <a:prstGeom prst="line">
            <a:avLst/>
          </a:prstGeom>
          <a:ln w="76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Line 40"/>
          <p:cNvSpPr/>
          <p:nvPr/>
        </p:nvSpPr>
        <p:spPr>
          <a:xfrm>
            <a:off x="2209680" y="3048120"/>
            <a:ext cx="1857600" cy="20520"/>
          </a:xfrm>
          <a:prstGeom prst="line">
            <a:avLst/>
          </a:prstGeom>
          <a:ln w="76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Line 41"/>
          <p:cNvSpPr/>
          <p:nvPr/>
        </p:nvSpPr>
        <p:spPr>
          <a:xfrm>
            <a:off x="2209680" y="3200400"/>
            <a:ext cx="922320" cy="12600"/>
          </a:xfrm>
          <a:prstGeom prst="line">
            <a:avLst/>
          </a:prstGeom>
          <a:ln w="76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Line 42"/>
          <p:cNvSpPr/>
          <p:nvPr/>
        </p:nvSpPr>
        <p:spPr>
          <a:xfrm>
            <a:off x="2209680" y="1828800"/>
            <a:ext cx="490680" cy="15840"/>
          </a:xfrm>
          <a:prstGeom prst="line">
            <a:avLst/>
          </a:prstGeom>
          <a:ln w="507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Line 43"/>
          <p:cNvSpPr/>
          <p:nvPr/>
        </p:nvSpPr>
        <p:spPr>
          <a:xfrm>
            <a:off x="2209680" y="1981080"/>
            <a:ext cx="346320" cy="7920"/>
          </a:xfrm>
          <a:prstGeom prst="line">
            <a:avLst/>
          </a:prstGeom>
          <a:ln w="507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8880" bIns="-3888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Rectangle 44"/>
          <p:cNvSpPr/>
          <p:nvPr/>
        </p:nvSpPr>
        <p:spPr>
          <a:xfrm>
            <a:off x="4344840" y="4267080"/>
            <a:ext cx="51120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b="0" lang="en-US" sz="39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Text Box 45"/>
          <p:cNvSpPr/>
          <p:nvPr/>
        </p:nvSpPr>
        <p:spPr>
          <a:xfrm>
            <a:off x="7467840" y="1371600"/>
            <a:ext cx="12214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100%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 Box 46"/>
          <p:cNvSpPr/>
          <p:nvPr/>
        </p:nvSpPr>
        <p:spPr>
          <a:xfrm>
            <a:off x="7606440" y="2759040"/>
            <a:ext cx="9950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90%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Text Box 47"/>
          <p:cNvSpPr/>
          <p:nvPr/>
        </p:nvSpPr>
        <p:spPr>
          <a:xfrm>
            <a:off x="7620840" y="4035600"/>
            <a:ext cx="9950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80%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reeform 48"/>
          <p:cNvSpPr/>
          <p:nvPr/>
        </p:nvSpPr>
        <p:spPr>
          <a:xfrm>
            <a:off x="2701800" y="1851120"/>
            <a:ext cx="3886200" cy="2514600"/>
          </a:xfrm>
          <a:custGeom>
            <a:avLst/>
            <a:gdLst>
              <a:gd name="GluePoint1X" fmla="*/ 0 w 2448"/>
              <a:gd name="GluePoint1Y" fmla="*/ 0 h 1584"/>
              <a:gd name="GluePoint2X" fmla="*/ 2056447500 w 2448"/>
              <a:gd name="GluePoint2Y" fmla="*/ 1935480000 h 1584"/>
              <a:gd name="GluePoint3X" fmla="*/ 2147483647 w 2448"/>
              <a:gd name="GluePoint3Y" fmla="*/ 2147483647 h 15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448" h="1584">
                <a:moveTo>
                  <a:pt x="0" y="0"/>
                </a:moveTo>
                <a:cubicBezTo>
                  <a:pt x="204" y="252"/>
                  <a:pt x="408" y="504"/>
                  <a:pt x="816" y="768"/>
                </a:cubicBezTo>
                <a:cubicBezTo>
                  <a:pt x="1224" y="1032"/>
                  <a:pt x="2176" y="1448"/>
                  <a:pt x="2448" y="1584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reeform 49"/>
          <p:cNvSpPr/>
          <p:nvPr/>
        </p:nvSpPr>
        <p:spPr>
          <a:xfrm>
            <a:off x="2556000" y="1844640"/>
            <a:ext cx="1828800" cy="2590920"/>
          </a:xfrm>
          <a:custGeom>
            <a:avLst/>
            <a:gdLst>
              <a:gd name="GluePoint1X" fmla="*/ 0 w 1152"/>
              <a:gd name="GluePoint1Y" fmla="*/ 0 h 1632"/>
              <a:gd name="GluePoint2X" fmla="*/ 846772500 w 1152"/>
              <a:gd name="GluePoint2Y" fmla="*/ 2056447500 h 1632"/>
              <a:gd name="GluePoint3X" fmla="*/ 2147483647 w 1152"/>
              <a:gd name="GluePoint3Y" fmla="*/ 2147483647 h 16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152" h="1632">
                <a:moveTo>
                  <a:pt x="0" y="0"/>
                </a:moveTo>
                <a:cubicBezTo>
                  <a:pt x="72" y="272"/>
                  <a:pt x="144" y="544"/>
                  <a:pt x="336" y="816"/>
                </a:cubicBezTo>
                <a:cubicBezTo>
                  <a:pt x="528" y="1088"/>
                  <a:pt x="1016" y="1496"/>
                  <a:pt x="1152" y="1632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Line 50"/>
          <p:cNvSpPr/>
          <p:nvPr/>
        </p:nvSpPr>
        <p:spPr>
          <a:xfrm>
            <a:off x="2627280" y="1844640"/>
            <a:ext cx="0" cy="309708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51"/>
          <p:cNvSpPr/>
          <p:nvPr/>
        </p:nvSpPr>
        <p:spPr>
          <a:xfrm>
            <a:off x="2245320" y="5011560"/>
            <a:ext cx="9356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  7 min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Line 52"/>
          <p:cNvSpPr/>
          <p:nvPr/>
        </p:nvSpPr>
        <p:spPr>
          <a:xfrm>
            <a:off x="2411280" y="1844640"/>
            <a:ext cx="0" cy="309708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Line 53"/>
          <p:cNvSpPr/>
          <p:nvPr/>
        </p:nvSpPr>
        <p:spPr>
          <a:xfrm>
            <a:off x="3995640" y="2997360"/>
            <a:ext cx="0" cy="1944360"/>
          </a:xfrm>
          <a:prstGeom prst="line">
            <a:avLst/>
          </a:prstGeom>
          <a:ln w="38160">
            <a:solidFill>
              <a:srgbClr val="3333cc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Line 54"/>
          <p:cNvSpPr/>
          <p:nvPr/>
        </p:nvSpPr>
        <p:spPr>
          <a:xfrm>
            <a:off x="3059280" y="3141720"/>
            <a:ext cx="0" cy="1800000"/>
          </a:xfrm>
          <a:prstGeom prst="line">
            <a:avLst/>
          </a:prstGeom>
          <a:ln w="38160">
            <a:solidFill>
              <a:srgbClr val="3333cc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55"/>
          <p:cNvSpPr/>
          <p:nvPr/>
        </p:nvSpPr>
        <p:spPr>
          <a:xfrm>
            <a:off x="2899800" y="5157720"/>
            <a:ext cx="1521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min 50 min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random/>
  </p:transition>
  <p:timing>
    <p:tnLst>
      <p:par>
        <p:cTn id="142" dur="indefinite" restart="never" nodeType="tmRoot">
          <p:childTnLst>
            <p:seq>
              <p:cTn id="143" dur="indefinite" nodeType="mainSeq">
                <p:childTnLst>
                  <p:par>
                    <p:cTn id="144" nodeType="clickEffect" fill="hold">
                      <p:stCondLst>
                        <p:cond delay="indefinite"/>
                      </p:stCondLst>
                      <p:childTnLst>
                        <p:par>
                          <p:cTn id="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48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52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nodeType="clickEffect" fill="hold">
                      <p:stCondLst>
                        <p:cond delay="indefinite"/>
                      </p:stCondLst>
                      <p:childTnLst>
                        <p:par>
                          <p:cTn id="1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1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5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151920" y="1676520"/>
            <a:ext cx="3483000" cy="4114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6" name="Group 4"/>
          <p:cNvGrpSpPr/>
          <p:nvPr/>
        </p:nvGrpSpPr>
        <p:grpSpPr>
          <a:xfrm>
            <a:off x="395280" y="2209680"/>
            <a:ext cx="2895480" cy="380880"/>
            <a:chOff x="395280" y="2209680"/>
            <a:chExt cx="2895480" cy="380880"/>
          </a:xfrm>
        </p:grpSpPr>
        <p:sp>
          <p:nvSpPr>
            <p:cNvPr id="177" name="Line 5"/>
            <p:cNvSpPr/>
            <p:nvPr/>
          </p:nvSpPr>
          <p:spPr>
            <a:xfrm>
              <a:off x="395280" y="2590560"/>
              <a:ext cx="4572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Line 6"/>
            <p:cNvSpPr/>
            <p:nvPr/>
          </p:nvSpPr>
          <p:spPr>
            <a:xfrm flipV="1">
              <a:off x="85248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9" name="Line 7"/>
            <p:cNvSpPr/>
            <p:nvPr/>
          </p:nvSpPr>
          <p:spPr>
            <a:xfrm>
              <a:off x="852480" y="2209680"/>
              <a:ext cx="17524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Line 8"/>
            <p:cNvSpPr/>
            <p:nvPr/>
          </p:nvSpPr>
          <p:spPr>
            <a:xfrm>
              <a:off x="260496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1" name="Line 9"/>
            <p:cNvSpPr/>
            <p:nvPr/>
          </p:nvSpPr>
          <p:spPr>
            <a:xfrm>
              <a:off x="2604960" y="2590560"/>
              <a:ext cx="6858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2" name="Text Box 10"/>
          <p:cNvSpPr/>
          <p:nvPr/>
        </p:nvSpPr>
        <p:spPr>
          <a:xfrm>
            <a:off x="152280" y="2590920"/>
            <a:ext cx="3657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TRIANGULAIRES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 Box 11"/>
          <p:cNvSpPr/>
          <p:nvPr/>
        </p:nvSpPr>
        <p:spPr>
          <a:xfrm>
            <a:off x="611280" y="2971800"/>
            <a:ext cx="198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ESCALIER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12"/>
          <p:cNvSpPr/>
          <p:nvPr/>
        </p:nvSpPr>
        <p:spPr>
          <a:xfrm>
            <a:off x="325800" y="3454560"/>
            <a:ext cx="136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CONTINU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85" name="Group 13"/>
          <p:cNvGrpSpPr/>
          <p:nvPr/>
        </p:nvGrpSpPr>
        <p:grpSpPr>
          <a:xfrm>
            <a:off x="2411280" y="3276720"/>
            <a:ext cx="609480" cy="457200"/>
            <a:chOff x="2411280" y="3276720"/>
            <a:chExt cx="609480" cy="457200"/>
          </a:xfrm>
        </p:grpSpPr>
        <p:sp>
          <p:nvSpPr>
            <p:cNvPr id="186" name="Line 14"/>
            <p:cNvSpPr/>
            <p:nvPr/>
          </p:nvSpPr>
          <p:spPr>
            <a:xfrm>
              <a:off x="2411280" y="37339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7" name="Line 15"/>
            <p:cNvSpPr/>
            <p:nvPr/>
          </p:nvSpPr>
          <p:spPr>
            <a:xfrm flipV="1">
              <a:off x="2563560" y="358128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8" name="Line 16"/>
            <p:cNvSpPr/>
            <p:nvPr/>
          </p:nvSpPr>
          <p:spPr>
            <a:xfrm>
              <a:off x="2563560" y="3581640"/>
              <a:ext cx="15264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Line 17"/>
            <p:cNvSpPr/>
            <p:nvPr/>
          </p:nvSpPr>
          <p:spPr>
            <a:xfrm flipV="1">
              <a:off x="2716200" y="342900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0" name="Line 18"/>
            <p:cNvSpPr/>
            <p:nvPr/>
          </p:nvSpPr>
          <p:spPr>
            <a:xfrm>
              <a:off x="2716200" y="342936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1" name="Line 19"/>
            <p:cNvSpPr/>
            <p:nvPr/>
          </p:nvSpPr>
          <p:spPr>
            <a:xfrm flipV="1">
              <a:off x="2868480" y="3276720"/>
              <a:ext cx="0" cy="1526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Line 20"/>
            <p:cNvSpPr/>
            <p:nvPr/>
          </p:nvSpPr>
          <p:spPr>
            <a:xfrm>
              <a:off x="2868480" y="32767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3" name="Text Box 21"/>
          <p:cNvSpPr/>
          <p:nvPr/>
        </p:nvSpPr>
        <p:spPr>
          <a:xfrm>
            <a:off x="387360" y="3911760"/>
            <a:ext cx="24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PAR INTERVALLES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Rectangle 22"/>
          <p:cNvSpPr/>
          <p:nvPr/>
        </p:nvSpPr>
        <p:spPr>
          <a:xfrm>
            <a:off x="2068560" y="4492800"/>
            <a:ext cx="152280" cy="30456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Line 23"/>
          <p:cNvSpPr/>
          <p:nvPr/>
        </p:nvSpPr>
        <p:spPr>
          <a:xfrm>
            <a:off x="1839960" y="4797360"/>
            <a:ext cx="1752480" cy="0"/>
          </a:xfrm>
          <a:prstGeom prst="line">
            <a:avLst/>
          </a:prstGeom>
          <a:ln w="9360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Rectangle 24"/>
          <p:cNvSpPr/>
          <p:nvPr/>
        </p:nvSpPr>
        <p:spPr>
          <a:xfrm>
            <a:off x="1763640" y="4645080"/>
            <a:ext cx="152640" cy="1522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Rectangle 25"/>
          <p:cNvSpPr/>
          <p:nvPr/>
        </p:nvSpPr>
        <p:spPr>
          <a:xfrm>
            <a:off x="2373480" y="4340160"/>
            <a:ext cx="152280" cy="45720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Rectangle 26"/>
          <p:cNvSpPr/>
          <p:nvPr/>
        </p:nvSpPr>
        <p:spPr>
          <a:xfrm>
            <a:off x="2678040" y="4187880"/>
            <a:ext cx="152640" cy="6094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Rectangle 27"/>
          <p:cNvSpPr/>
          <p:nvPr/>
        </p:nvSpPr>
        <p:spPr>
          <a:xfrm>
            <a:off x="2982960" y="3959280"/>
            <a:ext cx="152280" cy="8380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28"/>
          <p:cNvSpPr/>
          <p:nvPr/>
        </p:nvSpPr>
        <p:spPr>
          <a:xfrm>
            <a:off x="685800" y="4848120"/>
            <a:ext cx="1099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RAMPE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Line 29"/>
          <p:cNvSpPr/>
          <p:nvPr/>
        </p:nvSpPr>
        <p:spPr>
          <a:xfrm flipV="1">
            <a:off x="1692360" y="4952520"/>
            <a:ext cx="990360" cy="685800"/>
          </a:xfrm>
          <a:prstGeom prst="line">
            <a:avLst/>
          </a:prstGeom>
          <a:ln w="572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Line 30"/>
          <p:cNvSpPr/>
          <p:nvPr/>
        </p:nvSpPr>
        <p:spPr>
          <a:xfrm flipV="1">
            <a:off x="3635280" y="1980720"/>
            <a:ext cx="685800" cy="22860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Text Box 31"/>
          <p:cNvSpPr/>
          <p:nvPr/>
        </p:nvSpPr>
        <p:spPr>
          <a:xfrm>
            <a:off x="4393440" y="1752480"/>
            <a:ext cx="408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de K. COOPER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Line 32"/>
          <p:cNvSpPr/>
          <p:nvPr/>
        </p:nvSpPr>
        <p:spPr>
          <a:xfrm>
            <a:off x="3635280" y="2209680"/>
            <a:ext cx="685800" cy="15264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 Box 33"/>
          <p:cNvSpPr/>
          <p:nvPr/>
        </p:nvSpPr>
        <p:spPr>
          <a:xfrm>
            <a:off x="4395240" y="2133720"/>
            <a:ext cx="3193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limites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Line 34"/>
          <p:cNvSpPr/>
          <p:nvPr/>
        </p:nvSpPr>
        <p:spPr>
          <a:xfrm flipV="1">
            <a:off x="3635280" y="3123720"/>
            <a:ext cx="609840" cy="304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 Box 35"/>
          <p:cNvSpPr/>
          <p:nvPr/>
        </p:nvSpPr>
        <p:spPr>
          <a:xfrm>
            <a:off x="4314240" y="2819520"/>
            <a:ext cx="4495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navette (Léger et al. 1982)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title"/>
          </p:nvPr>
        </p:nvSpPr>
        <p:spPr>
          <a:xfrm>
            <a:off x="0" y="228600"/>
            <a:ext cx="89647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QUELS TYPES DE TESTS POUR EVALUER 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PUISSANCE AEROBIE MAXIMALE 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50560" y="43920"/>
            <a:ext cx="889308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Épreuve de course navette de 20 m à paliers de 1 min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Léger et al.1982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0" name="Object 3"/>
          <p:cNvGraphicFramePr/>
          <p:nvPr/>
        </p:nvGraphicFramePr>
        <p:xfrm>
          <a:off x="685800" y="3029040"/>
          <a:ext cx="3809880" cy="20178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11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85800" y="3029040"/>
                    <a:ext cx="3809880" cy="2017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12" name="Line 4"/>
          <p:cNvSpPr/>
          <p:nvPr/>
        </p:nvSpPr>
        <p:spPr>
          <a:xfrm>
            <a:off x="5105520" y="1828800"/>
            <a:ext cx="0" cy="380988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Line 5"/>
          <p:cNvSpPr/>
          <p:nvPr/>
        </p:nvSpPr>
        <p:spPr>
          <a:xfrm>
            <a:off x="8153280" y="1828800"/>
            <a:ext cx="0" cy="3809880"/>
          </a:xfrm>
          <a:prstGeom prst="line">
            <a:avLst/>
          </a:prstGeom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Line 6"/>
          <p:cNvSpPr/>
          <p:nvPr/>
        </p:nvSpPr>
        <p:spPr>
          <a:xfrm>
            <a:off x="5181480" y="1981080"/>
            <a:ext cx="29718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headEnd len="med" type="stealth" w="med"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5791320" y="1523880"/>
            <a:ext cx="16761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20 m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Rectangle 8"/>
          <p:cNvSpPr/>
          <p:nvPr/>
        </p:nvSpPr>
        <p:spPr>
          <a:xfrm rot="16200000">
            <a:off x="3158280" y="3242160"/>
            <a:ext cx="404352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x    x    x    x    x   x    x     x    x                    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Line 9"/>
          <p:cNvSpPr/>
          <p:nvPr/>
        </p:nvSpPr>
        <p:spPr>
          <a:xfrm>
            <a:off x="5105520" y="220968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Line 10"/>
          <p:cNvSpPr/>
          <p:nvPr/>
        </p:nvSpPr>
        <p:spPr>
          <a:xfrm>
            <a:off x="5105520" y="2590920"/>
            <a:ext cx="99036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Line 11"/>
          <p:cNvSpPr/>
          <p:nvPr/>
        </p:nvSpPr>
        <p:spPr>
          <a:xfrm>
            <a:off x="5105520" y="2971800"/>
            <a:ext cx="99036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Line 12"/>
          <p:cNvSpPr/>
          <p:nvPr/>
        </p:nvSpPr>
        <p:spPr>
          <a:xfrm>
            <a:off x="5105520" y="335268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Line 13"/>
          <p:cNvSpPr/>
          <p:nvPr/>
        </p:nvSpPr>
        <p:spPr>
          <a:xfrm>
            <a:off x="5105520" y="3657600"/>
            <a:ext cx="83808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Line 14"/>
          <p:cNvSpPr/>
          <p:nvPr/>
        </p:nvSpPr>
        <p:spPr>
          <a:xfrm>
            <a:off x="5105520" y="4038480"/>
            <a:ext cx="83808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Line 15"/>
          <p:cNvSpPr/>
          <p:nvPr/>
        </p:nvSpPr>
        <p:spPr>
          <a:xfrm>
            <a:off x="5105520" y="434340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Line 16"/>
          <p:cNvSpPr/>
          <p:nvPr/>
        </p:nvSpPr>
        <p:spPr>
          <a:xfrm>
            <a:off x="5181480" y="472428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Line 17"/>
          <p:cNvSpPr/>
          <p:nvPr/>
        </p:nvSpPr>
        <p:spPr>
          <a:xfrm>
            <a:off x="5105520" y="502920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Line 18"/>
          <p:cNvSpPr/>
          <p:nvPr/>
        </p:nvSpPr>
        <p:spPr>
          <a:xfrm>
            <a:off x="5105520" y="5410080"/>
            <a:ext cx="91440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Line 19"/>
          <p:cNvSpPr/>
          <p:nvPr/>
        </p:nvSpPr>
        <p:spPr>
          <a:xfrm>
            <a:off x="5105520" y="3657600"/>
            <a:ext cx="83808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20"/>
          <p:cNvSpPr/>
          <p:nvPr/>
        </p:nvSpPr>
        <p:spPr>
          <a:xfrm>
            <a:off x="7238880" y="1295280"/>
            <a:ext cx="16765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«BIP» sonore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21"/>
          <p:cNvSpPr/>
          <p:nvPr/>
        </p:nvSpPr>
        <p:spPr>
          <a:xfrm>
            <a:off x="4267080" y="1295280"/>
            <a:ext cx="175284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«BIP» sonore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 Box 23"/>
          <p:cNvSpPr/>
          <p:nvPr/>
        </p:nvSpPr>
        <p:spPr>
          <a:xfrm>
            <a:off x="5400" y="5791320"/>
            <a:ext cx="91947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Augmentation de la vitesse de course : un demi km/h à chaque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minute au moyen d’une cassette audio préalablement enregistrée.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MOV00844.MPG" descr=""/>
          <p:cNvPicPr/>
          <p:nvPr/>
        </p:nvPicPr>
        <p:blipFill>
          <a:blip r:embed="rId3"/>
          <a:stretch/>
        </p:blipFill>
        <p:spPr>
          <a:xfrm>
            <a:off x="250920" y="2041560"/>
            <a:ext cx="4321080" cy="3241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</p:pic>
    </p:spTree>
  </p:cSld>
  <p:transition spd="slow">
    <p:strips dir="ru"/>
  </p:transition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nodeType="clickEffect" fill="hold">
                      <p:stCondLst>
                        <p:cond delay="0"/>
                      </p:stCondLst>
                      <p:childTnLst>
                        <p:par>
                          <p:cTn id="1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7" dur="5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1" dur="500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92" restart="whenNotActive" nodeType="interactiveSeq" fill="hold">
                <p:stCondLst>
                  <p:cond evt="onClick">
                    <p:tgtEl>
                      <p:spTgt spid="231"/>
                    </p:tgtEl>
                  </p:cond>
                </p:stCondLst>
                <p:childTnLst>
                  <p:par>
                    <p:cTn id="193" nodeType="clickEffect" fill="hold">
                      <p:stCondLst>
                        <p:cond evt="onClick">
                          <p:tgtEl>
                            <p:spTgt spid="231"/>
                          </p:tgtEl>
                        </p:cond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mediacall" presetID="2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6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/>
          </p:nvPr>
        </p:nvSpPr>
        <p:spPr>
          <a:xfrm>
            <a:off x="152280" y="380520"/>
            <a:ext cx="8763120" cy="22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ctr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En fonction du palier atteint et de l’âge de l ’évalué une équation et / ou un tableau de correspondance permettent d ’extrapoler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Equation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= 31.025 + 3.238 vitesse(km/h) - 3.248 âge (an) + 0.1536 x âge(an) (d’après Léger et al. 1983 et 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3" name=""/>
          <p:cNvGraphicFramePr/>
          <p:nvPr/>
        </p:nvGraphicFramePr>
        <p:xfrm>
          <a:off x="228600" y="3429000"/>
          <a:ext cx="8686800" cy="2222640"/>
        </p:xfrm>
        <a:graphic>
          <a:graphicData uri="http://schemas.openxmlformats.org/drawingml/2006/table">
            <a:tbl>
              <a:tblPr/>
              <a:tblGrid>
                <a:gridCol w="736560"/>
                <a:gridCol w="7950240"/>
              </a:tblGrid>
              <a:tr h="37368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Palier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VO</a:t>
                      </a:r>
                      <a:r>
                        <a:rPr b="0" lang="fr-FR" sz="1600" strike="noStrike" u="none" baseline="-25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max (ml.min</a:t>
                      </a:r>
                      <a:r>
                        <a:rPr b="0" lang="fr-FR" sz="1600" strike="noStrike" u="none" baseline="30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.kg</a:t>
                      </a:r>
                      <a:r>
                        <a:rPr b="0" lang="fr-FR" sz="1600" strike="noStrike" u="none" baseline="30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) prédit en fonction de l’âge (an)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33552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(min)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6       7        8       9       10       11       12       13       14       15       16       17       18 +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5134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65.5   64.4    63     62     60.6    59.5    58.1   56.7    55.7    54.3     53.2   51.8     50.8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67.6   66.5    65.5  64.1  63       62       60.6   59.5    58.5    57.1     56      54.6     53.6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69.7   68.6    67.6  66.5  65.5    64.4    </a:t>
                      </a: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63.4</a:t>
                      </a:r>
                      <a:r>
                        <a:rPr b="0" lang="fr-FR" sz="16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62       60.9    59.9     58.8   57.8     56.7     </a:t>
                      </a:r>
                      <a:endParaRPr b="0" lang="en-US" sz="16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4" name="Text Box 17"/>
          <p:cNvSpPr/>
          <p:nvPr/>
        </p:nvSpPr>
        <p:spPr>
          <a:xfrm>
            <a:off x="449640" y="2895480"/>
            <a:ext cx="7212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Tableau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Exemple d’une partie du tableau de correspondance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18"/>
          <p:cNvSpPr/>
          <p:nvPr/>
        </p:nvSpPr>
        <p:spPr>
          <a:xfrm>
            <a:off x="367560" y="6095880"/>
            <a:ext cx="8358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7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Mais le test navette de Léger et al.</a:t>
            </a:r>
            <a:r>
              <a:rPr b="0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 ne donne pas directement la vitesse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aérobie maximale de course normale.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Oval 19"/>
          <p:cNvSpPr/>
          <p:nvPr/>
        </p:nvSpPr>
        <p:spPr>
          <a:xfrm>
            <a:off x="4572000" y="3860640"/>
            <a:ext cx="431640" cy="28908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Oval 20"/>
          <p:cNvSpPr/>
          <p:nvPr/>
        </p:nvSpPr>
        <p:spPr>
          <a:xfrm>
            <a:off x="250920" y="5013360"/>
            <a:ext cx="433440" cy="36036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nodeType="clickEffect" fill="hold">
                      <p:stCondLst>
                        <p:cond delay="indefinite"/>
                      </p:stCondLst>
                      <p:childTnLst>
                        <p:par>
                          <p:cTn id="2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2" dur="3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"/>
          <p:cNvSpPr/>
          <p:nvPr/>
        </p:nvSpPr>
        <p:spPr>
          <a:xfrm>
            <a:off x="0" y="4648320"/>
            <a:ext cx="8991720" cy="18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ce, afin de mieux doser les vitesses de course les plus favorables au développement des capacités physiologiques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Text Box 3"/>
          <p:cNvSpPr/>
          <p:nvPr/>
        </p:nvSpPr>
        <p:spPr>
          <a:xfrm>
            <a:off x="0" y="762120"/>
            <a:ext cx="9144000" cy="19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l’entraînement ou dans la pratique des activités physiques quotidiennes, plus que la connaissance de  vo</a:t>
            </a:r>
            <a:r>
              <a:rPr b="1" lang="fr-FR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max,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 Box 4"/>
          <p:cNvSpPr/>
          <p:nvPr/>
        </p:nvSpPr>
        <p:spPr>
          <a:xfrm>
            <a:off x="11880" y="2743200"/>
            <a:ext cx="8803800" cy="19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c’est la vitesse limite à laquelle  vo</a:t>
            </a:r>
            <a:r>
              <a:rPr b="1" lang="fr-FR" sz="2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est atteint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(ou Vitesse Aérobie Maximale : VAM) qu’il est très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utile de connaître….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5"/>
          <p:cNvSpPr/>
          <p:nvPr/>
        </p:nvSpPr>
        <p:spPr>
          <a:xfrm>
            <a:off x="3207240" y="189000"/>
            <a:ext cx="22719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Alors que….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213" dur="indefinite" restart="never" nodeType="tmRoot">
          <p:childTnLst>
            <p:seq>
              <p:cTn id="214" dur="indefinite" nodeType="mainSeq">
                <p:childTnLst>
                  <p:par>
                    <p:cTn id="215" nodeType="clickEffect" fill="hold">
                      <p:stCondLst>
                        <p:cond delay="0"/>
                      </p:stCondLst>
                      <p:childTnLst>
                        <p:par>
                          <p:cTn id="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1" nodeType="afterEffect" fill="hold" presetClass="entr" presetID="9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25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7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23640" y="228600"/>
            <a:ext cx="835164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QUELS SONT LES TESTS QUI ONT ETE VALIDES POUR EVALUER 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VITESSE AEROBIE MAXIMALE 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151920" y="1676520"/>
            <a:ext cx="3483000" cy="4114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44" name="Group 4"/>
          <p:cNvGrpSpPr/>
          <p:nvPr/>
        </p:nvGrpSpPr>
        <p:grpSpPr>
          <a:xfrm>
            <a:off x="395280" y="2209680"/>
            <a:ext cx="2895480" cy="380880"/>
            <a:chOff x="395280" y="2209680"/>
            <a:chExt cx="2895480" cy="380880"/>
          </a:xfrm>
        </p:grpSpPr>
        <p:sp>
          <p:nvSpPr>
            <p:cNvPr id="245" name="Line 5"/>
            <p:cNvSpPr/>
            <p:nvPr/>
          </p:nvSpPr>
          <p:spPr>
            <a:xfrm>
              <a:off x="395280" y="2590560"/>
              <a:ext cx="4572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6" name="Line 6"/>
            <p:cNvSpPr/>
            <p:nvPr/>
          </p:nvSpPr>
          <p:spPr>
            <a:xfrm flipV="1">
              <a:off x="85248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7" name="Line 7"/>
            <p:cNvSpPr/>
            <p:nvPr/>
          </p:nvSpPr>
          <p:spPr>
            <a:xfrm>
              <a:off x="852480" y="2209680"/>
              <a:ext cx="17524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8" name="Line 8"/>
            <p:cNvSpPr/>
            <p:nvPr/>
          </p:nvSpPr>
          <p:spPr>
            <a:xfrm>
              <a:off x="260496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9" name="Line 9"/>
            <p:cNvSpPr/>
            <p:nvPr/>
          </p:nvSpPr>
          <p:spPr>
            <a:xfrm>
              <a:off x="2604960" y="2590560"/>
              <a:ext cx="6858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50" name="Text Box 10"/>
          <p:cNvSpPr/>
          <p:nvPr/>
        </p:nvSpPr>
        <p:spPr>
          <a:xfrm>
            <a:off x="152280" y="2590920"/>
            <a:ext cx="3657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TRIANGULAIRES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 Box 11"/>
          <p:cNvSpPr/>
          <p:nvPr/>
        </p:nvSpPr>
        <p:spPr>
          <a:xfrm>
            <a:off x="611280" y="2971800"/>
            <a:ext cx="198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ESCALIER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Text Box 12"/>
          <p:cNvSpPr/>
          <p:nvPr/>
        </p:nvSpPr>
        <p:spPr>
          <a:xfrm>
            <a:off x="325800" y="3454560"/>
            <a:ext cx="136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CONTINU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53" name="Group 13"/>
          <p:cNvGrpSpPr/>
          <p:nvPr/>
        </p:nvGrpSpPr>
        <p:grpSpPr>
          <a:xfrm>
            <a:off x="2411280" y="3276720"/>
            <a:ext cx="609480" cy="457200"/>
            <a:chOff x="2411280" y="3276720"/>
            <a:chExt cx="609480" cy="457200"/>
          </a:xfrm>
        </p:grpSpPr>
        <p:sp>
          <p:nvSpPr>
            <p:cNvPr id="254" name="Line 14"/>
            <p:cNvSpPr/>
            <p:nvPr/>
          </p:nvSpPr>
          <p:spPr>
            <a:xfrm>
              <a:off x="2411280" y="37339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Line 15"/>
            <p:cNvSpPr/>
            <p:nvPr/>
          </p:nvSpPr>
          <p:spPr>
            <a:xfrm flipV="1">
              <a:off x="2563560" y="358128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Line 16"/>
            <p:cNvSpPr/>
            <p:nvPr/>
          </p:nvSpPr>
          <p:spPr>
            <a:xfrm>
              <a:off x="2563560" y="3581640"/>
              <a:ext cx="15264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7" name="Line 17"/>
            <p:cNvSpPr/>
            <p:nvPr/>
          </p:nvSpPr>
          <p:spPr>
            <a:xfrm flipV="1">
              <a:off x="2716200" y="342900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Line 18"/>
            <p:cNvSpPr/>
            <p:nvPr/>
          </p:nvSpPr>
          <p:spPr>
            <a:xfrm>
              <a:off x="2716200" y="342936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Line 19"/>
            <p:cNvSpPr/>
            <p:nvPr/>
          </p:nvSpPr>
          <p:spPr>
            <a:xfrm flipV="1">
              <a:off x="2868480" y="3276720"/>
              <a:ext cx="0" cy="1526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Line 20"/>
            <p:cNvSpPr/>
            <p:nvPr/>
          </p:nvSpPr>
          <p:spPr>
            <a:xfrm>
              <a:off x="2868480" y="32767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1" name="Text Box 21"/>
          <p:cNvSpPr/>
          <p:nvPr/>
        </p:nvSpPr>
        <p:spPr>
          <a:xfrm>
            <a:off x="387360" y="3911760"/>
            <a:ext cx="24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PAR INTERVALLES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Rectangle 22"/>
          <p:cNvSpPr/>
          <p:nvPr/>
        </p:nvSpPr>
        <p:spPr>
          <a:xfrm>
            <a:off x="2068560" y="4492800"/>
            <a:ext cx="152280" cy="30456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Line 23"/>
          <p:cNvSpPr/>
          <p:nvPr/>
        </p:nvSpPr>
        <p:spPr>
          <a:xfrm>
            <a:off x="1839960" y="4797360"/>
            <a:ext cx="1752480" cy="0"/>
          </a:xfrm>
          <a:prstGeom prst="line">
            <a:avLst/>
          </a:prstGeom>
          <a:ln w="9360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Rectangle 24"/>
          <p:cNvSpPr/>
          <p:nvPr/>
        </p:nvSpPr>
        <p:spPr>
          <a:xfrm>
            <a:off x="1763640" y="4645080"/>
            <a:ext cx="152640" cy="1522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Rectangle 25"/>
          <p:cNvSpPr/>
          <p:nvPr/>
        </p:nvSpPr>
        <p:spPr>
          <a:xfrm>
            <a:off x="2373480" y="4340160"/>
            <a:ext cx="152280" cy="45720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Rectangle 26"/>
          <p:cNvSpPr/>
          <p:nvPr/>
        </p:nvSpPr>
        <p:spPr>
          <a:xfrm>
            <a:off x="2678040" y="4187880"/>
            <a:ext cx="152640" cy="6094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Rectangle 27"/>
          <p:cNvSpPr/>
          <p:nvPr/>
        </p:nvSpPr>
        <p:spPr>
          <a:xfrm>
            <a:off x="2982960" y="3959280"/>
            <a:ext cx="152280" cy="8380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 Box 28"/>
          <p:cNvSpPr/>
          <p:nvPr/>
        </p:nvSpPr>
        <p:spPr>
          <a:xfrm>
            <a:off x="685800" y="4848120"/>
            <a:ext cx="1099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RAMPE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Line 29"/>
          <p:cNvSpPr/>
          <p:nvPr/>
        </p:nvSpPr>
        <p:spPr>
          <a:xfrm flipV="1">
            <a:off x="1692360" y="4952520"/>
            <a:ext cx="990360" cy="685800"/>
          </a:xfrm>
          <a:prstGeom prst="line">
            <a:avLst/>
          </a:prstGeom>
          <a:ln w="572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Line 30"/>
          <p:cNvSpPr/>
          <p:nvPr/>
        </p:nvSpPr>
        <p:spPr>
          <a:xfrm flipV="1">
            <a:off x="3635280" y="1980720"/>
            <a:ext cx="685800" cy="22860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Text Box 31"/>
          <p:cNvSpPr/>
          <p:nvPr/>
        </p:nvSpPr>
        <p:spPr>
          <a:xfrm>
            <a:off x="4393440" y="1752480"/>
            <a:ext cx="408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de K. COOPER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Line 32"/>
          <p:cNvSpPr/>
          <p:nvPr/>
        </p:nvSpPr>
        <p:spPr>
          <a:xfrm>
            <a:off x="3635280" y="2209680"/>
            <a:ext cx="685800" cy="15264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 Box 33"/>
          <p:cNvSpPr/>
          <p:nvPr/>
        </p:nvSpPr>
        <p:spPr>
          <a:xfrm>
            <a:off x="4395240" y="2133720"/>
            <a:ext cx="3193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limites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Line 34"/>
          <p:cNvSpPr/>
          <p:nvPr/>
        </p:nvSpPr>
        <p:spPr>
          <a:xfrm flipV="1">
            <a:off x="3635280" y="3123720"/>
            <a:ext cx="609840" cy="304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 Box 35"/>
          <p:cNvSpPr/>
          <p:nvPr/>
        </p:nvSpPr>
        <p:spPr>
          <a:xfrm>
            <a:off x="4314240" y="2819520"/>
            <a:ext cx="4495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navette (Léger et al. 1982)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Line 36"/>
          <p:cNvSpPr/>
          <p:nvPr/>
        </p:nvSpPr>
        <p:spPr>
          <a:xfrm>
            <a:off x="3635280" y="3429000"/>
            <a:ext cx="609840" cy="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37"/>
          <p:cNvSpPr/>
          <p:nvPr/>
        </p:nvSpPr>
        <p:spPr>
          <a:xfrm>
            <a:off x="4315320" y="3200400"/>
            <a:ext cx="4339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Léger et Boucher (1980)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Line 38"/>
          <p:cNvSpPr/>
          <p:nvPr/>
        </p:nvSpPr>
        <p:spPr>
          <a:xfrm>
            <a:off x="3635280" y="3429000"/>
            <a:ext cx="609840" cy="304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Text Box 39"/>
          <p:cNvSpPr/>
          <p:nvPr/>
        </p:nvSpPr>
        <p:spPr>
          <a:xfrm>
            <a:off x="4318200" y="3581280"/>
            <a:ext cx="3603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VAM-EVAL (1993)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228" dur="indefinite" restart="never" nodeType="tmRoot">
          <p:childTnLst>
            <p:seq>
              <p:cTn id="229" dur="indefinite" nodeType="mainSeq">
                <p:childTnLst>
                  <p:par>
                    <p:cTn id="230" nodeType="clickEffect" fill="hold">
                      <p:stCondLst>
                        <p:cond delay="0"/>
                      </p:stCondLst>
                      <p:childTnLst>
                        <p:par>
                          <p:cTn id="2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3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4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Arc 4"/>
          <p:cNvSpPr/>
          <p:nvPr/>
        </p:nvSpPr>
        <p:spPr>
          <a:xfrm>
            <a:off x="611280" y="765000"/>
            <a:ext cx="685800" cy="1368720"/>
          </a:xfrm>
          <a:custGeom>
            <a:avLst/>
            <a:gdLst>
              <a:gd name="GluePoint1X" fmla="*/ 20208621 w 21600"/>
              <a:gd name="GluePoint1Y" fmla="*/ 43448502 h 43099"/>
              <a:gd name="GluePoint2X" fmla="*/ 20365879 w 21600"/>
              <a:gd name="GluePoint2Y" fmla="*/ 0 h 43099"/>
              <a:gd name="GluePoint3X" fmla="*/ 21774150 w 21600"/>
              <a:gd name="GluePoint3Y" fmla="*/ 21729791 h 430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099">
                <a:moveTo>
                  <a:pt x="20046" y="43099"/>
                </a:moveTo>
                <a:cubicBezTo>
                  <a:pt x="8749" y="42284"/>
                  <a:pt x="0" y="32881"/>
                  <a:pt x="0" y="21555"/>
                </a:cubicBezTo>
                <a:cubicBezTo>
                  <a:pt x="-1" y="10167"/>
                  <a:pt x="8839" y="736"/>
                  <a:pt x="20203" y="0"/>
                </a:cubicBezTo>
              </a:path>
              <a:path stroke="0" w="21600" h="43099">
                <a:moveTo>
                  <a:pt x="20046" y="43099"/>
                </a:moveTo>
                <a:cubicBezTo>
                  <a:pt x="8749" y="42284"/>
                  <a:pt x="0" y="32881"/>
                  <a:pt x="0" y="21555"/>
                </a:cubicBezTo>
                <a:cubicBezTo>
                  <a:pt x="-1" y="10167"/>
                  <a:pt x="8839" y="736"/>
                  <a:pt x="20203" y="0"/>
                </a:cubicBezTo>
                <a:lnTo>
                  <a:pt x="21600" y="21555"/>
                </a:lnTo>
                <a:lnTo>
                  <a:pt x="20046" y="43099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Line 5"/>
          <p:cNvSpPr/>
          <p:nvPr/>
        </p:nvSpPr>
        <p:spPr>
          <a:xfrm>
            <a:off x="1219320" y="762120"/>
            <a:ext cx="2133360" cy="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Line 6"/>
          <p:cNvSpPr/>
          <p:nvPr/>
        </p:nvSpPr>
        <p:spPr>
          <a:xfrm>
            <a:off x="1219320" y="2133720"/>
            <a:ext cx="2133360" cy="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Arc 7"/>
          <p:cNvSpPr/>
          <p:nvPr/>
        </p:nvSpPr>
        <p:spPr>
          <a:xfrm rot="10620000">
            <a:off x="3276000" y="762120"/>
            <a:ext cx="685800" cy="1373040"/>
          </a:xfrm>
          <a:custGeom>
            <a:avLst/>
            <a:gdLst>
              <a:gd name="GluePoint1X" fmla="*/ 18645124 w 21600"/>
              <a:gd name="GluePoint1Y" fmla="*/ 43913491 h 42940"/>
              <a:gd name="GluePoint2X" fmla="*/ 20516088 w 21600"/>
              <a:gd name="GluePoint2Y" fmla="*/ 0 h 42940"/>
              <a:gd name="GluePoint3X" fmla="*/ 21774150 w 21600"/>
              <a:gd name="GluePoint3Y" fmla="*/ 22052875 h 429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2940">
                <a:moveTo>
                  <a:pt x="18496" y="42939"/>
                </a:moveTo>
                <a:cubicBezTo>
                  <a:pt x="7877" y="41397"/>
                  <a:pt x="0" y="32294"/>
                  <a:pt x="0" y="21564"/>
                </a:cubicBezTo>
                <a:cubicBezTo>
                  <a:pt x="-1" y="10119"/>
                  <a:pt x="8926" y="661"/>
                  <a:pt x="20352" y="0"/>
                </a:cubicBezTo>
              </a:path>
              <a:path stroke="0" w="21600" h="42940">
                <a:moveTo>
                  <a:pt x="18496" y="42939"/>
                </a:moveTo>
                <a:cubicBezTo>
                  <a:pt x="7877" y="41397"/>
                  <a:pt x="0" y="32294"/>
                  <a:pt x="0" y="21564"/>
                </a:cubicBezTo>
                <a:cubicBezTo>
                  <a:pt x="-1" y="10119"/>
                  <a:pt x="8926" y="661"/>
                  <a:pt x="20352" y="0"/>
                </a:cubicBezTo>
                <a:lnTo>
                  <a:pt x="21600" y="21564"/>
                </a:lnTo>
                <a:lnTo>
                  <a:pt x="18496" y="42939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Line 8"/>
          <p:cNvSpPr/>
          <p:nvPr/>
        </p:nvSpPr>
        <p:spPr>
          <a:xfrm flipH="1">
            <a:off x="2133360" y="4572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Line 9"/>
          <p:cNvSpPr/>
          <p:nvPr/>
        </p:nvSpPr>
        <p:spPr>
          <a:xfrm>
            <a:off x="2209680" y="4572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Line 10"/>
          <p:cNvSpPr/>
          <p:nvPr/>
        </p:nvSpPr>
        <p:spPr>
          <a:xfrm flipH="1">
            <a:off x="2133360" y="6094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Line 11"/>
          <p:cNvSpPr/>
          <p:nvPr/>
        </p:nvSpPr>
        <p:spPr>
          <a:xfrm>
            <a:off x="1219320" y="4572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Line 12"/>
          <p:cNvSpPr/>
          <p:nvPr/>
        </p:nvSpPr>
        <p:spPr>
          <a:xfrm flipH="1">
            <a:off x="1142640" y="6094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Line 13"/>
          <p:cNvSpPr/>
          <p:nvPr/>
        </p:nvSpPr>
        <p:spPr>
          <a:xfrm flipH="1">
            <a:off x="304560" y="12952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Line 14"/>
          <p:cNvSpPr/>
          <p:nvPr/>
        </p:nvSpPr>
        <p:spPr>
          <a:xfrm>
            <a:off x="380880" y="12952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Line 15"/>
          <p:cNvSpPr/>
          <p:nvPr/>
        </p:nvSpPr>
        <p:spPr>
          <a:xfrm flipH="1">
            <a:off x="304560" y="14479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Line 16"/>
          <p:cNvSpPr/>
          <p:nvPr/>
        </p:nvSpPr>
        <p:spPr>
          <a:xfrm flipH="1">
            <a:off x="1143000" y="4572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Line 17"/>
          <p:cNvSpPr/>
          <p:nvPr/>
        </p:nvSpPr>
        <p:spPr>
          <a:xfrm flipH="1">
            <a:off x="1143000" y="22860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Line 18"/>
          <p:cNvSpPr/>
          <p:nvPr/>
        </p:nvSpPr>
        <p:spPr>
          <a:xfrm>
            <a:off x="1219320" y="22860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Line 19"/>
          <p:cNvSpPr/>
          <p:nvPr/>
        </p:nvSpPr>
        <p:spPr>
          <a:xfrm flipH="1">
            <a:off x="2133360" y="24382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Line 20"/>
          <p:cNvSpPr/>
          <p:nvPr/>
        </p:nvSpPr>
        <p:spPr>
          <a:xfrm>
            <a:off x="3352680" y="22860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Line 21"/>
          <p:cNvSpPr/>
          <p:nvPr/>
        </p:nvSpPr>
        <p:spPr>
          <a:xfrm flipH="1">
            <a:off x="3276360" y="24382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Line 22"/>
          <p:cNvSpPr/>
          <p:nvPr/>
        </p:nvSpPr>
        <p:spPr>
          <a:xfrm flipH="1">
            <a:off x="3276360" y="22860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Line 23"/>
          <p:cNvSpPr/>
          <p:nvPr/>
        </p:nvSpPr>
        <p:spPr>
          <a:xfrm flipH="1">
            <a:off x="2133360" y="22860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Line 24"/>
          <p:cNvSpPr/>
          <p:nvPr/>
        </p:nvSpPr>
        <p:spPr>
          <a:xfrm>
            <a:off x="2209680" y="22860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Line 25"/>
          <p:cNvSpPr/>
          <p:nvPr/>
        </p:nvSpPr>
        <p:spPr>
          <a:xfrm flipH="1">
            <a:off x="1142640" y="24382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Line 26"/>
          <p:cNvSpPr/>
          <p:nvPr/>
        </p:nvSpPr>
        <p:spPr>
          <a:xfrm flipH="1">
            <a:off x="4114800" y="12952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Line 27"/>
          <p:cNvSpPr/>
          <p:nvPr/>
        </p:nvSpPr>
        <p:spPr>
          <a:xfrm>
            <a:off x="4191120" y="12952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Line 28"/>
          <p:cNvSpPr/>
          <p:nvPr/>
        </p:nvSpPr>
        <p:spPr>
          <a:xfrm flipH="1">
            <a:off x="4114440" y="14479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Line 29"/>
          <p:cNvSpPr/>
          <p:nvPr/>
        </p:nvSpPr>
        <p:spPr>
          <a:xfrm>
            <a:off x="3352680" y="4572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Line 30"/>
          <p:cNvSpPr/>
          <p:nvPr/>
        </p:nvSpPr>
        <p:spPr>
          <a:xfrm flipH="1">
            <a:off x="3276360" y="4572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Line 31"/>
          <p:cNvSpPr/>
          <p:nvPr/>
        </p:nvSpPr>
        <p:spPr>
          <a:xfrm flipH="1">
            <a:off x="3276360" y="6094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Line 32"/>
          <p:cNvSpPr/>
          <p:nvPr/>
        </p:nvSpPr>
        <p:spPr>
          <a:xfrm>
            <a:off x="2362320" y="609480"/>
            <a:ext cx="83808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headEnd len="med" type="stealth" w="med"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Rectangle 33"/>
          <p:cNvSpPr/>
          <p:nvPr/>
        </p:nvSpPr>
        <p:spPr>
          <a:xfrm>
            <a:off x="2499120" y="303120"/>
            <a:ext cx="6073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50 m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34"/>
          <p:cNvSpPr/>
          <p:nvPr/>
        </p:nvSpPr>
        <p:spPr>
          <a:xfrm>
            <a:off x="224280" y="2712960"/>
            <a:ext cx="3760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de Léger et Boucher, 1980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Arc 35"/>
          <p:cNvSpPr/>
          <p:nvPr/>
        </p:nvSpPr>
        <p:spPr>
          <a:xfrm>
            <a:off x="4954680" y="765000"/>
            <a:ext cx="685800" cy="1368720"/>
          </a:xfrm>
          <a:custGeom>
            <a:avLst/>
            <a:gdLst>
              <a:gd name="GluePoint1X" fmla="*/ 20208621 w 21600"/>
              <a:gd name="GluePoint1Y" fmla="*/ 43448502 h 43099"/>
              <a:gd name="GluePoint2X" fmla="*/ 20365879 w 21600"/>
              <a:gd name="GluePoint2Y" fmla="*/ 0 h 43099"/>
              <a:gd name="GluePoint3X" fmla="*/ 21774150 w 21600"/>
              <a:gd name="GluePoint3Y" fmla="*/ 21729791 h 430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099">
                <a:moveTo>
                  <a:pt x="20046" y="43099"/>
                </a:moveTo>
                <a:cubicBezTo>
                  <a:pt x="8749" y="42284"/>
                  <a:pt x="0" y="32881"/>
                  <a:pt x="0" y="21555"/>
                </a:cubicBezTo>
                <a:cubicBezTo>
                  <a:pt x="-1" y="10167"/>
                  <a:pt x="8839" y="736"/>
                  <a:pt x="20203" y="0"/>
                </a:cubicBezTo>
              </a:path>
              <a:path stroke="0" w="21600" h="43099">
                <a:moveTo>
                  <a:pt x="20046" y="43099"/>
                </a:moveTo>
                <a:cubicBezTo>
                  <a:pt x="8749" y="42284"/>
                  <a:pt x="0" y="32881"/>
                  <a:pt x="0" y="21555"/>
                </a:cubicBezTo>
                <a:cubicBezTo>
                  <a:pt x="-1" y="10167"/>
                  <a:pt x="8839" y="736"/>
                  <a:pt x="20203" y="0"/>
                </a:cubicBezTo>
                <a:lnTo>
                  <a:pt x="21600" y="21555"/>
                </a:lnTo>
                <a:lnTo>
                  <a:pt x="20046" y="43099"/>
                </a:lnTo>
                <a:close/>
              </a:path>
            </a:pathLst>
          </a:custGeom>
          <a:noFill/>
          <a:ln cap="rnd"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Line 36"/>
          <p:cNvSpPr/>
          <p:nvPr/>
        </p:nvSpPr>
        <p:spPr>
          <a:xfrm>
            <a:off x="5562720" y="762120"/>
            <a:ext cx="213336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Line 37"/>
          <p:cNvSpPr/>
          <p:nvPr/>
        </p:nvSpPr>
        <p:spPr>
          <a:xfrm>
            <a:off x="5562720" y="2133720"/>
            <a:ext cx="213336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Arc 38"/>
          <p:cNvSpPr/>
          <p:nvPr/>
        </p:nvSpPr>
        <p:spPr>
          <a:xfrm rot="10620000">
            <a:off x="7619400" y="762120"/>
            <a:ext cx="685800" cy="1373040"/>
          </a:xfrm>
          <a:custGeom>
            <a:avLst/>
            <a:gdLst>
              <a:gd name="GluePoint1X" fmla="*/ 18645124 w 21600"/>
              <a:gd name="GluePoint1Y" fmla="*/ 43913491 h 42940"/>
              <a:gd name="GluePoint2X" fmla="*/ 20516088 w 21600"/>
              <a:gd name="GluePoint2Y" fmla="*/ 0 h 42940"/>
              <a:gd name="GluePoint3X" fmla="*/ 21774150 w 21600"/>
              <a:gd name="GluePoint3Y" fmla="*/ 22052875 h 429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2940">
                <a:moveTo>
                  <a:pt x="18496" y="42939"/>
                </a:moveTo>
                <a:cubicBezTo>
                  <a:pt x="7877" y="41397"/>
                  <a:pt x="0" y="32294"/>
                  <a:pt x="0" y="21564"/>
                </a:cubicBezTo>
                <a:cubicBezTo>
                  <a:pt x="-1" y="10119"/>
                  <a:pt x="8926" y="661"/>
                  <a:pt x="20352" y="0"/>
                </a:cubicBezTo>
              </a:path>
              <a:path stroke="0" w="21600" h="42940">
                <a:moveTo>
                  <a:pt x="18496" y="42939"/>
                </a:moveTo>
                <a:cubicBezTo>
                  <a:pt x="7877" y="41397"/>
                  <a:pt x="0" y="32294"/>
                  <a:pt x="0" y="21564"/>
                </a:cubicBezTo>
                <a:cubicBezTo>
                  <a:pt x="-1" y="10119"/>
                  <a:pt x="8926" y="661"/>
                  <a:pt x="20352" y="0"/>
                </a:cubicBezTo>
                <a:lnTo>
                  <a:pt x="21600" y="21564"/>
                </a:lnTo>
                <a:lnTo>
                  <a:pt x="18496" y="42939"/>
                </a:lnTo>
                <a:close/>
              </a:path>
            </a:pathLst>
          </a:custGeom>
          <a:noFill/>
          <a:ln cap="rnd"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Line 39"/>
          <p:cNvSpPr/>
          <p:nvPr/>
        </p:nvSpPr>
        <p:spPr>
          <a:xfrm flipH="1">
            <a:off x="5562360" y="53352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Line 40"/>
          <p:cNvSpPr/>
          <p:nvPr/>
        </p:nvSpPr>
        <p:spPr>
          <a:xfrm>
            <a:off x="563868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Line 41"/>
          <p:cNvSpPr/>
          <p:nvPr/>
        </p:nvSpPr>
        <p:spPr>
          <a:xfrm flipH="1">
            <a:off x="5562360" y="68580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Line 42"/>
          <p:cNvSpPr/>
          <p:nvPr/>
        </p:nvSpPr>
        <p:spPr>
          <a:xfrm flipH="1">
            <a:off x="609588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Line 43"/>
          <p:cNvSpPr/>
          <p:nvPr/>
        </p:nvSpPr>
        <p:spPr>
          <a:xfrm>
            <a:off x="617220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Line 44"/>
          <p:cNvSpPr/>
          <p:nvPr/>
        </p:nvSpPr>
        <p:spPr>
          <a:xfrm flipH="1">
            <a:off x="6095880" y="685800"/>
            <a:ext cx="15264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Line 45"/>
          <p:cNvSpPr/>
          <p:nvPr/>
        </p:nvSpPr>
        <p:spPr>
          <a:xfrm flipH="1">
            <a:off x="662940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Line 46"/>
          <p:cNvSpPr/>
          <p:nvPr/>
        </p:nvSpPr>
        <p:spPr>
          <a:xfrm>
            <a:off x="6705720" y="53352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Line 47"/>
          <p:cNvSpPr/>
          <p:nvPr/>
        </p:nvSpPr>
        <p:spPr>
          <a:xfrm flipH="1">
            <a:off x="6629040" y="68580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Line 48"/>
          <p:cNvSpPr/>
          <p:nvPr/>
        </p:nvSpPr>
        <p:spPr>
          <a:xfrm flipH="1">
            <a:off x="5029200" y="6858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Line 49"/>
          <p:cNvSpPr/>
          <p:nvPr/>
        </p:nvSpPr>
        <p:spPr>
          <a:xfrm>
            <a:off x="5105520" y="6858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Line 50"/>
          <p:cNvSpPr/>
          <p:nvPr/>
        </p:nvSpPr>
        <p:spPr>
          <a:xfrm flipH="1">
            <a:off x="5028840" y="8380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Line 51"/>
          <p:cNvSpPr/>
          <p:nvPr/>
        </p:nvSpPr>
        <p:spPr>
          <a:xfrm flipH="1">
            <a:off x="4800600" y="1066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Line 52"/>
          <p:cNvSpPr/>
          <p:nvPr/>
        </p:nvSpPr>
        <p:spPr>
          <a:xfrm>
            <a:off x="4876920" y="10666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Line 53"/>
          <p:cNvSpPr/>
          <p:nvPr/>
        </p:nvSpPr>
        <p:spPr>
          <a:xfrm flipH="1">
            <a:off x="4800240" y="12193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Line 54"/>
          <p:cNvSpPr/>
          <p:nvPr/>
        </p:nvSpPr>
        <p:spPr>
          <a:xfrm flipH="1">
            <a:off x="4800600" y="1676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Line 55"/>
          <p:cNvSpPr/>
          <p:nvPr/>
        </p:nvSpPr>
        <p:spPr>
          <a:xfrm>
            <a:off x="4876920" y="167652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Line 56"/>
          <p:cNvSpPr/>
          <p:nvPr/>
        </p:nvSpPr>
        <p:spPr>
          <a:xfrm flipH="1">
            <a:off x="4800240" y="182880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Line 57"/>
          <p:cNvSpPr/>
          <p:nvPr/>
        </p:nvSpPr>
        <p:spPr>
          <a:xfrm flipH="1">
            <a:off x="5105160" y="20574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Line 58"/>
          <p:cNvSpPr/>
          <p:nvPr/>
        </p:nvSpPr>
        <p:spPr>
          <a:xfrm>
            <a:off x="5181480" y="20574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Line 59"/>
          <p:cNvSpPr/>
          <p:nvPr/>
        </p:nvSpPr>
        <p:spPr>
          <a:xfrm flipH="1">
            <a:off x="5105160" y="22096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Line 60"/>
          <p:cNvSpPr/>
          <p:nvPr/>
        </p:nvSpPr>
        <p:spPr>
          <a:xfrm flipH="1">
            <a:off x="5638680" y="2209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Line 61"/>
          <p:cNvSpPr/>
          <p:nvPr/>
        </p:nvSpPr>
        <p:spPr>
          <a:xfrm>
            <a:off x="5715000" y="2209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Line 62"/>
          <p:cNvSpPr/>
          <p:nvPr/>
        </p:nvSpPr>
        <p:spPr>
          <a:xfrm flipH="1">
            <a:off x="5638680" y="2362320"/>
            <a:ext cx="15264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Line 63"/>
          <p:cNvSpPr/>
          <p:nvPr/>
        </p:nvSpPr>
        <p:spPr>
          <a:xfrm flipH="1">
            <a:off x="6248160" y="22096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Line 64"/>
          <p:cNvSpPr/>
          <p:nvPr/>
        </p:nvSpPr>
        <p:spPr>
          <a:xfrm>
            <a:off x="6324480" y="2209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Line 65"/>
          <p:cNvSpPr/>
          <p:nvPr/>
        </p:nvSpPr>
        <p:spPr>
          <a:xfrm flipH="1">
            <a:off x="6248160" y="23623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Line 66"/>
          <p:cNvSpPr/>
          <p:nvPr/>
        </p:nvSpPr>
        <p:spPr>
          <a:xfrm flipH="1">
            <a:off x="6858000" y="2209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Line 67"/>
          <p:cNvSpPr/>
          <p:nvPr/>
        </p:nvSpPr>
        <p:spPr>
          <a:xfrm>
            <a:off x="6934320" y="22096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Line 68"/>
          <p:cNvSpPr/>
          <p:nvPr/>
        </p:nvSpPr>
        <p:spPr>
          <a:xfrm flipH="1">
            <a:off x="6857640" y="23623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Line 69"/>
          <p:cNvSpPr/>
          <p:nvPr/>
        </p:nvSpPr>
        <p:spPr>
          <a:xfrm flipH="1">
            <a:off x="7391160" y="2209680"/>
            <a:ext cx="7596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Line 70"/>
          <p:cNvSpPr/>
          <p:nvPr/>
        </p:nvSpPr>
        <p:spPr>
          <a:xfrm>
            <a:off x="7467480" y="22096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Line 71"/>
          <p:cNvSpPr/>
          <p:nvPr/>
        </p:nvSpPr>
        <p:spPr>
          <a:xfrm flipH="1">
            <a:off x="7391160" y="236232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Line 72"/>
          <p:cNvSpPr/>
          <p:nvPr/>
        </p:nvSpPr>
        <p:spPr>
          <a:xfrm flipH="1">
            <a:off x="723888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Line 73"/>
          <p:cNvSpPr/>
          <p:nvPr/>
        </p:nvSpPr>
        <p:spPr>
          <a:xfrm>
            <a:off x="731520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Line 74"/>
          <p:cNvSpPr/>
          <p:nvPr/>
        </p:nvSpPr>
        <p:spPr>
          <a:xfrm flipH="1">
            <a:off x="7238880" y="685800"/>
            <a:ext cx="15264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Line 75"/>
          <p:cNvSpPr/>
          <p:nvPr/>
        </p:nvSpPr>
        <p:spPr>
          <a:xfrm flipH="1">
            <a:off x="7772400" y="53352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Line 76"/>
          <p:cNvSpPr/>
          <p:nvPr/>
        </p:nvSpPr>
        <p:spPr>
          <a:xfrm>
            <a:off x="7848720" y="53352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Line 77"/>
          <p:cNvSpPr/>
          <p:nvPr/>
        </p:nvSpPr>
        <p:spPr>
          <a:xfrm flipH="1">
            <a:off x="7772040" y="68580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Line 78"/>
          <p:cNvSpPr/>
          <p:nvPr/>
        </p:nvSpPr>
        <p:spPr>
          <a:xfrm flipH="1">
            <a:off x="8229600" y="9144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Line 79"/>
          <p:cNvSpPr/>
          <p:nvPr/>
        </p:nvSpPr>
        <p:spPr>
          <a:xfrm>
            <a:off x="8305920" y="9144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Line 80"/>
          <p:cNvSpPr/>
          <p:nvPr/>
        </p:nvSpPr>
        <p:spPr>
          <a:xfrm flipH="1">
            <a:off x="8229240" y="10666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Line 81"/>
          <p:cNvSpPr/>
          <p:nvPr/>
        </p:nvSpPr>
        <p:spPr>
          <a:xfrm flipH="1">
            <a:off x="8381880" y="15238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Line 82"/>
          <p:cNvSpPr/>
          <p:nvPr/>
        </p:nvSpPr>
        <p:spPr>
          <a:xfrm>
            <a:off x="8458200" y="1523880"/>
            <a:ext cx="76320" cy="15264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Line 83"/>
          <p:cNvSpPr/>
          <p:nvPr/>
        </p:nvSpPr>
        <p:spPr>
          <a:xfrm flipH="1">
            <a:off x="8381880" y="1676520"/>
            <a:ext cx="15264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Line 84"/>
          <p:cNvSpPr/>
          <p:nvPr/>
        </p:nvSpPr>
        <p:spPr>
          <a:xfrm flipH="1">
            <a:off x="8001000" y="2057400"/>
            <a:ext cx="7632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Line 85"/>
          <p:cNvSpPr/>
          <p:nvPr/>
        </p:nvSpPr>
        <p:spPr>
          <a:xfrm>
            <a:off x="8077320" y="2057400"/>
            <a:ext cx="7596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Line 86"/>
          <p:cNvSpPr/>
          <p:nvPr/>
        </p:nvSpPr>
        <p:spPr>
          <a:xfrm flipH="1">
            <a:off x="8000640" y="2209680"/>
            <a:ext cx="152280" cy="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Line 87"/>
          <p:cNvSpPr/>
          <p:nvPr/>
        </p:nvSpPr>
        <p:spPr>
          <a:xfrm>
            <a:off x="6858000" y="609480"/>
            <a:ext cx="380880" cy="0"/>
          </a:xfrm>
          <a:prstGeom prst="line">
            <a:avLst/>
          </a:prstGeom>
          <a:ln w="12600">
            <a:solidFill>
              <a:srgbClr val="ffff00"/>
            </a:solidFill>
            <a:prstDash val="dash"/>
            <a:miter/>
            <a:headEnd len="med" type="stealth" w="med"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Rectangle 88"/>
          <p:cNvSpPr/>
          <p:nvPr/>
        </p:nvSpPr>
        <p:spPr>
          <a:xfrm>
            <a:off x="6782040" y="152280"/>
            <a:ext cx="5961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20 m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 Box 89"/>
          <p:cNvSpPr/>
          <p:nvPr/>
        </p:nvSpPr>
        <p:spPr>
          <a:xfrm>
            <a:off x="4159080" y="2666880"/>
            <a:ext cx="4990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VAM-EVAL (Cazorla et Léger, 1993)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 Box 90"/>
          <p:cNvSpPr/>
          <p:nvPr/>
        </p:nvSpPr>
        <p:spPr>
          <a:xfrm>
            <a:off x="987120" y="1066680"/>
            <a:ext cx="27694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Paliers de 2min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Incrémentation : 1km/h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Text Box 91"/>
          <p:cNvSpPr/>
          <p:nvPr/>
        </p:nvSpPr>
        <p:spPr>
          <a:xfrm>
            <a:off x="5037480" y="1143000"/>
            <a:ext cx="3052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Paliers de 1 min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Incrémentation : 1/2 km/h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8" name="Picture 92" descr=""/>
          <p:cNvPicPr/>
          <p:nvPr/>
        </p:nvPicPr>
        <p:blipFill>
          <a:blip r:embed="rId1"/>
          <a:stretch/>
        </p:blipFill>
        <p:spPr>
          <a:xfrm>
            <a:off x="0" y="3500280"/>
            <a:ext cx="4213080" cy="29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Box 93"/>
          <p:cNvSpPr/>
          <p:nvPr/>
        </p:nvSpPr>
        <p:spPr>
          <a:xfrm>
            <a:off x="30600" y="6488280"/>
            <a:ext cx="4184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Avec et sans cardiofréquencemètre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0" name="Picture 94" descr=""/>
          <p:cNvPicPr/>
          <p:nvPr/>
        </p:nvPicPr>
        <p:blipFill>
          <a:blip r:embed="rId2"/>
          <a:srcRect l="0" t="17936" r="0" b="0"/>
          <a:stretch/>
        </p:blipFill>
        <p:spPr>
          <a:xfrm>
            <a:off x="4356000" y="3500280"/>
            <a:ext cx="4788000" cy="301644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</p:pic>
      <p:sp>
        <p:nvSpPr>
          <p:cNvPr id="371" name="Text Box 95"/>
          <p:cNvSpPr/>
          <p:nvPr/>
        </p:nvSpPr>
        <p:spPr>
          <a:xfrm>
            <a:off x="2914200" y="2997360"/>
            <a:ext cx="2995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enregistrés sur CD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323640" y="228600"/>
            <a:ext cx="835164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AUTRES TESTS POUR EVALUER 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 VITESSE AEROBIE MAXIMALE (VAM)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151920" y="1676520"/>
            <a:ext cx="3483000" cy="4114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74" name="Group 4"/>
          <p:cNvGrpSpPr/>
          <p:nvPr/>
        </p:nvGrpSpPr>
        <p:grpSpPr>
          <a:xfrm>
            <a:off x="395280" y="2209680"/>
            <a:ext cx="2895480" cy="380880"/>
            <a:chOff x="395280" y="2209680"/>
            <a:chExt cx="2895480" cy="380880"/>
          </a:xfrm>
        </p:grpSpPr>
        <p:sp>
          <p:nvSpPr>
            <p:cNvPr id="375" name="Line 5"/>
            <p:cNvSpPr/>
            <p:nvPr/>
          </p:nvSpPr>
          <p:spPr>
            <a:xfrm>
              <a:off x="395280" y="2590560"/>
              <a:ext cx="4572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6" name="Line 6"/>
            <p:cNvSpPr/>
            <p:nvPr/>
          </p:nvSpPr>
          <p:spPr>
            <a:xfrm flipV="1">
              <a:off x="85248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7" name="Line 7"/>
            <p:cNvSpPr/>
            <p:nvPr/>
          </p:nvSpPr>
          <p:spPr>
            <a:xfrm>
              <a:off x="852480" y="2209680"/>
              <a:ext cx="17524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8" name="Line 8"/>
            <p:cNvSpPr/>
            <p:nvPr/>
          </p:nvSpPr>
          <p:spPr>
            <a:xfrm>
              <a:off x="2604960" y="2209680"/>
              <a:ext cx="0" cy="3808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9" name="Line 9"/>
            <p:cNvSpPr/>
            <p:nvPr/>
          </p:nvSpPr>
          <p:spPr>
            <a:xfrm>
              <a:off x="2604960" y="2590560"/>
              <a:ext cx="68580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80" name="Text Box 10"/>
          <p:cNvSpPr/>
          <p:nvPr/>
        </p:nvSpPr>
        <p:spPr>
          <a:xfrm>
            <a:off x="152280" y="2590920"/>
            <a:ext cx="3657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TRIANGULAIRES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 Box 11"/>
          <p:cNvSpPr/>
          <p:nvPr/>
        </p:nvSpPr>
        <p:spPr>
          <a:xfrm>
            <a:off x="611280" y="2971800"/>
            <a:ext cx="198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ESCALIER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Text Box 12"/>
          <p:cNvSpPr/>
          <p:nvPr/>
        </p:nvSpPr>
        <p:spPr>
          <a:xfrm>
            <a:off x="325800" y="3454560"/>
            <a:ext cx="136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CONTINU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3" name="Group 13"/>
          <p:cNvGrpSpPr/>
          <p:nvPr/>
        </p:nvGrpSpPr>
        <p:grpSpPr>
          <a:xfrm>
            <a:off x="2411280" y="3276720"/>
            <a:ext cx="609480" cy="457200"/>
            <a:chOff x="2411280" y="3276720"/>
            <a:chExt cx="609480" cy="457200"/>
          </a:xfrm>
        </p:grpSpPr>
        <p:sp>
          <p:nvSpPr>
            <p:cNvPr id="384" name="Line 14"/>
            <p:cNvSpPr/>
            <p:nvPr/>
          </p:nvSpPr>
          <p:spPr>
            <a:xfrm>
              <a:off x="2411280" y="37339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5" name="Line 15"/>
            <p:cNvSpPr/>
            <p:nvPr/>
          </p:nvSpPr>
          <p:spPr>
            <a:xfrm flipV="1">
              <a:off x="2563560" y="358128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6" name="Line 16"/>
            <p:cNvSpPr/>
            <p:nvPr/>
          </p:nvSpPr>
          <p:spPr>
            <a:xfrm>
              <a:off x="2563560" y="3581640"/>
              <a:ext cx="15264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7" name="Line 17"/>
            <p:cNvSpPr/>
            <p:nvPr/>
          </p:nvSpPr>
          <p:spPr>
            <a:xfrm flipV="1">
              <a:off x="2716200" y="3429000"/>
              <a:ext cx="0" cy="152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8" name="Line 18"/>
            <p:cNvSpPr/>
            <p:nvPr/>
          </p:nvSpPr>
          <p:spPr>
            <a:xfrm>
              <a:off x="2716200" y="342936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9" name="Line 19"/>
            <p:cNvSpPr/>
            <p:nvPr/>
          </p:nvSpPr>
          <p:spPr>
            <a:xfrm flipV="1">
              <a:off x="2868480" y="3276720"/>
              <a:ext cx="0" cy="1526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0" name="Line 20"/>
            <p:cNvSpPr/>
            <p:nvPr/>
          </p:nvSpPr>
          <p:spPr>
            <a:xfrm>
              <a:off x="2868480" y="3276720"/>
              <a:ext cx="15228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91" name="Text Box 21"/>
          <p:cNvSpPr/>
          <p:nvPr/>
        </p:nvSpPr>
        <p:spPr>
          <a:xfrm>
            <a:off x="387360" y="3911760"/>
            <a:ext cx="24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PAR INTERVALLES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Rectangle 22"/>
          <p:cNvSpPr/>
          <p:nvPr/>
        </p:nvSpPr>
        <p:spPr>
          <a:xfrm>
            <a:off x="2068560" y="4492800"/>
            <a:ext cx="152280" cy="30456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Line 23"/>
          <p:cNvSpPr/>
          <p:nvPr/>
        </p:nvSpPr>
        <p:spPr>
          <a:xfrm>
            <a:off x="1839960" y="4797360"/>
            <a:ext cx="1752480" cy="0"/>
          </a:xfrm>
          <a:prstGeom prst="line">
            <a:avLst/>
          </a:prstGeom>
          <a:ln w="9360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Rectangle 24"/>
          <p:cNvSpPr/>
          <p:nvPr/>
        </p:nvSpPr>
        <p:spPr>
          <a:xfrm>
            <a:off x="1763640" y="4645080"/>
            <a:ext cx="152640" cy="1522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Rectangle 25"/>
          <p:cNvSpPr/>
          <p:nvPr/>
        </p:nvSpPr>
        <p:spPr>
          <a:xfrm>
            <a:off x="2373480" y="4340160"/>
            <a:ext cx="152280" cy="45720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Rectangle 26"/>
          <p:cNvSpPr/>
          <p:nvPr/>
        </p:nvSpPr>
        <p:spPr>
          <a:xfrm>
            <a:off x="2678040" y="4187880"/>
            <a:ext cx="152640" cy="6094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Rectangle 27"/>
          <p:cNvSpPr/>
          <p:nvPr/>
        </p:nvSpPr>
        <p:spPr>
          <a:xfrm>
            <a:off x="2982960" y="3959280"/>
            <a:ext cx="152280" cy="838080"/>
          </a:xfrm>
          <a:prstGeom prst="rect">
            <a:avLst/>
          </a:prstGeom>
          <a:solidFill>
            <a:srgbClr val="ffffff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Text Box 28"/>
          <p:cNvSpPr/>
          <p:nvPr/>
        </p:nvSpPr>
        <p:spPr>
          <a:xfrm>
            <a:off x="685800" y="4848120"/>
            <a:ext cx="1099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RAMPE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Line 29"/>
          <p:cNvSpPr/>
          <p:nvPr/>
        </p:nvSpPr>
        <p:spPr>
          <a:xfrm flipV="1">
            <a:off x="1692360" y="4952520"/>
            <a:ext cx="990360" cy="685800"/>
          </a:xfrm>
          <a:prstGeom prst="line">
            <a:avLst/>
          </a:prstGeom>
          <a:ln w="572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Line 30"/>
          <p:cNvSpPr/>
          <p:nvPr/>
        </p:nvSpPr>
        <p:spPr>
          <a:xfrm flipV="1">
            <a:off x="3635280" y="1980720"/>
            <a:ext cx="685800" cy="22860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Text Box 31"/>
          <p:cNvSpPr/>
          <p:nvPr/>
        </p:nvSpPr>
        <p:spPr>
          <a:xfrm>
            <a:off x="4393440" y="1752480"/>
            <a:ext cx="408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Tests de K. COOPER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Line 32"/>
          <p:cNvSpPr/>
          <p:nvPr/>
        </p:nvSpPr>
        <p:spPr>
          <a:xfrm>
            <a:off x="3635280" y="2209680"/>
            <a:ext cx="685800" cy="15264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 Box 33"/>
          <p:cNvSpPr/>
          <p:nvPr/>
        </p:nvSpPr>
        <p:spPr>
          <a:xfrm>
            <a:off x="4395240" y="2133720"/>
            <a:ext cx="3193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limites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(endurance)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Line 34"/>
          <p:cNvSpPr/>
          <p:nvPr/>
        </p:nvSpPr>
        <p:spPr>
          <a:xfrm flipV="1">
            <a:off x="3635280" y="3123720"/>
            <a:ext cx="609840" cy="304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 Box 35"/>
          <p:cNvSpPr/>
          <p:nvPr/>
        </p:nvSpPr>
        <p:spPr>
          <a:xfrm>
            <a:off x="4314240" y="2819520"/>
            <a:ext cx="4495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navette (Léger et al. 1982)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Line 36"/>
          <p:cNvSpPr/>
          <p:nvPr/>
        </p:nvSpPr>
        <p:spPr>
          <a:xfrm>
            <a:off x="3635280" y="3429000"/>
            <a:ext cx="609840" cy="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 Box 37"/>
          <p:cNvSpPr/>
          <p:nvPr/>
        </p:nvSpPr>
        <p:spPr>
          <a:xfrm>
            <a:off x="4315320" y="3200400"/>
            <a:ext cx="43394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Léger et Boucher (1980)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Line 38"/>
          <p:cNvSpPr/>
          <p:nvPr/>
        </p:nvSpPr>
        <p:spPr>
          <a:xfrm>
            <a:off x="3635280" y="3429000"/>
            <a:ext cx="609840" cy="30492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 Box 39"/>
          <p:cNvSpPr/>
          <p:nvPr/>
        </p:nvSpPr>
        <p:spPr>
          <a:xfrm>
            <a:off x="4318200" y="3581280"/>
            <a:ext cx="3603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VAM-EVAL (1993)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Line 40"/>
          <p:cNvSpPr/>
          <p:nvPr/>
        </p:nvSpPr>
        <p:spPr>
          <a:xfrm>
            <a:off x="3635280" y="449568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Text Box 41"/>
          <p:cNvSpPr/>
          <p:nvPr/>
        </p:nvSpPr>
        <p:spPr>
          <a:xfrm>
            <a:off x="4163040" y="4267080"/>
            <a:ext cx="49615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Test Université Bordeaux 2 (1990):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+ FC - Lactate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Line 42"/>
          <p:cNvSpPr/>
          <p:nvPr/>
        </p:nvSpPr>
        <p:spPr>
          <a:xfrm>
            <a:off x="3635280" y="525780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Text Box 43"/>
          <p:cNvSpPr/>
          <p:nvPr/>
        </p:nvSpPr>
        <p:spPr>
          <a:xfrm>
            <a:off x="4240080" y="5029200"/>
            <a:ext cx="3497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Test de Brue (1985) :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&gt; VAM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252" dur="indefinite" restart="never" nodeType="tmRoot">
          <p:childTnLst>
            <p:seq>
              <p:cTn id="253" dur="indefinite" nodeType="mainSeq">
                <p:childTnLst>
                  <p:par>
                    <p:cTn id="254" nodeType="clickEffect" fill="hold">
                      <p:stCondLst>
                        <p:cond delay="0"/>
                      </p:stCondLst>
                      <p:childTnLst>
                        <p:par>
                          <p:cTn id="2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8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nodeType="clickEffect" fill="hold">
                      <p:stCondLst>
                        <p:cond delay="indefinite"/>
                      </p:stCondLst>
                      <p:childTnLst>
                        <p:par>
                          <p:cTn id="2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nodeType="clickEffect" fill="hold">
                      <p:stCondLst>
                        <p:cond delay="indefinite"/>
                      </p:stCondLst>
                      <p:childTnLst>
                        <p:par>
                          <p:cTn id="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6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sp_00.avi" descr=""/>
          <p:cNvPicPr/>
          <p:nvPr/>
        </p:nvPicPr>
        <p:blipFill>
          <a:blip r:embed="rId1"/>
          <a:stretch/>
        </p:blipFill>
        <p:spPr>
          <a:xfrm>
            <a:off x="36360" y="44280"/>
            <a:ext cx="4751640" cy="3565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</p:pic>
      <p:pic>
        <p:nvPicPr>
          <p:cNvPr id="415" name="sp_01.avi" descr=""/>
          <p:cNvPicPr/>
          <p:nvPr/>
        </p:nvPicPr>
        <p:blipFill>
          <a:blip r:embed="rId2"/>
          <a:stretch/>
        </p:blipFill>
        <p:spPr>
          <a:xfrm>
            <a:off x="4754520" y="3638520"/>
            <a:ext cx="4425840" cy="3319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</p:pic>
      <p:pic>
        <p:nvPicPr>
          <p:cNvPr id="416" name="Picture 4" descr=""/>
          <p:cNvPicPr/>
          <p:nvPr/>
        </p:nvPicPr>
        <p:blipFill>
          <a:blip r:embed="rId3"/>
          <a:srcRect l="0" t="4658" r="0" b="9079"/>
          <a:stretch/>
        </p:blipFill>
        <p:spPr>
          <a:xfrm>
            <a:off x="144360" y="3726000"/>
            <a:ext cx="4427640" cy="301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Rectangle 5"/>
          <p:cNvSpPr/>
          <p:nvPr/>
        </p:nvSpPr>
        <p:spPr>
          <a:xfrm>
            <a:off x="4788000" y="189000"/>
            <a:ext cx="4572000" cy="34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Test de l’Université de Bordeaux 2  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(TUB2)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Paliers de 3 min.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Augmentation de la vitesse à chaque palier = 8, 10, 12, 13, 14, 15, 16, 17, 18 km/h....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Arrêt d’1 minute entre chaque palier (prélèvements, relever de la fréquence cardiaque et étude de la récupération cardiaque entre chaque palier).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277" dur="indefinite" restart="never" nodeType="tmRoot">
          <p:childTnLst>
            <p:seq>
              <p:cTn id="278" restart="whenNotActive" nodeType="interactiveSeq" fill="hold">
                <p:stCondLst>
                  <p:cond evt="onClick">
                    <p:tgtEl>
                      <p:spTgt spid="414"/>
                    </p:tgtEl>
                  </p:cond>
                </p:stCondLst>
                <p:childTnLst>
                  <p:par>
                    <p:cTn id="279" nodeType="clickEffect" fill="hold">
                      <p:stCondLst>
                        <p:cond evt="onClick">
                          <p:tgtEl>
                            <p:spTgt spid="414"/>
                          </p:tgtEl>
                        </p:cond>
                      </p:stCondLst>
                      <p:childTnLst>
                        <p:par>
                          <p:cTn id="2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mediacall" presetID="2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2" dur="1" fill="hold"/>
                                        <p:tgtEl>
                                          <p:spTgt spid="4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83" restart="whenNotActive" nodeType="interactiveSeq" fill="hold">
                <p:stCondLst>
                  <p:cond evt="onClick">
                    <p:tgtEl>
                      <p:spTgt spid="415"/>
                    </p:tgtEl>
                  </p:cond>
                </p:stCondLst>
                <p:childTnLst>
                  <p:par>
                    <p:cTn id="284" nodeType="clickEffect" fill="hold">
                      <p:stCondLst>
                        <p:cond evt="onClick">
                          <p:tgtEl>
                            <p:spTgt spid="415"/>
                          </p:tgtEl>
                        </p:cond>
                      </p:stCondLst>
                      <p:childTnLst>
                        <p:par>
                          <p:cTn id="2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mediacall" presetID="2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7" dur="1" fill="hold"/>
                                        <p:tgtEl>
                                          <p:spTgt spid="4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nodeType="clickEffect" fill="hold">
                      <p:stCondLst>
                        <p:cond evt="onClick">
                          <p:tgtEl>
                            <p:spTgt spid="415"/>
                          </p:tgtEl>
                        </p:cond>
                      </p:stCondLst>
                      <p:childTnLst>
                        <p:par>
                          <p:cTn id="2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92" dur="2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Picture 4" descr="DSC00011"/>
          <p:cNvPicPr/>
          <p:nvPr/>
        </p:nvPicPr>
        <p:blipFill>
          <a:blip r:embed="rId1"/>
          <a:srcRect l="0" t="0" r="1666" b="0"/>
          <a:stretch/>
        </p:blipFill>
        <p:spPr>
          <a:xfrm>
            <a:off x="1547640" y="1052640"/>
            <a:ext cx="6193080" cy="46386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</p:pic>
      <p:sp>
        <p:nvSpPr>
          <p:cNvPr id="419" name="Text Box 5"/>
          <p:cNvSpPr/>
          <p:nvPr/>
        </p:nvSpPr>
        <p:spPr>
          <a:xfrm>
            <a:off x="2839320" y="257040"/>
            <a:ext cx="364176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de Brue, 1985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Text Box 6"/>
          <p:cNvSpPr/>
          <p:nvPr/>
        </p:nvSpPr>
        <p:spPr>
          <a:xfrm>
            <a:off x="555480" y="5896080"/>
            <a:ext cx="82285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Pédaler à la cadence de sons préenregistrés.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Augmentation de la vitesse de un demi km/h toutes les 30 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293" dur="indefinite" restart="never" nodeType="tmRoot">
          <p:childTnLst>
            <p:seq>
              <p:cTn id="294" dur="indefinite" nodeType="mainSeq">
                <p:childTnLst>
                  <p:par>
                    <p:cTn id="295" nodeType="clickEffect" fill="hold">
                      <p:stCondLst>
                        <p:cond delay="0"/>
                      </p:stCondLst>
                      <p:childTnLst>
                        <p:par>
                          <p:cTn id="2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9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Box 4"/>
          <p:cNvSpPr/>
          <p:nvPr/>
        </p:nvSpPr>
        <p:spPr>
          <a:xfrm>
            <a:off x="2924640" y="519120"/>
            <a:ext cx="2801160" cy="520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L’accessibilité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Text Box 5"/>
          <p:cNvSpPr/>
          <p:nvPr/>
        </p:nvSpPr>
        <p:spPr>
          <a:xfrm>
            <a:off x="328680" y="2600280"/>
            <a:ext cx="409896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Un évalué à la fois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Deux évaluateurs nécessaires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Une heure par épreuve maximale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Coût entre 120 et 150 €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 Box 6"/>
          <p:cNvSpPr/>
          <p:nvPr/>
        </p:nvSpPr>
        <p:spPr>
          <a:xfrm>
            <a:off x="394920" y="1979640"/>
            <a:ext cx="2204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Laboratoire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Text Box 7"/>
          <p:cNvSpPr/>
          <p:nvPr/>
        </p:nvSpPr>
        <p:spPr>
          <a:xfrm>
            <a:off x="5077440" y="1906560"/>
            <a:ext cx="1344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Terrain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Text Box 8"/>
          <p:cNvSpPr/>
          <p:nvPr/>
        </p:nvSpPr>
        <p:spPr>
          <a:xfrm>
            <a:off x="4720320" y="2589120"/>
            <a:ext cx="432288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Plusieurs évalués à la fois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Un seul évaluateur nécessaire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30 à 40 min par épreuve collective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Coût nul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Autoévaluation possible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300" dur="indefinite" restart="never" nodeType="tmRoot">
          <p:childTnLst>
            <p:seq>
              <p:cTn id="301" dur="indefinite" nodeType="mainSeq">
                <p:childTnLst>
                  <p:par>
                    <p:cTn id="302" nodeType="clickEffect" fill="hold">
                      <p:stCondLst>
                        <p:cond delay="indefinite"/>
                      </p:stCondLst>
                      <p:childTnLst>
                        <p:par>
                          <p:cTn id="3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6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9" dur="2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nodeType="clickEffect" fill="hold">
                      <p:stCondLst>
                        <p:cond delay="indefinite"/>
                      </p:stCondLst>
                      <p:childTnLst>
                        <p:par>
                          <p:cTn id="3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4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8" dur="2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2"/>
          <p:cNvSpPr/>
          <p:nvPr/>
        </p:nvSpPr>
        <p:spPr>
          <a:xfrm>
            <a:off x="0" y="5032440"/>
            <a:ext cx="9144000" cy="70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VAMs obtenues par les mêmes sujets (n = 17) aux quatre tests de terrain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randomisés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27" name=""/>
          <p:cNvGraphicFramePr/>
          <p:nvPr/>
        </p:nvGraphicFramePr>
        <p:xfrm>
          <a:off x="179280" y="2421000"/>
          <a:ext cx="8523360" cy="1944720"/>
        </p:xfrm>
        <a:graphic>
          <a:graphicData uri="http://schemas.openxmlformats.org/drawingml/2006/table">
            <a:tbl>
              <a:tblPr/>
              <a:tblGrid>
                <a:gridCol w="1798200"/>
                <a:gridCol w="1869480"/>
                <a:gridCol w="1726560"/>
                <a:gridCol w="1366920"/>
                <a:gridCol w="1544400"/>
                <a:gridCol w="218880"/>
              </a:tblGrid>
              <a:tr h="842760"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Léger-Boucher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Vam-Eval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TUB2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Brue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1101960"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Vitesse maximale (km.h</a:t>
                      </a:r>
                      <a:r>
                        <a:rPr b="0" lang="fr-FR" sz="1800" strike="noStrike" u="none" baseline="30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-1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16.6 </a:t>
                      </a:r>
                      <a:r>
                        <a:rPr b="1" lang="en-US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 1.12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16.8 </a:t>
                      </a:r>
                      <a:r>
                        <a:rPr b="1" lang="en-US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 1.14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16.5 </a:t>
                      </a:r>
                      <a:r>
                        <a:rPr b="1" lang="en-US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 1.66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16.9 </a:t>
                      </a:r>
                      <a:r>
                        <a:rPr b="1" lang="en-US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± 1.0 *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8" name="Text Box 26"/>
          <p:cNvSpPr/>
          <p:nvPr/>
        </p:nvSpPr>
        <p:spPr>
          <a:xfrm>
            <a:off x="833040" y="592200"/>
            <a:ext cx="719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  <a:ea typeface="Arial"/>
              </a:rPr>
              <a:t>Reproductibilité inter-tests de terrain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Text Box 37"/>
          <p:cNvSpPr/>
          <p:nvPr/>
        </p:nvSpPr>
        <p:spPr>
          <a:xfrm>
            <a:off x="158400" y="4430880"/>
            <a:ext cx="756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 Différence significative entre le test de Léger-Boucher et le test de Brue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wipe dir="u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Box 4"/>
          <p:cNvSpPr/>
          <p:nvPr/>
        </p:nvSpPr>
        <p:spPr>
          <a:xfrm>
            <a:off x="1543320" y="2022480"/>
            <a:ext cx="5976000" cy="24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VITESSE AEROBIE MAXIMALE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COURSE TAPIS ROULANT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VS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COURSE TEST DE TERRAIN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Text Box 5"/>
          <p:cNvSpPr/>
          <p:nvPr/>
        </p:nvSpPr>
        <p:spPr>
          <a:xfrm>
            <a:off x="663840" y="281160"/>
            <a:ext cx="76586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Pourquoi les données obtenues en laboratoire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sont difficilement transférables sur le terrain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Line 2"/>
          <p:cNvSpPr/>
          <p:nvPr/>
        </p:nvSpPr>
        <p:spPr>
          <a:xfrm>
            <a:off x="1295280" y="1066680"/>
            <a:ext cx="0" cy="449604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Line 3"/>
          <p:cNvSpPr/>
          <p:nvPr/>
        </p:nvSpPr>
        <p:spPr>
          <a:xfrm>
            <a:off x="1295280" y="5562720"/>
            <a:ext cx="266724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Rectangle 4"/>
          <p:cNvSpPr/>
          <p:nvPr/>
        </p:nvSpPr>
        <p:spPr>
          <a:xfrm>
            <a:off x="1752480" y="3352680"/>
            <a:ext cx="457200" cy="2210040"/>
          </a:xfrm>
          <a:prstGeom prst="rect">
            <a:avLst/>
          </a:prstGeom>
          <a:gradFill rotWithShape="0">
            <a:gsLst>
              <a:gs pos="0">
                <a:srgbClr val="444455"/>
              </a:gs>
              <a:gs pos="50000">
                <a:srgbClr val="ccccff"/>
              </a:gs>
              <a:gs pos="100000">
                <a:srgbClr val="444455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Rectangle 5"/>
          <p:cNvSpPr/>
          <p:nvPr/>
        </p:nvSpPr>
        <p:spPr>
          <a:xfrm>
            <a:off x="3048120" y="2708280"/>
            <a:ext cx="457200" cy="2854440"/>
          </a:xfrm>
          <a:prstGeom prst="rect">
            <a:avLst/>
          </a:prstGeom>
          <a:gradFill rotWithShape="0">
            <a:gsLst>
              <a:gs pos="0">
                <a:srgbClr val="5d0000"/>
              </a:gs>
              <a:gs pos="50000">
                <a:srgbClr val="ff0000"/>
              </a:gs>
              <a:gs pos="100000">
                <a:srgbClr val="5d0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Text Box 6"/>
          <p:cNvSpPr/>
          <p:nvPr/>
        </p:nvSpPr>
        <p:spPr>
          <a:xfrm>
            <a:off x="689400" y="1239840"/>
            <a:ext cx="6991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20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19.5 -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19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18.5 -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18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17.5 -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17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15.5 -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15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13.5 -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 Box 9"/>
          <p:cNvSpPr/>
          <p:nvPr/>
        </p:nvSpPr>
        <p:spPr>
          <a:xfrm>
            <a:off x="2332080" y="1844640"/>
            <a:ext cx="4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AutoShape 10"/>
          <p:cNvSpPr/>
          <p:nvPr/>
        </p:nvSpPr>
        <p:spPr>
          <a:xfrm rot="16200600">
            <a:off x="2511360" y="1595160"/>
            <a:ext cx="77760" cy="1297080"/>
          </a:xfrm>
          <a:custGeom>
            <a:avLst/>
            <a:gdLst>
              <a:gd name="textAreaLeft" fmla="*/ 0 w 77760"/>
              <a:gd name="textAreaRight" fmla="*/ 54720 w 77760"/>
              <a:gd name="textAreaTop" fmla="*/ 54000 h 1297080"/>
              <a:gd name="textAreaBottom" fmla="*/ 1243080 h 129708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Line 11"/>
          <p:cNvSpPr/>
          <p:nvPr/>
        </p:nvSpPr>
        <p:spPr>
          <a:xfrm>
            <a:off x="1295280" y="3352680"/>
            <a:ext cx="68580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Line 12"/>
          <p:cNvSpPr/>
          <p:nvPr/>
        </p:nvSpPr>
        <p:spPr>
          <a:xfrm>
            <a:off x="1295280" y="2708280"/>
            <a:ext cx="190512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Text Box 13"/>
          <p:cNvSpPr/>
          <p:nvPr/>
        </p:nvSpPr>
        <p:spPr>
          <a:xfrm>
            <a:off x="1532160" y="5622840"/>
            <a:ext cx="235512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Terrain             Tapis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16,8 km/h       17,9 km/h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1.0              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1,25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Line 39"/>
          <p:cNvSpPr/>
          <p:nvPr/>
        </p:nvSpPr>
        <p:spPr>
          <a:xfrm>
            <a:off x="5943600" y="1066680"/>
            <a:ext cx="0" cy="449604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Line 40"/>
          <p:cNvSpPr/>
          <p:nvPr/>
        </p:nvSpPr>
        <p:spPr>
          <a:xfrm>
            <a:off x="5943600" y="5562720"/>
            <a:ext cx="266688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Rectangle 41"/>
          <p:cNvSpPr/>
          <p:nvPr/>
        </p:nvSpPr>
        <p:spPr>
          <a:xfrm>
            <a:off x="6400800" y="1844640"/>
            <a:ext cx="457200" cy="3718080"/>
          </a:xfrm>
          <a:prstGeom prst="rect">
            <a:avLst/>
          </a:prstGeom>
          <a:gradFill rotWithShape="0">
            <a:gsLst>
              <a:gs pos="0">
                <a:srgbClr val="444455"/>
              </a:gs>
              <a:gs pos="50000">
                <a:srgbClr val="ccccff"/>
              </a:gs>
              <a:gs pos="100000">
                <a:srgbClr val="444455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Rectangle 42"/>
          <p:cNvSpPr/>
          <p:nvPr/>
        </p:nvSpPr>
        <p:spPr>
          <a:xfrm>
            <a:off x="7696080" y="2895480"/>
            <a:ext cx="457200" cy="2667240"/>
          </a:xfrm>
          <a:prstGeom prst="rect">
            <a:avLst/>
          </a:prstGeom>
          <a:gradFill rotWithShape="0">
            <a:gsLst>
              <a:gs pos="0">
                <a:srgbClr val="5d0000"/>
              </a:gs>
              <a:gs pos="50000">
                <a:srgbClr val="ff0000"/>
              </a:gs>
              <a:gs pos="100000">
                <a:srgbClr val="5d0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Text Box 43"/>
          <p:cNvSpPr/>
          <p:nvPr/>
        </p:nvSpPr>
        <p:spPr>
          <a:xfrm>
            <a:off x="5410080" y="914400"/>
            <a:ext cx="5940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1.5 -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Text Box 46"/>
          <p:cNvSpPr/>
          <p:nvPr/>
        </p:nvSpPr>
        <p:spPr>
          <a:xfrm>
            <a:off x="6980040" y="990720"/>
            <a:ext cx="48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AutoShape 47"/>
          <p:cNvSpPr/>
          <p:nvPr/>
        </p:nvSpPr>
        <p:spPr>
          <a:xfrm rot="16200600">
            <a:off x="7200000" y="681840"/>
            <a:ext cx="74880" cy="1371600"/>
          </a:xfrm>
          <a:custGeom>
            <a:avLst/>
            <a:gdLst>
              <a:gd name="textAreaLeft" fmla="*/ 0 w 74880"/>
              <a:gd name="textAreaRight" fmla="*/ 52560 w 74880"/>
              <a:gd name="textAreaTop" fmla="*/ 56880 h 1371600"/>
              <a:gd name="textAreaBottom" fmla="*/ 1314720 h 137160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Line 48"/>
          <p:cNvSpPr/>
          <p:nvPr/>
        </p:nvSpPr>
        <p:spPr>
          <a:xfrm>
            <a:off x="5943600" y="1844640"/>
            <a:ext cx="68580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Line 49"/>
          <p:cNvSpPr/>
          <p:nvPr/>
        </p:nvSpPr>
        <p:spPr>
          <a:xfrm>
            <a:off x="5943600" y="2895480"/>
            <a:ext cx="190512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 Box 50"/>
          <p:cNvSpPr/>
          <p:nvPr/>
        </p:nvSpPr>
        <p:spPr>
          <a:xfrm>
            <a:off x="6178320" y="5622840"/>
            <a:ext cx="24670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Avec VAM       Avec VAM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Terrain             Tapis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Line 51"/>
          <p:cNvSpPr/>
          <p:nvPr/>
        </p:nvSpPr>
        <p:spPr>
          <a:xfrm>
            <a:off x="3276720" y="2349360"/>
            <a:ext cx="0" cy="6098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Line 52"/>
          <p:cNvSpPr/>
          <p:nvPr/>
        </p:nvSpPr>
        <p:spPr>
          <a:xfrm>
            <a:off x="3200400" y="234936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Line 53"/>
          <p:cNvSpPr/>
          <p:nvPr/>
        </p:nvSpPr>
        <p:spPr>
          <a:xfrm>
            <a:off x="3203640" y="292572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Line 54"/>
          <p:cNvSpPr/>
          <p:nvPr/>
        </p:nvSpPr>
        <p:spPr>
          <a:xfrm>
            <a:off x="1981080" y="3048120"/>
            <a:ext cx="0" cy="6094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Line 55"/>
          <p:cNvSpPr/>
          <p:nvPr/>
        </p:nvSpPr>
        <p:spPr>
          <a:xfrm>
            <a:off x="1905120" y="304812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Line 56"/>
          <p:cNvSpPr/>
          <p:nvPr/>
        </p:nvSpPr>
        <p:spPr>
          <a:xfrm>
            <a:off x="1905120" y="365760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Line 57"/>
          <p:cNvSpPr/>
          <p:nvPr/>
        </p:nvSpPr>
        <p:spPr>
          <a:xfrm>
            <a:off x="6629400" y="1557360"/>
            <a:ext cx="0" cy="6094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Line 58"/>
          <p:cNvSpPr/>
          <p:nvPr/>
        </p:nvSpPr>
        <p:spPr>
          <a:xfrm>
            <a:off x="6553080" y="1557360"/>
            <a:ext cx="15264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Line 59"/>
          <p:cNvSpPr/>
          <p:nvPr/>
        </p:nvSpPr>
        <p:spPr>
          <a:xfrm>
            <a:off x="6553080" y="2166840"/>
            <a:ext cx="15264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Line 60"/>
          <p:cNvSpPr/>
          <p:nvPr/>
        </p:nvSpPr>
        <p:spPr>
          <a:xfrm>
            <a:off x="7924680" y="2590920"/>
            <a:ext cx="0" cy="6094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Line 61"/>
          <p:cNvSpPr/>
          <p:nvPr/>
        </p:nvSpPr>
        <p:spPr>
          <a:xfrm>
            <a:off x="7848720" y="259092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Line 62"/>
          <p:cNvSpPr/>
          <p:nvPr/>
        </p:nvSpPr>
        <p:spPr>
          <a:xfrm>
            <a:off x="7848720" y="320040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 Box 63"/>
          <p:cNvSpPr/>
          <p:nvPr/>
        </p:nvSpPr>
        <p:spPr>
          <a:xfrm>
            <a:off x="598680" y="316080"/>
            <a:ext cx="4017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aérobie maximale (km.h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Text Box 64"/>
          <p:cNvSpPr/>
          <p:nvPr/>
        </p:nvSpPr>
        <p:spPr>
          <a:xfrm>
            <a:off x="5480640" y="115920"/>
            <a:ext cx="29102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limite sur terrain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à 100% de VAM (min)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Text Box 65"/>
          <p:cNvSpPr/>
          <p:nvPr/>
        </p:nvSpPr>
        <p:spPr>
          <a:xfrm>
            <a:off x="386640" y="6488280"/>
            <a:ext cx="58676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Résultats obtenus à partir du test Vam-éval (n: 17)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nodeType="clickEffect" fill="hold">
                      <p:stCondLst>
                        <p:cond delay="indefinite"/>
                      </p:stCondLst>
                      <p:childTnLst>
                        <p:par>
                          <p:cTn id="3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25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/>
          </p:nvPr>
        </p:nvSpPr>
        <p:spPr>
          <a:xfrm>
            <a:off x="609480" y="1619280"/>
            <a:ext cx="7994880" cy="4114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2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Un test est dit fonctionnel lorsque son ou ses résultats entrent dans le processus d ’apprentissage ou d’entraînement pour orienter, contrôler les contenus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2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et en suivre les modifications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Text Box 3"/>
          <p:cNvSpPr/>
          <p:nvPr/>
        </p:nvSpPr>
        <p:spPr>
          <a:xfrm>
            <a:off x="2903760" y="452520"/>
            <a:ext cx="2907720" cy="520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Fonctionnalité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>
    <p:split dir="in" orient="vert"/>
  </p:transition>
  <p:timing>
    <p:tnLst>
      <p:par>
        <p:cTn id="326" dur="indefinite" restart="never" nodeType="tmRoot">
          <p:childTnLst>
            <p:seq>
              <p:cTn id="327" dur="indefinite" nodeType="mainSeq">
                <p:childTnLst>
                  <p:par>
                    <p:cTn id="328" nodeType="clickEffect" fill="hold">
                      <p:stCondLst>
                        <p:cond delay="0"/>
                      </p:stCondLst>
                      <p:childTnLst>
                        <p:par>
                          <p:cTn id="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2" dur="500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33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6" dur="500"/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 2"/>
          <p:cNvSpPr/>
          <p:nvPr/>
        </p:nvSpPr>
        <p:spPr>
          <a:xfrm>
            <a:off x="3282840" y="1149480"/>
            <a:ext cx="2121120" cy="13586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1c1c1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158760" y="2825640"/>
            <a:ext cx="2120760" cy="1130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9c9c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Rectangle 4"/>
          <p:cNvSpPr/>
          <p:nvPr/>
        </p:nvSpPr>
        <p:spPr>
          <a:xfrm>
            <a:off x="2444760" y="3511440"/>
            <a:ext cx="2044800" cy="1130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1c1c1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Rectangle 5"/>
          <p:cNvSpPr/>
          <p:nvPr/>
        </p:nvSpPr>
        <p:spPr>
          <a:xfrm>
            <a:off x="4654440" y="4121280"/>
            <a:ext cx="2051280" cy="11300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1c1c1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Rectangle 6"/>
          <p:cNvSpPr/>
          <p:nvPr/>
        </p:nvSpPr>
        <p:spPr>
          <a:xfrm>
            <a:off x="6781680" y="4730760"/>
            <a:ext cx="2362320" cy="1130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1c1c1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Rectangle 7"/>
          <p:cNvSpPr/>
          <p:nvPr/>
        </p:nvSpPr>
        <p:spPr>
          <a:xfrm>
            <a:off x="3641400" y="1355760"/>
            <a:ext cx="145512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VAM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PERMET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Rectangle 8"/>
          <p:cNvSpPr/>
          <p:nvPr/>
        </p:nvSpPr>
        <p:spPr>
          <a:xfrm>
            <a:off x="152280" y="2971800"/>
            <a:ext cx="2073240" cy="8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d’extrapoler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1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max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Rectangle 9"/>
          <p:cNvSpPr/>
          <p:nvPr/>
        </p:nvSpPr>
        <p:spPr>
          <a:xfrm>
            <a:off x="2498040" y="3641760"/>
            <a:ext cx="189576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calculer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l’endurance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Rectangle 10"/>
          <p:cNvSpPr/>
          <p:nvPr/>
        </p:nvSpPr>
        <p:spPr>
          <a:xfrm>
            <a:off x="4648320" y="4267080"/>
            <a:ext cx="220968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prédire la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performance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Rectangle 11"/>
          <p:cNvSpPr/>
          <p:nvPr/>
        </p:nvSpPr>
        <p:spPr>
          <a:xfrm>
            <a:off x="6095880" y="4724280"/>
            <a:ext cx="396252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d’orienter les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contenus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d’entraînement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Rectangle 12"/>
          <p:cNvSpPr/>
          <p:nvPr/>
        </p:nvSpPr>
        <p:spPr>
          <a:xfrm>
            <a:off x="140760" y="2346480"/>
            <a:ext cx="35460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Rectangle 13"/>
          <p:cNvSpPr/>
          <p:nvPr/>
        </p:nvSpPr>
        <p:spPr>
          <a:xfrm>
            <a:off x="2426760" y="3032280"/>
            <a:ext cx="35460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Rectangle 14"/>
          <p:cNvSpPr/>
          <p:nvPr/>
        </p:nvSpPr>
        <p:spPr>
          <a:xfrm>
            <a:off x="4712760" y="3641760"/>
            <a:ext cx="35460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Rectangle 15"/>
          <p:cNvSpPr/>
          <p:nvPr/>
        </p:nvSpPr>
        <p:spPr>
          <a:xfrm>
            <a:off x="6922800" y="4175280"/>
            <a:ext cx="35460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Line 16"/>
          <p:cNvSpPr/>
          <p:nvPr/>
        </p:nvSpPr>
        <p:spPr>
          <a:xfrm>
            <a:off x="5442120" y="2139840"/>
            <a:ext cx="2330280" cy="2508480"/>
          </a:xfrm>
          <a:prstGeom prst="line">
            <a:avLst/>
          </a:prstGeom>
          <a:ln w="5724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Line 17"/>
          <p:cNvSpPr/>
          <p:nvPr/>
        </p:nvSpPr>
        <p:spPr>
          <a:xfrm>
            <a:off x="4834080" y="2543040"/>
            <a:ext cx="955440" cy="1549440"/>
          </a:xfrm>
          <a:prstGeom prst="line">
            <a:avLst/>
          </a:prstGeom>
          <a:ln w="5724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Line 18"/>
          <p:cNvSpPr/>
          <p:nvPr/>
        </p:nvSpPr>
        <p:spPr>
          <a:xfrm flipH="1">
            <a:off x="3733920" y="2575080"/>
            <a:ext cx="576000" cy="930240"/>
          </a:xfrm>
          <a:prstGeom prst="line">
            <a:avLst/>
          </a:prstGeom>
          <a:ln w="5724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Line 19"/>
          <p:cNvSpPr/>
          <p:nvPr/>
        </p:nvSpPr>
        <p:spPr>
          <a:xfrm flipH="1">
            <a:off x="2286000" y="2359080"/>
            <a:ext cx="890640" cy="536400"/>
          </a:xfrm>
          <a:prstGeom prst="line">
            <a:avLst/>
          </a:prstGeom>
          <a:ln w="5724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Text Box 20"/>
          <p:cNvSpPr/>
          <p:nvPr/>
        </p:nvSpPr>
        <p:spPr>
          <a:xfrm>
            <a:off x="48240" y="1374840"/>
            <a:ext cx="2953440" cy="9543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max (ml.min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.kg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VAM (km/h) x 3.5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à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5%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Léger et Mercier (1983)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Line 21"/>
          <p:cNvSpPr/>
          <p:nvPr/>
        </p:nvSpPr>
        <p:spPr>
          <a:xfrm>
            <a:off x="1258920" y="2276640"/>
            <a:ext cx="0" cy="576000"/>
          </a:xfrm>
          <a:prstGeom prst="line">
            <a:avLst/>
          </a:prstGeom>
          <a:ln w="936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Line 22"/>
          <p:cNvSpPr/>
          <p:nvPr/>
        </p:nvSpPr>
        <p:spPr>
          <a:xfrm>
            <a:off x="2700360" y="4653000"/>
            <a:ext cx="0" cy="647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Text Box 23"/>
          <p:cNvSpPr/>
          <p:nvPr/>
        </p:nvSpPr>
        <p:spPr>
          <a:xfrm>
            <a:off x="813960" y="5321160"/>
            <a:ext cx="3616920" cy="6426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Endurance = limite de maintien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d’un % de VAM (temps limite)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337" dur="indefinite" restart="never" nodeType="tmRoot">
          <p:childTnLst>
            <p:seq>
              <p:cTn id="338" dur="indefinite" nodeType="mainSeq">
                <p:childTnLst>
                  <p:par>
                    <p:cTn id="339" nodeType="clickEffect" fill="hold">
                      <p:stCondLst>
                        <p:cond delay="indefinite"/>
                      </p:stCondLst>
                      <p:childTnLst>
                        <p:par>
                          <p:cTn id="3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43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4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47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nodeType="clickEffect" fill="hold">
                      <p:stCondLst>
                        <p:cond delay="indefinite"/>
                      </p:stCondLst>
                      <p:childTnLst>
                        <p:par>
                          <p:cTn id="3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52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5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5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 4"/>
          <p:cNvSpPr/>
          <p:nvPr/>
        </p:nvSpPr>
        <p:spPr>
          <a:xfrm>
            <a:off x="0" y="13320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92" name=""/>
          <p:cNvGraphicFramePr/>
          <p:nvPr/>
        </p:nvGraphicFramePr>
        <p:xfrm>
          <a:off x="0" y="1916280"/>
          <a:ext cx="9166320" cy="3941640"/>
        </p:xfrm>
        <a:graphic>
          <a:graphicData uri="http://schemas.openxmlformats.org/drawingml/2006/table">
            <a:tbl>
              <a:tblPr/>
              <a:tblGrid>
                <a:gridCol w="699480"/>
                <a:gridCol w="218880"/>
                <a:gridCol w="620280"/>
                <a:gridCol w="659520"/>
                <a:gridCol w="659520"/>
                <a:gridCol w="734400"/>
                <a:gridCol w="659880"/>
                <a:gridCol w="659520"/>
                <a:gridCol w="734400"/>
                <a:gridCol w="879840"/>
                <a:gridCol w="880200"/>
                <a:gridCol w="881280"/>
                <a:gridCol w="879120"/>
              </a:tblGrid>
              <a:tr h="571320"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 gridSpan="11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PERFORMANCES POTENTIELLES (h : min : s) 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selon différentes distances de course (m)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16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VAM</a:t>
                      </a:r>
                      <a:endParaRPr b="0" lang="en-US" sz="12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km.h-1</a:t>
                      </a:r>
                      <a:endParaRPr b="0" lang="en-US" sz="12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2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1500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15000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30000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42195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2653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2:59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2:46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2:35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2:26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2:10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2:03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1:46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1:42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1:37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3:56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3:38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3:24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3:11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2:59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2:49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2:40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2:32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2:25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2:18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2:12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2:06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6:30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5:59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5:32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5:09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4:50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4:32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4:03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3:50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3:39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3:29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9:05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7:43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7:10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6:42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6:17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5:56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5:36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5:19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5:07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4:49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4:36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14:28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13:16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12:15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11:23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12:38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9:58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8:52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8:24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7:59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7:36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7:15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25:20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23:11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21:23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19:50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18:30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17:20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16:18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15:23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14:34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13:50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13:10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12:34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56:15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50:47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46:17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42:30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39:18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36:33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34:10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32:04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30:12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28:33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27:04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25:44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1:27:23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1:18:46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1:11:42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1:05:47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1:00:47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56:29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52:45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49:29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46:36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44:01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41:43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39:39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1:59:22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1:47:29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1:37:45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1:29:38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1:22:46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1:16:52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1:11:45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1:07:17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1:03:20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59:30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56:41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53:51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3:15:43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2:53:20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2:35:33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2:21:05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2:09:06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1:59:57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1:50:18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1:42:49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1:36:17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1:30:32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1:25:26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1:20:53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4:54:07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4:17:48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3:49:28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3:26:44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3:08:06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2:52:34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2:39:23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2:28:05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2:18:16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2:09:41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2:02:06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4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1:55:21</a:t>
                      </a:r>
                      <a:endParaRPr b="0" lang="en-US" sz="14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3" name="Rectangle 378"/>
          <p:cNvSpPr/>
          <p:nvPr/>
        </p:nvSpPr>
        <p:spPr>
          <a:xfrm>
            <a:off x="684360" y="333360"/>
            <a:ext cx="8459640" cy="10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Prédire la performance.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Péronnet (1991); Thibaut et Mercier, 1981 ; Léger et al., 1985</a:t>
            </a: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Oval 379"/>
          <p:cNvSpPr/>
          <p:nvPr/>
        </p:nvSpPr>
        <p:spPr>
          <a:xfrm>
            <a:off x="-396720" y="4005360"/>
            <a:ext cx="9937440" cy="43164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Text Box 380"/>
          <p:cNvSpPr/>
          <p:nvPr/>
        </p:nvSpPr>
        <p:spPr>
          <a:xfrm>
            <a:off x="806400" y="6041880"/>
            <a:ext cx="8046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«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il n’est point de vent favorable à celui qui ne sait où il va… »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nodeType="clickEffect" fill="hold">
                      <p:stCondLst>
                        <p:cond delay="indefinite"/>
                      </p:stCondLst>
                      <p:childTnLst>
                        <p:par>
                          <p:cTn id="3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63"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nodeType="clickEffect" fill="hold">
                      <p:stCondLst>
                        <p:cond delay="indefinite"/>
                      </p:stCondLst>
                      <p:childTnLst>
                        <p:par>
                          <p:cTn id="3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68"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4"/>
          <p:cNvSpPr/>
          <p:nvPr/>
        </p:nvSpPr>
        <p:spPr>
          <a:xfrm>
            <a:off x="0" y="23623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97" name=""/>
          <p:cNvGraphicFramePr/>
          <p:nvPr/>
        </p:nvGraphicFramePr>
        <p:xfrm>
          <a:off x="250920" y="2060640"/>
          <a:ext cx="8713800" cy="4114800"/>
        </p:xfrm>
        <a:graphic>
          <a:graphicData uri="http://schemas.openxmlformats.org/drawingml/2006/table">
            <a:tbl>
              <a:tblPr/>
              <a:tblGrid>
                <a:gridCol w="2984400"/>
                <a:gridCol w="2889360"/>
                <a:gridCol w="2840040"/>
              </a:tblGrid>
              <a:tr h="64044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Distances de compétition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% Vam Course sur piste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Corrélations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Vam – Perf.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34743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400 m 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 800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1500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10 000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20 000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marathon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145 à 155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120 à 125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105 à 115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101 à 111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98 à 102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95 à 100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90 à 95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85 à 90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80 à 88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75 à 84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 = . 72 (n = 40)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r = . 92 (n = 105)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r = . 92 (n = 105)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 = . 95 (n = 71)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 = . 98 (n = 69)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 = . 98 (n = 69)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r = . 88 (n = 108)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 = . 88 (n = 108)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  r = . 85 (n = 108)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8" name="Rectangle 75"/>
          <p:cNvSpPr/>
          <p:nvPr/>
        </p:nvSpPr>
        <p:spPr>
          <a:xfrm>
            <a:off x="250920" y="998640"/>
            <a:ext cx="864216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Thibaut et Mercier, 1981 ; Léger et al., 1985 ; Villaret, 1988 ;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Montmayeur et Villaret, 1990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Oval 77"/>
          <p:cNvSpPr/>
          <p:nvPr/>
        </p:nvSpPr>
        <p:spPr>
          <a:xfrm>
            <a:off x="6372360" y="4005360"/>
            <a:ext cx="2520720" cy="1008000"/>
          </a:xfrm>
          <a:prstGeom prst="ellipse">
            <a:avLst/>
          </a:prstGeom>
          <a:noFill/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Rectangle 79"/>
          <p:cNvSpPr/>
          <p:nvPr/>
        </p:nvSpPr>
        <p:spPr>
          <a:xfrm>
            <a:off x="539640" y="260280"/>
            <a:ext cx="813600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Orienter les contenus d’entraînement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Picture 4" descr=""/>
          <p:cNvPicPr/>
          <p:nvPr/>
        </p:nvPicPr>
        <p:blipFill>
          <a:blip r:embed="rId1"/>
          <a:stretch/>
        </p:blipFill>
        <p:spPr>
          <a:xfrm>
            <a:off x="144360" y="581040"/>
            <a:ext cx="8964720" cy="623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Box 5"/>
          <p:cNvSpPr/>
          <p:nvPr/>
        </p:nvSpPr>
        <p:spPr>
          <a:xfrm>
            <a:off x="1044000" y="136440"/>
            <a:ext cx="7087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SPORTIF DONT LA VAM EST DE 18.6 km/h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Picture 4" descr=""/>
          <p:cNvPicPr/>
          <p:nvPr/>
        </p:nvPicPr>
        <p:blipFill>
          <a:blip r:embed="rId1"/>
          <a:stretch/>
        </p:blipFill>
        <p:spPr>
          <a:xfrm>
            <a:off x="179280" y="720720"/>
            <a:ext cx="8893440" cy="613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Box 5"/>
          <p:cNvSpPr/>
          <p:nvPr/>
        </p:nvSpPr>
        <p:spPr>
          <a:xfrm>
            <a:off x="1044000" y="136440"/>
            <a:ext cx="7087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SPORTIF DONT LA VAM EST DE 18.6 km/h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Picture 4" descr=""/>
          <p:cNvPicPr/>
          <p:nvPr/>
        </p:nvPicPr>
        <p:blipFill>
          <a:blip r:embed="rId1"/>
          <a:stretch/>
        </p:blipFill>
        <p:spPr>
          <a:xfrm>
            <a:off x="0" y="301680"/>
            <a:ext cx="9144000" cy="65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Oval 5"/>
          <p:cNvSpPr/>
          <p:nvPr/>
        </p:nvSpPr>
        <p:spPr>
          <a:xfrm>
            <a:off x="0" y="5445000"/>
            <a:ext cx="3348000" cy="792360"/>
          </a:xfrm>
          <a:prstGeom prst="ellipse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Picture 2" descr="photo4"/>
          <p:cNvPicPr/>
          <p:nvPr/>
        </p:nvPicPr>
        <p:blipFill>
          <a:blip r:embed="rId1"/>
          <a:srcRect l="2483" t="2095" r="2504" b="2540"/>
          <a:stretch/>
        </p:blipFill>
        <p:spPr>
          <a:xfrm>
            <a:off x="1440" y="843120"/>
            <a:ext cx="9142560" cy="601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AutoShape 3"/>
          <p:cNvSpPr/>
          <p:nvPr/>
        </p:nvSpPr>
        <p:spPr>
          <a:xfrm>
            <a:off x="0" y="152280"/>
            <a:ext cx="4114800" cy="2057400"/>
          </a:xfrm>
          <a:prstGeom prst="wedgeEllipseCallout">
            <a:avLst>
              <a:gd name="adj1" fmla="val 56212"/>
              <a:gd name="adj2" fmla="val 48842"/>
            </a:avLst>
          </a:prstGeom>
          <a:solidFill>
            <a:srgbClr val="cc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 Box 4"/>
          <p:cNvSpPr/>
          <p:nvPr/>
        </p:nvSpPr>
        <p:spPr>
          <a:xfrm>
            <a:off x="533880" y="692280"/>
            <a:ext cx="31737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MERCI DE VOTRE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ATTENTION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strips dir="ru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2002-06-07T13:46:50Z</dcterms:created>
  <dc:creator>UFR STAPS</dc:creator>
  <dc:description/>
  <dc:language>en-US</dc:language>
  <cp:lastModifiedBy>Georges Caz</cp:lastModifiedBy>
  <dcterms:modified xsi:type="dcterms:W3CDTF">2017-08-19T22:10:07Z</dcterms:modified>
  <cp:revision>27</cp:revision>
  <dc:subject/>
  <dc:title>Aucun titre de diapositive</dc:title>
</cp:coreProperties>
</file>